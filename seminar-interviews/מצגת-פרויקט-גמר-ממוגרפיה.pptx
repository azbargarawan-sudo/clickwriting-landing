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קצרה: שם העבודה, שמות המגישות והמנחה. לא להתעכב, כחצי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סדר הדברים ואת חלוקת הזמן בין שלוש המציגות. כחצי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המספרים הם הבסיס לכל העבודה. להדגיש: הפער קיים למרות שהבדיקה חינמית, ואצל נשים בדואיות המחלה מתגלה כארבע עשרה שנים מוקדם יותר, כלומר חלק מהתחלואה קורה מתחת לגיל הזימון.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לקרוא את כל הרשימה. להדגיש את הכרטיס הכהה: הידע קיים בספרות, מה שחסר הוא ההסבר כיצד החסמים פועלים בפועל. זו הנקודה שממנה נולדה שאלת המחקר.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לקרוא את השאלה בקול. להדגיש שבמחקר איכותני אין השערות, ולכן נכנסנו לשדה בלי לדעת מה נמצא.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להתעכב על שני דברים: למה איכותני ולא שאלון, ועל הסוגיה האתית בראיון האחרון. זה מראה שהתמודדנו עם דילמה אמיתית ולא רק מילאנו טופס.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להקריא את הטבלה. להצביע על שלוש שורות בלבד: מי שנבדקת בקביעות, מי שמעולם לא נבדקה, ומי שחלתה. להסביר שהמדגם נבנה בכוונה כך שיכלול את כל הטווח.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להסביר שהחסמים אינם פועלים במקביל אלא כל אחד בשלב אחר בדרך אל הבדיקה, ושהרצועה התחתונה היא מה שמעביר את האישה מתחנה לתחנה.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שמפרקת את ההנחה שחוסר מודעות הוא הבעיה. הדוגמה החזקה ביותר היא האחות שמרכזת את הזימונים ואבחנה את עצמה בעצמה כדי לא ללכת.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ההבחנה בין החדר למסדרון היא החידוש שלנו כאן. יש לה השלכה תפעולית ישירה על מיקום הניידת ועל שעות התורים.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שהפתיעה אותנו. היא כמעט לא מקבלת מקום בספרות התרבותית, והנשים עצמן אינן מציגות אותה כחסם אלא כעובדת חיים, ולכן היא לא נראית בשאלונים.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היחידה שכולה מאיצים, וממנה נגזרות רוב ההמלצות. הניגוד בין מראם ללילה הוא הלב של השקף.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השקף שעונה על השאלה מה חידשנו. שלוש שורות, שלושה חידושים. לא להוסיף עליהם.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זה כממצא שהפתיע אותנו ולא כמסקנה חותכת. לומר במפורש שייתכן שהמדגם הקטן אינו לוכד את הפטליזם, ושייתכן שהניסוח הדתי הוא הסבר שנוח למסור לחוקר.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להתנצל. להציג את המגבלות כמודעות מתודולוגית, ולעבור מהר לכיווני ההמשך.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 מסקנות בלבד. השורה בכרטיס הכהה היא המשפט שצריך להישאר בראש של המנחה.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השקף החשוב ביותר להערכה, כי החוברת מבקשת יישומיות. להקדיש לו יותר זמן מלשקפים אחרים. לחבר כל המלצה לתמה שממנה היא נולדה.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לסיים בזמן ולהשאיר מקום לשאלות. המשפט על המסך הוא הניסוח שלנו ולא ציטוט ממקור.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clickwriting-landing/2ca03497-42eb-5d34-8079-069f09f39de3/scratchpad/work/peres_logo.jpg">    </p:cNvPr>
          <p:cNvPicPr>
            <a:picLocks noChangeAspect="1"/>
          </p:cNvPicPr>
          <p:nvPr/>
        </p:nvPicPr>
        <p:blipFill>
          <a:blip r:embed="rId1"/>
          <a:stretch>
            <a:fillRect/>
          </a:stretch>
        </p:blipFill>
        <p:spPr>
          <a:xfrm>
            <a:off x="5394960" y="384048"/>
            <a:ext cx="1371600" cy="1371600"/>
          </a:xfrm>
          <a:prstGeom prst="rect">
            <a:avLst/>
          </a:prstGeom>
        </p:spPr>
      </p:pic>
      <p:sp>
        <p:nvSpPr>
          <p:cNvPr id="3" name="Text 0"/>
          <p:cNvSpPr/>
          <p:nvPr/>
        </p:nvSpPr>
        <p:spPr>
          <a:xfrm>
            <a:off x="0" y="1883664"/>
            <a:ext cx="12161520" cy="310896"/>
          </a:xfrm>
          <a:prstGeom prst="rect">
            <a:avLst/>
          </a:prstGeom>
          <a:noFill/>
          <a:ln/>
        </p:spPr>
        <p:txBody>
          <a:bodyPr wrap="square" lIns="0" tIns="0" rIns="0" bIns="0" rtlCol="0" anchor="ctr"/>
          <a:lstStyle/>
          <a:p>
            <a:pPr rtl="1" algn="ctr" indent="0" marL="0">
              <a:buNone/>
            </a:pPr>
            <a:r>
              <a:rPr lang="en-US" sz="1700" b="1" dirty="0">
                <a:solidFill>
                  <a:srgbClr val="1B3A57"/>
                </a:solidFill>
                <a:latin typeface="Arial" pitchFamily="34" charset="0"/>
                <a:ea typeface="Arial" pitchFamily="34" charset="-122"/>
                <a:cs typeface="Arial" pitchFamily="34" charset="-120"/>
              </a:rPr>
              <a:t>המרכז האקדמי פרס</a:t>
            </a:r>
            <a:endParaRPr lang="en-US" sz="1700" dirty="0"/>
          </a:p>
        </p:txBody>
      </p:sp>
      <p:sp>
        <p:nvSpPr>
          <p:cNvPr id="4" name="Text 1"/>
          <p:cNvSpPr/>
          <p:nvPr/>
        </p:nvSpPr>
        <p:spPr>
          <a:xfrm>
            <a:off x="0" y="2194560"/>
            <a:ext cx="12161520" cy="274320"/>
          </a:xfrm>
          <a:prstGeom prst="rect">
            <a:avLst/>
          </a:prstGeom>
          <a:noFill/>
          <a:ln/>
        </p:spPr>
        <p:txBody>
          <a:bodyPr wrap="square" lIns="0" tIns="0" rIns="0" bIns="0" rtlCol="0" anchor="ctr"/>
          <a:lstStyle/>
          <a:p>
            <a:pPr rtl="1" algn="ctr" indent="0" marL="0">
              <a:buNone/>
            </a:pPr>
            <a:r>
              <a:rPr lang="en-US" sz="1300" dirty="0">
                <a:solidFill>
                  <a:srgbClr val="5F6E7A"/>
                </a:solidFill>
                <a:latin typeface="Arial" pitchFamily="34" charset="0"/>
                <a:ea typeface="Arial" pitchFamily="34" charset="-122"/>
                <a:cs typeface="Arial" pitchFamily="34" charset="-120"/>
              </a:rPr>
              <a:t>החוג למנהל מערכות בריאות  |  תואר ראשון</a:t>
            </a:r>
            <a:endParaRPr lang="en-US" sz="1300" dirty="0"/>
          </a:p>
        </p:txBody>
      </p:sp>
      <p:sp>
        <p:nvSpPr>
          <p:cNvPr id="5" name="Text 2"/>
          <p:cNvSpPr/>
          <p:nvPr/>
        </p:nvSpPr>
        <p:spPr>
          <a:xfrm>
            <a:off x="0" y="2670048"/>
            <a:ext cx="12161520" cy="292608"/>
          </a:xfrm>
          <a:prstGeom prst="rect">
            <a:avLst/>
          </a:prstGeom>
          <a:noFill/>
          <a:ln/>
        </p:spPr>
        <p:txBody>
          <a:bodyPr wrap="square" lIns="0" tIns="0" rIns="0" bIns="0" rtlCol="0" anchor="ctr"/>
          <a:lstStyle/>
          <a:p>
            <a:pPr rtl="1" algn="ctr" indent="0" marL="0">
              <a:buNone/>
            </a:pPr>
            <a:r>
              <a:rPr lang="en-US" sz="1300" b="1" spc="200" kern="0" dirty="0">
                <a:solidFill>
                  <a:srgbClr val="2E7898"/>
                </a:solidFill>
                <a:latin typeface="Arial" pitchFamily="34" charset="0"/>
                <a:ea typeface="Arial" pitchFamily="34" charset="-122"/>
                <a:cs typeface="Arial" pitchFamily="34" charset="-120"/>
              </a:rPr>
              <a:t>פרויקט גמר</a:t>
            </a:r>
            <a:endParaRPr lang="en-US" sz="1300" dirty="0"/>
          </a:p>
        </p:txBody>
      </p:sp>
      <p:sp>
        <p:nvSpPr>
          <p:cNvPr id="6" name="Text 3"/>
          <p:cNvSpPr/>
          <p:nvPr/>
        </p:nvSpPr>
        <p:spPr>
          <a:xfrm>
            <a:off x="731520" y="3017520"/>
            <a:ext cx="10698480" cy="566928"/>
          </a:xfrm>
          <a:prstGeom prst="rect">
            <a:avLst/>
          </a:prstGeom>
          <a:noFill/>
          <a:ln/>
        </p:spPr>
        <p:txBody>
          <a:bodyPr wrap="square" lIns="0" tIns="0" rIns="0" bIns="0" rtlCol="0" anchor="ctr"/>
          <a:lstStyle/>
          <a:p>
            <a:pPr rtl="1" algn="ctr" indent="0" marL="0">
              <a:buNone/>
            </a:pPr>
            <a:r>
              <a:rPr lang="en-US" sz="3200" b="1" dirty="0">
                <a:solidFill>
                  <a:srgbClr val="1B3A57"/>
                </a:solidFill>
                <a:latin typeface="Arial" pitchFamily="34" charset="0"/>
                <a:ea typeface="Arial" pitchFamily="34" charset="-122"/>
                <a:cs typeface="Arial" pitchFamily="34" charset="-120"/>
              </a:rPr>
              <a:t>היענות לבדיקות ממוגרפיה בחברה הערבית בישראל</a:t>
            </a:r>
            <a:endParaRPr lang="en-US" sz="3200" dirty="0"/>
          </a:p>
        </p:txBody>
      </p:sp>
      <p:sp>
        <p:nvSpPr>
          <p:cNvPr id="7" name="Text 4"/>
          <p:cNvSpPr/>
          <p:nvPr/>
        </p:nvSpPr>
        <p:spPr>
          <a:xfrm>
            <a:off x="731520" y="3602736"/>
            <a:ext cx="10698480" cy="402336"/>
          </a:xfrm>
          <a:prstGeom prst="rect">
            <a:avLst/>
          </a:prstGeom>
          <a:noFill/>
          <a:ln/>
        </p:spPr>
        <p:txBody>
          <a:bodyPr wrap="square" lIns="0" tIns="0" rIns="0" bIns="0" rtlCol="0" anchor="ctr"/>
          <a:lstStyle/>
          <a:p>
            <a:pPr rtl="1" algn="ctr" indent="0" marL="0">
              <a:buNone/>
            </a:pPr>
            <a:r>
              <a:rPr lang="en-US" sz="2000" dirty="0">
                <a:solidFill>
                  <a:srgbClr val="A9575F"/>
                </a:solidFill>
                <a:latin typeface="Arial" pitchFamily="34" charset="0"/>
                <a:ea typeface="Arial" pitchFamily="34" charset="-122"/>
                <a:cs typeface="Arial" pitchFamily="34" charset="-120"/>
              </a:rPr>
              <a:t>חסמים, מאיצים ודרכים להגברת ההיענות</a:t>
            </a:r>
            <a:endParaRPr lang="en-US" sz="2000" dirty="0"/>
          </a:p>
        </p:txBody>
      </p:sp>
      <p:sp>
        <p:nvSpPr>
          <p:cNvPr id="8" name="Text 5"/>
          <p:cNvSpPr/>
          <p:nvPr/>
        </p:nvSpPr>
        <p:spPr>
          <a:xfrm>
            <a:off x="731520" y="4041648"/>
            <a:ext cx="10698480" cy="310896"/>
          </a:xfrm>
          <a:prstGeom prst="rect">
            <a:avLst/>
          </a:prstGeom>
          <a:noFill/>
          <a:ln/>
        </p:spPr>
        <p:txBody>
          <a:bodyPr wrap="square" lIns="0" tIns="0" rIns="0" bIns="0" rtlCol="0" anchor="ctr"/>
          <a:lstStyle/>
          <a:p>
            <a:pPr rtl="1" algn="ctr" indent="0" marL="0">
              <a:buNone/>
            </a:pPr>
            <a:r>
              <a:rPr lang="en-US" sz="1350" dirty="0">
                <a:solidFill>
                  <a:srgbClr val="5F6E7A"/>
                </a:solidFill>
                <a:latin typeface="Arial" pitchFamily="34" charset="0"/>
                <a:ea typeface="Arial" pitchFamily="34" charset="-122"/>
                <a:cs typeface="Arial" pitchFamily="34" charset="-120"/>
              </a:rPr>
              <a:t>מחקר איכותני מבוסס שנים עשר ראיונות עומק</a:t>
            </a:r>
            <a:endParaRPr lang="en-US" sz="1350" dirty="0"/>
          </a:p>
        </p:txBody>
      </p:sp>
      <p:sp>
        <p:nvSpPr>
          <p:cNvPr id="9" name="Shape 6"/>
          <p:cNvSpPr/>
          <p:nvPr/>
        </p:nvSpPr>
        <p:spPr>
          <a:xfrm>
            <a:off x="2880360" y="4590288"/>
            <a:ext cx="6400800" cy="1170432"/>
          </a:xfrm>
          <a:prstGeom prst="roundRect">
            <a:avLst>
              <a:gd name="adj" fmla="val 7031"/>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Text 7"/>
          <p:cNvSpPr/>
          <p:nvPr/>
        </p:nvSpPr>
        <p:spPr>
          <a:xfrm>
            <a:off x="3017520" y="4718304"/>
            <a:ext cx="6126480" cy="292608"/>
          </a:xfrm>
          <a:prstGeom prst="rect">
            <a:avLst/>
          </a:prstGeom>
          <a:noFill/>
          <a:ln/>
        </p:spPr>
        <p:txBody>
          <a:bodyPr wrap="square" lIns="0" tIns="0" rIns="0" bIns="0" rtlCol="0" anchor="ctr"/>
          <a:lstStyle/>
          <a:p>
            <a:pPr rtl="1" algn="ctr" indent="0" marL="0">
              <a:buNone/>
            </a:pPr>
            <a:r>
              <a:rPr lang="en-US" sz="1300" b="1" dirty="0">
                <a:solidFill>
                  <a:srgbClr val="16202B"/>
                </a:solidFill>
                <a:latin typeface="Arial" pitchFamily="34" charset="0"/>
                <a:ea typeface="Arial" pitchFamily="34" charset="-122"/>
                <a:cs typeface="Arial" pitchFamily="34" charset="-120"/>
              </a:rPr>
              <a:t>מגישות:  [שם מלא]  |  [שם מלא]  |  [שם מלא]</a:t>
            </a:r>
            <a:endParaRPr lang="en-US" sz="1300" dirty="0"/>
          </a:p>
        </p:txBody>
      </p:sp>
      <p:sp>
        <p:nvSpPr>
          <p:cNvPr id="11" name="Text 8"/>
          <p:cNvSpPr/>
          <p:nvPr/>
        </p:nvSpPr>
        <p:spPr>
          <a:xfrm>
            <a:off x="3017520" y="5047488"/>
            <a:ext cx="6126480" cy="274320"/>
          </a:xfrm>
          <a:prstGeom prst="rect">
            <a:avLst/>
          </a:prstGeom>
          <a:noFill/>
          <a:ln/>
        </p:spPr>
        <p:txBody>
          <a:bodyPr wrap="square" lIns="0" tIns="0" rIns="0" bIns="0" rtlCol="0" anchor="ctr"/>
          <a:lstStyle/>
          <a:p>
            <a:pPr rtl="1" algn="ctr" indent="0" marL="0">
              <a:buNone/>
            </a:pPr>
            <a:r>
              <a:rPr lang="en-US" sz="1300" dirty="0">
                <a:solidFill>
                  <a:srgbClr val="16202B"/>
                </a:solidFill>
                <a:latin typeface="Arial" pitchFamily="34" charset="0"/>
                <a:ea typeface="Arial" pitchFamily="34" charset="-122"/>
                <a:cs typeface="Arial" pitchFamily="34" charset="-120"/>
              </a:rPr>
              <a:t>בהנחיית: ד"ר שנהב פרץ</a:t>
            </a:r>
            <a:endParaRPr lang="en-US" sz="1300" dirty="0"/>
          </a:p>
        </p:txBody>
      </p:sp>
      <p:sp>
        <p:nvSpPr>
          <p:cNvPr id="12" name="Text 9"/>
          <p:cNvSpPr/>
          <p:nvPr/>
        </p:nvSpPr>
        <p:spPr>
          <a:xfrm>
            <a:off x="3017520" y="5358384"/>
            <a:ext cx="6126480" cy="274320"/>
          </a:xfrm>
          <a:prstGeom prst="rect">
            <a:avLst/>
          </a:prstGeom>
          <a:noFill/>
          <a:ln/>
        </p:spPr>
        <p:txBody>
          <a:bodyPr wrap="square" lIns="0" tIns="0" rIns="0" bIns="0" rtlCol="0" anchor="ctr"/>
          <a:lstStyle/>
          <a:p>
            <a:pPr rtl="1" algn="ctr" indent="0" marL="0">
              <a:buNone/>
            </a:pPr>
            <a:r>
              <a:rPr lang="en-US" sz="1200" dirty="0">
                <a:solidFill>
                  <a:srgbClr val="5F6E7A"/>
                </a:solidFill>
                <a:latin typeface="Arial" pitchFamily="34" charset="0"/>
                <a:ea typeface="Arial" pitchFamily="34" charset="-122"/>
                <a:cs typeface="Arial" pitchFamily="34" charset="-120"/>
              </a:rPr>
              <a:t>תאריך הגשה: ______________          תשפ"ו</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סדר ההצגה</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נציג היום</a:t>
            </a:r>
            <a:endParaRPr lang="en-US" sz="3000" dirty="0"/>
          </a:p>
        </p:txBody>
      </p:sp>
      <p:sp>
        <p:nvSpPr>
          <p:cNvPr id="4" name="Shape 2"/>
          <p:cNvSpPr/>
          <p:nvPr/>
        </p:nvSpPr>
        <p:spPr>
          <a:xfrm>
            <a:off x="8113776"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72800" y="1719072"/>
            <a:ext cx="420624" cy="420624"/>
          </a:xfrm>
          <a:prstGeom prst="ellipse">
            <a:avLst/>
          </a:prstGeom>
          <a:solidFill>
            <a:srgbClr val="2E7898"/>
          </a:solidFill>
          <a:ln w="12700">
            <a:solidFill>
              <a:srgbClr val="2E7898"/>
            </a:solidFill>
            <a:prstDash val="solid"/>
          </a:ln>
        </p:spPr>
      </p:sp>
      <p:sp>
        <p:nvSpPr>
          <p:cNvPr id="6" name="Text 4"/>
          <p:cNvSpPr/>
          <p:nvPr/>
        </p:nvSpPr>
        <p:spPr>
          <a:xfrm>
            <a:off x="10972800"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8351520"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הרקע והפער</a:t>
            </a:r>
            <a:endParaRPr lang="en-US" sz="1650" dirty="0"/>
          </a:p>
        </p:txBody>
      </p:sp>
      <p:sp>
        <p:nvSpPr>
          <p:cNvPr id="8" name="Text 6"/>
          <p:cNvSpPr/>
          <p:nvPr/>
        </p:nvSpPr>
        <p:spPr>
          <a:xfrm>
            <a:off x="8351520"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למה הנושא, ומה הנתונים מראים</a:t>
            </a:r>
            <a:endParaRPr lang="en-US" sz="1250" dirty="0"/>
          </a:p>
        </p:txBody>
      </p:sp>
      <p:sp>
        <p:nvSpPr>
          <p:cNvPr id="9" name="Shape 7"/>
          <p:cNvSpPr/>
          <p:nvPr/>
        </p:nvSpPr>
        <p:spPr>
          <a:xfrm>
            <a:off x="4340352"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7199376" y="1719072"/>
            <a:ext cx="420624" cy="420624"/>
          </a:xfrm>
          <a:prstGeom prst="ellipse">
            <a:avLst/>
          </a:prstGeom>
          <a:solidFill>
            <a:srgbClr val="2E7898"/>
          </a:solidFill>
          <a:ln w="12700">
            <a:solidFill>
              <a:srgbClr val="2E7898"/>
            </a:solidFill>
            <a:prstDash val="solid"/>
          </a:ln>
        </p:spPr>
      </p:sp>
      <p:sp>
        <p:nvSpPr>
          <p:cNvPr id="11" name="Text 9"/>
          <p:cNvSpPr/>
          <p:nvPr/>
        </p:nvSpPr>
        <p:spPr>
          <a:xfrm>
            <a:off x="7199376"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4578096"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שאלת המחקר</a:t>
            </a:r>
            <a:endParaRPr lang="en-US" sz="1650" dirty="0"/>
          </a:p>
        </p:txBody>
      </p:sp>
      <p:sp>
        <p:nvSpPr>
          <p:cNvPr id="13" name="Text 11"/>
          <p:cNvSpPr/>
          <p:nvPr/>
        </p:nvSpPr>
        <p:spPr>
          <a:xfrm>
            <a:off x="4578096"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בדיוק ביקשנו לברר</a:t>
            </a:r>
            <a:endParaRPr lang="en-US" sz="1250" dirty="0"/>
          </a:p>
        </p:txBody>
      </p:sp>
      <p:sp>
        <p:nvSpPr>
          <p:cNvPr id="14" name="Shape 12"/>
          <p:cNvSpPr/>
          <p:nvPr/>
        </p:nvSpPr>
        <p:spPr>
          <a:xfrm>
            <a:off x="566928"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3425952" y="1719072"/>
            <a:ext cx="420624" cy="420624"/>
          </a:xfrm>
          <a:prstGeom prst="ellipse">
            <a:avLst/>
          </a:prstGeom>
          <a:solidFill>
            <a:srgbClr val="2E7898"/>
          </a:solidFill>
          <a:ln w="12700">
            <a:solidFill>
              <a:srgbClr val="2E7898"/>
            </a:solidFill>
            <a:prstDash val="solid"/>
          </a:ln>
        </p:spPr>
      </p:sp>
      <p:sp>
        <p:nvSpPr>
          <p:cNvPr id="16" name="Text 14"/>
          <p:cNvSpPr/>
          <p:nvPr/>
        </p:nvSpPr>
        <p:spPr>
          <a:xfrm>
            <a:off x="3425952"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804672"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שיטת המחקר</a:t>
            </a:r>
            <a:endParaRPr lang="en-US" sz="1650" dirty="0"/>
          </a:p>
        </p:txBody>
      </p:sp>
      <p:sp>
        <p:nvSpPr>
          <p:cNvPr id="18" name="Text 16"/>
          <p:cNvSpPr/>
          <p:nvPr/>
        </p:nvSpPr>
        <p:spPr>
          <a:xfrm>
            <a:off x="804672"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שנים עשר ראיונות עומק וניתוח תמטי</a:t>
            </a:r>
            <a:endParaRPr lang="en-US" sz="1250" dirty="0"/>
          </a:p>
        </p:txBody>
      </p:sp>
      <p:sp>
        <p:nvSpPr>
          <p:cNvPr id="19" name="Shape 17"/>
          <p:cNvSpPr/>
          <p:nvPr/>
        </p:nvSpPr>
        <p:spPr>
          <a:xfrm>
            <a:off x="8113776"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10972800" y="3511296"/>
            <a:ext cx="420624" cy="420624"/>
          </a:xfrm>
          <a:prstGeom prst="ellipse">
            <a:avLst/>
          </a:prstGeom>
          <a:solidFill>
            <a:srgbClr val="A9575F"/>
          </a:solidFill>
          <a:ln w="12700">
            <a:solidFill>
              <a:srgbClr val="A9575F"/>
            </a:solidFill>
            <a:prstDash val="solid"/>
          </a:ln>
        </p:spPr>
      </p:sp>
      <p:sp>
        <p:nvSpPr>
          <p:cNvPr id="21" name="Text 19"/>
          <p:cNvSpPr/>
          <p:nvPr/>
        </p:nvSpPr>
        <p:spPr>
          <a:xfrm>
            <a:off x="10972800"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351520"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ארבע התמות</a:t>
            </a:r>
            <a:endParaRPr lang="en-US" sz="1650" dirty="0"/>
          </a:p>
        </p:txBody>
      </p:sp>
      <p:sp>
        <p:nvSpPr>
          <p:cNvPr id="23" name="Text 21"/>
          <p:cNvSpPr/>
          <p:nvPr/>
        </p:nvSpPr>
        <p:spPr>
          <a:xfrm>
            <a:off x="8351520"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הממצאים מפי הנשים עצמן</a:t>
            </a:r>
            <a:endParaRPr lang="en-US" sz="1250" dirty="0"/>
          </a:p>
        </p:txBody>
      </p:sp>
      <p:sp>
        <p:nvSpPr>
          <p:cNvPr id="24" name="Shape 22"/>
          <p:cNvSpPr/>
          <p:nvPr/>
        </p:nvSpPr>
        <p:spPr>
          <a:xfrm>
            <a:off x="4340352"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5" name="Shape 23"/>
          <p:cNvSpPr/>
          <p:nvPr/>
        </p:nvSpPr>
        <p:spPr>
          <a:xfrm>
            <a:off x="7199376" y="3511296"/>
            <a:ext cx="420624" cy="420624"/>
          </a:xfrm>
          <a:prstGeom prst="ellipse">
            <a:avLst/>
          </a:prstGeom>
          <a:solidFill>
            <a:srgbClr val="A9575F"/>
          </a:solidFill>
          <a:ln w="12700">
            <a:solidFill>
              <a:srgbClr val="A9575F"/>
            </a:solidFill>
            <a:prstDash val="solid"/>
          </a:ln>
        </p:spPr>
      </p:sp>
      <p:sp>
        <p:nvSpPr>
          <p:cNvPr id="26" name="Text 24"/>
          <p:cNvSpPr/>
          <p:nvPr/>
        </p:nvSpPr>
        <p:spPr>
          <a:xfrm>
            <a:off x="7199376"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7" name="Text 25"/>
          <p:cNvSpPr/>
          <p:nvPr/>
        </p:nvSpPr>
        <p:spPr>
          <a:xfrm>
            <a:off x="4578096"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דיון</a:t>
            </a:r>
            <a:endParaRPr lang="en-US" sz="1650" dirty="0"/>
          </a:p>
        </p:txBody>
      </p:sp>
      <p:sp>
        <p:nvSpPr>
          <p:cNvPr id="28" name="Text 26"/>
          <p:cNvSpPr/>
          <p:nvPr/>
        </p:nvSpPr>
        <p:spPr>
          <a:xfrm>
            <a:off x="4578096"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חידשנו מול הספרות, ומה הפתיע</a:t>
            </a:r>
            <a:endParaRPr lang="en-US" sz="1250" dirty="0"/>
          </a:p>
        </p:txBody>
      </p:sp>
      <p:sp>
        <p:nvSpPr>
          <p:cNvPr id="29" name="Shape 27"/>
          <p:cNvSpPr/>
          <p:nvPr/>
        </p:nvSpPr>
        <p:spPr>
          <a:xfrm>
            <a:off x="566928"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30" name="Shape 28"/>
          <p:cNvSpPr/>
          <p:nvPr/>
        </p:nvSpPr>
        <p:spPr>
          <a:xfrm>
            <a:off x="3425952" y="3511296"/>
            <a:ext cx="420624" cy="420624"/>
          </a:xfrm>
          <a:prstGeom prst="ellipse">
            <a:avLst/>
          </a:prstGeom>
          <a:solidFill>
            <a:srgbClr val="A9575F"/>
          </a:solidFill>
          <a:ln w="12700">
            <a:solidFill>
              <a:srgbClr val="A9575F"/>
            </a:solidFill>
            <a:prstDash val="solid"/>
          </a:ln>
        </p:spPr>
      </p:sp>
      <p:sp>
        <p:nvSpPr>
          <p:cNvPr id="31" name="Text 29"/>
          <p:cNvSpPr/>
          <p:nvPr/>
        </p:nvSpPr>
        <p:spPr>
          <a:xfrm>
            <a:off x="3425952"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32" name="Text 30"/>
          <p:cNvSpPr/>
          <p:nvPr/>
        </p:nvSpPr>
        <p:spPr>
          <a:xfrm>
            <a:off x="804672"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מסקנות והמלצות</a:t>
            </a:r>
            <a:endParaRPr lang="en-US" sz="1650" dirty="0"/>
          </a:p>
        </p:txBody>
      </p:sp>
      <p:sp>
        <p:nvSpPr>
          <p:cNvPr id="33" name="Text 31"/>
          <p:cNvSpPr/>
          <p:nvPr/>
        </p:nvSpPr>
        <p:spPr>
          <a:xfrm>
            <a:off x="804672"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עושים עם זה מחר בבוקר</a:t>
            </a:r>
            <a:endParaRPr lang="en-US" sz="1250" dirty="0"/>
          </a:p>
        </p:txBody>
      </p:sp>
      <p:sp>
        <p:nvSpPr>
          <p:cNvPr id="34" name="Shape 32"/>
          <p:cNvSpPr/>
          <p:nvPr/>
        </p:nvSpPr>
        <p:spPr>
          <a:xfrm>
            <a:off x="566928" y="5029200"/>
            <a:ext cx="11027664" cy="786384"/>
          </a:xfrm>
          <a:prstGeom prst="roundRect">
            <a:avLst>
              <a:gd name="adj" fmla="val 10465"/>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35" name="Text 33"/>
          <p:cNvSpPr/>
          <p:nvPr/>
        </p:nvSpPr>
        <p:spPr>
          <a:xfrm>
            <a:off x="786384" y="5138928"/>
            <a:ext cx="10588752" cy="566928"/>
          </a:xfrm>
          <a:prstGeom prst="rect">
            <a:avLst/>
          </a:prstGeom>
          <a:noFill/>
          <a:ln/>
        </p:spPr>
        <p:txBody>
          <a:bodyPr wrap="square" lIns="0" tIns="0" rIns="0" bIns="0" rtlCol="0" anchor="ctr"/>
          <a:lstStyle/>
          <a:p>
            <a:pPr rtl="1" algn="ctr" indent="0" marL="0">
              <a:buNone/>
            </a:pPr>
            <a:r>
              <a:rPr lang="en-US" sz="1300" dirty="0">
                <a:solidFill>
                  <a:srgbClr val="16202B"/>
                </a:solidFill>
                <a:latin typeface="Arial" pitchFamily="34" charset="0"/>
                <a:ea typeface="Arial" pitchFamily="34" charset="-122"/>
                <a:cs typeface="Arial" pitchFamily="34" charset="-120"/>
              </a:rPr>
              <a:t>חלוקת ההצגה: מציגה א׳ פרקים 1 עד 2  |  מציגה ב׳ פרקים 3 עד 4  |  מציגה ג׳ פרקים 5 עד 6  |  משך כולל: 15 דקות</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רקע</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בדיקה חינמית, פער שנשאר</a:t>
            </a:r>
            <a:endParaRPr lang="en-US" sz="3000" dirty="0"/>
          </a:p>
        </p:txBody>
      </p:sp>
      <p:sp>
        <p:nvSpPr>
          <p:cNvPr id="4" name="Text 2"/>
          <p:cNvSpPr/>
          <p:nvPr/>
        </p:nvSpPr>
        <p:spPr>
          <a:xfrm>
            <a:off x="566928" y="1170432"/>
            <a:ext cx="11027664" cy="566928"/>
          </a:xfrm>
          <a:prstGeom prst="rect">
            <a:avLst/>
          </a:prstGeom>
          <a:noFill/>
          <a:ln/>
        </p:spPr>
        <p:txBody>
          <a:bodyPr wrap="square" lIns="0" tIns="0" rIns="0" bIns="0" rtlCol="0" anchor="t"/>
          <a:lstStyle/>
          <a:p>
            <a:pPr rtl="1" algn="r" indent="0" marL="0">
              <a:lnSpc>
                <a:spcPct val="120000"/>
              </a:lnSpc>
              <a:buNone/>
            </a:pPr>
            <a:r>
              <a:rPr lang="en-US" sz="1450" dirty="0">
                <a:solidFill>
                  <a:srgbClr val="5F6E7A"/>
                </a:solidFill>
                <a:latin typeface="Arial" pitchFamily="34" charset="0"/>
                <a:ea typeface="Arial" pitchFamily="34" charset="-122"/>
                <a:cs typeface="Arial" pitchFamily="34" charset="-120"/>
              </a:rPr>
              <a:t>סרטן השד הוא הגידול הממאיר השכיח ביותר בקרב נשים בישראל. הממוגרפיה ניתנת ללא תשלום בסל הבריאות לנשים בגילאי 50 עד 74 אחת לשנתיים, ואף על פי כן שיעורי הביצוע אינם שווים בין הקבוצות.</a:t>
            </a:r>
            <a:endParaRPr lang="en-US" sz="1450" dirty="0"/>
          </a:p>
        </p:txBody>
      </p:sp>
      <p:sp>
        <p:nvSpPr>
          <p:cNvPr id="5" name="Shape 3"/>
          <p:cNvSpPr/>
          <p:nvPr/>
        </p:nvSpPr>
        <p:spPr>
          <a:xfrm>
            <a:off x="8125968" y="1975104"/>
            <a:ext cx="3468624"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6" name="Text 4"/>
          <p:cNvSpPr/>
          <p:nvPr/>
        </p:nvSpPr>
        <p:spPr>
          <a:xfrm>
            <a:off x="8308848" y="2212848"/>
            <a:ext cx="3102864" cy="786384"/>
          </a:xfrm>
          <a:prstGeom prst="rect">
            <a:avLst/>
          </a:prstGeom>
          <a:noFill/>
          <a:ln/>
        </p:spPr>
        <p:txBody>
          <a:bodyPr wrap="square" lIns="0" tIns="0" rIns="0" bIns="0" rtlCol="0" anchor="ctr"/>
          <a:lstStyle/>
          <a:p>
            <a:pPr rtl="1" algn="ctr" indent="0" marL="0">
              <a:buNone/>
            </a:pPr>
            <a:r>
              <a:rPr lang="en-US" sz="4200" b="1" dirty="0">
                <a:solidFill>
                  <a:srgbClr val="2E7898"/>
                </a:solidFill>
                <a:latin typeface="Arial" pitchFamily="34" charset="0"/>
                <a:ea typeface="Arial" pitchFamily="34" charset="-122"/>
                <a:cs typeface="Arial" pitchFamily="34" charset="-120"/>
              </a:rPr>
              <a:t>78.2%</a:t>
            </a:r>
            <a:endParaRPr lang="en-US" sz="4200" dirty="0"/>
          </a:p>
        </p:txBody>
      </p:sp>
      <p:sp>
        <p:nvSpPr>
          <p:cNvPr id="7" name="Text 5"/>
          <p:cNvSpPr/>
          <p:nvPr/>
        </p:nvSpPr>
        <p:spPr>
          <a:xfrm>
            <a:off x="830884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נשים יהודיות</a:t>
            </a:r>
            <a:endParaRPr lang="en-US" sz="1600" dirty="0"/>
          </a:p>
        </p:txBody>
      </p:sp>
      <p:sp>
        <p:nvSpPr>
          <p:cNvPr id="8" name="Text 6"/>
          <p:cNvSpPr/>
          <p:nvPr/>
        </p:nvSpPr>
        <p:spPr>
          <a:xfrm>
            <a:off x="838200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ביצוע ממוגרפיה בגילאי 50 עד 74, סקר 2017</a:t>
            </a:r>
            <a:endParaRPr lang="en-US" sz="1200" dirty="0"/>
          </a:p>
        </p:txBody>
      </p:sp>
      <p:sp>
        <p:nvSpPr>
          <p:cNvPr id="9" name="Shape 7"/>
          <p:cNvSpPr/>
          <p:nvPr/>
        </p:nvSpPr>
        <p:spPr>
          <a:xfrm>
            <a:off x="4346448" y="1975104"/>
            <a:ext cx="3468624" cy="2286000"/>
          </a:xfrm>
          <a:prstGeom prst="roundRect">
            <a:avLst>
              <a:gd name="adj" fmla="val 3600"/>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10" name="Text 8"/>
          <p:cNvSpPr/>
          <p:nvPr/>
        </p:nvSpPr>
        <p:spPr>
          <a:xfrm>
            <a:off x="4529328" y="2212848"/>
            <a:ext cx="3102864" cy="786384"/>
          </a:xfrm>
          <a:prstGeom prst="rect">
            <a:avLst/>
          </a:prstGeom>
          <a:noFill/>
          <a:ln/>
        </p:spPr>
        <p:txBody>
          <a:bodyPr wrap="square" lIns="0" tIns="0" rIns="0" bIns="0" rtlCol="0" anchor="ctr"/>
          <a:lstStyle/>
          <a:p>
            <a:pPr rtl="1" algn="ctr" indent="0" marL="0">
              <a:buNone/>
            </a:pPr>
            <a:r>
              <a:rPr lang="en-US" sz="4200" b="1" dirty="0">
                <a:solidFill>
                  <a:srgbClr val="A9575F"/>
                </a:solidFill>
                <a:latin typeface="Arial" pitchFamily="34" charset="0"/>
                <a:ea typeface="Arial" pitchFamily="34" charset="-122"/>
                <a:cs typeface="Arial" pitchFamily="34" charset="-120"/>
              </a:rPr>
              <a:t>64.8%</a:t>
            </a:r>
            <a:endParaRPr lang="en-US" sz="4200" dirty="0"/>
          </a:p>
        </p:txBody>
      </p:sp>
      <p:sp>
        <p:nvSpPr>
          <p:cNvPr id="11" name="Text 9"/>
          <p:cNvSpPr/>
          <p:nvPr/>
        </p:nvSpPr>
        <p:spPr>
          <a:xfrm>
            <a:off x="452932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נשים ערביות</a:t>
            </a:r>
            <a:endParaRPr lang="en-US" sz="1600" dirty="0"/>
          </a:p>
        </p:txBody>
      </p:sp>
      <p:sp>
        <p:nvSpPr>
          <p:cNvPr id="12" name="Text 10"/>
          <p:cNvSpPr/>
          <p:nvPr/>
        </p:nvSpPr>
        <p:spPr>
          <a:xfrm>
            <a:off x="460248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אותו סקר, אותה שנה, אותה זכאות</a:t>
            </a:r>
            <a:endParaRPr lang="en-US" sz="1200" dirty="0"/>
          </a:p>
        </p:txBody>
      </p:sp>
      <p:sp>
        <p:nvSpPr>
          <p:cNvPr id="13" name="Shape 11"/>
          <p:cNvSpPr/>
          <p:nvPr/>
        </p:nvSpPr>
        <p:spPr>
          <a:xfrm>
            <a:off x="566928" y="1975104"/>
            <a:ext cx="3468624"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4" name="Text 12"/>
          <p:cNvSpPr/>
          <p:nvPr/>
        </p:nvSpPr>
        <p:spPr>
          <a:xfrm>
            <a:off x="749808" y="2212848"/>
            <a:ext cx="3102864" cy="786384"/>
          </a:xfrm>
          <a:prstGeom prst="rect">
            <a:avLst/>
          </a:prstGeom>
          <a:noFill/>
          <a:ln/>
        </p:spPr>
        <p:txBody>
          <a:bodyPr wrap="square" lIns="0" tIns="0" rIns="0" bIns="0" rtlCol="0" anchor="ctr"/>
          <a:lstStyle/>
          <a:p>
            <a:pPr rtl="1" algn="ctr" indent="0" marL="0">
              <a:buNone/>
            </a:pPr>
            <a:r>
              <a:rPr lang="en-US" sz="4200" b="1" dirty="0">
                <a:solidFill>
                  <a:srgbClr val="1B3A57"/>
                </a:solidFill>
                <a:latin typeface="Arial" pitchFamily="34" charset="0"/>
                <a:ea typeface="Arial" pitchFamily="34" charset="-122"/>
                <a:cs typeface="Arial" pitchFamily="34" charset="-120"/>
              </a:rPr>
              <a:t>48 מול 62</a:t>
            </a:r>
            <a:endParaRPr lang="en-US" sz="4200" dirty="0"/>
          </a:p>
        </p:txBody>
      </p:sp>
      <p:sp>
        <p:nvSpPr>
          <p:cNvPr id="15" name="Text 13"/>
          <p:cNvSpPr/>
          <p:nvPr/>
        </p:nvSpPr>
        <p:spPr>
          <a:xfrm>
            <a:off x="74980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חציון גיל האבחון</a:t>
            </a:r>
            <a:endParaRPr lang="en-US" sz="1600" dirty="0"/>
          </a:p>
        </p:txBody>
      </p:sp>
      <p:sp>
        <p:nvSpPr>
          <p:cNvPr id="16" name="Text 14"/>
          <p:cNvSpPr/>
          <p:nvPr/>
        </p:nvSpPr>
        <p:spPr>
          <a:xfrm>
            <a:off x="82296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נשים בדואיות מול נשים יהודיות בדרום</a:t>
            </a:r>
            <a:endParaRPr lang="en-US" sz="1200" dirty="0"/>
          </a:p>
        </p:txBody>
      </p:sp>
      <p:sp>
        <p:nvSpPr>
          <p:cNvPr id="17" name="Shape 15"/>
          <p:cNvSpPr/>
          <p:nvPr/>
        </p:nvSpPr>
        <p:spPr>
          <a:xfrm>
            <a:off x="566928" y="4553712"/>
            <a:ext cx="11027664" cy="1207008"/>
          </a:xfrm>
          <a:prstGeom prst="roundRect">
            <a:avLst>
              <a:gd name="adj" fmla="val 6818"/>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18" name="Text 16"/>
          <p:cNvSpPr/>
          <p:nvPr/>
        </p:nvSpPr>
        <p:spPr>
          <a:xfrm>
            <a:off x="841248" y="4718304"/>
            <a:ext cx="10479024" cy="402336"/>
          </a:xfrm>
          <a:prstGeom prst="rect">
            <a:avLst/>
          </a:prstGeom>
          <a:noFill/>
          <a:ln/>
        </p:spPr>
        <p:txBody>
          <a:bodyPr wrap="square" lIns="0" tIns="0" rIns="0" bIns="0" rtlCol="0" anchor="ctr"/>
          <a:lstStyle/>
          <a:p>
            <a:pPr rtl="1" algn="ctr" indent="0" marL="0">
              <a:buNone/>
            </a:pPr>
            <a:r>
              <a:rPr lang="en-US" sz="1700" b="1" dirty="0">
                <a:solidFill>
                  <a:srgbClr val="FFFFFF"/>
                </a:solidFill>
                <a:latin typeface="Arial" pitchFamily="34" charset="0"/>
                <a:ea typeface="Arial" pitchFamily="34" charset="-122"/>
                <a:cs typeface="Arial" pitchFamily="34" charset="-120"/>
              </a:rPr>
              <a:t>הפער אינו כלכלי. הבדיקה חינמית לשתי הקבוצות, ולכן ההסבר מוכרח להימצא במקום אחר.</a:t>
            </a:r>
            <a:endParaRPr lang="en-US" sz="1700" dirty="0"/>
          </a:p>
        </p:txBody>
      </p:sp>
      <p:sp>
        <p:nvSpPr>
          <p:cNvPr id="19" name="Text 17"/>
          <p:cNvSpPr/>
          <p:nvPr/>
        </p:nvSpPr>
        <p:spPr>
          <a:xfrm>
            <a:off x="841248" y="5175504"/>
            <a:ext cx="10479024" cy="365760"/>
          </a:xfrm>
          <a:prstGeom prst="rect">
            <a:avLst/>
          </a:prstGeom>
          <a:noFill/>
          <a:ln/>
        </p:spPr>
        <p:txBody>
          <a:bodyPr wrap="square" lIns="0" tIns="0" rIns="0" bIns="0" rtlCol="0" anchor="ctr"/>
          <a:lstStyle/>
          <a:p>
            <a:pPr rtl="1" algn="ctr" indent="0" marL="0">
              <a:buNone/>
            </a:pPr>
            <a:r>
              <a:rPr lang="en-US" sz="1400" dirty="0">
                <a:solidFill>
                  <a:srgbClr val="C9D8E2"/>
                </a:solidFill>
                <a:latin typeface="Arial" pitchFamily="34" charset="0"/>
                <a:ea typeface="Arial" pitchFamily="34" charset="-122"/>
                <a:cs typeface="Arial" pitchFamily="34" charset="-120"/>
              </a:rPr>
              <a:t>ולכן שאלנו את הנשים עצמן.</a:t>
            </a:r>
            <a:endParaRPr lang="en-US" sz="1400" dirty="0"/>
          </a:p>
        </p:txBody>
      </p:sp>
      <p:sp>
        <p:nvSpPr>
          <p:cNvPr id="20" name="Text 18"/>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הלשכה המרכזית לסטטיסטיקה, 2019;  Ben Shitrit et al., 2024</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סקירת ספרות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כבר ידוע, ומה נשאר פתוח</a:t>
            </a:r>
            <a:endParaRPr lang="en-US" sz="3000" dirty="0"/>
          </a:p>
        </p:txBody>
      </p:sp>
      <p:sp>
        <p:nvSpPr>
          <p:cNvPr id="4" name="Shape 2"/>
          <p:cNvSpPr/>
          <p:nvPr/>
        </p:nvSpPr>
        <p:spPr>
          <a:xfrm>
            <a:off x="11210544" y="1271016"/>
            <a:ext cx="384048" cy="384048"/>
          </a:xfrm>
          <a:prstGeom prst="ellipse">
            <a:avLst/>
          </a:prstGeom>
          <a:solidFill>
            <a:srgbClr val="2E7898"/>
          </a:solidFill>
          <a:ln w="12700">
            <a:solidFill>
              <a:srgbClr val="2E7898"/>
            </a:solidFill>
            <a:prstDash val="solid"/>
          </a:ln>
        </p:spPr>
      </p:sp>
      <p:sp>
        <p:nvSpPr>
          <p:cNvPr id="5" name="Text 3"/>
          <p:cNvSpPr/>
          <p:nvPr/>
        </p:nvSpPr>
        <p:spPr>
          <a:xfrm>
            <a:off x="11210544" y="12710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5472867" y="1243584"/>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חסמים תרבותיים ורגשיים</a:t>
            </a:r>
            <a:endParaRPr lang="en-US" sz="1550" dirty="0"/>
          </a:p>
        </p:txBody>
      </p:sp>
      <p:sp>
        <p:nvSpPr>
          <p:cNvPr id="7" name="Text 5"/>
          <p:cNvSpPr/>
          <p:nvPr/>
        </p:nvSpPr>
        <p:spPr>
          <a:xfrm>
            <a:off x="5472867" y="1545336"/>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בושה וחשיפת גוף, חשש מתיוג ומרכילות, פחד מן המחלה ומתוצאות הבדיקה, ותפיסות פטליסטיות הרואות במחלה גורל  (Cohen &amp; Azaiza, 2006)</a:t>
            </a:r>
            <a:endParaRPr lang="en-US" sz="1250" dirty="0"/>
          </a:p>
        </p:txBody>
      </p:sp>
      <p:sp>
        <p:nvSpPr>
          <p:cNvPr id="8" name="Shape 6"/>
          <p:cNvSpPr/>
          <p:nvPr/>
        </p:nvSpPr>
        <p:spPr>
          <a:xfrm>
            <a:off x="11210544" y="2514600"/>
            <a:ext cx="384048" cy="384048"/>
          </a:xfrm>
          <a:prstGeom prst="ellipse">
            <a:avLst/>
          </a:prstGeom>
          <a:solidFill>
            <a:srgbClr val="2E7898"/>
          </a:solidFill>
          <a:ln w="12700">
            <a:solidFill>
              <a:srgbClr val="2E7898"/>
            </a:solidFill>
            <a:prstDash val="solid"/>
          </a:ln>
        </p:spPr>
      </p:sp>
      <p:sp>
        <p:nvSpPr>
          <p:cNvPr id="9" name="Text 7"/>
          <p:cNvSpPr/>
          <p:nvPr/>
        </p:nvSpPr>
        <p:spPr>
          <a:xfrm>
            <a:off x="11210544" y="25146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0" name="Text 8"/>
          <p:cNvSpPr/>
          <p:nvPr/>
        </p:nvSpPr>
        <p:spPr>
          <a:xfrm>
            <a:off x="5472867" y="2487168"/>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חסמים מבניים</a:t>
            </a:r>
            <a:endParaRPr lang="en-US" sz="1550" dirty="0"/>
          </a:p>
        </p:txBody>
      </p:sp>
      <p:sp>
        <p:nvSpPr>
          <p:cNvPr id="11" name="Text 9"/>
          <p:cNvSpPr/>
          <p:nvPr/>
        </p:nvSpPr>
        <p:spPr>
          <a:xfrm>
            <a:off x="5472867" y="2788920"/>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מרחק ותלות בהסעה, היעדר בודקת אישה, שפה, וזימון שאינו מגיע או שאינו מובן  (Azaiza et al., 2010)</a:t>
            </a:r>
            <a:endParaRPr lang="en-US" sz="1250" dirty="0"/>
          </a:p>
        </p:txBody>
      </p:sp>
      <p:sp>
        <p:nvSpPr>
          <p:cNvPr id="12" name="Shape 10"/>
          <p:cNvSpPr/>
          <p:nvPr/>
        </p:nvSpPr>
        <p:spPr>
          <a:xfrm>
            <a:off x="11210544" y="3758184"/>
            <a:ext cx="384048" cy="384048"/>
          </a:xfrm>
          <a:prstGeom prst="ellipse">
            <a:avLst/>
          </a:prstGeom>
          <a:solidFill>
            <a:srgbClr val="2E7898"/>
          </a:solidFill>
          <a:ln w="12700">
            <a:solidFill>
              <a:srgbClr val="2E7898"/>
            </a:solidFill>
            <a:prstDash val="solid"/>
          </a:ln>
        </p:spPr>
      </p:sp>
      <p:sp>
        <p:nvSpPr>
          <p:cNvPr id="13" name="Text 11"/>
          <p:cNvSpPr/>
          <p:nvPr/>
        </p:nvSpPr>
        <p:spPr>
          <a:xfrm>
            <a:off x="11210544" y="375818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p:nvPr/>
        </p:nvSpPr>
        <p:spPr>
          <a:xfrm>
            <a:off x="5472867" y="3730752"/>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מאיצים מוכחים</a:t>
            </a:r>
            <a:endParaRPr lang="en-US" sz="1550" dirty="0"/>
          </a:p>
        </p:txBody>
      </p:sp>
      <p:sp>
        <p:nvSpPr>
          <p:cNvPr id="15" name="Text 13"/>
          <p:cNvSpPr/>
          <p:nvPr/>
        </p:nvSpPr>
        <p:spPr>
          <a:xfrm>
            <a:off x="5472867" y="4032504"/>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המלצת רופא היא המנבא החזק ביותר, לצד זימון יזום, ניידת ממוגרפיה ותמיכה של הרשת החברתית  (Freund et al., 2019)</a:t>
            </a:r>
            <a:endParaRPr lang="en-US" sz="1250" dirty="0"/>
          </a:p>
        </p:txBody>
      </p:sp>
      <p:sp>
        <p:nvSpPr>
          <p:cNvPr id="16" name="Shape 14"/>
          <p:cNvSpPr/>
          <p:nvPr/>
        </p:nvSpPr>
        <p:spPr>
          <a:xfrm>
            <a:off x="566928" y="1243584"/>
            <a:ext cx="4631619" cy="3749040"/>
          </a:xfrm>
          <a:prstGeom prst="roundRect">
            <a:avLst>
              <a:gd name="adj" fmla="val 2195"/>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17" name="Text 15"/>
          <p:cNvSpPr/>
          <p:nvPr/>
        </p:nvSpPr>
        <p:spPr>
          <a:xfrm>
            <a:off x="841248" y="1517904"/>
            <a:ext cx="4082979" cy="365760"/>
          </a:xfrm>
          <a:prstGeom prst="rect">
            <a:avLst/>
          </a:prstGeom>
          <a:noFill/>
          <a:ln/>
        </p:spPr>
        <p:txBody>
          <a:bodyPr wrap="square" lIns="0" tIns="0" rIns="0" bIns="0"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הפער שהספרות משאירה</a:t>
            </a:r>
            <a:endParaRPr lang="en-US" sz="1700" dirty="0"/>
          </a:p>
        </p:txBody>
      </p:sp>
      <p:sp>
        <p:nvSpPr>
          <p:cNvPr id="18" name="Text 16"/>
          <p:cNvSpPr/>
          <p:nvPr/>
        </p:nvSpPr>
        <p:spPr>
          <a:xfrm>
            <a:off x="841248" y="1956816"/>
            <a:ext cx="4082979" cy="914400"/>
          </a:xfrm>
          <a:prstGeom prst="rect">
            <a:avLst/>
          </a:prstGeom>
          <a:noFill/>
          <a:ln/>
        </p:spPr>
        <p:txBody>
          <a:bodyPr wrap="square" lIns="0" tIns="0" rIns="0" bIns="0" rtlCol="0" anchor="t"/>
          <a:lstStyle/>
          <a:p>
            <a:pPr rtl="1" algn="r" indent="0" marL="0">
              <a:lnSpc>
                <a:spcPct val="124000"/>
              </a:lnSpc>
              <a:buNone/>
            </a:pPr>
            <a:r>
              <a:rPr lang="en-US" sz="1350" dirty="0">
                <a:solidFill>
                  <a:srgbClr val="C9D8E2"/>
                </a:solidFill>
                <a:latin typeface="Arial" pitchFamily="34" charset="0"/>
                <a:ea typeface="Arial" pitchFamily="34" charset="-122"/>
                <a:cs typeface="Arial" pitchFamily="34" charset="-120"/>
              </a:rPr>
              <a:t>רוב המחקרים כמותיים. הם מודדים כמה נשים נבדקות ואילו משתנים קשורים לכך, אך אינם מתארים כיצד החסמים פועלים בחיים עצמם.</a:t>
            </a:r>
            <a:endParaRPr lang="en-US" sz="1350" dirty="0"/>
          </a:p>
        </p:txBody>
      </p:sp>
      <p:sp>
        <p:nvSpPr>
          <p:cNvPr id="19" name="Text 17"/>
          <p:cNvSpPr/>
          <p:nvPr/>
        </p:nvSpPr>
        <p:spPr>
          <a:xfrm>
            <a:off x="841248" y="2999232"/>
            <a:ext cx="4082979" cy="914400"/>
          </a:xfrm>
          <a:prstGeom prst="rect">
            <a:avLst/>
          </a:prstGeom>
          <a:noFill/>
          <a:ln/>
        </p:spPr>
        <p:txBody>
          <a:bodyPr wrap="square" lIns="0" tIns="0" rIns="0" bIns="0" rtlCol="0" anchor="t"/>
          <a:lstStyle/>
          <a:p>
            <a:pPr rtl="1" algn="r" indent="0" marL="0">
              <a:lnSpc>
                <a:spcPct val="124000"/>
              </a:lnSpc>
              <a:buNone/>
            </a:pPr>
            <a:r>
              <a:rPr lang="en-US" sz="1350" i="1" dirty="0">
                <a:solidFill>
                  <a:srgbClr val="FFFFFF"/>
                </a:solidFill>
                <a:latin typeface="Arial" pitchFamily="34" charset="0"/>
                <a:ea typeface="Arial" pitchFamily="34" charset="-122"/>
                <a:cs typeface="Arial" pitchFamily="34" charset="-120"/>
              </a:rPr>
              <a:t>רוב הנשים הערביות מעל גיל חמישים כבר עברו ממוגרפיה לפחות פעם אחת, ובכל זאת ההיענות ללוח הזמנים המומלץ נותרת נמוכה.</a:t>
            </a:r>
            <a:endParaRPr lang="en-US" sz="1350" dirty="0"/>
          </a:p>
        </p:txBody>
      </p:sp>
      <p:sp>
        <p:nvSpPr>
          <p:cNvPr id="20" name="Text 18"/>
          <p:cNvSpPr/>
          <p:nvPr/>
        </p:nvSpPr>
        <p:spPr>
          <a:xfrm>
            <a:off x="841248" y="4480560"/>
            <a:ext cx="4082979" cy="274320"/>
          </a:xfrm>
          <a:prstGeom prst="rect">
            <a:avLst/>
          </a:prstGeom>
          <a:noFill/>
          <a:ln/>
        </p:spPr>
        <p:txBody>
          <a:bodyPr wrap="square" lIns="0" tIns="0" rIns="0" bIns="0" rtlCol="0" anchor="ctr"/>
          <a:lstStyle/>
          <a:p>
            <a:pPr rtl="1" algn="r" indent="0" marL="0">
              <a:buNone/>
            </a:pPr>
            <a:r>
              <a:rPr lang="en-US" sz="1100" dirty="0">
                <a:solidFill>
                  <a:srgbClr val="9FB6C6"/>
                </a:solidFill>
                <a:latin typeface="Arial" pitchFamily="34" charset="0"/>
                <a:ea typeface="Arial" pitchFamily="34" charset="-122"/>
                <a:cs typeface="Arial" pitchFamily="34" charset="-120"/>
              </a:rPr>
              <a:t>Cohen &amp; Azaiza, 2006</a:t>
            </a:r>
            <a:endParaRPr lang="en-US" sz="1100" dirty="0"/>
          </a:p>
        </p:txBody>
      </p:sp>
      <p:sp>
        <p:nvSpPr>
          <p:cNvPr id="21" name="Text 19"/>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הסקירה המלאה בעבודה כוללת 23 מקורות, מרביתם מן העשור האחרון</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3A57"/>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8FB4CB"/>
                </a:solidFill>
                <a:latin typeface="Arial" pitchFamily="34" charset="0"/>
                <a:ea typeface="Arial" pitchFamily="34" charset="-122"/>
                <a:cs typeface="Arial" pitchFamily="34" charset="-120"/>
              </a:rPr>
              <a:t>שאלת המחקר</a:t>
            </a:r>
            <a:endParaRPr lang="en-US" sz="1200" dirty="0"/>
          </a:p>
        </p:txBody>
      </p:sp>
      <p:sp>
        <p:nvSpPr>
          <p:cNvPr id="3" name="Text 1"/>
          <p:cNvSpPr/>
          <p:nvPr/>
        </p:nvSpPr>
        <p:spPr>
          <a:xfrm>
            <a:off x="566928" y="1115568"/>
            <a:ext cx="11027664" cy="1920240"/>
          </a:xfrm>
          <a:prstGeom prst="rect">
            <a:avLst/>
          </a:prstGeom>
          <a:noFill/>
          <a:ln/>
        </p:spPr>
        <p:txBody>
          <a:bodyPr wrap="square" lIns="0" tIns="0" rIns="0" bIns="0" rtlCol="0" anchor="t"/>
          <a:lstStyle/>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אילו גורמים מעכבים ומקדמים את היענותן של נשים</a:t>
            </a:r>
            <a:endParaRPr lang="en-US" sz="2800" dirty="0"/>
          </a:p>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בחברה הערבית בישראל לבדיקות ממוגרפיה,</a:t>
            </a:r>
            <a:endParaRPr lang="en-US" sz="2800" dirty="0"/>
          </a:p>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וכיצד ניתן להגביר אותה?</a:t>
            </a:r>
            <a:endParaRPr lang="en-US" sz="2800" dirty="0"/>
          </a:p>
        </p:txBody>
      </p:sp>
      <p:sp>
        <p:nvSpPr>
          <p:cNvPr id="4" name="Shape 2"/>
          <p:cNvSpPr/>
          <p:nvPr/>
        </p:nvSpPr>
        <p:spPr>
          <a:xfrm>
            <a:off x="8125968" y="3529584"/>
            <a:ext cx="3468624" cy="1572768"/>
          </a:xfrm>
          <a:prstGeom prst="roundRect">
            <a:avLst>
              <a:gd name="adj" fmla="val 5233"/>
            </a:avLst>
          </a:prstGeom>
          <a:solidFill>
            <a:srgbClr val="24486A"/>
          </a:solidFill>
          <a:ln w="12700">
            <a:solidFill>
              <a:srgbClr val="3A628A"/>
            </a:solidFill>
            <a:prstDash val="solid"/>
          </a:ln>
        </p:spPr>
      </p:sp>
      <p:sp>
        <p:nvSpPr>
          <p:cNvPr id="5" name="Text 3"/>
          <p:cNvSpPr/>
          <p:nvPr/>
        </p:nvSpPr>
        <p:spPr>
          <a:xfrm>
            <a:off x="836371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לזהות</a:t>
            </a:r>
            <a:endParaRPr lang="en-US" sz="1800" dirty="0"/>
          </a:p>
        </p:txBody>
      </p:sp>
      <p:sp>
        <p:nvSpPr>
          <p:cNvPr id="6" name="Text 4"/>
          <p:cNvSpPr/>
          <p:nvPr/>
        </p:nvSpPr>
        <p:spPr>
          <a:xfrm>
            <a:off x="836371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את החסמים והמאיצים כפי שהנשים עצמן מנסחות אותם</a:t>
            </a:r>
            <a:endParaRPr lang="en-US" sz="1300" dirty="0"/>
          </a:p>
        </p:txBody>
      </p:sp>
      <p:sp>
        <p:nvSpPr>
          <p:cNvPr id="7" name="Shape 5"/>
          <p:cNvSpPr/>
          <p:nvPr/>
        </p:nvSpPr>
        <p:spPr>
          <a:xfrm>
            <a:off x="4346448" y="3529584"/>
            <a:ext cx="3468624" cy="1572768"/>
          </a:xfrm>
          <a:prstGeom prst="roundRect">
            <a:avLst>
              <a:gd name="adj" fmla="val 5233"/>
            </a:avLst>
          </a:prstGeom>
          <a:solidFill>
            <a:srgbClr val="24486A"/>
          </a:solidFill>
          <a:ln w="12700">
            <a:solidFill>
              <a:srgbClr val="3A628A"/>
            </a:solidFill>
            <a:prstDash val="solid"/>
          </a:ln>
        </p:spPr>
      </p:sp>
      <p:sp>
        <p:nvSpPr>
          <p:cNvPr id="8" name="Text 6"/>
          <p:cNvSpPr/>
          <p:nvPr/>
        </p:nvSpPr>
        <p:spPr>
          <a:xfrm>
            <a:off x="458419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להבין</a:t>
            </a:r>
            <a:endParaRPr lang="en-US" sz="1800" dirty="0"/>
          </a:p>
        </p:txBody>
      </p:sp>
      <p:sp>
        <p:nvSpPr>
          <p:cNvPr id="9" name="Text 7"/>
          <p:cNvSpPr/>
          <p:nvPr/>
        </p:nvSpPr>
        <p:spPr>
          <a:xfrm>
            <a:off x="458419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כיצד הגורמים פועלים זה על זה ולא רק כרשימה</a:t>
            </a:r>
            <a:endParaRPr lang="en-US" sz="1300" dirty="0"/>
          </a:p>
        </p:txBody>
      </p:sp>
      <p:sp>
        <p:nvSpPr>
          <p:cNvPr id="10" name="Shape 8"/>
          <p:cNvSpPr/>
          <p:nvPr/>
        </p:nvSpPr>
        <p:spPr>
          <a:xfrm>
            <a:off x="566928" y="3529584"/>
            <a:ext cx="3468624" cy="1572768"/>
          </a:xfrm>
          <a:prstGeom prst="roundRect">
            <a:avLst>
              <a:gd name="adj" fmla="val 5233"/>
            </a:avLst>
          </a:prstGeom>
          <a:solidFill>
            <a:srgbClr val="24486A"/>
          </a:solidFill>
          <a:ln w="12700">
            <a:solidFill>
              <a:srgbClr val="3A628A"/>
            </a:solidFill>
            <a:prstDash val="solid"/>
          </a:ln>
        </p:spPr>
      </p:sp>
      <p:sp>
        <p:nvSpPr>
          <p:cNvPr id="11" name="Text 9"/>
          <p:cNvSpPr/>
          <p:nvPr/>
        </p:nvSpPr>
        <p:spPr>
          <a:xfrm>
            <a:off x="80467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להמליץ</a:t>
            </a:r>
            <a:endParaRPr lang="en-US" sz="1800" dirty="0"/>
          </a:p>
        </p:txBody>
      </p:sp>
      <p:sp>
        <p:nvSpPr>
          <p:cNvPr id="12" name="Text 10"/>
          <p:cNvSpPr/>
          <p:nvPr/>
        </p:nvSpPr>
        <p:spPr>
          <a:xfrm>
            <a:off x="80467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המלצות יישומיות למקבלי החלטות בקופות ובמשרד</a:t>
            </a:r>
            <a:endParaRPr lang="en-US" sz="1300" dirty="0"/>
          </a:p>
        </p:txBody>
      </p:sp>
      <p:sp>
        <p:nvSpPr>
          <p:cNvPr id="13" name="Text 11"/>
          <p:cNvSpPr/>
          <p:nvPr/>
        </p:nvSpPr>
        <p:spPr>
          <a:xfrm>
            <a:off x="566928" y="5358384"/>
            <a:ext cx="11027664" cy="329184"/>
          </a:xfrm>
          <a:prstGeom prst="rect">
            <a:avLst/>
          </a:prstGeom>
          <a:noFill/>
          <a:ln/>
        </p:spPr>
        <p:txBody>
          <a:bodyPr wrap="square" lIns="0" tIns="0" rIns="0" bIns="0" rtlCol="0" anchor="ctr"/>
          <a:lstStyle/>
          <a:p>
            <a:pPr rtl="1" algn="r" indent="0" marL="0">
              <a:buNone/>
            </a:pPr>
            <a:r>
              <a:rPr lang="en-US" sz="1250" dirty="0">
                <a:solidFill>
                  <a:srgbClr val="9FB6C6"/>
                </a:solidFill>
                <a:latin typeface="Arial" pitchFamily="34" charset="0"/>
                <a:ea typeface="Arial" pitchFamily="34" charset="-122"/>
                <a:cs typeface="Arial" pitchFamily="34" charset="-120"/>
              </a:rPr>
              <a:t>מחקר איכותני, ולכן אין השערות מחקר אלא שאלה פתוחה.</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שיטת המחקר</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איך אספנו ואיך ניתחנו</a:t>
            </a:r>
            <a:endParaRPr lang="en-US" sz="3000" dirty="0"/>
          </a:p>
        </p:txBody>
      </p:sp>
      <p:sp>
        <p:nvSpPr>
          <p:cNvPr id="4" name="Shape 2"/>
          <p:cNvSpPr/>
          <p:nvPr/>
        </p:nvSpPr>
        <p:spPr>
          <a:xfrm>
            <a:off x="9029700" y="1280160"/>
            <a:ext cx="2564892"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91088" y="1481328"/>
            <a:ext cx="402336" cy="402336"/>
          </a:xfrm>
          <a:prstGeom prst="ellipse">
            <a:avLst/>
          </a:prstGeom>
          <a:solidFill>
            <a:srgbClr val="2E7898"/>
          </a:solidFill>
          <a:ln w="12700">
            <a:solidFill>
              <a:srgbClr val="2E7898"/>
            </a:solidFill>
            <a:prstDash val="solid"/>
          </a:ln>
        </p:spPr>
      </p:sp>
      <p:sp>
        <p:nvSpPr>
          <p:cNvPr id="6" name="Text 4"/>
          <p:cNvSpPr/>
          <p:nvPr/>
        </p:nvSpPr>
        <p:spPr>
          <a:xfrm>
            <a:off x="10991088"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9267444"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סוג המחקר</a:t>
            </a:r>
            <a:endParaRPr lang="en-US" sz="1600" dirty="0"/>
          </a:p>
        </p:txBody>
      </p:sp>
      <p:sp>
        <p:nvSpPr>
          <p:cNvPr id="8" name="Text 6"/>
          <p:cNvSpPr/>
          <p:nvPr/>
        </p:nvSpPr>
        <p:spPr>
          <a:xfrm>
            <a:off x="9267444"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איכותני. ראיונות עומק חצי מובנים, המאפשרים לחסמים שאינם נכנסים לשאלון סגור לעלות מעצמם</a:t>
            </a:r>
            <a:endParaRPr lang="en-US" sz="1250" dirty="0"/>
          </a:p>
        </p:txBody>
      </p:sp>
      <p:sp>
        <p:nvSpPr>
          <p:cNvPr id="9" name="Shape 7"/>
          <p:cNvSpPr/>
          <p:nvPr/>
        </p:nvSpPr>
        <p:spPr>
          <a:xfrm>
            <a:off x="6208776" y="1280160"/>
            <a:ext cx="2564892"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8170164" y="1481328"/>
            <a:ext cx="402336" cy="402336"/>
          </a:xfrm>
          <a:prstGeom prst="ellipse">
            <a:avLst/>
          </a:prstGeom>
          <a:solidFill>
            <a:srgbClr val="A9575F"/>
          </a:solidFill>
          <a:ln w="12700">
            <a:solidFill>
              <a:srgbClr val="A9575F"/>
            </a:solidFill>
            <a:prstDash val="solid"/>
          </a:ln>
        </p:spPr>
      </p:sp>
      <p:sp>
        <p:nvSpPr>
          <p:cNvPr id="11" name="Text 9"/>
          <p:cNvSpPr/>
          <p:nvPr/>
        </p:nvSpPr>
        <p:spPr>
          <a:xfrm>
            <a:off x="8170164"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6446520"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המדגם</a:t>
            </a:r>
            <a:endParaRPr lang="en-US" sz="1600" dirty="0"/>
          </a:p>
        </p:txBody>
      </p:sp>
      <p:sp>
        <p:nvSpPr>
          <p:cNvPr id="13" name="Text 11"/>
          <p:cNvSpPr/>
          <p:nvPr/>
        </p:nvSpPr>
        <p:spPr>
          <a:xfrm>
            <a:off x="6446520"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שתים עשרה נשים בגילאי 44 עד 66. דגימה מכוונת וכדור שלג, עם שונוּת מכוונת בדת, ביישוב ובהשכלה</a:t>
            </a:r>
            <a:endParaRPr lang="en-US" sz="1250" dirty="0"/>
          </a:p>
        </p:txBody>
      </p:sp>
      <p:sp>
        <p:nvSpPr>
          <p:cNvPr id="14" name="Shape 12"/>
          <p:cNvSpPr/>
          <p:nvPr/>
        </p:nvSpPr>
        <p:spPr>
          <a:xfrm>
            <a:off x="3387852" y="1280160"/>
            <a:ext cx="2564892"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5349240" y="1481328"/>
            <a:ext cx="402336" cy="402336"/>
          </a:xfrm>
          <a:prstGeom prst="ellipse">
            <a:avLst/>
          </a:prstGeom>
          <a:solidFill>
            <a:srgbClr val="2E7898"/>
          </a:solidFill>
          <a:ln w="12700">
            <a:solidFill>
              <a:srgbClr val="2E7898"/>
            </a:solidFill>
            <a:prstDash val="solid"/>
          </a:ln>
        </p:spPr>
      </p:sp>
      <p:sp>
        <p:nvSpPr>
          <p:cNvPr id="16" name="Text 14"/>
          <p:cNvSpPr/>
          <p:nvPr/>
        </p:nvSpPr>
        <p:spPr>
          <a:xfrm>
            <a:off x="5349240"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3625596"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הכלי</a:t>
            </a:r>
            <a:endParaRPr lang="en-US" sz="1600" dirty="0"/>
          </a:p>
        </p:txBody>
      </p:sp>
      <p:sp>
        <p:nvSpPr>
          <p:cNvPr id="18" name="Text 16"/>
          <p:cNvSpPr/>
          <p:nvPr/>
        </p:nvSpPr>
        <p:spPr>
          <a:xfrm>
            <a:off x="3625596"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מדריך ראיון של שש עשרה שאלות קבועות ובהן שאלת פתיחה. אותו נוסח ואותו סדר בכל הראיונות</a:t>
            </a:r>
            <a:endParaRPr lang="en-US" sz="1250" dirty="0"/>
          </a:p>
        </p:txBody>
      </p:sp>
      <p:sp>
        <p:nvSpPr>
          <p:cNvPr id="19" name="Shape 17"/>
          <p:cNvSpPr/>
          <p:nvPr/>
        </p:nvSpPr>
        <p:spPr>
          <a:xfrm>
            <a:off x="566928" y="1280160"/>
            <a:ext cx="2564892"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2528316" y="1481328"/>
            <a:ext cx="402336" cy="402336"/>
          </a:xfrm>
          <a:prstGeom prst="ellipse">
            <a:avLst/>
          </a:prstGeom>
          <a:solidFill>
            <a:srgbClr val="A9575F"/>
          </a:solidFill>
          <a:ln w="12700">
            <a:solidFill>
              <a:srgbClr val="A9575F"/>
            </a:solidFill>
            <a:prstDash val="solid"/>
          </a:ln>
        </p:spPr>
      </p:sp>
      <p:sp>
        <p:nvSpPr>
          <p:cNvPr id="21" name="Text 19"/>
          <p:cNvSpPr/>
          <p:nvPr/>
        </p:nvSpPr>
        <p:spPr>
          <a:xfrm>
            <a:off x="2528316"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04672"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הניתוח</a:t>
            </a:r>
            <a:endParaRPr lang="en-US" sz="1600" dirty="0"/>
          </a:p>
        </p:txBody>
      </p:sp>
      <p:sp>
        <p:nvSpPr>
          <p:cNvPr id="23" name="Text 21"/>
          <p:cNvSpPr/>
          <p:nvPr/>
        </p:nvSpPr>
        <p:spPr>
          <a:xfrm>
            <a:off x="804672"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ניתוח תמטי בחמישה שלבים: קריאה חוזרת, קידוד פתוח, איחוד לקטגוריות, גיבוש תמות ובחירת ציטוטים</a:t>
            </a:r>
            <a:endParaRPr lang="en-US" sz="1250" dirty="0"/>
          </a:p>
        </p:txBody>
      </p:sp>
      <p:sp>
        <p:nvSpPr>
          <p:cNvPr id="24" name="Shape 22"/>
          <p:cNvSpPr/>
          <p:nvPr/>
        </p:nvSpPr>
        <p:spPr>
          <a:xfrm>
            <a:off x="566928" y="3785616"/>
            <a:ext cx="11027664" cy="1956816"/>
          </a:xfrm>
          <a:prstGeom prst="roundRect">
            <a:avLst>
              <a:gd name="adj" fmla="val 420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5" name="Text 23"/>
          <p:cNvSpPr/>
          <p:nvPr/>
        </p:nvSpPr>
        <p:spPr>
          <a:xfrm>
            <a:off x="859536" y="3931920"/>
            <a:ext cx="10442448" cy="329184"/>
          </a:xfrm>
          <a:prstGeom prst="rect">
            <a:avLst/>
          </a:prstGeom>
          <a:noFill/>
          <a:ln/>
        </p:spPr>
        <p:txBody>
          <a:bodyPr wrap="square" lIns="0" tIns="0" rIns="0" bIns="0" rtlCol="0" anchor="ctr"/>
          <a:lstStyle/>
          <a:p>
            <a:pPr rtl="1" algn="r" indent="0" marL="0">
              <a:buNone/>
            </a:pPr>
            <a:r>
              <a:rPr lang="en-US" sz="1550" b="1" dirty="0">
                <a:solidFill>
                  <a:srgbClr val="1B3A57"/>
                </a:solidFill>
                <a:latin typeface="Arial" pitchFamily="34" charset="0"/>
                <a:ea typeface="Arial" pitchFamily="34" charset="-122"/>
                <a:cs typeface="Arial" pitchFamily="34" charset="-120"/>
              </a:rPr>
              <a:t>הליך ואתיקה</a:t>
            </a:r>
            <a:endParaRPr lang="en-US" sz="1550" dirty="0"/>
          </a:p>
        </p:txBody>
      </p:sp>
      <p:sp>
        <p:nvSpPr>
          <p:cNvPr id="26" name="Text 24"/>
          <p:cNvSpPr/>
          <p:nvPr/>
        </p:nvSpPr>
        <p:spPr>
          <a:xfrm>
            <a:off x="859536" y="4315968"/>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הראיונות נמשכו 32 עד 45 דקות, נערכו בבתי המרואיינות לפי בחירתן, הוקלטו בהסכמה ותומללו במלואם.</a:t>
            </a:r>
            <a:endParaRPr lang="en-US" sz="1250" dirty="0"/>
          </a:p>
        </p:txBody>
      </p:sp>
      <p:sp>
        <p:nvSpPr>
          <p:cNvPr id="27" name="Text 25"/>
          <p:cNvSpPr/>
          <p:nvPr/>
        </p:nvSpPr>
        <p:spPr>
          <a:xfrm>
            <a:off x="859536" y="4645152"/>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שישה ראיונות בעברית, חמישה בערבית ואחד באמהרית. כל אחת משלוש חברות הצוות ערכה ארבעה ראיונות.</a:t>
            </a:r>
            <a:endParaRPr lang="en-US" sz="1250" dirty="0"/>
          </a:p>
        </p:txBody>
      </p:sp>
      <p:sp>
        <p:nvSpPr>
          <p:cNvPr id="28" name="Text 26"/>
          <p:cNvSpPr/>
          <p:nvPr/>
        </p:nvSpPr>
        <p:spPr>
          <a:xfrm>
            <a:off x="859536" y="4974336"/>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הסכמה מדעת בעל פה, זכות להפסיק בכל שלב, שמות בדויים וטשטוש כל פרט מזהה. לא רואיינו קטינות.</a:t>
            </a:r>
            <a:endParaRPr lang="en-US" sz="1250" dirty="0"/>
          </a:p>
        </p:txBody>
      </p:sp>
      <p:sp>
        <p:nvSpPr>
          <p:cNvPr id="29" name="Text 27"/>
          <p:cNvSpPr/>
          <p:nvPr/>
        </p:nvSpPr>
        <p:spPr>
          <a:xfrm>
            <a:off x="859536" y="5303520"/>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בראיון אחד עלה ממצא גופני שלא דווח לאיש מקצוע. לא ניתן ייעוץ בתוך הראיון, ובסיומו הופנתה המרואיינת למרפאה.</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המדגם</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שתים עשרה נשים, טווח מלא של היענות</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225296"/>
          <a:ext cx="11027664" cy="914400"/>
        </p:xfrm>
        <a:graphic>
          <a:graphicData uri="http://schemas.openxmlformats.org/drawingml/2006/table">
            <a:tbl>
              <a:tblPr/>
              <a:tblGrid>
                <a:gridCol w="3566160"/>
                <a:gridCol w="2651760"/>
                <a:gridCol w="1371600"/>
                <a:gridCol w="566928"/>
                <a:gridCol w="1975104"/>
                <a:gridCol w="896112"/>
              </a:tblGrid>
              <a:tr h="315468">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מיקום על ציר ההיענות</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השכלה ועיסוק</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יישוב</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גיל</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שם בדוי</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פעמיים, באיחור של כשנתיים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סייעת בגן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רמלה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לילה נגילי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אחרי פנייה טלפונית באמהרית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 שנות לימוד; עובדת ניקיון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חולון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58</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טגאיה סמאנך</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מתחת לגיל הזימון, בהפניית רופאה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תואר ראשון; מורה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ערערה בנגב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עאליה אבו עראר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3</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בדיקה ראשונה בגיל 51 אחרי שנתיים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עובדת במספרה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רמלה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מראם ח'טיב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11 שנים, בליווי בתה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עקרת בית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נצרת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סועאד זועבי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מגיל 45, שש בדיקות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תואר ראשון; מזכירה בתיכון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חיפה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ג'ולייט חורי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מעולם לא נבדקה; הזימון במגירה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עסק משפחתי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דלית אל-כרמל</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50</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נאדיה חלבי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מעולם לא נבדקה ומעולם לא זומנה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עקרת בית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רהט</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פאטמה אבו קווידר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חלתה בגיל 58 אחרי כשנה וחצי המתנה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עבודה סוציאלית; מתנדבת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טייבה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63</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אמל סרחאן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9</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טרם בגיל הזימון; מרכזת את הזימונים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סיעוד; אחות אחראית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כפר כנא</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49</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הודא מנסור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10</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פעם אחת לפני כשש שנים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דוכן בשוק</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לוד</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סמאח דיאב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מגיל 50, שמונה בדיקות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היסטוריה; מורה בגמלאות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שפרעם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רימא נאסר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bl>
          </a:graphicData>
        </a:graphic>
      </p:graphicFrame>
      <p:sp>
        <p:nvSpPr>
          <p:cNvPr id="5" name="Text 2"/>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שמות בדויים. כל פרט מזהה שונה או טושטש.</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הדרך אל הבדיקה, והיכן פועלת כל תמה</a:t>
            </a:r>
            <a:endParaRPr lang="en-US" sz="3000" dirty="0"/>
          </a:p>
        </p:txBody>
      </p:sp>
      <p:pic>
        <p:nvPicPr>
          <p:cNvPr id="4" name="Image 0" descr="/tmp/claude-0/-home-user-clickwriting-landing/2ca03497-42eb-5d34-8079-069f09f39de3/scratchpad/work/findings_path.png">    </p:cNvPr>
          <p:cNvPicPr>
            <a:picLocks noChangeAspect="1"/>
          </p:cNvPicPr>
          <p:nvPr/>
        </p:nvPicPr>
        <p:blipFill>
          <a:blip r:embed="rId1"/>
          <a:stretch>
            <a:fillRect/>
          </a:stretch>
        </p:blipFill>
        <p:spPr>
          <a:xfrm>
            <a:off x="640080" y="1481328"/>
            <a:ext cx="10881360" cy="447950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1</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הידע כתנאי הכרחי שאינו מספיק</a:t>
            </a:r>
            <a:endParaRPr lang="en-US" sz="3000" dirty="0"/>
          </a:p>
        </p:txBody>
      </p:sp>
      <p:sp>
        <p:nvSpPr>
          <p:cNvPr id="4" name="Shape 2"/>
          <p:cNvSpPr/>
          <p:nvPr/>
        </p:nvSpPr>
        <p:spPr>
          <a:xfrm>
            <a:off x="10936224" y="420624"/>
            <a:ext cx="603504" cy="603504"/>
          </a:xfrm>
          <a:prstGeom prst="ellipse">
            <a:avLst/>
          </a:prstGeom>
          <a:solidFill>
            <a:srgbClr val="A9575F"/>
          </a:solidFill>
          <a:ln w="12700">
            <a:solidFill>
              <a:srgbClr val="A9575F"/>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Shape 4"/>
          <p:cNvSpPr/>
          <p:nvPr/>
        </p:nvSpPr>
        <p:spPr>
          <a:xfrm>
            <a:off x="11210544" y="1325880"/>
            <a:ext cx="384048" cy="384048"/>
          </a:xfrm>
          <a:prstGeom prst="ellipse">
            <a:avLst/>
          </a:prstGeom>
          <a:solidFill>
            <a:srgbClr val="A9575F"/>
          </a:solidFill>
          <a:ln w="12700">
            <a:solidFill>
              <a:srgbClr val="A9575F"/>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כולן ידעו</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גם הנשים שמעולם לא נבדקו ידעו מהי הבדיקה ולשם מה היא נועדה. הידע אינו מבחין בין מי שנבדקת למי שלא</a:t>
            </a:r>
            <a:endParaRPr lang="en-US" sz="1250" dirty="0"/>
          </a:p>
        </p:txBody>
      </p:sp>
      <p:sp>
        <p:nvSpPr>
          <p:cNvPr id="10" name="Shape 8"/>
          <p:cNvSpPr/>
          <p:nvPr/>
        </p:nvSpPr>
        <p:spPr>
          <a:xfrm>
            <a:off x="11210544" y="2642616"/>
            <a:ext cx="384048" cy="384048"/>
          </a:xfrm>
          <a:prstGeom prst="ellipse">
            <a:avLst/>
          </a:prstGeom>
          <a:solidFill>
            <a:srgbClr val="A9575F"/>
          </a:solidFill>
          <a:ln w="12700">
            <a:solidFill>
              <a:srgbClr val="A9575F"/>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הפחד הוא מלדעת, לא מהבדיקה</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הכאב הוזכר, אך אף מרואיינת לא ייחסה לו את ההימנעות. מה שהרתיע הוא התוצאה</a:t>
            </a:r>
            <a:endParaRPr lang="en-US" sz="1250" dirty="0"/>
          </a:p>
        </p:txBody>
      </p:sp>
      <p:sp>
        <p:nvSpPr>
          <p:cNvPr id="14" name="Shape 12"/>
          <p:cNvSpPr/>
          <p:nvPr/>
        </p:nvSpPr>
        <p:spPr>
          <a:xfrm>
            <a:off x="11210544" y="3959352"/>
            <a:ext cx="384048" cy="384048"/>
          </a:xfrm>
          <a:prstGeom prst="ellipse">
            <a:avLst/>
          </a:prstGeom>
          <a:solidFill>
            <a:srgbClr val="A9575F"/>
          </a:solidFill>
          <a:ln w="12700">
            <a:solidFill>
              <a:srgbClr val="A9575F"/>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דחייה שאינה מגיעה להכרעה</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כל דחייה מוצדקת בפני עצמה, ולכן אין רגע שבו ההחלטה נבחנת מחדש</a:t>
            </a:r>
            <a:endParaRPr lang="en-US" sz="1250" dirty="0"/>
          </a:p>
        </p:txBody>
      </p:sp>
      <p:sp>
        <p:nvSpPr>
          <p:cNvPr id="18" name="Shape 16"/>
          <p:cNvSpPr/>
          <p:nvPr/>
        </p:nvSpPr>
        <p:spPr>
          <a:xfrm>
            <a:off x="566928" y="1298448"/>
            <a:ext cx="4853818" cy="3950208"/>
          </a:xfrm>
          <a:prstGeom prst="roundRect">
            <a:avLst>
              <a:gd name="adj" fmla="val 2083"/>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A9575F"/>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אני לא מפחדת מהמכונה. אני מפחדת מהנייר. ממה שכתוב אחר כך בנייר. הפחד שלי הוא לא לעשות את הבדיקה, הפחד שלי הוא לדעת.</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מראם ח'טיב, בת 52, רמלה  |  נבדקה לראשונה בגיל 51</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2</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הגוף, הצניעות והמבט של הקהילה</a:t>
            </a:r>
            <a:endParaRPr lang="en-US" sz="3000" dirty="0"/>
          </a:p>
        </p:txBody>
      </p:sp>
      <p:sp>
        <p:nvSpPr>
          <p:cNvPr id="4" name="Shape 2"/>
          <p:cNvSpPr/>
          <p:nvPr/>
        </p:nvSpPr>
        <p:spPr>
          <a:xfrm>
            <a:off x="10936224" y="420624"/>
            <a:ext cx="603504" cy="603504"/>
          </a:xfrm>
          <a:prstGeom prst="ellipse">
            <a:avLst/>
          </a:prstGeom>
          <a:solidFill>
            <a:srgbClr val="2E7898"/>
          </a:solidFill>
          <a:ln w="12700">
            <a:solidFill>
              <a:srgbClr val="2E7898"/>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6" name="Shape 4"/>
          <p:cNvSpPr/>
          <p:nvPr/>
        </p:nvSpPr>
        <p:spPr>
          <a:xfrm>
            <a:off x="11210544" y="1325880"/>
            <a:ext cx="384048" cy="384048"/>
          </a:xfrm>
          <a:prstGeom prst="ellipse">
            <a:avLst/>
          </a:prstGeom>
          <a:solidFill>
            <a:srgbClr val="2E7898"/>
          </a:solidFill>
          <a:ln w="12700">
            <a:solidFill>
              <a:srgbClr val="2E7898"/>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החסם אינו בחדר, הוא במסדרון</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החשיפה מול בודקת אישה תוארה כרגע קצר. מה שהרתיע הוא שיראו את האישה בדרך אל הבדיקה</a:t>
            </a:r>
            <a:endParaRPr lang="en-US" sz="1250" dirty="0"/>
          </a:p>
        </p:txBody>
      </p:sp>
      <p:sp>
        <p:nvSpPr>
          <p:cNvPr id="10" name="Shape 8"/>
          <p:cNvSpPr/>
          <p:nvPr/>
        </p:nvSpPr>
        <p:spPr>
          <a:xfrm>
            <a:off x="11210544" y="2642616"/>
            <a:ext cx="384048" cy="384048"/>
          </a:xfrm>
          <a:prstGeom prst="ellipse">
            <a:avLst/>
          </a:prstGeom>
          <a:solidFill>
            <a:srgbClr val="2E7898"/>
          </a:solidFill>
          <a:ln w="12700">
            <a:solidFill>
              <a:srgbClr val="2E7898"/>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הבדיקה של האם הופכת לתיק של הבת</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החשש המרכזי הוא מן הפרשנות הקהילתית ומפגיעה במעמד המשפחה ובסיכויי הנישואין</a:t>
            </a:r>
            <a:endParaRPr lang="en-US" sz="1250" dirty="0"/>
          </a:p>
        </p:txBody>
      </p:sp>
      <p:sp>
        <p:nvSpPr>
          <p:cNvPr id="14" name="Shape 12"/>
          <p:cNvSpPr/>
          <p:nvPr/>
        </p:nvSpPr>
        <p:spPr>
          <a:xfrm>
            <a:off x="11210544" y="3959352"/>
            <a:ext cx="384048" cy="384048"/>
          </a:xfrm>
          <a:prstGeom prst="ellipse">
            <a:avLst/>
          </a:prstGeom>
          <a:solidFill>
            <a:srgbClr val="2E7898"/>
          </a:solidFill>
          <a:ln w="12700">
            <a:solidFill>
              <a:srgbClr val="2E7898"/>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בושה אינה תכונה של קבוצה</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שתי מרואיינות דחו את ההסבר לגמרי. הפער בין יישוב קטן לעיר גדולה היה הגדול במחקר</a:t>
            </a:r>
            <a:endParaRPr lang="en-US" sz="1250" dirty="0"/>
          </a:p>
        </p:txBody>
      </p:sp>
      <p:sp>
        <p:nvSpPr>
          <p:cNvPr id="18" name="Shape 16"/>
          <p:cNvSpPr/>
          <p:nvPr/>
        </p:nvSpPr>
        <p:spPr>
          <a:xfrm>
            <a:off x="566928" y="1298448"/>
            <a:ext cx="4853818" cy="3950208"/>
          </a:xfrm>
          <a:prstGeom prst="roundRect">
            <a:avLst>
              <a:gd name="adj" fmla="val 2083"/>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2E7898"/>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אם יראו אותי בתור הזה יגידו שיש לי, ואם יגידו שיש לי אז לבת שלי בת העשרים יגידו שזה במשפחה, ואז מי יבוא לבקש אותה. [...] הבדיקה של האמא הופכת לתיק של הבת.</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עאליה אבו עראר, בת 47, ערערה בנגב  |  מצטטת אישה מן התור לניידת</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3</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החסמים היומיומיים ומערך הזימון</a:t>
            </a:r>
            <a:endParaRPr lang="en-US" sz="3000" dirty="0"/>
          </a:p>
        </p:txBody>
      </p:sp>
      <p:sp>
        <p:nvSpPr>
          <p:cNvPr id="4" name="Shape 2"/>
          <p:cNvSpPr/>
          <p:nvPr/>
        </p:nvSpPr>
        <p:spPr>
          <a:xfrm>
            <a:off x="10936224" y="420624"/>
            <a:ext cx="603504" cy="603504"/>
          </a:xfrm>
          <a:prstGeom prst="ellipse">
            <a:avLst/>
          </a:prstGeom>
          <a:solidFill>
            <a:srgbClr val="1B3A57"/>
          </a:solidFill>
          <a:ln w="12700">
            <a:solidFill>
              <a:srgbClr val="1B3A57"/>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6" name="Shape 4"/>
          <p:cNvSpPr/>
          <p:nvPr/>
        </p:nvSpPr>
        <p:spPr>
          <a:xfrm>
            <a:off x="11210544" y="1325880"/>
            <a:ext cx="384048" cy="384048"/>
          </a:xfrm>
          <a:prstGeom prst="ellipse">
            <a:avLst/>
          </a:prstGeom>
          <a:solidFill>
            <a:srgbClr val="1B3A57"/>
          </a:solidFill>
          <a:ln w="12700">
            <a:solidFill>
              <a:srgbClr val="1B3A57"/>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מחיר של יום עבודה</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המרואיינות ערכו בקול חשבון מדויק של שעות שאבדו, דמי חניה ומשמרת שצריך להחליף</a:t>
            </a:r>
            <a:endParaRPr lang="en-US" sz="1250" dirty="0"/>
          </a:p>
        </p:txBody>
      </p:sp>
      <p:sp>
        <p:nvSpPr>
          <p:cNvPr id="10" name="Shape 8"/>
          <p:cNvSpPr/>
          <p:nvPr/>
        </p:nvSpPr>
        <p:spPr>
          <a:xfrm>
            <a:off x="11210544" y="2642616"/>
            <a:ext cx="384048" cy="384048"/>
          </a:xfrm>
          <a:prstGeom prst="ellipse">
            <a:avLst/>
          </a:prstGeom>
          <a:solidFill>
            <a:srgbClr val="1B3A57"/>
          </a:solidFill>
          <a:ln w="12700">
            <a:solidFill>
              <a:srgbClr val="1B3A57"/>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נטל טיפולי ותלות בהסעה</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רישיון נהיגה אינו מספיק כשהרכב אינו זמין. יציאה אחת מן הבית דורשת ארגון של שבוע</a:t>
            </a:r>
            <a:endParaRPr lang="en-US" sz="1250" dirty="0"/>
          </a:p>
        </p:txBody>
      </p:sp>
      <p:sp>
        <p:nvSpPr>
          <p:cNvPr id="14" name="Shape 12"/>
          <p:cNvSpPr/>
          <p:nvPr/>
        </p:nvSpPr>
        <p:spPr>
          <a:xfrm>
            <a:off x="11210544" y="3959352"/>
            <a:ext cx="384048" cy="384048"/>
          </a:xfrm>
          <a:prstGeom prst="ellipse">
            <a:avLst/>
          </a:prstGeom>
          <a:solidFill>
            <a:srgbClr val="1B3A57"/>
          </a:solidFill>
          <a:ln w="12700">
            <a:solidFill>
              <a:srgbClr val="1B3A57"/>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זימון שאינו מגיע או שאינו נקרא</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כתובות לא מעודכנות, מכתבים שאינם נקראים בשום שפה, ותור שנקבע בשעה בלתי אפשרית</a:t>
            </a:r>
            <a:endParaRPr lang="en-US" sz="1250" dirty="0"/>
          </a:p>
        </p:txBody>
      </p:sp>
      <p:sp>
        <p:nvSpPr>
          <p:cNvPr id="18" name="Shape 16"/>
          <p:cNvSpPr/>
          <p:nvPr/>
        </p:nvSpPr>
        <p:spPr>
          <a:xfrm>
            <a:off x="566928" y="1298448"/>
            <a:ext cx="4853818" cy="3950208"/>
          </a:xfrm>
          <a:prstGeom prst="roundRect">
            <a:avLst>
              <a:gd name="adj" fmla="val 2083"/>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1B3A57"/>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אני צריכה להחליף משמרת, זה לא פשוט, ואם אני לא מוצאת מישהי אז אני מפסידה יום. מאתיים ותשעים שקל. אני יודעת שזה נשמע קטן ליד סרטן. אבל בסוף החודש זה לא קטן.</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טגאיה סמאנך, בת 58, חולון  |  עובדת ניקיון בשכר יומי</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4</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הפנייה האישית והרשת הנשית</a:t>
            </a:r>
            <a:endParaRPr lang="en-US" sz="3000" dirty="0"/>
          </a:p>
        </p:txBody>
      </p:sp>
      <p:sp>
        <p:nvSpPr>
          <p:cNvPr id="4" name="Shape 2"/>
          <p:cNvSpPr/>
          <p:nvPr/>
        </p:nvSpPr>
        <p:spPr>
          <a:xfrm>
            <a:off x="10936224" y="420624"/>
            <a:ext cx="603504" cy="603504"/>
          </a:xfrm>
          <a:prstGeom prst="ellipse">
            <a:avLst/>
          </a:prstGeom>
          <a:solidFill>
            <a:srgbClr val="2E7898"/>
          </a:solidFill>
          <a:ln w="12700">
            <a:solidFill>
              <a:srgbClr val="2E7898"/>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6" name="Shape 4"/>
          <p:cNvSpPr/>
          <p:nvPr/>
        </p:nvSpPr>
        <p:spPr>
          <a:xfrm>
            <a:off x="11210544" y="1325880"/>
            <a:ext cx="384048" cy="384048"/>
          </a:xfrm>
          <a:prstGeom prst="ellipse">
            <a:avLst/>
          </a:prstGeom>
          <a:solidFill>
            <a:srgbClr val="2E7898"/>
          </a:solidFill>
          <a:ln w="12700">
            <a:solidFill>
              <a:srgbClr val="2E7898"/>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אותה המלצה, שתי תוצאות</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רופא שאמר את המשפט למסך לא הזיז דבר. רופאה שהרימה טלפון הביאה לבדיקה ראשונה בגיל 51</a:t>
            </a:r>
            <a:endParaRPr lang="en-US" sz="1250" dirty="0"/>
          </a:p>
        </p:txBody>
      </p:sp>
      <p:sp>
        <p:nvSpPr>
          <p:cNvPr id="10" name="Shape 8"/>
          <p:cNvSpPr/>
          <p:nvPr/>
        </p:nvSpPr>
        <p:spPr>
          <a:xfrm>
            <a:off x="11210544" y="2642616"/>
            <a:ext cx="384048" cy="384048"/>
          </a:xfrm>
          <a:prstGeom prst="ellipse">
            <a:avLst/>
          </a:prstGeom>
          <a:solidFill>
            <a:srgbClr val="2E7898"/>
          </a:solidFill>
          <a:ln w="12700">
            <a:solidFill>
              <a:srgbClr val="2E7898"/>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ליווי מנצח שכנוע</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כל מי שנבדקת בקביעות תיארה דמות מלווה. אף אחת מן הנשים שלא נבדקו לא תיארה דמות כזאת</a:t>
            </a:r>
            <a:endParaRPr lang="en-US" sz="1250" dirty="0"/>
          </a:p>
        </p:txBody>
      </p:sp>
      <p:sp>
        <p:nvSpPr>
          <p:cNvPr id="14" name="Shape 12"/>
          <p:cNvSpPr/>
          <p:nvPr/>
        </p:nvSpPr>
        <p:spPr>
          <a:xfrm>
            <a:off x="11210544" y="3959352"/>
            <a:ext cx="384048" cy="384048"/>
          </a:xfrm>
          <a:prstGeom prst="ellipse">
            <a:avLst/>
          </a:prstGeom>
          <a:solidFill>
            <a:srgbClr val="2E7898"/>
          </a:solidFill>
          <a:ln w="12700">
            <a:solidFill>
              <a:srgbClr val="2E7898"/>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אישה שחלתה משפיעה לשני הכיוונים</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עדות של מי שהחלימה מקדמת. מחלה שהסתיימה רע פועלת כבלם ולא כדחף</a:t>
            </a:r>
            <a:endParaRPr lang="en-US" sz="1250" dirty="0"/>
          </a:p>
        </p:txBody>
      </p:sp>
      <p:sp>
        <p:nvSpPr>
          <p:cNvPr id="18" name="Shape 16"/>
          <p:cNvSpPr/>
          <p:nvPr/>
        </p:nvSpPr>
        <p:spPr>
          <a:xfrm>
            <a:off x="566928" y="1298448"/>
            <a:ext cx="4853818" cy="3950208"/>
          </a:xfrm>
          <a:prstGeom prst="roundRect">
            <a:avLst>
              <a:gd name="adj" fmla="val 2083"/>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2E7898"/>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והוא כותב במחשב, ותוך כדי שהוא כותב הוא אמר, וגם ממוגרפיה, את באיחור. לא הרים את הראש. אמר את זה למסך.</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לילה נגילי, בת 54, רמלה  |  לא נבדקה מאז</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דיון</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המחקר מוסיף על הספרות</a:t>
            </a:r>
            <a:endParaRPr lang="en-US" sz="3000" dirty="0"/>
          </a:p>
        </p:txBody>
      </p:sp>
      <p:sp>
        <p:nvSpPr>
          <p:cNvPr id="4" name="Text 2"/>
          <p:cNvSpPr/>
          <p:nvPr/>
        </p:nvSpPr>
        <p:spPr>
          <a:xfrm>
            <a:off x="9857232" y="1280160"/>
            <a:ext cx="1737360" cy="329184"/>
          </a:xfrm>
          <a:prstGeom prst="rect">
            <a:avLst/>
          </a:prstGeom>
          <a:noFill/>
          <a:ln/>
        </p:spPr>
        <p:txBody>
          <a:bodyPr wrap="square" lIns="0" tIns="0" rIns="0" bIns="0" rtlCol="0" anchor="ctr"/>
          <a:lstStyle/>
          <a:p>
            <a:pPr rtl="1" algn="r" indent="0" marL="0">
              <a:buNone/>
            </a:pPr>
            <a:r>
              <a:rPr lang="en-US" sz="1200" b="1" dirty="0">
                <a:solidFill>
                  <a:srgbClr val="5F6E7A"/>
                </a:solidFill>
                <a:latin typeface="Arial" pitchFamily="34" charset="0"/>
                <a:ea typeface="Arial" pitchFamily="34" charset="-122"/>
                <a:cs typeface="Arial" pitchFamily="34" charset="-120"/>
              </a:rPr>
              <a:t>הנושא</a:t>
            </a:r>
            <a:endParaRPr lang="en-US" sz="1200" dirty="0"/>
          </a:p>
        </p:txBody>
      </p:sp>
      <p:sp>
        <p:nvSpPr>
          <p:cNvPr id="5" name="Text 3"/>
          <p:cNvSpPr/>
          <p:nvPr/>
        </p:nvSpPr>
        <p:spPr>
          <a:xfrm>
            <a:off x="5925312" y="1280160"/>
            <a:ext cx="3657600" cy="329184"/>
          </a:xfrm>
          <a:prstGeom prst="rect">
            <a:avLst/>
          </a:prstGeom>
          <a:noFill/>
          <a:ln/>
        </p:spPr>
        <p:txBody>
          <a:bodyPr wrap="square" lIns="0" tIns="0" rIns="0" bIns="0" rtlCol="0" anchor="ctr"/>
          <a:lstStyle/>
          <a:p>
            <a:pPr rtl="1" algn="r" indent="0" marL="0">
              <a:buNone/>
            </a:pPr>
            <a:r>
              <a:rPr lang="en-US" sz="1200" b="1" dirty="0">
                <a:solidFill>
                  <a:srgbClr val="5F6E7A"/>
                </a:solidFill>
                <a:latin typeface="Arial" pitchFamily="34" charset="0"/>
                <a:ea typeface="Arial" pitchFamily="34" charset="-122"/>
                <a:cs typeface="Arial" pitchFamily="34" charset="-120"/>
              </a:rPr>
              <a:t>מה אומרת הספרות</a:t>
            </a:r>
            <a:endParaRPr lang="en-US" sz="1200" dirty="0"/>
          </a:p>
        </p:txBody>
      </p:sp>
      <p:sp>
        <p:nvSpPr>
          <p:cNvPr id="6" name="Text 4"/>
          <p:cNvSpPr/>
          <p:nvPr/>
        </p:nvSpPr>
        <p:spPr>
          <a:xfrm>
            <a:off x="566928" y="1280160"/>
            <a:ext cx="5084064" cy="329184"/>
          </a:xfrm>
          <a:prstGeom prst="rect">
            <a:avLst/>
          </a:prstGeom>
          <a:noFill/>
          <a:ln/>
        </p:spPr>
        <p:txBody>
          <a:bodyPr wrap="square" lIns="0" tIns="0" rIns="0" bIns="0" rtlCol="0" anchor="ctr"/>
          <a:lstStyle/>
          <a:p>
            <a:pPr rtl="1" algn="r" indent="0" marL="0">
              <a:buNone/>
            </a:pPr>
            <a:r>
              <a:rPr lang="en-US" sz="1200" b="1" dirty="0">
                <a:solidFill>
                  <a:srgbClr val="A9575F"/>
                </a:solidFill>
                <a:latin typeface="Arial" pitchFamily="34" charset="0"/>
                <a:ea typeface="Arial" pitchFamily="34" charset="-122"/>
                <a:cs typeface="Arial" pitchFamily="34" charset="-120"/>
              </a:rPr>
              <a:t>מה עלה מן הראיונות</a:t>
            </a:r>
            <a:endParaRPr lang="en-US" sz="1200" dirty="0"/>
          </a:p>
        </p:txBody>
      </p:sp>
      <p:sp>
        <p:nvSpPr>
          <p:cNvPr id="7" name="Shape 5"/>
          <p:cNvSpPr/>
          <p:nvPr/>
        </p:nvSpPr>
        <p:spPr>
          <a:xfrm>
            <a:off x="566928" y="1682496"/>
            <a:ext cx="11027664" cy="1133856"/>
          </a:xfrm>
          <a:prstGeom prst="roundRect">
            <a:avLst>
              <a:gd name="adj" fmla="val 7258"/>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8" name="Text 6"/>
          <p:cNvSpPr/>
          <p:nvPr/>
        </p:nvSpPr>
        <p:spPr>
          <a:xfrm>
            <a:off x="9601200" y="1865376"/>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הידע</a:t>
            </a:r>
            <a:endParaRPr lang="en-US" sz="1700" dirty="0"/>
          </a:p>
        </p:txBody>
      </p:sp>
      <p:sp>
        <p:nvSpPr>
          <p:cNvPr id="9" name="Text 7"/>
          <p:cNvSpPr/>
          <p:nvPr/>
        </p:nvSpPr>
        <p:spPr>
          <a:xfrm>
            <a:off x="5815584" y="1883664"/>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ידע נמוך הוא חסם מרכזי</a:t>
            </a:r>
            <a:endParaRPr lang="en-US" sz="1300" dirty="0"/>
          </a:p>
        </p:txBody>
      </p:sp>
      <p:sp>
        <p:nvSpPr>
          <p:cNvPr id="10" name="Text 8"/>
          <p:cNvSpPr/>
          <p:nvPr/>
        </p:nvSpPr>
        <p:spPr>
          <a:xfrm>
            <a:off x="822960" y="1883664"/>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הידע קיים כמעט אצל כולן. הפער הוא בין הידע לפעולה, והפחד הוא מן התוצאה ולא מן הבדיקה</a:t>
            </a:r>
            <a:endParaRPr lang="en-US" sz="1350" dirty="0"/>
          </a:p>
        </p:txBody>
      </p:sp>
      <p:sp>
        <p:nvSpPr>
          <p:cNvPr id="11" name="Shape 9"/>
          <p:cNvSpPr/>
          <p:nvPr/>
        </p:nvSpPr>
        <p:spPr>
          <a:xfrm>
            <a:off x="566928" y="2980944"/>
            <a:ext cx="11027664" cy="1133856"/>
          </a:xfrm>
          <a:prstGeom prst="roundRect">
            <a:avLst>
              <a:gd name="adj" fmla="val 7258"/>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2" name="Text 10"/>
          <p:cNvSpPr/>
          <p:nvPr/>
        </p:nvSpPr>
        <p:spPr>
          <a:xfrm>
            <a:off x="9601200" y="3163824"/>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הבושה</a:t>
            </a:r>
            <a:endParaRPr lang="en-US" sz="1700" dirty="0"/>
          </a:p>
        </p:txBody>
      </p:sp>
      <p:sp>
        <p:nvSpPr>
          <p:cNvPr id="13" name="Text 11"/>
          <p:cNvSpPr/>
          <p:nvPr/>
        </p:nvSpPr>
        <p:spPr>
          <a:xfrm>
            <a:off x="5815584" y="3182112"/>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חשיפת הגוף בפני איש צוות</a:t>
            </a:r>
            <a:endParaRPr lang="en-US" sz="1300" dirty="0"/>
          </a:p>
        </p:txBody>
      </p:sp>
      <p:sp>
        <p:nvSpPr>
          <p:cNvPr id="14" name="Text 12"/>
          <p:cNvSpPr/>
          <p:nvPr/>
        </p:nvSpPr>
        <p:spPr>
          <a:xfrm>
            <a:off x="822960" y="3182112"/>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החשיפה החברתית בדרך אל הבדיקה מרתיעה יותר מן החשיפה הגופנית בחדר</a:t>
            </a:r>
            <a:endParaRPr lang="en-US" sz="1350" dirty="0"/>
          </a:p>
        </p:txBody>
      </p:sp>
      <p:sp>
        <p:nvSpPr>
          <p:cNvPr id="15" name="Shape 13"/>
          <p:cNvSpPr/>
          <p:nvPr/>
        </p:nvSpPr>
        <p:spPr>
          <a:xfrm>
            <a:off x="566928" y="4279392"/>
            <a:ext cx="11027664" cy="1133856"/>
          </a:xfrm>
          <a:prstGeom prst="roundRect">
            <a:avLst>
              <a:gd name="adj" fmla="val 7258"/>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16" name="Text 14"/>
          <p:cNvSpPr/>
          <p:nvPr/>
        </p:nvSpPr>
        <p:spPr>
          <a:xfrm>
            <a:off x="9601200" y="4462272"/>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הנגישות</a:t>
            </a:r>
            <a:endParaRPr lang="en-US" sz="1700" dirty="0"/>
          </a:p>
        </p:txBody>
      </p:sp>
      <p:sp>
        <p:nvSpPr>
          <p:cNvPr id="17" name="Text 15"/>
          <p:cNvSpPr/>
          <p:nvPr/>
        </p:nvSpPr>
        <p:spPr>
          <a:xfrm>
            <a:off x="5815584" y="4480560"/>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מרחק ותלות בתחבורה</a:t>
            </a:r>
            <a:endParaRPr lang="en-US" sz="1300" dirty="0"/>
          </a:p>
        </p:txBody>
      </p:sp>
      <p:sp>
        <p:nvSpPr>
          <p:cNvPr id="18" name="Text 16"/>
          <p:cNvSpPr/>
          <p:nvPr/>
        </p:nvSpPr>
        <p:spPr>
          <a:xfrm>
            <a:off x="822960" y="4480560"/>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חשבון יומיומי של שעות עבודה ונטל טיפולי, שהנשים אינן מדווחות עליו כחסם</a:t>
            </a:r>
            <a:endParaRPr lang="en-US" sz="1350" dirty="0"/>
          </a:p>
        </p:txBody>
      </p:sp>
      <p:sp>
        <p:nvSpPr>
          <p:cNvPr id="19" name="Text 17"/>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ההשוואה המלאה, כולל הפניות, בפרק הדיון בעבודה</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3A57"/>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8FB4CB"/>
                </a:solidFill>
                <a:latin typeface="Arial" pitchFamily="34" charset="0"/>
                <a:ea typeface="Arial" pitchFamily="34" charset="-122"/>
                <a:cs typeface="Arial" pitchFamily="34" charset="-120"/>
              </a:rPr>
              <a:t>ממצא מפתיע</a:t>
            </a:r>
            <a:endParaRPr lang="en-US" sz="1200" dirty="0"/>
          </a:p>
        </p:txBody>
      </p:sp>
      <p:sp>
        <p:nvSpPr>
          <p:cNvPr id="3" name="Text 1"/>
          <p:cNvSpPr/>
          <p:nvPr/>
        </p:nvSpPr>
        <p:spPr>
          <a:xfrm>
            <a:off x="566928" y="1005840"/>
            <a:ext cx="11027664" cy="859536"/>
          </a:xfrm>
          <a:prstGeom prst="rect">
            <a:avLst/>
          </a:prstGeom>
          <a:noFill/>
          <a:ln/>
        </p:spPr>
        <p:txBody>
          <a:bodyPr wrap="square" lIns="0" tIns="0" rIns="0" bIns="0" rtlCol="0" anchor="ctr"/>
          <a:lstStyle/>
          <a:p>
            <a:pPr rtl="1" algn="r" indent="0" marL="0">
              <a:lnSpc>
                <a:spcPct val="114000"/>
              </a:lnSpc>
              <a:buNone/>
            </a:pPr>
            <a:r>
              <a:rPr lang="en-US" sz="3000" b="1" dirty="0">
                <a:solidFill>
                  <a:srgbClr val="FFFFFF"/>
                </a:solidFill>
                <a:latin typeface="Arial" pitchFamily="34" charset="0"/>
                <a:ea typeface="Arial" pitchFamily="34" charset="-122"/>
                <a:cs typeface="Arial" pitchFamily="34" charset="-120"/>
              </a:rPr>
              <a:t>אף מרואיינת לא נימקה את הימנעותה בטעם דתי</a:t>
            </a:r>
            <a:endParaRPr lang="en-US" sz="3000" dirty="0"/>
          </a:p>
        </p:txBody>
      </p:sp>
      <p:sp>
        <p:nvSpPr>
          <p:cNvPr id="4" name="Text 2"/>
          <p:cNvSpPr/>
          <p:nvPr/>
        </p:nvSpPr>
        <p:spPr>
          <a:xfrm>
            <a:off x="6080760" y="2011680"/>
            <a:ext cx="5513832" cy="1371600"/>
          </a:xfrm>
          <a:prstGeom prst="rect">
            <a:avLst/>
          </a:prstGeom>
          <a:noFill/>
          <a:ln/>
        </p:spPr>
        <p:txBody>
          <a:bodyPr wrap="square" lIns="0" tIns="0" rIns="0" bIns="0" rtlCol="0" anchor="t"/>
          <a:lstStyle/>
          <a:p>
            <a:pPr rtl="1" algn="r" indent="0" marL="0">
              <a:lnSpc>
                <a:spcPct val="126000"/>
              </a:lnSpc>
              <a:buNone/>
            </a:pPr>
            <a:r>
              <a:rPr lang="en-US" sz="1450" dirty="0">
                <a:solidFill>
                  <a:srgbClr val="C9D8E2"/>
                </a:solidFill>
                <a:latin typeface="Arial" pitchFamily="34" charset="0"/>
                <a:ea typeface="Arial" pitchFamily="34" charset="-122"/>
                <a:cs typeface="Arial" pitchFamily="34" charset="-120"/>
              </a:rPr>
              <a:t>הספרות מתעדת תפיסות פטליסטיות כמנבא מובהק של אי-היענות  (Azaiza et al., 2010). בראיונות שלנו מי שנמנעה נימקה זאת בפחד, בבושה, בהיעדר זמן או בחשש מקרינה. לא בגורל.</a:t>
            </a:r>
            <a:endParaRPr lang="en-US" sz="1450" dirty="0"/>
          </a:p>
        </p:txBody>
      </p:sp>
      <p:sp>
        <p:nvSpPr>
          <p:cNvPr id="5" name="Text 3"/>
          <p:cNvSpPr/>
          <p:nvPr/>
        </p:nvSpPr>
        <p:spPr>
          <a:xfrm>
            <a:off x="6080760" y="3401568"/>
            <a:ext cx="5513832" cy="731520"/>
          </a:xfrm>
          <a:prstGeom prst="rect">
            <a:avLst/>
          </a:prstGeom>
          <a:noFill/>
          <a:ln/>
        </p:spPr>
        <p:txBody>
          <a:bodyPr wrap="square" lIns="0" tIns="0" rIns="0" bIns="0" rtlCol="0" anchor="t"/>
          <a:lstStyle/>
          <a:p>
            <a:pPr rtl="1" algn="r" indent="0" marL="0">
              <a:lnSpc>
                <a:spcPct val="124000"/>
              </a:lnSpc>
              <a:buNone/>
            </a:pPr>
            <a:r>
              <a:rPr lang="en-US" sz="1450" b="1" dirty="0">
                <a:solidFill>
                  <a:srgbClr val="FFFFFF"/>
                </a:solidFill>
                <a:latin typeface="Arial" pitchFamily="34" charset="0"/>
                <a:ea typeface="Arial" pitchFamily="34" charset="-122"/>
                <a:cs typeface="Arial" pitchFamily="34" charset="-120"/>
              </a:rPr>
              <a:t>נשים אמרו שהכול בידי שמיים וגם נבדקו בקביעות, בלי לראות בכך סתירה.</a:t>
            </a:r>
            <a:endParaRPr lang="en-US" sz="1450" dirty="0"/>
          </a:p>
        </p:txBody>
      </p:sp>
      <p:sp>
        <p:nvSpPr>
          <p:cNvPr id="6" name="Shape 4"/>
          <p:cNvSpPr/>
          <p:nvPr/>
        </p:nvSpPr>
        <p:spPr>
          <a:xfrm>
            <a:off x="566928" y="2011680"/>
            <a:ext cx="5148072" cy="2121408"/>
          </a:xfrm>
          <a:prstGeom prst="roundRect">
            <a:avLst>
              <a:gd name="adj" fmla="val 3879"/>
            </a:avLst>
          </a:prstGeom>
          <a:solidFill>
            <a:srgbClr val="24486A"/>
          </a:solidFill>
          <a:ln w="12700">
            <a:solidFill>
              <a:srgbClr val="3A628A"/>
            </a:solidFill>
            <a:prstDash val="solid"/>
          </a:ln>
        </p:spPr>
      </p:sp>
      <p:sp>
        <p:nvSpPr>
          <p:cNvPr id="7" name="Text 5"/>
          <p:cNvSpPr/>
          <p:nvPr/>
        </p:nvSpPr>
        <p:spPr>
          <a:xfrm>
            <a:off x="5038344" y="2066544"/>
            <a:ext cx="585216" cy="548640"/>
          </a:xfrm>
          <a:prstGeom prst="rect">
            <a:avLst/>
          </a:prstGeom>
          <a:noFill/>
          <a:ln/>
        </p:spPr>
        <p:txBody>
          <a:bodyPr wrap="square" lIns="0" tIns="0" rIns="0" bIns="0" rtlCol="0" anchor="ctr"/>
          <a:lstStyle/>
          <a:p>
            <a:pPr algn="ctr" indent="0" marL="0">
              <a:buNone/>
            </a:pPr>
            <a:r>
              <a:rPr lang="en-US" sz="3400" b="1" dirty="0">
                <a:solidFill>
                  <a:srgbClr val="8FD3E8"/>
                </a:solidFill>
                <a:latin typeface="Arial" pitchFamily="34" charset="0"/>
                <a:ea typeface="Arial" pitchFamily="34" charset="-122"/>
                <a:cs typeface="Arial" pitchFamily="34" charset="-120"/>
              </a:rPr>
              <a:t>”</a:t>
            </a:r>
            <a:endParaRPr lang="en-US" sz="3400" dirty="0"/>
          </a:p>
        </p:txBody>
      </p:sp>
      <p:sp>
        <p:nvSpPr>
          <p:cNvPr id="8" name="Text 6"/>
          <p:cNvSpPr/>
          <p:nvPr/>
        </p:nvSpPr>
        <p:spPr>
          <a:xfrm>
            <a:off x="841248" y="2633472"/>
            <a:ext cx="4599432" cy="914400"/>
          </a:xfrm>
          <a:prstGeom prst="rect">
            <a:avLst/>
          </a:prstGeom>
          <a:noFill/>
          <a:ln/>
        </p:spPr>
        <p:txBody>
          <a:bodyPr wrap="square" lIns="0" tIns="0" rIns="0" bIns="0" rtlCol="0" anchor="t"/>
          <a:lstStyle/>
          <a:p>
            <a:pPr rtl="1" algn="r" indent="0" marL="0">
              <a:lnSpc>
                <a:spcPct val="122000"/>
              </a:lnSpc>
              <a:buNone/>
            </a:pPr>
            <a:r>
              <a:rPr lang="en-US" sz="1800" i="1" dirty="0">
                <a:solidFill>
                  <a:srgbClr val="FFFFFF"/>
                </a:solidFill>
                <a:latin typeface="Arial" pitchFamily="34" charset="0"/>
                <a:ea typeface="Arial" pitchFamily="34" charset="-122"/>
                <a:cs typeface="Arial" pitchFamily="34" charset="-120"/>
              </a:rPr>
              <a:t>אני לא הולכת לבדיקה במקום אללה, חלילה, אני הולכת בגלל אללה.</a:t>
            </a:r>
            <a:endParaRPr lang="en-US" sz="1800" dirty="0"/>
          </a:p>
        </p:txBody>
      </p:sp>
      <p:sp>
        <p:nvSpPr>
          <p:cNvPr id="9" name="Text 7"/>
          <p:cNvSpPr/>
          <p:nvPr/>
        </p:nvSpPr>
        <p:spPr>
          <a:xfrm>
            <a:off x="841248" y="3675888"/>
            <a:ext cx="4599432" cy="365760"/>
          </a:xfrm>
          <a:prstGeom prst="rect">
            <a:avLst/>
          </a:prstGeom>
          <a:noFill/>
          <a:ln/>
        </p:spPr>
        <p:txBody>
          <a:bodyPr wrap="square" lIns="0" tIns="0" rIns="0" bIns="0" rtlCol="0" anchor="ctr"/>
          <a:lstStyle/>
          <a:p>
            <a:pPr rtl="1" algn="r" indent="0" marL="0">
              <a:buNone/>
            </a:pPr>
            <a:r>
              <a:rPr lang="en-US" sz="1150" dirty="0">
                <a:solidFill>
                  <a:srgbClr val="9FB6C6"/>
                </a:solidFill>
                <a:latin typeface="Arial" pitchFamily="34" charset="0"/>
                <a:ea typeface="Arial" pitchFamily="34" charset="-122"/>
                <a:cs typeface="Arial" pitchFamily="34" charset="-120"/>
              </a:rPr>
              <a:t>סועאד זועבי, בת 61, נצרת  |  שמונה שנות לימוד, נבדקת ברצף 11 שנים</a:t>
            </a:r>
            <a:endParaRPr lang="en-US" sz="1150" dirty="0"/>
          </a:p>
        </p:txBody>
      </p:sp>
      <p:sp>
        <p:nvSpPr>
          <p:cNvPr id="10" name="Text 8"/>
          <p:cNvSpPr/>
          <p:nvPr/>
        </p:nvSpPr>
        <p:spPr>
          <a:xfrm>
            <a:off x="566928" y="4626864"/>
            <a:ext cx="11027664" cy="786384"/>
          </a:xfrm>
          <a:prstGeom prst="rect">
            <a:avLst/>
          </a:prstGeom>
          <a:noFill/>
          <a:ln/>
        </p:spPr>
        <p:txBody>
          <a:bodyPr wrap="square" lIns="0" tIns="0" rIns="0" bIns="0" rtlCol="0" anchor="t"/>
          <a:lstStyle/>
          <a:p>
            <a:pPr rtl="1" algn="r" indent="0" marL="0">
              <a:lnSpc>
                <a:spcPct val="122000"/>
              </a:lnSpc>
              <a:buNone/>
            </a:pPr>
            <a:r>
              <a:rPr lang="en-US" sz="1400" dirty="0">
                <a:solidFill>
                  <a:srgbClr val="C9D8E2"/>
                </a:solidFill>
                <a:latin typeface="Arial" pitchFamily="34" charset="0"/>
                <a:ea typeface="Arial" pitchFamily="34" charset="-122"/>
                <a:cs typeface="Arial" pitchFamily="34" charset="-120"/>
              </a:rPr>
              <a:t>המשמעות המעשית: קמפיין שמכוון לשינוי תפיסות פטליסטיות עשוי להיות פחות יעיל מהסרת חסמים מעשיים. בזהירות, המדגם קטן ומכוון.</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דיון</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מגבלות המחקר</a:t>
            </a:r>
            <a:endParaRPr lang="en-US" sz="3000" dirty="0"/>
          </a:p>
        </p:txBody>
      </p:sp>
      <p:sp>
        <p:nvSpPr>
          <p:cNvPr id="4" name="Shape 2"/>
          <p:cNvSpPr/>
          <p:nvPr/>
        </p:nvSpPr>
        <p:spPr>
          <a:xfrm>
            <a:off x="6236208" y="131673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91088" y="1536192"/>
            <a:ext cx="402336" cy="402336"/>
          </a:xfrm>
          <a:prstGeom prst="ellipse">
            <a:avLst/>
          </a:prstGeom>
          <a:solidFill>
            <a:srgbClr val="5F6E7A"/>
          </a:solidFill>
          <a:ln w="12700">
            <a:solidFill>
              <a:srgbClr val="5F6E7A"/>
            </a:solidFill>
            <a:prstDash val="solid"/>
          </a:ln>
        </p:spPr>
      </p:sp>
      <p:sp>
        <p:nvSpPr>
          <p:cNvPr id="6" name="Text 4"/>
          <p:cNvSpPr/>
          <p:nvPr/>
        </p:nvSpPr>
        <p:spPr>
          <a:xfrm>
            <a:off x="10991088" y="153619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6492240" y="153619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מדגם קטן ומכוון</a:t>
            </a:r>
            <a:endParaRPr lang="en-US" sz="1600" dirty="0"/>
          </a:p>
        </p:txBody>
      </p:sp>
      <p:sp>
        <p:nvSpPr>
          <p:cNvPr id="8" name="Text 6"/>
          <p:cNvSpPr/>
          <p:nvPr/>
        </p:nvSpPr>
        <p:spPr>
          <a:xfrm>
            <a:off x="6492240" y="201168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שתים עשרה משתתפות. אין להסיק על שכיחות החסמים באוכלוסייה, רק על הצורות שהם לובשים</a:t>
            </a:r>
            <a:endParaRPr lang="en-US" sz="1300" dirty="0"/>
          </a:p>
        </p:txBody>
      </p:sp>
      <p:sp>
        <p:nvSpPr>
          <p:cNvPr id="9" name="Shape 7"/>
          <p:cNvSpPr/>
          <p:nvPr/>
        </p:nvSpPr>
        <p:spPr>
          <a:xfrm>
            <a:off x="566928" y="131673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5321808" y="1536192"/>
            <a:ext cx="402336" cy="402336"/>
          </a:xfrm>
          <a:prstGeom prst="ellipse">
            <a:avLst/>
          </a:prstGeom>
          <a:solidFill>
            <a:srgbClr val="5F6E7A"/>
          </a:solidFill>
          <a:ln w="12700">
            <a:solidFill>
              <a:srgbClr val="5F6E7A"/>
            </a:solidFill>
            <a:prstDash val="solid"/>
          </a:ln>
        </p:spPr>
      </p:sp>
      <p:sp>
        <p:nvSpPr>
          <p:cNvPr id="11" name="Text 9"/>
          <p:cNvSpPr/>
          <p:nvPr/>
        </p:nvSpPr>
        <p:spPr>
          <a:xfrm>
            <a:off x="5321808" y="153619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822960" y="153619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הטיית כדור השלג</a:t>
            </a:r>
            <a:endParaRPr lang="en-US" sz="1600" dirty="0"/>
          </a:p>
        </p:txBody>
      </p:sp>
      <p:sp>
        <p:nvSpPr>
          <p:cNvPr id="13" name="Text 11"/>
          <p:cNvSpPr/>
          <p:nvPr/>
        </p:nvSpPr>
        <p:spPr>
          <a:xfrm>
            <a:off x="822960" y="201168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ייתכן שנשים שהימנעותן עמוקה במיוחד כלל לא הסכימו להתראיין</a:t>
            </a:r>
            <a:endParaRPr lang="en-US" sz="1300" dirty="0"/>
          </a:p>
        </p:txBody>
      </p:sp>
      <p:sp>
        <p:nvSpPr>
          <p:cNvPr id="14" name="Shape 12"/>
          <p:cNvSpPr/>
          <p:nvPr/>
        </p:nvSpPr>
        <p:spPr>
          <a:xfrm>
            <a:off x="6236208" y="296265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10991088" y="3182112"/>
            <a:ext cx="402336" cy="402336"/>
          </a:xfrm>
          <a:prstGeom prst="ellipse">
            <a:avLst/>
          </a:prstGeom>
          <a:solidFill>
            <a:srgbClr val="5F6E7A"/>
          </a:solidFill>
          <a:ln w="12700">
            <a:solidFill>
              <a:srgbClr val="5F6E7A"/>
            </a:solidFill>
            <a:prstDash val="solid"/>
          </a:ln>
        </p:spPr>
      </p:sp>
      <p:sp>
        <p:nvSpPr>
          <p:cNvPr id="16" name="Text 14"/>
          <p:cNvSpPr/>
          <p:nvPr/>
        </p:nvSpPr>
        <p:spPr>
          <a:xfrm>
            <a:off x="10991088" y="31821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6492240" y="318211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תרגום</a:t>
            </a:r>
            <a:endParaRPr lang="en-US" sz="1600" dirty="0"/>
          </a:p>
        </p:txBody>
      </p:sp>
      <p:sp>
        <p:nvSpPr>
          <p:cNvPr id="18" name="Text 16"/>
          <p:cNvSpPr/>
          <p:nvPr/>
        </p:nvSpPr>
        <p:spPr>
          <a:xfrm>
            <a:off x="6492240" y="365760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חמישה ראיונות בערבית ואחד באמהרית תורגמו לעברית, וכל תרגום כרוך באובדן גוון</a:t>
            </a:r>
            <a:endParaRPr lang="en-US" sz="1300" dirty="0"/>
          </a:p>
        </p:txBody>
      </p:sp>
      <p:sp>
        <p:nvSpPr>
          <p:cNvPr id="19" name="Shape 17"/>
          <p:cNvSpPr/>
          <p:nvPr/>
        </p:nvSpPr>
        <p:spPr>
          <a:xfrm>
            <a:off x="566928" y="296265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5321808" y="3182112"/>
            <a:ext cx="402336" cy="402336"/>
          </a:xfrm>
          <a:prstGeom prst="ellipse">
            <a:avLst/>
          </a:prstGeom>
          <a:solidFill>
            <a:srgbClr val="5F6E7A"/>
          </a:solidFill>
          <a:ln w="12700">
            <a:solidFill>
              <a:srgbClr val="5F6E7A"/>
            </a:solidFill>
            <a:prstDash val="solid"/>
          </a:ln>
        </p:spPr>
      </p:sp>
      <p:sp>
        <p:nvSpPr>
          <p:cNvPr id="21" name="Text 19"/>
          <p:cNvSpPr/>
          <p:nvPr/>
        </p:nvSpPr>
        <p:spPr>
          <a:xfrm>
            <a:off x="5321808" y="31821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22960" y="318211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זהות המראיינות</a:t>
            </a:r>
            <a:endParaRPr lang="en-US" sz="1600" dirty="0"/>
          </a:p>
        </p:txBody>
      </p:sp>
      <p:sp>
        <p:nvSpPr>
          <p:cNvPr id="23" name="Text 21"/>
          <p:cNvSpPr/>
          <p:nvPr/>
        </p:nvSpPr>
        <p:spPr>
          <a:xfrm>
            <a:off x="822960" y="365760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סטודנטיות למנהל מערכות בריאות. ייתכן שהזיהוי עודד הצגת עמדה חיובית כלפי הבדיקה</a:t>
            </a:r>
            <a:endParaRPr lang="en-US" sz="1300" dirty="0"/>
          </a:p>
        </p:txBody>
      </p:sp>
      <p:sp>
        <p:nvSpPr>
          <p:cNvPr id="24" name="Shape 22"/>
          <p:cNvSpPr/>
          <p:nvPr/>
        </p:nvSpPr>
        <p:spPr>
          <a:xfrm>
            <a:off x="566928" y="4315968"/>
            <a:ext cx="11027664" cy="1371600"/>
          </a:xfrm>
          <a:prstGeom prst="roundRect">
            <a:avLst>
              <a:gd name="adj" fmla="val 60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25" name="Text 23"/>
          <p:cNvSpPr/>
          <p:nvPr/>
        </p:nvSpPr>
        <p:spPr>
          <a:xfrm>
            <a:off x="859536" y="4443984"/>
            <a:ext cx="10442448" cy="329184"/>
          </a:xfrm>
          <a:prstGeom prst="rect">
            <a:avLst/>
          </a:prstGeom>
          <a:noFill/>
          <a:ln/>
        </p:spPr>
        <p:txBody>
          <a:bodyPr wrap="square" lIns="0" tIns="0" rIns="0" bIns="0" rtlCol="0" anchor="ctr"/>
          <a:lstStyle/>
          <a:p>
            <a:pPr rtl="1" algn="r" indent="0" marL="0">
              <a:buNone/>
            </a:pPr>
            <a:r>
              <a:rPr lang="en-US" sz="1550" b="1" dirty="0">
                <a:solidFill>
                  <a:srgbClr val="1B3A57"/>
                </a:solidFill>
                <a:latin typeface="Arial" pitchFamily="34" charset="0"/>
                <a:ea typeface="Arial" pitchFamily="34" charset="-122"/>
                <a:cs typeface="Arial" pitchFamily="34" charset="-120"/>
              </a:rPr>
              <a:t>כיווני המשך</a:t>
            </a:r>
            <a:endParaRPr lang="en-US" sz="1550" dirty="0"/>
          </a:p>
        </p:txBody>
      </p:sp>
      <p:sp>
        <p:nvSpPr>
          <p:cNvPr id="26" name="Text 24"/>
          <p:cNvSpPr/>
          <p:nvPr/>
        </p:nvSpPr>
        <p:spPr>
          <a:xfrm>
            <a:off x="859536" y="4791456"/>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בחינה כמותית של משקל החסם היומיומי לצד החסמים התרבותיים המוכרים.</a:t>
            </a:r>
            <a:endParaRPr lang="en-US" sz="1250" dirty="0"/>
          </a:p>
        </p:txBody>
      </p:sp>
      <p:sp>
        <p:nvSpPr>
          <p:cNvPr id="27" name="Text 25"/>
          <p:cNvSpPr/>
          <p:nvPr/>
        </p:nvSpPr>
        <p:spPr>
          <a:xfrm>
            <a:off x="859536" y="5084064"/>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השוואה בין יישובים שבהם פעלה ניידת ממוגרפיה לבין יישובים דומים שבהם לא פעלה.</a:t>
            </a:r>
            <a:endParaRPr lang="en-US" sz="1250" dirty="0"/>
          </a:p>
        </p:txBody>
      </p:sp>
      <p:sp>
        <p:nvSpPr>
          <p:cNvPr id="28" name="Text 26"/>
          <p:cNvSpPr/>
          <p:nvPr/>
        </p:nvSpPr>
        <p:spPr>
          <a:xfrm>
            <a:off x="859536" y="5376672"/>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בחינת ההיענות בקרב נשים מתחת לגיל חמישים בקהילות שבהן חציון גיל האבחון צעיר.</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מסקנות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שלוש מסקנות</a:t>
            </a:r>
            <a:endParaRPr lang="en-US" sz="3000" dirty="0"/>
          </a:p>
        </p:txBody>
      </p:sp>
      <p:sp>
        <p:nvSpPr>
          <p:cNvPr id="4" name="Shape 2"/>
          <p:cNvSpPr/>
          <p:nvPr/>
        </p:nvSpPr>
        <p:spPr>
          <a:xfrm>
            <a:off x="8125968" y="1298448"/>
            <a:ext cx="3468624" cy="2743200"/>
          </a:xfrm>
          <a:prstGeom prst="roundRect">
            <a:avLst>
              <a:gd name="adj" fmla="val 3000"/>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36224" y="1517904"/>
            <a:ext cx="457200" cy="457200"/>
          </a:xfrm>
          <a:prstGeom prst="ellipse">
            <a:avLst/>
          </a:prstGeom>
          <a:solidFill>
            <a:srgbClr val="A9575F"/>
          </a:solidFill>
          <a:ln w="12700">
            <a:solidFill>
              <a:srgbClr val="A9575F"/>
            </a:solidFill>
            <a:prstDash val="solid"/>
          </a:ln>
        </p:spPr>
      </p:sp>
      <p:sp>
        <p:nvSpPr>
          <p:cNvPr id="6" name="Text 4"/>
          <p:cNvSpPr/>
          <p:nvPr/>
        </p:nvSpPr>
        <p:spPr>
          <a:xfrm>
            <a:off x="1093622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838200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החסם התרבותי אמיתי, אך ממוקם אחרת</a:t>
            </a:r>
            <a:endParaRPr lang="en-US" sz="1800" dirty="0"/>
          </a:p>
        </p:txBody>
      </p:sp>
      <p:sp>
        <p:nvSpPr>
          <p:cNvPr id="8" name="Text 6"/>
          <p:cNvSpPr/>
          <p:nvPr/>
        </p:nvSpPr>
        <p:spPr>
          <a:xfrm>
            <a:off x="838200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הוא נמצא בדרך אל הבדיקה ולא בחדר הבדיקה, כלומר בחשיפה החברתית ולא בחשיפה הגופנית</a:t>
            </a:r>
            <a:endParaRPr lang="en-US" sz="1300" dirty="0"/>
          </a:p>
        </p:txBody>
      </p:sp>
      <p:sp>
        <p:nvSpPr>
          <p:cNvPr id="9" name="Shape 7"/>
          <p:cNvSpPr/>
          <p:nvPr/>
        </p:nvSpPr>
        <p:spPr>
          <a:xfrm>
            <a:off x="4346448" y="1298448"/>
            <a:ext cx="3468624" cy="2743200"/>
          </a:xfrm>
          <a:prstGeom prst="roundRect">
            <a:avLst>
              <a:gd name="adj" fmla="val 3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7156704" y="1517904"/>
            <a:ext cx="457200" cy="457200"/>
          </a:xfrm>
          <a:prstGeom prst="ellipse">
            <a:avLst/>
          </a:prstGeom>
          <a:solidFill>
            <a:srgbClr val="1B3A57"/>
          </a:solidFill>
          <a:ln w="12700">
            <a:solidFill>
              <a:srgbClr val="1B3A57"/>
            </a:solidFill>
            <a:prstDash val="solid"/>
          </a:ln>
        </p:spPr>
      </p:sp>
      <p:sp>
        <p:nvSpPr>
          <p:cNvPr id="11" name="Text 9"/>
          <p:cNvSpPr/>
          <p:nvPr/>
        </p:nvSpPr>
        <p:spPr>
          <a:xfrm>
            <a:off x="715670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460248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קיים חסם מעשי שאינו מדובר</a:t>
            </a:r>
            <a:endParaRPr lang="en-US" sz="1800" dirty="0"/>
          </a:p>
        </p:txBody>
      </p:sp>
      <p:sp>
        <p:nvSpPr>
          <p:cNvPr id="13" name="Text 11"/>
          <p:cNvSpPr/>
          <p:nvPr/>
        </p:nvSpPr>
        <p:spPr>
          <a:xfrm>
            <a:off x="460248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המחיר של יום עבודה ושל היעדרות מן הבית, שאינו מדווח בשאלונים משום שאינו נחווה כחסם</a:t>
            </a:r>
            <a:endParaRPr lang="en-US" sz="1300" dirty="0"/>
          </a:p>
        </p:txBody>
      </p:sp>
      <p:sp>
        <p:nvSpPr>
          <p:cNvPr id="14" name="Shape 12"/>
          <p:cNvSpPr/>
          <p:nvPr/>
        </p:nvSpPr>
        <p:spPr>
          <a:xfrm>
            <a:off x="566928" y="1298448"/>
            <a:ext cx="3468624" cy="2743200"/>
          </a:xfrm>
          <a:prstGeom prst="roundRect">
            <a:avLst>
              <a:gd name="adj" fmla="val 30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3377184" y="1517904"/>
            <a:ext cx="457200" cy="457200"/>
          </a:xfrm>
          <a:prstGeom prst="ellipse">
            <a:avLst/>
          </a:prstGeom>
          <a:solidFill>
            <a:srgbClr val="2E7898"/>
          </a:solidFill>
          <a:ln w="12700">
            <a:solidFill>
              <a:srgbClr val="2E7898"/>
            </a:solidFill>
            <a:prstDash val="solid"/>
          </a:ln>
        </p:spPr>
      </p:sp>
      <p:sp>
        <p:nvSpPr>
          <p:cNvPr id="16" name="Text 14"/>
          <p:cNvSpPr/>
          <p:nvPr/>
        </p:nvSpPr>
        <p:spPr>
          <a:xfrm>
            <a:off x="337718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82296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המאיץ החזק אינו מידע נוסף</a:t>
            </a:r>
            <a:endParaRPr lang="en-US" sz="1800" dirty="0"/>
          </a:p>
        </p:txBody>
      </p:sp>
      <p:sp>
        <p:nvSpPr>
          <p:cNvPr id="18" name="Text 16"/>
          <p:cNvSpPr/>
          <p:nvPr/>
        </p:nvSpPr>
        <p:spPr>
          <a:xfrm>
            <a:off x="82296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הוא פנייה אנושית בשם פרטי, ואחריה ליווי ממשי של אדם שלוקח את זה על עצמו</a:t>
            </a:r>
            <a:endParaRPr lang="en-US" sz="1300" dirty="0"/>
          </a:p>
        </p:txBody>
      </p:sp>
      <p:sp>
        <p:nvSpPr>
          <p:cNvPr id="19" name="Shape 17"/>
          <p:cNvSpPr/>
          <p:nvPr/>
        </p:nvSpPr>
        <p:spPr>
          <a:xfrm>
            <a:off x="566928" y="4261104"/>
            <a:ext cx="11027664" cy="1280160"/>
          </a:xfrm>
          <a:prstGeom prst="roundRect">
            <a:avLst>
              <a:gd name="adj" fmla="val 6429"/>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20" name="Text 18"/>
          <p:cNvSpPr/>
          <p:nvPr/>
        </p:nvSpPr>
        <p:spPr>
          <a:xfrm>
            <a:off x="841248" y="4425696"/>
            <a:ext cx="10479024" cy="420624"/>
          </a:xfrm>
          <a:prstGeom prst="rect">
            <a:avLst/>
          </a:prstGeom>
          <a:noFill/>
          <a:ln/>
        </p:spPr>
        <p:txBody>
          <a:bodyPr wrap="square" lIns="0" tIns="0" rIns="0" bIns="0" rtlCol="0" anchor="ctr"/>
          <a:lstStyle/>
          <a:p>
            <a:pPr rtl="1" algn="ctr" indent="0" marL="0">
              <a:buNone/>
            </a:pPr>
            <a:r>
              <a:rPr lang="en-US" sz="1900" b="1" dirty="0">
                <a:solidFill>
                  <a:srgbClr val="FFFFFF"/>
                </a:solidFill>
                <a:latin typeface="Arial" pitchFamily="34" charset="0"/>
                <a:ea typeface="Arial" pitchFamily="34" charset="-122"/>
                <a:cs typeface="Arial" pitchFamily="34" charset="-120"/>
              </a:rPr>
              <a:t>ההיענות נקבעת במאזן שבין החסמים למאיצים, ולא ברמת הידע.</a:t>
            </a:r>
            <a:endParaRPr lang="en-US" sz="1900" dirty="0"/>
          </a:p>
        </p:txBody>
      </p:sp>
      <p:sp>
        <p:nvSpPr>
          <p:cNvPr id="21" name="Text 19"/>
          <p:cNvSpPr/>
          <p:nvPr/>
        </p:nvSpPr>
        <p:spPr>
          <a:xfrm>
            <a:off x="841248" y="4882896"/>
            <a:ext cx="10479024" cy="365760"/>
          </a:xfrm>
          <a:prstGeom prst="rect">
            <a:avLst/>
          </a:prstGeom>
          <a:noFill/>
          <a:ln/>
        </p:spPr>
        <p:txBody>
          <a:bodyPr wrap="square" lIns="0" tIns="0" rIns="0" bIns="0" rtlCol="0" anchor="ctr"/>
          <a:lstStyle/>
          <a:p>
            <a:pPr rtl="1" algn="ctr" indent="0" marL="0">
              <a:buNone/>
            </a:pPr>
            <a:r>
              <a:rPr lang="en-US" sz="1350" dirty="0">
                <a:solidFill>
                  <a:srgbClr val="C9D8E2"/>
                </a:solidFill>
                <a:latin typeface="Arial" pitchFamily="34" charset="0"/>
                <a:ea typeface="Arial" pitchFamily="34" charset="-122"/>
                <a:cs typeface="Arial" pitchFamily="34" charset="-120"/>
              </a:rPr>
              <a:t>ולכן התערבות שכל כולה העברת מידע צפויה להניב תשואה נמוכה.</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המלצות יישומיות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עושים עם זה מחר בבוקר</a:t>
            </a:r>
            <a:endParaRPr lang="en-US" sz="3000" dirty="0"/>
          </a:p>
        </p:txBody>
      </p:sp>
      <p:sp>
        <p:nvSpPr>
          <p:cNvPr id="4" name="Shape 2"/>
          <p:cNvSpPr/>
          <p:nvPr/>
        </p:nvSpPr>
        <p:spPr>
          <a:xfrm>
            <a:off x="6263640" y="1243584"/>
            <a:ext cx="5330952" cy="4261104"/>
          </a:xfrm>
          <a:prstGeom prst="roundRect">
            <a:avLst>
              <a:gd name="adj" fmla="val 1931"/>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5" name="Text 3"/>
          <p:cNvSpPr/>
          <p:nvPr/>
        </p:nvSpPr>
        <p:spPr>
          <a:xfrm>
            <a:off x="6519672" y="1389888"/>
            <a:ext cx="4818888" cy="347472"/>
          </a:xfrm>
          <a:prstGeom prst="rect">
            <a:avLst/>
          </a:prstGeom>
          <a:noFill/>
          <a:ln/>
        </p:spPr>
        <p:txBody>
          <a:bodyPr wrap="square" lIns="0" tIns="0" rIns="0" bIns="0" rtlCol="0" anchor="ctr"/>
          <a:lstStyle/>
          <a:p>
            <a:pPr rtl="1" algn="r" indent="0" marL="0">
              <a:buNone/>
            </a:pPr>
            <a:r>
              <a:rPr lang="en-US" sz="1700" b="1" dirty="0">
                <a:solidFill>
                  <a:srgbClr val="2E7898"/>
                </a:solidFill>
                <a:latin typeface="Arial" pitchFamily="34" charset="0"/>
                <a:ea typeface="Arial" pitchFamily="34" charset="-122"/>
                <a:cs typeface="Arial" pitchFamily="34" charset="-120"/>
              </a:rPr>
              <a:t>ברמת המרפאה</a:t>
            </a:r>
            <a:endParaRPr lang="en-US" sz="1700" dirty="0"/>
          </a:p>
        </p:txBody>
      </p:sp>
      <p:sp>
        <p:nvSpPr>
          <p:cNvPr id="6" name="Text 4"/>
          <p:cNvSpPr/>
          <p:nvPr/>
        </p:nvSpPr>
        <p:spPr>
          <a:xfrm>
            <a:off x="6519672" y="1737360"/>
            <a:ext cx="4818888" cy="256032"/>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עלות נמוכה, יישום מיידי</a:t>
            </a:r>
            <a:endParaRPr lang="en-US" sz="1150" dirty="0"/>
          </a:p>
        </p:txBody>
      </p:sp>
      <p:sp>
        <p:nvSpPr>
          <p:cNvPr id="7" name="Shape 5"/>
          <p:cNvSpPr/>
          <p:nvPr/>
        </p:nvSpPr>
        <p:spPr>
          <a:xfrm>
            <a:off x="10936224" y="2139696"/>
            <a:ext cx="384048" cy="384048"/>
          </a:xfrm>
          <a:prstGeom prst="ellipse">
            <a:avLst/>
          </a:prstGeom>
          <a:solidFill>
            <a:srgbClr val="2E7898"/>
          </a:solidFill>
          <a:ln w="12700">
            <a:solidFill>
              <a:srgbClr val="2E7898"/>
            </a:solidFill>
            <a:prstDash val="solid"/>
          </a:ln>
        </p:spPr>
      </p:sp>
      <p:sp>
        <p:nvSpPr>
          <p:cNvPr id="8" name="Text 6"/>
          <p:cNvSpPr/>
          <p:nvPr/>
        </p:nvSpPr>
        <p:spPr>
          <a:xfrm>
            <a:off x="10936224" y="21396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6519672" y="212140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רכזת זימונים שמטלפנת</a:t>
            </a:r>
            <a:endParaRPr lang="en-US" sz="1450" dirty="0"/>
          </a:p>
        </p:txBody>
      </p:sp>
      <p:sp>
        <p:nvSpPr>
          <p:cNvPr id="10" name="Text 8"/>
          <p:cNvSpPr/>
          <p:nvPr/>
        </p:nvSpPr>
        <p:spPr>
          <a:xfrm>
            <a:off x="6519672" y="246888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דוברת ערבית, שיחה יזומה לכל אישה באיחור. מדד: שיעור ההמרה משיחה לתור</a:t>
            </a:r>
            <a:endParaRPr lang="en-US" sz="1200" dirty="0"/>
          </a:p>
        </p:txBody>
      </p:sp>
      <p:sp>
        <p:nvSpPr>
          <p:cNvPr id="11" name="Shape 9"/>
          <p:cNvSpPr/>
          <p:nvPr/>
        </p:nvSpPr>
        <p:spPr>
          <a:xfrm>
            <a:off x="10936224" y="3236976"/>
            <a:ext cx="384048" cy="384048"/>
          </a:xfrm>
          <a:prstGeom prst="ellipse">
            <a:avLst/>
          </a:prstGeom>
          <a:solidFill>
            <a:srgbClr val="2E7898"/>
          </a:solidFill>
          <a:ln w="12700">
            <a:solidFill>
              <a:srgbClr val="2E7898"/>
            </a:solidFill>
            <a:prstDash val="solid"/>
          </a:ln>
        </p:spPr>
      </p:sp>
      <p:sp>
        <p:nvSpPr>
          <p:cNvPr id="12" name="Text 10"/>
          <p:cNvSpPr/>
          <p:nvPr/>
        </p:nvSpPr>
        <p:spPr>
          <a:xfrm>
            <a:off x="10936224" y="32369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p:nvPr/>
        </p:nvSpPr>
        <p:spPr>
          <a:xfrm>
            <a:off x="6519672" y="321868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התראה לרופא במפגש הקליני</a:t>
            </a:r>
            <a:endParaRPr lang="en-US" sz="1450" dirty="0"/>
          </a:p>
        </p:txBody>
      </p:sp>
      <p:sp>
        <p:nvSpPr>
          <p:cNvPr id="14" name="Text 12"/>
          <p:cNvSpPr/>
          <p:nvPr/>
        </p:nvSpPr>
        <p:spPr>
          <a:xfrm>
            <a:off x="6519672" y="356616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התראה אוטומטית בפתיחת ביקור של אישה בגיל הזכאות שאיחרה</a:t>
            </a:r>
            <a:endParaRPr lang="en-US" sz="1200" dirty="0"/>
          </a:p>
        </p:txBody>
      </p:sp>
      <p:sp>
        <p:nvSpPr>
          <p:cNvPr id="15" name="Shape 13"/>
          <p:cNvSpPr/>
          <p:nvPr/>
        </p:nvSpPr>
        <p:spPr>
          <a:xfrm>
            <a:off x="10936224" y="4334256"/>
            <a:ext cx="384048" cy="384048"/>
          </a:xfrm>
          <a:prstGeom prst="ellipse">
            <a:avLst/>
          </a:prstGeom>
          <a:solidFill>
            <a:srgbClr val="2E7898"/>
          </a:solidFill>
          <a:ln w="12700">
            <a:solidFill>
              <a:srgbClr val="2E7898"/>
            </a:solidFill>
            <a:prstDash val="solid"/>
          </a:ln>
        </p:spPr>
      </p:sp>
      <p:sp>
        <p:nvSpPr>
          <p:cNvPr id="16" name="Text 14"/>
          <p:cNvSpPr/>
          <p:nvPr/>
        </p:nvSpPr>
        <p:spPr>
          <a:xfrm>
            <a:off x="10936224" y="43342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6519672" y="431596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תורים בשעות שאפשר להגיע אליהן</a:t>
            </a:r>
            <a:endParaRPr lang="en-US" sz="1450" dirty="0"/>
          </a:p>
        </p:txBody>
      </p:sp>
      <p:sp>
        <p:nvSpPr>
          <p:cNvPr id="18" name="Text 16"/>
          <p:cNvSpPr/>
          <p:nvPr/>
        </p:nvSpPr>
        <p:spPr>
          <a:xfrm>
            <a:off x="6519672" y="466344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אחר הצהריים וימי שישי, ואישור היעדרות מעבודה למי שהגיעה</a:t>
            </a:r>
            <a:endParaRPr lang="en-US" sz="1200" dirty="0"/>
          </a:p>
        </p:txBody>
      </p:sp>
      <p:sp>
        <p:nvSpPr>
          <p:cNvPr id="19" name="Shape 17"/>
          <p:cNvSpPr/>
          <p:nvPr/>
        </p:nvSpPr>
        <p:spPr>
          <a:xfrm>
            <a:off x="566928" y="1243584"/>
            <a:ext cx="5330952" cy="4261104"/>
          </a:xfrm>
          <a:prstGeom prst="roundRect">
            <a:avLst>
              <a:gd name="adj" fmla="val 1931"/>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Text 18"/>
          <p:cNvSpPr/>
          <p:nvPr/>
        </p:nvSpPr>
        <p:spPr>
          <a:xfrm>
            <a:off x="822960" y="1389888"/>
            <a:ext cx="4818888" cy="347472"/>
          </a:xfrm>
          <a:prstGeom prst="rect">
            <a:avLst/>
          </a:prstGeom>
          <a:noFill/>
          <a:ln/>
        </p:spPr>
        <p:txBody>
          <a:bodyPr wrap="square" lIns="0" tIns="0" rIns="0" bIns="0" rtlCol="0" anchor="ctr"/>
          <a:lstStyle/>
          <a:p>
            <a:pPr rtl="1" algn="r" indent="0" marL="0">
              <a:buNone/>
            </a:pPr>
            <a:r>
              <a:rPr lang="en-US" sz="1700" b="1" dirty="0">
                <a:solidFill>
                  <a:srgbClr val="A9575F"/>
                </a:solidFill>
                <a:latin typeface="Arial" pitchFamily="34" charset="0"/>
                <a:ea typeface="Arial" pitchFamily="34" charset="-122"/>
                <a:cs typeface="Arial" pitchFamily="34" charset="-120"/>
              </a:rPr>
              <a:t>ברמת הקופה ומשרד הבריאות</a:t>
            </a:r>
            <a:endParaRPr lang="en-US" sz="1700" dirty="0"/>
          </a:p>
        </p:txBody>
      </p:sp>
      <p:sp>
        <p:nvSpPr>
          <p:cNvPr id="21" name="Text 19"/>
          <p:cNvSpPr/>
          <p:nvPr/>
        </p:nvSpPr>
        <p:spPr>
          <a:xfrm>
            <a:off x="822960" y="1737360"/>
            <a:ext cx="4818888" cy="256032"/>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דורש החלטת מדיניות</a:t>
            </a:r>
            <a:endParaRPr lang="en-US" sz="1150" dirty="0"/>
          </a:p>
        </p:txBody>
      </p:sp>
      <p:sp>
        <p:nvSpPr>
          <p:cNvPr id="22" name="Shape 20"/>
          <p:cNvSpPr/>
          <p:nvPr/>
        </p:nvSpPr>
        <p:spPr>
          <a:xfrm>
            <a:off x="5239512" y="2139696"/>
            <a:ext cx="384048" cy="384048"/>
          </a:xfrm>
          <a:prstGeom prst="ellipse">
            <a:avLst/>
          </a:prstGeom>
          <a:solidFill>
            <a:srgbClr val="A9575F"/>
          </a:solidFill>
          <a:ln w="12700">
            <a:solidFill>
              <a:srgbClr val="A9575F"/>
            </a:solidFill>
            <a:prstDash val="solid"/>
          </a:ln>
        </p:spPr>
      </p:sp>
      <p:sp>
        <p:nvSpPr>
          <p:cNvPr id="23" name="Text 21"/>
          <p:cNvSpPr/>
          <p:nvPr/>
        </p:nvSpPr>
        <p:spPr>
          <a:xfrm>
            <a:off x="5239512" y="21396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4" name="Text 22"/>
          <p:cNvSpPr/>
          <p:nvPr/>
        </p:nvSpPr>
        <p:spPr>
          <a:xfrm>
            <a:off x="822960" y="212140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ניידת בלוח קבוע ובמקום דיסקרטי</a:t>
            </a:r>
            <a:endParaRPr lang="en-US" sz="1450" dirty="0"/>
          </a:p>
        </p:txBody>
      </p:sp>
      <p:sp>
        <p:nvSpPr>
          <p:cNvPr id="25" name="Text 23"/>
          <p:cNvSpPr/>
          <p:nvPr/>
        </p:nvSpPr>
        <p:spPr>
          <a:xfrm>
            <a:off x="822960" y="246888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לא אירוע חד-פעמי, ולא בחזית המרפאה, כדי לתת מענה לחשש מן הראות</a:t>
            </a:r>
            <a:endParaRPr lang="en-US" sz="1200" dirty="0"/>
          </a:p>
        </p:txBody>
      </p:sp>
      <p:sp>
        <p:nvSpPr>
          <p:cNvPr id="26" name="Shape 24"/>
          <p:cNvSpPr/>
          <p:nvPr/>
        </p:nvSpPr>
        <p:spPr>
          <a:xfrm>
            <a:off x="5239512" y="3236976"/>
            <a:ext cx="384048" cy="384048"/>
          </a:xfrm>
          <a:prstGeom prst="ellipse">
            <a:avLst/>
          </a:prstGeom>
          <a:solidFill>
            <a:srgbClr val="A9575F"/>
          </a:solidFill>
          <a:ln w="12700">
            <a:solidFill>
              <a:srgbClr val="A9575F"/>
            </a:solidFill>
            <a:prstDash val="solid"/>
          </a:ln>
        </p:spPr>
      </p:sp>
      <p:sp>
        <p:nvSpPr>
          <p:cNvPr id="27" name="Text 25"/>
          <p:cNvSpPr/>
          <p:nvPr/>
        </p:nvSpPr>
        <p:spPr>
          <a:xfrm>
            <a:off x="5239512" y="32369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8" name="Text 26"/>
          <p:cNvSpPr/>
          <p:nvPr/>
        </p:nvSpPr>
        <p:spPr>
          <a:xfrm>
            <a:off x="822960" y="321868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מפגשים ביתיים במקום הרצאות</a:t>
            </a:r>
            <a:endParaRPr lang="en-US" sz="1450" dirty="0"/>
          </a:p>
        </p:txBody>
      </p:sp>
      <p:sp>
        <p:nvSpPr>
          <p:cNvPr id="29" name="Text 27"/>
          <p:cNvSpPr/>
          <p:nvPr/>
        </p:nvSpPr>
        <p:spPr>
          <a:xfrm>
            <a:off x="822960" y="356616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נשים מקומיות שנבדקו, ובהן מי שהחלימה, מנחות מפגשים קטנים</a:t>
            </a:r>
            <a:endParaRPr lang="en-US" sz="1200" dirty="0"/>
          </a:p>
        </p:txBody>
      </p:sp>
      <p:sp>
        <p:nvSpPr>
          <p:cNvPr id="30" name="Shape 28"/>
          <p:cNvSpPr/>
          <p:nvPr/>
        </p:nvSpPr>
        <p:spPr>
          <a:xfrm>
            <a:off x="5239512" y="4334256"/>
            <a:ext cx="384048" cy="384048"/>
          </a:xfrm>
          <a:prstGeom prst="ellipse">
            <a:avLst/>
          </a:prstGeom>
          <a:solidFill>
            <a:srgbClr val="A9575F"/>
          </a:solidFill>
          <a:ln w="12700">
            <a:solidFill>
              <a:srgbClr val="A9575F"/>
            </a:solidFill>
            <a:prstDash val="solid"/>
          </a:ln>
        </p:spPr>
      </p:sp>
      <p:sp>
        <p:nvSpPr>
          <p:cNvPr id="31" name="Text 29"/>
          <p:cNvSpPr/>
          <p:nvPr/>
        </p:nvSpPr>
        <p:spPr>
          <a:xfrm>
            <a:off x="5239512" y="43342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2" name="Text 30"/>
          <p:cNvSpPr/>
          <p:nvPr/>
        </p:nvSpPr>
        <p:spPr>
          <a:xfrm>
            <a:off x="822960" y="431596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הרחבת הזימון לגילאי 45 עד 49</a:t>
            </a:r>
            <a:endParaRPr lang="en-US" sz="1450" dirty="0"/>
          </a:p>
        </p:txBody>
      </p:sp>
      <p:sp>
        <p:nvSpPr>
          <p:cNvPr id="33" name="Text 31"/>
          <p:cNvSpPr/>
          <p:nvPr/>
        </p:nvSpPr>
        <p:spPr>
          <a:xfrm>
            <a:off x="822960" y="466344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בקהילות שבהן חציון גיל האבחון צעיר, ובראשן החברה הבדואית בנגב</a:t>
            </a:r>
            <a:endParaRPr lang="en-US" sz="1200" dirty="0"/>
          </a:p>
        </p:txBody>
      </p:sp>
      <p:sp>
        <p:nvSpPr>
          <p:cNvPr id="34" name="Text 32"/>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כל ההמלצות נגזרות ישירות מדברי המשתתפות, ולא מן הספרות בלבד</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3A57"/>
        </a:solidFill>
      </p:bgPr>
    </p:bg>
    <p:spTree>
      <p:nvGrpSpPr>
        <p:cNvPr id="1" name=""/>
        <p:cNvGrpSpPr/>
        <p:nvPr/>
      </p:nvGrpSpPr>
      <p:grpSpPr>
        <a:xfrm>
          <a:off x="0" y="0"/>
          <a:ext cx="0" cy="0"/>
          <a:chOff x="0" y="0"/>
          <a:chExt cx="0" cy="0"/>
        </a:xfrm>
      </p:grpSpPr>
      <p:sp>
        <p:nvSpPr>
          <p:cNvPr id="2" name="Shape 0"/>
          <p:cNvSpPr/>
          <p:nvPr/>
        </p:nvSpPr>
        <p:spPr>
          <a:xfrm>
            <a:off x="5468112" y="960120"/>
            <a:ext cx="1225296" cy="1225296"/>
          </a:xfrm>
          <a:prstGeom prst="roundRect">
            <a:avLst>
              <a:gd name="adj" fmla="val 11940"/>
            </a:avLst>
          </a:prstGeom>
          <a:solidFill>
            <a:srgbClr val="FFFFFF"/>
          </a:solidFill>
          <a:ln w="12700">
            <a:solidFill>
              <a:srgbClr val="FFFFFF"/>
            </a:solidFill>
            <a:prstDash val="solid"/>
          </a:ln>
        </p:spPr>
      </p:sp>
      <p:pic>
        <p:nvPicPr>
          <p:cNvPr id="3" name="Image 0" descr="/tmp/claude-0/-home-user-clickwriting-landing/2ca03497-42eb-5d34-8079-069f09f39de3/scratchpad/work/peres_logo.jpg">    </p:cNvPr>
          <p:cNvPicPr>
            <a:picLocks noChangeAspect="1"/>
          </p:cNvPicPr>
          <p:nvPr/>
        </p:nvPicPr>
        <p:blipFill>
          <a:blip r:embed="rId1"/>
          <a:stretch>
            <a:fillRect/>
          </a:stretch>
        </p:blipFill>
        <p:spPr>
          <a:xfrm>
            <a:off x="5541264" y="1033272"/>
            <a:ext cx="1078992" cy="1078992"/>
          </a:xfrm>
          <a:prstGeom prst="rect">
            <a:avLst/>
          </a:prstGeom>
        </p:spPr>
      </p:pic>
      <p:sp>
        <p:nvSpPr>
          <p:cNvPr id="4" name="Text 1"/>
          <p:cNvSpPr/>
          <p:nvPr/>
        </p:nvSpPr>
        <p:spPr>
          <a:xfrm>
            <a:off x="0" y="2487168"/>
            <a:ext cx="12161520" cy="731520"/>
          </a:xfrm>
          <a:prstGeom prst="rect">
            <a:avLst/>
          </a:prstGeom>
          <a:noFill/>
          <a:ln/>
        </p:spPr>
        <p:txBody>
          <a:bodyPr wrap="square" lIns="0" tIns="0" rIns="0" bIns="0"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תודה</a:t>
            </a:r>
            <a:endParaRPr lang="en-US" sz="4000" dirty="0"/>
          </a:p>
        </p:txBody>
      </p:sp>
      <p:sp>
        <p:nvSpPr>
          <p:cNvPr id="5" name="Text 2"/>
          <p:cNvSpPr/>
          <p:nvPr/>
        </p:nvSpPr>
        <p:spPr>
          <a:xfrm>
            <a:off x="1463040" y="3291840"/>
            <a:ext cx="9235440" cy="877824"/>
          </a:xfrm>
          <a:prstGeom prst="rect">
            <a:avLst/>
          </a:prstGeom>
          <a:noFill/>
          <a:ln/>
        </p:spPr>
        <p:txBody>
          <a:bodyPr wrap="square" lIns="0" tIns="0" rIns="0" bIns="0" rtlCol="0" anchor="t"/>
          <a:lstStyle/>
          <a:p>
            <a:pPr rtl="1" algn="ctr" indent="0" marL="0">
              <a:lnSpc>
                <a:spcPct val="126000"/>
              </a:lnSpc>
              <a:buNone/>
            </a:pPr>
            <a:r>
              <a:rPr lang="en-US" sz="1600" i="1" dirty="0">
                <a:solidFill>
                  <a:srgbClr val="C9D8E2"/>
                </a:solidFill>
                <a:latin typeface="Arial" pitchFamily="34" charset="0"/>
                <a:ea typeface="Arial" pitchFamily="34" charset="-122"/>
                <a:cs typeface="Arial" pitchFamily="34" charset="-120"/>
              </a:rPr>
              <a:t>איכותו של מערך איתור מוקדם נמדדת בנשים שהוא מצליח להגיע אליהן,</a:t>
            </a:r>
            <a:endParaRPr lang="en-US" sz="1600" dirty="0"/>
          </a:p>
          <a:p>
            <a:pPr rtl="1" algn="ctr" indent="0" marL="0">
              <a:lnSpc>
                <a:spcPct val="126000"/>
              </a:lnSpc>
              <a:buNone/>
            </a:pPr>
            <a:r>
              <a:rPr lang="en-US" sz="1600" i="1" dirty="0">
                <a:solidFill>
                  <a:srgbClr val="C9D8E2"/>
                </a:solidFill>
                <a:latin typeface="Arial" pitchFamily="34" charset="0"/>
                <a:ea typeface="Arial" pitchFamily="34" charset="-122"/>
                <a:cs typeface="Arial" pitchFamily="34" charset="-120"/>
              </a:rPr>
              <a:t>ולא במספר הנשים שהוא הצליח ליידע.</a:t>
            </a:r>
            <a:endParaRPr lang="en-US" sz="1600" dirty="0"/>
          </a:p>
        </p:txBody>
      </p:sp>
      <p:sp>
        <p:nvSpPr>
          <p:cNvPr id="6" name="Text 3"/>
          <p:cNvSpPr/>
          <p:nvPr/>
        </p:nvSpPr>
        <p:spPr>
          <a:xfrm>
            <a:off x="0" y="4352544"/>
            <a:ext cx="12161520" cy="402336"/>
          </a:xfrm>
          <a:prstGeom prst="rect">
            <a:avLst/>
          </a:prstGeom>
          <a:noFill/>
          <a:ln/>
        </p:spPr>
        <p:txBody>
          <a:bodyPr wrap="square" lIns="0" tIns="0" rIns="0" bIns="0" rtlCol="0" anchor="ctr"/>
          <a:lstStyle/>
          <a:p>
            <a:pPr rtl="1" algn="ctr" indent="0" marL="0">
              <a:buNone/>
            </a:pPr>
            <a:r>
              <a:rPr lang="en-US" sz="1800" b="1" dirty="0">
                <a:solidFill>
                  <a:srgbClr val="8FD3E8"/>
                </a:solidFill>
                <a:latin typeface="Arial" pitchFamily="34" charset="0"/>
                <a:ea typeface="Arial" pitchFamily="34" charset="-122"/>
                <a:cs typeface="Arial" pitchFamily="34" charset="-120"/>
              </a:rPr>
              <a:t>שאלות?</a:t>
            </a:r>
            <a:endParaRPr lang="en-US" sz="1800" dirty="0"/>
          </a:p>
        </p:txBody>
      </p:sp>
      <p:sp>
        <p:nvSpPr>
          <p:cNvPr id="7" name="Text 4"/>
          <p:cNvSpPr/>
          <p:nvPr/>
        </p:nvSpPr>
        <p:spPr>
          <a:xfrm>
            <a:off x="0" y="5175504"/>
            <a:ext cx="12161520" cy="310896"/>
          </a:xfrm>
          <a:prstGeom prst="rect">
            <a:avLst/>
          </a:prstGeom>
          <a:noFill/>
          <a:ln/>
        </p:spPr>
        <p:txBody>
          <a:bodyPr wrap="square" lIns="0" tIns="0" rIns="0" bIns="0" rtlCol="0" anchor="ctr"/>
          <a:lstStyle/>
          <a:p>
            <a:pPr rtl="1" algn="ctr" indent="0" marL="0">
              <a:buNone/>
            </a:pPr>
            <a:r>
              <a:rPr lang="en-US" sz="1150" dirty="0">
                <a:solidFill>
                  <a:srgbClr val="7E96A8"/>
                </a:solidFill>
                <a:latin typeface="Arial" pitchFamily="34" charset="0"/>
                <a:ea typeface="Arial" pitchFamily="34" charset="-122"/>
                <a:cs typeface="Arial" pitchFamily="34" charset="-120"/>
              </a:rPr>
              <a:t>המרכז האקדמי פרס  |  החוג למנהל מערכות בריאות  |  בהנחיית ד"ר שנהב פרץ  |  תשפ"ו</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היענות לבדיקות ממוגרפיה בחברה הערבית בישראל</dc:title>
  <dc:subject>PptxGenJS Presentation</dc:subject>
  <dc:creator>המרכז האקדמי פרס</dc:creator>
  <cp:lastModifiedBy>המרכז האקדמי פרס</cp:lastModifiedBy>
  <cp:revision>1</cp:revision>
  <dcterms:created xsi:type="dcterms:W3CDTF">2026-08-25T17:43:46Z</dcterms:created>
  <dcterms:modified xsi:type="dcterms:W3CDTF">2026-08-25T17:43:46Z</dcterms:modified>
</cp:coreProperties>
</file>