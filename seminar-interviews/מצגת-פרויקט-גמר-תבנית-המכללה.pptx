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r"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r"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514350" indent="-514350" algn="r" rtl="1">
              <a:lnSpc>
                <a:spcPct val="100000"/>
              </a:lnSpc>
              <a:spcBef>
                <a:spcPts val="300"/>
              </a:spcBef>
              <a:buFont typeface="Arial" panose="020B0604020202020204" pitchFamily="34" charset="0"/>
              <a:buAutoNum type="arabicPeriod"/>
            </a:pPr>
            <a:r>
              <a:rPr lang="he-IL" sz="1700" b="1" dirty="0">
                <a:cs typeface="+mn-cs"/>
              </a:rPr>
              <a:t>רכזת זימונים דוברת ערבית שמטלפנת ואינה שולחת מכתבים,</a:t>
            </a:r>
            <a:r>
              <a:rPr lang="he-IL" sz="1700" dirty="0">
                <a:cs typeface="+mn-cs"/>
              </a:rPr>
              <a:t> תוך מדידת שיעור ההמרה משיחה לתור שנקבע בפועל.</a:t>
            </a:r>
          </a:p>
          <a:p>
            <a:pPr marL="514350" indent="-514350" algn="r" rtl="1">
              <a:lnSpc>
                <a:spcPct val="100000"/>
              </a:lnSpc>
              <a:spcBef>
                <a:spcPts val="300"/>
              </a:spcBef>
              <a:buFont typeface="Arial" panose="020B0604020202020204" pitchFamily="34" charset="0"/>
              <a:buAutoNum type="arabicPeriod"/>
            </a:pPr>
            <a:r>
              <a:rPr lang="he-IL" sz="1700" b="1" dirty="0">
                <a:cs typeface="+mn-cs"/>
              </a:rPr>
              <a:t>התראה לרופא המשפחה בפתיחת ביקור של אישה שאיחרה בבדיקה,</a:t>
            </a:r>
            <a:r>
              <a:rPr lang="he-IL" sz="1700" dirty="0">
                <a:cs typeface="+mn-cs"/>
              </a:rPr>
              <a:t> כך שההמלצה תינתן ביוזמת המטפל ולא ביוזמת האישה.</a:t>
            </a:r>
          </a:p>
          <a:p>
            <a:pPr marL="514350" indent="-514350" algn="r" rtl="1">
              <a:lnSpc>
                <a:spcPct val="100000"/>
              </a:lnSpc>
              <a:spcBef>
                <a:spcPts val="300"/>
              </a:spcBef>
              <a:buFont typeface="Arial" panose="020B0604020202020204" pitchFamily="34" charset="0"/>
              <a:buAutoNum type="arabicPeriod"/>
            </a:pPr>
            <a:r>
              <a:rPr lang="he-IL" sz="1700" b="1" dirty="0">
                <a:cs typeface="+mn-cs"/>
              </a:rPr>
              <a:t>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514350" indent="-514350" algn="r" rtl="1">
              <a:lnSpc>
                <a:spcPct val="100000"/>
              </a:lnSpc>
              <a:spcBef>
                <a:spcPts val="300"/>
              </a:spcBef>
              <a:buFont typeface="Arial" panose="020B0604020202020204" pitchFamily="34" charset="0"/>
              <a:buAutoNum type="arabicPeriod" startAt="4"/>
            </a:pPr>
            <a:r>
              <a:rPr lang="he-IL" sz="1700" b="1" dirty="0">
                <a:cs typeface="+mn-cs"/>
              </a:rPr>
              <a:t>ניידת ממוגרפיה בלוח שנתי קבוע ובמיקום דיסקרטי,</a:t>
            </a:r>
            <a:r>
              <a:rPr lang="he-IL" sz="1700" dirty="0">
                <a:cs typeface="+mn-cs"/>
              </a:rPr>
              <a:t> ולא כאירוע חד-פעמי בחזית המרפאה.</a:t>
            </a:r>
          </a:p>
          <a:p>
            <a:pPr marL="514350" indent="-514350" algn="r" rtl="1">
              <a:lnSpc>
                <a:spcPct val="100000"/>
              </a:lnSpc>
              <a:spcBef>
                <a:spcPts val="300"/>
              </a:spcBef>
              <a:buFont typeface="Arial" panose="020B0604020202020204" pitchFamily="34" charset="0"/>
              <a:buAutoNum type="arabicPeriod"/>
            </a:pPr>
            <a:r>
              <a:rPr lang="he-IL" sz="1700" b="1" dirty="0">
                <a:cs typeface="+mn-cs"/>
              </a:rPr>
              <a:t>מפגשים ביתיים בהנחיית נשים מקומיות שנבדקו,</a:t>
            </a:r>
            <a:r>
              <a:rPr lang="he-IL" sz="1700" dirty="0">
                <a:cs typeface="+mn-cs"/>
              </a:rPr>
              <a:t> במסגרת קטנה ומוכרת במקום הרצאות פומביות.</a:t>
            </a:r>
          </a:p>
          <a:p>
            <a:pPr marL="514350" indent="-514350" algn="r" rtl="1">
              <a:lnSpc>
                <a:spcPct val="100000"/>
              </a:lnSpc>
              <a:spcBef>
                <a:spcPts val="300"/>
              </a:spcBef>
              <a:buFont typeface="Arial" panose="020B0604020202020204" pitchFamily="34" charset="0"/>
              <a:buAutoNum type="arabicPeriod"/>
            </a:pPr>
            <a:r>
              <a:rPr lang="he-IL" sz="1700" b="1" dirty="0">
                <a:cs typeface="+mn-cs"/>
              </a:rPr>
              <a:t>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r"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a:xfrm>
            <a:off x="8613648" y="6355080"/>
            <a:ext cx="2743200" cy="365760"/>
          </a:xfrm>
        </p:spPr>
        <p:txBody>
          <a:bodyPr/>
          <a:lstStyle/>
          <a:p>
            <a:pPr algn="r" rtl="1"/>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