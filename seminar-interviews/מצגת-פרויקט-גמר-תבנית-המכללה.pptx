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‫לעבור על שש ההמלצות לפי מספרן, ולקשור כל אחת לתמה שממנה נגזרה. 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0" firstRow="1"/>
              <a:tblGrid>
                <a:gridCol w="4114800"/>
                <a:gridCol w="2651760"/>
                <a:gridCol w="1234440"/>
                <a:gridCol w="457200"/>
                <a:gridCol w="1600200"/>
                <a:gridCol w="457200"/>
              </a:tblGrid>
              <a:tr h="265176">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r" rtl="1">
              <a:lnSpc>
                <a:spcPct val="100000"/>
              </a:lnSpc>
              <a:spcBef>
                <a:spcPts val="0"/>
              </a:spcBef>
              <a:buNone/>
            </a:pPr>
            <a:r>
              <a:rPr lang="he-IL" sz="1700" dirty="0">
                <a:cs typeface="+mn-cs"/>
              </a:rPr>
              <a:t>‫ההמלצות נגזרות מן הממצאים, ואינן מכוונות לשינוי אמונותיהן של הנשים אלא </a:t>
            </a:r>
            <a:r>
              <a:rPr lang="he-IL" sz="1700" b="1" dirty="0">
                <a:solidFill>
                  <a:srgbClr val="1F3864"/>
                </a:solidFill>
                <a:cs typeface="+mn-cs"/>
              </a:rPr>
              <a:t>להסרת הגורמים החוצצים בין הכוונה לבין הפעולה</a:t>
            </a:r>
            <a:r>
              <a:rPr lang="he-IL" sz="1700" dirty="0">
                <a:cs typeface="+mn-cs"/>
              </a:rPr>
              <a:t>.‬</a:t>
            </a:r>
          </a:p>
          <a:p>
            <a:pPr marL="0" indent="0" algn="r" rtl="1">
              <a:lnSpc>
                <a:spcPct val="100000"/>
              </a:lnSpc>
              <a:spcBef>
                <a:spcPts val="500"/>
              </a:spcBef>
              <a:buNone/>
            </a:pPr>
            <a:r>
              <a:rPr lang="he-IL" sz="1800" b="1" dirty="0">
                <a:solidFill>
                  <a:srgbClr val="1F3864"/>
                </a:solidFill>
                <a:cs typeface="+mn-cs"/>
              </a:rPr>
              <a:t>‫ברמת המרפאה, בעלות נמוכה יחסית‬</a:t>
            </a:r>
          </a:p>
          <a:p>
            <a:pPr marL="0" indent="0" algn="r" rtl="1">
              <a:lnSpc>
                <a:spcPct val="100000"/>
              </a:lnSpc>
              <a:spcBef>
                <a:spcPts val="300"/>
              </a:spcBef>
              <a:buNone/>
            </a:pPr>
            <a:r>
              <a:rPr lang="he-IL" sz="1700" b="1" dirty="0">
                <a:cs typeface="+mn-cs"/>
              </a:rPr>
              <a:t>‫1- רכזת זימונים דוברת ערבית שמטלפנת ואינה שולחת מכתבים,</a:t>
            </a:r>
            <a:r>
              <a:rPr lang="he-IL" sz="1700" dirty="0">
                <a:cs typeface="+mn-cs"/>
              </a:rPr>
              <a:t> תוך מדידת שיעור ההמרה משיחה לתור שנקבע בפועל.‬</a:t>
            </a:r>
          </a:p>
          <a:p>
            <a:pPr marL="0" indent="0" algn="r" rtl="1">
              <a:lnSpc>
                <a:spcPct val="100000"/>
              </a:lnSpc>
              <a:spcBef>
                <a:spcPts val="300"/>
              </a:spcBef>
              <a:buNone/>
            </a:pPr>
            <a:r>
              <a:rPr lang="he-IL" sz="1700" b="1" dirty="0">
                <a:cs typeface="+mn-cs"/>
              </a:rPr>
              <a:t>‫2- התראה לרופא המשפחה בפתיחת ביקור של אישה שאיחרה בבדיקה,</a:t>
            </a:r>
            <a:r>
              <a:rPr lang="he-IL" sz="1700" dirty="0">
                <a:cs typeface="+mn-cs"/>
              </a:rPr>
              <a:t> כך שההמלצה תינתן ביוזמת המטפל ולא ביוזמת האישה.‬</a:t>
            </a:r>
          </a:p>
          <a:p>
            <a:pPr marL="0" indent="0" algn="r" rtl="1">
              <a:lnSpc>
                <a:spcPct val="100000"/>
              </a:lnSpc>
              <a:spcBef>
                <a:spcPts val="300"/>
              </a:spcBef>
              <a:buNone/>
            </a:pPr>
            <a:r>
              <a:rPr lang="he-IL" sz="1700" b="1" dirty="0">
                <a:cs typeface="+mn-cs"/>
              </a:rPr>
              <a:t>‫3- פריסת תורים באחר הצהריים ובימי שישי,</a:t>
            </a:r>
            <a:r>
              <a:rPr lang="he-IL" sz="1700" dirty="0">
                <a:cs typeface="+mn-cs"/>
              </a:rPr>
              <a:t> לצד אישור היעדרות מעבודה לאישה שהגיעה לבדיקה.‬</a:t>
            </a:r>
          </a:p>
          <a:p>
            <a:pPr marL="0" indent="0" algn="r" rtl="1">
              <a:lnSpc>
                <a:spcPct val="100000"/>
              </a:lnSpc>
              <a:spcBef>
                <a:spcPts val="500"/>
              </a:spcBef>
              <a:buNone/>
            </a:pPr>
            <a:r>
              <a:rPr lang="he-IL" sz="1800" b="1" dirty="0">
                <a:solidFill>
                  <a:srgbClr val="1F3864"/>
                </a:solidFill>
                <a:cs typeface="+mn-cs"/>
              </a:rPr>
              <a:t>‫ברמת הקופה ומשרד הבריאות‬</a:t>
            </a:r>
          </a:p>
          <a:p>
            <a:pPr marL="0" indent="0" algn="r" rtl="1">
              <a:lnSpc>
                <a:spcPct val="100000"/>
              </a:lnSpc>
              <a:spcBef>
                <a:spcPts val="300"/>
              </a:spcBef>
              <a:buNone/>
            </a:pPr>
            <a:r>
              <a:rPr lang="he-IL" sz="1700" b="1" dirty="0">
                <a:cs typeface="+mn-cs"/>
              </a:rPr>
              <a:t>‫4- ניידת ממוגרפיה בלוח שנתי קבוע ובמיקום דיסקרטי,</a:t>
            </a:r>
            <a:r>
              <a:rPr lang="he-IL" sz="1700" dirty="0">
                <a:cs typeface="+mn-cs"/>
              </a:rPr>
              <a:t> ולא כאירוע חד-פעמי בחזית המרפאה.‬</a:t>
            </a:r>
          </a:p>
          <a:p>
            <a:pPr marL="0" indent="0" algn="r" rtl="1">
              <a:lnSpc>
                <a:spcPct val="100000"/>
              </a:lnSpc>
              <a:spcBef>
                <a:spcPts val="300"/>
              </a:spcBef>
              <a:buNone/>
            </a:pPr>
            <a:r>
              <a:rPr lang="he-IL" sz="1700" b="1" dirty="0">
                <a:cs typeface="+mn-cs"/>
              </a:rPr>
              <a:t>‫5- מפגשים ביתיים בהנחיית נשים מקומיות שנבדקו,</a:t>
            </a:r>
            <a:r>
              <a:rPr lang="he-IL" sz="1700" dirty="0">
                <a:cs typeface="+mn-cs"/>
              </a:rPr>
              <a:t> במסגרת קטנה ומוכרת במקום הרצאות פומביות.‬</a:t>
            </a:r>
          </a:p>
          <a:p>
            <a:pPr marL="0" indent="0" algn="r" rtl="1">
              <a:lnSpc>
                <a:spcPct val="100000"/>
              </a:lnSpc>
              <a:spcBef>
                <a:spcPts val="300"/>
              </a:spcBef>
              <a:buNone/>
            </a:pPr>
            <a:r>
              <a:rPr lang="he-IL" sz="1700" b="1" dirty="0">
                <a:cs typeface="+mn-cs"/>
              </a:rPr>
              <a:t>‫6- בחינת הרחבת הזימון היזום לגילאי 45 עד 49</a:t>
            </a:r>
            <a:r>
              <a:rPr lang="he-IL" sz="1700" dirty="0">
                <a:cs typeface="+mn-cs"/>
              </a:rPr>
              <a:t> בקהילות שבהן חציון גיל האבחון צעיר, ובראשן החברה הבדואית בנגב.‬</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