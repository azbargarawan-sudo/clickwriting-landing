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p:sldMasterIdLst>
    <p:sldMasterId id="2147483648" r:id="rId1"/>
  </p:sldMasterIdLst>
  <p:sldIdLst>
    <p:sldId id="256" r:id="rId2"/>
    <p:sldId id="257" r:id="rId3"/>
    <p:sldId id="258" r:id="rId4"/>
    <p:sldId id="259" r:id="rId5"/>
    <p:sldId id="260" r:id="rId6"/>
    <p:sldId id="261" r:id="rId7"/>
    <p:sldId id="262" r:id="rId8"/>
    <p:sldId id="270" r:id="rId9"/>
    <p:sldId id="263" r:id="rId10"/>
    <p:sldId id="264" r:id="rId11"/>
    <p:sldId id="268" r:id="rId12"/>
    <p:sldId id="269" r:id="rId13"/>
    <p:sldId id="265" r:id="rId14"/>
    <p:sldId id="271" r:id="rId15"/>
    <p:sldId id="267" r:id="rId16"/>
    <p:sldId id="266" r:id="rId17"/>
  </p:sldIdLst>
  <p:sldSz cx="12192000" cy="6858000"/>
  <p:notesSz cx="6858000" cy="9144000"/>
  <p:defaultText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85005" autoAdjust="0"/>
    <p:restoredTop sz="94660"/>
  </p:normalViewPr>
  <p:slideViewPr>
    <p:cSldViewPr snapToGrid="0">
      <p:cViewPr varScale="1">
        <p:scale>
          <a:sx n="86" d="100"/>
          <a:sy n="86" d="100"/>
        </p:scale>
        <p:origin x="562"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פתיחה קצרה: נושא הפרויקט, שמות המגישות והמנחה. כחצי דקה.</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להדגיש שהבדיקה חינמית לשתי הקבוצות, ולכן הפער אינו כלכלי. המספרים הם הבסיס לכל העבודה.</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לקרוא את שאלת המחקר בקול. להסביר שבמחקר איכותני אין השערות.</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לא למנות את כל החסמים. להתעכב על המשפט המודגש בסוף, שהפערים מצטמצמים אחרי תקנון.</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המשפט החשוב הוא הפער בין ידע להתנהגות. הוא מוביל ישירות לשאלת המחקר שלנו.</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להסביר במשפט אחד למה המודלים הקלאסיים אינם מספיקים כאן ולמה בחרנו בגישה הסוציו-אקולוגית.</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להסביר למה איכותני ולא שאלון. להדגיש את השונוּת המכוונת במדגם.</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לא להקריא את הטבלה. להצביע על שלוש שורות: מי שנבדקת בקביעות, מי שמעולם לא נבדקה, ומי שחלתה.</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להזכיר את הפיילוט ואת הסוגיה האתית. זה מראה התמודדות עם דילמה אמיתית ולא מילוי טופס.</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מפת הדרכים לשני השקפים הבאים. לומר את השורה התחתונה: ההיענות היא מאזן כוחות ולא רמת ידע.</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להקריא את הציטוטים במלואם. הם הראיה, לא הקישוט.</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זו התמה שהפתיעה אותנו. להסביר למה חסם כזה לא נראה בשאלונים.</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שלוש השאלות באמצע הפסקה הן הלב של הסיכום.</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להציג את הממצא הדתי כהפתעה ולא כמסקנה חותכת, עם הסתייגות על גודל המדגם.</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השקף החשוב ביותר להערכה, כי החוברת מבקשת יישומיות. לחבר כל המלצה לתמה שממנה נולדה.</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לא להתנצל. להציג את המגבלות כמודעות מתודולוגית ולעבור לכיווני ההמשך.</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שקופית כותרת">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7F64D3D1-85DB-67CA-C56E-D4D6079FA209}"/>
              </a:ext>
            </a:extLst>
          </p:cNvPr>
          <p:cNvSpPr>
            <a:spLocks noGrp="1"/>
          </p:cNvSpPr>
          <p:nvPr>
            <p:ph type="ctrTitle"/>
          </p:nvPr>
        </p:nvSpPr>
        <p:spPr>
          <a:xfrm>
            <a:off x="1524000" y="1122363"/>
            <a:ext cx="9144000" cy="2387600"/>
          </a:xfrm>
        </p:spPr>
        <p:txBody>
          <a:bodyPr anchor="b"/>
          <a:lstStyle>
            <a:lvl1pPr algn="ctr">
              <a:defRPr sz="6000"/>
            </a:lvl1pPr>
          </a:lstStyle>
          <a:p>
            <a:r>
              <a:rPr lang="he-IL"/>
              <a:t>לחץ כדי לערוך סגנון כותרת של תבנית בסיס</a:t>
            </a:r>
          </a:p>
        </p:txBody>
      </p:sp>
      <p:sp>
        <p:nvSpPr>
          <p:cNvPr id="3" name="כותרת משנה 2">
            <a:extLst>
              <a:ext uri="{FF2B5EF4-FFF2-40B4-BE49-F238E27FC236}">
                <a16:creationId xmlns:a16="http://schemas.microsoft.com/office/drawing/2014/main" id="{4A96A7EF-4E7A-3FD7-FCB8-64F6E8286A3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he-IL"/>
              <a:t>לחץ כדי לערוך סגנון כותרת משנה של תבנית בסיס</a:t>
            </a:r>
          </a:p>
        </p:txBody>
      </p:sp>
      <p:sp>
        <p:nvSpPr>
          <p:cNvPr id="4" name="מציין מיקום של תאריך 3">
            <a:extLst>
              <a:ext uri="{FF2B5EF4-FFF2-40B4-BE49-F238E27FC236}">
                <a16:creationId xmlns:a16="http://schemas.microsoft.com/office/drawing/2014/main" id="{D0549773-F747-FC7B-50C3-1C8730B28062}"/>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5556B087-C108-8276-AA6C-395CD0E8916E}"/>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13ED484D-BEAD-61B1-C38A-611CCBFB2929}"/>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39696723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כותרת ותוכן">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9E291D85-5C2F-D2D4-6886-D3C992700635}"/>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0644C66C-3AA9-6C10-96CB-6684AD64EF90}"/>
              </a:ext>
            </a:extLst>
          </p:cNvPr>
          <p:cNvSpPr>
            <a:spLocks noGrp="1"/>
          </p:cNvSpPr>
          <p:nvPr>
            <p:ph idx="1"/>
          </p:nvPr>
        </p:nvSpPr>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BCD4FE44-D35A-56CF-3E95-2936FADA5ECF}"/>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0C642EEF-34A1-AB2F-C99C-3ACC6A484DF6}"/>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F406BA48-0C04-602D-9E93-FD3C2AF89501}"/>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40186319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כותרת מקטע עליונה">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58F677D5-B755-03FA-3E95-5AED78671408}"/>
              </a:ext>
            </a:extLst>
          </p:cNvPr>
          <p:cNvSpPr>
            <a:spLocks noGrp="1"/>
          </p:cNvSpPr>
          <p:nvPr>
            <p:ph type="title"/>
          </p:nvPr>
        </p:nvSpPr>
        <p:spPr>
          <a:xfrm>
            <a:off x="831850" y="1709738"/>
            <a:ext cx="10515600" cy="2852737"/>
          </a:xfrm>
        </p:spPr>
        <p:txBody>
          <a:bodyPr anchor="b"/>
          <a:lstStyle>
            <a:lvl1pPr>
              <a:defRPr sz="6000"/>
            </a:lvl1p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96E1CEE9-E6FC-5B5E-03CD-4870165C476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he-IL"/>
              <a:t>לחץ כדי לערוך סגנונות טקסט של תבנית בסיס</a:t>
            </a:r>
          </a:p>
        </p:txBody>
      </p:sp>
      <p:sp>
        <p:nvSpPr>
          <p:cNvPr id="4" name="מציין מיקום של תאריך 3">
            <a:extLst>
              <a:ext uri="{FF2B5EF4-FFF2-40B4-BE49-F238E27FC236}">
                <a16:creationId xmlns:a16="http://schemas.microsoft.com/office/drawing/2014/main" id="{73562189-2841-B5D2-73A2-27C06506B06F}"/>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7440FAF0-70EB-D2F5-4F43-A54397B38845}"/>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6D184798-8B28-7E7C-747C-A24C2F00EBB8}"/>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35580304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שני תכנים">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AA21937F-F7A2-9171-D453-C47DDEE58177}"/>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39854582-A50D-FCB2-D2F0-A9C7A944BEFC}"/>
              </a:ext>
            </a:extLst>
          </p:cNvPr>
          <p:cNvSpPr>
            <a:spLocks noGrp="1"/>
          </p:cNvSpPr>
          <p:nvPr>
            <p:ph sz="half" idx="1"/>
          </p:nvPr>
        </p:nvSpPr>
        <p:spPr>
          <a:xfrm>
            <a:off x="838200" y="1825625"/>
            <a:ext cx="5181600" cy="435133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תוכן 3">
            <a:extLst>
              <a:ext uri="{FF2B5EF4-FFF2-40B4-BE49-F238E27FC236}">
                <a16:creationId xmlns:a16="http://schemas.microsoft.com/office/drawing/2014/main" id="{530DD299-B03E-010B-E1A6-0F8CEFACD904}"/>
              </a:ext>
            </a:extLst>
          </p:cNvPr>
          <p:cNvSpPr>
            <a:spLocks noGrp="1"/>
          </p:cNvSpPr>
          <p:nvPr>
            <p:ph sz="half" idx="2"/>
          </p:nvPr>
        </p:nvSpPr>
        <p:spPr>
          <a:xfrm>
            <a:off x="6172200" y="1825625"/>
            <a:ext cx="5181600" cy="435133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5" name="מציין מיקום של תאריך 4">
            <a:extLst>
              <a:ext uri="{FF2B5EF4-FFF2-40B4-BE49-F238E27FC236}">
                <a16:creationId xmlns:a16="http://schemas.microsoft.com/office/drawing/2014/main" id="{3926AAFB-DCDA-3DB2-840C-ABCDFFD52121}"/>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6" name="מציין מיקום של כותרת תחתונה 5">
            <a:extLst>
              <a:ext uri="{FF2B5EF4-FFF2-40B4-BE49-F238E27FC236}">
                <a16:creationId xmlns:a16="http://schemas.microsoft.com/office/drawing/2014/main" id="{C104DBC0-9E8E-BCB9-2948-98410036B2B0}"/>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E0C21791-6A35-DEEA-0CE0-712E27933D58}"/>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6733176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השוואה">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47FBE860-019A-70B5-1930-33B2E42F0C63}"/>
              </a:ext>
            </a:extLst>
          </p:cNvPr>
          <p:cNvSpPr>
            <a:spLocks noGrp="1"/>
          </p:cNvSpPr>
          <p:nvPr>
            <p:ph type="title"/>
          </p:nvPr>
        </p:nvSpPr>
        <p:spPr>
          <a:xfrm>
            <a:off x="839788" y="365125"/>
            <a:ext cx="10515600" cy="1325563"/>
          </a:xfrm>
        </p:spPr>
        <p:txBody>
          <a:body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2D22D656-E305-E85B-4705-6D02E57C59C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a:t>לחץ כדי לערוך סגנונות טקסט של תבנית בסיס</a:t>
            </a:r>
          </a:p>
        </p:txBody>
      </p:sp>
      <p:sp>
        <p:nvSpPr>
          <p:cNvPr id="4" name="מציין מיקום תוכן 3">
            <a:extLst>
              <a:ext uri="{FF2B5EF4-FFF2-40B4-BE49-F238E27FC236}">
                <a16:creationId xmlns:a16="http://schemas.microsoft.com/office/drawing/2014/main" id="{EDD7051E-7031-8900-145B-260B08829FC3}"/>
              </a:ext>
            </a:extLst>
          </p:cNvPr>
          <p:cNvSpPr>
            <a:spLocks noGrp="1"/>
          </p:cNvSpPr>
          <p:nvPr>
            <p:ph sz="half" idx="2"/>
          </p:nvPr>
        </p:nvSpPr>
        <p:spPr>
          <a:xfrm>
            <a:off x="839788" y="2505075"/>
            <a:ext cx="5157787" cy="368458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5" name="מציין מיקום טקסט 4">
            <a:extLst>
              <a:ext uri="{FF2B5EF4-FFF2-40B4-BE49-F238E27FC236}">
                <a16:creationId xmlns:a16="http://schemas.microsoft.com/office/drawing/2014/main" id="{572CD91E-EC05-66C1-1E96-F56F2DB927B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a:t>לחץ כדי לערוך סגנונות טקסט של תבנית בסיס</a:t>
            </a:r>
          </a:p>
        </p:txBody>
      </p:sp>
      <p:sp>
        <p:nvSpPr>
          <p:cNvPr id="6" name="מציין מיקום תוכן 5">
            <a:extLst>
              <a:ext uri="{FF2B5EF4-FFF2-40B4-BE49-F238E27FC236}">
                <a16:creationId xmlns:a16="http://schemas.microsoft.com/office/drawing/2014/main" id="{0A4DE0A5-C17A-764E-E2CF-4469BE552399}"/>
              </a:ext>
            </a:extLst>
          </p:cNvPr>
          <p:cNvSpPr>
            <a:spLocks noGrp="1"/>
          </p:cNvSpPr>
          <p:nvPr>
            <p:ph sz="quarter" idx="4"/>
          </p:nvPr>
        </p:nvSpPr>
        <p:spPr>
          <a:xfrm>
            <a:off x="6172200" y="2505075"/>
            <a:ext cx="5183188" cy="368458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7" name="מציין מיקום של תאריך 6">
            <a:extLst>
              <a:ext uri="{FF2B5EF4-FFF2-40B4-BE49-F238E27FC236}">
                <a16:creationId xmlns:a16="http://schemas.microsoft.com/office/drawing/2014/main" id="{5F325FCF-E2FA-F0D4-1536-BCDF34F48322}"/>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8" name="מציין מיקום של כותרת תחתונה 7">
            <a:extLst>
              <a:ext uri="{FF2B5EF4-FFF2-40B4-BE49-F238E27FC236}">
                <a16:creationId xmlns:a16="http://schemas.microsoft.com/office/drawing/2014/main" id="{0F4F6187-63B8-725A-D533-BCF9A48803EF}"/>
              </a:ext>
            </a:extLst>
          </p:cNvPr>
          <p:cNvSpPr>
            <a:spLocks noGrp="1"/>
          </p:cNvSpPr>
          <p:nvPr>
            <p:ph type="ftr" sz="quarter" idx="11"/>
          </p:nvPr>
        </p:nvSpPr>
        <p:spPr/>
        <p:txBody>
          <a:bodyPr/>
          <a:lstStyle/>
          <a:p>
            <a:endParaRPr lang="he-IL"/>
          </a:p>
        </p:txBody>
      </p:sp>
      <p:sp>
        <p:nvSpPr>
          <p:cNvPr id="9" name="מציין מיקום של מספר שקופית 8">
            <a:extLst>
              <a:ext uri="{FF2B5EF4-FFF2-40B4-BE49-F238E27FC236}">
                <a16:creationId xmlns:a16="http://schemas.microsoft.com/office/drawing/2014/main" id="{E751561D-117E-EEDD-07B9-2C8570DA961F}"/>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25542673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כותרת בלבד">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F78326FE-05E9-5068-5A81-20CB6C36972B}"/>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של תאריך 2">
            <a:extLst>
              <a:ext uri="{FF2B5EF4-FFF2-40B4-BE49-F238E27FC236}">
                <a16:creationId xmlns:a16="http://schemas.microsoft.com/office/drawing/2014/main" id="{74E1F41B-605A-5B7D-55A8-B6C78A88313C}"/>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4" name="מציין מיקום של כותרת תחתונה 3">
            <a:extLst>
              <a:ext uri="{FF2B5EF4-FFF2-40B4-BE49-F238E27FC236}">
                <a16:creationId xmlns:a16="http://schemas.microsoft.com/office/drawing/2014/main" id="{D72E6E8F-1CC7-792A-14D4-A464C258AEE5}"/>
              </a:ext>
            </a:extLst>
          </p:cNvPr>
          <p:cNvSpPr>
            <a:spLocks noGrp="1"/>
          </p:cNvSpPr>
          <p:nvPr>
            <p:ph type="ftr" sz="quarter" idx="11"/>
          </p:nvPr>
        </p:nvSpPr>
        <p:spPr/>
        <p:txBody>
          <a:bodyPr/>
          <a:lstStyle/>
          <a:p>
            <a:endParaRPr lang="he-IL"/>
          </a:p>
        </p:txBody>
      </p:sp>
      <p:sp>
        <p:nvSpPr>
          <p:cNvPr id="5" name="מציין מיקום של מספר שקופית 4">
            <a:extLst>
              <a:ext uri="{FF2B5EF4-FFF2-40B4-BE49-F238E27FC236}">
                <a16:creationId xmlns:a16="http://schemas.microsoft.com/office/drawing/2014/main" id="{47000BA1-9AF7-ADF2-E18C-F3EFF941F346}"/>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96815676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ריק">
    <p:spTree>
      <p:nvGrpSpPr>
        <p:cNvPr id="1" name=""/>
        <p:cNvGrpSpPr/>
        <p:nvPr/>
      </p:nvGrpSpPr>
      <p:grpSpPr>
        <a:xfrm>
          <a:off x="0" y="0"/>
          <a:ext cx="0" cy="0"/>
          <a:chOff x="0" y="0"/>
          <a:chExt cx="0" cy="0"/>
        </a:xfrm>
      </p:grpSpPr>
      <p:sp>
        <p:nvSpPr>
          <p:cNvPr id="2" name="מציין מיקום של תאריך 1">
            <a:extLst>
              <a:ext uri="{FF2B5EF4-FFF2-40B4-BE49-F238E27FC236}">
                <a16:creationId xmlns:a16="http://schemas.microsoft.com/office/drawing/2014/main" id="{D2C5C053-7874-FD5A-63B8-F7139C95EE44}"/>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3" name="מציין מיקום של כותרת תחתונה 2">
            <a:extLst>
              <a:ext uri="{FF2B5EF4-FFF2-40B4-BE49-F238E27FC236}">
                <a16:creationId xmlns:a16="http://schemas.microsoft.com/office/drawing/2014/main" id="{668426DB-0531-2FA3-79E2-432A7DDF1B1C}"/>
              </a:ext>
            </a:extLst>
          </p:cNvPr>
          <p:cNvSpPr>
            <a:spLocks noGrp="1"/>
          </p:cNvSpPr>
          <p:nvPr>
            <p:ph type="ftr" sz="quarter" idx="11"/>
          </p:nvPr>
        </p:nvSpPr>
        <p:spPr/>
        <p:txBody>
          <a:bodyPr/>
          <a:lstStyle/>
          <a:p>
            <a:endParaRPr lang="he-IL"/>
          </a:p>
        </p:txBody>
      </p:sp>
      <p:sp>
        <p:nvSpPr>
          <p:cNvPr id="4" name="מציין מיקום של מספר שקופית 3">
            <a:extLst>
              <a:ext uri="{FF2B5EF4-FFF2-40B4-BE49-F238E27FC236}">
                <a16:creationId xmlns:a16="http://schemas.microsoft.com/office/drawing/2014/main" id="{A0226EF6-F757-18B8-F53F-D9D55EFC9D15}"/>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11776999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תוכן עם כיתוב">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A89BB4A5-F089-B470-EFD2-6377416B6466}"/>
              </a:ext>
            </a:extLst>
          </p:cNvPr>
          <p:cNvSpPr>
            <a:spLocks noGrp="1"/>
          </p:cNvSpPr>
          <p:nvPr>
            <p:ph type="title"/>
          </p:nvPr>
        </p:nvSpPr>
        <p:spPr>
          <a:xfrm>
            <a:off x="839788" y="457200"/>
            <a:ext cx="3932237" cy="1600200"/>
          </a:xfrm>
        </p:spPr>
        <p:txBody>
          <a:bodyPr anchor="b"/>
          <a:lstStyle>
            <a:lvl1pPr>
              <a:defRPr sz="3200"/>
            </a:lvl1p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7F81D753-6A92-95C3-51B9-DC5A68895E2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טקסט 3">
            <a:extLst>
              <a:ext uri="{FF2B5EF4-FFF2-40B4-BE49-F238E27FC236}">
                <a16:creationId xmlns:a16="http://schemas.microsoft.com/office/drawing/2014/main" id="{2E6DD92E-446F-EF2E-04A4-D02E9E302B1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e-IL"/>
              <a:t>לחץ כדי לערוך סגנונות טקסט של תבנית בסיס</a:t>
            </a:r>
          </a:p>
        </p:txBody>
      </p:sp>
      <p:sp>
        <p:nvSpPr>
          <p:cNvPr id="5" name="מציין מיקום של תאריך 4">
            <a:extLst>
              <a:ext uri="{FF2B5EF4-FFF2-40B4-BE49-F238E27FC236}">
                <a16:creationId xmlns:a16="http://schemas.microsoft.com/office/drawing/2014/main" id="{2FB84136-91D1-B7D5-9374-2B9DD7932371}"/>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6" name="מציין מיקום של כותרת תחתונה 5">
            <a:extLst>
              <a:ext uri="{FF2B5EF4-FFF2-40B4-BE49-F238E27FC236}">
                <a16:creationId xmlns:a16="http://schemas.microsoft.com/office/drawing/2014/main" id="{5446BBFA-55DB-51A6-DE6A-9B4A0B76197E}"/>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A6A66B3C-56CC-9EBC-4E10-BBC482036F72}"/>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20182390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תמונה עם כיתוב">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31A16DC4-0347-6D29-9E80-57E0DB68092B}"/>
              </a:ext>
            </a:extLst>
          </p:cNvPr>
          <p:cNvSpPr>
            <a:spLocks noGrp="1"/>
          </p:cNvSpPr>
          <p:nvPr>
            <p:ph type="title"/>
          </p:nvPr>
        </p:nvSpPr>
        <p:spPr>
          <a:xfrm>
            <a:off x="839788" y="457200"/>
            <a:ext cx="3932237" cy="1600200"/>
          </a:xfrm>
        </p:spPr>
        <p:txBody>
          <a:bodyPr anchor="b"/>
          <a:lstStyle>
            <a:lvl1pPr>
              <a:defRPr sz="3200"/>
            </a:lvl1pPr>
          </a:lstStyle>
          <a:p>
            <a:r>
              <a:rPr lang="he-IL"/>
              <a:t>לחץ כדי לערוך סגנון כותרת של תבנית בסיס</a:t>
            </a:r>
          </a:p>
        </p:txBody>
      </p:sp>
      <p:sp>
        <p:nvSpPr>
          <p:cNvPr id="3" name="מציין מיקום של תמונה 2">
            <a:extLst>
              <a:ext uri="{FF2B5EF4-FFF2-40B4-BE49-F238E27FC236}">
                <a16:creationId xmlns:a16="http://schemas.microsoft.com/office/drawing/2014/main" id="{7318CD40-2BC8-8900-9F11-A36D1794157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e-IL"/>
          </a:p>
        </p:txBody>
      </p:sp>
      <p:sp>
        <p:nvSpPr>
          <p:cNvPr id="4" name="מציין מיקום טקסט 3">
            <a:extLst>
              <a:ext uri="{FF2B5EF4-FFF2-40B4-BE49-F238E27FC236}">
                <a16:creationId xmlns:a16="http://schemas.microsoft.com/office/drawing/2014/main" id="{1E69B543-6619-DFEC-D0D0-369B73E5FC2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e-IL"/>
              <a:t>לחץ כדי לערוך סגנונות טקסט של תבנית בסיס</a:t>
            </a:r>
          </a:p>
        </p:txBody>
      </p:sp>
      <p:sp>
        <p:nvSpPr>
          <p:cNvPr id="5" name="מציין מיקום של תאריך 4">
            <a:extLst>
              <a:ext uri="{FF2B5EF4-FFF2-40B4-BE49-F238E27FC236}">
                <a16:creationId xmlns:a16="http://schemas.microsoft.com/office/drawing/2014/main" id="{2E21894C-4D40-56C1-C8A0-B488625B5AC3}"/>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6" name="מציין מיקום של כותרת תחתונה 5">
            <a:extLst>
              <a:ext uri="{FF2B5EF4-FFF2-40B4-BE49-F238E27FC236}">
                <a16:creationId xmlns:a16="http://schemas.microsoft.com/office/drawing/2014/main" id="{D6124730-4ABF-A32A-613F-A5B092471F74}"/>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75514D66-8CFF-BB87-394E-3981E397654F}"/>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17252681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כותרת וטקסט אנכי">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93ECE0F6-AC8C-98A8-95F4-62CB8580554A}"/>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של טקסט אנכי 2">
            <a:extLst>
              <a:ext uri="{FF2B5EF4-FFF2-40B4-BE49-F238E27FC236}">
                <a16:creationId xmlns:a16="http://schemas.microsoft.com/office/drawing/2014/main" id="{81F19B80-19D4-050D-1734-B800618F2756}"/>
              </a:ext>
            </a:extLst>
          </p:cNvPr>
          <p:cNvSpPr>
            <a:spLocks noGrp="1"/>
          </p:cNvSpPr>
          <p:nvPr>
            <p:ph type="body" orient="vert" idx="1"/>
          </p:nvPr>
        </p:nvSpPr>
        <p:spPr/>
        <p:txBody>
          <a:bodyPr vert="eaVert"/>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A4D53C86-0659-5197-AC5F-D9E22D408DF2}"/>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98974029-2D33-C8FB-70E1-7709768E3D34}"/>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58A5DADD-4065-9E8C-6BB4-620054B02BB9}"/>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13636498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כותרת אנכית וטקסט">
    <p:spTree>
      <p:nvGrpSpPr>
        <p:cNvPr id="1" name=""/>
        <p:cNvGrpSpPr/>
        <p:nvPr/>
      </p:nvGrpSpPr>
      <p:grpSpPr>
        <a:xfrm>
          <a:off x="0" y="0"/>
          <a:ext cx="0" cy="0"/>
          <a:chOff x="0" y="0"/>
          <a:chExt cx="0" cy="0"/>
        </a:xfrm>
      </p:grpSpPr>
      <p:sp>
        <p:nvSpPr>
          <p:cNvPr id="2" name="כותרת אנכית 1">
            <a:extLst>
              <a:ext uri="{FF2B5EF4-FFF2-40B4-BE49-F238E27FC236}">
                <a16:creationId xmlns:a16="http://schemas.microsoft.com/office/drawing/2014/main" id="{CA9F6406-B870-257E-A703-15066BFD2CFC}"/>
              </a:ext>
            </a:extLst>
          </p:cNvPr>
          <p:cNvSpPr>
            <a:spLocks noGrp="1"/>
          </p:cNvSpPr>
          <p:nvPr>
            <p:ph type="title" orient="vert"/>
          </p:nvPr>
        </p:nvSpPr>
        <p:spPr>
          <a:xfrm>
            <a:off x="8724900" y="365125"/>
            <a:ext cx="2628900" cy="5811838"/>
          </a:xfrm>
        </p:spPr>
        <p:txBody>
          <a:bodyPr vert="eaVert"/>
          <a:lstStyle/>
          <a:p>
            <a:r>
              <a:rPr lang="he-IL"/>
              <a:t>לחץ כדי לערוך סגנון כותרת של תבנית בסיס</a:t>
            </a:r>
          </a:p>
        </p:txBody>
      </p:sp>
      <p:sp>
        <p:nvSpPr>
          <p:cNvPr id="3" name="מציין מיקום של טקסט אנכי 2">
            <a:extLst>
              <a:ext uri="{FF2B5EF4-FFF2-40B4-BE49-F238E27FC236}">
                <a16:creationId xmlns:a16="http://schemas.microsoft.com/office/drawing/2014/main" id="{F2464919-2EBC-72FC-B0F3-6638E89648DB}"/>
              </a:ext>
            </a:extLst>
          </p:cNvPr>
          <p:cNvSpPr>
            <a:spLocks noGrp="1"/>
          </p:cNvSpPr>
          <p:nvPr>
            <p:ph type="body" orient="vert" idx="1"/>
          </p:nvPr>
        </p:nvSpPr>
        <p:spPr>
          <a:xfrm>
            <a:off x="838200" y="365125"/>
            <a:ext cx="7734300" cy="5811838"/>
          </a:xfrm>
        </p:spPr>
        <p:txBody>
          <a:bodyPr vert="eaVert"/>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48C79414-D177-C8E2-01B3-932A21FDC311}"/>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0C73920E-317F-C0B5-32B0-979B9CF27F65}"/>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A5D4778C-6A50-4B40-893A-2ADAE006BA6C}"/>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29793312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מציין מיקום של כותרת 1">
            <a:extLst>
              <a:ext uri="{FF2B5EF4-FFF2-40B4-BE49-F238E27FC236}">
                <a16:creationId xmlns:a16="http://schemas.microsoft.com/office/drawing/2014/main" id="{F22D2C69-01A8-D4ED-B88F-00771B34317F}"/>
              </a:ext>
            </a:extLst>
          </p:cNvPr>
          <p:cNvSpPr>
            <a:spLocks noGrp="1"/>
          </p:cNvSpPr>
          <p:nvPr>
            <p:ph type="title"/>
          </p:nvPr>
        </p:nvSpPr>
        <p:spPr>
          <a:xfrm>
            <a:off x="838200" y="365125"/>
            <a:ext cx="10515600" cy="1325563"/>
          </a:xfrm>
          <a:prstGeom prst="rect">
            <a:avLst/>
          </a:prstGeom>
        </p:spPr>
        <p:txBody>
          <a:bodyPr vert="horz" lIns="91440" tIns="45720" rIns="91440" bIns="45720" rtlCol="1" anchor="ctr">
            <a:normAutofit/>
          </a:body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B491B276-A98B-E562-185C-EA395B4FAA4E}"/>
              </a:ext>
            </a:extLst>
          </p:cNvPr>
          <p:cNvSpPr>
            <a:spLocks noGrp="1"/>
          </p:cNvSpPr>
          <p:nvPr>
            <p:ph type="body" idx="1"/>
          </p:nvPr>
        </p:nvSpPr>
        <p:spPr>
          <a:xfrm>
            <a:off x="838200" y="1825625"/>
            <a:ext cx="10515600" cy="4351338"/>
          </a:xfrm>
          <a:prstGeom prst="rect">
            <a:avLst/>
          </a:prstGeom>
        </p:spPr>
        <p:txBody>
          <a:bodyPr vert="horz" lIns="91440" tIns="45720" rIns="91440" bIns="45720" rtlCol="1">
            <a:normAutofit/>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AE3B22C9-6905-61CE-0E15-3731F4B717B8}"/>
              </a:ext>
            </a:extLst>
          </p:cNvPr>
          <p:cNvSpPr>
            <a:spLocks noGrp="1"/>
          </p:cNvSpPr>
          <p:nvPr>
            <p:ph type="dt" sz="half" idx="2"/>
          </p:nvPr>
        </p:nvSpPr>
        <p:spPr>
          <a:xfrm>
            <a:off x="8610600" y="6356350"/>
            <a:ext cx="2743200" cy="365125"/>
          </a:xfrm>
          <a:prstGeom prst="rect">
            <a:avLst/>
          </a:prstGeom>
        </p:spPr>
        <p:txBody>
          <a:bodyPr vert="horz" lIns="91440" tIns="45720" rIns="91440" bIns="45720" rtlCol="1" anchor="ctr"/>
          <a:lstStyle>
            <a:lvl1pPr algn="r">
              <a:defRPr sz="1200">
                <a:solidFill>
                  <a:schemeClr val="tx1">
                    <a:tint val="75000"/>
                  </a:schemeClr>
                </a:solidFill>
              </a:defRPr>
            </a:lvl1p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52DE4D67-E194-48DA-F34D-2382ED9B2F2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1" anchor="ctr"/>
          <a:lstStyle>
            <a:lvl1pPr algn="ctr">
              <a:defRPr sz="1200">
                <a:solidFill>
                  <a:schemeClr val="tx1">
                    <a:tint val="75000"/>
                  </a:schemeClr>
                </a:solidFill>
              </a:defRPr>
            </a:lvl1pPr>
          </a:lstStyle>
          <a:p>
            <a:endParaRPr lang="he-IL"/>
          </a:p>
        </p:txBody>
      </p:sp>
      <p:sp>
        <p:nvSpPr>
          <p:cNvPr id="6" name="מציין מיקום של מספר שקופית 5">
            <a:extLst>
              <a:ext uri="{FF2B5EF4-FFF2-40B4-BE49-F238E27FC236}">
                <a16:creationId xmlns:a16="http://schemas.microsoft.com/office/drawing/2014/main" id="{4D17051E-9340-3DC6-AE92-E31E8E347527}"/>
              </a:ext>
            </a:extLst>
          </p:cNvPr>
          <p:cNvSpPr>
            <a:spLocks noGrp="1"/>
          </p:cNvSpPr>
          <p:nvPr>
            <p:ph type="sldNum" sz="quarter" idx="4"/>
          </p:nvPr>
        </p:nvSpPr>
        <p:spPr>
          <a:xfrm>
            <a:off x="838200" y="6356350"/>
            <a:ext cx="2743200" cy="365125"/>
          </a:xfrm>
          <a:prstGeom prst="rect">
            <a:avLst/>
          </a:prstGeom>
        </p:spPr>
        <p:txBody>
          <a:bodyPr vert="horz" lIns="91440" tIns="45720" rIns="91440" bIns="45720" rtlCol="1" anchor="ctr"/>
          <a:lstStyle>
            <a:lvl1pPr algn="l">
              <a:defRPr sz="1200">
                <a:solidFill>
                  <a:schemeClr val="tx1">
                    <a:tint val="75000"/>
                  </a:schemeClr>
                </a:solidFill>
              </a:defRPr>
            </a:lvl1pPr>
          </a:lstStyle>
          <a:p>
            <a:fld id="{D3345543-9059-4467-A4F1-9136CE46C063}" type="slidenum">
              <a:rPr lang="he-IL" smtClean="0"/>
              <a:t>‹#›</a:t>
            </a:fld>
            <a:endParaRPr lang="he-IL"/>
          </a:p>
        </p:txBody>
      </p:sp>
    </p:spTree>
    <p:extLst>
      <p:ext uri="{BB962C8B-B14F-4D97-AF65-F5344CB8AC3E}">
        <p14:creationId xmlns:p14="http://schemas.microsoft.com/office/powerpoint/2010/main" val="8989088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r" defTabSz="914400" rtl="1"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image" Target="../media/themes_wide.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D86DAE12-3AD3-D29C-F7F4-5B3D11194157}"/>
              </a:ext>
            </a:extLst>
          </p:cNvPr>
          <p:cNvSpPr>
            <a:spLocks noGrp="1"/>
          </p:cNvSpPr>
          <p:nvPr>
            <p:ph type="ctrTitle"/>
          </p:nvPr>
        </p:nvSpPr>
        <p:spPr/>
        <p:txBody>
          <a:bodyPr/>
          <a:lstStyle/>
          <a:p>
            <a:pPr marL="0" indent="0" algn="ctr" rtl="1">
              <a:lnSpc>
                <a:spcPct val="100000"/>
              </a:lnSpc>
              <a:spcBef>
                <a:spcPts val="0"/>
              </a:spcBef>
              <a:buNone/>
            </a:pPr>
            <a:r>
              <a:rPr lang="he-IL" sz="1800" b="1" dirty="0">
                <a:solidFill>
                  <a:srgbClr val="44546A"/>
                </a:solidFill>
                <a:cs typeface="+mn-cs"/>
              </a:rPr>
              <a:t>פרויקט גמר בנושא:</a:t>
            </a:r>
          </a:p>
          <a:p>
            <a:pPr marL="0" indent="0" algn="ctr" rtl="1">
              <a:lnSpc>
                <a:spcPct val="100000"/>
              </a:lnSpc>
              <a:spcBef>
                <a:spcPts val="400"/>
              </a:spcBef>
              <a:buNone/>
            </a:pPr>
            <a:r>
              <a:rPr lang="he-IL" sz="2800" b="1" dirty="0">
                <a:cs typeface="+mn-cs"/>
              </a:rPr>
              <a:t>היענות לבדיקות ממוגרפיה בחברה הערבית בישראל</a:t>
            </a:r>
          </a:p>
          <a:p>
            <a:pPr marL="0" indent="0" algn="ctr" rtl="1">
              <a:lnSpc>
                <a:spcPct val="100000"/>
              </a:lnSpc>
              <a:spcBef>
                <a:spcPts val="200"/>
              </a:spcBef>
              <a:buNone/>
            </a:pPr>
            <a:r>
              <a:rPr lang="he-IL" sz="2200" dirty="0">
                <a:solidFill>
                  <a:srgbClr val="1F3864"/>
                </a:solidFill>
                <a:cs typeface="+mn-cs"/>
              </a:rPr>
              <a:t>חסמים, מאיצים ודרכים להגברת ההיענות</a:t>
            </a:r>
          </a:p>
          <a:p>
            <a:pPr marL="0" indent="0" algn="ctr" rtl="1">
              <a:lnSpc>
                <a:spcPct val="100000"/>
              </a:lnSpc>
              <a:spcBef>
                <a:spcPts val="400"/>
              </a:spcBef>
              <a:buNone/>
            </a:pPr>
            <a:r>
              <a:rPr lang="he-IL" sz="1500" dirty="0">
                <a:solidFill>
                  <a:srgbClr val="44546A"/>
                </a:solidFill>
                <a:cs typeface="+mn-cs"/>
              </a:rPr>
              <a:t>מחקר איכותני מבוסס שנים עשר ראיונות עומק  |  שנה"ל תשפ"ו</a:t>
            </a:r>
          </a:p>
        </p:txBody>
      </p:sp>
      <p:sp>
        <p:nvSpPr>
          <p:cNvPr id="3" name="כותרת משנה 2">
            <a:extLst>
              <a:ext uri="{FF2B5EF4-FFF2-40B4-BE49-F238E27FC236}">
                <a16:creationId xmlns:a16="http://schemas.microsoft.com/office/drawing/2014/main" id="{508DAE19-C980-FAC7-F3C6-C573BBE676ED}"/>
              </a:ext>
            </a:extLst>
          </p:cNvPr>
          <p:cNvSpPr>
            <a:spLocks noGrp="1"/>
          </p:cNvSpPr>
          <p:nvPr>
            <p:ph type="subTitle" idx="1"/>
          </p:nvPr>
        </p:nvSpPr>
        <p:spPr/>
        <p:txBody>
          <a:bodyPr/>
          <a:lstStyle/>
          <a:p>
            <a:pPr marL="0" indent="0" algn="ctr" rtl="1">
              <a:lnSpc>
                <a:spcPct val="100000"/>
              </a:lnSpc>
              <a:spcBef>
                <a:spcPts val="0"/>
              </a:spcBef>
              <a:buNone/>
            </a:pPr>
            <a:r>
              <a:rPr lang="he-IL" sz="1600" b="1" dirty="0">
                <a:cs typeface="+mn-cs"/>
              </a:rPr>
              <a:t>מגישות:  [שם מלא]  |  [שם מלא]  |  [שם מלא]</a:t>
            </a:r>
          </a:p>
          <a:p>
            <a:pPr marL="0" indent="0" algn="ctr" rtl="1">
              <a:lnSpc>
                <a:spcPct val="100000"/>
              </a:lnSpc>
              <a:spcBef>
                <a:spcPts val="300"/>
              </a:spcBef>
              <a:buNone/>
            </a:pPr>
            <a:r>
              <a:rPr lang="he-IL" sz="1600" dirty="0">
                <a:cs typeface="+mn-cs"/>
              </a:rPr>
              <a:t>בהנחיית: ד"ר שנהב פרץ</a:t>
            </a:r>
          </a:p>
          <a:p>
            <a:pPr marL="0" indent="0" algn="ctr" rtl="1">
              <a:lnSpc>
                <a:spcPct val="100000"/>
              </a:lnSpc>
              <a:spcBef>
                <a:spcPts val="300"/>
              </a:spcBef>
              <a:buNone/>
            </a:pPr>
            <a:r>
              <a:rPr lang="he-IL" sz="1400" dirty="0">
                <a:solidFill>
                  <a:srgbClr val="44546A"/>
                </a:solidFill>
                <a:cs typeface="+mn-cs"/>
              </a:rPr>
              <a:t>המרכז האקדמי פרס  |  החוג למנהל מערכות בריאות</a:t>
            </a:r>
          </a:p>
        </p:txBody>
      </p:sp>
      <p:pic>
        <p:nvPicPr>
          <p:cNvPr id="4" name="Picture 5" descr="תמונה שמכילה טקסט&#10;&#10;התיאור נוצר באופן אוטומטי">
            <a:extLst>
              <a:ext uri="{FF2B5EF4-FFF2-40B4-BE49-F238E27FC236}">
                <a16:creationId xmlns:a16="http://schemas.microsoft.com/office/drawing/2014/main" id="{B841957D-28CC-9381-AEC5-EDEFB097CA4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73817"/>
            <a:ext cx="2118360" cy="1272540"/>
          </a:xfrm>
          <a:prstGeom prst="rect">
            <a:avLst/>
          </a:prstGeom>
        </p:spPr>
      </p:pic>
    </p:spTree>
    <p:extLst>
      <p:ext uri="{BB962C8B-B14F-4D97-AF65-F5344CB8AC3E}">
        <p14:creationId xmlns:p14="http://schemas.microsoft.com/office/powerpoint/2010/main" val="35268760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CB96F34F-7D0E-2B88-A33F-F6FE519B1D07}"/>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רקע והצגת הבעיה</a:t>
            </a:r>
          </a:p>
        </p:txBody>
      </p:sp>
      <p:sp>
        <p:nvSpPr>
          <p:cNvPr id="3" name="מציין מיקום תוכן 2">
            <a:extLst>
              <a:ext uri="{FF2B5EF4-FFF2-40B4-BE49-F238E27FC236}">
                <a16:creationId xmlns:a16="http://schemas.microsoft.com/office/drawing/2014/main" id="{A50D5DFE-1DFA-C4B1-078E-FF5C11B667AA}"/>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סרטן השד הוא הגידול הממאיר השכיח ביותר בקרב נשים בישראל, ובהיעדר אמצעי ודאי למניעה ראשונית נשען המאבק בו על גילוי מוקדם. בדיקת הממוגרפיה ניתנת בישראל ללא תשלום במסגרת סל הבריאות לנשים בגילאי 50 עד 74 אחת לשנתיים, כלומר החסם הכלכלי הוסר זה מכבר. ואף על פי כן, נתוני הסקר החברתי משנת 2017 מלמדים כי בגילאים אלה ביצעו ממוגרפיה </a:t>
            </a:r>
            <a:r>
              <a:rPr lang="he-IL" sz="2200" b="1" dirty="0">
                <a:solidFill>
                  <a:srgbClr val="1F3864"/>
                </a:solidFill>
                <a:cs typeface="+mn-cs"/>
              </a:rPr>
              <a:t>78.2 אחוזים מן הנשים היהודיות לעומת 64.8 אחוזים מן הנשים הערביות</a:t>
            </a:r>
            <a:r>
              <a:rPr lang="he-IL" sz="2200" dirty="0">
                <a:cs typeface="+mn-cs"/>
              </a:rPr>
              <a:t>, ובקרב האחרונות המחלה מאובחנת לעיתים קרובות יותר בשלב מתקדם. הפער חריף במיוחד בנגב, שבו חציון גיל האבחון בקרב נשים בדואיות עומד על כ-48 שנים לעומת כ-62 בקרב נשים יהודיות, כך שחלק ניכר מן התחלואה מתרחש מתחת לגיל שבו תוכנית הסקר מזמנת נשים כלל. </a:t>
            </a:r>
            <a:r>
              <a:rPr lang="he-IL" sz="2200" b="1" dirty="0">
                <a:solidFill>
                  <a:srgbClr val="1F3864"/>
                </a:solidFill>
                <a:cs typeface="+mn-cs"/>
              </a:rPr>
              <a:t>הבעיה הניהולית הנגזרת מכאן אינה בעיה של זמינות השירות אלא של ההגעה אליו</a:t>
            </a:r>
            <a:r>
              <a:rPr lang="he-IL" sz="2200" dirty="0">
                <a:cs typeface="+mn-cs"/>
              </a:rPr>
              <a:t>, ולכן אי אפשר לפתור אותה בהרחבת סל השירותים בלבד.</a:t>
            </a:r>
          </a:p>
        </p:txBody>
      </p:sp>
      <p:pic>
        <p:nvPicPr>
          <p:cNvPr id="4" name="Picture 5" descr="תמונה שמכילה טקסט&#10;&#10;התיאור נוצר באופן אוטומטי">
            <a:extLst>
              <a:ext uri="{FF2B5EF4-FFF2-40B4-BE49-F238E27FC236}">
                <a16:creationId xmlns:a16="http://schemas.microsoft.com/office/drawing/2014/main" id="{321644BB-B241-907F-6C9D-C5D346FFB09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73817"/>
            <a:ext cx="2118360" cy="1272540"/>
          </a:xfrm>
          <a:prstGeom prst="rect">
            <a:avLst/>
          </a:prstGeom>
        </p:spPr>
      </p:pic>
    </p:spTree>
    <p:extLst>
      <p:ext uri="{BB962C8B-B14F-4D97-AF65-F5344CB8AC3E}">
        <p14:creationId xmlns:p14="http://schemas.microsoft.com/office/powerpoint/2010/main" val="22281488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ACF776-28D2-0199-8BB3-A8FD3930D024}"/>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7ACE71FB-8840-5B55-2DEB-E07B8FAE6FD4}"/>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שאלת המחקר ומטרות המחקר</a:t>
            </a:r>
          </a:p>
        </p:txBody>
      </p:sp>
      <p:sp>
        <p:nvSpPr>
          <p:cNvPr id="3" name="מציין מיקום תוכן 2">
            <a:extLst>
              <a:ext uri="{FF2B5EF4-FFF2-40B4-BE49-F238E27FC236}">
                <a16:creationId xmlns:a16="http://schemas.microsoft.com/office/drawing/2014/main" id="{1B085C4A-2426-BD2D-76D5-0CA4C536E147}"/>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שאלת המחקר שהנחתה את הפרויקט היא </a:t>
            </a:r>
            <a:r>
              <a:rPr lang="he-IL" sz="2200" b="1" dirty="0">
                <a:solidFill>
                  <a:srgbClr val="1F3864"/>
                </a:solidFill>
                <a:cs typeface="+mn-cs"/>
              </a:rPr>
              <a:t>אילו גורמים מעכבים ומקדמים את היענותן של נשים בחברה הערבית בישראל לבדיקות ממוגרפיה, וכיצד ניתן להגביר אותה</a:t>
            </a:r>
            <a:r>
              <a:rPr lang="he-IL" sz="2200" dirty="0">
                <a:cs typeface="+mn-cs"/>
              </a:rPr>
              <a:t>. השאלה נוסחה כשאלה פתוחה ולא כהשערה, משום שהמחקר איכותני ומטרתו לתאר מנגנון ולא לאמוד את שכיחותו. ממנה נגזרות שלוש מטרות. הראשונה היא לזהות את החסמים ואת המאיצים כפי שהנשים עצמן מנסחות אותם, ולא כפי שהם מסווגים בספרות. השנייה היא לבחון כיצד הגורמים פועלים זה על זה, מתוך ההנחה שאישה אינה חווה רשימה של חסמים נפרדים אלא מכשול אחד מורכב. השלישית היא לגזור מן הממצאים המלצות יישומיות לקופות החולים ולמשרד הבריאות, שכן פרויקט הגמר הוא מסמך ניהולי ולא מחקרי בלבד. הבחירה לראיין נשים ולא רק אנשי מקצוע נובעת מן העמדה ש</a:t>
            </a:r>
            <a:r>
              <a:rPr lang="he-IL" sz="2200" b="1" dirty="0">
                <a:solidFill>
                  <a:srgbClr val="1F3864"/>
                </a:solidFill>
                <a:cs typeface="+mn-cs"/>
              </a:rPr>
              <a:t>ההחלטה שלא ללכת לבדיקה היא החלטה בעלת היגיון פנימי</a:t>
            </a:r>
            <a:r>
              <a:rPr lang="he-IL" sz="2200" dirty="0">
                <a:cs typeface="+mn-cs"/>
              </a:rPr>
              <a:t>, גם כשהיא נראית מבחוץ כהזנחה.</a:t>
            </a:r>
          </a:p>
        </p:txBody>
      </p:sp>
      <p:pic>
        <p:nvPicPr>
          <p:cNvPr id="4" name="Picture 5" descr="תמונה שמכילה טקסט&#10;&#10;התיאור נוצר באופן אוטומטי">
            <a:extLst>
              <a:ext uri="{FF2B5EF4-FFF2-40B4-BE49-F238E27FC236}">
                <a16:creationId xmlns:a16="http://schemas.microsoft.com/office/drawing/2014/main" id="{F192BC1E-C7F1-8496-FA05-FA5015C9C6C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73817"/>
            <a:ext cx="2118360" cy="1272540"/>
          </a:xfrm>
          <a:prstGeom prst="rect">
            <a:avLst/>
          </a:prstGeom>
        </p:spPr>
      </p:pic>
    </p:spTree>
    <p:extLst>
      <p:ext uri="{BB962C8B-B14F-4D97-AF65-F5344CB8AC3E}">
        <p14:creationId xmlns:p14="http://schemas.microsoft.com/office/powerpoint/2010/main" val="24531161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4B17C8-0409-3BA0-A414-C3314C94FB3E}"/>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F93A83BD-52A1-9A42-2615-AD7D9804540F}"/>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סקירת ספרות – מה ידוע לנו בנושא</a:t>
            </a:r>
          </a:p>
        </p:txBody>
      </p:sp>
      <p:sp>
        <p:nvSpPr>
          <p:cNvPr id="3" name="מציין מיקום תוכן 2">
            <a:extLst>
              <a:ext uri="{FF2B5EF4-FFF2-40B4-BE49-F238E27FC236}">
                <a16:creationId xmlns:a16="http://schemas.microsoft.com/office/drawing/2014/main" id="{BE6DA6D7-7F9E-6F58-4D29-24C8245D2A1C}"/>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הספרות מצביעה בעקביות על שלוש משפחות של חסמים. במישור התרבותי והרגשי חוזרים הבושה והמבוכה מחשיפת הגוף, החשש מפני רכילות ותיוג חברתי, החשש לפגוע במעמד המשפחה ובסיכויי הנישואין של בנותיה, והפחד מן המחלה ומתוצאות הבדיקה (Cohen &amp; Azaiza, 2006). במישור האמוני מתועדות תפיסות פטליסטיות הרואות במחלה גורל שאין לשנותו, והן נמצאו כמנבאות מובהקות של אי-היענות (Azaiza et al., 2010). במישור המבני והמערכתי מזוהים מרחק ותלות בהסעה, היעדר בודקת אישה, פערי שפה וזימונים שאינם מגיעים או שאינם מובנים (מורן ואבו עבייד, 2018). מנגד, מחקרים עדכניים מלמדים כי </a:t>
            </a:r>
            <a:r>
              <a:rPr lang="he-IL" sz="2200" b="1" dirty="0">
                <a:solidFill>
                  <a:srgbClr val="1F3864"/>
                </a:solidFill>
                <a:cs typeface="+mn-cs"/>
              </a:rPr>
              <a:t>הפערים בתמותה בין הקבוצות מצטמצמים כמעט לחלוטין לאחר תקנון למשתנים חברתיים-כלכליים</a:t>
            </a:r>
            <a:r>
              <a:rPr lang="he-IL" sz="2200" dirty="0">
                <a:cs typeface="+mn-cs"/>
              </a:rPr>
              <a:t>, ממצא הממקם את שורש הבעיה, וממילא את הפתרון, בתחום המדיניות הציבורית ולא בתחום הביולוגי או התרבותי הבלתי ניתן לשינוי (Pinchas-Mizrachi &amp; Bouhnik, 2024).</a:t>
            </a:r>
          </a:p>
        </p:txBody>
      </p:sp>
      <p:pic>
        <p:nvPicPr>
          <p:cNvPr id="4" name="Picture 5" descr="תמונה שמכילה טקסט&#10;&#10;התיאור נוצר באופן אוטומטי">
            <a:extLst>
              <a:ext uri="{FF2B5EF4-FFF2-40B4-BE49-F238E27FC236}">
                <a16:creationId xmlns:a16="http://schemas.microsoft.com/office/drawing/2014/main" id="{22DF6DA0-75BE-4965-5E2E-07AD6C88A0F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73817"/>
            <a:ext cx="2118360" cy="1272540"/>
          </a:xfrm>
          <a:prstGeom prst="rect">
            <a:avLst/>
          </a:prstGeom>
        </p:spPr>
      </p:pic>
    </p:spTree>
    <p:extLst>
      <p:ext uri="{BB962C8B-B14F-4D97-AF65-F5344CB8AC3E}">
        <p14:creationId xmlns:p14="http://schemas.microsoft.com/office/powerpoint/2010/main" val="29341276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D5DED9-9E78-81BD-1263-7B1A762B3FD0}"/>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57C55036-AB19-F8BD-8FBC-CD9BC6A6054E}"/>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סקירת ספרות</a:t>
            </a:r>
          </a:p>
        </p:txBody>
      </p:sp>
      <p:sp>
        <p:nvSpPr>
          <p:cNvPr id="3" name="מציין מיקום תוכן 2">
            <a:extLst>
              <a:ext uri="{FF2B5EF4-FFF2-40B4-BE49-F238E27FC236}">
                <a16:creationId xmlns:a16="http://schemas.microsoft.com/office/drawing/2014/main" id="{8C71DE5C-EF5C-4E48-FF53-F69C1A04DED5}"/>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לצד החסמים מזהה הספרות גורמים מאיצים, ובראשם </a:t>
            </a:r>
            <a:r>
              <a:rPr lang="he-IL" sz="2200" b="1" dirty="0">
                <a:solidFill>
                  <a:srgbClr val="1F3864"/>
                </a:solidFill>
                <a:cs typeface="+mn-cs"/>
              </a:rPr>
              <a:t>המלצה אקטיבית של איש מקצוע רפואי</a:t>
            </a:r>
            <a:r>
              <a:rPr lang="he-IL" sz="2200" dirty="0">
                <a:cs typeface="+mn-cs"/>
              </a:rPr>
              <a:t>, שנמצאה כמנבא המובהק והעקבי ביותר לביצוע הבדיקה, לצד זימון יזום ממוחשב, מכתבי הזמנה ותזכורות (Freund et al., 2019). התערבויות מותאמות-תרבות, המועברות בשפת הנשים ובאמצעות דמויות מפתח מן הקהילה ובהן נשים שהחלימו מן המחלה, נמצאו יעילות יותר מקמפיינים חינוכיים כלליים (Cohen &amp; Azaiza, 2008), וכלים לוגיסטיים כמו ניידת ממוגרפיה הוכיחו יכולת לצמצם פערים באופן ממשי. מה שנותר פתוח הוא </a:t>
            </a:r>
            <a:r>
              <a:rPr lang="he-IL" sz="2200" b="1" dirty="0">
                <a:solidFill>
                  <a:srgbClr val="1F3864"/>
                </a:solidFill>
                <a:cs typeface="+mn-cs"/>
              </a:rPr>
              <a:t>הפער שבין ידע להתנהגות</a:t>
            </a:r>
            <a:r>
              <a:rPr lang="he-IL" sz="2200" dirty="0">
                <a:cs typeface="+mn-cs"/>
              </a:rPr>
              <a:t>: רוב הנשים הערביות מעל גיל חמישים כבר עברו ממוגרפיה לפחות פעם אחת, ובכל זאת ההיענות ללוח הזמנים המומלץ נותרת נמוכה (Cohen &amp; Azaiza, 2006). מאחר שרוב המחקרים בתחום כמותיים, הם מתעדים את שכיחות החסמים אך אינם מתארים כיצד הם פועלים בחיי היומיום, וזהו החלל שהפרויקט הנוכחי מבקש למלא.</a:t>
            </a:r>
          </a:p>
        </p:txBody>
      </p:sp>
      <p:pic>
        <p:nvPicPr>
          <p:cNvPr id="4" name="Picture 5" descr="תמונה שמכילה טקסט&#10;&#10;התיאור נוצר באופן אוטומטי">
            <a:extLst>
              <a:ext uri="{FF2B5EF4-FFF2-40B4-BE49-F238E27FC236}">
                <a16:creationId xmlns:a16="http://schemas.microsoft.com/office/drawing/2014/main" id="{DDE83C73-1DE7-4106-CFC5-876F21123E1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73817"/>
            <a:ext cx="2118360" cy="1272540"/>
          </a:xfrm>
          <a:prstGeom prst="rect">
            <a:avLst/>
          </a:prstGeom>
        </p:spPr>
      </p:pic>
    </p:spTree>
    <p:extLst>
      <p:ext uri="{BB962C8B-B14F-4D97-AF65-F5344CB8AC3E}">
        <p14:creationId xmlns:p14="http://schemas.microsoft.com/office/powerpoint/2010/main" val="30244374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B4BCB4-C084-D9E2-B3BA-23E4B7935433}"/>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EF633387-D91C-D346-D201-3B3FCC935531}"/>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מסגרת תיאורטית / מודל המחקר</a:t>
            </a:r>
          </a:p>
        </p:txBody>
      </p:sp>
      <p:sp>
        <p:nvSpPr>
          <p:cNvPr id="3" name="מציין מיקום תוכן 2">
            <a:extLst>
              <a:ext uri="{FF2B5EF4-FFF2-40B4-BE49-F238E27FC236}">
                <a16:creationId xmlns:a16="http://schemas.microsoft.com/office/drawing/2014/main" id="{7544F465-AC94-64CB-B877-5B8A71523212}"/>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המסגרת המרכזית בתחום היא מודל האמונות הבריאותיות, המסביר התנהגות מונעת באמצעות תפיסת הפגיעוּת האישית, תפיסת חומרת המחלה, התועלות הנתפסות מן הבדיקה והחסמים הנתפסים בפניה, לצד רמזים לפעולה ותחושת מסוגלות (סטרן, 2007). לצידו משמשים מודל שלבי השינוי, המתאים התערבות לשלב שבו נמצאת האישה, ותיאוריית הפעולה המנומקת, הרואה בכוונה ההתנהגותית תוצר של עמדות אישיות ושל נורמות חברתיות נתפסות, שנמצאו משמעותיות במיוחד בקרב נשים ערביות מוסלמיות בישראל (Soskolne et al., 2007). מגבלתם המשותפת היא שפותחו בהקשר מערבי-אינדיבידואליסטי ואינם לוכדים במלואם משתנים כמו בושה, מבנה משפחה מורחבת ותפיסות דתיות. לפיכך אומצה כאן גם </a:t>
            </a:r>
            <a:r>
              <a:rPr lang="he-IL" sz="2200" b="1" dirty="0">
                <a:solidFill>
                  <a:srgbClr val="1F3864"/>
                </a:solidFill>
                <a:cs typeface="+mn-cs"/>
              </a:rPr>
              <a:t>הגישה הסוציו-אקולוגית</a:t>
            </a:r>
            <a:r>
              <a:rPr lang="he-IL" sz="2200" dirty="0">
                <a:cs typeface="+mn-cs"/>
              </a:rPr>
              <a:t>, הבוחנת את ההתנהגות בארבע רמות המשפיעות זו על זו, האישית, הבין-אישית, הקהילתית והמערכתית, ומדגישה כי התערבות ברמה אחת בלבד אינה מספיקה (Alatawneh et al., 2024). המודל שגובש בפרויקט נגזר מגישה זו ומוצג בפרק הממצאים.</a:t>
            </a:r>
          </a:p>
        </p:txBody>
      </p:sp>
      <p:pic>
        <p:nvPicPr>
          <p:cNvPr id="4" name="Picture 5" descr="תמונה שמכילה טקסט&#10;&#10;התיאור נוצר באופן אוטומטי">
            <a:extLst>
              <a:ext uri="{FF2B5EF4-FFF2-40B4-BE49-F238E27FC236}">
                <a16:creationId xmlns:a16="http://schemas.microsoft.com/office/drawing/2014/main" id="{B6ECF845-FB8F-1292-D135-7F5E1C33F3F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73817"/>
            <a:ext cx="2118360" cy="1272540"/>
          </a:xfrm>
          <a:prstGeom prst="rect">
            <a:avLst/>
          </a:prstGeom>
        </p:spPr>
      </p:pic>
    </p:spTree>
    <p:extLst>
      <p:ext uri="{BB962C8B-B14F-4D97-AF65-F5344CB8AC3E}">
        <p14:creationId xmlns:p14="http://schemas.microsoft.com/office/powerpoint/2010/main" val="36314649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07A40-9816-ED34-C833-E928F4D93838}"/>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925BBC66-4660-A7E3-2BBC-A43FAF4F091A}"/>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מתודולוגיה</a:t>
            </a:r>
          </a:p>
        </p:txBody>
      </p:sp>
      <p:sp>
        <p:nvSpPr>
          <p:cNvPr id="3" name="מציין מיקום תוכן 2">
            <a:extLst>
              <a:ext uri="{FF2B5EF4-FFF2-40B4-BE49-F238E27FC236}">
                <a16:creationId xmlns:a16="http://schemas.microsoft.com/office/drawing/2014/main" id="{59E4B39C-4FC6-AC59-E837-8C2C10329005}"/>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המחקר איכותני ומבוסס על ראיונות עומק חצי מובנים. הבחירה בשיטה נגזרת מאופייה של שאלת המחקר, שכן חסמים כמו בושה, פחד מלדעת ותפיסות של גורל אינם מתנסחים בקלות בסולם ליקרט והם עולים לרוב באמצע סיפור על משהו אחר. אוכלוסיית המחקר היא נשים בגיל הרלוונטי לבדיקה או בסמוך לו, ובמדגם נכללו </a:t>
            </a:r>
            <a:r>
              <a:rPr lang="he-IL" sz="2200" b="1" dirty="0">
                <a:solidFill>
                  <a:srgbClr val="1F3864"/>
                </a:solidFill>
                <a:cs typeface="+mn-cs"/>
              </a:rPr>
              <a:t>שתים עשרה נשים בגילאי 44 עד 66</a:t>
            </a:r>
            <a:r>
              <a:rPr lang="he-IL" sz="2200" dirty="0">
                <a:cs typeface="+mn-cs"/>
              </a:rPr>
              <a:t> שנבחרו בדגימה מכוונת ובשיטת כדור השלג. המדגם נבנה מתוך הקפדה על שונוּת פנימית, ולכן הוא כולל נשים מוסלמיות, נוצרייה, דרוזית ובדואיות מיישובים ערביים, מערים מעורבות ומן הנגב, ברמות השכלה הנעות משמונה שנות לימוד ועד תואר אקדמי, ולצידן אישה יוצאת אתיופיה שנכללה כדי לאפשר הבחנה בין חסם תרבותי לחסם של שפה ונגישות. כלי המחקר הוא מדריך ראיון בן שש עשרה שאלות קבועות, והנתונים נאספו בהקלטה ובתמלול מלא של כל ראיון.</a:t>
            </a:r>
          </a:p>
        </p:txBody>
      </p:sp>
      <p:pic>
        <p:nvPicPr>
          <p:cNvPr id="4" name="Picture 5" descr="תמונה שמכילה טקסט&#10;&#10;התיאור נוצר באופן אוטומטי">
            <a:extLst>
              <a:ext uri="{FF2B5EF4-FFF2-40B4-BE49-F238E27FC236}">
                <a16:creationId xmlns:a16="http://schemas.microsoft.com/office/drawing/2014/main" id="{BC204128-A373-653E-B93D-8C4294BDEC3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73817"/>
            <a:ext cx="2118360" cy="1272540"/>
          </a:xfrm>
          <a:prstGeom prst="rect">
            <a:avLst/>
          </a:prstGeom>
        </p:spPr>
      </p:pic>
    </p:spTree>
    <p:extLst>
      <p:ext uri="{BB962C8B-B14F-4D97-AF65-F5344CB8AC3E}">
        <p14:creationId xmlns:p14="http://schemas.microsoft.com/office/powerpoint/2010/main" val="15037976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4230A7-5952-184B-134A-CEE5288224E4}"/>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9253405A-465D-AC3F-2725-B23165D4AD0A}"/>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מתודולוגיה</a:t>
            </a:r>
          </a:p>
        </p:txBody>
      </p:sp>
      <p:sp>
        <p:nvSpPr>
          <p:cNvPr id="3" name="מציין מיקום תוכן 2">
            <a:extLst>
              <a:ext uri="{FF2B5EF4-FFF2-40B4-BE49-F238E27FC236}">
                <a16:creationId xmlns:a16="http://schemas.microsoft.com/office/drawing/2014/main" id="{7D475B19-7EB9-9489-835D-273D9AE1887C}"/>
              </a:ext>
            </a:extLst>
          </p:cNvPr>
          <p:cNvSpPr>
            <a:spLocks noGrp="1"/>
          </p:cNvSpPr>
          <p:nvPr>
            <p:ph idx="1"/>
          </p:nvPr>
        </p:nvSpPr>
        <p:spPr>
          <a:xfrm>
            <a:off x="841248" y="1828800"/>
            <a:ext cx="10515600" cy="676656"/>
          </a:xfrm>
        </p:spPr>
        <p:txBody>
          <a:bodyPr>
            <a:normAutofit/>
          </a:bodyPr>
          <a:lstStyle/>
          <a:p>
            <a:pPr marL="0" indent="0" algn="just" rtl="1">
              <a:lnSpc>
                <a:spcPct val="100000"/>
              </a:lnSpc>
              <a:spcBef>
                <a:spcPts val="0"/>
              </a:spcBef>
              <a:buNone/>
            </a:pPr>
            <a:r>
              <a:rPr lang="he-IL" sz="2000" dirty="0">
                <a:cs typeface="+mn-cs"/>
              </a:rPr>
              <a:t>המדגם נבנה כך שיכסה את מלוא הטווח של התנהגות ההיבדקות, מנשים הנבדקות בקביעות ועד נשים שמעולם לא נבדקו.</a:t>
            </a:r>
          </a:p>
        </p:txBody>
      </p:sp>
      <p:pic>
        <p:nvPicPr>
          <p:cNvPr id="4" name="Picture 5" descr="תמונה שמכילה טקסט&#10;&#10;התיאור נוצר באופן אוטומטי">
            <a:extLst>
              <a:ext uri="{FF2B5EF4-FFF2-40B4-BE49-F238E27FC236}">
                <a16:creationId xmlns:a16="http://schemas.microsoft.com/office/drawing/2014/main" id="{5DE9C619-220F-193A-4DEF-D3F27A6625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73817"/>
            <a:ext cx="2118360" cy="1272540"/>
          </a:xfrm>
          <a:prstGeom prst="rect">
            <a:avLst/>
          </a:prstGeom>
        </p:spPr>
      </p:pic>
      <p:graphicFrame>
        <p:nvGraphicFramePr>
          <p:cNvPr id="20" name="טבלת המרואיינות"/>
          <p:cNvGraphicFramePr>
            <a:graphicFrameLocks noGrp="1"/>
          </p:cNvGraphicFramePr>
          <p:nvPr/>
        </p:nvGraphicFramePr>
        <p:xfrm>
          <a:off x="841248" y="2606040"/>
          <a:ext cx="10515600" cy="3447288"/>
        </p:xfrm>
        <a:graphic>
          <a:graphicData uri="http://schemas.openxmlformats.org/drawingml/2006/table">
            <a:tbl>
              <a:tblPr rtl="1" firstRow="1"/>
              <a:tblGrid>
                <a:gridCol w="457200"/>
                <a:gridCol w="1600200"/>
                <a:gridCol w="457200"/>
                <a:gridCol w="1234440"/>
                <a:gridCol w="2651760"/>
                <a:gridCol w="4114800"/>
              </a:tblGrid>
              <a:tr h="265176">
                <a:tc>
                  <a:txBody>
                    <a:bodyPr/>
                    <a:lstStyle/>
                    <a:p>
                      <a:pPr algn="r" rtl="1">
                        <a:lnSpc>
                          <a:spcPct val="100000"/>
                        </a:lnSpc>
                        <a:spcBef>
                          <a:spcPts val="0"/>
                        </a:spcBef>
                        <a:buNone/>
                      </a:pPr>
                      <a:r>
                        <a:rPr lang="he-IL" sz="1000" b="1" dirty="0">
                          <a:solidFill>
                            <a:srgbClr val="FFFFFF"/>
                          </a:solidFill>
                          <a:cs typeface="+mn-cs"/>
                        </a:rPr>
                        <a:t>#</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שם בדוי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גיל</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יישוב</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השכלה ועיסוק</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מיקום על ציר ההיענות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r>
              <a:tr h="265176">
                <a:tc>
                  <a:txBody>
                    <a:bodyPr/>
                    <a:lstStyle/>
                    <a:p>
                      <a:pPr algn="r" rtl="1">
                        <a:lnSpc>
                          <a:spcPct val="100000"/>
                        </a:lnSpc>
                        <a:spcBef>
                          <a:spcPts val="0"/>
                        </a:spcBef>
                        <a:buNone/>
                      </a:pPr>
                      <a:r>
                        <a:rPr lang="he-IL" sz="950" dirty="0">
                          <a:cs typeface="+mn-cs"/>
                        </a:rPr>
                        <a:t>1</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לילה נגילי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54</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רמלה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12 שנות לימוד; סייעת בגן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נבדקה פעמיים, באיחור של כשנתיים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2</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טגאיה סמאנך</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58</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חולון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4 שנות לימוד; עובדת ניקיון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נבדקה אחרי פנייה טלפונית באמהרית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3</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עאליה אבו עראר</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47</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ערערה בנגב</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תואר ראשון; מורה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נבדקת מתחת לגיל הזימון, בהפניית רופאה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4</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מראם ח'טיב</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52</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רמלה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12 שנות לימוד; עובדת במספרה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בדיקה ראשונה בגיל 51 אחרי שנתיים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5</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סועאד זועבי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61</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נצרת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8 שנות לימוד; עקרת בית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נבדקת בקביעות 11 שנים, בליווי בתה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6</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ג'ולייט חורי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56</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חיפה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תואר ראשון; מזכירה בתיכון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נבדקת בקביעות מגיל 45, שש בדיקות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7</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נאדיה חלבי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50</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דלית אל-כרמל</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12 שנות לימוד; עסק משפחתי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מעולם לא נבדקה; הזימון במגירה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8</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פאטמה אבו קווידר</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44</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רהט</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8 שנות לימוד; עקרת בית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מעולם לא נבדקה ומעולם לא זומנה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9</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אמל סרחאן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63</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טייבה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עבודה סוציאלית; מתנדבת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חלתה בגיל 58 אחרי כשנה וחצי המתנה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10</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הודא מנסור</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49</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כפר כנא</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סיעוד; אחות אחראית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טרם בגיל הזימון; מרכזת את הזימונים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11</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סמאח דיאב</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57</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לוד</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8 שנות לימוד; דוכן בשוק</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נבדקה פעם אחת לפני כשש שנים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12</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רימא נאסר</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66</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שפרעם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היסטוריה; מורה בגמלאות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נבדקת בקביעות מגיל 50, שמונה בדיקות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bl>
          </a:graphicData>
        </a:graphic>
      </p:graphicFrame>
    </p:spTree>
    <p:extLst>
      <p:ext uri="{BB962C8B-B14F-4D97-AF65-F5344CB8AC3E}">
        <p14:creationId xmlns:p14="http://schemas.microsoft.com/office/powerpoint/2010/main" val="34263181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1DCBBA-3270-67CD-9392-379594510730}"/>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5095C1B3-074D-607A-DD1A-4BE7A841D0D1}"/>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כלי המחקר</a:t>
            </a:r>
          </a:p>
        </p:txBody>
      </p:sp>
      <p:sp>
        <p:nvSpPr>
          <p:cNvPr id="3" name="מציין מיקום תוכן 2">
            <a:extLst>
              <a:ext uri="{FF2B5EF4-FFF2-40B4-BE49-F238E27FC236}">
                <a16:creationId xmlns:a16="http://schemas.microsoft.com/office/drawing/2014/main" id="{D5C14E88-40DC-C22B-D093-F9853AE1788B}"/>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מדריך הראיון כולל שש עשרה שאלות פתוחות ובהן שאלת פתיחה כללית שנועדה ליצור היכרות לפני המעבר לנושא הרגיש, והוא הועבר בנוסח זהה ובסדר זהה בכל שנים עשר הראיונות. השאלות נבנו על בסיס הממדים שעלו מסקירת הספרות, כך שכל אשכול מכוון לתחום מוכר של חסמים או מאיצים: שאלות הפתיחה עוסקות בידע ובחוויית הבדיקה בפועל, שאלות האמצע בפחד, בצניעות, במגדר הבודק ובתיוג החברתי, ולאחריהן שאלות על המשפחה המורחבת, על הממד הדתי, על ההתנהלות מול הקופה ועל המלצת איש המקצוע. שתי שאלות נוסחו מחדש לאחר ראיון הפיילוט משום שנמצאו מכוונות מדי לתשובה שלילית. הראיונות נמשכו בין 32 ל-45 דקות, שישה נערכו בעברית, חמישה בערבית ואחד באמהרית, וכל אחת משלוש חברות הצוות ערכה ארבעה ראיונות. הניתוח נעשה ב</a:t>
            </a:r>
            <a:r>
              <a:rPr lang="he-IL" sz="2200" b="1" dirty="0">
                <a:solidFill>
                  <a:srgbClr val="1F3864"/>
                </a:solidFill>
                <a:cs typeface="+mn-cs"/>
              </a:rPr>
              <a:t>שיטת הניתוח התמטי בחמישה שלבים</a:t>
            </a:r>
            <a:r>
              <a:rPr lang="he-IL" sz="2200" dirty="0">
                <a:cs typeface="+mn-cs"/>
              </a:rPr>
              <a:t>, מקריאה חוזרת ללא סימון ועד בחירת ציטוטים תומכים, לרבות ציטוטים הסותרים את התמה. כל המשתתפות נתנו הסכמה מדעת בעל פה, השמות בדויים וכל פרט מזהה טושטש.</a:t>
            </a:r>
          </a:p>
        </p:txBody>
      </p:sp>
      <p:pic>
        <p:nvPicPr>
          <p:cNvPr id="4" name="Picture 5" descr="תמונה שמכילה טקסט&#10;&#10;התיאור נוצר באופן אוטומטי">
            <a:extLst>
              <a:ext uri="{FF2B5EF4-FFF2-40B4-BE49-F238E27FC236}">
                <a16:creationId xmlns:a16="http://schemas.microsoft.com/office/drawing/2014/main" id="{AEEAF6A4-0EE4-D375-4DFA-D5F9D2A9C42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73817"/>
            <a:ext cx="2118360" cy="1272540"/>
          </a:xfrm>
          <a:prstGeom prst="rect">
            <a:avLst/>
          </a:prstGeom>
        </p:spPr>
      </p:pic>
    </p:spTree>
    <p:extLst>
      <p:ext uri="{BB962C8B-B14F-4D97-AF65-F5344CB8AC3E}">
        <p14:creationId xmlns:p14="http://schemas.microsoft.com/office/powerpoint/2010/main" val="18885445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216AB5-FF75-3480-6AE6-5E579AFF7CDD}"/>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742C596C-F0CB-32FC-A127-9120C688B889}"/>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ממצאים מרכזיים</a:t>
            </a:r>
          </a:p>
        </p:txBody>
      </p:sp>
      <p:sp>
        <p:nvSpPr>
          <p:cNvPr id="3" name="מציין מיקום תוכן 2">
            <a:extLst>
              <a:ext uri="{FF2B5EF4-FFF2-40B4-BE49-F238E27FC236}">
                <a16:creationId xmlns:a16="http://schemas.microsoft.com/office/drawing/2014/main" id="{0AA4797B-34EA-7776-A28E-E8BA12211644}"/>
              </a:ext>
            </a:extLst>
          </p:cNvPr>
          <p:cNvSpPr>
            <a:spLocks noGrp="1"/>
          </p:cNvSpPr>
          <p:nvPr>
            <p:ph idx="1"/>
          </p:nvPr>
        </p:nvSpPr>
        <p:spPr>
          <a:xfrm>
            <a:off x="841248" y="1828800"/>
            <a:ext cx="10515600" cy="676656"/>
          </a:xfrm>
        </p:spPr>
        <p:txBody>
          <a:bodyPr>
            <a:normAutofit/>
          </a:bodyPr>
          <a:lstStyle/>
          <a:p>
            <a:pPr marL="0" indent="0" algn="just" rtl="1">
              <a:lnSpc>
                <a:spcPct val="100000"/>
              </a:lnSpc>
              <a:spcBef>
                <a:spcPts val="0"/>
              </a:spcBef>
              <a:buNone/>
            </a:pPr>
            <a:r>
              <a:rPr lang="he-IL" sz="2000" dirty="0">
                <a:cs typeface="+mn-cs"/>
              </a:rPr>
              <a:t>ארבע התמות אינן רשימה של חסמים נפרדים אלא מערכת אחת, וההיענות בפועל היא תוצר של המאזן ביניהן.</a:t>
            </a:r>
          </a:p>
        </p:txBody>
      </p:sp>
      <p:pic>
        <p:nvPicPr>
          <p:cNvPr id="4" name="Picture 5" descr="תמונה שמכילה טקסט&#10;&#10;התיאור נוצר באופן אוטומטי">
            <a:extLst>
              <a:ext uri="{FF2B5EF4-FFF2-40B4-BE49-F238E27FC236}">
                <a16:creationId xmlns:a16="http://schemas.microsoft.com/office/drawing/2014/main" id="{28351659-D2CF-77C0-F5EA-3CB61A28132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73817"/>
            <a:ext cx="2118360" cy="1272540"/>
          </a:xfrm>
          <a:prstGeom prst="rect">
            <a:avLst/>
          </a:prstGeom>
        </p:spPr>
      </p:pic>
      <p:pic>
        <p:nvPicPr>
          <p:cNvPr id="21" name="מפת התמות"/>
          <p:cNvPicPr>
            <a:picLocks noChangeAspect="1"/>
          </p:cNvPicPr>
          <p:nvPr/>
        </p:nvPicPr>
        <p:blipFill>
          <a:blip r:embed="rId3"/>
          <a:stretch>
            <a:fillRect/>
          </a:stretch>
        </p:blipFill>
        <p:spPr>
          <a:xfrm>
            <a:off x="1060704" y="2606040"/>
            <a:ext cx="10085832" cy="3840018"/>
          </a:xfrm>
          <a:prstGeom prst="rect">
            <a:avLst/>
          </a:prstGeom>
        </p:spPr>
      </p:pic>
    </p:spTree>
    <p:extLst>
      <p:ext uri="{BB962C8B-B14F-4D97-AF65-F5344CB8AC3E}">
        <p14:creationId xmlns:p14="http://schemas.microsoft.com/office/powerpoint/2010/main" val="4383214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0ED7C3-0AD0-9D96-122F-FDBBC4B7FA09}"/>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DA4774FD-0790-3CA8-F7FD-E4CDE2EFC74C}"/>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ממצאים מרכזיים</a:t>
            </a:r>
          </a:p>
        </p:txBody>
      </p:sp>
      <p:sp>
        <p:nvSpPr>
          <p:cNvPr id="3" name="מציין מיקום תוכן 2">
            <a:extLst>
              <a:ext uri="{FF2B5EF4-FFF2-40B4-BE49-F238E27FC236}">
                <a16:creationId xmlns:a16="http://schemas.microsoft.com/office/drawing/2014/main" id="{3320DB74-2450-D24F-53A2-F9006010A740}"/>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התמה הראשונה מלמדת כי </a:t>
            </a:r>
            <a:r>
              <a:rPr lang="he-IL" sz="2200" b="1" dirty="0">
                <a:solidFill>
                  <a:srgbClr val="1F3864"/>
                </a:solidFill>
                <a:cs typeface="+mn-cs"/>
              </a:rPr>
              <a:t>הידע כמעט אינו מבחין בין נשים שנבדקות לבין נשים שאינן נבדקות</a:t>
            </a:r>
            <a:r>
              <a:rPr lang="he-IL" sz="2200" dirty="0">
                <a:cs typeface="+mn-cs"/>
              </a:rPr>
              <a:t>. אחת עשרה מתוך שתים עשרה המשתתפות, ובהן גם אלו שמעולם לא נבדקו, ידעו מהי הבדיקה ולשם מה היא נועדה, ולילה בת ה-54 ניסחה זאת בעצמה: </a:t>
            </a:r>
            <a:r>
              <a:rPr lang="he-IL" sz="2200" i="1" dirty="0">
                <a:solidFill>
                  <a:srgbClr val="1F3864"/>
                </a:solidFill>
                <a:cs typeface="+mn-cs"/>
              </a:rPr>
              <a:t>"אני יודעת בדיוק מה צריך לעשות. ובכל זאת עברו שנתיים"</a:t>
            </a:r>
            <a:r>
              <a:rPr lang="he-IL" sz="2200" dirty="0">
                <a:cs typeface="+mn-cs"/>
              </a:rPr>
              <a:t>. מה שעמד בין הידע לפעולה היה הפחד מן התוצאה ולא מן הבדיקה, ומראם בת ה-52 הבחינה ביניהם במפורש: </a:t>
            </a:r>
            <a:r>
              <a:rPr lang="he-IL" sz="2200" i="1" dirty="0">
                <a:solidFill>
                  <a:srgbClr val="1F3864"/>
                </a:solidFill>
                <a:cs typeface="+mn-cs"/>
              </a:rPr>
              <a:t>"אני לא מפחדת מהמכונה. אני מפחדת מהנייר"</a:t>
            </a:r>
            <a:r>
              <a:rPr lang="he-IL" sz="2200" dirty="0">
                <a:cs typeface="+mn-cs"/>
              </a:rPr>
              <a:t>. לצידם פעלו האמונה שגוף שאינו כואב אינו זקוק לבדיקה, ומנגנון של דחייה מוצדקת שאינו מגיע לעולם לנקודת הכרעה. התמה השנייה מראה כי חסם הבושה קיים אך ממוקם אחרת מכפי שמניחה הספרות. החשיפה בחדר הבדיקה מול בודקת אישה תוארה כרגע קצר, ואילו מה שהרתיע היה החשיפה החברתית בדרך אל הבדיקה, כפי שתיארה עאליה בת ה-47: </a:t>
            </a:r>
            <a:r>
              <a:rPr lang="he-IL" sz="2200" i="1" dirty="0">
                <a:solidFill>
                  <a:srgbClr val="1F3864"/>
                </a:solidFill>
                <a:cs typeface="+mn-cs"/>
              </a:rPr>
              <a:t>"הבדיקה של האמא הופכת לתיק של הבת"</a:t>
            </a:r>
            <a:r>
              <a:rPr lang="he-IL" sz="2200" dirty="0">
                <a:cs typeface="+mn-cs"/>
              </a:rPr>
              <a:t>.</a:t>
            </a:r>
          </a:p>
        </p:txBody>
      </p:sp>
      <p:pic>
        <p:nvPicPr>
          <p:cNvPr id="4" name="Picture 5" descr="תמונה שמכילה טקסט&#10;&#10;התיאור נוצר באופן אוטומטי">
            <a:extLst>
              <a:ext uri="{FF2B5EF4-FFF2-40B4-BE49-F238E27FC236}">
                <a16:creationId xmlns:a16="http://schemas.microsoft.com/office/drawing/2014/main" id="{68240EF8-5031-50D7-3548-9B1B0E6C821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73817"/>
            <a:ext cx="2118360" cy="1272540"/>
          </a:xfrm>
          <a:prstGeom prst="rect">
            <a:avLst/>
          </a:prstGeom>
        </p:spPr>
      </p:pic>
    </p:spTree>
    <p:extLst>
      <p:ext uri="{BB962C8B-B14F-4D97-AF65-F5344CB8AC3E}">
        <p14:creationId xmlns:p14="http://schemas.microsoft.com/office/powerpoint/2010/main" val="27260110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D094C-768F-3C19-6022-E0CC11C4DE5A}"/>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DBD53169-CEA7-DADD-DC93-6D8760029AC0}"/>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ממצאים מרכזיים</a:t>
            </a:r>
          </a:p>
        </p:txBody>
      </p:sp>
      <p:sp>
        <p:nvSpPr>
          <p:cNvPr id="3" name="מציין מיקום תוכן 2">
            <a:extLst>
              <a:ext uri="{FF2B5EF4-FFF2-40B4-BE49-F238E27FC236}">
                <a16:creationId xmlns:a16="http://schemas.microsoft.com/office/drawing/2014/main" id="{636BD504-DC08-F733-DA9C-381DC00CF19F}"/>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התמה השלישית היא הממצא שהפתיע ביותר, משום שהוא כמעט אינו מקבל מקום בספרות התרבותית. המשתתפות תיארו את היציאה לבדיקה כחשבון יומיומי מדויק של שעות עבודה שאבדו, של הסעה ושל נטל טיפולי בבית, וטגאיה בת ה-58 העמידה את שני הצדדים זה מול זה: </a:t>
            </a:r>
            <a:r>
              <a:rPr lang="he-IL" sz="2200" i="1" dirty="0">
                <a:solidFill>
                  <a:srgbClr val="1F3864"/>
                </a:solidFill>
                <a:cs typeface="+mn-cs"/>
              </a:rPr>
              <a:t>"אני יודעת שזה נשמע קטן ליד סרטן. אבל בסוף החודש זה לא קטן"</a:t>
            </a:r>
            <a:r>
              <a:rPr lang="he-IL" sz="2200" dirty="0">
                <a:cs typeface="+mn-cs"/>
              </a:rPr>
              <a:t>. מאפיין מרכזי של החסם הזה הוא ש</a:t>
            </a:r>
            <a:r>
              <a:rPr lang="he-IL" sz="2200" b="1" dirty="0">
                <a:solidFill>
                  <a:srgbClr val="1F3864"/>
                </a:solidFill>
                <a:cs typeface="+mn-cs"/>
              </a:rPr>
              <a:t>הנשים אינן מציגות אותו כחסם אלא כעובדת חיים</a:t>
            </a:r>
            <a:r>
              <a:rPr lang="he-IL" sz="2200" dirty="0">
                <a:cs typeface="+mn-cs"/>
              </a:rPr>
              <a:t>, ולכן הוא אינו נראה במדדים המבוססים על דיווח עצמי. התמה הרביעית עוסקת כולה במאיצים ומצביעה על פנייה אישית כגורם החזק ביותר. אותה המלצה עצמה הניבה שתי תוצאות הפוכות בהתאם לאופן מסירתה, ולילה תיארה את הגרסה שלא פעלה: </a:t>
            </a:r>
            <a:r>
              <a:rPr lang="he-IL" sz="2200" i="1" dirty="0">
                <a:solidFill>
                  <a:srgbClr val="1F3864"/>
                </a:solidFill>
                <a:cs typeface="+mn-cs"/>
              </a:rPr>
              <a:t>"לא הרים את הראש. אמר את זה למסך"</a:t>
            </a:r>
            <a:r>
              <a:rPr lang="he-IL" sz="2200" dirty="0">
                <a:cs typeface="+mn-cs"/>
              </a:rPr>
              <a:t>. לצידה נמצא כי כל המשתתפות הנבדקות בקביעות תיארו דמות מלווה, ואף אחת מן הנשים שלא נבדקו לא תיארה דמות כזאת.</a:t>
            </a:r>
          </a:p>
        </p:txBody>
      </p:sp>
      <p:pic>
        <p:nvPicPr>
          <p:cNvPr id="4" name="Picture 5" descr="תמונה שמכילה טקסט&#10;&#10;התיאור נוצר באופן אוטומטי">
            <a:extLst>
              <a:ext uri="{FF2B5EF4-FFF2-40B4-BE49-F238E27FC236}">
                <a16:creationId xmlns:a16="http://schemas.microsoft.com/office/drawing/2014/main" id="{46651370-7130-B6BD-6A90-1701E7F5C4E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73817"/>
            <a:ext cx="2118360" cy="1272540"/>
          </a:xfrm>
          <a:prstGeom prst="rect">
            <a:avLst/>
          </a:prstGeom>
        </p:spPr>
      </p:pic>
    </p:spTree>
    <p:extLst>
      <p:ext uri="{BB962C8B-B14F-4D97-AF65-F5344CB8AC3E}">
        <p14:creationId xmlns:p14="http://schemas.microsoft.com/office/powerpoint/2010/main" val="26039922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464306-FF56-1CC4-4BDB-49527283CF03}"/>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978DEC08-3036-C4C0-B49D-A9A276A9C922}"/>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סיכום</a:t>
            </a:r>
          </a:p>
        </p:txBody>
      </p:sp>
      <p:sp>
        <p:nvSpPr>
          <p:cNvPr id="3" name="מציין מיקום תוכן 2">
            <a:extLst>
              <a:ext uri="{FF2B5EF4-FFF2-40B4-BE49-F238E27FC236}">
                <a16:creationId xmlns:a16="http://schemas.microsoft.com/office/drawing/2014/main" id="{A99921A6-5B84-5D10-8397-B8F191AFA5D1}"/>
              </a:ext>
            </a:extLst>
          </p:cNvPr>
          <p:cNvSpPr>
            <a:spLocks noGrp="1"/>
          </p:cNvSpPr>
          <p:nvPr>
            <p:ph idx="1"/>
          </p:nvPr>
        </p:nvSpPr>
        <p:spPr/>
        <p:txBody>
          <a:bodyPr>
            <a:normAutofit/>
          </a:bodyPr>
          <a:lstStyle/>
          <a:p>
            <a:pPr marL="0" indent="0" algn="just" rtl="1">
              <a:lnSpc>
                <a:spcPct val="100000"/>
              </a:lnSpc>
              <a:spcBef>
                <a:spcPts val="600"/>
              </a:spcBef>
              <a:buNone/>
            </a:pPr>
            <a:r>
              <a:rPr lang="he-IL" sz="2200" b="1" dirty="0">
                <a:solidFill>
                  <a:srgbClr val="1F3864"/>
                </a:solidFill>
                <a:cs typeface="+mn-cs"/>
              </a:rPr>
              <a:t>ההיענות אינה נקבעת ברמת הידע אלא ברמת ההתנהלות היומיומית</a:t>
            </a:r>
            <a:r>
              <a:rPr lang="he-IL" sz="2200" dirty="0">
                <a:cs typeface="+mn-cs"/>
              </a:rPr>
              <a:t>. ההבדל בין אישה הנבדקת בקביעות לבין אישה שמעולם לא נבדקה לא עבר בשאלה מה היא יודעת, אלא בשלוש שאלות אחרות: אם מישהו פנה אליה אישית, אם היה מי שליווה אותה, ואם היציאה לבדיקה עלתה לה במחיר שהיא יכולה לשלם. מכאן שתי מסקנות בעלות משמעות ניהולית. הראשונה היא שהחסם התרבותי אמיתי אך ממוקם בדרך אל הבדיקה ולא בחדר הבדיקה, כלומר בחשיפה החברתית ולא בחשיפה הגופנית, ולכן התאמה מגדרית של השירות הכרחית אך אינה מספיקה בלי מענה לצורך בדיסקרטיות. השנייה היא שקיים חסם מעשי שאינו מדובר, המחיר של יום עבודה ושל היעדרות מן הבית, והוא אינו מופיע בשאלונים מפני שאינו נחווה כחסם אלא כסדר עדיפויות סביר.</a:t>
            </a:r>
          </a:p>
        </p:txBody>
      </p:sp>
      <p:pic>
        <p:nvPicPr>
          <p:cNvPr id="4" name="Picture 5" descr="תמונה שמכילה טקסט&#10;&#10;התיאור נוצר באופן אוטומטי">
            <a:extLst>
              <a:ext uri="{FF2B5EF4-FFF2-40B4-BE49-F238E27FC236}">
                <a16:creationId xmlns:a16="http://schemas.microsoft.com/office/drawing/2014/main" id="{7BD43DB4-7527-FA83-12AE-C88C96D12E0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73817"/>
            <a:ext cx="2118360" cy="1272540"/>
          </a:xfrm>
          <a:prstGeom prst="rect">
            <a:avLst/>
          </a:prstGeom>
        </p:spPr>
      </p:pic>
    </p:spTree>
    <p:extLst>
      <p:ext uri="{BB962C8B-B14F-4D97-AF65-F5344CB8AC3E}">
        <p14:creationId xmlns:p14="http://schemas.microsoft.com/office/powerpoint/2010/main" val="31444815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25EBCA-F68D-4DED-1F39-7B887F087491}"/>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2AED8851-FFD1-100A-6C3D-2001EBCF6145}"/>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סיכום</a:t>
            </a:r>
          </a:p>
        </p:txBody>
      </p:sp>
      <p:sp>
        <p:nvSpPr>
          <p:cNvPr id="3" name="מציין מיקום תוכן 2">
            <a:extLst>
              <a:ext uri="{FF2B5EF4-FFF2-40B4-BE49-F238E27FC236}">
                <a16:creationId xmlns:a16="http://schemas.microsoft.com/office/drawing/2014/main" id="{7C272115-4A03-CB86-5F3B-7CF92520DE5F}"/>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מול הספרות, הממצאים מאשרים את קיומם של החסמים המוכרים אך משנים את מיקומם ואת משקלם. הטענה שהידע הוא תנאי הכרחי שאינו מספיק (Alatawneh et al., 2024) מקבלת כאן חיזוק ואף מוקצנת, שכן אצל חלק מן המשתתפות הידע פעל לטובת ההימנעות ולא נגדה. הממצא בדבר מרכזיות המלצת איש המקצוע (Freund et al., 2019) אושר במלואו, אך הראיונות מחדדים שלא תוכן ההמלצה הוא המכריע אלא צורתה. הממצא המפתיע ביותר נוגע לממד הדתי: הספרות מייחסת לפטליזם משקל ניכר (Azaiza et al., 2010), ואילו כאן </a:t>
            </a:r>
            <a:r>
              <a:rPr lang="he-IL" sz="2200" b="1" dirty="0">
                <a:solidFill>
                  <a:srgbClr val="1F3864"/>
                </a:solidFill>
                <a:cs typeface="+mn-cs"/>
              </a:rPr>
              <a:t>אף מרואיינת לא נימקה את הימנעותה בטעם דתי</a:t>
            </a:r>
            <a:r>
              <a:rPr lang="he-IL" sz="2200" dirty="0">
                <a:cs typeface="+mn-cs"/>
              </a:rPr>
              <a:t>, ונשים אמרו שהכול בידי שמיים וגם נבדקו בקביעות בלי לראות בכך סתירה. סועאד בת ה-61 ניסחה זאת כך: </a:t>
            </a:r>
            <a:r>
              <a:rPr lang="he-IL" sz="2200" i="1" dirty="0">
                <a:solidFill>
                  <a:srgbClr val="1F3864"/>
                </a:solidFill>
                <a:cs typeface="+mn-cs"/>
              </a:rPr>
              <a:t>"אני לא הולכת לבדיקה במקום אללה, חלילה, אני הולכת בגלל אללה"</a:t>
            </a:r>
            <a:r>
              <a:rPr lang="he-IL" sz="2200" dirty="0">
                <a:cs typeface="+mn-cs"/>
              </a:rPr>
              <a:t>. אם הניסוח הדתי משמש לעיתים כהסבר שנוח למסור לחוקר, הרי שהשקעה בשינוי תפיסות פטליסטיות עשויה להיות פחות יעילה מהסרת חסמים מעשיים.</a:t>
            </a:r>
          </a:p>
        </p:txBody>
      </p:sp>
      <p:pic>
        <p:nvPicPr>
          <p:cNvPr id="4" name="Picture 5" descr="תמונה שמכילה טקסט&#10;&#10;התיאור נוצר באופן אוטומטי">
            <a:extLst>
              <a:ext uri="{FF2B5EF4-FFF2-40B4-BE49-F238E27FC236}">
                <a16:creationId xmlns:a16="http://schemas.microsoft.com/office/drawing/2014/main" id="{18B5C0DB-2EC0-A08D-E421-310800C6AD8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73817"/>
            <a:ext cx="2118360" cy="1272540"/>
          </a:xfrm>
          <a:prstGeom prst="rect">
            <a:avLst/>
          </a:prstGeom>
        </p:spPr>
      </p:pic>
    </p:spTree>
    <p:extLst>
      <p:ext uri="{BB962C8B-B14F-4D97-AF65-F5344CB8AC3E}">
        <p14:creationId xmlns:p14="http://schemas.microsoft.com/office/powerpoint/2010/main" val="35209602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5D26F4-BDEB-9728-9186-6998143112DD}"/>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CF3D05DC-3DE0-B0F5-3169-8EB3816CB95E}"/>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המלצות</a:t>
            </a:r>
          </a:p>
        </p:txBody>
      </p:sp>
      <p:sp>
        <p:nvSpPr>
          <p:cNvPr id="3" name="מציין מיקום תוכן 2">
            <a:extLst>
              <a:ext uri="{FF2B5EF4-FFF2-40B4-BE49-F238E27FC236}">
                <a16:creationId xmlns:a16="http://schemas.microsoft.com/office/drawing/2014/main" id="{7C84B496-7B1A-0462-70D6-A0F531B6D036}"/>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ההמלצות נגזרות ישירות מדברי המשתתפות, ומשותף לכולן שהן אינן מנסות לשנות את אמונותיהן של הנשים אלא </a:t>
            </a:r>
            <a:r>
              <a:rPr lang="he-IL" sz="2200" b="1" dirty="0">
                <a:solidFill>
                  <a:srgbClr val="1F3864"/>
                </a:solidFill>
                <a:cs typeface="+mn-cs"/>
              </a:rPr>
              <a:t>להסיר את מה שעומד בין האמונה למעשה</a:t>
            </a:r>
            <a:r>
              <a:rPr lang="he-IL" sz="2200" dirty="0">
                <a:cs typeface="+mn-cs"/>
              </a:rPr>
              <a:t>. ברמת המרפאה, ובעלות נמוכה יחסית, מומלץ להעמיד רכזת זימונים דוברת ערבית שתפקידה לטלפן ולא לשלוח מכתבים, ולמדוד את שיעור ההמרה משיחה לתור בפועל; להוסיף למערכת הממוחשבת התראה לרופא המשפחה בפתיחת כל ביקור של אישה בגיל הזכאות שאיחרה בבדיקה, כך שההמלצה תינתן במפגש הקליני ולא תישאר תלויה ביוזמת האישה; ולפרוס תורים בשעות אחר הצהריים ובימי שישי לצד אישור היעדרות מעבודה. ברמת הקופה ומשרד הבריאות מומלץ להפעיל את ניידת הממוגרפיה בלוח שנתי קבוע ובמיקום דיסקרטי ולא בחזית המרפאה, להכשיר נשים מקומיות שנבדקו להנחיית מפגשים ביתיים קטנים במקום הרצאות פומביות, ולבחון הרחבה של הזימון היזום לנשים בנות 45 עד 49 בקהילות שבהן חציון גיל האבחון צעיר.</a:t>
            </a:r>
          </a:p>
        </p:txBody>
      </p:sp>
      <p:pic>
        <p:nvPicPr>
          <p:cNvPr id="4" name="Picture 5" descr="תמונה שמכילה טקסט&#10;&#10;התיאור נוצר באופן אוטומטי">
            <a:extLst>
              <a:ext uri="{FF2B5EF4-FFF2-40B4-BE49-F238E27FC236}">
                <a16:creationId xmlns:a16="http://schemas.microsoft.com/office/drawing/2014/main" id="{97DFB15D-1250-B170-604C-A15010869EB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73817"/>
            <a:ext cx="2118360" cy="1272540"/>
          </a:xfrm>
          <a:prstGeom prst="rect">
            <a:avLst/>
          </a:prstGeom>
        </p:spPr>
      </p:pic>
    </p:spTree>
    <p:extLst>
      <p:ext uri="{BB962C8B-B14F-4D97-AF65-F5344CB8AC3E}">
        <p14:creationId xmlns:p14="http://schemas.microsoft.com/office/powerpoint/2010/main" val="6599209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D6D8CF-55B1-6D51-F073-64CC9C903369}"/>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48168BB3-4993-2FE3-E6DB-1543F270AB53}"/>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מגבלות המחקר</a:t>
            </a:r>
          </a:p>
        </p:txBody>
      </p:sp>
      <p:sp>
        <p:nvSpPr>
          <p:cNvPr id="3" name="מציין מיקום תוכן 2">
            <a:extLst>
              <a:ext uri="{FF2B5EF4-FFF2-40B4-BE49-F238E27FC236}">
                <a16:creationId xmlns:a16="http://schemas.microsoft.com/office/drawing/2014/main" id="{E5C98DAF-99C3-F92C-B128-B3554D2ECF23}"/>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למחקר ארבע מגבלות עיקריות. ראשית, המדגם קטן ומכוון, ולכן אין להסיק ממנו על שכיחותם של החסמים באוכלוסייה אלא רק על הצורות שהם לובשים. שנית, הדגימה בשיטת כדור השלג יצרה הטיה אפשרית לטובת נשים המוכנות לדבר על הנושא, וייתכן שנשים שהימנעותן עמוקה יותר כלל לא הסכימו להתראיין. שלישית, שישה ראיונות נערכו בערבית ובאמהרית ותורגמו לעברית, וכל תרגום כרוך באובדן של גוון. רביעית, שלוש המראיינות הן סטודנטיות למנהל מערכות בריאות, וייתכן שעצם הזיהוי הזה עודד את המרואיינות להציג עמדה חיובית יותר כלפי הבדיקה מזו שהן מחזיקות. מכאן שלושה כיווני המשך: בחינה כמותית של משקל החסם היומיומי לצד החסמים התרבותיים, מחקר השוואתי בין יישובים שבהם פעלה ניידת ממוגרפיה לבין יישובים דומים שבהם לא פעלה, ובחינת ההיענות בקרב נשים מתחת לגיל חמישים בקהילות שבהן חציון גיל האבחון צעיר.</a:t>
            </a:r>
          </a:p>
        </p:txBody>
      </p:sp>
      <p:pic>
        <p:nvPicPr>
          <p:cNvPr id="4" name="Picture 5" descr="תמונה שמכילה טקסט&#10;&#10;התיאור נוצר באופן אוטומטי">
            <a:extLst>
              <a:ext uri="{FF2B5EF4-FFF2-40B4-BE49-F238E27FC236}">
                <a16:creationId xmlns:a16="http://schemas.microsoft.com/office/drawing/2014/main" id="{7D34DE6F-6E8B-E5C0-94B0-7184507AD3F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73817"/>
            <a:ext cx="2118360" cy="1272540"/>
          </a:xfrm>
          <a:prstGeom prst="rect">
            <a:avLst/>
          </a:prstGeom>
        </p:spPr>
      </p:pic>
    </p:spTree>
    <p:extLst>
      <p:ext uri="{BB962C8B-B14F-4D97-AF65-F5344CB8AC3E}">
        <p14:creationId xmlns:p14="http://schemas.microsoft.com/office/powerpoint/2010/main" val="1136172145"/>
      </p:ext>
    </p:extLst>
  </p:cSld>
  <p:clrMapOvr>
    <a:masterClrMapping/>
  </p:clrMapOvr>
</p:sld>
</file>

<file path=ppt/theme/theme1.xml><?xml version="1.0" encoding="utf-8"?>
<a:theme xmlns:a="http://schemas.openxmlformats.org/drawingml/2006/main" name="ערכת נושא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TotalTime>
  <Words>149</Words>
  <Application>Microsoft Office PowerPoint</Application>
  <PresentationFormat>מסך רחב</PresentationFormat>
  <Paragraphs>54</Paragraphs>
  <Slides>16</Slides>
  <Notes>0</Notes>
  <HiddenSlides>0</HiddenSlides>
  <MMClips>0</MMClips>
  <ScaleCrop>false</ScaleCrop>
  <HeadingPairs>
    <vt:vector size="6" baseType="variant">
      <vt:variant>
        <vt:lpstr>גופנים בשימוש</vt:lpstr>
      </vt:variant>
      <vt:variant>
        <vt:i4>3</vt:i4>
      </vt:variant>
      <vt:variant>
        <vt:lpstr>ערכת נושא</vt:lpstr>
      </vt:variant>
      <vt:variant>
        <vt:i4>1</vt:i4>
      </vt:variant>
      <vt:variant>
        <vt:lpstr>כותרות שקופיות</vt:lpstr>
      </vt:variant>
      <vt:variant>
        <vt:i4>16</vt:i4>
      </vt:variant>
    </vt:vector>
  </HeadingPairs>
  <TitlesOfParts>
    <vt:vector size="20" baseType="lpstr">
      <vt:lpstr>Arial</vt:lpstr>
      <vt:lpstr>Calibri</vt:lpstr>
      <vt:lpstr>Calibri Light</vt:lpstr>
      <vt:lpstr>ערכת נושא Office</vt:lpstr>
      <vt:lpstr>פרויקט בנושא :    שנה"ל תשפ"ו </vt:lpstr>
      <vt:lpstr>רקע והצגת הבעיה</vt:lpstr>
      <vt:lpstr>שאלת המחקר ומטרות המחקר</vt:lpstr>
      <vt:lpstr> סקירת ספרות – מה ידוע לנו בנושא  </vt:lpstr>
      <vt:lpstr> סקירת ספרות </vt:lpstr>
      <vt:lpstr> מסגרת תיאורטית / מודל המחקר</vt:lpstr>
      <vt:lpstr> מתודולוגיה</vt:lpstr>
      <vt:lpstr> מתודולוגיה</vt:lpstr>
      <vt:lpstr> כלי המחקר</vt:lpstr>
      <vt:lpstr> ממצאים מרכזיים </vt:lpstr>
      <vt:lpstr> ממצאים מרכזיים </vt:lpstr>
      <vt:lpstr> ממצאים מרכזיים </vt:lpstr>
      <vt:lpstr> סיכום </vt:lpstr>
      <vt:lpstr> סיכום </vt:lpstr>
      <vt:lpstr> המלצות   </vt:lpstr>
      <vt:lpstr> מגבלות המחקר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לבנה עגני</dc:creator>
  <cp:lastModifiedBy>לבנה עגני</cp:lastModifiedBy>
  <cp:revision>3</cp:revision>
  <dcterms:created xsi:type="dcterms:W3CDTF">2026-01-16T04:20:19Z</dcterms:created>
  <dcterms:modified xsi:type="dcterms:W3CDTF">2026-05-25T05:49:31Z</dcterms:modified>
</cp:coreProperties>
</file>