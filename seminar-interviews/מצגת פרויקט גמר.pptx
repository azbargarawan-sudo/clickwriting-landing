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900"/>
  </p:notesMasterIdLst>
  <p:sldIdLst>
    <p:sldId id="256" r:id="rId2"/>
    <p:sldId id="257" r:id="rId3"/>
    <p:sldId id="258" r:id="rId4"/>
    <p:sldId id="259" r:id="rId5"/>
    <p:sldId id="260" r:id="rId6"/>
    <p:sldId id="261" r:id="rId7"/>
    <p:sldId id="262" r:id="rId8"/>
    <p:sldId id="270" r:id="rId9"/>
    <p:sldId id="263" r:id="rId10"/>
    <p:sldId id="264" r:id="rId11"/>
    <p:sldId id="268" r:id="rId12"/>
    <p:sldId id="269" r:id="rId13"/>
    <p:sldId id="265" r:id="rId14"/>
    <p:sldId id="271" r:id="rId15"/>
    <p:sldId id="267" r:id="rId16"/>
    <p:sldId id="266" r:id="rId17"/>
    <p:sldId id="272" r:id="rId2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2" Type="http://schemas.openxmlformats.org/officeDocument/2006/relationships/slide" Target="slides/slide17.xml"/>
<Relationship Id="rId90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ln w="12700">
            <a:solidFill>
              <a:prstClr val="black"/>
            </a:solidFill>
          </a:ln>
        </p:spPr>
        <p:txBody>
          <a:bodyPr/>
          <a:lstStyle/>
          <a:p>
            <a:endParaRPr lang="he-IL"/>
          </a:p>
        </p:txBody>
      </p:sp>
      <p:sp>
        <p:nvSpPr>
          <p:cNvPr id="3" name="Notes Placeholder 2"/>
          <p:cNvSpPr>
            <a:spLocks noGrp="1"/>
          </p:cNvSpPr>
          <p:nvPr>
            <p:ph type="body" idx="1"/>
          </p:nvPr>
        </p:nvSpPr>
        <p:spPr>
          <a:xfrm>
            <a:off x="685800" y="4343400"/>
            <a:ext cx="5486400" cy="4114800"/>
          </a:xfrm>
          <a:prstGeom prst="rect">
            <a:avLst/>
          </a:prstGeom>
        </p:spPr>
        <p:txBody>
          <a:bodyPr vert="horz" lIns="91440" tIns="45720" rIns="91440" bIns="45720" rtlCol="0"/>
          <a:lstStyle/>
          <a:p>
            <a:pPr algn="r" rtl="1"/>
            <a:endParaRPr lang="he-IL"/>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‫הצגת נושא הפרויקט, שמות המגישות והמנחה. כחצי דקה.‬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‫להדגיש כי הבדיקה נגישה וחינמית לשתי הקבוצות, ומכאן שהפער אינו מוסבר בחסם כלכלי.‬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‫להקריא את שאלת המחקר. לציין כי במחקר איכותני לא מוצבות השערות.‬</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‫להציג את שלוש משפחות החסמים בקצרה, ולהתעכב על ממצא התקנון הסוציו-דמוגרפי.‬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‫הנקודה המרכזית היא הפער בין ידע להתנהגות, המוביל אל שאלת המחקר.‬</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‫להסביר מדוע המודלים הקלאסיים אינם מספקים בהקשר קולקטיביסטי, ומהי תרומת הגישה הסוציו-אקולוגית.‬</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‫לנמק את בחירת השיטה האיכותנית ולהדגיש את השונוּת המכוונת שנבנתה במדגם.‬</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‫אין להקריא את הטבלה. להצביע על שלוש שורות המייצגות את קצות הטווח ואת המקרה של האישה שחלתה.‬</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‫לציין את ראיון הפיילוט ואת אופן הטיפול בסוגיות האתיות.‬</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‫להסביר כי החסמים אינם פועלים במקביל אלא כל אחד בשלב אחר בדרך אל הבדיקה, וכי הרצועה התחתונה היא הגורם המעביר את האישה לאורכה.‬</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‫להקריא את הציטוטים במלואם, בהיותם הראיה האמפירית לתמות.‬</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‫להדגיש כי מדובר בחסם שאינו מתועד די הצורך בספרות, ולהסביר מדוע אינו נלכד בשאלונים.‬</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‫שלושת התנאים המפורטים באמצע הפסקה הם ליבת הסיכום.‬</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‫להציג את הממצא בדבר הממד הדתי כממצא החורג מן הצפוי, בליווי הסתייגות בדבר גודל המדגם.‬</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‫לעבור על שש ההמלצות לפי מספרן, ולקשור כל אחת לתמה שממנה נגזרה. להבחין בין רמת המרפאה לרמת המדיניות.‬</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‫להציג את המגבלות כמודעות מתודולוגית, ולעבור לכיווני מחקר ההמשך.‬</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‫שקף המקורות מוצג בקצרה; רשימת המקורות המלאה מופיעה בגוף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F64D3D1-85DB-67CA-C56E-D4D6079FA20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4A96A7EF-4E7A-3FD7-FCB8-64F6E8286A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0549773-F747-FC7B-50C3-1C8730B28062}"/>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5556B087-C108-8276-AA6C-395CD0E8916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3ED484D-BEAD-61B1-C38A-611CCBFB2929}"/>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3969672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291D85-5C2F-D2D4-6886-D3C99270063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644C66C-3AA9-6C10-96CB-6684AD64EF90}"/>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CD4FE44-D35A-56CF-3E95-2936FADA5ECF}"/>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0C642EEF-34A1-AB2F-C99C-3ACC6A484DF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406BA48-0C04-602D-9E93-FD3C2AF89501}"/>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4018631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F677D5-B755-03FA-3E95-5AED78671408}"/>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6E1CEE9-E6FC-5B5E-03CD-4870165C47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73562189-2841-B5D2-73A2-27C06506B06F}"/>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7440FAF0-70EB-D2F5-4F43-A54397B3884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D184798-8B28-7E7C-747C-A24C2F00EBB8}"/>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3558030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21937F-F7A2-9171-D453-C47DDEE5817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39854582-A50D-FCB2-D2F0-A9C7A944BEF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530DD299-B03E-010B-E1A6-0F8CEFACD904}"/>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926AAFB-DCDA-3DB2-840C-ABCDFFD52121}"/>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6" name="מציין מיקום של כותרת תחתונה 5">
            <a:extLst>
              <a:ext uri="{FF2B5EF4-FFF2-40B4-BE49-F238E27FC236}">
                <a16:creationId xmlns:a16="http://schemas.microsoft.com/office/drawing/2014/main" id="{C104DBC0-9E8E-BCB9-2948-98410036B2B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E0C21791-6A35-DEEA-0CE0-712E27933D58}"/>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673317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7FBE860-019A-70B5-1930-33B2E42F0C63}"/>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D22D656-E305-E85B-4705-6D02E57C59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EDD7051E-7031-8900-145B-260B08829FC3}"/>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572CD91E-EC05-66C1-1E96-F56F2DB92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0A4DE0A5-C17A-764E-E2CF-4469BE552399}"/>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5F325FCF-E2FA-F0D4-1536-BCDF34F48322}"/>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8" name="מציין מיקום של כותרת תחתונה 7">
            <a:extLst>
              <a:ext uri="{FF2B5EF4-FFF2-40B4-BE49-F238E27FC236}">
                <a16:creationId xmlns:a16="http://schemas.microsoft.com/office/drawing/2014/main" id="{0F4F6187-63B8-725A-D533-BCF9A48803EF}"/>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E751561D-117E-EEDD-07B9-2C8570DA961F}"/>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255426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78326FE-05E9-5068-5A81-20CB6C36972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74E1F41B-605A-5B7D-55A8-B6C78A88313C}"/>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4" name="מציין מיקום של כותרת תחתונה 3">
            <a:extLst>
              <a:ext uri="{FF2B5EF4-FFF2-40B4-BE49-F238E27FC236}">
                <a16:creationId xmlns:a16="http://schemas.microsoft.com/office/drawing/2014/main" id="{D72E6E8F-1CC7-792A-14D4-A464C258AEE5}"/>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47000BA1-9AF7-ADF2-E18C-F3EFF941F346}"/>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96815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D2C5C053-7874-FD5A-63B8-F7139C95EE44}"/>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3" name="מציין מיקום של כותרת תחתונה 2">
            <a:extLst>
              <a:ext uri="{FF2B5EF4-FFF2-40B4-BE49-F238E27FC236}">
                <a16:creationId xmlns:a16="http://schemas.microsoft.com/office/drawing/2014/main" id="{668426DB-0531-2FA3-79E2-432A7DDF1B1C}"/>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A0226EF6-F757-18B8-F53F-D9D55EFC9D15}"/>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1177699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9BB4A5-F089-B470-EFD2-6377416B646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F81D753-6A92-95C3-51B9-DC5A68895E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2E6DD92E-446F-EF2E-04A4-D02E9E302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2FB84136-91D1-B7D5-9374-2B9DD7932371}"/>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6" name="מציין מיקום של כותרת תחתונה 5">
            <a:extLst>
              <a:ext uri="{FF2B5EF4-FFF2-40B4-BE49-F238E27FC236}">
                <a16:creationId xmlns:a16="http://schemas.microsoft.com/office/drawing/2014/main" id="{5446BBFA-55DB-51A6-DE6A-9B4A0B76197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A6A66B3C-56CC-9EBC-4E10-BBC482036F72}"/>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2018239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1A16DC4-0347-6D29-9E80-57E0DB68092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7318CD40-2BC8-8900-9F11-A36D179415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1E69B543-6619-DFEC-D0D0-369B73E5FC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2E21894C-4D40-56C1-C8A0-B488625B5AC3}"/>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6" name="מציין מיקום של כותרת תחתונה 5">
            <a:extLst>
              <a:ext uri="{FF2B5EF4-FFF2-40B4-BE49-F238E27FC236}">
                <a16:creationId xmlns:a16="http://schemas.microsoft.com/office/drawing/2014/main" id="{D6124730-4ABF-A32A-613F-A5B092471F74}"/>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75514D66-8CFF-BB87-394E-3981E397654F}"/>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1725268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3ECE0F6-AC8C-98A8-95F4-62CB8580554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1F19B80-19D4-050D-1734-B800618F275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4D53C86-0659-5197-AC5F-D9E22D408DF2}"/>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98974029-2D33-C8FB-70E1-7709768E3D3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8A5DADD-4065-9E8C-6BB4-620054B02BB9}"/>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136364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CA9F6406-B870-257E-A703-15066BFD2CFC}"/>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F2464919-2EBC-72FC-B0F3-6638E89648DB}"/>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8C79414-D177-C8E2-01B3-932A21FDC311}"/>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0C73920E-317F-C0B5-32B0-979B9CF27F6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5D4778C-6A50-4B40-893A-2ADAE006BA6C}"/>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2979331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F22D2C69-01A8-D4ED-B88F-00771B34317F}"/>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491B276-A98B-E562-185C-EA395B4FAA4E}"/>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E3B22C9-6905-61CE-0E15-3731F4B717B8}"/>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52DE4D67-E194-48DA-F34D-2382ED9B2F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4D17051E-9340-3DC6-AE92-E31E8E34752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3345543-9059-4467-A4F1-9136CE46C063}" type="slidenum">
              <a:rPr lang="he-IL" smtClean="0"/>
              <a:t>‹#›</a:t>
            </a:fld>
            <a:endParaRPr lang="he-IL"/>
          </a:p>
        </p:txBody>
      </p:sp>
    </p:spTree>
    <p:extLst>
      <p:ext uri="{BB962C8B-B14F-4D97-AF65-F5344CB8AC3E}">
        <p14:creationId xmlns:p14="http://schemas.microsoft.com/office/powerpoint/2010/main" val="89890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image" Target="../media/findings_path_wide.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6DAE12-3AD3-D29C-F7F4-5B3D11194157}"/>
              </a:ext>
            </a:extLst>
          </p:cNvPr>
          <p:cNvSpPr>
            <a:spLocks noGrp="1"/>
          </p:cNvSpPr>
          <p:nvPr>
            <p:ph type="ctrTitle"/>
          </p:nvPr>
        </p:nvSpPr>
        <p:spPr/>
        <p:txBody>
          <a:bodyPr/>
          <a:lstStyle/>
          <a:p>
            <a:pPr marL="0" indent="0" algn="ctr" rtl="1">
              <a:lnSpc>
                <a:spcPct val="100000"/>
              </a:lnSpc>
              <a:spcBef>
                <a:spcPts val="0"/>
              </a:spcBef>
              <a:buNone/>
            </a:pPr>
            <a:r>
              <a:rPr lang="he-IL" sz="1800" b="1" dirty="0">
                <a:solidFill>
                  <a:srgbClr val="44546A"/>
                </a:solidFill>
                <a:cs typeface="+mn-cs"/>
              </a:rPr>
              <a:t>‫פרויקט גמר בנושא:‬</a:t>
            </a:r>
          </a:p>
          <a:p>
            <a:pPr marL="0" indent="0" algn="ctr" rtl="1">
              <a:lnSpc>
                <a:spcPct val="100000"/>
              </a:lnSpc>
              <a:spcBef>
                <a:spcPts val="400"/>
              </a:spcBef>
              <a:buNone/>
            </a:pPr>
            <a:r>
              <a:rPr lang="he-IL" sz="2800" b="1" dirty="0">
                <a:cs typeface="+mn-cs"/>
              </a:rPr>
              <a:t>‫היענות לבדיקות ממוגרפיה בחברה הערבית בישראל‬</a:t>
            </a:r>
          </a:p>
          <a:p>
            <a:pPr marL="0" indent="0" algn="ctr" rtl="1">
              <a:lnSpc>
                <a:spcPct val="100000"/>
              </a:lnSpc>
              <a:spcBef>
                <a:spcPts val="200"/>
              </a:spcBef>
              <a:buNone/>
            </a:pPr>
            <a:r>
              <a:rPr lang="he-IL" sz="2200" dirty="0">
                <a:solidFill>
                  <a:srgbClr val="1F3864"/>
                </a:solidFill>
                <a:cs typeface="+mn-cs"/>
              </a:rPr>
              <a:t>‫חסמים, מאיצים ודרכים להגברת ההיענות‬</a:t>
            </a:r>
          </a:p>
          <a:p>
            <a:pPr marL="0" indent="0" algn="ctr" rtl="1">
              <a:lnSpc>
                <a:spcPct val="100000"/>
              </a:lnSpc>
              <a:spcBef>
                <a:spcPts val="400"/>
              </a:spcBef>
              <a:buNone/>
            </a:pPr>
            <a:r>
              <a:rPr lang="he-IL" sz="1500" dirty="0">
                <a:solidFill>
                  <a:srgbClr val="44546A"/>
                </a:solidFill>
                <a:cs typeface="+mn-cs"/>
              </a:rPr>
              <a:t>‫מחקר איכותני מבוסס שנים עשר ראיונות עומק, שנה"ל תשפ"ו‬</a:t>
            </a:r>
          </a:p>
        </p:txBody>
      </p:sp>
      <p:sp>
        <p:nvSpPr>
          <p:cNvPr id="3" name="כותרת משנה 2">
            <a:extLst>
              <a:ext uri="{FF2B5EF4-FFF2-40B4-BE49-F238E27FC236}">
                <a16:creationId xmlns:a16="http://schemas.microsoft.com/office/drawing/2014/main" id="{508DAE19-C980-FAC7-F3C6-C573BBE676ED}"/>
              </a:ext>
            </a:extLst>
          </p:cNvPr>
          <p:cNvSpPr>
            <a:spLocks noGrp="1"/>
          </p:cNvSpPr>
          <p:nvPr>
            <p:ph type="subTitle" idx="1"/>
          </p:nvPr>
        </p:nvSpPr>
        <p:spPr/>
        <p:txBody>
          <a:bodyPr/>
          <a:lstStyle/>
          <a:p>
            <a:pPr marL="0" indent="0" algn="ctr" rtl="1">
              <a:lnSpc>
                <a:spcPct val="100000"/>
              </a:lnSpc>
              <a:spcBef>
                <a:spcPts val="0"/>
              </a:spcBef>
              <a:buNone/>
            </a:pPr>
            <a:r>
              <a:rPr lang="he-IL" sz="1300" b="1" dirty="0">
                <a:solidFill>
                  <a:srgbClr val="44546A"/>
                </a:solidFill>
                <a:cs typeface="+mn-cs"/>
              </a:rPr>
              <a:t>‫מגישות:‬</a:t>
            </a:r>
          </a:p>
          <a:p>
            <a:pPr marL="0" indent="0" algn="ctr" rtl="1">
              <a:lnSpc>
                <a:spcPct val="100000"/>
              </a:lnSpc>
              <a:spcBef>
                <a:spcPts val="90"/>
              </a:spcBef>
              <a:buNone/>
            </a:pPr>
            <a:r>
              <a:rPr lang="he-IL" sz="1300" dirty="0">
                <a:cs typeface="+mn-cs"/>
              </a:rPr>
              <a:t>‫מראם זיד        ת.ז. 211794235‬</a:t>
            </a:r>
          </a:p>
          <a:p>
            <a:pPr marL="0" indent="0" algn="ctr" rtl="1">
              <a:lnSpc>
                <a:spcPct val="100000"/>
              </a:lnSpc>
              <a:spcBef>
                <a:spcPts val="90"/>
              </a:spcBef>
              <a:buNone/>
            </a:pPr>
            <a:r>
              <a:rPr lang="he-IL" sz="1300" dirty="0">
                <a:cs typeface="+mn-cs"/>
              </a:rPr>
              <a:t>‫טגאיה סמאנך        ת.ז. 337622344‬</a:t>
            </a:r>
          </a:p>
          <a:p>
            <a:pPr marL="0" indent="0" algn="ctr" rtl="1">
              <a:lnSpc>
                <a:spcPct val="100000"/>
              </a:lnSpc>
              <a:spcBef>
                <a:spcPts val="90"/>
              </a:spcBef>
              <a:buNone/>
            </a:pPr>
            <a:r>
              <a:rPr lang="he-IL" sz="1300" dirty="0">
                <a:cs typeface="+mn-cs"/>
              </a:rPr>
              <a:t>‫עאליה אבו עראר        ת.ז. 2114908139‬</a:t>
            </a:r>
          </a:p>
          <a:p>
            <a:pPr marL="0" indent="0" algn="ctr" rtl="1">
              <a:lnSpc>
                <a:spcPct val="100000"/>
              </a:lnSpc>
              <a:spcBef>
                <a:spcPts val="90"/>
              </a:spcBef>
              <a:buNone/>
            </a:pPr>
            <a:r>
              <a:rPr lang="he-IL" sz="1300" dirty="0">
                <a:cs typeface="+mn-cs"/>
              </a:rPr>
              <a:t>‫לילה נגילי        ת.ז. 214175473‬</a:t>
            </a:r>
          </a:p>
          <a:p>
            <a:pPr marL="0" indent="0" algn="ctr" rtl="1">
              <a:lnSpc>
                <a:spcPct val="100000"/>
              </a:lnSpc>
              <a:spcBef>
                <a:spcPts val="200"/>
              </a:spcBef>
              <a:buNone/>
            </a:pPr>
            <a:r>
              <a:rPr lang="he-IL" sz="1300" dirty="0">
                <a:cs typeface="+mn-cs"/>
              </a:rPr>
              <a:t>‫בהנחיית: ד"ר אסנת בשקין‬</a:t>
            </a:r>
          </a:p>
          <a:p>
            <a:pPr marL="0" indent="0" algn="ctr" rtl="1">
              <a:lnSpc>
                <a:spcPct val="100000"/>
              </a:lnSpc>
              <a:spcBef>
                <a:spcPts val="180"/>
              </a:spcBef>
              <a:buNone/>
            </a:pPr>
            <a:r>
              <a:rPr lang="he-IL" sz="1200" dirty="0">
                <a:solidFill>
                  <a:srgbClr val="44546A"/>
                </a:solidFill>
                <a:cs typeface="+mn-cs"/>
              </a:rPr>
              <a:t>‫המרכז האקדמי פרס, החוג למנהל מערכות בריאות‬</a:t>
            </a:r>
          </a:p>
        </p:txBody>
      </p:sp>
      <p:pic>
        <p:nvPicPr>
          <p:cNvPr id="4" name="Picture 5" descr="תמונה שמכילה טקסט&#10;&#10;התיאור נוצר באופן אוטומטי">
            <a:extLst>
              <a:ext uri="{FF2B5EF4-FFF2-40B4-BE49-F238E27FC236}">
                <a16:creationId xmlns:a16="http://schemas.microsoft.com/office/drawing/2014/main" id="{B841957D-28CC-9381-AEC5-EDEFB097CA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Tree>
    <p:extLst>
      <p:ext uri="{BB962C8B-B14F-4D97-AF65-F5344CB8AC3E}">
        <p14:creationId xmlns:p14="http://schemas.microsoft.com/office/powerpoint/2010/main" val="3526876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96F34F-7D0E-2B88-A33F-F6FE519B1D07}"/>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‫רקע והצגת הבעיה‬</a:t>
            </a:r>
          </a:p>
        </p:txBody>
      </p:sp>
      <p:sp>
        <p:nvSpPr>
          <p:cNvPr id="3" name="מציין מיקום תוכן 2">
            <a:extLst>
              <a:ext uri="{FF2B5EF4-FFF2-40B4-BE49-F238E27FC236}">
                <a16:creationId xmlns:a16="http://schemas.microsoft.com/office/drawing/2014/main" id="{A50D5DFE-1DFA-C4B1-078E-FF5C11B667AA}"/>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‫סרטן השד הוא הגידול הממאיר השכיח ביותר בקרב נשים בישראל, ובהיעדר אמצעי ודאי למניעה ראשונית מתמקד המאמץ הרפואי בגילוי מוקדם. בדיקת הממוגרפיה נכללת בסל הבריאות וניתנת ללא תשלום לנשים בגילאי 50 עד 74 אחת לשנתיים, ומכאן שחסם העלות אינו רלוונטי בהקשר הישראלי. חרף זאת מתועד פער מתמשך בשיעורי הביצוע: על פי נתוני הסקר החברתי לשנת 2017 ביצעו ממוגרפיה </a:t>
            </a:r>
            <a:r>
              <a:rPr lang="he-IL" sz="2200" b="1" dirty="0">
                <a:solidFill>
                  <a:srgbClr val="1F3864"/>
                </a:solidFill>
                <a:cs typeface="+mn-cs"/>
              </a:rPr>
              <a:t>78.2% מן הנשים היהודיות לעומת 64.8% מן הנשים הערביות</a:t>
            </a:r>
            <a:r>
              <a:rPr lang="he-IL" sz="2200" dirty="0">
                <a:cs typeface="+mn-cs"/>
              </a:rPr>
              <a:t> (הלשכה המרכזית לסטטיסטיקה, 2019). לפער זה נלווה הבדל בשלב האבחון ובגיל שבו הוא מתרחש, ובקרב נשים בדואיות בנגב עומד חציון גיל האבחון על כ-48 שנים לעומת כ-62 שנים בקרב נשים יהודיות (Ben Shitrit et al., 2024), כך שחלק ניכר מן התחלואה מתרחש מתחת לגיל הסף של תוכנית הסקר. </a:t>
            </a:r>
            <a:r>
              <a:rPr lang="he-IL" sz="2200" b="1" dirty="0">
                <a:solidFill>
                  <a:srgbClr val="1F3864"/>
                </a:solidFill>
                <a:cs typeface="+mn-cs"/>
              </a:rPr>
              <a:t>הבעיה הניהולית הנגזרת מכך אינה בעיה של זמינות השירות אלא של מימושו בפועל</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321644BB-B241-907F-6C9D-C5D346FFB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2}" type="slidenum">
              <a:rPr lang="he-IL" sz="1200"/>
              <a:t>2</a:t>
            </a:fld>
          </a:p>
        </p:txBody>
      </p:sp>
    </p:spTree>
    <p:extLst>
      <p:ext uri="{BB962C8B-B14F-4D97-AF65-F5344CB8AC3E}">
        <p14:creationId xmlns:p14="http://schemas.microsoft.com/office/powerpoint/2010/main" val="2228148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CF776-28D2-0199-8BB3-A8FD3930D02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ACE71FB-8840-5B55-2DEB-E07B8FAE6FD4}"/>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‫שאלת המחקר ומטרות המחקר‬</a:t>
            </a:r>
          </a:p>
        </p:txBody>
      </p:sp>
      <p:sp>
        <p:nvSpPr>
          <p:cNvPr id="3" name="מציין מיקום תוכן 2">
            <a:extLst>
              <a:ext uri="{FF2B5EF4-FFF2-40B4-BE49-F238E27FC236}">
                <a16:creationId xmlns:a16="http://schemas.microsoft.com/office/drawing/2014/main" id="{1B085C4A-2426-BD2D-76D5-0CA4C536E147}"/>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‫שאלת המחקר היא </a:t>
            </a:r>
            <a:r>
              <a:rPr lang="he-IL" sz="2200" b="1" dirty="0">
                <a:solidFill>
                  <a:srgbClr val="1F3864"/>
                </a:solidFill>
                <a:cs typeface="+mn-cs"/>
              </a:rPr>
              <a:t>אילו גורמים מעכבים ומקדמים את היענותן של נשים בחברה הערבית בישראל לבדיקות ממוגרפיה, וכיצד ניתן להגביר אותה</a:t>
            </a:r>
            <a:r>
              <a:rPr lang="he-IL" sz="2200" dirty="0">
                <a:cs typeface="+mn-cs"/>
              </a:rPr>
              <a:t>. מאחר שהמחקר איכותני ומטרתו לתאר מנגנון ולא לאמוד את שכיחותו, נוסחה שאלה פתוחה ולא הוצבו השערות מחקר. משאלה זו נגזרות שלוש מטרות. הראשונה היא זיהוי החסמים והמאיצים כפי שהם מנוסחים על ידי הנשים עצמן, ולא כפי שהם מסווגים מראש בספרות. השנייה היא בחינת יחסי הגומלין בין הגורמים, מתוך ההנחה כי הם נחווים כמכשול מצטבר אחד ולא כרשימה של חסמים נפרדים. השלישית היא גזירת המלצות יישומיות לקופות החולים ולמשרד הבריאות, בהתאם לאופיו הפרקטי של פרויקט הגמר. הבחירה באוכלוסיית הנשים כמושא הראיון, ולא באנשי מקצוע בלבד, נשענת על ההנחה כי </a:t>
            </a:r>
            <a:r>
              <a:rPr lang="he-IL" sz="2200" b="1" dirty="0">
                <a:solidFill>
                  <a:srgbClr val="1F3864"/>
                </a:solidFill>
                <a:cs typeface="+mn-cs"/>
              </a:rPr>
              <a:t>הימנעות מבדיקה היא התנהגות בעלת היגיון פנימי הניתן לתיאור ולניתוח</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F192BC1E-C7F1-8496-FA05-FA5015C9C6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3}" type="slidenum">
              <a:rPr lang="he-IL" sz="1200"/>
              <a:t>3</a:t>
            </a:fld>
          </a:p>
        </p:txBody>
      </p:sp>
    </p:spTree>
    <p:extLst>
      <p:ext uri="{BB962C8B-B14F-4D97-AF65-F5344CB8AC3E}">
        <p14:creationId xmlns:p14="http://schemas.microsoft.com/office/powerpoint/2010/main" val="245311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B17C8-0409-3BA0-A414-C3314C94FB3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93A83BD-52A1-9A42-2615-AD7D9804540F}"/>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‫סקירת ספרות – מה ידוע לנו בנושא‬</a:t>
            </a:r>
          </a:p>
        </p:txBody>
      </p:sp>
      <p:sp>
        <p:nvSpPr>
          <p:cNvPr id="3" name="מציין מיקום תוכן 2">
            <a:extLst>
              <a:ext uri="{FF2B5EF4-FFF2-40B4-BE49-F238E27FC236}">
                <a16:creationId xmlns:a16="http://schemas.microsoft.com/office/drawing/2014/main" id="{BE6DA6D7-7F9E-6F58-4D29-24C8245D2A1C}"/>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‫הספרות המחקרית מזהה שלוש משפחות של חסמים להיענות. במישור התרבותי והרגשי מתועדים הבושה והמבוכה הכרוכות בחשיפת הגוף, החשש מפני תיוג חברתי ורכילות, החשש לפגיעה במעמד המשפחה ובסיכויי הנישואין של בנותיה, והפחד מן המחלה ומתוצאות הבדיקה (Cohen &amp; Azaiza, 2006). במישור האמוני מתועדות תפיסות פטליסטיות הרואות במחלה גורל שאין לשנותו, ואלה נמצאו כמנבאות מובהקות של אי-היענות (Azaiza et al., 2010). במישור המבני והמערכתי מזוהים מרחק ותלות בהסעה, היעדר בודקת אישה, פערי שפה וזימונים שאינם מגיעים או שאינם מובנים (מורן ואבו עבייד, 2018). לצד אלה עולה מן הספרות העדכנית כי </a:t>
            </a:r>
            <a:r>
              <a:rPr lang="he-IL" sz="2200" b="1" dirty="0">
                <a:solidFill>
                  <a:srgbClr val="1F3864"/>
                </a:solidFill>
                <a:cs typeface="+mn-cs"/>
              </a:rPr>
              <a:t>הפערים בתמותה בין הקבוצות מצטמצמים ואינם נותרים מובהקים לאחר תקנון למשתנים סוציו-דמוגרפיים</a:t>
            </a:r>
            <a:r>
              <a:rPr lang="he-IL" sz="2200" dirty="0">
                <a:cs typeface="+mn-cs"/>
              </a:rPr>
              <a:t>, ממצא הממקם את מקורם של הפערים בתחום המדיניות הציבורית ולא בתחום הביולוגי (Pinchas-Mizrachi &amp; Bouhnik, 2024).‬</a:t>
            </a:r>
          </a:p>
        </p:txBody>
      </p:sp>
      <p:pic>
        <p:nvPicPr>
          <p:cNvPr id="4" name="Picture 5" descr="תמונה שמכילה טקסט&#10;&#10;התיאור נוצר באופן אוטומטי">
            <a:extLst>
              <a:ext uri="{FF2B5EF4-FFF2-40B4-BE49-F238E27FC236}">
                <a16:creationId xmlns:a16="http://schemas.microsoft.com/office/drawing/2014/main" id="{22DF6DA0-75BE-4965-5E2E-07AD6C88A0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4}" type="slidenum">
              <a:rPr lang="he-IL" sz="1200"/>
              <a:t>4</a:t>
            </a:fld>
          </a:p>
        </p:txBody>
      </p:sp>
    </p:spTree>
    <p:extLst>
      <p:ext uri="{BB962C8B-B14F-4D97-AF65-F5344CB8AC3E}">
        <p14:creationId xmlns:p14="http://schemas.microsoft.com/office/powerpoint/2010/main" val="2934127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DED9-9E78-81BD-1263-7B1A762B3FD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7C55036-AB19-F8BD-8FBC-CD9BC6A6054E}"/>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‫סקירת ספרות‬</a:t>
            </a:r>
          </a:p>
        </p:txBody>
      </p:sp>
      <p:sp>
        <p:nvSpPr>
          <p:cNvPr id="3" name="מציין מיקום תוכן 2">
            <a:extLst>
              <a:ext uri="{FF2B5EF4-FFF2-40B4-BE49-F238E27FC236}">
                <a16:creationId xmlns:a16="http://schemas.microsoft.com/office/drawing/2014/main" id="{8C71DE5C-EF5C-4E48-FF53-F69C1A04DED5}"/>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‫לצד החסמים מזוהים בספרות גורמים מאיצים, ובראשם </a:t>
            </a:r>
            <a:r>
              <a:rPr lang="he-IL" sz="2200" b="1" dirty="0">
                <a:solidFill>
                  <a:srgbClr val="1F3864"/>
                </a:solidFill>
                <a:cs typeface="+mn-cs"/>
              </a:rPr>
              <a:t>המלצה אקטיבית מצד ספק שירותי הבריאות</a:t>
            </a:r>
            <a:r>
              <a:rPr lang="he-IL" sz="2200" dirty="0">
                <a:cs typeface="+mn-cs"/>
              </a:rPr>
              <a:t>, שנמצאה כמנבא המובהק והעקבי ביותר לביצוע הבדיקה, לצד זימון יזום ממוחשב, מכתבי הזמנה ותזכורות (Freund et al., 2019). התערבויות מותאמות-תרבות, המועברות בשפת הנשים ובאמצעות דמויות מפתח מן הקהילה ובהן נשים ששרדו את המחלה, נמצאו אפקטיביות יותר מקמפיינים חינוכיים גנריים (Cohen &amp; Azaiza, 2008). הסוגיה שנותרה פתוחה היא </a:t>
            </a:r>
            <a:r>
              <a:rPr lang="he-IL" sz="2200" b="1" dirty="0">
                <a:solidFill>
                  <a:srgbClr val="1F3864"/>
                </a:solidFill>
                <a:cs typeface="+mn-cs"/>
              </a:rPr>
              <a:t>הפער שבין ידע להתנהגות</a:t>
            </a:r>
            <a:r>
              <a:rPr lang="he-IL" sz="2200" dirty="0">
                <a:cs typeface="+mn-cs"/>
              </a:rPr>
              <a:t>: רוב הנשים הערביות מעל גיל חמישים כבר עברו ממוגרפיה לפחות פעם אחת, ואף על פי כן ההיענות ללוח הזמנים המומלץ נותרת נמוכה (Cohen &amp; Azaiza, 2006). מאחר שמרבית המחקרים בתחום כמותיים, הם מתעדים את שכיחות החסמים ואת עוצמת הקשר שלהם להיענות, אך אינם מתארים את אופן פעולתם בפועל, וזהו החלל שהפרויקט הנוכחי מבקש למלא.‬</a:t>
            </a:r>
          </a:p>
        </p:txBody>
      </p:sp>
      <p:pic>
        <p:nvPicPr>
          <p:cNvPr id="4" name="Picture 5" descr="תמונה שמכילה טקסט&#10;&#10;התיאור נוצר באופן אוטומטי">
            <a:extLst>
              <a:ext uri="{FF2B5EF4-FFF2-40B4-BE49-F238E27FC236}">
                <a16:creationId xmlns:a16="http://schemas.microsoft.com/office/drawing/2014/main" id="{DDE83C73-1DE7-4106-CFC5-876F21123E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5}" type="slidenum">
              <a:rPr lang="he-IL" sz="1200"/>
              <a:t>5</a:t>
            </a:fld>
          </a:p>
        </p:txBody>
      </p:sp>
    </p:spTree>
    <p:extLst>
      <p:ext uri="{BB962C8B-B14F-4D97-AF65-F5344CB8AC3E}">
        <p14:creationId xmlns:p14="http://schemas.microsoft.com/office/powerpoint/2010/main" val="302443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BCB4-C084-D9E2-B3BA-23E4B793543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F633387-D91C-D346-D201-3B3FCC935531}"/>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‫מסגרת תיאורטית / מודל המחקר‬</a:t>
            </a:r>
          </a:p>
        </p:txBody>
      </p:sp>
      <p:sp>
        <p:nvSpPr>
          <p:cNvPr id="3" name="מציין מיקום תוכן 2">
            <a:extLst>
              <a:ext uri="{FF2B5EF4-FFF2-40B4-BE49-F238E27FC236}">
                <a16:creationId xmlns:a16="http://schemas.microsoft.com/office/drawing/2014/main" id="{7544F465-AC94-64CB-B877-5B8A71523212}"/>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‫המסגרת התיאורטית המרכזית בתחום היא מודל האמונות הבריאותיות, המסביר התנהגות מונעת באמצעות תפיסת הפגיעוּת האישית, תפיסת חומרת המחלה, התועלות הנתפסות מן הבדיקה והחסמים הנתפסים בפניה, לצד רמזים לפעולה ותחושת מסוגלות עצמית (סטרן, 2007). לצידו משמשים מודל שלבי השינוי, המאפשר התאמת ההתערבות לשלב שבו מצויה האישה, ותיאוריית הפעולה המנומקת, הרואה בכוונה ההתנהגותית תוצר של עמדות אישיות ושל נורמות חברתיות נתפסות, שנמצאו בעלות כוח הסבר ניכר בקרב נשים ערביות מוסלמיות בישראל (Soskolne et al., 2007). מגבלתם המשותפת של מודלים אלה היא שפותחו בהקשר מערבי-אינדיבידואליסטי ואינם לוכדים במלואם משתנים כגון בושה, מבנה משפחה מורחבת ותפיסות דתיות. לפיכך אומצה כאן גם </a:t>
            </a:r>
            <a:r>
              <a:rPr lang="he-IL" sz="2200" b="1" dirty="0">
                <a:solidFill>
                  <a:srgbClr val="1F3864"/>
                </a:solidFill>
                <a:cs typeface="+mn-cs"/>
              </a:rPr>
              <a:t>הגישה הסוציו-אקולוגית</a:t>
            </a:r>
            <a:r>
              <a:rPr lang="he-IL" sz="2200" dirty="0">
                <a:cs typeface="+mn-cs"/>
              </a:rPr>
              <a:t>, הבוחנת את ההתנהגות בארבע רמות המשפיעות זו על זו, האישית, הבין-אישית, הקהילתית והמערכתית, ומדגישה כי התערבות ברמה אחת בלבד אינה מספקת (Alatawneh et al., 2024).‬</a:t>
            </a:r>
          </a:p>
        </p:txBody>
      </p:sp>
      <p:pic>
        <p:nvPicPr>
          <p:cNvPr id="4" name="Picture 5" descr="תמונה שמכילה טקסט&#10;&#10;התיאור נוצר באופן אוטומטי">
            <a:extLst>
              <a:ext uri="{FF2B5EF4-FFF2-40B4-BE49-F238E27FC236}">
                <a16:creationId xmlns:a16="http://schemas.microsoft.com/office/drawing/2014/main" id="{B6ECF845-FB8F-1292-D135-7F5E1C33F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6}" type="slidenum">
              <a:rPr lang="he-IL" sz="1200"/>
              <a:t>6</a:t>
            </a:fld>
          </a:p>
        </p:txBody>
      </p:sp>
    </p:spTree>
    <p:extLst>
      <p:ext uri="{BB962C8B-B14F-4D97-AF65-F5344CB8AC3E}">
        <p14:creationId xmlns:p14="http://schemas.microsoft.com/office/powerpoint/2010/main" val="3631464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7A40-9816-ED34-C833-E928F4D9383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25BBC66-4660-A7E3-2BBC-A43FAF4F091A}"/>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‫מתודולוגיה‬</a:t>
            </a:r>
          </a:p>
        </p:txBody>
      </p:sp>
      <p:sp>
        <p:nvSpPr>
          <p:cNvPr id="3" name="מציין מיקום תוכן 2">
            <a:extLst>
              <a:ext uri="{FF2B5EF4-FFF2-40B4-BE49-F238E27FC236}">
                <a16:creationId xmlns:a16="http://schemas.microsoft.com/office/drawing/2014/main" id="{59E4B39C-4FC6-AC59-E837-8C2C10329005}"/>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‫המחקר הוא מחקר איכותני המבוסס על ראיונות עומק חצי מובנים. בחירת השיטה נגזרת מאופייה של שאלת המחקר, שכן מושגים כגון בושה, חשש מאבחנה ותפיסות של גורל אינם ניתנים למדידה מהימנה בכלי סגור, והם עולים לרוב באופן עקיף ובלתי מתוכנן במהלך הראיון. אוכלוסיית המחקר מוגדרת כנשים בגיל הרלוונטי לבדיקה או בסמוך לו, ובמדגם נכללו </a:t>
            </a:r>
            <a:r>
              <a:rPr lang="he-IL" sz="2200" b="1" dirty="0">
                <a:solidFill>
                  <a:srgbClr val="1F3864"/>
                </a:solidFill>
                <a:cs typeface="+mn-cs"/>
              </a:rPr>
              <a:t>שתים עשרה נשים בגילאי 44 עד 66</a:t>
            </a:r>
            <a:r>
              <a:rPr lang="he-IL" sz="2200" dirty="0">
                <a:cs typeface="+mn-cs"/>
              </a:rPr>
              <a:t> שנבחרו בדגימה מכוונת ובשיטת כדור השלג. המדגם נבנה תוך הקפדה על שונוּת פנימית, והוא כולל נשים מוסלמיות, נוצרייה, דרוזית ובדואיות מיישובים ערביים, מערים מעורבות ומן הנגב, ברמות השכלה הנעות משמונה שנות לימוד ועד תואר אקדמי, ולצידן אישה יוצאת אתיופיה שנכללה לצורך הבחנה בין חסם תרבותי לבין חסם של שפה ונגישות בקבוצת מיעוט אחרת.‬</a:t>
            </a:r>
          </a:p>
        </p:txBody>
      </p:sp>
      <p:pic>
        <p:nvPicPr>
          <p:cNvPr id="4" name="Picture 5" descr="תמונה שמכילה טקסט&#10;&#10;התיאור נוצר באופן אוטומטי">
            <a:extLst>
              <a:ext uri="{FF2B5EF4-FFF2-40B4-BE49-F238E27FC236}">
                <a16:creationId xmlns:a16="http://schemas.microsoft.com/office/drawing/2014/main" id="{BC204128-A373-653E-B93D-8C4294BDEC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7}" type="slidenum">
              <a:rPr lang="he-IL" sz="1200"/>
              <a:t>7</a:t>
            </a:fld>
          </a:p>
        </p:txBody>
      </p:sp>
    </p:spTree>
    <p:extLst>
      <p:ext uri="{BB962C8B-B14F-4D97-AF65-F5344CB8AC3E}">
        <p14:creationId xmlns:p14="http://schemas.microsoft.com/office/powerpoint/2010/main" val="150379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230A7-5952-184B-134A-CEE5288224E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253405A-465D-AC3F-2725-B23165D4AD0A}"/>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‫מתודולוגיה‬</a:t>
            </a:r>
          </a:p>
        </p:txBody>
      </p:sp>
      <p:sp>
        <p:nvSpPr>
          <p:cNvPr id="3" name="מציין מיקום תוכן 2">
            <a:extLst>
              <a:ext uri="{FF2B5EF4-FFF2-40B4-BE49-F238E27FC236}">
                <a16:creationId xmlns:a16="http://schemas.microsoft.com/office/drawing/2014/main" id="{7D475B19-7EB9-9489-835D-273D9AE1887C}"/>
              </a:ext>
            </a:extLst>
          </p:cNvPr>
          <p:cNvSpPr>
            <a:spLocks noGrp="1"/>
          </p:cNvSpPr>
          <p:nvPr>
            <p:ph idx="1"/>
          </p:nvPr>
        </p:nvSpPr>
        <p:spPr>
          <a:xfrm>
            <a:off x="841248" y="1828800"/>
            <a:ext cx="10515600" cy="676656"/>
          </a:xfrm>
        </p:spPr>
        <p:txBody>
          <a:bodyPr>
            <a:normAutofit/>
          </a:bodyPr>
          <a:lstStyle/>
          <a:p>
            <a:pPr marL="0" indent="0" algn="r" rtl="1">
              <a:lnSpc>
                <a:spcPct val="100000"/>
              </a:lnSpc>
              <a:spcBef>
                <a:spcPts val="0"/>
              </a:spcBef>
              <a:buNone/>
            </a:pPr>
            <a:r>
              <a:rPr lang="he-IL" sz="2000" dirty="0">
                <a:cs typeface="+mn-cs"/>
              </a:rPr>
              <a:t>‫המדגם נבנה כך שיכסה את מלוא הטווח של התנהגות ההיבדקות, מנשים הנבדקות בקביעות ועד נשים שמעולם לא נבדקו.‬</a:t>
            </a:r>
          </a:p>
        </p:txBody>
      </p:sp>
      <p:pic>
        <p:nvPicPr>
          <p:cNvPr id="4" name="Picture 5" descr="תמונה שמכילה טקסט&#10;&#10;התיאור נוצר באופן אוטומטי">
            <a:extLst>
              <a:ext uri="{FF2B5EF4-FFF2-40B4-BE49-F238E27FC236}">
                <a16:creationId xmlns:a16="http://schemas.microsoft.com/office/drawing/2014/main" id="{5DE9C619-220F-193A-4DEF-D3F27A6625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graphicFrame>
        <p:nvGraphicFramePr>
          <p:cNvPr id="20" name="טבלת המרואיינות"/>
          <p:cNvGraphicFramePr>
            <a:graphicFrameLocks noGrp="1"/>
          </p:cNvGraphicFramePr>
          <p:nvPr/>
        </p:nvGraphicFramePr>
        <p:xfrm>
          <a:off x="841248" y="2606040"/>
          <a:ext cx="10515600" cy="3447288"/>
        </p:xfrm>
        <a:graphic>
          <a:graphicData uri="http://schemas.openxmlformats.org/drawingml/2006/table">
            <a:tbl>
              <a:tblPr rtl="0" firstRow="1"/>
              <a:tblGrid>
                <a:gridCol w="4114800"/>
                <a:gridCol w="2651760"/>
                <a:gridCol w="1234440"/>
                <a:gridCol w="457200"/>
                <a:gridCol w="1600200"/>
                <a:gridCol w="457200"/>
              </a:tblGrid>
              <a:tr h="265176">
                <a:tc>
                  <a:txBody>
                    <a:bodyPr/>
                    <a:lstStyle/>
                    <a:p>
                      <a:pPr algn="r" rtl="1">
                        <a:lnSpc>
                          <a:spcPct val="100000"/>
                        </a:lnSpc>
                        <a:spcBef>
                          <a:spcPts val="0"/>
                        </a:spcBef>
                        <a:buNone/>
                      </a:pPr>
                      <a:r>
                        <a:rPr lang="he-IL" sz="1000" b="1" dirty="0">
                          <a:solidFill>
                            <a:srgbClr val="FFFFFF"/>
                          </a:solidFill>
                          <a:cs typeface="+mn-cs"/>
                        </a:rPr>
                        <a:t>‫מיקום על ציר ההיענות‬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‫השכלה ועיסוק‬</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‫יישוב‬</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‫גיל‬</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‫שם בדוי‬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r>
              <a:tr h="265176">
                <a:tc>
                  <a:txBody>
                    <a:bodyPr/>
                    <a:lstStyle/>
                    <a:p>
                      <a:pPr algn="r" rtl="1">
                        <a:lnSpc>
                          <a:spcPct val="100000"/>
                        </a:lnSpc>
                        <a:spcBef>
                          <a:spcPts val="0"/>
                        </a:spcBef>
                        <a:buNone/>
                      </a:pPr>
                      <a:r>
                        <a:rPr lang="he-IL" sz="950" dirty="0">
                          <a:cs typeface="+mn-cs"/>
                        </a:rPr>
                        <a:t>‫נבדקה פעמיים, באיחור של כשנתיים‬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‫12 שנות לימוד; סייעת בגן‬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‫רמלה‬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‫54‬</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‫ופאא דכוור‬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‫1‬</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‫נבדקה אחרי פנייה טלפונית באמהרית‬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‫4 שנות לימוד; עובדת ניקיון‬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‫חולון‬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‫58‬</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‫ברכנש אלמו‬</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‫2‬</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‫נבדקת מתחת לגיל הזימון, בהפניית רופאה‬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‫תואר ראשון; מורה‬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‫ערערה בנגב‬</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‫47‬</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‫חנאן אבו סביח‬</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‫3‬</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‫בדיקה ראשונה בגיל 51 אחרי שנתיים‬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‫12 שנות לימוד; עובדת במספרה‬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‫רמלה‬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‫52‬</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‫איבתיסאם דאהר‬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‫4‬</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‫נבדקת בקביעות 11 שנים, בליווי בתה‬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‫8 שנות לימוד; עקרת בית‬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‫נצרת‬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‫61‬</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‫סועאד זועבי‬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‫5‬</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‫נבדקת בקביעות מגיל 45, שש בדיקות‬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‫תואר ראשון; מזכירה בתיכון‬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‫חיפה‬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‫56‬</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‫ג'ולייט חורי‬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‫6‬</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‫מעולם לא נבדקה; הזימון במגירה‬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‫12 שנות לימוד; עסק משפחתי‬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‫דלית אל-כרמל‬</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‫50‬</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‫נאדיה חלבי‬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‫7‬</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‫מעולם לא נבדקה ומעולם לא זומנה‬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‫8 שנות לימוד; עקרת בית‬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‫רהט‬</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‫44‬</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‫פאטמה אבו קווידר‬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‫8‬</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‫חלתה בגיל 58 אחרי כשנה וחצי המתנה‬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‫עבודה סוציאלית; מתנדבת‬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‫טייבה‬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‫63‬</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‫אמל סרחאן‬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‫9‬</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‫טרם בגיל הזימון; מרכזת את הזימונים‬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‫סיעוד; אחות אחראית‬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‫כפר כנא‬</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‫49‬</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‫הודא מנסור‬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‫10‬</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‫נבדקה פעם אחת לפני כשש שנים‬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‫8 שנות לימוד; דוכן בשוק‬</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‫לוד‬</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‫57‬</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‫סמאח דיאב‬</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‫11‬</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‫נבדקת בקביעות מגיל 50, שמונה בדיקות‬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‫היסטוריה; מורה בגמלאות‬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‫שפרעם‬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‫66‬</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‫רימא נאסר‬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‫12‬</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bl>
          </a:graphicData>
        </a:graphic>
      </p:graphicFrame>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8}" type="slidenum">
              <a:rPr lang="he-IL" sz="1200"/>
              <a:t>8</a:t>
            </a:fld>
          </a:p>
        </p:txBody>
      </p:sp>
    </p:spTree>
    <p:extLst>
      <p:ext uri="{BB962C8B-B14F-4D97-AF65-F5344CB8AC3E}">
        <p14:creationId xmlns:p14="http://schemas.microsoft.com/office/powerpoint/2010/main" val="3426318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CBBA-3270-67CD-9392-37959451073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095C1B3-074D-607A-DD1A-4BE7A841D0D1}"/>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‫כלי המחקר‬</a:t>
            </a:r>
          </a:p>
        </p:txBody>
      </p:sp>
      <p:sp>
        <p:nvSpPr>
          <p:cNvPr id="3" name="מציין מיקום תוכן 2">
            <a:extLst>
              <a:ext uri="{FF2B5EF4-FFF2-40B4-BE49-F238E27FC236}">
                <a16:creationId xmlns:a16="http://schemas.microsoft.com/office/drawing/2014/main" id="{D5C14E88-40DC-C22B-D093-F9853AE1788B}"/>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‫כלי המחקר הוא מדריך ראיון חצי מובנה הכולל שש עשרה שאלות פתוחות, ובהן שאלת פתיחה כללית שנועדה ליצור היכרות בטרם המעבר לנושא הרגיש. המדריך הועבר בנוסח זהה ובסדר זהה בכל שנים עשר הראיונות. השאלות נגזרו מן הממדים שעלו בסקירת הספרות: האשכול הראשון עוסק בידע ובחוויית הבדיקה בפועל, השני בפחד, בצניעות, במגדר מבצע הבדיקה ובתיוג החברתי, והשלישי במשפחה המורחבת, בממד הדתי, בהתנהלות מול קופת החולים ובהמלצת ספק השירות. שתי שאלות נוסחו מחדש בעקבות ראיון פיילוט, משום שנמצאו מוטות לכיוון תשובה שלילית. הראיונות נמשכו בין 32 ל-45 דקות, הוקלטו בהסכמה ותומללו במלואם, ונותחו ב</a:t>
            </a:r>
            <a:r>
              <a:rPr lang="he-IL" sz="2200" b="1" dirty="0">
                <a:solidFill>
                  <a:srgbClr val="1F3864"/>
                </a:solidFill>
                <a:cs typeface="+mn-cs"/>
              </a:rPr>
              <a:t>שיטת הניתוח התמטי בחמישה שלבים</a:t>
            </a:r>
            <a:r>
              <a:rPr lang="he-IL" sz="2200" dirty="0">
                <a:cs typeface="+mn-cs"/>
              </a:rPr>
              <a:t>. כל המשתתפות נתנו הסכמה מדעת, השמות בדויים וכל פרט מזהה טושטש.‬</a:t>
            </a:r>
          </a:p>
        </p:txBody>
      </p:sp>
      <p:pic>
        <p:nvPicPr>
          <p:cNvPr id="4" name="Picture 5" descr="תמונה שמכילה טקסט&#10;&#10;התיאור נוצר באופן אוטומטי">
            <a:extLst>
              <a:ext uri="{FF2B5EF4-FFF2-40B4-BE49-F238E27FC236}">
                <a16:creationId xmlns:a16="http://schemas.microsoft.com/office/drawing/2014/main" id="{AEEAF6A4-0EE4-D375-4DFA-D5F9D2A9C4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9}" type="slidenum">
              <a:rPr lang="he-IL" sz="1200"/>
              <a:t>9</a:t>
            </a:fld>
          </a:p>
        </p:txBody>
      </p:sp>
    </p:spTree>
    <p:extLst>
      <p:ext uri="{BB962C8B-B14F-4D97-AF65-F5344CB8AC3E}">
        <p14:creationId xmlns:p14="http://schemas.microsoft.com/office/powerpoint/2010/main" val="1888544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16AB5-FF75-3480-6AE6-5E579AFF7CD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42C596C-F0CB-32FC-A127-9120C688B889}"/>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‫ממצאים מרכזיים‬</a:t>
            </a:r>
          </a:p>
        </p:txBody>
      </p:sp>
      <p:sp>
        <p:nvSpPr>
          <p:cNvPr id="3" name="מציין מיקום תוכן 2">
            <a:extLst>
              <a:ext uri="{FF2B5EF4-FFF2-40B4-BE49-F238E27FC236}">
                <a16:creationId xmlns:a16="http://schemas.microsoft.com/office/drawing/2014/main" id="{0AA4797B-34EA-7776-A28E-E8BA12211644}"/>
              </a:ext>
            </a:extLst>
          </p:cNvPr>
          <p:cNvSpPr>
            <a:spLocks noGrp="1"/>
          </p:cNvSpPr>
          <p:nvPr>
            <p:ph idx="1"/>
          </p:nvPr>
        </p:nvSpPr>
        <p:spPr>
          <a:xfrm>
            <a:off x="841248" y="1828800"/>
            <a:ext cx="10515600" cy="676656"/>
          </a:xfrm>
        </p:spPr>
        <p:txBody>
          <a:bodyPr>
            <a:normAutofit/>
          </a:bodyPr>
          <a:lstStyle/>
          <a:p>
            <a:pPr marL="0" indent="0" algn="r" rtl="1">
              <a:lnSpc>
                <a:spcPct val="100000"/>
              </a:lnSpc>
              <a:spcBef>
                <a:spcPts val="0"/>
              </a:spcBef>
              <a:buNone/>
            </a:pPr>
            <a:r>
              <a:rPr lang="he-IL" sz="2000" dirty="0">
                <a:cs typeface="+mn-cs"/>
              </a:rPr>
              <a:t>‫התרשים מציג את הדרך אל הבדיקה ואת הנקודה שבה כל תמה חוסמת אותה, לצד הגורם המקדם שנמצא כמעביר את האישה לאורכה.‬</a:t>
            </a:r>
          </a:p>
        </p:txBody>
      </p:sp>
      <p:pic>
        <p:nvPicPr>
          <p:cNvPr id="4" name="Picture 5" descr="תמונה שמכילה טקסט&#10;&#10;התיאור נוצר באופן אוטומטי">
            <a:extLst>
              <a:ext uri="{FF2B5EF4-FFF2-40B4-BE49-F238E27FC236}">
                <a16:creationId xmlns:a16="http://schemas.microsoft.com/office/drawing/2014/main" id="{28351659-D2CF-77C0-F5EA-3CB61A2813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pic>
        <p:nvPicPr>
          <p:cNvPr id="21" name="הדרך אל הבדיקה"/>
          <p:cNvPicPr>
            <a:picLocks noChangeAspect="1"/>
          </p:cNvPicPr>
          <p:nvPr/>
        </p:nvPicPr>
        <p:blipFill>
          <a:blip r:embed="rId3"/>
          <a:stretch>
            <a:fillRect/>
          </a:stretch>
        </p:blipFill>
        <p:spPr>
          <a:xfrm>
            <a:off x="1005840" y="2578608"/>
            <a:ext cx="10195560" cy="3806241"/>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0}" type="slidenum">
              <a:rPr lang="he-IL" sz="1200"/>
              <a:t>10</a:t>
            </a:fld>
          </a:p>
        </p:txBody>
      </p:sp>
    </p:spTree>
    <p:extLst>
      <p:ext uri="{BB962C8B-B14F-4D97-AF65-F5344CB8AC3E}">
        <p14:creationId xmlns:p14="http://schemas.microsoft.com/office/powerpoint/2010/main" val="438321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D7C3-0AD0-9D96-122F-FDBBC4B7FA0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A4774FD-0790-3CA8-F7FD-E4CDE2EFC74C}"/>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‫ממצאים מרכזיים‬</a:t>
            </a:r>
          </a:p>
        </p:txBody>
      </p:sp>
      <p:sp>
        <p:nvSpPr>
          <p:cNvPr id="3" name="מציין מיקום תוכן 2">
            <a:extLst>
              <a:ext uri="{FF2B5EF4-FFF2-40B4-BE49-F238E27FC236}">
                <a16:creationId xmlns:a16="http://schemas.microsoft.com/office/drawing/2014/main" id="{3320DB74-2450-D24F-53A2-F9006010A740}"/>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‫מן התמה הראשונה עולה כי </a:t>
            </a:r>
            <a:r>
              <a:rPr lang="he-IL" sz="2200" b="1" dirty="0">
                <a:solidFill>
                  <a:srgbClr val="1F3864"/>
                </a:solidFill>
                <a:cs typeface="+mn-cs"/>
              </a:rPr>
              <a:t>הידע אינו מבחין בין נשים הנבדקות לבין נשים שאינן נבדקות</a:t>
            </a:r>
            <a:r>
              <a:rPr lang="he-IL" sz="2200" dirty="0">
                <a:cs typeface="+mn-cs"/>
              </a:rPr>
              <a:t>. אחת עשרה מתוך שתים עשרה המשתתפות, ובהן אלה שמעולם לא נבדקו, ידעו מהי הבדיקה ולשם מה היא נועדה. ופאא, בת 54, ניסחה זאת במפורש: </a:t>
            </a:r>
            <a:r>
              <a:rPr lang="he-IL" sz="2200" i="1" dirty="0">
                <a:solidFill>
                  <a:srgbClr val="1F3864"/>
                </a:solidFill>
                <a:cs typeface="+mn-cs"/>
              </a:rPr>
              <a:t>"אני יודעת בדיוק מה צריך לעשות. ובכל זאת עברו שנתיים"</a:t>
            </a:r>
            <a:r>
              <a:rPr lang="he-IL" sz="2200" dirty="0">
                <a:cs typeface="+mn-cs"/>
              </a:rPr>
              <a:t>. הגורם המעכב שזוהה הוא החשש מפני האבחנה ולא מפני הבדיקה עצמה, כפי שהבחינה איבתיסאם, בת 52: </a:t>
            </a:r>
            <a:r>
              <a:rPr lang="he-IL" sz="2200" i="1" dirty="0">
                <a:solidFill>
                  <a:srgbClr val="1F3864"/>
                </a:solidFill>
                <a:cs typeface="+mn-cs"/>
              </a:rPr>
              <a:t>"אני לא מפחדת מהמכונה. אני מפחדת מהנייר"</a:t>
            </a:r>
            <a:r>
              <a:rPr lang="he-IL" sz="2200" dirty="0">
                <a:cs typeface="+mn-cs"/>
              </a:rPr>
              <a:t>. לצידו פעלו התפיסה כי בהיעדר תסמין אין הצדקה לבדיקה, ודפוס של דחייה מוצדקת שאינו מגיע לכלל הכרעה. התמה השנייה מלמדת כי חסם הבושה קיים אך ממוקם אחרת מכפי שמניחה הספרות: החשיפה בחדר הבדיקה בפני בודקת אישה תוארה כאירוע קצר, ואילו הגורם המרתיע היה החשיפה החברתית בדרך אל הבדיקה, כפי שתיארה חנאן, בת 47: </a:t>
            </a:r>
            <a:r>
              <a:rPr lang="he-IL" sz="2200" i="1" dirty="0">
                <a:solidFill>
                  <a:srgbClr val="1F3864"/>
                </a:solidFill>
                <a:cs typeface="+mn-cs"/>
              </a:rPr>
              <a:t>"הבדיקה של האמא הופכת לתיק של הבת"</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68240EF8-5031-50D7-3548-9B1B0E6C82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1}" type="slidenum">
              <a:rPr lang="he-IL" sz="1200"/>
              <a:t>11</a:t>
            </a:fld>
          </a:p>
        </p:txBody>
      </p:sp>
    </p:spTree>
    <p:extLst>
      <p:ext uri="{BB962C8B-B14F-4D97-AF65-F5344CB8AC3E}">
        <p14:creationId xmlns:p14="http://schemas.microsoft.com/office/powerpoint/2010/main" val="2726011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094C-768F-3C19-6022-E0CC11C4DE5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BD53169-CEA7-DADD-DC93-6D8760029AC0}"/>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‫ממצאים מרכזיים‬</a:t>
            </a:r>
          </a:p>
        </p:txBody>
      </p:sp>
      <p:sp>
        <p:nvSpPr>
          <p:cNvPr id="3" name="מציין מיקום תוכן 2">
            <a:extLst>
              <a:ext uri="{FF2B5EF4-FFF2-40B4-BE49-F238E27FC236}">
                <a16:creationId xmlns:a16="http://schemas.microsoft.com/office/drawing/2014/main" id="{636BD504-DC08-F733-DA9C-381DC00CF19F}"/>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‫התמה השלישית חורגת מן המתועד בספרות התרבותית ומצביעה על חסם מעשי שאינו זוכה להתייחסות מספקת. המשתתפות תיארו את היציאה לבדיקה כחשבון כלכלי ומשפחתי מפורש של שעות עבודה שאבדו, של הסעה ושל נטל טיפולי בבית. ברכנש, בת 58, העמידה את שני הצדדים זה מול זה: </a:t>
            </a:r>
            <a:r>
              <a:rPr lang="he-IL" sz="2200" i="1" dirty="0">
                <a:solidFill>
                  <a:srgbClr val="1F3864"/>
                </a:solidFill>
                <a:cs typeface="+mn-cs"/>
              </a:rPr>
              <a:t>"אני יודעת שזה נשמע קטן ליד סרטן. אבל בסוף החודש זה לא קטן"</a:t>
            </a:r>
            <a:r>
              <a:rPr lang="he-IL" sz="2200" dirty="0">
                <a:cs typeface="+mn-cs"/>
              </a:rPr>
              <a:t>. מאפיינו המרכזי של חסם זה הוא ש</a:t>
            </a:r>
            <a:r>
              <a:rPr lang="he-IL" sz="2200" b="1" dirty="0">
                <a:solidFill>
                  <a:srgbClr val="1F3864"/>
                </a:solidFill>
                <a:cs typeface="+mn-cs"/>
              </a:rPr>
              <a:t>הוא אינו נתפס אצל האישה כחסם אלא כסדר עדיפויות סביר</a:t>
            </a:r>
            <a:r>
              <a:rPr lang="he-IL" sz="2200" dirty="0">
                <a:cs typeface="+mn-cs"/>
              </a:rPr>
              <a:t>, ולפיכך אינו נלכד במדדים המבוססים על דיווח עצמי. התמה הרביעית עוסקת במאיצים ומצביעה על הפנייה האישית כגורם המקדם החזק ביותר. אותה המלצה עצמה הניבה תוצאות מנוגדות בהתאם לאופן מסירתה, ולילה תיארה את הגרסה שלא הובילה לפעולה: </a:t>
            </a:r>
            <a:r>
              <a:rPr lang="he-IL" sz="2200" i="1" dirty="0">
                <a:solidFill>
                  <a:srgbClr val="1F3864"/>
                </a:solidFill>
                <a:cs typeface="+mn-cs"/>
              </a:rPr>
              <a:t>"לא הרים את הראש. אמר את זה למסך"</a:t>
            </a:r>
            <a:r>
              <a:rPr lang="he-IL" sz="2200" dirty="0">
                <a:cs typeface="+mn-cs"/>
              </a:rPr>
              <a:t>. בנוסף נמצא כי כל המשתתפות הנבדקות בקביעות תיארו דמות מלווה, ואילו אף אחת מן הנשים שלא נבדקו לא תיארה דמות כזאת.‬</a:t>
            </a:r>
          </a:p>
        </p:txBody>
      </p:sp>
      <p:pic>
        <p:nvPicPr>
          <p:cNvPr id="4" name="Picture 5" descr="תמונה שמכילה טקסט&#10;&#10;התיאור נוצר באופן אוטומטי">
            <a:extLst>
              <a:ext uri="{FF2B5EF4-FFF2-40B4-BE49-F238E27FC236}">
                <a16:creationId xmlns:a16="http://schemas.microsoft.com/office/drawing/2014/main" id="{46651370-7130-B6BD-6A90-1701E7F5C4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2}" type="slidenum">
              <a:rPr lang="he-IL" sz="1200"/>
              <a:t>12</a:t>
            </a:fld>
          </a:p>
        </p:txBody>
      </p:sp>
    </p:spTree>
    <p:extLst>
      <p:ext uri="{BB962C8B-B14F-4D97-AF65-F5344CB8AC3E}">
        <p14:creationId xmlns:p14="http://schemas.microsoft.com/office/powerpoint/2010/main" val="2603992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64306-FF56-1CC4-4BDB-49527283CF0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78DEC08-3036-C4C0-B49D-A9A276A9C922}"/>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‫סיכום‬</a:t>
            </a:r>
          </a:p>
        </p:txBody>
      </p:sp>
      <p:sp>
        <p:nvSpPr>
          <p:cNvPr id="3" name="מציין מיקום תוכן 2">
            <a:extLst>
              <a:ext uri="{FF2B5EF4-FFF2-40B4-BE49-F238E27FC236}">
                <a16:creationId xmlns:a16="http://schemas.microsoft.com/office/drawing/2014/main" id="{A99921A6-5B84-5D10-8397-B8F191AFA5D1}"/>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‫ממצאי המחקר מלמדים כי </a:t>
            </a:r>
            <a:r>
              <a:rPr lang="he-IL" sz="2200" b="1" dirty="0">
                <a:solidFill>
                  <a:srgbClr val="1F3864"/>
                </a:solidFill>
                <a:cs typeface="+mn-cs"/>
              </a:rPr>
              <a:t>ההיענות אינה נקבעת ברמת הידע אלא ברמת ההתנהלות היומיומית</a:t>
            </a:r>
            <a:r>
              <a:rPr lang="he-IL" sz="2200" dirty="0">
                <a:cs typeface="+mn-cs"/>
              </a:rPr>
              <a:t>. ההבחנה בין אישה הנבדקת בקביעות לבין אישה שאינה נבדקת אינה עוברת בשאלת הידע, אלא בשלושה תנאים: קיומה של פנייה אישית, קיומה של דמות מלווה, ועלות ההיעדרות הכרוכה ביציאה לבדיקה. מכאן שתי מסקנות בעלות משמעות ניהולית. הראשונה היא כי החסם התרבותי אמיתי אך ממוקם בדרך אל הבדיקה ולא בחדר הבדיקה, כלומר בחשיפה החברתית ולא בחשיפה הגופנית, ולפיכך התאמה מגדרית של השירות היא תנאי הכרחי שאינו מספיק בהיעדר מענה לצורך בדיסקרטיות. השנייה היא כי קיים חסם מעשי שאינו מתועד די הצורך, הכרוך במחיר של יום עבודה ושל היעדרות מן הבית, ואשר אינו עולה בשאלונים משום שאינו נחווה כחסם.‬</a:t>
            </a:r>
          </a:p>
        </p:txBody>
      </p:sp>
      <p:pic>
        <p:nvPicPr>
          <p:cNvPr id="4" name="Picture 5" descr="תמונה שמכילה טקסט&#10;&#10;התיאור נוצר באופן אוטומטי">
            <a:extLst>
              <a:ext uri="{FF2B5EF4-FFF2-40B4-BE49-F238E27FC236}">
                <a16:creationId xmlns:a16="http://schemas.microsoft.com/office/drawing/2014/main" id="{7BD43DB4-7527-FA83-12AE-C88C96D12E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3}" type="slidenum">
              <a:rPr lang="he-IL" sz="1200"/>
              <a:t>13</a:t>
            </a:fld>
          </a:p>
        </p:txBody>
      </p:sp>
    </p:spTree>
    <p:extLst>
      <p:ext uri="{BB962C8B-B14F-4D97-AF65-F5344CB8AC3E}">
        <p14:creationId xmlns:p14="http://schemas.microsoft.com/office/powerpoint/2010/main" val="3144481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5EBCA-F68D-4DED-1F39-7B887F08749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AED8851-FFD1-100A-6C3D-2001EBCF6145}"/>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‫סיכום‬</a:t>
            </a:r>
          </a:p>
        </p:txBody>
      </p:sp>
      <p:sp>
        <p:nvSpPr>
          <p:cNvPr id="3" name="מציין מיקום תוכן 2">
            <a:extLst>
              <a:ext uri="{FF2B5EF4-FFF2-40B4-BE49-F238E27FC236}">
                <a16:creationId xmlns:a16="http://schemas.microsoft.com/office/drawing/2014/main" id="{7C272115-4A03-CB86-5F3B-7CF92520DE5F}"/>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‫בהשוואה לספרות, הממצאים מאששים את קיומם של החסמים המוכרים אך משנים את מיקומם ואת משקלם היחסי. הטענה כי הידע הוא תנאי הכרחי שאינו מספיק (Alatawneh et al., 2024) מקבלת חיזוק, ואף מורחבת, שכן אצל חלק מן המשתתפות תפקד הידע כגורם המסייע להימנעות. הממצא בדבר מרכזיות המלצת ספק השירות (Freund et al., 2019) אושש במלואו, אולם הראיונות מלמדים כי הגורם המכריע אינו תוכן ההמלצה אלא אופן מסירתה. ממצא החורג מן הצפוי נוגע לממד הדתי: בעוד שהספרות מייחסת לפטליזם משקל ניכר (Azaiza et al., 2010), </a:t>
            </a:r>
            <a:r>
              <a:rPr lang="he-IL" sz="2200" b="1" dirty="0">
                <a:solidFill>
                  <a:srgbClr val="1F3864"/>
                </a:solidFill>
                <a:cs typeface="+mn-cs"/>
              </a:rPr>
              <a:t>אף אחת מן המשתתפות לא נימקה את הימנעותה בטעם דתי</a:t>
            </a:r>
            <a:r>
              <a:rPr lang="he-IL" sz="2200" dirty="0">
                <a:cs typeface="+mn-cs"/>
              </a:rPr>
              <a:t>, ומשתתפות שהחזיקו באמונה כי הכול בידי שמיים נבדקו בקביעות בלא שראו בכך סתירה. סועאד, בת 61, ניסחה זאת כך: </a:t>
            </a:r>
            <a:r>
              <a:rPr lang="he-IL" sz="2200" i="1" dirty="0">
                <a:solidFill>
                  <a:srgbClr val="1F3864"/>
                </a:solidFill>
                <a:cs typeface="+mn-cs"/>
              </a:rPr>
              <a:t>"אני לא הולכת לבדיקה במקום אללה, חלילה, אני הולכת בגלל אללה"</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18B5C0DB-2EC0-A08D-E421-310800C6AD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4}" type="slidenum">
              <a:rPr lang="he-IL" sz="1200"/>
              <a:t>14</a:t>
            </a:fld>
          </a:p>
        </p:txBody>
      </p:sp>
    </p:spTree>
    <p:extLst>
      <p:ext uri="{BB962C8B-B14F-4D97-AF65-F5344CB8AC3E}">
        <p14:creationId xmlns:p14="http://schemas.microsoft.com/office/powerpoint/2010/main" val="3520960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D26F4-BDEB-9728-9186-6998143112D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F3D05DC-3DE0-B0F5-3169-8EB3816CB95E}"/>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‫המלצות‬</a:t>
            </a:r>
          </a:p>
        </p:txBody>
      </p:sp>
      <p:sp>
        <p:nvSpPr>
          <p:cNvPr id="3" name="מציין מיקום תוכן 2">
            <a:extLst>
              <a:ext uri="{FF2B5EF4-FFF2-40B4-BE49-F238E27FC236}">
                <a16:creationId xmlns:a16="http://schemas.microsoft.com/office/drawing/2014/main" id="{7C84B496-7B1A-0462-70D6-A0F531B6D036}"/>
              </a:ext>
            </a:extLst>
          </p:cNvPr>
          <p:cNvSpPr>
            <a:spLocks noGrp="1"/>
          </p:cNvSpPr>
          <p:nvPr>
            <p:ph idx="1"/>
          </p:nvPr>
        </p:nvSpPr>
        <p:spPr/>
        <p:txBody>
          <a:bodyPr>
            <a:normAutofit/>
          </a:bodyPr>
          <a:lstStyle/>
          <a:p>
            <a:pPr marL="0" indent="0" algn="r" rtl="1">
              <a:lnSpc>
                <a:spcPct val="100000"/>
              </a:lnSpc>
              <a:spcBef>
                <a:spcPts val="0"/>
              </a:spcBef>
              <a:buNone/>
            </a:pPr>
            <a:r>
              <a:rPr lang="he-IL" sz="1700" dirty="0">
                <a:cs typeface="+mn-cs"/>
              </a:rPr>
              <a:t>‫ההמלצות נגזרות מן הממצאים, ואינן מכוונות לשינוי אמונותיהן של הנשים אלא </a:t>
            </a:r>
            <a:r>
              <a:rPr lang="he-IL" sz="1700" b="1" dirty="0">
                <a:solidFill>
                  <a:srgbClr val="1F3864"/>
                </a:solidFill>
                <a:cs typeface="+mn-cs"/>
              </a:rPr>
              <a:t>להסרת הגורמים החוצצים בין הכוונה לבין הפעולה</a:t>
            </a:r>
            <a:r>
              <a:rPr lang="he-IL" sz="1700" dirty="0">
                <a:cs typeface="+mn-cs"/>
              </a:rPr>
              <a:t>.‬</a:t>
            </a:r>
          </a:p>
          <a:p>
            <a:pPr marL="0" indent="0" algn="r" rtl="1">
              <a:lnSpc>
                <a:spcPct val="100000"/>
              </a:lnSpc>
              <a:spcBef>
                <a:spcPts val="500"/>
              </a:spcBef>
              <a:buNone/>
            </a:pPr>
            <a:r>
              <a:rPr lang="he-IL" sz="1800" b="1" dirty="0">
                <a:solidFill>
                  <a:srgbClr val="1F3864"/>
                </a:solidFill>
                <a:cs typeface="+mn-cs"/>
              </a:rPr>
              <a:t>‫ברמת המרפאה, בעלות נמוכה יחסית‬</a:t>
            </a:r>
          </a:p>
          <a:p>
            <a:pPr marL="0" indent="0" algn="r" rtl="1">
              <a:lnSpc>
                <a:spcPct val="100000"/>
              </a:lnSpc>
              <a:spcBef>
                <a:spcPts val="300"/>
              </a:spcBef>
              <a:buNone/>
            </a:pPr>
            <a:r>
              <a:rPr lang="he-IL" sz="1700" b="1" dirty="0">
                <a:cs typeface="+mn-cs"/>
              </a:rPr>
              <a:t>‫1- רכזת זימונים דוברת ערבית שמטלפנת ואינה שולחת מכתבים,</a:t>
            </a:r>
            <a:r>
              <a:rPr lang="he-IL" sz="1700" dirty="0">
                <a:cs typeface="+mn-cs"/>
              </a:rPr>
              <a:t> תוך מדידת שיעור ההמרה משיחה לתור שנקבע בפועל.‬</a:t>
            </a:r>
          </a:p>
          <a:p>
            <a:pPr marL="0" indent="0" algn="r" rtl="1">
              <a:lnSpc>
                <a:spcPct val="100000"/>
              </a:lnSpc>
              <a:spcBef>
                <a:spcPts val="300"/>
              </a:spcBef>
              <a:buNone/>
            </a:pPr>
            <a:r>
              <a:rPr lang="he-IL" sz="1700" b="1" dirty="0">
                <a:cs typeface="+mn-cs"/>
              </a:rPr>
              <a:t>‫2- התראה לרופא המשפחה בפתיחת ביקור של אישה שאיחרה בבדיקה,</a:t>
            </a:r>
            <a:r>
              <a:rPr lang="he-IL" sz="1700" dirty="0">
                <a:cs typeface="+mn-cs"/>
              </a:rPr>
              <a:t> כך שההמלצה תינתן ביוזמת המטפל ולא ביוזמת האישה.‬</a:t>
            </a:r>
          </a:p>
          <a:p>
            <a:pPr marL="0" indent="0" algn="r" rtl="1">
              <a:lnSpc>
                <a:spcPct val="100000"/>
              </a:lnSpc>
              <a:spcBef>
                <a:spcPts val="300"/>
              </a:spcBef>
              <a:buNone/>
            </a:pPr>
            <a:r>
              <a:rPr lang="he-IL" sz="1700" b="1" dirty="0">
                <a:cs typeface="+mn-cs"/>
              </a:rPr>
              <a:t>‫3- פריסת תורים באחר הצהריים ובימי שישי,</a:t>
            </a:r>
            <a:r>
              <a:rPr lang="he-IL" sz="1700" dirty="0">
                <a:cs typeface="+mn-cs"/>
              </a:rPr>
              <a:t> לצד אישור היעדרות מעבודה לאישה שהגיעה לבדיקה.‬</a:t>
            </a:r>
          </a:p>
          <a:p>
            <a:pPr marL="0" indent="0" algn="r" rtl="1">
              <a:lnSpc>
                <a:spcPct val="100000"/>
              </a:lnSpc>
              <a:spcBef>
                <a:spcPts val="500"/>
              </a:spcBef>
              <a:buNone/>
            </a:pPr>
            <a:r>
              <a:rPr lang="he-IL" sz="1800" b="1" dirty="0">
                <a:solidFill>
                  <a:srgbClr val="1F3864"/>
                </a:solidFill>
                <a:cs typeface="+mn-cs"/>
              </a:rPr>
              <a:t>‫ברמת הקופה ומשרד הבריאות‬</a:t>
            </a:r>
          </a:p>
          <a:p>
            <a:pPr marL="0" indent="0" algn="r" rtl="1">
              <a:lnSpc>
                <a:spcPct val="100000"/>
              </a:lnSpc>
              <a:spcBef>
                <a:spcPts val="300"/>
              </a:spcBef>
              <a:buNone/>
            </a:pPr>
            <a:r>
              <a:rPr lang="he-IL" sz="1700" b="1" dirty="0">
                <a:cs typeface="+mn-cs"/>
              </a:rPr>
              <a:t>‫4- ניידת ממוגרפיה בלוח שנתי קבוע ובמיקום דיסקרטי,</a:t>
            </a:r>
            <a:r>
              <a:rPr lang="he-IL" sz="1700" dirty="0">
                <a:cs typeface="+mn-cs"/>
              </a:rPr>
              <a:t> ולא כאירוע חד-פעמי בחזית המרפאה.‬</a:t>
            </a:r>
          </a:p>
          <a:p>
            <a:pPr marL="0" indent="0" algn="r" rtl="1">
              <a:lnSpc>
                <a:spcPct val="100000"/>
              </a:lnSpc>
              <a:spcBef>
                <a:spcPts val="300"/>
              </a:spcBef>
              <a:buNone/>
            </a:pPr>
            <a:r>
              <a:rPr lang="he-IL" sz="1700" b="1" dirty="0">
                <a:cs typeface="+mn-cs"/>
              </a:rPr>
              <a:t>‫5- מפגשים ביתיים בהנחיית נשים מקומיות שנבדקו,</a:t>
            </a:r>
            <a:r>
              <a:rPr lang="he-IL" sz="1700" dirty="0">
                <a:cs typeface="+mn-cs"/>
              </a:rPr>
              <a:t> במסגרת קטנה ומוכרת במקום הרצאות פומביות.‬</a:t>
            </a:r>
          </a:p>
          <a:p>
            <a:pPr marL="0" indent="0" algn="r" rtl="1">
              <a:lnSpc>
                <a:spcPct val="100000"/>
              </a:lnSpc>
              <a:spcBef>
                <a:spcPts val="300"/>
              </a:spcBef>
              <a:buNone/>
            </a:pPr>
            <a:r>
              <a:rPr lang="he-IL" sz="1700" b="1" dirty="0">
                <a:cs typeface="+mn-cs"/>
              </a:rPr>
              <a:t>‫6- בחינת הרחבת הזימון היזום לגילאי 45 עד 49</a:t>
            </a:r>
            <a:r>
              <a:rPr lang="he-IL" sz="1700" dirty="0">
                <a:cs typeface="+mn-cs"/>
              </a:rPr>
              <a:t> בקהילות שבהן חציון גיל האבחון צעיר, ובראשן החברה הבדואית בנגב.‬</a:t>
            </a:r>
          </a:p>
        </p:txBody>
      </p:sp>
      <p:pic>
        <p:nvPicPr>
          <p:cNvPr id="4" name="Picture 5" descr="תמונה שמכילה טקסט&#10;&#10;התיאור נוצר באופן אוטומטי">
            <a:extLst>
              <a:ext uri="{FF2B5EF4-FFF2-40B4-BE49-F238E27FC236}">
                <a16:creationId xmlns:a16="http://schemas.microsoft.com/office/drawing/2014/main" id="{97DFB15D-1250-B170-604C-A15010869E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5}" type="slidenum">
              <a:rPr lang="he-IL" sz="1200"/>
              <a:t>15</a:t>
            </a:fld>
          </a:p>
        </p:txBody>
      </p:sp>
    </p:spTree>
    <p:extLst>
      <p:ext uri="{BB962C8B-B14F-4D97-AF65-F5344CB8AC3E}">
        <p14:creationId xmlns:p14="http://schemas.microsoft.com/office/powerpoint/2010/main" val="659920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D8CF-55B1-6D51-F073-64CC9C90336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168BB3-4993-2FE3-E6DB-1543F270AB53}"/>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‫מגבלות המחקר‬</a:t>
            </a:r>
          </a:p>
        </p:txBody>
      </p:sp>
      <p:sp>
        <p:nvSpPr>
          <p:cNvPr id="3" name="מציין מיקום תוכן 2">
            <a:extLst>
              <a:ext uri="{FF2B5EF4-FFF2-40B4-BE49-F238E27FC236}">
                <a16:creationId xmlns:a16="http://schemas.microsoft.com/office/drawing/2014/main" id="{E5C98DAF-99C3-F92C-B128-B3554D2ECF23}"/>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‫למחקר ארבע מגבלות עיקריות. ראשית, המדגם קטן ומכוון, ולפיכך אין להסיק ממנו על שכיחות החסמים באוכלוסייה אלא על הצורות שהם לובשים בלבד. שנית, הדגימה בשיטת כדור השלג עלולה להטות את המדגם לטובת נשים המוכנות לשוחח על הנושא, וייתכן שנשים שהימנעותן עמוקה יותר לא נכללו בו. שלישית, שישה ראיונות נערכו בערבית ובאמהרית ותורגמו לעברית, ובכל תרגום כרוך אובדן מסוים של ניואנס. רביעית, זהותן של ארבע המראיינות כסטודנטיות למנהל מערכות בריאות עשויה הייתה לעודד הצגת עמדה חיובית יותר כלפי הבדיקה. מכאן שלושה כיווני מחקר המשך: בחינה כמותית של משקלו של החסם היומיומי לצד החסמים התרבותיים, מחקר השוואתי בין יישובים שבהם פעלה ניידת ממוגרפיה לבין יישובים דומים שבהם לא פעלה, ובחינת ההיענות בקרב נשים מתחת לגיל חמישים בקהילות שבהן חציון גיל האבחון צעיר.‬</a:t>
            </a:r>
          </a:p>
        </p:txBody>
      </p:sp>
      <p:pic>
        <p:nvPicPr>
          <p:cNvPr id="4" name="Picture 5" descr="תמונה שמכילה טקסט&#10;&#10;התיאור נוצר באופן אוטומטי">
            <a:extLst>
              <a:ext uri="{FF2B5EF4-FFF2-40B4-BE49-F238E27FC236}">
                <a16:creationId xmlns:a16="http://schemas.microsoft.com/office/drawing/2014/main" id="{7D34DE6F-6E8B-E5C0-94B0-7184507AD3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6}" type="slidenum">
              <a:rPr lang="he-IL" sz="1200"/>
              <a:t>16</a:t>
            </a:fld>
          </a:p>
        </p:txBody>
      </p:sp>
    </p:spTree>
    <p:extLst>
      <p:ext uri="{BB962C8B-B14F-4D97-AF65-F5344CB8AC3E}">
        <p14:creationId xmlns:p14="http://schemas.microsoft.com/office/powerpoint/2010/main" val="1136172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D8CF-55B1-6D51-F073-64CC9C90336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168BB3-4993-2FE3-E6DB-1543F270AB53}"/>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‫רשימת מקורות‬</a:t>
            </a:r>
          </a:p>
        </p:txBody>
      </p:sp>
      <p:sp>
        <p:nvSpPr>
          <p:cNvPr id="3" name="מציין מיקום תוכן 2">
            <a:extLst>
              <a:ext uri="{FF2B5EF4-FFF2-40B4-BE49-F238E27FC236}">
                <a16:creationId xmlns:a16="http://schemas.microsoft.com/office/drawing/2014/main" id="{E5C98DAF-99C3-F92C-B128-B3554D2ECF23}"/>
              </a:ext>
            </a:extLst>
          </p:cNvPr>
          <p:cNvSpPr>
            <a:spLocks noGrp="1"/>
          </p:cNvSpPr>
          <p:nvPr>
            <p:ph idx="1"/>
          </p:nvPr>
        </p:nvSpPr>
        <p:spPr/>
        <p:txBody>
          <a:bodyPr>
            <a:normAutofit/>
          </a:bodyPr>
          <a:lstStyle/>
          <a:p>
            <a:pPr marL="342900" indent="-342900" algn="r" rtl="1">
              <a:lnSpc>
                <a:spcPct val="95000"/>
              </a:lnSpc>
              <a:spcBef>
                <a:spcPts val="300"/>
              </a:spcBef>
              <a:buNone/>
            </a:pPr>
            <a:r>
              <a:rPr lang="he-IL" sz="1200" dirty="0">
                <a:cs typeface="+mn-cs"/>
              </a:rPr>
              <a:t>‫הלשכה המרכזית לסטטיסטיקה (2019). נתוני בריאות האישה בישראל: בדיקות סקר לגילוי מוקדם.‬</a:t>
            </a:r>
          </a:p>
          <a:p>
            <a:pPr marL="342900" indent="-342900" algn="r" rtl="1">
              <a:lnSpc>
                <a:spcPct val="95000"/>
              </a:lnSpc>
              <a:spcBef>
                <a:spcPts val="300"/>
              </a:spcBef>
              <a:buNone/>
            </a:pPr>
            <a:r>
              <a:rPr lang="he-IL" sz="1200" dirty="0">
                <a:cs typeface="+mn-cs"/>
              </a:rPr>
              <a:t>‫מורן, ד' ס', ואבו עבייד, ס' (2018). היענות נשים ערביות לבדיקות לאבחון מוקדם של סרטן השד במדינות ערב ובישראל: מאמר דעה. כתב עת לפיזיותרפיה, 20(2), 25-32.‬</a:t>
            </a:r>
          </a:p>
          <a:p>
            <a:pPr marL="342900" indent="-342900" algn="r" rtl="1">
              <a:lnSpc>
                <a:spcPct val="95000"/>
              </a:lnSpc>
              <a:spcBef>
                <a:spcPts val="300"/>
              </a:spcBef>
              <a:buNone/>
            </a:pPr>
            <a:r>
              <a:rPr lang="he-IL" sz="1200" dirty="0">
                <a:cs typeface="+mn-cs"/>
              </a:rPr>
              <a:t>‫סטרן, כ' (2007). היענות לביצוע ממוגרפיה לאור מודלים בקידום בריאות. קידום בריאות בישראל, 1, 34-45.‬</a:t>
            </a:r>
          </a:p>
          <a:p>
            <a:pPr marL="342900" indent="-342900" algn="l" rtl="0">
              <a:lnSpc>
                <a:spcPct val="95000"/>
              </a:lnSpc>
              <a:spcBef>
                <a:spcPts val="300"/>
              </a:spcBef>
              <a:buNone/>
            </a:pPr>
            <a:r>
              <a:rPr lang="en-US" sz="1200" dirty="0"/>
              <a:t>Alatawneh, D., et al. (2024). Knowledge, age, and perceived social barriers regarding mammography screening among immigrant Arab women in the United States. Journal of Women's Health, 33(10), 1385-1392.</a:t>
            </a:r>
          </a:p>
          <a:p>
            <a:pPr marL="342900" indent="-342900" algn="l" rtl="0">
              <a:lnSpc>
                <a:spcPct val="95000"/>
              </a:lnSpc>
              <a:spcBef>
                <a:spcPts val="300"/>
              </a:spcBef>
              <a:buNone/>
            </a:pPr>
            <a:r>
              <a:rPr lang="en-US" sz="1200" dirty="0"/>
              <a:t>Azaiza, F., Cohen, M., Awad, M., &amp; Daoud, F. (2010). Factors associated with low screening for breast cancer in the Palestinian authority. Cancer, 116(19), 4646-4655.</a:t>
            </a:r>
          </a:p>
          <a:p>
            <a:pPr marL="342900" indent="-342900" algn="l" rtl="0">
              <a:lnSpc>
                <a:spcPct val="95000"/>
              </a:lnSpc>
              <a:spcBef>
                <a:spcPts val="300"/>
              </a:spcBef>
              <a:buNone/>
            </a:pPr>
            <a:r>
              <a:rPr lang="en-US" sz="1200" dirty="0"/>
              <a:t>Ben Shitrit, I., Wang, A., Ilan, K., Agassi, R., Abu Freih, S., &amp; Vaynshtein, J. (2024). Epidemiological, clinical, and pathological characteristics of invasive breast cancer in Bedouin and Jewish women in southern Israel. BMC Cancer, 24, 310.</a:t>
            </a:r>
          </a:p>
          <a:p>
            <a:pPr marL="342900" indent="-342900" algn="l" rtl="0">
              <a:lnSpc>
                <a:spcPct val="95000"/>
              </a:lnSpc>
              <a:spcBef>
                <a:spcPts val="300"/>
              </a:spcBef>
              <a:buNone/>
            </a:pPr>
            <a:r>
              <a:rPr lang="en-US" sz="1200" dirty="0"/>
              <a:t>Cohen, M., &amp; Azaiza, F. (2006). Health beliefs and rates of breast cancer screening among Arab women. Journal of Women's Health, 15(5), 520-530.</a:t>
            </a:r>
          </a:p>
          <a:p>
            <a:pPr marL="342900" indent="-342900" algn="l" rtl="0">
              <a:lnSpc>
                <a:spcPct val="95000"/>
              </a:lnSpc>
              <a:spcBef>
                <a:spcPts val="300"/>
              </a:spcBef>
              <a:buNone/>
            </a:pPr>
            <a:r>
              <a:rPr lang="en-US" sz="1200" dirty="0"/>
              <a:t>Cohen, M., &amp; Azaiza, F. (2008). Increasing breast examinations among Arab women using a tailored culture-based intervention. Behavioral Medicine, 36(3), 92-99.</a:t>
            </a:r>
          </a:p>
          <a:p>
            <a:pPr marL="342900" indent="-342900" algn="l" rtl="0">
              <a:lnSpc>
                <a:spcPct val="95000"/>
              </a:lnSpc>
              <a:spcBef>
                <a:spcPts val="300"/>
              </a:spcBef>
              <a:buNone/>
            </a:pPr>
            <a:r>
              <a:rPr lang="en-US" sz="1200" dirty="0"/>
              <a:t>Freund, A., Cohen, M., &amp; Azaiza, F. (2019). Factors associated with routine screening for the early detection of breast cancer in cultural-ethnic and faith-based communities. Ethnicity &amp; Health, 24(5), 527-543.</a:t>
            </a:r>
          </a:p>
          <a:p>
            <a:pPr marL="342900" indent="-342900" algn="l" rtl="0">
              <a:lnSpc>
                <a:spcPct val="95000"/>
              </a:lnSpc>
              <a:spcBef>
                <a:spcPts val="300"/>
              </a:spcBef>
              <a:buNone/>
            </a:pPr>
            <a:r>
              <a:rPr lang="en-US" sz="1200" dirty="0"/>
              <a:t>Pinchas-Mizrachi, R., &amp; Bouhnik, D. (2024). A retrospective analysis of breast cancer mortality among Jewish and Muslim Arab women in Israel. Cancers, 16(15), 2763.</a:t>
            </a:r>
          </a:p>
          <a:p>
            <a:pPr marL="342900" indent="-342900" algn="l" rtl="0">
              <a:lnSpc>
                <a:spcPct val="95000"/>
              </a:lnSpc>
              <a:spcBef>
                <a:spcPts val="300"/>
              </a:spcBef>
              <a:buNone/>
            </a:pPr>
            <a:r>
              <a:rPr lang="en-US" sz="1200" dirty="0"/>
              <a:t>Soskolne, V., Marie, S., &amp; Manor, O. (2007). Beliefs, recommendations and intentions are important explanatory factors of mammography screening behavior among Muslim Arab women in Israel. Health Education Research, 22(5), 665-676.</a:t>
            </a:r>
          </a:p>
        </p:txBody>
      </p:sp>
      <p:pic>
        <p:nvPicPr>
          <p:cNvPr id="4" name="Picture 5" descr="תמונה שמכילה טקסט&#10;&#10;התיאור נוצר באופן אוטומטי">
            <a:extLst>
              <a:ext uri="{FF2B5EF4-FFF2-40B4-BE49-F238E27FC236}">
                <a16:creationId xmlns:a16="http://schemas.microsoft.com/office/drawing/2014/main" id="{7D34DE6F-6E8B-E5C0-94B0-7184507AD3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7}" type="slidenum">
              <a:rPr lang="he-IL" sz="1200"/>
              <a:t>17</a:t>
            </a:fld>
          </a:p>
        </p:txBody>
      </p:sp>
    </p:spTree>
    <p:extLst>
      <p:ext uri="{BB962C8B-B14F-4D97-AF65-F5344CB8AC3E}">
        <p14:creationId xmlns:p14="http://schemas.microsoft.com/office/powerpoint/2010/main" val="113617214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46</Words>
  <Application>Microsoft Office PowerPoint</Application>
  <PresentationFormat>מסך רחב</PresentationFormat>
  <Paragraphs>17</Paragraphs>
  <Slides>17</Slides>
  <Notes>17</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17</vt:i4>
      </vt:variant>
    </vt:vector>
  </HeadingPairs>
  <TitlesOfParts>
    <vt:vector size="21" baseType="lpstr">
      <vt:lpstr>Arial</vt:lpstr>
      <vt:lpstr>Calibri</vt:lpstr>
      <vt:lpstr>Calibri Light</vt:lpstr>
      <vt:lpstr>ערכת נושא Office</vt:lpstr>
      <vt:lpstr>פרויקט גמר: היענות לבדיקות ממוגרפיה בחברה הערבית בישראל</vt:lpstr>
      <vt:lpstr>רקע והצגת הבעיה</vt:lpstr>
      <vt:lpstr>שאלת המחקר ומטרות המחקר</vt:lpstr>
      <vt:lpstr>סקירת ספרות – מה ידוע לנו בנושא</vt:lpstr>
      <vt:lpstr>סקירת ספרות</vt:lpstr>
      <vt:lpstr>מסגרת תיאורטית / מודל המחקר</vt:lpstr>
      <vt:lpstr>מתודולוגיה</vt:lpstr>
      <vt:lpstr>מתודולוגיה</vt:lpstr>
      <vt:lpstr>כלי המחקר</vt:lpstr>
      <vt:lpstr>ממצאים מרכזיים</vt:lpstr>
      <vt:lpstr>ממצאים מרכזיים</vt:lpstr>
      <vt:lpstr>ממצאים מרכזיים</vt:lpstr>
      <vt:lpstr>סיכום</vt:lpstr>
      <vt:lpstr>סיכום</vt:lpstr>
      <vt:lpstr>המלצות</vt:lpstr>
      <vt:lpstr>מגבלות המחקר</vt:lpstr>
      <vt:lpstr>רשימת מקורות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פרויקט גמר: היענות לבדיקות ממוגרפיה בחברה הערבית בישראל</dc:title>
  <dc:creator>מראם זיד, טגאיה סמאנך, עאליה אבו עראר, לילה נגילי</dc:creator>
  <cp:lastModifiedBy>מראם זיד, טגאיה סמאנך, עאליה אבו עראר, לילה נגילי</cp:lastModifiedBy>
  <cp:revision>3</cp:revision>
  <dcterms:created xsi:type="dcterms:W3CDTF">2026-01-16T04:20:19Z</dcterms:created>
  <dcterms:modified xsi:type="dcterms:W3CDTF">2026-05-25T05:49:31Z</dcterms:modified>
</cp:coreProperties>
</file>