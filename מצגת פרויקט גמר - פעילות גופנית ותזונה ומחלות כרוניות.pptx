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המגבלות בכנות: זה מחזק את אמינות העבודה ולא מחליש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שהמסקנה מעשית וברת יישום, ושההמלצות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סיום. כאן נפתח את הרצפה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רקע והצגת הבעיה</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שאלת המחקר ומטרות המחקר</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700" b="1" dirty="0">
                <a:solidFill>
                  <a:srgbClr val="0E6E7E"/>
                </a:solidFill>
                <a:latin typeface="Arial" pitchFamily="34" charset="0"/>
                <a:ea typeface="Arial" pitchFamily="34" charset="-122"/>
                <a:cs typeface="Arial" pitchFamily="34" charset="-120"/>
              </a:rPr>
              <a:t>‏שאלת המחקר המרכזית‏</a:t>
            </a:r>
            <a:endParaRPr lang="en-US" sz="170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70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‏מטרות המחקר‏</a:t>
            </a:r>
            <a:endParaRPr lang="en-US" sz="170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7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סקירת ספרות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‏מחלות כרוניות מוגדרות כמצבים בריאותיים ממושכים המתפתחים באופן הדרגתי ומלווים את הפרט לאורך שנים רבות. בשונה ממחלות חריפות הן אינן ניתנות לריפוי מלא במרבית המקרים אלא מנוהלות לאורך זמן, ולפיכך השפעתן על איכות החיים ועל מערכת הבריאות היא מצטברת ומתמשכת.‏</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‏רב-תחלואה‏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שבחן יותר ממאה ושלושים אלף נבדקים מצא כי גורמי אורח חיים מסבירים חלק ניכר מן ההיארעות המשולבת, וכי העישון הוא הגורם הבודד התורם ביותר להתפתחותה ‏(van der Velde et al., 2024)‏. ממצא זה מלמד כי הופעתן המשותפת אינה מקרית אלא קשורה בדפוסי התנהגות משותפים.‏</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‏הנטל הכלכלי‏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שלנטל התחלואה ביטוי כלכלי ישיר ומדיד, וכי ההשקעה במניעה היא שיקול כלכלי ולא בריאותי בלבד.‏</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סקירת ספרות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‏התזונה והפעילות הגופנית הם שני רכיבי אורח החיים בעלי בסיס הראיות המבוסס ביותר ביחס למניעת מחלות כרוניות, ועוצמתו של בסיס זה נובעת לא רק ממספר המחקרים אלא גם מאיכותם המתודולוגית.‏</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‏התזונה‏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הן במניעה ראשונית והן במניעה שניונית ‏(Laffond et al., 2023)‏. סקירה של שלושים ניסויים מבוקרים הראתה כי דיאטת DASH מביאה לירידה מובהקת בלחץ הדם הסיסטולי והדיאסטולי כאחד ‏(Filippou et al., 2020)‏.‏</a:t>
            </a:r>
            <a:endParaRPr lang="en-US" sz="1550" dirty="0"/>
          </a:p>
          <a:p>
            <a:pPr algn="r" indent="0" marL="0">
              <a:lnSpc>
                <a:spcPts val="2500"/>
              </a:lnSpc>
              <a:spcBef>
                <a:spcPts val="900"/>
              </a:spcBef>
              <a:buNone/>
            </a:pPr>
            <a:r>
              <a:rPr lang="en-US" sz="1700" b="1" dirty="0">
                <a:solidFill>
                  <a:srgbClr val="0E6E7E"/>
                </a:solidFill>
                <a:latin typeface="Arial" pitchFamily="34" charset="0"/>
                <a:ea typeface="Arial" pitchFamily="34" charset="-122"/>
                <a:cs typeface="Arial" pitchFamily="34" charset="-120"/>
              </a:rPr>
              <a:t>‏הפעילות הגופנית‏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ממצא זה מלמד כי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מסגרת תיאורטית ומודל המחקר</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מתודולוגיה</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אוכלוסיית המחקר ושיקולים אתיים</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 מרכזיים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 מרכזיים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אוויר צלול”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‏עדות משמעותית לכך שהחסם הוא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 מכאן שתשתית מינימלית מספיקה כדי שתיווצר פעילות שאף מתפשטת.‏</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הוא מלמד כי המערכת מחמיצה חלון הזדמנויות ארוך שבמהלכו ניתן היה למנוע את הנזק.‏</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ממצאים מרכזיים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משמעות הממצאים</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דיון בממצאים לאור הספרות</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60857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חסמים מבניים לעומת חסמים אישיים</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המלצות יישומיות</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‏מן הממצאים נגזרות שבע המלצות מעשיות. ראשית, מומלץ להנהיג מרשם לפעילות גופנית, שבו הצוות הרפואי רושם בכתב מסגרת קונקרטית הכוללת שם קבוצה, מקום, יום ושעה, שכן מן הראיונות עולה כי מטופלים מבצעים מרשמים ומתעלמים מהמלצות כלליות. שנית, מומלץ להקים קבוצות הליכה שכונתיות מונחות, מודל הדורש מדריך אחד ומסלול קיים בלבד, בתוספת מנגנון מעקב פשוט הכולל שיחת טלפון למי שנעדר.‏</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‏שלישית, ובאופן דחוף, מומלץ להשקיע בתשתית הליכה ביישובי הבדואים בנגב: מדרכה רציפה, תאורה וספסלים לאורך מסלול אחד לפחות בכל שכונה. זוהי ההשקעה בעלת התשואה הבריאותית הגבוהה ביותר ביחס לעלותה. רביעית, מומלץ להקים מסגרות ספורט נפרדות לנשים בתוך היישובים, בהפעלת מדריכות ובשעות אחר הצהריים, שכן היעדרן מהווה חסם מוחלט בפני מחצית האוכלוסייה.‏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‏חמישית, מומלץ להנהיג פנייה יזומה טלפונית בשפה הערבית אל בעלי גורמי סיכון שאינם מגיעים לבדיקות, מאחר שדיוור אוטומטי ועלונים כתובים נמצאו בלתי אפקטיביים, ובפרט בקרב מבוגרים שאינם קוראים. שישית, מומלץ לשלב את מוסדות הקהילה, ובהם המסגד, בתי הספר וטיפות החלב, כערוצי הסברה המגיעים אל מי שאינו פוקד את המרפאה. שביעית, מומלץ לשלב אנשים מן הקהילה שעברו שינוי מוצלח כמעבירי מסר, שכן עדותו של אדם מוכר מן היישוב משכנעת יותר מהרצאה של גורם חיצוני.‏</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מגבלות המחקר</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‏למחקר זה מספר מגבלות שיש להביאן בחשבון בפרשנות הממצאים. ראשית, מדובר במחקר איכותני בהיקף מצומצם של שנים עשר משתתפים, ולפיכך אין בו כדי לקבוע שיעורים או להכליל סטטיסטית לאוכלוסייה. מטרתו היא הבנת משמעות ולא מדידת שכיחות, ויש לקרוא את ממצאיו באופן זה.‏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‏שנית, הדגימה הייתה מכוונת ונעשתה בשיטת כדור השלג דרך מעגלי היכרות של החוקרים, שיטה העלולה ליצור הטיה לטובת אנשים הנכונים לשוחח על בריאותם. שלישית, הנתונים מבוססים על דיווח עצמי ולפיכך חשופים להטיית רצייה חברתית, מגבלה המתחדדת בשל ההיכרות המוקדמת בין החוקרים לבין חלק מן המרואיינים, אף שהיכרות זו תרמה גם לפתיחות ולאמון.‏</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‏רביעית, ארבעה ראיונות נערכו בערבית ותורגמו לעברית, וכל תרגום כרוך באובדן ניואנסים ובפרט בביטויים תרבותיים. חמישית, המחקר נערך בשלושה יישובים במחוז הדרום, ולפיכך ממצאיו משקפים הקשר מקומי ספציפי. ייחודו של הקשר זה הוא בעת ובעונה אחת יתרון של המחקר, המאפשר העמקה בהקשר שנחקר מעט, ומגבלה המצמצמת את יכולת ההשלכה על אוכלוסיות אחרות בישראל.‏</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סיכום ומסקנות</a:t>
            </a:r>
            <a:endParaRPr lang="en-US" sz="3100" dirty="0"/>
          </a:p>
        </p:txBody>
      </p:sp>
      <p:sp>
        <p:nvSpPr>
          <p:cNvPr id="3" name="Shape 1"/>
          <p:cNvSpPr/>
          <p:nvPr/>
        </p:nvSpPr>
        <p:spPr>
          <a:xfrm>
            <a:off x="502920" y="1133856"/>
            <a:ext cx="11185855" cy="5065776"/>
          </a:xfrm>
          <a:prstGeom prst="roundRect">
            <a:avLst>
              <a:gd name="adj" fmla="val 1805"/>
            </a:avLst>
          </a:prstGeom>
          <a:solidFill>
            <a:srgbClr val="F2F8F9"/>
          </a:solidFill>
          <a:ln w="12700">
            <a:solidFill>
              <a:srgbClr val="F2F8F9"/>
            </a:solidFill>
            <a:prstDash val="solid"/>
          </a:ln>
        </p:spPr>
      </p:sp>
      <p:sp>
        <p:nvSpPr>
          <p:cNvPr id="4" name="Text 2"/>
          <p:cNvSpPr txBox="1"/>
          <p:nvPr/>
        </p:nvSpPr>
        <p:spPr>
          <a:xfrm>
            <a:off x="886968" y="1408176"/>
            <a:ext cx="10417759" cy="4791456"/>
          </a:xfrm>
          <a:prstGeom prst="rect">
            <a:avLst/>
          </a:prstGeom>
          <a:noFill/>
          <a:ln/>
        </p:spPr>
        <p:txBody>
          <a:bodyPr wrap="square" lIns="0" tIns="0" rIns="0" bIns="0" rtlCol="0" anchor="t"/>
          <a:lstStyle/>
          <a:p>
            <a:pPr algn="r" indent="0" marL="0">
              <a:lnSpc>
                <a:spcPts val="2500"/>
              </a:lnSpc>
              <a:buNone/>
            </a:pPr>
            <a:r>
              <a:rPr lang="en-US" sz="1550" dirty="0">
                <a:solidFill>
                  <a:srgbClr val="0C3B44"/>
                </a:solidFill>
                <a:latin typeface="Arial" pitchFamily="34" charset="0"/>
                <a:ea typeface="Arial" pitchFamily="34" charset="-122"/>
                <a:cs typeface="Arial" pitchFamily="34" charset="-120"/>
              </a:rPr>
              <a:t>‏העבודה יצאה מנקודת מוצא של פער בין ידע ליישום, ומסתיימת בהבנה כי הפער אינו פער של מודעות אלא של תנאים. ארבע מסקנות מרכזיות עולות ממנה. הראשונה היא שהחסם המרכזי אינו חסם של ידע, שכן כל המרואיינים ידעו לנסח את עקרונות אורח החיים הבריא. השנייה היא שאורח חיים בריא הוא תוצר של תשתית ושל מסגרת, ולא של כוח רצון אישי.‏</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‏המסקנה השלישית היא שהשינוי בפועל מתרחש ברוב המקרים רק לאחר אירוע בריאותי, כלומר מאוחר מדי, אף שהוא מוכיח כי בני חמישים, שישים ושבעים מסוגלים לשינוי עמוק ומתמשך. המסקנה הרביעית היא שמערכת הבריאות נתפסת כמצוינת בטיפול וכחלשה במניעה יזומה, ושהמנגנונים שנמצאו אפקטיביים בפועל פשוטים וזולים יחסית לעלות הטיפול במחלה שכבר התפתחה.‏</a:t>
            </a:r>
            <a:endParaRPr lang="en-US" sz="1550" dirty="0"/>
          </a:p>
          <a:p>
            <a:pPr algn="r" indent="0" marL="0">
              <a:lnSpc>
                <a:spcPts val="2500"/>
              </a:lnSpc>
              <a:spcBef>
                <a:spcPts val="700"/>
              </a:spcBef>
              <a:buNone/>
            </a:pPr>
            <a:r>
              <a:rPr lang="en-US" sz="1550" dirty="0">
                <a:solidFill>
                  <a:srgbClr val="0C3B44"/>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55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רשימת מקורות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מקורות בעברית ובאנגלית, לפי סדר הא-ב</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334256"/>
          </a:xfrm>
          <a:prstGeom prst="rect">
            <a:avLst/>
          </a:prstGeom>
          <a:noFill/>
          <a:ln/>
        </p:spPr>
        <p:txBody>
          <a:bodyPr wrap="square" lIns="0" tIns="0" rIns="0" bIns="0" rtlCol="0" anchor="t"/>
          <a:lstStyle/>
          <a:p>
            <a:pPr algn="r" indent="0" marL="0">
              <a:lnSpc>
                <a:spcPts val="1700"/>
              </a:lnSpc>
              <a:buNone/>
            </a:pPr>
            <a:r>
              <a:rPr lang="en-US" sz="1200" dirty="0">
                <a:solidFill>
                  <a:srgbClr val="0C3B44"/>
                </a:solidFill>
                <a:latin typeface="Arial" pitchFamily="34" charset="0"/>
                <a:ea typeface="Arial" pitchFamily="34" charset="-122"/>
                <a:cs typeface="Arial" pitchFamily="34" charset="-120"/>
              </a:rPr>
              <a:t>‏המרכז הלאומי לבקרת מחלות ‏(2023)‏. סקר בריאות לאומי בישראל INHIS-4, 2018-2020, ממצאים נבחרים. משרד הבריאות.‏</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‏המרכז הלאומי לבקרת מחלות ‏(2025)‏. מגמות במצב הסוכרת בישראל בשנים 2012-2023. משרד הבריאות.‏</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‏צבר בן-יהושע, נ' ‏(2016)‏. מסורות וזרמים במחקר האיכותני: תפיסות, אסטרטגיות וכלים מתקדמים. מכון מופ"ת.‏</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‏קידום בריאות בישראל, כתב עת ישראלי לחינוך ולקידום הבריאות ‏(2023)‏. גיליון 11. המרכז לקידום בריאות, אוניברסיטת אריאל בשומרון.‏</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‏שקדי, א' ‏(2003)‏. מילים המנסות לגעת: מחקר איכותני, תיאוריה ויישום. רמות.‏</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‏Braun, V., &amp; Clarke, V. ‏(2006)‏. Using thematic analysis in psychology. Qualitative Research in Psychology, 3‏(2)‏, 77-101.‏</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‏Filippou, C. D., Tsioufis, C. P., Thomopoulos, C. G., Mihas, C. C., &amp; Tousoulis, D. I. ‏(2020)‏. Dietary approaches to stop hypertension ‏(DASH)‏ diet and blood pressure reduction in adults with and without hypertension. Advances in Nutrition, 11‏(5)‏, 1150-1160.‏</a:t>
            </a:r>
            <a:endParaRPr lang="en-US" sz="12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רשימת מקורות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המשך רשימת המקורות</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334256"/>
          </a:xfrm>
          <a:prstGeom prst="rect">
            <a:avLst/>
          </a:prstGeom>
          <a:noFill/>
          <a:ln/>
        </p:spPr>
        <p:txBody>
          <a:bodyPr wrap="square" lIns="0" tIns="0" rIns="0" bIns="0" rtlCol="0" anchor="t"/>
          <a:lstStyle/>
          <a:p>
            <a:pPr algn="r" indent="0" marL="0">
              <a:lnSpc>
                <a:spcPts val="1700"/>
              </a:lnSpc>
              <a:buNone/>
            </a:pPr>
            <a:r>
              <a:rPr lang="en-US" sz="1200" dirty="0">
                <a:solidFill>
                  <a:srgbClr val="0C3B44"/>
                </a:solidFill>
                <a:latin typeface="Arial" pitchFamily="34" charset="0"/>
                <a:ea typeface="Arial" pitchFamily="34" charset="-122"/>
                <a:cs typeface="Arial" pitchFamily="34" charset="-120"/>
              </a:rPr>
              <a:t>‏Franklin, B. A., Rusia, A., Haskin-Popp, C., &amp; Tawney, A. ‏(2021)‏. Chronic stress, exercise and cardiovascular disease. International Journal of Environmental Research and Public Health, 18‏(18)‏, Article 9922.‏</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‏Geidl, W., Schlesinger, S., Mino, E., Miranda, L., &amp; Pfeifer, K. ‏(2020)‏. Dose-response relationship between physical activity and mortality in adults with noncommunicable diseases. International Journal of Behavioral Nutrition and Physical Activity, 17, Article 109.‏</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‏Hareer, L. W., Lau, Y. Y., Mole, F., Reidlinger, D. P., &amp; Thomas, C. ‏(2024)‏. The effectiveness of the Mediterranean diet for primary and secondary prevention of cardiovascular disease: An umbrella review. Nutrition &amp; Dietetics, 81‏(4)‏.‏</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‏Karatzi, K., &amp; Manios, Y. ‏(2021)‏. The role of lifestyle, eating habits and social environment in the prevention and treatment of type 2 diabetes and hypertension. Nutrients, 13‏(5)‏, Article 1460.‏</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‏Laffond, A., Rivera-Picón, C., Rodríguez-Muñoz, P. M., Morales-Gázquez, M. J., &amp; Fernández-García, R. ‏(2023)‏. Mediterranean diet for primary and secondary prevention of cardiovascular disease and mortality: An updated systematic review. Nutrients, 15‏(15)‏, Article 3356.‏</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‏Lai, C., Fu, R., Huang, C., Wang, L., Ren, H., Zhu, Y., &amp; Zhang, X. ‏(2024)‏. Healthy lifestyle decreases the risk of the first incidence of non-communicable chronic disease and its progression to multimorbidity. The Journal of Nutrition, Health and Aging, 28‏(3)‏, Article 100164.‏</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‏Levi, S., Endy Findling, L., Endevelt, R., Hostovsky, M., Stern, F., &amp; Aflalo, E. ‏(2025)‏. Reflecting on a decade of action: A review of select indicators for the Israel National Program for Active and Healthy Living Efsharibari, 2011-2022. Israel Journal of Health Policy Research, 14‏(1)‏, Article 60.‏</a:t>
            </a:r>
            <a:endParaRPr lang="en-US" sz="12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1417320" y="274320"/>
            <a:ext cx="10271455" cy="603504"/>
          </a:xfrm>
          <a:prstGeom prst="rect">
            <a:avLst/>
          </a:prstGeom>
          <a:noFill/>
          <a:ln/>
        </p:spPr>
        <p:txBody>
          <a:bodyPr wrap="square" lIns="0" tIns="0" rIns="0" bIns="0" rtlCol="0" anchor="ctr"/>
          <a:lstStyle/>
          <a:p>
            <a:pPr rtl="1" algn="r" indent="0" marL="0">
              <a:buNone/>
            </a:pPr>
            <a:r>
              <a:rPr lang="en-US" sz="3100" b="1" dirty="0">
                <a:solidFill>
                  <a:srgbClr val="0C3B44"/>
                </a:solidFill>
                <a:latin typeface="Arial" pitchFamily="34" charset="0"/>
                <a:ea typeface="Arial" pitchFamily="34" charset="-122"/>
                <a:cs typeface="Arial" pitchFamily="34" charset="-120"/>
              </a:rPr>
              <a:t>רשימת מקורות</a:t>
            </a:r>
            <a:endParaRPr lang="en-US" sz="3100" dirty="0"/>
          </a:p>
        </p:txBody>
      </p:sp>
      <p:sp>
        <p:nvSpPr>
          <p:cNvPr id="3" name="Text 1"/>
          <p:cNvSpPr txBox="1"/>
          <p:nvPr/>
        </p:nvSpPr>
        <p:spPr>
          <a:xfrm>
            <a:off x="1417320" y="877824"/>
            <a:ext cx="10271455" cy="310896"/>
          </a:xfrm>
          <a:prstGeom prst="rect">
            <a:avLst/>
          </a:prstGeom>
          <a:noFill/>
          <a:ln/>
        </p:spPr>
        <p:txBody>
          <a:bodyPr wrap="square" lIns="0" tIns="0" rIns="0" bIns="0" rtlCol="0" anchor="ctr"/>
          <a:lstStyle/>
          <a:p>
            <a:pPr rtl="1" algn="r" indent="0" marL="0">
              <a:buNone/>
            </a:pPr>
            <a:r>
              <a:rPr lang="en-US" sz="1500" b="1" dirty="0">
                <a:solidFill>
                  <a:srgbClr val="1D9E9A"/>
                </a:solidFill>
                <a:latin typeface="Arial" pitchFamily="34" charset="0"/>
                <a:ea typeface="Arial" pitchFamily="34" charset="-122"/>
                <a:cs typeface="Arial" pitchFamily="34" charset="-120"/>
              </a:rPr>
              <a:t>המשך רשימת המקורות</a:t>
            </a:r>
            <a:endParaRPr lang="en-US" sz="1500" dirty="0"/>
          </a:p>
        </p:txBody>
      </p:sp>
      <p:sp>
        <p:nvSpPr>
          <p:cNvPr id="4" name="Shape 2"/>
          <p:cNvSpPr/>
          <p:nvPr/>
        </p:nvSpPr>
        <p:spPr>
          <a:xfrm>
            <a:off x="502920" y="1316736"/>
            <a:ext cx="11185855" cy="4882896"/>
          </a:xfrm>
          <a:prstGeom prst="roundRect">
            <a:avLst>
              <a:gd name="adj" fmla="val 1873"/>
            </a:avLst>
          </a:prstGeom>
          <a:solidFill>
            <a:srgbClr val="F2F8F9"/>
          </a:solidFill>
          <a:ln w="12700">
            <a:solidFill>
              <a:srgbClr val="F2F8F9"/>
            </a:solidFill>
            <a:prstDash val="solid"/>
          </a:ln>
        </p:spPr>
      </p:sp>
      <p:sp>
        <p:nvSpPr>
          <p:cNvPr id="5" name="Text 3"/>
          <p:cNvSpPr txBox="1"/>
          <p:nvPr/>
        </p:nvSpPr>
        <p:spPr>
          <a:xfrm>
            <a:off x="886968" y="1591056"/>
            <a:ext cx="10417759" cy="4334256"/>
          </a:xfrm>
          <a:prstGeom prst="rect">
            <a:avLst/>
          </a:prstGeom>
          <a:noFill/>
          <a:ln/>
        </p:spPr>
        <p:txBody>
          <a:bodyPr wrap="square" lIns="0" tIns="0" rIns="0" bIns="0" rtlCol="0" anchor="t"/>
          <a:lstStyle/>
          <a:p>
            <a:pPr algn="r" indent="0" marL="0">
              <a:lnSpc>
                <a:spcPts val="1700"/>
              </a:lnSpc>
              <a:buNone/>
            </a:pPr>
            <a:r>
              <a:rPr lang="en-US" sz="1200" dirty="0">
                <a:solidFill>
                  <a:srgbClr val="0C3B44"/>
                </a:solidFill>
                <a:latin typeface="Arial" pitchFamily="34" charset="0"/>
                <a:ea typeface="Arial" pitchFamily="34" charset="-122"/>
                <a:cs typeface="Arial" pitchFamily="34" charset="-120"/>
              </a:rPr>
              <a:t>‏Lincoln, Y. S., &amp; Guba, E. G. ‏(1985)‏. Naturalistic inquiry. Sage.‏</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‏Reges, O., Leibowitz, M., Hirsch, A., Dicker, D., Finer, N., &amp; Feldman, B. ‏(2020)‏. A comprehensive descriptive assessment of obesity related chronic morbidity and estimated annual cost burden. Israel Journal of Health Policy Research, 9‏(1)‏, Article 32.‏</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‏Treister-Goltzman, Y., &amp; Peleg, R. ‏(2015)‏. Health and morbidity among Bedouin women in southern Israel: A descriptive literature review of the past two decades. Journal of Community Health, 40‏(6)‏, 1213-1223.‏</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‏van der Velde, J. H. P. M., Boone, S. C., Winters-van Eekelen, E., Schrauwen, P., &amp; Rosendaal, F. R. ‏(2024)‏. Lifestyle factors and incident multimorbidity related to chronic disease: A population-based cohort study. European Journal of Ageing, 21, Article 36.‏</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‏World Health Organization. ‏(2023)‏. Noncommunicable diseases [Fact sheet]. World Health Organization.‏</a:t>
            </a:r>
            <a:endParaRPr lang="en-US" sz="1200" dirty="0"/>
          </a:p>
          <a:p>
            <a:pPr algn="r" indent="0" marL="0">
              <a:lnSpc>
                <a:spcPts val="1700"/>
              </a:lnSpc>
              <a:spcBef>
                <a:spcPts val="600"/>
              </a:spcBef>
              <a:buNone/>
            </a:pPr>
            <a:r>
              <a:rPr lang="en-US" sz="1200" dirty="0">
                <a:solidFill>
                  <a:srgbClr val="0C3B44"/>
                </a:solidFill>
                <a:latin typeface="Arial" pitchFamily="34" charset="0"/>
                <a:ea typeface="Arial" pitchFamily="34" charset="-122"/>
                <a:cs typeface="Arial" pitchFamily="34" charset="-120"/>
              </a:rPr>
              <a:t>‏Zhang, Y.-B., Chen, C., Pan, X.-F., Guo, J., Li, Y., Franco, O. H., &amp; Pan, A. ‏(2021)‏. Associations of healthy lifestyle and socioeconomic status with mortality and incident cardiovascular disease: Two prospective cohort studies. BMJ, 373, Article n604.‏</a:t>
            </a:r>
            <a:endParaRPr lang="en-US" sz="1200" dirty="0"/>
          </a:p>
        </p:txBody>
      </p:sp>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148072" y="1371600"/>
            <a:ext cx="1883664" cy="1883664"/>
          </a:xfrm>
          <a:prstGeom prst="roundRect">
            <a:avLst>
              <a:gd name="adj" fmla="val 7767"/>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5468112" y="1691640"/>
            <a:ext cx="1243584" cy="1243584"/>
          </a:xfrm>
          <a:prstGeom prst="rect">
            <a:avLst/>
          </a:prstGeom>
        </p:spPr>
      </p:pic>
      <p:sp>
        <p:nvSpPr>
          <p:cNvPr id="4" name="Text 1"/>
          <p:cNvSpPr txBox="1"/>
          <p:nvPr/>
        </p:nvSpPr>
        <p:spPr>
          <a:xfrm>
            <a:off x="502920" y="3657600"/>
            <a:ext cx="11185855"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 על ההקשבה</a:t>
            </a:r>
            <a:endParaRPr lang="en-US" sz="4000" dirty="0"/>
          </a:p>
        </p:txBody>
      </p:sp>
      <p:sp>
        <p:nvSpPr>
          <p:cNvPr id="5" name="Text 2"/>
          <p:cNvSpPr txBox="1"/>
          <p:nvPr/>
        </p:nvSpPr>
        <p:spPr>
          <a:xfrm>
            <a:off x="502920" y="4498848"/>
            <a:ext cx="11185855" cy="402336"/>
          </a:xfrm>
          <a:prstGeom prst="rect">
            <a:avLst/>
          </a:prstGeom>
          <a:noFill/>
          <a:ln/>
        </p:spPr>
        <p:txBody>
          <a:bodyPr wrap="square" lIns="0" tIns="0" rIns="0" bIns="0" rtlCol="0" anchor="ctr"/>
          <a:lstStyle/>
          <a:p>
            <a:pPr rtl="1" algn="ctr" indent="0" marL="0">
              <a:buNone/>
            </a:pPr>
            <a:r>
              <a:rPr lang="en-US" sz="1700" b="1" dirty="0">
                <a:solidFill>
                  <a:srgbClr val="1D9E9A"/>
                </a:solidFill>
                <a:latin typeface="Arial" pitchFamily="34" charset="0"/>
                <a:ea typeface="Arial" pitchFamily="34" charset="-122"/>
                <a:cs typeface="Arial" pitchFamily="34" charset="-120"/>
              </a:rPr>
              <a:t>המרכז האקדמי פרס  |  החוג למנהל מערכות בריאות</a:t>
            </a:r>
            <a:endParaRPr lang="en-US" sz="1700" dirty="0"/>
          </a:p>
        </p:txBody>
      </p:sp>
      <p:sp>
        <p:nvSpPr>
          <p:cNvPr id="6" name="Text 3"/>
          <p:cNvSpPr txBox="1"/>
          <p:nvPr/>
        </p:nvSpPr>
        <p:spPr>
          <a:xfrm>
            <a:off x="502920" y="4974336"/>
            <a:ext cx="11185855" cy="365760"/>
          </a:xfrm>
          <a:prstGeom prst="rect">
            <a:avLst/>
          </a:prstGeom>
          <a:noFill/>
          <a:ln/>
        </p:spPr>
        <p:txBody>
          <a:bodyPr wrap="square" lIns="0" tIns="0" rIns="0" bIns="0" rtlCol="0" anchor="ctr"/>
          <a:lstStyle/>
          <a:p>
            <a:pPr rtl="1" algn="ctr" indent="0" marL="0">
              <a:buNone/>
            </a:pPr>
            <a:r>
              <a:rPr lang="en-US" sz="1500" dirty="0">
                <a:solidFill>
                  <a:srgbClr val="BFE3DD"/>
                </a:solidFill>
                <a:latin typeface="Arial" pitchFamily="34" charset="0"/>
                <a:ea typeface="Arial" pitchFamily="34" charset="-122"/>
                <a:cs typeface="Arial" pitchFamily="34" charset="-120"/>
              </a:rPr>
              <a:t>מוחמד אבו גודה  |  ראמי אבו גאמע  |  מוחמד אלדואיקה</a:t>
            </a:r>
            <a:endParaRPr lang="en-US" sz="1500" dirty="0"/>
          </a:p>
        </p:txBody>
      </p:sp>
      <p:sp>
        <p:nvSpPr>
          <p:cNvPr id="7" name="Text 4"/>
          <p:cNvSpPr txBox="1"/>
          <p:nvPr/>
        </p:nvSpPr>
        <p:spPr>
          <a:xfrm>
            <a:off x="502920" y="5394960"/>
            <a:ext cx="11185855" cy="365760"/>
          </a:xfrm>
          <a:prstGeom prst="rect">
            <a:avLst/>
          </a:prstGeom>
          <a:noFill/>
          <a:ln/>
        </p:spPr>
        <p:txBody>
          <a:bodyPr wrap="square" lIns="0" tIns="0" rIns="0" bIns="0" rtlCol="0" anchor="ctr"/>
          <a:lstStyle/>
          <a:p>
            <a:pPr rtl="1" algn="ctr" indent="0" marL="0">
              <a:buNone/>
            </a:pPr>
            <a:r>
              <a:rPr lang="en-US" sz="1400" dirty="0">
                <a:solidFill>
                  <a:srgbClr val="BFE3DD"/>
                </a:solidFill>
                <a:latin typeface="Arial" pitchFamily="34" charset="0"/>
                <a:ea typeface="Arial" pitchFamily="34" charset="-122"/>
                <a:cs typeface="Arial" pitchFamily="34" charset="-120"/>
              </a:rPr>
              <a:t>‏בהנחיית ד"ר אסנת בשקין  |  שנה"ל תשפ"ו,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2026-09-05T19:26:57Z</dcterms:created>
  <dcterms:modified xsi:type="dcterms:W3CDTF">2026-09-05T19:26:57Z</dcterms:modified>
</cp:coreProperties>
</file>