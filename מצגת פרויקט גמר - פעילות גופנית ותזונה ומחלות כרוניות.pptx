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המגבלות בכנות: זה מחזק את אמינות העבודה ולא מחליש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שהמסקנה מעשית וברת יישום, ושההמלצות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הביבליוגרפית המלאה, בפורמט APA מלא,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סיום. כאן נפתח את הרצפה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רקע</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רקע והצגת הבעיה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שאלת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שאלת המחקר ומטרות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800" b="1" dirty="0">
                <a:solidFill>
                  <a:srgbClr val="0E6E7E"/>
                </a:solidFill>
                <a:latin typeface="Arial" pitchFamily="34" charset="0"/>
                <a:ea typeface="Arial" pitchFamily="34" charset="-122"/>
                <a:cs typeface="Arial" pitchFamily="34" charset="-120"/>
              </a:rPr>
              <a:t>‏שאלת המחקר המרכזית‏</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8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‏מטרות המחקר‏</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8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‏מחלות כרוניות הן מצבים בריאותיים ממושכים המתפתחים באופן הדרגתי ומלווים את הפרט לאורך שנים רבות. בשונה ממחלות חריפות הן אינן ניתנות לריפוי מלא אלא מנוהלות לאורך זמן, ולפיכך השפעתן על איכות החיים ועל מערכת הבריאות מצטברת ומתמשכת.‏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‏רב-תחלואה‏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בקרב יותר ממאה ושלושים אלף נבדקים מצא כי גורמי אורח חיים מסבירים חלק ניכר מן ההיארעות המשולבת, וכי העישון הוא הגורם התורם ביותר להתפתחותה ‏(van der Velde et al., 2024)‏. מכאן שהופעתן המשותפת אינה מקרית אלא קשורה בדפוסי התנהגות משותפים.‏</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‏הנטל הכלכלי‏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שההשקעה במניעה היא שיקול כלכלי ולא בריאותי בלבד.‏</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‏שני רכיבים אלו נהנים מבסיס הראיות המבוסס ביותר ביחס למניעת מחלות כרוניות.‏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‏התזונה‏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‏(Laffond et al., 2023)‏. סקירה של שלושים ניסויים מבוקרים הראתה כי דיאטת DASH מורידה באופן מובהק את לחץ הדם ‏(Filippou et al., 2020)‏.‏</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‏הפעילות הגופנית‏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כלומר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מסגרת תיאורטית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מסגרת תיאורטית ומודל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מתודולוגיה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אוכלוסיית המחקר ושיקולים אתיים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‏עדות לכך שהחסם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כי המערכת מחמיצה חלון הזדמנויות ארוך שבו ניתן היה למנוע את הנזק.‏</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משמעות הממצאים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דיון בממצאים לאור הספרות</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חסמים מבניים לעומת חסמים אישיים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המלצות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המלצות יישומיות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שבע המלצות לקופות החולים, לרשויות המקומיות ולמשרד הבריאות</a:t>
            </a:r>
            <a:endParaRPr lang="en-US" sz="1500" dirty="0"/>
          </a:p>
        </p:txBody>
      </p:sp>
      <p:sp>
        <p:nvSpPr>
          <p:cNvPr id="5" name="Shape 3"/>
          <p:cNvSpPr/>
          <p:nvPr/>
        </p:nvSpPr>
        <p:spPr>
          <a:xfrm>
            <a:off x="502920" y="1371600"/>
            <a:ext cx="11185855" cy="585216"/>
          </a:xfrm>
          <a:prstGeom prst="roundRect">
            <a:avLst>
              <a:gd name="adj" fmla="val 12500"/>
            </a:avLst>
          </a:prstGeom>
          <a:solidFill>
            <a:srgbClr val="F2F8F9"/>
          </a:solidFill>
          <a:ln w="12700">
            <a:solidFill>
              <a:srgbClr val="D5E7E9"/>
            </a:solidFill>
            <a:prstDash val="solid"/>
          </a:ln>
        </p:spPr>
      </p:sp>
      <p:sp>
        <p:nvSpPr>
          <p:cNvPr id="6" name="Text 4"/>
          <p:cNvSpPr txBox="1"/>
          <p:nvPr/>
        </p:nvSpPr>
        <p:spPr>
          <a:xfrm>
            <a:off x="11085271" y="1453896"/>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7765999" y="137160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‏מרשם לפעילות גופנית‏</a:t>
            </a:r>
            <a:endParaRPr lang="en-US" sz="1500" dirty="0"/>
          </a:p>
        </p:txBody>
      </p:sp>
      <p:sp>
        <p:nvSpPr>
          <p:cNvPr id="8" name="Text 6"/>
          <p:cNvSpPr txBox="1"/>
          <p:nvPr/>
        </p:nvSpPr>
        <p:spPr>
          <a:xfrm>
            <a:off x="704088" y="137160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‏הפניה בכתב עם שם קבוצה, מקום, יום ושעה, ולא המלצה כללית‏</a:t>
            </a:r>
            <a:endParaRPr lang="en-US" sz="1300" dirty="0"/>
          </a:p>
        </p:txBody>
      </p:sp>
      <p:sp>
        <p:nvSpPr>
          <p:cNvPr id="9" name="Shape 7"/>
          <p:cNvSpPr/>
          <p:nvPr/>
        </p:nvSpPr>
        <p:spPr>
          <a:xfrm>
            <a:off x="502920" y="2039112"/>
            <a:ext cx="11185855" cy="585216"/>
          </a:xfrm>
          <a:prstGeom prst="roundRect">
            <a:avLst>
              <a:gd name="adj" fmla="val 12500"/>
            </a:avLst>
          </a:prstGeom>
          <a:solidFill>
            <a:srgbClr val="F2F8F9"/>
          </a:solidFill>
          <a:ln w="12700">
            <a:solidFill>
              <a:srgbClr val="D5E7E9"/>
            </a:solidFill>
            <a:prstDash val="solid"/>
          </a:ln>
        </p:spPr>
      </p:sp>
      <p:sp>
        <p:nvSpPr>
          <p:cNvPr id="10" name="Text 8"/>
          <p:cNvSpPr txBox="1"/>
          <p:nvPr/>
        </p:nvSpPr>
        <p:spPr>
          <a:xfrm>
            <a:off x="11085271" y="2121408"/>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7765999" y="203911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‏קבוצות הליכה שכונתיות‏</a:t>
            </a:r>
            <a:endParaRPr lang="en-US" sz="1500" dirty="0"/>
          </a:p>
        </p:txBody>
      </p:sp>
      <p:sp>
        <p:nvSpPr>
          <p:cNvPr id="12" name="Text 10"/>
          <p:cNvSpPr txBox="1"/>
          <p:nvPr/>
        </p:nvSpPr>
        <p:spPr>
          <a:xfrm>
            <a:off x="704088" y="203911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‏מדריך אחד ומסלול קיים, בתוספת שיחת טלפון למי שנעדר‏</a:t>
            </a:r>
            <a:endParaRPr lang="en-US" sz="1300" dirty="0"/>
          </a:p>
        </p:txBody>
      </p:sp>
      <p:sp>
        <p:nvSpPr>
          <p:cNvPr id="13" name="Shape 11"/>
          <p:cNvSpPr/>
          <p:nvPr/>
        </p:nvSpPr>
        <p:spPr>
          <a:xfrm>
            <a:off x="502920" y="2706624"/>
            <a:ext cx="11185855" cy="585216"/>
          </a:xfrm>
          <a:prstGeom prst="roundRect">
            <a:avLst>
              <a:gd name="adj" fmla="val 12500"/>
            </a:avLst>
          </a:prstGeom>
          <a:solidFill>
            <a:srgbClr val="F2F8F9"/>
          </a:solidFill>
          <a:ln w="12700">
            <a:solidFill>
              <a:srgbClr val="D5E7E9"/>
            </a:solidFill>
            <a:prstDash val="solid"/>
          </a:ln>
        </p:spPr>
      </p:sp>
      <p:sp>
        <p:nvSpPr>
          <p:cNvPr id="14" name="Text 12"/>
          <p:cNvSpPr txBox="1"/>
          <p:nvPr/>
        </p:nvSpPr>
        <p:spPr>
          <a:xfrm>
            <a:off x="11085271" y="2788920"/>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7765999" y="2706624"/>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‏תשתית הליכה ביישובי הבדואים‏</a:t>
            </a:r>
            <a:endParaRPr lang="en-US" sz="1500" dirty="0"/>
          </a:p>
        </p:txBody>
      </p:sp>
      <p:sp>
        <p:nvSpPr>
          <p:cNvPr id="16" name="Text 14"/>
          <p:cNvSpPr txBox="1"/>
          <p:nvPr/>
        </p:nvSpPr>
        <p:spPr>
          <a:xfrm>
            <a:off x="704088" y="2706624"/>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‏מדרכה רציפה, תאורה וספסלים במסלול אחד לפחות בכל שכונה‏</a:t>
            </a:r>
            <a:endParaRPr lang="en-US" sz="1300" dirty="0"/>
          </a:p>
        </p:txBody>
      </p:sp>
      <p:sp>
        <p:nvSpPr>
          <p:cNvPr id="17" name="Shape 15"/>
          <p:cNvSpPr/>
          <p:nvPr/>
        </p:nvSpPr>
        <p:spPr>
          <a:xfrm>
            <a:off x="502920" y="3374136"/>
            <a:ext cx="11185855" cy="585216"/>
          </a:xfrm>
          <a:prstGeom prst="roundRect">
            <a:avLst>
              <a:gd name="adj" fmla="val 12500"/>
            </a:avLst>
          </a:prstGeom>
          <a:solidFill>
            <a:srgbClr val="F2F8F9"/>
          </a:solidFill>
          <a:ln w="12700">
            <a:solidFill>
              <a:srgbClr val="D5E7E9"/>
            </a:solidFill>
            <a:prstDash val="solid"/>
          </a:ln>
        </p:spPr>
      </p:sp>
      <p:sp>
        <p:nvSpPr>
          <p:cNvPr id="18" name="Text 16"/>
          <p:cNvSpPr txBox="1"/>
          <p:nvPr/>
        </p:nvSpPr>
        <p:spPr>
          <a:xfrm>
            <a:off x="11085271" y="3456432"/>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7765999" y="3374136"/>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‏מסגרות ספורט נפרדות לנשים‏</a:t>
            </a:r>
            <a:endParaRPr lang="en-US" sz="1500" dirty="0"/>
          </a:p>
        </p:txBody>
      </p:sp>
      <p:sp>
        <p:nvSpPr>
          <p:cNvPr id="20" name="Text 18"/>
          <p:cNvSpPr txBox="1"/>
          <p:nvPr/>
        </p:nvSpPr>
        <p:spPr>
          <a:xfrm>
            <a:off x="704088" y="3374136"/>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‏בהפעלת מדריכות, בשעות אחר הצהריים, בתוך היישוב עצמו‏</a:t>
            </a:r>
            <a:endParaRPr lang="en-US" sz="1300" dirty="0"/>
          </a:p>
        </p:txBody>
      </p:sp>
      <p:sp>
        <p:nvSpPr>
          <p:cNvPr id="21" name="Shape 19"/>
          <p:cNvSpPr/>
          <p:nvPr/>
        </p:nvSpPr>
        <p:spPr>
          <a:xfrm>
            <a:off x="502920" y="4041648"/>
            <a:ext cx="11185855" cy="585216"/>
          </a:xfrm>
          <a:prstGeom prst="roundRect">
            <a:avLst>
              <a:gd name="adj" fmla="val 12500"/>
            </a:avLst>
          </a:prstGeom>
          <a:solidFill>
            <a:srgbClr val="F2F8F9"/>
          </a:solidFill>
          <a:ln w="12700">
            <a:solidFill>
              <a:srgbClr val="D5E7E9"/>
            </a:solidFill>
            <a:prstDash val="solid"/>
          </a:ln>
        </p:spPr>
      </p:sp>
      <p:sp>
        <p:nvSpPr>
          <p:cNvPr id="22" name="Text 20"/>
          <p:cNvSpPr txBox="1"/>
          <p:nvPr/>
        </p:nvSpPr>
        <p:spPr>
          <a:xfrm>
            <a:off x="11085271" y="4123944"/>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7765999" y="4041648"/>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‏פנייה יזומה בטלפון, בערבית‏</a:t>
            </a:r>
            <a:endParaRPr lang="en-US" sz="1500" dirty="0"/>
          </a:p>
        </p:txBody>
      </p:sp>
      <p:sp>
        <p:nvSpPr>
          <p:cNvPr id="24" name="Text 22"/>
          <p:cNvSpPr txBox="1"/>
          <p:nvPr/>
        </p:nvSpPr>
        <p:spPr>
          <a:xfrm>
            <a:off x="704088" y="4041648"/>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‏אל בעלי גורמי סיכון שאינם מגיעים לבדיקות, במקום דיוור אוטומטי‏</a:t>
            </a:r>
            <a:endParaRPr lang="en-US" sz="1300" dirty="0"/>
          </a:p>
        </p:txBody>
      </p:sp>
      <p:sp>
        <p:nvSpPr>
          <p:cNvPr id="25" name="Shape 23"/>
          <p:cNvSpPr/>
          <p:nvPr/>
        </p:nvSpPr>
        <p:spPr>
          <a:xfrm>
            <a:off x="502920" y="4709160"/>
            <a:ext cx="11185855" cy="585216"/>
          </a:xfrm>
          <a:prstGeom prst="roundRect">
            <a:avLst>
              <a:gd name="adj" fmla="val 12500"/>
            </a:avLst>
          </a:prstGeom>
          <a:solidFill>
            <a:srgbClr val="F2F8F9"/>
          </a:solidFill>
          <a:ln w="12700">
            <a:solidFill>
              <a:srgbClr val="D5E7E9"/>
            </a:solidFill>
            <a:prstDash val="solid"/>
          </a:ln>
        </p:spPr>
      </p:sp>
      <p:sp>
        <p:nvSpPr>
          <p:cNvPr id="26" name="Text 24"/>
          <p:cNvSpPr txBox="1"/>
          <p:nvPr/>
        </p:nvSpPr>
        <p:spPr>
          <a:xfrm>
            <a:off x="11085271" y="4791456"/>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7" name="Text 25"/>
          <p:cNvSpPr txBox="1"/>
          <p:nvPr/>
        </p:nvSpPr>
        <p:spPr>
          <a:xfrm>
            <a:off x="7765999" y="470916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‏מוסדות הקהילה כערוץ הסברה‏</a:t>
            </a:r>
            <a:endParaRPr lang="en-US" sz="1500" dirty="0"/>
          </a:p>
        </p:txBody>
      </p:sp>
      <p:sp>
        <p:nvSpPr>
          <p:cNvPr id="28" name="Text 26"/>
          <p:cNvSpPr txBox="1"/>
          <p:nvPr/>
        </p:nvSpPr>
        <p:spPr>
          <a:xfrm>
            <a:off x="704088" y="470916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‏המסגד, בתי הספר וטיפות החלב מגיעים למי שאינו פוקד את המרפאה‏</a:t>
            </a:r>
            <a:endParaRPr lang="en-US" sz="1300" dirty="0"/>
          </a:p>
        </p:txBody>
      </p:sp>
      <p:sp>
        <p:nvSpPr>
          <p:cNvPr id="29" name="Shape 27"/>
          <p:cNvSpPr/>
          <p:nvPr/>
        </p:nvSpPr>
        <p:spPr>
          <a:xfrm>
            <a:off x="502920" y="5376672"/>
            <a:ext cx="11185855" cy="585216"/>
          </a:xfrm>
          <a:prstGeom prst="roundRect">
            <a:avLst>
              <a:gd name="adj" fmla="val 12500"/>
            </a:avLst>
          </a:prstGeom>
          <a:solidFill>
            <a:srgbClr val="F2F8F9"/>
          </a:solidFill>
          <a:ln w="12700">
            <a:solidFill>
              <a:srgbClr val="D5E7E9"/>
            </a:solidFill>
            <a:prstDash val="solid"/>
          </a:ln>
        </p:spPr>
      </p:sp>
      <p:sp>
        <p:nvSpPr>
          <p:cNvPr id="30" name="Text 28"/>
          <p:cNvSpPr txBox="1"/>
          <p:nvPr/>
        </p:nvSpPr>
        <p:spPr>
          <a:xfrm>
            <a:off x="11085271" y="5458968"/>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31" name="Text 29"/>
          <p:cNvSpPr txBox="1"/>
          <p:nvPr/>
        </p:nvSpPr>
        <p:spPr>
          <a:xfrm>
            <a:off x="7765999" y="537667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‏אנשי קהילה כמעבירי מסר‏</a:t>
            </a:r>
            <a:endParaRPr lang="en-US" sz="1500" dirty="0"/>
          </a:p>
        </p:txBody>
      </p:sp>
      <p:sp>
        <p:nvSpPr>
          <p:cNvPr id="32" name="Text 30"/>
          <p:cNvSpPr txBox="1"/>
          <p:nvPr/>
        </p:nvSpPr>
        <p:spPr>
          <a:xfrm>
            <a:off x="704088" y="537667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‏עדותו של מי שעבר שינוי משכנעת יותר מהרצאה של גורם חיצוני‏</a:t>
            </a:r>
            <a:endParaRPr lang="en-US" sz="13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מגבלות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502920" y="1225296"/>
            <a:ext cx="11185855" cy="585216"/>
          </a:xfrm>
          <a:prstGeom prst="roundRect">
            <a:avLst>
              <a:gd name="adj" fmla="val 12500"/>
            </a:avLst>
          </a:prstGeom>
          <a:solidFill>
            <a:srgbClr val="F2F8F9"/>
          </a:solidFill>
          <a:ln w="12700">
            <a:solidFill>
              <a:srgbClr val="D5E7E9"/>
            </a:solidFill>
            <a:prstDash val="solid"/>
          </a:ln>
        </p:spPr>
      </p:sp>
      <p:sp>
        <p:nvSpPr>
          <p:cNvPr id="5" name="Text 3"/>
          <p:cNvSpPr txBox="1"/>
          <p:nvPr/>
        </p:nvSpPr>
        <p:spPr>
          <a:xfrm>
            <a:off x="11085271" y="1307592"/>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7765999" y="1225296"/>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‏מדגם מצומצם‏</a:t>
            </a:r>
            <a:endParaRPr lang="en-US" sz="1500" dirty="0"/>
          </a:p>
        </p:txBody>
      </p:sp>
      <p:sp>
        <p:nvSpPr>
          <p:cNvPr id="7" name="Text 5"/>
          <p:cNvSpPr txBox="1"/>
          <p:nvPr/>
        </p:nvSpPr>
        <p:spPr>
          <a:xfrm>
            <a:off x="704088" y="1225296"/>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‏שנים עשר משתתפים, ולפיכך אין בממצאים כדי להכליל סטטיסטית לאוכלוסייה‏</a:t>
            </a:r>
            <a:endParaRPr lang="en-US" sz="1300" dirty="0"/>
          </a:p>
        </p:txBody>
      </p:sp>
      <p:sp>
        <p:nvSpPr>
          <p:cNvPr id="8" name="Shape 6"/>
          <p:cNvSpPr/>
          <p:nvPr/>
        </p:nvSpPr>
        <p:spPr>
          <a:xfrm>
            <a:off x="502920" y="1892808"/>
            <a:ext cx="11185855" cy="585216"/>
          </a:xfrm>
          <a:prstGeom prst="roundRect">
            <a:avLst>
              <a:gd name="adj" fmla="val 12500"/>
            </a:avLst>
          </a:prstGeom>
          <a:solidFill>
            <a:srgbClr val="F2F8F9"/>
          </a:solidFill>
          <a:ln w="12700">
            <a:solidFill>
              <a:srgbClr val="D5E7E9"/>
            </a:solidFill>
            <a:prstDash val="solid"/>
          </a:ln>
        </p:spPr>
      </p:sp>
      <p:sp>
        <p:nvSpPr>
          <p:cNvPr id="9" name="Text 7"/>
          <p:cNvSpPr txBox="1"/>
          <p:nvPr/>
        </p:nvSpPr>
        <p:spPr>
          <a:xfrm>
            <a:off x="11085271" y="1975104"/>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txBox="1"/>
          <p:nvPr/>
        </p:nvSpPr>
        <p:spPr>
          <a:xfrm>
            <a:off x="7765999" y="1892808"/>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‏דגימה מכוונת‏</a:t>
            </a:r>
            <a:endParaRPr lang="en-US" sz="1500" dirty="0"/>
          </a:p>
        </p:txBody>
      </p:sp>
      <p:sp>
        <p:nvSpPr>
          <p:cNvPr id="11" name="Text 9"/>
          <p:cNvSpPr txBox="1"/>
          <p:nvPr/>
        </p:nvSpPr>
        <p:spPr>
          <a:xfrm>
            <a:off x="704088" y="1892808"/>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‏שיטת כדור השלג עלולה להטות לטובת הנכונים לשוחח על בריאותם‏</a:t>
            </a:r>
            <a:endParaRPr lang="en-US" sz="1300" dirty="0"/>
          </a:p>
        </p:txBody>
      </p:sp>
      <p:sp>
        <p:nvSpPr>
          <p:cNvPr id="12" name="Shape 10"/>
          <p:cNvSpPr/>
          <p:nvPr/>
        </p:nvSpPr>
        <p:spPr>
          <a:xfrm>
            <a:off x="502920" y="2560320"/>
            <a:ext cx="11185855" cy="585216"/>
          </a:xfrm>
          <a:prstGeom prst="roundRect">
            <a:avLst>
              <a:gd name="adj" fmla="val 12500"/>
            </a:avLst>
          </a:prstGeom>
          <a:solidFill>
            <a:srgbClr val="F2F8F9"/>
          </a:solidFill>
          <a:ln w="12700">
            <a:solidFill>
              <a:srgbClr val="D5E7E9"/>
            </a:solidFill>
            <a:prstDash val="solid"/>
          </a:ln>
        </p:spPr>
      </p:sp>
      <p:sp>
        <p:nvSpPr>
          <p:cNvPr id="13" name="Text 11"/>
          <p:cNvSpPr txBox="1"/>
          <p:nvPr/>
        </p:nvSpPr>
        <p:spPr>
          <a:xfrm>
            <a:off x="11085271" y="2642616"/>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7765999" y="256032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‏דיווח עצמי‏</a:t>
            </a:r>
            <a:endParaRPr lang="en-US" sz="1500" dirty="0"/>
          </a:p>
        </p:txBody>
      </p:sp>
      <p:sp>
        <p:nvSpPr>
          <p:cNvPr id="15" name="Text 13"/>
          <p:cNvSpPr txBox="1"/>
          <p:nvPr/>
        </p:nvSpPr>
        <p:spPr>
          <a:xfrm>
            <a:off x="704088" y="256032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‏הנתונים חשופים להטיית רצייה חברתית, ובפרט בשל היכרות מוקדמת‏</a:t>
            </a:r>
            <a:endParaRPr lang="en-US" sz="1300" dirty="0"/>
          </a:p>
        </p:txBody>
      </p:sp>
      <p:sp>
        <p:nvSpPr>
          <p:cNvPr id="16" name="Shape 14"/>
          <p:cNvSpPr/>
          <p:nvPr/>
        </p:nvSpPr>
        <p:spPr>
          <a:xfrm>
            <a:off x="502920" y="3227832"/>
            <a:ext cx="11185855" cy="585216"/>
          </a:xfrm>
          <a:prstGeom prst="roundRect">
            <a:avLst>
              <a:gd name="adj" fmla="val 12500"/>
            </a:avLst>
          </a:prstGeom>
          <a:solidFill>
            <a:srgbClr val="F2F8F9"/>
          </a:solidFill>
          <a:ln w="12700">
            <a:solidFill>
              <a:srgbClr val="D5E7E9"/>
            </a:solidFill>
            <a:prstDash val="solid"/>
          </a:ln>
        </p:spPr>
      </p:sp>
      <p:sp>
        <p:nvSpPr>
          <p:cNvPr id="17" name="Text 15"/>
          <p:cNvSpPr txBox="1"/>
          <p:nvPr/>
        </p:nvSpPr>
        <p:spPr>
          <a:xfrm>
            <a:off x="11085271" y="3310128"/>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8" name="Text 16"/>
          <p:cNvSpPr txBox="1"/>
          <p:nvPr/>
        </p:nvSpPr>
        <p:spPr>
          <a:xfrm>
            <a:off x="7765999" y="322783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‏תרגום מערבית‏</a:t>
            </a:r>
            <a:endParaRPr lang="en-US" sz="1500" dirty="0"/>
          </a:p>
        </p:txBody>
      </p:sp>
      <p:sp>
        <p:nvSpPr>
          <p:cNvPr id="19" name="Text 17"/>
          <p:cNvSpPr txBox="1"/>
          <p:nvPr/>
        </p:nvSpPr>
        <p:spPr>
          <a:xfrm>
            <a:off x="704088" y="322783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‏ארבעה ראיונות תורגמו לעברית, וכל תרגום כרוך באובדן ניואנסים‏</a:t>
            </a:r>
            <a:endParaRPr lang="en-US" sz="1300" dirty="0"/>
          </a:p>
        </p:txBody>
      </p:sp>
      <p:sp>
        <p:nvSpPr>
          <p:cNvPr id="20" name="Shape 18"/>
          <p:cNvSpPr/>
          <p:nvPr/>
        </p:nvSpPr>
        <p:spPr>
          <a:xfrm>
            <a:off x="502920" y="3895344"/>
            <a:ext cx="11185855" cy="585216"/>
          </a:xfrm>
          <a:prstGeom prst="roundRect">
            <a:avLst>
              <a:gd name="adj" fmla="val 12500"/>
            </a:avLst>
          </a:prstGeom>
          <a:solidFill>
            <a:srgbClr val="F2F8F9"/>
          </a:solidFill>
          <a:ln w="12700">
            <a:solidFill>
              <a:srgbClr val="D5E7E9"/>
            </a:solidFill>
            <a:prstDash val="solid"/>
          </a:ln>
        </p:spPr>
      </p:sp>
      <p:sp>
        <p:nvSpPr>
          <p:cNvPr id="21" name="Text 19"/>
          <p:cNvSpPr txBox="1"/>
          <p:nvPr/>
        </p:nvSpPr>
        <p:spPr>
          <a:xfrm>
            <a:off x="11085271" y="3977640"/>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2" name="Text 20"/>
          <p:cNvSpPr txBox="1"/>
          <p:nvPr/>
        </p:nvSpPr>
        <p:spPr>
          <a:xfrm>
            <a:off x="7765999" y="3895344"/>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‏הקשר מקומי‏</a:t>
            </a:r>
            <a:endParaRPr lang="en-US" sz="1500" dirty="0"/>
          </a:p>
        </p:txBody>
      </p:sp>
      <p:sp>
        <p:nvSpPr>
          <p:cNvPr id="23" name="Text 21"/>
          <p:cNvSpPr txBox="1"/>
          <p:nvPr/>
        </p:nvSpPr>
        <p:spPr>
          <a:xfrm>
            <a:off x="704088" y="3895344"/>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‏שלושה יישובים בדרום בלבד, שהוא יתרון של עומק ומגבלה של השלכה‏</a:t>
            </a:r>
            <a:endParaRPr lang="en-US" sz="1300" dirty="0"/>
          </a:p>
        </p:txBody>
      </p:sp>
      <p:sp>
        <p:nvSpPr>
          <p:cNvPr id="24" name="Shape 22"/>
          <p:cNvSpPr/>
          <p:nvPr/>
        </p:nvSpPr>
        <p:spPr>
          <a:xfrm>
            <a:off x="502920" y="4690872"/>
            <a:ext cx="11185855" cy="1527048"/>
          </a:xfrm>
          <a:prstGeom prst="roundRect">
            <a:avLst>
              <a:gd name="adj" fmla="val 5988"/>
            </a:avLst>
          </a:prstGeom>
          <a:solidFill>
            <a:srgbClr val="BFE3DD"/>
          </a:solidFill>
          <a:ln w="12700">
            <a:solidFill>
              <a:srgbClr val="BFE3DD"/>
            </a:solidFill>
            <a:prstDash val="solid"/>
          </a:ln>
        </p:spPr>
      </p:sp>
      <p:sp>
        <p:nvSpPr>
          <p:cNvPr id="25" name="Text 23"/>
          <p:cNvSpPr txBox="1"/>
          <p:nvPr/>
        </p:nvSpPr>
        <p:spPr>
          <a:xfrm>
            <a:off x="850392" y="4837176"/>
            <a:ext cx="10490911" cy="1234440"/>
          </a:xfrm>
          <a:prstGeom prst="rect">
            <a:avLst/>
          </a:prstGeom>
          <a:noFill/>
          <a:ln/>
        </p:spPr>
        <p:txBody>
          <a:bodyPr wrap="square" lIns="0" tIns="0" rIns="0" bIns="0" rtlCol="0" anchor="t"/>
          <a:lstStyle/>
          <a:p>
            <a:pPr rtl="1" algn="r" indent="0" marL="0">
              <a:lnSpc>
                <a:spcPts val="2300"/>
              </a:lnSpc>
              <a:buNone/>
            </a:pPr>
            <a:r>
              <a:rPr lang="en-US" sz="1500" dirty="0">
                <a:solidFill>
                  <a:srgbClr val="0C3B44"/>
                </a:solidFill>
                <a:latin typeface="Arial" pitchFamily="34" charset="0"/>
                <a:ea typeface="Arial" pitchFamily="34" charset="-122"/>
                <a:cs typeface="Arial" pitchFamily="34" charset="-120"/>
              </a:rPr>
              <a:t>‏הכרה במגבלות אלו אינה גורעת מתוקף התמונה הכוללת, אך היא מחדדת את הצורך בזהירות בהכללת המסקנות ואת חשיבותם של מחקרי המשך, ובפרט מחקר משולב שיאמוד את שכיחותם של החסמים שזוהו במדגם מייצג של אוכלוסיית הנגב.‏</a:t>
            </a:r>
            <a:endParaRPr lang="en-US" sz="15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סיכום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סיכום ומסקנות</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‏העבודה יצאה מנקודת מוצא של פער בין ידע ליישום, ומסתיימת בהבנה כי הפער אינו פער של מודעות אלא של תנאים. ארבע מסקנות מרכזיות עולות ממנה. הראשונה היא שהחסם המרכזי אינו חסם של ידע, שכן כל המרואיינים ידעו לנסח את עקרונות אורח החיים הבריא. השנייה היא שאורח חיים בריא הוא תוצר של תשתית ושל מסגרת, ולא של כוח רצון אישי.‏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‏המסקנה השלישית היא שהשינוי בפועל מתרחש ברוב המקרים רק לאחר אירוע בריאותי, כלומר מאוחר מדי, אף שהוא מוכיח כי בני חמישים, שישים ושבעים מסוגלים לשינוי עמוק ומתמשך. המסקנה הרביעית היא שמערכת הבריאות נתפסת כמצוינת בטיפול וכחלשה במניעה יזומה, ושהמנגנונים שנמצאו אפקטיביים בפועל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מקורות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רשימת מקורות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המקורות שאוזכרו במצגת, מקורות בעברית ואחריהם באנגלית לפי סדר הא-ב</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6385255"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‏המרכז הלאומי לבקרת מחלות ‏(2023)‏. סקר בריאות לאומי INHIS-4.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‏המרכז הלאומי לבקרת מחלות ‏(2025)‏. מגמות במצב הסוכרת בישראל.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‏צבר בן-יהושע, נ' ‏(2016)‏. מסורות וזרמים במחקר האיכותני. מכון מופ"ת.‏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‏קידום בריאות בישראל ‏(2023)‏. גיליון 11. אוניברסיטת אריאל בשומרון.‏</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‏שקדי, א' ‏(2003)‏. מילים המנסות לגעת: מחקר איכותני. רמות.‏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‏Braun, V., &amp; Clarke, V. ‏(2006)‏. Qualitative Research in Psychology, 3‏(2)‏.‏</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‏Filippou, C. D., et al. ‏(2020)‏. Advances in Nutrition, 11‏(5)‏.‏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‏Franklin, B. A., et al. ‏(2021)‏. Int. J. of Environmental Research and Public Health, 18‏(18)‏.‏</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‏Geidl, W., et al. ‏(2020)‏. Int. J. of Behavioral Nutrition and Physical Activity, 17.‏</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‏Hareer, L. W., et al. ‏(2024)‏. Nutrition &amp; Dietetics, 81‏(4)‏.‏</a:t>
            </a:r>
            <a:endParaRPr lang="en-US" sz="1250" dirty="0"/>
          </a:p>
        </p:txBody>
      </p:sp>
      <p:sp>
        <p:nvSpPr>
          <p:cNvPr id="7" name="Text 5"/>
          <p:cNvSpPr txBox="1"/>
          <p:nvPr/>
        </p:nvSpPr>
        <p:spPr>
          <a:xfrm>
            <a:off x="923544"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‏Karatzi, K., &amp; Manios, Y. ‏(2021)‏. Nutrients, 13‏(5)‏.‏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‏Laffond, A., et al. ‏(2023)‏. Nutrients, 15‏(15)‏.‏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‏Lai, C., et al. ‏(2024)‏. The Journal of Nutrition, Health and Aging, 28‏(3)‏.‏</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‏Levi, S., et al. ‏(2025)‏. Israel Journal of Health Policy Research, 14‏(1)‏.‏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‏Lincoln, Y. S., &amp; Guba, E. G. ‏(1985)‏. Naturalistic inquiry. Sage.‏</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‏Reges, O., et al. ‏(2020)‏. Israel Journal of Health Policy Research, 9‏(1)‏.‏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‏Treister-Goltzman, Y., &amp; Peleg, R. ‏(2015)‏. Journal of Community Health, 40‏(6)‏.‏</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‏van der Velde, J. H. P. M., et al. ‏(2024)‏. European Journal of Ageing, 21.‏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‏World Health Organization ‏(2023)‏. Noncommunicable diseases [Fact sheet].‏</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‏Zhang, Y.-B., et al. ‏(2021)‏. BMJ, 373.‏</a:t>
            </a:r>
            <a:endParaRPr lang="en-US" sz="12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148072" y="1371600"/>
            <a:ext cx="1883664" cy="1883664"/>
          </a:xfrm>
          <a:prstGeom prst="roundRect">
            <a:avLst>
              <a:gd name="adj" fmla="val 7767"/>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5468112" y="1691640"/>
            <a:ext cx="1243584" cy="1243584"/>
          </a:xfrm>
          <a:prstGeom prst="rect">
            <a:avLst/>
          </a:prstGeom>
        </p:spPr>
      </p:pic>
      <p:sp>
        <p:nvSpPr>
          <p:cNvPr id="4" name="Text 1"/>
          <p:cNvSpPr txBox="1"/>
          <p:nvPr/>
        </p:nvSpPr>
        <p:spPr>
          <a:xfrm>
            <a:off x="502920" y="3657600"/>
            <a:ext cx="11185855"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 על ההקשבה</a:t>
            </a:r>
            <a:endParaRPr lang="en-US" sz="4000" dirty="0"/>
          </a:p>
        </p:txBody>
      </p:sp>
      <p:sp>
        <p:nvSpPr>
          <p:cNvPr id="5" name="Text 2"/>
          <p:cNvSpPr txBox="1"/>
          <p:nvPr/>
        </p:nvSpPr>
        <p:spPr>
          <a:xfrm>
            <a:off x="502920" y="4498848"/>
            <a:ext cx="11185855" cy="402336"/>
          </a:xfrm>
          <a:prstGeom prst="rect">
            <a:avLst/>
          </a:prstGeom>
          <a:noFill/>
          <a:ln/>
        </p:spPr>
        <p:txBody>
          <a:bodyPr wrap="square" lIns="0" tIns="0" rIns="0" bIns="0" rtlCol="0" anchor="ctr"/>
          <a:lstStyle/>
          <a:p>
            <a:pPr rtl="1" algn="ctr" indent="0" marL="0">
              <a:buNone/>
            </a:pPr>
            <a:r>
              <a:rPr lang="en-US" sz="1700" b="1" dirty="0">
                <a:solidFill>
                  <a:srgbClr val="1D9E9A"/>
                </a:solidFill>
                <a:latin typeface="Arial" pitchFamily="34" charset="0"/>
                <a:ea typeface="Arial" pitchFamily="34" charset="-122"/>
                <a:cs typeface="Arial" pitchFamily="34" charset="-120"/>
              </a:rPr>
              <a:t>המרכז האקדמי פרס  |  החוג למנהל מערכות בריאות</a:t>
            </a:r>
            <a:endParaRPr lang="en-US" sz="1700" dirty="0"/>
          </a:p>
        </p:txBody>
      </p:sp>
      <p:sp>
        <p:nvSpPr>
          <p:cNvPr id="6" name="Text 3"/>
          <p:cNvSpPr txBox="1"/>
          <p:nvPr/>
        </p:nvSpPr>
        <p:spPr>
          <a:xfrm>
            <a:off x="502920" y="4974336"/>
            <a:ext cx="11185855" cy="365760"/>
          </a:xfrm>
          <a:prstGeom prst="rect">
            <a:avLst/>
          </a:prstGeom>
          <a:noFill/>
          <a:ln/>
        </p:spPr>
        <p:txBody>
          <a:bodyPr wrap="square" lIns="0" tIns="0" rIns="0" bIns="0" rtlCol="0" anchor="ctr"/>
          <a:lstStyle/>
          <a:p>
            <a:pPr rtl="1" algn="ctr" indent="0" marL="0">
              <a:buNone/>
            </a:pPr>
            <a:r>
              <a:rPr lang="en-US" sz="1500" dirty="0">
                <a:solidFill>
                  <a:srgbClr val="BFE3DD"/>
                </a:solidFill>
                <a:latin typeface="Arial" pitchFamily="34" charset="0"/>
                <a:ea typeface="Arial" pitchFamily="34" charset="-122"/>
                <a:cs typeface="Arial" pitchFamily="34" charset="-120"/>
              </a:rPr>
              <a:t>מוחמד אבו גודה  |  ראמי אבו גאמע  |  מוחמד אלדואיקה</a:t>
            </a:r>
            <a:endParaRPr lang="en-US" sz="1500" dirty="0"/>
          </a:p>
        </p:txBody>
      </p:sp>
      <p:sp>
        <p:nvSpPr>
          <p:cNvPr id="7" name="Text 4"/>
          <p:cNvSpPr txBox="1"/>
          <p:nvPr/>
        </p:nvSpPr>
        <p:spPr>
          <a:xfrm>
            <a:off x="502920" y="5394960"/>
            <a:ext cx="11185855" cy="365760"/>
          </a:xfrm>
          <a:prstGeom prst="rect">
            <a:avLst/>
          </a:prstGeom>
          <a:noFill/>
          <a:ln/>
        </p:spPr>
        <p:txBody>
          <a:bodyPr wrap="square" lIns="0" tIns="0" rIns="0" bIns="0" rtlCol="0" anchor="ctr"/>
          <a:lstStyle/>
          <a:p>
            <a:pPr rtl="1" algn="ctr" indent="0" marL="0">
              <a:buNone/>
            </a:pPr>
            <a:r>
              <a:rPr lang="en-US" sz="1400" dirty="0">
                <a:solidFill>
                  <a:srgbClr val="BFE3DD"/>
                </a:solidFill>
                <a:latin typeface="Arial" pitchFamily="34" charset="0"/>
                <a:ea typeface="Arial" pitchFamily="34" charset="-122"/>
                <a:cs typeface="Arial" pitchFamily="34" charset="-120"/>
              </a:rPr>
              <a:t>‏בהנחיית ד"ר אסנת בשקין  |  שנה"ל תשפ"ו,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2026-09-05T19:42:03Z</dcterms:created>
  <dcterms:modified xsi:type="dcterms:W3CDTF">2026-09-05T19:42:03Z</dcterms:modified>
</cp:coreProperties>
</file>