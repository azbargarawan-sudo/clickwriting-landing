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פרויקט גמר בהמשך לעבודת הסמינריון. המחקר בוחן את הקשר בין פעילות גופנית ותזונה מאוזנת לבין הסיכון לתחלואה כרונית, מנקודת מבטם של מבוגרים בנגב.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הידע קיים ומבוסס, אך היישום באוכלוסייה חלקי. בנגב הפער מתחדד בשל שיעורי תחלואה גבוהים ותשתיות מוגבלות.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השאלה מנוסחת מנקודת מבטם של המבוגרים עצמם, ולא כמדידה סטטיסטית של הקשר, ומכאן בחירת הגישה האיכותנית.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שלושת הממדים: היקף התופעה, אופן התקבצותה, והעלות שלה. שלושתם מובילים לאותה מסקנה, שהמניעה משתלמת.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שני הרכיבים בעלי בסיס הראיות החזק ביותר, ושילובם חזק מסך חלקיו. זהו הבסיס התאורטי לשאלת המחקר.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המודל ממקם את המחקר: לא בדיקה חוזרת של הקשר המוכח, אלא בחינת החוליה שבין הידע ליישום.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ההתאמה בין השאלה לשיטה היא הנקודה החשובה: שאלה על משמעות מחייבת כלי איכותני.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הגיוון במדגם נועד להבטיח שהתמות לא ייגזרו מקבוצה הומוגנית אחת. טבלת המרואיינים המלאה מופיעה בעבודה הכתובה.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להציג את המפה הכוללת לפני הפירוט, כדי שהקהל ידע לאן מתקדמים.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החסם המשפחתי הוא הממצא המעניין ביותר להמלצות: מרואיין 11 עצמו הציע ללמד צורה חדשה של כיבוד הורים, שבה הכבוד הוא ללכת עם ההורה ברגל.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להדגיש את עדותה של מרואיינת 8: היא ההוכחה שהפער אינו פער של רצון אלא של תנאים.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המסקנה המעשית: מה שעובד הוא פנייה אישית ויזומה, לא עלון ולא דיוור אוטומטי.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שלושת המנגנונים הם התרומה התאורטית של המחקר: הם מסבירים למה ידע לבדו אינו מספיק.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זו הנקודה החזקה ביותר של המחקר להמלצות מדיניות: הפער ניתן לסגירה בהשקעה בתשתית ובמסגרות.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שלוש ההמלצות הראשונות מבוססות על מנגנונים שנמצאו אפקטיביים בפועל בראיונות עצמם, ולכן הן ראשונות ברשימה.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להציג את המגבלות בכנות: זה מחזק את אמינות העבודה ולא מחליש אותה.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להדגיש שהמסקנה מעשית וברת יישום, ושההמלצות אינן דורשות משאבים חריגים.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כל מקור שאוזכר במצגת מופיע ברשימה, וכל פריט ברשימה אוזכר במצגת. הרשימה הביבליוגרפית המלאה, בפורמט APA מלא, מופיעה בעבודה הכתובה.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שקופית סיום. כאן נפתח את הרצפה לשאלות.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C3B4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pic>
        <p:nvPicPr>
          <p:cNvPr id="2" name="Image 0" descr="logo.jpg">    </p:cNvPr>
          <p:cNvPicPr>
            <a:picLocks noChangeAspect="1"/>
          </p:cNvPicPr>
          <p:nvPr/>
        </p:nvPicPr>
        <p:blipFill>
          <a:blip r:embed="rId1"/>
          <a:stretch>
            <a:fillRect/>
          </a:stretch>
        </p:blipFill>
        <p:spPr>
          <a:xfrm>
            <a:off x="502920" y="274320"/>
            <a:ext cx="713232" cy="713232"/>
          </a:xfrm>
          <a:prstGeom prst="rect">
            <a:avLst/>
          </a:prstGeom>
        </p:spPr>
      </p:pic>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0104120" y="457200"/>
            <a:ext cx="1572768" cy="1572768"/>
          </a:xfrm>
          <a:prstGeom prst="roundRect">
            <a:avLst>
              <a:gd name="adj" fmla="val 8140"/>
            </a:avLst>
          </a:prstGeom>
          <a:solidFill>
            <a:srgbClr val="FFFFFF"/>
          </a:solidFill>
          <a:ln w="12700">
            <a:solidFill>
              <a:srgbClr val="FFFFFF"/>
            </a:solidFill>
            <a:prstDash val="solid"/>
          </a:ln>
        </p:spPr>
      </p:sp>
      <p:pic>
        <p:nvPicPr>
          <p:cNvPr id="3" name="Image 0" descr="logo.jpg">    </p:cNvPr>
          <p:cNvPicPr>
            <a:picLocks noChangeAspect="1"/>
          </p:cNvPicPr>
          <p:nvPr/>
        </p:nvPicPr>
        <p:blipFill>
          <a:blip r:embed="rId1"/>
          <a:stretch>
            <a:fillRect/>
          </a:stretch>
        </p:blipFill>
        <p:spPr>
          <a:xfrm>
            <a:off x="10369296" y="722376"/>
            <a:ext cx="1042416" cy="1042416"/>
          </a:xfrm>
          <a:prstGeom prst="rect">
            <a:avLst/>
          </a:prstGeom>
        </p:spPr>
      </p:pic>
      <p:sp>
        <p:nvSpPr>
          <p:cNvPr id="4" name="Text 1"/>
          <p:cNvSpPr txBox="1"/>
          <p:nvPr/>
        </p:nvSpPr>
        <p:spPr>
          <a:xfrm>
            <a:off x="502920" y="566928"/>
            <a:ext cx="9326880" cy="365760"/>
          </a:xfrm>
          <a:prstGeom prst="rect">
            <a:avLst/>
          </a:prstGeom>
          <a:noFill/>
          <a:ln/>
        </p:spPr>
        <p:txBody>
          <a:bodyPr wrap="square" lIns="0" tIns="0" rIns="0" bIns="0" rtlCol="0" anchor="ctr"/>
          <a:lstStyle/>
          <a:p>
            <a:pPr rtl="1" algn="r" indent="0" marL="0">
              <a:buNone/>
            </a:pPr>
            <a:r>
              <a:rPr lang="en-US" sz="1500" b="1" dirty="0">
                <a:solidFill>
                  <a:srgbClr val="BFE3DD"/>
                </a:solidFill>
                <a:latin typeface="Arial" pitchFamily="34" charset="0"/>
                <a:ea typeface="Arial" pitchFamily="34" charset="-122"/>
                <a:cs typeface="Arial" pitchFamily="34" charset="-120"/>
              </a:rPr>
              <a:t>המרכז האקדמי פרס, החוג למנהל מערכות בריאות</a:t>
            </a:r>
            <a:endParaRPr lang="en-US" sz="1500" dirty="0"/>
          </a:p>
        </p:txBody>
      </p:sp>
      <p:sp>
        <p:nvSpPr>
          <p:cNvPr id="5" name="Text 2"/>
          <p:cNvSpPr txBox="1"/>
          <p:nvPr/>
        </p:nvSpPr>
        <p:spPr>
          <a:xfrm>
            <a:off x="502920" y="1874520"/>
            <a:ext cx="11185855" cy="1691640"/>
          </a:xfrm>
          <a:prstGeom prst="rect">
            <a:avLst/>
          </a:prstGeom>
          <a:noFill/>
          <a:ln/>
        </p:spPr>
        <p:txBody>
          <a:bodyPr wrap="square" lIns="0" tIns="0" rIns="0" bIns="0" rtlCol="0" anchor="ctr"/>
          <a:lstStyle/>
          <a:p>
            <a:pPr rtl="1" algn="r" indent="0" marL="0">
              <a:lnSpc>
                <a:spcPts val="4600"/>
              </a:lnSpc>
              <a:buNone/>
            </a:pPr>
            <a:r>
              <a:rPr lang="en-US" sz="3300" b="1" dirty="0">
                <a:solidFill>
                  <a:srgbClr val="FFFFFF"/>
                </a:solidFill>
                <a:latin typeface="Arial" pitchFamily="34" charset="0"/>
                <a:ea typeface="Arial" pitchFamily="34" charset="-122"/>
                <a:cs typeface="Arial" pitchFamily="34" charset="-120"/>
              </a:rPr>
              <a:t>‏מהי ההשפעה של פעילות גופנית ותזונה מאוזנת‏</a:t>
            </a:r>
            <a:endParaRPr lang="en-US" sz="3300" dirty="0"/>
          </a:p>
          <a:p>
            <a:pPr rtl="1" algn="r" indent="0" marL="0">
              <a:lnSpc>
                <a:spcPts val="4600"/>
              </a:lnSpc>
              <a:buNone/>
            </a:pPr>
            <a:r>
              <a:rPr lang="en-US" sz="3300" b="1" dirty="0">
                <a:solidFill>
                  <a:srgbClr val="FFFFFF"/>
                </a:solidFill>
                <a:latin typeface="Arial" pitchFamily="34" charset="0"/>
                <a:ea typeface="Arial" pitchFamily="34" charset="-122"/>
                <a:cs typeface="Arial" pitchFamily="34" charset="-120"/>
              </a:rPr>
              <a:t>‏על הסיכון להתפתחות מחלות כרוניות בקרב מבוגרים?‏</a:t>
            </a:r>
            <a:endParaRPr lang="en-US" sz="3300" dirty="0"/>
          </a:p>
        </p:txBody>
      </p:sp>
      <p:sp>
        <p:nvSpPr>
          <p:cNvPr id="6" name="Text 3"/>
          <p:cNvSpPr txBox="1"/>
          <p:nvPr/>
        </p:nvSpPr>
        <p:spPr>
          <a:xfrm>
            <a:off x="502920" y="3657600"/>
            <a:ext cx="11185855" cy="384048"/>
          </a:xfrm>
          <a:prstGeom prst="rect">
            <a:avLst/>
          </a:prstGeom>
          <a:noFill/>
          <a:ln/>
        </p:spPr>
        <p:txBody>
          <a:bodyPr wrap="square" lIns="0" tIns="0" rIns="0" bIns="0" rtlCol="0" anchor="ctr"/>
          <a:lstStyle/>
          <a:p>
            <a:pPr rtl="1" algn="r" indent="0" marL="0">
              <a:buNone/>
            </a:pPr>
            <a:r>
              <a:rPr lang="en-US" sz="1800" b="1" dirty="0">
                <a:solidFill>
                  <a:srgbClr val="1D9E9A"/>
                </a:solidFill>
                <a:latin typeface="Arial" pitchFamily="34" charset="0"/>
                <a:ea typeface="Arial" pitchFamily="34" charset="-122"/>
                <a:cs typeface="Arial" pitchFamily="34" charset="-120"/>
              </a:rPr>
              <a:t>פרויקט גמר, מחקר איכותני בקרב מבוגרים ביישובי הנגב</a:t>
            </a:r>
            <a:endParaRPr lang="en-US" sz="1800" dirty="0"/>
          </a:p>
        </p:txBody>
      </p:sp>
      <p:sp>
        <p:nvSpPr>
          <p:cNvPr id="7" name="Shape 4"/>
          <p:cNvSpPr/>
          <p:nvPr/>
        </p:nvSpPr>
        <p:spPr>
          <a:xfrm>
            <a:off x="502920" y="4434840"/>
            <a:ext cx="11185855" cy="1572768"/>
          </a:xfrm>
          <a:prstGeom prst="roundRect">
            <a:avLst>
              <a:gd name="adj" fmla="val 5233"/>
            </a:avLst>
          </a:prstGeom>
          <a:solidFill>
            <a:srgbClr val="12505C"/>
          </a:solidFill>
          <a:ln w="12700">
            <a:solidFill>
              <a:srgbClr val="12505C"/>
            </a:solidFill>
            <a:prstDash val="solid"/>
          </a:ln>
        </p:spPr>
      </p:sp>
      <p:sp>
        <p:nvSpPr>
          <p:cNvPr id="8" name="Text 5"/>
          <p:cNvSpPr txBox="1"/>
          <p:nvPr/>
        </p:nvSpPr>
        <p:spPr>
          <a:xfrm>
            <a:off x="822960" y="4590288"/>
            <a:ext cx="3840480" cy="292608"/>
          </a:xfrm>
          <a:prstGeom prst="rect">
            <a:avLst/>
          </a:prstGeom>
          <a:noFill/>
          <a:ln/>
        </p:spPr>
        <p:txBody>
          <a:bodyPr wrap="square" lIns="0" tIns="0" rIns="0" bIns="0" rtlCol="0" anchor="ctr"/>
          <a:lstStyle/>
          <a:p>
            <a:pPr rtl="1" algn="r" indent="0" marL="0">
              <a:buNone/>
            </a:pPr>
            <a:r>
              <a:rPr lang="en-US" sz="1300" b="1" dirty="0">
                <a:solidFill>
                  <a:srgbClr val="BFE3DD"/>
                </a:solidFill>
                <a:latin typeface="Arial" pitchFamily="34" charset="0"/>
                <a:ea typeface="Arial" pitchFamily="34" charset="-122"/>
                <a:cs typeface="Arial" pitchFamily="34" charset="-120"/>
              </a:rPr>
              <a:t>מגישים</a:t>
            </a:r>
            <a:endParaRPr lang="en-US" sz="1300" dirty="0"/>
          </a:p>
        </p:txBody>
      </p:sp>
      <p:sp>
        <p:nvSpPr>
          <p:cNvPr id="9" name="Text 6"/>
          <p:cNvSpPr txBox="1"/>
          <p:nvPr/>
        </p:nvSpPr>
        <p:spPr>
          <a:xfrm>
            <a:off x="822960" y="4901184"/>
            <a:ext cx="4937760" cy="960120"/>
          </a:xfrm>
          <a:prstGeom prst="rect">
            <a:avLst/>
          </a:prstGeom>
          <a:noFill/>
          <a:ln/>
        </p:spPr>
        <p:txBody>
          <a:bodyPr wrap="square" lIns="0" tIns="0" rIns="0" bIns="0" rtlCol="0" anchor="ctr"/>
          <a:lstStyle/>
          <a:p>
            <a:pPr algn="r" indent="0" marL="0">
              <a:lnSpc>
                <a:spcPts val="2100"/>
              </a:lnSpc>
              <a:buNone/>
            </a:pPr>
            <a:r>
              <a:rPr lang="en-US" sz="1400" dirty="0">
                <a:solidFill>
                  <a:srgbClr val="FFFFFF"/>
                </a:solidFill>
                <a:latin typeface="Arial" pitchFamily="34" charset="0"/>
                <a:ea typeface="Arial" pitchFamily="34" charset="-122"/>
                <a:cs typeface="Arial" pitchFamily="34" charset="-120"/>
              </a:rPr>
              <a:t>מוחמד אבו גודה, ת"ז 216107623</a:t>
            </a:r>
            <a:endParaRPr lang="en-US" sz="1400" dirty="0"/>
          </a:p>
          <a:p>
            <a:pPr algn="r" indent="0" marL="0">
              <a:lnSpc>
                <a:spcPts val="2100"/>
              </a:lnSpc>
              <a:buNone/>
            </a:pPr>
            <a:r>
              <a:rPr lang="en-US" sz="1400" dirty="0">
                <a:solidFill>
                  <a:srgbClr val="FFFFFF"/>
                </a:solidFill>
                <a:latin typeface="Arial" pitchFamily="34" charset="0"/>
                <a:ea typeface="Arial" pitchFamily="34" charset="-122"/>
                <a:cs typeface="Arial" pitchFamily="34" charset="-120"/>
              </a:rPr>
              <a:t>ראמי אבו גאמע, ת"ז 215907734</a:t>
            </a:r>
            <a:endParaRPr lang="en-US" sz="1400" dirty="0"/>
          </a:p>
          <a:p>
            <a:pPr algn="r" indent="0" marL="0">
              <a:lnSpc>
                <a:spcPts val="2100"/>
              </a:lnSpc>
              <a:buNone/>
            </a:pPr>
            <a:r>
              <a:rPr lang="en-US" sz="1400" dirty="0">
                <a:solidFill>
                  <a:srgbClr val="FFFFFF"/>
                </a:solidFill>
                <a:latin typeface="Arial" pitchFamily="34" charset="0"/>
                <a:ea typeface="Arial" pitchFamily="34" charset="-122"/>
                <a:cs typeface="Arial" pitchFamily="34" charset="-120"/>
              </a:rPr>
              <a:t>מוחמד אלדואיקה, ת"ז 329354765</a:t>
            </a:r>
            <a:endParaRPr lang="en-US" sz="1400" dirty="0"/>
          </a:p>
        </p:txBody>
      </p:sp>
      <p:sp>
        <p:nvSpPr>
          <p:cNvPr id="10" name="Text 7"/>
          <p:cNvSpPr txBox="1"/>
          <p:nvPr/>
        </p:nvSpPr>
        <p:spPr>
          <a:xfrm>
            <a:off x="6949440" y="4590288"/>
            <a:ext cx="4480560" cy="292608"/>
          </a:xfrm>
          <a:prstGeom prst="rect">
            <a:avLst/>
          </a:prstGeom>
          <a:noFill/>
          <a:ln/>
        </p:spPr>
        <p:txBody>
          <a:bodyPr wrap="square" lIns="0" tIns="0" rIns="0" bIns="0" rtlCol="0" anchor="ctr"/>
          <a:lstStyle/>
          <a:p>
            <a:pPr rtl="1" algn="r" indent="0" marL="0">
              <a:buNone/>
            </a:pPr>
            <a:r>
              <a:rPr lang="en-US" sz="1300" b="1" dirty="0">
                <a:solidFill>
                  <a:srgbClr val="BFE3DD"/>
                </a:solidFill>
                <a:latin typeface="Arial" pitchFamily="34" charset="0"/>
                <a:ea typeface="Arial" pitchFamily="34" charset="-122"/>
                <a:cs typeface="Arial" pitchFamily="34" charset="-120"/>
              </a:rPr>
              <a:t>בהנחיית</a:t>
            </a:r>
            <a:endParaRPr lang="en-US" sz="1300" dirty="0"/>
          </a:p>
        </p:txBody>
      </p:sp>
      <p:sp>
        <p:nvSpPr>
          <p:cNvPr id="11" name="Text 8"/>
          <p:cNvSpPr txBox="1"/>
          <p:nvPr/>
        </p:nvSpPr>
        <p:spPr>
          <a:xfrm>
            <a:off x="6949440" y="4901184"/>
            <a:ext cx="4480560" cy="685800"/>
          </a:xfrm>
          <a:prstGeom prst="rect">
            <a:avLst/>
          </a:prstGeom>
          <a:noFill/>
          <a:ln/>
        </p:spPr>
        <p:txBody>
          <a:bodyPr wrap="square" lIns="0" tIns="0" rIns="0" bIns="0" rtlCol="0" anchor="ctr"/>
          <a:lstStyle/>
          <a:p>
            <a:pPr algn="r" indent="0" marL="0">
              <a:lnSpc>
                <a:spcPts val="2100"/>
              </a:lnSpc>
              <a:buNone/>
            </a:pPr>
            <a:r>
              <a:rPr lang="en-US" sz="1400" dirty="0">
                <a:solidFill>
                  <a:srgbClr val="FFFFFF"/>
                </a:solidFill>
                <a:latin typeface="Arial" pitchFamily="34" charset="0"/>
                <a:ea typeface="Arial" pitchFamily="34" charset="-122"/>
                <a:cs typeface="Arial" pitchFamily="34" charset="-120"/>
              </a:rPr>
              <a:t>ד"ר אסנת בשקין</a:t>
            </a:r>
            <a:endParaRPr lang="en-US" sz="1400" dirty="0"/>
          </a:p>
          <a:p>
            <a:pPr algn="r" indent="0" marL="0">
              <a:lnSpc>
                <a:spcPts val="2100"/>
              </a:lnSpc>
              <a:buNone/>
            </a:pPr>
            <a:r>
              <a:rPr lang="en-US" sz="1400" dirty="0">
                <a:solidFill>
                  <a:srgbClr val="FFFFFF"/>
                </a:solidFill>
                <a:latin typeface="Arial" pitchFamily="34" charset="0"/>
                <a:ea typeface="Arial" pitchFamily="34" charset="-122"/>
                <a:cs typeface="Arial" pitchFamily="34" charset="-120"/>
              </a:rPr>
              <a:t>שנה"ל תשפ"ו,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רקע</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רקע והצגת הבעיה</a:t>
            </a:r>
            <a:endParaRPr lang="en-US" sz="3000" dirty="0"/>
          </a:p>
        </p:txBody>
      </p:sp>
      <p:sp>
        <p:nvSpPr>
          <p:cNvPr id="4" name="Shape 2"/>
          <p:cNvSpPr/>
          <p:nvPr/>
        </p:nvSpPr>
        <p:spPr>
          <a:xfrm>
            <a:off x="502920" y="1088136"/>
            <a:ext cx="11185855" cy="5129784"/>
          </a:xfrm>
          <a:prstGeom prst="roundRect">
            <a:avLst>
              <a:gd name="adj" fmla="val 2139"/>
            </a:avLst>
          </a:prstGeom>
          <a:solidFill>
            <a:srgbClr val="F2F8F9"/>
          </a:solidFill>
          <a:ln w="12700">
            <a:solidFill>
              <a:srgbClr val="D5E7E9"/>
            </a:solidFill>
            <a:prstDash val="solid"/>
          </a:ln>
        </p:spPr>
      </p:sp>
      <p:sp>
        <p:nvSpPr>
          <p:cNvPr id="5" name="Text 3"/>
          <p:cNvSpPr txBox="1"/>
          <p:nvPr/>
        </p:nvSpPr>
        <p:spPr>
          <a:xfrm>
            <a:off x="923544" y="1325880"/>
            <a:ext cx="10344607" cy="5001768"/>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‏המחלות הכרוניות, ובהן סוכרת מסוג 2, יתר לחץ דם ומחלות לב וכלי דם, מהוות כיום את גורם התחלואה והתמותה המרכזי בישראל ובעולם, וארגון הבריאות העולמי מייחס חלק ניכר מנטל זה לגורמי אורח חיים הניתנים לשינוי ‏(World Health Organization, 2023)‏. בישראל מיוחסים כ-85%‏ ממקרי המוות למחלות לא מדבקות ‏(Levi et al., 2025)‏, וכ-56%‏ מהאוכלוסייה הבוגרת סובלים מעודף משקל או מהשמנה ‏(המרכז הלאומי לבקרת מחלות, 2023)‏.‏</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‏ייחודו של נטל תחלואה זה טמון בכך שחלק ניכר ממנו ניתן למניעה. בסיס הראיות הקושר בין תזונה מאוזנת ופעילות גופנית סדירה לבין הפחתת הסיכון לתחלואה הוא מן המבוססים ברפואה המונעת, ואף על פי כן שני שלישים מהמבוגרים בישראל אינם עומדים בהמלצות לפעילות גופנית, ושיעורי הסוכרת ממשיכים לעלות ‏(המרכז הלאומי לבקרת מחלות, 2025)‏. הפער הזה, שבין הידוע לבין הנעשה, הוא נקודת המוצא של המחקר הנוכחי.‏</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‏בנגב מתחדד הפער אף יותר. החברה הבדואית מתאפיינת בשיעורי סוכרת והשמנה מן הגבוהים בישראל, לצד תשתיות מוגבלות לפעילות גופנית וחסמי נגישות לשירותי בריאות ‏(Treister-Goltzman &amp; Peleg, 2015)‏, ומכאן הצורך לבחון כיצד נחווה הקשר בין אורח חיים לבריאות בקרב מבוגרים החיים בהקשר זה.‏</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שאלת המחקר</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שאלת המחקר ומטרות המחקר</a:t>
            </a:r>
            <a:endParaRPr lang="en-US" sz="3000" dirty="0"/>
          </a:p>
        </p:txBody>
      </p:sp>
      <p:sp>
        <p:nvSpPr>
          <p:cNvPr id="4" name="Shape 2"/>
          <p:cNvSpPr/>
          <p:nvPr/>
        </p:nvSpPr>
        <p:spPr>
          <a:xfrm>
            <a:off x="502920" y="1088136"/>
            <a:ext cx="11185855" cy="5129784"/>
          </a:xfrm>
          <a:prstGeom prst="roundRect">
            <a:avLst>
              <a:gd name="adj" fmla="val 2139"/>
            </a:avLst>
          </a:prstGeom>
          <a:solidFill>
            <a:srgbClr val="F2F8F9"/>
          </a:solidFill>
          <a:ln w="12700">
            <a:solidFill>
              <a:srgbClr val="D5E7E9"/>
            </a:solidFill>
            <a:prstDash val="solid"/>
          </a:ln>
        </p:spPr>
      </p:sp>
      <p:sp>
        <p:nvSpPr>
          <p:cNvPr id="5" name="Text 3"/>
          <p:cNvSpPr txBox="1"/>
          <p:nvPr/>
        </p:nvSpPr>
        <p:spPr>
          <a:xfrm>
            <a:off x="923544" y="1325880"/>
            <a:ext cx="10344607" cy="5001768"/>
          </a:xfrm>
          <a:prstGeom prst="rect">
            <a:avLst/>
          </a:prstGeom>
          <a:noFill/>
          <a:ln/>
        </p:spPr>
        <p:txBody>
          <a:bodyPr wrap="square" lIns="0" tIns="0" rIns="0" bIns="0" rtlCol="0" anchor="t"/>
          <a:lstStyle/>
          <a:p>
            <a:pPr algn="r" indent="0" marL="0">
              <a:lnSpc>
                <a:spcPts val="2600"/>
              </a:lnSpc>
              <a:buNone/>
            </a:pPr>
            <a:r>
              <a:rPr lang="en-US" sz="1800" b="1" dirty="0">
                <a:solidFill>
                  <a:srgbClr val="0E6E7E"/>
                </a:solidFill>
                <a:latin typeface="Arial" pitchFamily="34" charset="0"/>
                <a:ea typeface="Arial" pitchFamily="34" charset="-122"/>
                <a:cs typeface="Arial" pitchFamily="34" charset="-120"/>
              </a:rPr>
              <a:t>‏שאלת המחקר המרכזית‏</a:t>
            </a:r>
            <a:endParaRPr lang="en-US" sz="18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‏מהי ההשפעה של פעילות גופנית ותזונה מאוזנת על הסיכון להתפתחות מחלות כרוניות בקרב מבוגרים, כפי שהיא נתפסת ונחווית על ידי המבוגרים עצמם. לצד שאלה זו נבחנו שלוש שאלות משנה: כיצד תופסים מבוגרים את הקשר בין אורח חייהם לבין בריאותם, מהם הגורמים המסייעים והחוסמים אימוץ של פעילות גופנית ותזונה מאוזנת בחיי היומיום, ומהו תפקידה של מערכת הבריאות כפי שהוא נתפס בעיני המטופלים.‏</a:t>
            </a:r>
            <a:endParaRPr lang="en-US" sz="1800" dirty="0"/>
          </a:p>
          <a:p>
            <a:pPr algn="r" indent="0" marL="0">
              <a:lnSpc>
                <a:spcPts val="2600"/>
              </a:lnSpc>
              <a:spcBef>
                <a:spcPts val="1100"/>
              </a:spcBef>
              <a:buNone/>
            </a:pPr>
            <a:r>
              <a:rPr lang="en-US" sz="1800" b="1" dirty="0">
                <a:solidFill>
                  <a:srgbClr val="0E6E7E"/>
                </a:solidFill>
                <a:latin typeface="Arial" pitchFamily="34" charset="0"/>
                <a:ea typeface="Arial" pitchFamily="34" charset="-122"/>
                <a:cs typeface="Arial" pitchFamily="34" charset="-120"/>
              </a:rPr>
              <a:t>‏מטרות המחקר‏</a:t>
            </a:r>
            <a:endParaRPr lang="en-US" sz="18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‏המחקר מבקש לבחון את תפיסותיהם של מבוגרים ביחס לקשר שבין אורח חייהם לבריאותם, ולזהות את החסמים ואת המנופים לאימוץ הרגלים בריאים כפי שהם נחווים בשטח ולא כפי שהם משוערים מראש. בהמשך לכך מבקש המחקר לעמוד על האופן שבו נתפס תפקידם של רופא המשפחה ושל קופת החולים בקידום המניעה, ועל בסיס כל אלה לגזור המלצות יישומיות לקופות החולים ולרשויות המקומיות, המותאמות להקשר החברתי והתרבותי של אוכלוסיית הנגב.‏</a:t>
            </a:r>
            <a:endParaRPr lang="en-US" sz="18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סקירת ספרות</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סקירת ספרות</a:t>
            </a:r>
            <a:endParaRPr lang="en-US" sz="3000" dirty="0"/>
          </a:p>
        </p:txBody>
      </p:sp>
      <p:sp>
        <p:nvSpPr>
          <p:cNvPr id="4" name="Text 2"/>
          <p:cNvSpPr txBox="1"/>
          <p:nvPr/>
        </p:nvSpPr>
        <p:spPr>
          <a:xfrm>
            <a:off x="1417320" y="996696"/>
            <a:ext cx="10271455" cy="274320"/>
          </a:xfrm>
          <a:prstGeom prst="rect">
            <a:avLst/>
          </a:prstGeom>
          <a:noFill/>
          <a:ln/>
        </p:spPr>
        <p:txBody>
          <a:bodyPr wrap="square" lIns="0" tIns="0" rIns="0" bIns="0" rtlCol="0" anchor="ctr"/>
          <a:lstStyle/>
          <a:p>
            <a:pPr rtl="1" algn="r" indent="0" marL="0">
              <a:buNone/>
            </a:pPr>
            <a:r>
              <a:rPr lang="en-US" sz="1500" b="1" dirty="0">
                <a:solidFill>
                  <a:srgbClr val="0E6E7E"/>
                </a:solidFill>
                <a:latin typeface="Arial" pitchFamily="34" charset="0"/>
                <a:ea typeface="Arial" pitchFamily="34" charset="-122"/>
                <a:cs typeface="Arial" pitchFamily="34" charset="-120"/>
              </a:rPr>
              <a:t>המחלות הכרוניות: מאפיינים, רב-תחלואה ונטל כלכלי</a:t>
            </a:r>
            <a:endParaRPr lang="en-US" sz="1500" dirty="0"/>
          </a:p>
        </p:txBody>
      </p:sp>
      <p:sp>
        <p:nvSpPr>
          <p:cNvPr id="5" name="Shape 3"/>
          <p:cNvSpPr/>
          <p:nvPr/>
        </p:nvSpPr>
        <p:spPr>
          <a:xfrm>
            <a:off x="502920" y="1307592"/>
            <a:ext cx="11185855" cy="4910328"/>
          </a:xfrm>
          <a:prstGeom prst="roundRect">
            <a:avLst>
              <a:gd name="adj" fmla="val 2235"/>
            </a:avLst>
          </a:prstGeom>
          <a:solidFill>
            <a:srgbClr val="F2F8F9"/>
          </a:solidFill>
          <a:ln w="12700">
            <a:solidFill>
              <a:srgbClr val="D5E7E9"/>
            </a:solidFill>
            <a:prstDash val="solid"/>
          </a:ln>
        </p:spPr>
      </p:sp>
      <p:sp>
        <p:nvSpPr>
          <p:cNvPr id="6" name="Text 4"/>
          <p:cNvSpPr txBox="1"/>
          <p:nvPr/>
        </p:nvSpPr>
        <p:spPr>
          <a:xfrm>
            <a:off x="923544" y="1545336"/>
            <a:ext cx="10344607" cy="4782312"/>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‏מחלות כרוניות הן מצבים בריאותיים ממושכים המתפתחים באופן הדרגתי ומלווים את הפרט לאורך שנים רבות. בשונה ממחלות חריפות הן אינן ניתנות לריפוי מלא אלא מנוהלות לאורך זמן, ולפיכך השפעתן על איכות החיים ועל מערכת הבריאות מצטברת ומתמשכת.‏</a:t>
            </a:r>
            <a:endParaRPr lang="en-US" sz="1700" dirty="0"/>
          </a:p>
          <a:p>
            <a:pPr algn="r" indent="0" marL="0">
              <a:lnSpc>
                <a:spcPts val="2600"/>
              </a:lnSpc>
              <a:spcBef>
                <a:spcPts val="1100"/>
              </a:spcBef>
              <a:buNone/>
            </a:pPr>
            <a:r>
              <a:rPr lang="en-US" sz="1800" b="1" dirty="0">
                <a:solidFill>
                  <a:srgbClr val="0E6E7E"/>
                </a:solidFill>
                <a:latin typeface="Arial" pitchFamily="34" charset="0"/>
                <a:ea typeface="Arial" pitchFamily="34" charset="-122"/>
                <a:cs typeface="Arial" pitchFamily="34" charset="-120"/>
              </a:rPr>
              <a:t>‏רב-תחלואה‏</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‏מאפיין בולט של מחלות אלו הוא נטייתן להופיע יחד באותו אדם. מחקר עוקבה בקרב יותר ממאה ושלושים אלף נבדקים מצא כי גורמי אורח חיים מסבירים חלק ניכר מן ההיארעות המשולבת, וכי העישון הוא הגורם התורם ביותר להתפתחותה ‏(van der Velde et al., 2024)‏. מכאן שהופעתן המשותפת אינה מקרית אלא קשורה בדפוסי התנהגות משותפים.‏</a:t>
            </a:r>
            <a:endParaRPr lang="en-US" sz="1700" dirty="0"/>
          </a:p>
          <a:p>
            <a:pPr algn="r" indent="0" marL="0">
              <a:lnSpc>
                <a:spcPts val="2600"/>
              </a:lnSpc>
              <a:spcBef>
                <a:spcPts val="1100"/>
              </a:spcBef>
              <a:buNone/>
            </a:pPr>
            <a:r>
              <a:rPr lang="en-US" sz="1800" b="1" dirty="0">
                <a:solidFill>
                  <a:srgbClr val="0E6E7E"/>
                </a:solidFill>
                <a:latin typeface="Arial" pitchFamily="34" charset="0"/>
                <a:ea typeface="Arial" pitchFamily="34" charset="-122"/>
                <a:cs typeface="Arial" pitchFamily="34" charset="-120"/>
              </a:rPr>
              <a:t>‏הנטל הכלכלי‏</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‏מחקר ישראלי שהתבסס על נתוניהם של למעלה ממיליון ושלושת רבעי מיליון מבוגרים מצא קשר מובהק בין עלייה במדד מסת הגוף לבין שכיחותן של סוכרת, יתר לחץ דם ומחלת לב איסכמית, וכן בין עלייה זו לבין גידול בעלות הטיפול הרפואי ‏(Reges et al., 2020)‏. מכאן שההשקעה במניעה היא שיקול כלכלי ולא בריאותי בלבד.‏</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סקירת ספרות</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סקירת ספרות</a:t>
            </a:r>
            <a:endParaRPr lang="en-US" sz="3000" dirty="0"/>
          </a:p>
        </p:txBody>
      </p:sp>
      <p:sp>
        <p:nvSpPr>
          <p:cNvPr id="4" name="Text 2"/>
          <p:cNvSpPr txBox="1"/>
          <p:nvPr/>
        </p:nvSpPr>
        <p:spPr>
          <a:xfrm>
            <a:off x="1417320" y="996696"/>
            <a:ext cx="10271455" cy="274320"/>
          </a:xfrm>
          <a:prstGeom prst="rect">
            <a:avLst/>
          </a:prstGeom>
          <a:noFill/>
          <a:ln/>
        </p:spPr>
        <p:txBody>
          <a:bodyPr wrap="square" lIns="0" tIns="0" rIns="0" bIns="0" rtlCol="0" anchor="ctr"/>
          <a:lstStyle/>
          <a:p>
            <a:pPr rtl="1" algn="r" indent="0" marL="0">
              <a:buNone/>
            </a:pPr>
            <a:r>
              <a:rPr lang="en-US" sz="1500" b="1" dirty="0">
                <a:solidFill>
                  <a:srgbClr val="0E6E7E"/>
                </a:solidFill>
                <a:latin typeface="Arial" pitchFamily="34" charset="0"/>
                <a:ea typeface="Arial" pitchFamily="34" charset="-122"/>
                <a:cs typeface="Arial" pitchFamily="34" charset="-120"/>
              </a:rPr>
              <a:t>תזונה ופעילות גופנית כגורמים מגנים</a:t>
            </a:r>
            <a:endParaRPr lang="en-US" sz="1500" dirty="0"/>
          </a:p>
        </p:txBody>
      </p:sp>
      <p:sp>
        <p:nvSpPr>
          <p:cNvPr id="5" name="Shape 3"/>
          <p:cNvSpPr/>
          <p:nvPr/>
        </p:nvSpPr>
        <p:spPr>
          <a:xfrm>
            <a:off x="502920" y="1307592"/>
            <a:ext cx="11185855" cy="4910328"/>
          </a:xfrm>
          <a:prstGeom prst="roundRect">
            <a:avLst>
              <a:gd name="adj" fmla="val 2235"/>
            </a:avLst>
          </a:prstGeom>
          <a:solidFill>
            <a:srgbClr val="F2F8F9"/>
          </a:solidFill>
          <a:ln w="12700">
            <a:solidFill>
              <a:srgbClr val="D5E7E9"/>
            </a:solidFill>
            <a:prstDash val="solid"/>
          </a:ln>
        </p:spPr>
      </p:sp>
      <p:sp>
        <p:nvSpPr>
          <p:cNvPr id="6" name="Text 4"/>
          <p:cNvSpPr txBox="1"/>
          <p:nvPr/>
        </p:nvSpPr>
        <p:spPr>
          <a:xfrm>
            <a:off x="923544" y="1545336"/>
            <a:ext cx="10344607" cy="4782312"/>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‏שני רכיבים אלו נהנים מבסיס הראיות המבוסס ביותר ביחס למניעת מחלות כרוניות.‏</a:t>
            </a:r>
            <a:endParaRPr lang="en-US" sz="1700" dirty="0"/>
          </a:p>
          <a:p>
            <a:pPr algn="r" indent="0" marL="0">
              <a:lnSpc>
                <a:spcPts val="2600"/>
              </a:lnSpc>
              <a:spcBef>
                <a:spcPts val="1100"/>
              </a:spcBef>
              <a:buNone/>
            </a:pPr>
            <a:r>
              <a:rPr lang="en-US" sz="1800" b="1" dirty="0">
                <a:solidFill>
                  <a:srgbClr val="0E6E7E"/>
                </a:solidFill>
                <a:latin typeface="Arial" pitchFamily="34" charset="0"/>
                <a:ea typeface="Arial" pitchFamily="34" charset="-122"/>
                <a:cs typeface="Arial" pitchFamily="34" charset="-120"/>
              </a:rPr>
              <a:t>‏התזונה‏</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‏סקירת-על שבחנה שמונה עשרה מטא-אנליזות מצאה כי הדיאטה הים-תיכונית קשורה בהפחתת התמותה ממחלות לב וכלי דם ‏(Hareer et al., 2024)‏, וסקירה שיטתית עדכנית מצאה כי היצמדות גבוהה אליה קשורה בתמותה כללית מופחתת ‏(Laffond et al., 2023)‏. סקירה של שלושים ניסויים מבוקרים הראתה כי דיאטת DASH מורידה באופן מובהק את לחץ הדם ‏(Filippou et al., 2020)‏.‏</a:t>
            </a:r>
            <a:endParaRPr lang="en-US" sz="1700" dirty="0"/>
          </a:p>
          <a:p>
            <a:pPr algn="r" indent="0" marL="0">
              <a:lnSpc>
                <a:spcPts val="2600"/>
              </a:lnSpc>
              <a:spcBef>
                <a:spcPts val="1100"/>
              </a:spcBef>
              <a:buNone/>
            </a:pPr>
            <a:r>
              <a:rPr lang="en-US" sz="1800" b="1" dirty="0">
                <a:solidFill>
                  <a:srgbClr val="0E6E7E"/>
                </a:solidFill>
                <a:latin typeface="Arial" pitchFamily="34" charset="0"/>
                <a:ea typeface="Arial" pitchFamily="34" charset="-122"/>
                <a:cs typeface="Arial" pitchFamily="34" charset="-120"/>
              </a:rPr>
              <a:t>‏הפעילות הגופנית‏</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‏מטא-אנליזה של מחקרי עוקבה מצאה יחס מינון-תגובה, שלפיו כל עלייה בהיקף הפעילות קשורה בירידה בתמותה בקרב חולים במחלות לא מדבקות ‏(Geidl et al., 2020)‏. כלומר אין מדובר בסף שמעבר לו מושגת תועלת, אלא בקשר רציף שבו כל תוספת תורמת. שילובם של שני הרכיבים יוצר אפקט משלים, ואשכול של הרגלים בריאים נמצא קשור לסיכון מופחת לתחלואה ולתמותה על פני קבוצות חברתיות-כלכליות שונות ‏(Lai et al., 2024; Zhang et al., 2021)‏.‏</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מסגרת תיאורטית</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מסגרת תיאורטית ומודל המחקר</a:t>
            </a:r>
            <a:endParaRPr lang="en-US" sz="3000" dirty="0"/>
          </a:p>
        </p:txBody>
      </p:sp>
      <p:sp>
        <p:nvSpPr>
          <p:cNvPr id="4" name="Shape 2"/>
          <p:cNvSpPr/>
          <p:nvPr/>
        </p:nvSpPr>
        <p:spPr>
          <a:xfrm>
            <a:off x="502920" y="1088136"/>
            <a:ext cx="11185855" cy="5129784"/>
          </a:xfrm>
          <a:prstGeom prst="roundRect">
            <a:avLst>
              <a:gd name="adj" fmla="val 2139"/>
            </a:avLst>
          </a:prstGeom>
          <a:solidFill>
            <a:srgbClr val="F2F8F9"/>
          </a:solidFill>
          <a:ln w="12700">
            <a:solidFill>
              <a:srgbClr val="D5E7E9"/>
            </a:solidFill>
            <a:prstDash val="solid"/>
          </a:ln>
        </p:spPr>
      </p:sp>
      <p:sp>
        <p:nvSpPr>
          <p:cNvPr id="5" name="Text 3"/>
          <p:cNvSpPr txBox="1"/>
          <p:nvPr/>
        </p:nvSpPr>
        <p:spPr>
          <a:xfrm>
            <a:off x="923544" y="1325880"/>
            <a:ext cx="10344607" cy="5001768"/>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‏המודל שבבסיס המחקר מבחין בין שלוש חוליות. בקצה האחד ניצב הידע המדעי המבוסס, ובו המלצות ברורות לתזונה מאוזנת ולפעילות גופנית סדירה, הנתמכות בסקירות-על ובמטא-אנליזות. בקצה האחר ניצבת התוצאה הבריאותית, כלומר הסיכון להתפתחותן של מחלות כרוניות ובהן סוכרת מסוג 2, יתר לחץ דם ומחלות לב וכלי דם.‏</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‏הספרות הכמותית ביססה היטב את הקשר בין שני הקצוות הללו, אך התמקדה פחות בחוליה שביניהם. בחוליה זו פועלים בו זמנית חסמים ומנופים: מצד אחד תשתית פיזית חסרה, נורמות חברתיות ומגדריות, עומס חיים והיעדר ליווי מערכתי מתמשך, ומצד שני תמיכה משפחתית, מסגרת קבוצתית ומעקב רפואי יזום. הרכיבים אינם פועלים בבידוד אלא מזינים זה את זה, ולכן התערבות בממד אחד עשויה להשפיע על ממדים נוספים.‏</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‏המחקר הנוכחי ממקם את עצמו בחוליה זו. הוא אינו מבקש לאשש מחדש קשר שכבר הוכח, אלא לבחון מה מתרחש בפועל בין הידע לבין ההתנהגות בחיי היומיום של מבוגרים בנגב, ומהם התנאים המאפשרים או המונעים את התרגום של האחד לשני.‏</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שיטת המחקר</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מתודולוגיה</a:t>
            </a:r>
            <a:endParaRPr lang="en-US" sz="3000" dirty="0"/>
          </a:p>
        </p:txBody>
      </p:sp>
      <p:sp>
        <p:nvSpPr>
          <p:cNvPr id="4" name="Shape 2"/>
          <p:cNvSpPr/>
          <p:nvPr/>
        </p:nvSpPr>
        <p:spPr>
          <a:xfrm>
            <a:off x="502920" y="1088136"/>
            <a:ext cx="11185855" cy="5129784"/>
          </a:xfrm>
          <a:prstGeom prst="roundRect">
            <a:avLst>
              <a:gd name="adj" fmla="val 2139"/>
            </a:avLst>
          </a:prstGeom>
          <a:solidFill>
            <a:srgbClr val="F2F8F9"/>
          </a:solidFill>
          <a:ln w="12700">
            <a:solidFill>
              <a:srgbClr val="D5E7E9"/>
            </a:solidFill>
            <a:prstDash val="solid"/>
          </a:ln>
        </p:spPr>
      </p:sp>
      <p:sp>
        <p:nvSpPr>
          <p:cNvPr id="5" name="Text 3"/>
          <p:cNvSpPr txBox="1"/>
          <p:nvPr/>
        </p:nvSpPr>
        <p:spPr>
          <a:xfrm>
            <a:off x="923544" y="1325880"/>
            <a:ext cx="10344607" cy="5001768"/>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‏המחקר נערך בגישה איכותנית, ובתוכה בגישה הפנומנולוגית, המתמקדת בחקר משמעותה של חוויה אנושית כפי שהיא נתפסת על ידי החווים אותה ‏(צבר בן-יהושע, 2016)‏. בחירה זו נגזרת משאלת המחקר עצמה: הקשר הסטטיסטי בין תזונה ופעילות גופנית לבין תחלואה כרונית נחקר בהרחבה במחקרים כמותיים, ואילו השאלה מדוע אנשים המכירים את ההמלצות אינם מיישמים אותן מחייבת גישה המאפשרת לרדת לרזולוציה של חיי היומיום ‏(שקדי, 2003)‏.‏</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‏כלי המחקר היה ריאיון עומק חצי מובנה בן חמש עשרה שאלות פתוחות, ובהן שאלת פתיחה כללית. מבנה זה נבחר משום שהוא משלב אחידות, המאפשרת השוואה בין המרואיינים, עם גמישות המאפשרת העמקה בנושאים העולים מן המרואיין עצמו. השאלות אורגנו בארבעה אשכולות, שעסקו בתפיסות בריאות, בהתנהגות בפועל, בהקשר המשפחתי והקהילתי, ובמערכת הבריאות ובמקורות המידע. הראיונות נערכו פנים אל פנים במקום שבחר המרואיין, נמשכו בין שלושים לארבעים וחמש דקות, הוקלטו באישור המשתתפים ותומללו במלואם.‏</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‏ניתוח הנתונים נעשה בשיטת הניתוח התמטי בשישה שלבים, מקידוד פתוח ועד גיבוש התמות הסופיות ובחירת הציטוטים המייצגים ‏(Braun &amp; Clarke, 2006)‏. כל אחד משלושת החוקרים ניתח את החומר בנפרד, וההשוואה בין הניתוחים סייעה לזהות פרשנויות שאינן נשענות על הנתונים ולחזק את אמינות הממצאים ‏(Lincoln &amp; Guba, 1985)‏.‏</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שיטת המחקר</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אוכלוסיית המחקר ושיקולים אתיים</a:t>
            </a:r>
            <a:endParaRPr lang="en-US" sz="3000" dirty="0"/>
          </a:p>
        </p:txBody>
      </p:sp>
      <p:sp>
        <p:nvSpPr>
          <p:cNvPr id="4" name="Shape 2"/>
          <p:cNvSpPr/>
          <p:nvPr/>
        </p:nvSpPr>
        <p:spPr>
          <a:xfrm>
            <a:off x="502920" y="1088136"/>
            <a:ext cx="11185855" cy="5129784"/>
          </a:xfrm>
          <a:prstGeom prst="roundRect">
            <a:avLst>
              <a:gd name="adj" fmla="val 2139"/>
            </a:avLst>
          </a:prstGeom>
          <a:solidFill>
            <a:srgbClr val="F2F8F9"/>
          </a:solidFill>
          <a:ln w="12700">
            <a:solidFill>
              <a:srgbClr val="D5E7E9"/>
            </a:solidFill>
            <a:prstDash val="solid"/>
          </a:ln>
        </p:spPr>
      </p:sp>
      <p:sp>
        <p:nvSpPr>
          <p:cNvPr id="5" name="Text 3"/>
          <p:cNvSpPr txBox="1"/>
          <p:nvPr/>
        </p:nvSpPr>
        <p:spPr>
          <a:xfrm>
            <a:off x="923544" y="1325880"/>
            <a:ext cx="10344607" cy="5001768"/>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‏אוכלוסיית המחקר כללה שנים עשר משתתפים, שישה גברים ושש נשים, בגילאי ארבעים וארבע עד שבעים ואחת, תושבי שלושה יישובים במחוז הדרום: כסייפה, ערד וחורה. הדגימה הייתה מכוונת ומגוונת, ונשמרה בה שונות מרבית בארבעה ממדים: מצב בריאותי, מגדר, רקע חברתי-תרבותי ורמת הפעילות הגופנית. כך נכללו במדגם חולים כרוניים ותיקים, אנשים במצב טרום-סוכרתי, מחלים מאירוע לב ואנשים ללא אבחנה מוכרת, לצד מי שמקיימים שגרת פעילות מבוססת ומי שאינם עוסקים בפעילות גופנית כלל.‏</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‏שמונה ראיונות נערכו בעברית וארבעה בערבית לפי בחירת המרואיין, ותורגמו לעברית על ידי החוקרים תוך שמירה על סגנון הדיבור ועל הביטויים האופייניים, כדי לשמר את הקול האותנטי של המרואיינים.‏</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‏המחקר נערך תוך הקפדה על עקרונות אתיקה מקובלים. כל המשתתפים נתנו הסכמה מדעת, ההשתתפות הייתה וולונטרית וללא תמורה, וכל הפרטים המזהים הושמטו מן התמלילים כך שכל משתתף מסומן במספר בלבד. היבט אתי נוסף נוגע לכך ששלושת החוקרים הם בני החברה הנחקרת, מצב שיצר יתרון של אמון ופתיחות לצד סיכון להטיה, אשר צומצם בהבהרה למרואיינים כי אין תשובות נכונות או שגויות וכי המחקר אינו בוחן אותם.‏</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ממצאים</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ממצאים</a:t>
            </a:r>
            <a:endParaRPr lang="en-US" sz="3000" dirty="0"/>
          </a:p>
        </p:txBody>
      </p:sp>
      <p:sp>
        <p:nvSpPr>
          <p:cNvPr id="4" name="Text 2"/>
          <p:cNvSpPr txBox="1"/>
          <p:nvPr/>
        </p:nvSpPr>
        <p:spPr>
          <a:xfrm>
            <a:off x="1417320" y="996696"/>
            <a:ext cx="10271455" cy="274320"/>
          </a:xfrm>
          <a:prstGeom prst="rect">
            <a:avLst/>
          </a:prstGeom>
          <a:noFill/>
          <a:ln/>
        </p:spPr>
        <p:txBody>
          <a:bodyPr wrap="square" lIns="0" tIns="0" rIns="0" bIns="0" rtlCol="0" anchor="ctr"/>
          <a:lstStyle/>
          <a:p>
            <a:pPr rtl="1" algn="r" indent="0" marL="0">
              <a:buNone/>
            </a:pPr>
            <a:r>
              <a:rPr lang="en-US" sz="1500" b="1" dirty="0">
                <a:solidFill>
                  <a:srgbClr val="0E6E7E"/>
                </a:solidFill>
                <a:latin typeface="Arial" pitchFamily="34" charset="0"/>
                <a:ea typeface="Arial" pitchFamily="34" charset="-122"/>
                <a:cs typeface="Arial" pitchFamily="34" charset="-120"/>
              </a:rPr>
              <a:t>תמונה כוללת: שש התמות שעלו מן הניתוח</a:t>
            </a:r>
            <a:endParaRPr lang="en-US" sz="1500" dirty="0"/>
          </a:p>
        </p:txBody>
      </p:sp>
      <p:sp>
        <p:nvSpPr>
          <p:cNvPr id="5" name="Shape 3"/>
          <p:cNvSpPr/>
          <p:nvPr/>
        </p:nvSpPr>
        <p:spPr>
          <a:xfrm>
            <a:off x="502920" y="1307592"/>
            <a:ext cx="11185855" cy="4910328"/>
          </a:xfrm>
          <a:prstGeom prst="roundRect">
            <a:avLst>
              <a:gd name="adj" fmla="val 2235"/>
            </a:avLst>
          </a:prstGeom>
          <a:solidFill>
            <a:srgbClr val="F2F8F9"/>
          </a:solidFill>
          <a:ln w="12700">
            <a:solidFill>
              <a:srgbClr val="D5E7E9"/>
            </a:solidFill>
            <a:prstDash val="solid"/>
          </a:ln>
        </p:spPr>
      </p:sp>
      <p:sp>
        <p:nvSpPr>
          <p:cNvPr id="6" name="Text 4"/>
          <p:cNvSpPr txBox="1"/>
          <p:nvPr/>
        </p:nvSpPr>
        <p:spPr>
          <a:xfrm>
            <a:off x="923544" y="1545336"/>
            <a:ext cx="10344607" cy="4782312"/>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‏מניתוח שנים עשר הראיונות עלו שש תמות מרכזיות, המצטרפות יחד לתמונה אחת. התמה הראשונה, שעלתה בכל הראיונות, היא הפער בין הידע לבין היישום, ולצידה התמה השנייה, שעניינה תפקידה הכפול של המשפחה כמנוע וכבלם בו זמנית. התמה השלישית עוסקת בתשתית הפיזית והמגדרית כתנאי מקדים לפעילות, והרביעית בנקודת המפנה, כלומר באירוע הבריאותי שהוא הטריגר השכיח ביותר לשינוי בפועל.‏</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‏התמה החמישית עוסקת בתפיסת מערכת הבריאות כמצוינת בטיפול וחלשה במניעה יזומה, והשישית בסביבת מידע רוויה שבה האמון נבנה על היכרות אישית ועל שפה משותפת יותר מאשר על סמכות מקצועית פורמלית.‏</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‏הקו המחבר בין שש התמות הוא שהחסם המרכזי אינו מצוי בידע. כל המשתתפים, לרבות מרואיין שאינו יודע קרוא וכתוב, ידעו לנסח את עקרונות אורח החיים הבריא, והקושי שדווח היה בהתמדה וביישום ולא בהבנה. הציטוטים המובאים בשקופיות הבאות הם דברי משתתפי המחקר כלשונם, ומספר המרואיין מצוין בסוגריים.‏</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ממצאים</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ממצאים מרכזיים</a:t>
            </a:r>
            <a:endParaRPr lang="en-US" sz="3000" dirty="0"/>
          </a:p>
        </p:txBody>
      </p:sp>
      <p:sp>
        <p:nvSpPr>
          <p:cNvPr id="4" name="Text 2"/>
          <p:cNvSpPr txBox="1"/>
          <p:nvPr/>
        </p:nvSpPr>
        <p:spPr>
          <a:xfrm>
            <a:off x="1417320" y="996696"/>
            <a:ext cx="10271455" cy="274320"/>
          </a:xfrm>
          <a:prstGeom prst="rect">
            <a:avLst/>
          </a:prstGeom>
          <a:noFill/>
          <a:ln/>
        </p:spPr>
        <p:txBody>
          <a:bodyPr wrap="square" lIns="0" tIns="0" rIns="0" bIns="0" rtlCol="0" anchor="ctr"/>
          <a:lstStyle/>
          <a:p>
            <a:pPr rtl="1" algn="r" indent="0" marL="0">
              <a:buNone/>
            </a:pPr>
            <a:r>
              <a:rPr lang="en-US" sz="1500" b="1" dirty="0">
                <a:solidFill>
                  <a:srgbClr val="0E6E7E"/>
                </a:solidFill>
                <a:latin typeface="Arial" pitchFamily="34" charset="0"/>
                <a:ea typeface="Arial" pitchFamily="34" charset="-122"/>
                <a:cs typeface="Arial" pitchFamily="34" charset="-120"/>
              </a:rPr>
              <a:t>הפער בין הידע ליישום, והמשפחה כמנוע וכבלם</a:t>
            </a:r>
            <a:endParaRPr lang="en-US" sz="1500" dirty="0"/>
          </a:p>
        </p:txBody>
      </p:sp>
      <p:sp>
        <p:nvSpPr>
          <p:cNvPr id="5" name="Shape 3"/>
          <p:cNvSpPr/>
          <p:nvPr/>
        </p:nvSpPr>
        <p:spPr>
          <a:xfrm>
            <a:off x="502920" y="1307592"/>
            <a:ext cx="11185855" cy="4910328"/>
          </a:xfrm>
          <a:prstGeom prst="roundRect">
            <a:avLst>
              <a:gd name="adj" fmla="val 2235"/>
            </a:avLst>
          </a:prstGeom>
          <a:solidFill>
            <a:srgbClr val="F2F8F9"/>
          </a:solidFill>
          <a:ln w="12700">
            <a:solidFill>
              <a:srgbClr val="D5E7E9"/>
            </a:solidFill>
            <a:prstDash val="solid"/>
          </a:ln>
        </p:spPr>
      </p:sp>
      <p:sp>
        <p:nvSpPr>
          <p:cNvPr id="6" name="Text 4"/>
          <p:cNvSpPr txBox="1"/>
          <p:nvPr/>
        </p:nvSpPr>
        <p:spPr>
          <a:xfrm>
            <a:off x="923544" y="1545336"/>
            <a:ext cx="10344607" cy="4782312"/>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‏הפער בין הידע לבין היישום עלה בכל שנים עשר הראיונות. הניסוח החד ביותר הובא בדברי מרואיין בן ארבעים וארבע מחורה, שאינו עוסק בפעילות גופנית ומעשן קופסה וחצי ביום: “אני יודע את כל זה, אני יודע הכול ולא עושה כלום. בן אדם לא מאמין שזה יקרה לו, עד שזה קורה לו” ‏(מרואיין 5)‏. גמלאי בן שישים ושמונה הצביע על גורם עומק, ולפיו תפיסת המחלה בדורו היא תפיסה של גורל ולא של בחירה: “כל החיים שלי דברים קרו לי, לא אני קרהתי אותם” ‏(מרואיין 11)‏.‏</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‏תפקידה הכפול של המשפחה עלה אף הוא בכל הראיונות. מצד אחד היא תוארה כתנאי להצלחה, ומורה בן חמישים וחמש שירד שנים עשר קילוגרם ייחס את השינוי לשותפות עם בת זוגו וכינה זאת “הפרויקט המשותף הכי מוצלח שלנו אחרי הילדים” ‏(מרואיין 9)‏. מצד שני, מנהגי האירוח והכיבוד תוארו כחסם המרכזי בפני תזונה מאוזנת, ומרואיינת בת שישים ושש הסבירה כי “אצלנו כבוד לאימא זה אוכל” ‏(מרואיינת 6)‏.‏</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‏הניסוח החריף ביותר לתמה זו הובא בדברי מרואיין 11: “מרוב כבוד הם עושים אותי נכה, הכבוד שלנו לזקנים הורג את הזקנים”. חשיבותו של ממצא זה בכך שהחסם אינו נובע מהזנחה או מאדישות, אלא דווקא ממימוש של ערך חברתי מרכזי, ולכן כל התערבות המבקשת לשנותו חייבת לפעול מתוך אותו ערך ולא כנגדו.‏</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ממצאים</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ממצאים מרכזיים</a:t>
            </a:r>
            <a:endParaRPr lang="en-US" sz="3000" dirty="0"/>
          </a:p>
        </p:txBody>
      </p:sp>
      <p:sp>
        <p:nvSpPr>
          <p:cNvPr id="4" name="Text 2"/>
          <p:cNvSpPr txBox="1"/>
          <p:nvPr/>
        </p:nvSpPr>
        <p:spPr>
          <a:xfrm>
            <a:off x="1417320" y="996696"/>
            <a:ext cx="10271455" cy="274320"/>
          </a:xfrm>
          <a:prstGeom prst="rect">
            <a:avLst/>
          </a:prstGeom>
          <a:noFill/>
          <a:ln/>
        </p:spPr>
        <p:txBody>
          <a:bodyPr wrap="square" lIns="0" tIns="0" rIns="0" bIns="0" rtlCol="0" anchor="ctr"/>
          <a:lstStyle/>
          <a:p>
            <a:pPr rtl="1" algn="r" indent="0" marL="0">
              <a:buNone/>
            </a:pPr>
            <a:r>
              <a:rPr lang="en-US" sz="1500" b="1" dirty="0">
                <a:solidFill>
                  <a:srgbClr val="0E6E7E"/>
                </a:solidFill>
                <a:latin typeface="Arial" pitchFamily="34" charset="0"/>
                <a:ea typeface="Arial" pitchFamily="34" charset="-122"/>
                <a:cs typeface="Arial" pitchFamily="34" charset="-120"/>
              </a:rPr>
              <a:t>התשתית כתנאי מקדים, ונקודת המפנה שמאחרת להגיע</a:t>
            </a:r>
            <a:endParaRPr lang="en-US" sz="1500" dirty="0"/>
          </a:p>
        </p:txBody>
      </p:sp>
      <p:sp>
        <p:nvSpPr>
          <p:cNvPr id="5" name="Shape 3"/>
          <p:cNvSpPr/>
          <p:nvPr/>
        </p:nvSpPr>
        <p:spPr>
          <a:xfrm>
            <a:off x="502920" y="1307592"/>
            <a:ext cx="11185855" cy="4910328"/>
          </a:xfrm>
          <a:prstGeom prst="roundRect">
            <a:avLst>
              <a:gd name="adj" fmla="val 2235"/>
            </a:avLst>
          </a:prstGeom>
          <a:solidFill>
            <a:srgbClr val="F2F8F9"/>
          </a:solidFill>
          <a:ln w="12700">
            <a:solidFill>
              <a:srgbClr val="D5E7E9"/>
            </a:solidFill>
            <a:prstDash val="solid"/>
          </a:ln>
        </p:spPr>
      </p:sp>
      <p:sp>
        <p:nvSpPr>
          <p:cNvPr id="6" name="Text 4"/>
          <p:cNvSpPr txBox="1"/>
          <p:nvPr/>
        </p:nvSpPr>
        <p:spPr>
          <a:xfrm>
            <a:off x="923544" y="1545336"/>
            <a:ext cx="10344607" cy="4782312"/>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‏חסם התשתית עלה בעשרה מתוך שנים עשר הראיונות, ובמרכזו הפער החד בין תושבי ערד לבין תושבי היישובים הבדואיים. מורה בגמלאות בן שבעים ואחת תיאר את ערד כ“עיר של הולכים, מרחקים קצרים, מדרכות” ‏(מרואיין 7)‏, ואילו מרואיין 11 סיכם את מצבו במשפט “יש לי משפחה שכל זקן יהודי היה מקנא בה, ואין לי מדרכה אחת ללכת עליה”. חמש מתוך שש המרואיינות התייחסו להיעדרן של מסגרות ספורט מותאמות לנשים וקשרו זאת לנורמות חברתיות.‏</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‏עדות לכך שהחסם מבני ולא מוטיבציוני עלתה מריאיון עם סייעת בת ארבעים וחמש, המקיימת שגרת הליכה עם שתי חברות זה ארבע שנים. לדבריה, בעקבות הקבוצה שלהן קמו עוד שתי קבוצות נשים בשכונה, אך ההליכה מתאפשרת רק במסלול אחד שיש בו מדרכה ותאורה ‏(מרואיינת 8)‏.‏</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‏בתשעה ראיונות זוהתה נקודת מפנה, שלפיה השינוי בפועל לא התרחש בעקבות ידע או הסברה אלא בעקבות אבחנה או אירוע בריאותי. גמלאי בן שישים ושלוש, שעבר צנתור בגיל חמישים ותשע, ניסח את עצתו לאחרים במשפט “אל תחכה לצנתור שלך” ‏(מרואיין 3)‏. משמעות הדפוס כפולה: מצד אחד הוא מלמד כי בני חמישים, שישים ושבעים מסוגלים לשינוי עמוק ומתמשך, ומצד שני כי המערכת מחמיצה חלון הזדמנויות ארוך שבו ניתן היה למנוע את הנזק.‏</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ממצאים</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ממצאים מרכזיים</a:t>
            </a:r>
            <a:endParaRPr lang="en-US" sz="3000" dirty="0"/>
          </a:p>
        </p:txBody>
      </p:sp>
      <p:sp>
        <p:nvSpPr>
          <p:cNvPr id="4" name="Text 2"/>
          <p:cNvSpPr txBox="1"/>
          <p:nvPr/>
        </p:nvSpPr>
        <p:spPr>
          <a:xfrm>
            <a:off x="1417320" y="996696"/>
            <a:ext cx="10271455" cy="274320"/>
          </a:xfrm>
          <a:prstGeom prst="rect">
            <a:avLst/>
          </a:prstGeom>
          <a:noFill/>
          <a:ln/>
        </p:spPr>
        <p:txBody>
          <a:bodyPr wrap="square" lIns="0" tIns="0" rIns="0" bIns="0" rtlCol="0" anchor="ctr"/>
          <a:lstStyle/>
          <a:p>
            <a:pPr rtl="1" algn="r" indent="0" marL="0">
              <a:buNone/>
            </a:pPr>
            <a:r>
              <a:rPr lang="en-US" sz="1500" b="1" dirty="0">
                <a:solidFill>
                  <a:srgbClr val="0E6E7E"/>
                </a:solidFill>
                <a:latin typeface="Arial" pitchFamily="34" charset="0"/>
                <a:ea typeface="Arial" pitchFamily="34" charset="-122"/>
                <a:cs typeface="Arial" pitchFamily="34" charset="-120"/>
              </a:rPr>
              <a:t>תפיסת מערכת הבריאות, וסביבת המידע</a:t>
            </a:r>
            <a:endParaRPr lang="en-US" sz="1500" dirty="0"/>
          </a:p>
        </p:txBody>
      </p:sp>
      <p:sp>
        <p:nvSpPr>
          <p:cNvPr id="5" name="Shape 3"/>
          <p:cNvSpPr/>
          <p:nvPr/>
        </p:nvSpPr>
        <p:spPr>
          <a:xfrm>
            <a:off x="502920" y="1307592"/>
            <a:ext cx="11185855" cy="4910328"/>
          </a:xfrm>
          <a:prstGeom prst="roundRect">
            <a:avLst>
              <a:gd name="adj" fmla="val 2235"/>
            </a:avLst>
          </a:prstGeom>
          <a:solidFill>
            <a:srgbClr val="F2F8F9"/>
          </a:solidFill>
          <a:ln w="12700">
            <a:solidFill>
              <a:srgbClr val="D5E7E9"/>
            </a:solidFill>
            <a:prstDash val="solid"/>
          </a:ln>
        </p:spPr>
      </p:sp>
      <p:sp>
        <p:nvSpPr>
          <p:cNvPr id="6" name="Text 4"/>
          <p:cNvSpPr txBox="1"/>
          <p:nvPr/>
        </p:nvSpPr>
        <p:spPr>
          <a:xfrm>
            <a:off x="923544" y="1545336"/>
            <a:ext cx="10344607" cy="4782312"/>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‏באחד עשר ראיונות עלתה הערכה גבוהה לאיכות המעקב הרפואי הניתן לאחר אבחנה, לצד ביקורת עקבית על היעדר יוזמה מונעת קודם לה. מרואיין 3 ניסח את ההבחנה במפורש: “המערכת שלנו מצוינת בלטפל בחולים, וחלשה בלמנוע מבריאים להפוך לחולים”. גמלאי שאינו יודע קרוא וכתוב סיכם את כל הליווי שקיבל בשתים עשרה שנות סוכרת כדף מודפס אחד בעברית ‏(מרואיין 11)‏, ממצא הממחיש כי היעדר ההתאמה הלשונית אינו פרט טכני אלא חסם מהותי.‏</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‏לצד הביקורת עלו גם דוגמאות להתערבות מוצלחת, ובכולן חזר מאפיין משותף של פנייה אישית ויזומה: הפניה כתובה למסגרת קונקרטית, שיחת טלפון של אחות בשפה הערבית, וסדנה קבוצתית מובנית. שלושת המנגנונים הללו פשוטים וזולים יחסית לעלות הטיפול במחלה שכבר התפתחה.‏</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‏בכל הראיונות תוארה סביבת מידע רוויה, ובה זרם מתמיד של טענות על תרופות פלא ברשתות החברתיות, שהובילו במקרים מסוימים אף להפסקת טיפול תרופתי. הממצא המרכזי נוגע לקריטריון שלפיו נבנה האמון: המרואיינים לא ייחסו אמון לפי סמכות מקצועית בלבד, אלא לפי שילוב של היכרות אישית, שפה משותפת והיעדר אינטרס כלכלי, כפי שניסחה זאת מרואיינת 8: “מידע בריאותי לוקחים ממי שאחראי עלייך, לא ממי שמרוויח ממך”.‏</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דיון</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משמעות הממצאים</a:t>
            </a:r>
            <a:endParaRPr lang="en-US" sz="3000" dirty="0"/>
          </a:p>
        </p:txBody>
      </p:sp>
      <p:sp>
        <p:nvSpPr>
          <p:cNvPr id="4" name="Text 2"/>
          <p:cNvSpPr txBox="1"/>
          <p:nvPr/>
        </p:nvSpPr>
        <p:spPr>
          <a:xfrm>
            <a:off x="1417320" y="996696"/>
            <a:ext cx="10271455" cy="274320"/>
          </a:xfrm>
          <a:prstGeom prst="rect">
            <a:avLst/>
          </a:prstGeom>
          <a:noFill/>
          <a:ln/>
        </p:spPr>
        <p:txBody>
          <a:bodyPr wrap="square" lIns="0" tIns="0" rIns="0" bIns="0" rtlCol="0" anchor="ctr"/>
          <a:lstStyle/>
          <a:p>
            <a:pPr rtl="1" algn="r" indent="0" marL="0">
              <a:buNone/>
            </a:pPr>
            <a:r>
              <a:rPr lang="en-US" sz="1500" b="1" dirty="0">
                <a:solidFill>
                  <a:srgbClr val="0E6E7E"/>
                </a:solidFill>
                <a:latin typeface="Arial" pitchFamily="34" charset="0"/>
                <a:ea typeface="Arial" pitchFamily="34" charset="-122"/>
                <a:cs typeface="Arial" pitchFamily="34" charset="-120"/>
              </a:rPr>
              <a:t>דיון בממצאים לאור הספרות</a:t>
            </a:r>
            <a:endParaRPr lang="en-US" sz="1500" dirty="0"/>
          </a:p>
        </p:txBody>
      </p:sp>
      <p:sp>
        <p:nvSpPr>
          <p:cNvPr id="5" name="Shape 3"/>
          <p:cNvSpPr/>
          <p:nvPr/>
        </p:nvSpPr>
        <p:spPr>
          <a:xfrm>
            <a:off x="502920" y="1307592"/>
            <a:ext cx="11185855" cy="4910328"/>
          </a:xfrm>
          <a:prstGeom prst="roundRect">
            <a:avLst>
              <a:gd name="adj" fmla="val 2235"/>
            </a:avLst>
          </a:prstGeom>
          <a:solidFill>
            <a:srgbClr val="F2F8F9"/>
          </a:solidFill>
          <a:ln w="12700">
            <a:solidFill>
              <a:srgbClr val="D5E7E9"/>
            </a:solidFill>
            <a:prstDash val="solid"/>
          </a:ln>
        </p:spPr>
      </p:sp>
      <p:sp>
        <p:nvSpPr>
          <p:cNvPr id="6" name="Text 4"/>
          <p:cNvSpPr txBox="1"/>
          <p:nvPr/>
        </p:nvSpPr>
        <p:spPr>
          <a:xfrm>
            <a:off x="923544" y="1545336"/>
            <a:ext cx="10344607" cy="4782312"/>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‏הממצא המרכזי, ולפיו הפער אינו נובע מחוסר ידע, מחייב בחינה מחודשת של הנחת היסוד המובלעת בתכניות הסברה רבות. אם כל המרואיינים ידעו לנסח את עקרונות אורח החיים הבריא, הרי שתכנית שכל תוכנה הוא העברת מידע צפויה להניב תשואה נמוכה, והמשאב צריך להיות מופנה אל שלב היישום ולא אל שלב הידיעה. ממצא זה מתכתב עם הביקורת בספרות על הפער בין הידע המחקרי לבין הפרקטיקה בשטח.‏</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‏מן הראיונות עולים שלושה מנגנונים המסבירים את הפער. הראשון הוא מרחק הזמן בין ההתנהגות לבין תוצאתה, שכן גורמי הסיכון מצטברים לאורך שנים ואינם מלווים בתסמינים בשלביהם המוקדמים. השני הוא היעדר דחיפות סובייקטיבית, המסביר מדוע נקודת המפנה אצל תשעה מרואיינים הייתה דווקא אירוע בריאותי שהפך את הסיכון המופשט לחוויה מוחשית. השלישי הוא מיצוי המשאב הנפשי בסוף היום, תובנה המקבלת משנה תוקף נוכח הקשר הידוע בין מתח כרוני לבין תחלואה קרדיווסקולרית ‏(Franklin et al., 2021)‏.‏</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‏ההשוואה הבין-דורית שערכו מרואיינים מבוגרים באופן עצמאי זה מזה, ולפיה דור הסבים כמעט לא הכיר את המחלות הללו, עולה בקנה אחד עם הספרות המצביעה על כך שדפוסי תזונה מערביים מגבירים את הסיכון לסוכרת מסוג 2 וליתר לחץ דם ‏(Karatzi &amp; Manios, 2021)‏.‏</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דיון</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חסמים מבניים לעומת חסמים אישיים</a:t>
            </a:r>
            <a:endParaRPr lang="en-US" sz="3000" dirty="0"/>
          </a:p>
        </p:txBody>
      </p:sp>
      <p:sp>
        <p:nvSpPr>
          <p:cNvPr id="4" name="Shape 2"/>
          <p:cNvSpPr/>
          <p:nvPr/>
        </p:nvSpPr>
        <p:spPr>
          <a:xfrm>
            <a:off x="502920" y="1088136"/>
            <a:ext cx="11185855" cy="5129784"/>
          </a:xfrm>
          <a:prstGeom prst="roundRect">
            <a:avLst>
              <a:gd name="adj" fmla="val 2139"/>
            </a:avLst>
          </a:prstGeom>
          <a:solidFill>
            <a:srgbClr val="F2F8F9"/>
          </a:solidFill>
          <a:ln w="12700">
            <a:solidFill>
              <a:srgbClr val="D5E7E9"/>
            </a:solidFill>
            <a:prstDash val="solid"/>
          </a:ln>
        </p:spPr>
      </p:sp>
      <p:sp>
        <p:nvSpPr>
          <p:cNvPr id="5" name="Text 3"/>
          <p:cNvSpPr txBox="1"/>
          <p:nvPr/>
        </p:nvSpPr>
        <p:spPr>
          <a:xfrm>
            <a:off x="923544" y="1325880"/>
            <a:ext cx="10344607" cy="5001768"/>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‏ממצאי המחקר מצביעים על כך שהחסמים המרכזיים לאימוץ אורח חיים בריא באוכלוסייה הנחקרת הם מבניים במידה רבה יותר מאשר אישיים. ההשוואה בין היישובים ממחישה זאת: תושבי ערד תיארו מדרכות רציפות, טיילת, חוגים במתנ"ס וקבוצות הליכה מאורגנות, ואילו תושבי כסייפה וחורה תיארו היעדר מדרכות ותאורה, היעדר מסגרות ספורט והיעדר מועדון לקשישים.‏</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‏חשוב להדגיש כי הפער בפעילות בין שתי הקבוצות אינו מוסבר בהבדלי מוטיבציה. מרואיין 11 הביע רצון מפורש להשתתף בקבוצת הליכה אילו הייתה קיימת, ומרואיינת 2 ניסחה בבירור את התנאי שיאפשר לה להתחיל. עדותה של מרואיינת 8 מוכיחה כי תשתית מינימלית מספיקה כדי שתיווצר פעילות מתמשכת. ממצא זה מחזק את הגישה הרואה בהנגשת פעילות גופנית חלק ממדיניות בריאות כוללת, ולא עניין המסור לבחירה אישית בלבד ‏(קידום בריאות בישראל, 2023)‏.‏</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‏ממד נוסף שעלה בבירור הוא הממד המגדרי, שלא הופיע כלל אצל המרואיינים הגברים. חמש מתוך שש המרואיינות התייחסו להיעדר מסגרות מותאמות, וארבע מהן קשרו זאת לנורמות המגבילות יציאה לבדה בשעות הערב. משמעותו המעשית של ממצא זה היא שתכנית שאינה מתייחסת להפרדה מגדרית, לשעות פעילות מותאמות ולפתרון לשמירה על ילדים, אינה מגיעה למחצית מן האוכלוסייה.‏</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המלצות</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המלצות יישומיות</a:t>
            </a:r>
            <a:endParaRPr lang="en-US" sz="3000" dirty="0"/>
          </a:p>
        </p:txBody>
      </p:sp>
      <p:sp>
        <p:nvSpPr>
          <p:cNvPr id="4" name="Text 2"/>
          <p:cNvSpPr txBox="1"/>
          <p:nvPr/>
        </p:nvSpPr>
        <p:spPr>
          <a:xfrm>
            <a:off x="1417320" y="996696"/>
            <a:ext cx="10271455" cy="274320"/>
          </a:xfrm>
          <a:prstGeom prst="rect">
            <a:avLst/>
          </a:prstGeom>
          <a:noFill/>
          <a:ln/>
        </p:spPr>
        <p:txBody>
          <a:bodyPr wrap="square" lIns="0" tIns="0" rIns="0" bIns="0" rtlCol="0" anchor="ctr"/>
          <a:lstStyle/>
          <a:p>
            <a:pPr rtl="1" algn="r" indent="0" marL="0">
              <a:buNone/>
            </a:pPr>
            <a:r>
              <a:rPr lang="en-US" sz="1500" b="1" dirty="0">
                <a:solidFill>
                  <a:srgbClr val="0E6E7E"/>
                </a:solidFill>
                <a:latin typeface="Arial" pitchFamily="34" charset="0"/>
                <a:ea typeface="Arial" pitchFamily="34" charset="-122"/>
                <a:cs typeface="Arial" pitchFamily="34" charset="-120"/>
              </a:rPr>
              <a:t>שבע המלצות לקופות החולים, לרשויות המקומיות ולמשרד הבריאות</a:t>
            </a:r>
            <a:endParaRPr lang="en-US" sz="1500" dirty="0"/>
          </a:p>
        </p:txBody>
      </p:sp>
      <p:sp>
        <p:nvSpPr>
          <p:cNvPr id="5" name="Shape 3"/>
          <p:cNvSpPr/>
          <p:nvPr/>
        </p:nvSpPr>
        <p:spPr>
          <a:xfrm>
            <a:off x="502920" y="1371600"/>
            <a:ext cx="11185855" cy="585216"/>
          </a:xfrm>
          <a:prstGeom prst="roundRect">
            <a:avLst>
              <a:gd name="adj" fmla="val 12500"/>
            </a:avLst>
          </a:prstGeom>
          <a:solidFill>
            <a:srgbClr val="F2F8F9"/>
          </a:solidFill>
          <a:ln w="12700">
            <a:solidFill>
              <a:srgbClr val="D5E7E9"/>
            </a:solidFill>
            <a:prstDash val="solid"/>
          </a:ln>
        </p:spPr>
      </p:sp>
      <p:sp>
        <p:nvSpPr>
          <p:cNvPr id="6" name="Text 4"/>
          <p:cNvSpPr txBox="1"/>
          <p:nvPr/>
        </p:nvSpPr>
        <p:spPr>
          <a:xfrm>
            <a:off x="11085271" y="1453896"/>
            <a:ext cx="420624" cy="420624"/>
          </a:xfrm>
          <a:prstGeom prst="ellipse">
            <a:avLst/>
          </a:prstGeom>
          <a:solidFill>
            <a:srgbClr val="0E6E7E"/>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7765999" y="1371600"/>
            <a:ext cx="3154680" cy="585216"/>
          </a:xfrm>
          <a:prstGeom prst="rect">
            <a:avLst/>
          </a:prstGeom>
          <a:noFill/>
          <a:ln/>
        </p:spPr>
        <p:txBody>
          <a:bodyPr wrap="square" lIns="0" tIns="0" rIns="0" bIns="0" rtlCol="0" anchor="ctr"/>
          <a:lstStyle/>
          <a:p>
            <a:pPr rtl="1" algn="r" indent="0" marL="0">
              <a:buNone/>
            </a:pPr>
            <a:r>
              <a:rPr lang="en-US" sz="1500" b="1" dirty="0">
                <a:solidFill>
                  <a:srgbClr val="0C3B44"/>
                </a:solidFill>
                <a:latin typeface="Arial" pitchFamily="34" charset="0"/>
                <a:ea typeface="Arial" pitchFamily="34" charset="-122"/>
                <a:cs typeface="Arial" pitchFamily="34" charset="-120"/>
              </a:rPr>
              <a:t>‏מרשם לפעילות גופנית‏</a:t>
            </a:r>
            <a:endParaRPr lang="en-US" sz="1500" dirty="0"/>
          </a:p>
        </p:txBody>
      </p:sp>
      <p:sp>
        <p:nvSpPr>
          <p:cNvPr id="8" name="Text 6"/>
          <p:cNvSpPr txBox="1"/>
          <p:nvPr/>
        </p:nvSpPr>
        <p:spPr>
          <a:xfrm>
            <a:off x="704088" y="1371600"/>
            <a:ext cx="6897319" cy="585216"/>
          </a:xfrm>
          <a:prstGeom prst="rect">
            <a:avLst/>
          </a:prstGeom>
          <a:noFill/>
          <a:ln/>
        </p:spPr>
        <p:txBody>
          <a:bodyPr wrap="square" lIns="0" tIns="0" rIns="0" bIns="0" rtlCol="0" anchor="ctr"/>
          <a:lstStyle/>
          <a:p>
            <a:pPr rtl="1" algn="r" indent="0" marL="0">
              <a:buNone/>
            </a:pPr>
            <a:r>
              <a:rPr lang="en-US" sz="1300" dirty="0">
                <a:solidFill>
                  <a:srgbClr val="56686D"/>
                </a:solidFill>
                <a:latin typeface="Arial" pitchFamily="34" charset="0"/>
                <a:ea typeface="Arial" pitchFamily="34" charset="-122"/>
                <a:cs typeface="Arial" pitchFamily="34" charset="-120"/>
              </a:rPr>
              <a:t>‏הפניה בכתב עם שם קבוצה, מקום, יום ושעה, ולא המלצה כללית‏</a:t>
            </a:r>
            <a:endParaRPr lang="en-US" sz="1300" dirty="0"/>
          </a:p>
        </p:txBody>
      </p:sp>
      <p:sp>
        <p:nvSpPr>
          <p:cNvPr id="9" name="Shape 7"/>
          <p:cNvSpPr/>
          <p:nvPr/>
        </p:nvSpPr>
        <p:spPr>
          <a:xfrm>
            <a:off x="502920" y="2039112"/>
            <a:ext cx="11185855" cy="585216"/>
          </a:xfrm>
          <a:prstGeom prst="roundRect">
            <a:avLst>
              <a:gd name="adj" fmla="val 12500"/>
            </a:avLst>
          </a:prstGeom>
          <a:solidFill>
            <a:srgbClr val="F2F8F9"/>
          </a:solidFill>
          <a:ln w="12700">
            <a:solidFill>
              <a:srgbClr val="D5E7E9"/>
            </a:solidFill>
            <a:prstDash val="solid"/>
          </a:ln>
        </p:spPr>
      </p:sp>
      <p:sp>
        <p:nvSpPr>
          <p:cNvPr id="10" name="Text 8"/>
          <p:cNvSpPr txBox="1"/>
          <p:nvPr/>
        </p:nvSpPr>
        <p:spPr>
          <a:xfrm>
            <a:off x="11085271" y="2121408"/>
            <a:ext cx="420624" cy="420624"/>
          </a:xfrm>
          <a:prstGeom prst="ellipse">
            <a:avLst/>
          </a:prstGeom>
          <a:solidFill>
            <a:srgbClr val="1D9E9A"/>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7765999" y="2039112"/>
            <a:ext cx="3154680" cy="585216"/>
          </a:xfrm>
          <a:prstGeom prst="rect">
            <a:avLst/>
          </a:prstGeom>
          <a:noFill/>
          <a:ln/>
        </p:spPr>
        <p:txBody>
          <a:bodyPr wrap="square" lIns="0" tIns="0" rIns="0" bIns="0" rtlCol="0" anchor="ctr"/>
          <a:lstStyle/>
          <a:p>
            <a:pPr rtl="1" algn="r" indent="0" marL="0">
              <a:buNone/>
            </a:pPr>
            <a:r>
              <a:rPr lang="en-US" sz="1500" b="1" dirty="0">
                <a:solidFill>
                  <a:srgbClr val="0C3B44"/>
                </a:solidFill>
                <a:latin typeface="Arial" pitchFamily="34" charset="0"/>
                <a:ea typeface="Arial" pitchFamily="34" charset="-122"/>
                <a:cs typeface="Arial" pitchFamily="34" charset="-120"/>
              </a:rPr>
              <a:t>‏קבוצות הליכה שכונתיות‏</a:t>
            </a:r>
            <a:endParaRPr lang="en-US" sz="1500" dirty="0"/>
          </a:p>
        </p:txBody>
      </p:sp>
      <p:sp>
        <p:nvSpPr>
          <p:cNvPr id="12" name="Text 10"/>
          <p:cNvSpPr txBox="1"/>
          <p:nvPr/>
        </p:nvSpPr>
        <p:spPr>
          <a:xfrm>
            <a:off x="704088" y="2039112"/>
            <a:ext cx="6897319" cy="585216"/>
          </a:xfrm>
          <a:prstGeom prst="rect">
            <a:avLst/>
          </a:prstGeom>
          <a:noFill/>
          <a:ln/>
        </p:spPr>
        <p:txBody>
          <a:bodyPr wrap="square" lIns="0" tIns="0" rIns="0" bIns="0" rtlCol="0" anchor="ctr"/>
          <a:lstStyle/>
          <a:p>
            <a:pPr rtl="1" algn="r" indent="0" marL="0">
              <a:buNone/>
            </a:pPr>
            <a:r>
              <a:rPr lang="en-US" sz="1300" dirty="0">
                <a:solidFill>
                  <a:srgbClr val="56686D"/>
                </a:solidFill>
                <a:latin typeface="Arial" pitchFamily="34" charset="0"/>
                <a:ea typeface="Arial" pitchFamily="34" charset="-122"/>
                <a:cs typeface="Arial" pitchFamily="34" charset="-120"/>
              </a:rPr>
              <a:t>‏מדריך אחד ומסלול קיים, בתוספת שיחת טלפון למי שנעדר‏</a:t>
            </a:r>
            <a:endParaRPr lang="en-US" sz="1300" dirty="0"/>
          </a:p>
        </p:txBody>
      </p:sp>
      <p:sp>
        <p:nvSpPr>
          <p:cNvPr id="13" name="Shape 11"/>
          <p:cNvSpPr/>
          <p:nvPr/>
        </p:nvSpPr>
        <p:spPr>
          <a:xfrm>
            <a:off x="502920" y="2706624"/>
            <a:ext cx="11185855" cy="585216"/>
          </a:xfrm>
          <a:prstGeom prst="roundRect">
            <a:avLst>
              <a:gd name="adj" fmla="val 12500"/>
            </a:avLst>
          </a:prstGeom>
          <a:solidFill>
            <a:srgbClr val="F2F8F9"/>
          </a:solidFill>
          <a:ln w="12700">
            <a:solidFill>
              <a:srgbClr val="D5E7E9"/>
            </a:solidFill>
            <a:prstDash val="solid"/>
          </a:ln>
        </p:spPr>
      </p:sp>
      <p:sp>
        <p:nvSpPr>
          <p:cNvPr id="14" name="Text 12"/>
          <p:cNvSpPr txBox="1"/>
          <p:nvPr/>
        </p:nvSpPr>
        <p:spPr>
          <a:xfrm>
            <a:off x="11085271" y="2788920"/>
            <a:ext cx="420624" cy="420624"/>
          </a:xfrm>
          <a:prstGeom prst="ellipse">
            <a:avLst/>
          </a:prstGeom>
          <a:solidFill>
            <a:srgbClr val="0E6E7E"/>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txBox="1"/>
          <p:nvPr/>
        </p:nvSpPr>
        <p:spPr>
          <a:xfrm>
            <a:off x="7765999" y="2706624"/>
            <a:ext cx="3154680" cy="585216"/>
          </a:xfrm>
          <a:prstGeom prst="rect">
            <a:avLst/>
          </a:prstGeom>
          <a:noFill/>
          <a:ln/>
        </p:spPr>
        <p:txBody>
          <a:bodyPr wrap="square" lIns="0" tIns="0" rIns="0" bIns="0" rtlCol="0" anchor="ctr"/>
          <a:lstStyle/>
          <a:p>
            <a:pPr rtl="1" algn="r" indent="0" marL="0">
              <a:buNone/>
            </a:pPr>
            <a:r>
              <a:rPr lang="en-US" sz="1500" b="1" dirty="0">
                <a:solidFill>
                  <a:srgbClr val="0C3B44"/>
                </a:solidFill>
                <a:latin typeface="Arial" pitchFamily="34" charset="0"/>
                <a:ea typeface="Arial" pitchFamily="34" charset="-122"/>
                <a:cs typeface="Arial" pitchFamily="34" charset="-120"/>
              </a:rPr>
              <a:t>‏תשתית הליכה ביישובי הבדואים‏</a:t>
            </a:r>
            <a:endParaRPr lang="en-US" sz="1500" dirty="0"/>
          </a:p>
        </p:txBody>
      </p:sp>
      <p:sp>
        <p:nvSpPr>
          <p:cNvPr id="16" name="Text 14"/>
          <p:cNvSpPr txBox="1"/>
          <p:nvPr/>
        </p:nvSpPr>
        <p:spPr>
          <a:xfrm>
            <a:off x="704088" y="2706624"/>
            <a:ext cx="6897319" cy="585216"/>
          </a:xfrm>
          <a:prstGeom prst="rect">
            <a:avLst/>
          </a:prstGeom>
          <a:noFill/>
          <a:ln/>
        </p:spPr>
        <p:txBody>
          <a:bodyPr wrap="square" lIns="0" tIns="0" rIns="0" bIns="0" rtlCol="0" anchor="ctr"/>
          <a:lstStyle/>
          <a:p>
            <a:pPr rtl="1" algn="r" indent="0" marL="0">
              <a:buNone/>
            </a:pPr>
            <a:r>
              <a:rPr lang="en-US" sz="1300" dirty="0">
                <a:solidFill>
                  <a:srgbClr val="56686D"/>
                </a:solidFill>
                <a:latin typeface="Arial" pitchFamily="34" charset="0"/>
                <a:ea typeface="Arial" pitchFamily="34" charset="-122"/>
                <a:cs typeface="Arial" pitchFamily="34" charset="-120"/>
              </a:rPr>
              <a:t>‏מדרכה רציפה, תאורה וספסלים במסלול אחד לפחות בכל שכונה‏</a:t>
            </a:r>
            <a:endParaRPr lang="en-US" sz="1300" dirty="0"/>
          </a:p>
        </p:txBody>
      </p:sp>
      <p:sp>
        <p:nvSpPr>
          <p:cNvPr id="17" name="Shape 15"/>
          <p:cNvSpPr/>
          <p:nvPr/>
        </p:nvSpPr>
        <p:spPr>
          <a:xfrm>
            <a:off x="502920" y="3374136"/>
            <a:ext cx="11185855" cy="585216"/>
          </a:xfrm>
          <a:prstGeom prst="roundRect">
            <a:avLst>
              <a:gd name="adj" fmla="val 12500"/>
            </a:avLst>
          </a:prstGeom>
          <a:solidFill>
            <a:srgbClr val="F2F8F9"/>
          </a:solidFill>
          <a:ln w="12700">
            <a:solidFill>
              <a:srgbClr val="D5E7E9"/>
            </a:solidFill>
            <a:prstDash val="solid"/>
          </a:ln>
        </p:spPr>
      </p:sp>
      <p:sp>
        <p:nvSpPr>
          <p:cNvPr id="18" name="Text 16"/>
          <p:cNvSpPr txBox="1"/>
          <p:nvPr/>
        </p:nvSpPr>
        <p:spPr>
          <a:xfrm>
            <a:off x="11085271" y="3456432"/>
            <a:ext cx="420624" cy="420624"/>
          </a:xfrm>
          <a:prstGeom prst="ellipse">
            <a:avLst/>
          </a:prstGeom>
          <a:solidFill>
            <a:srgbClr val="1D9E9A"/>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txBox="1"/>
          <p:nvPr/>
        </p:nvSpPr>
        <p:spPr>
          <a:xfrm>
            <a:off x="7765999" y="3374136"/>
            <a:ext cx="3154680" cy="585216"/>
          </a:xfrm>
          <a:prstGeom prst="rect">
            <a:avLst/>
          </a:prstGeom>
          <a:noFill/>
          <a:ln/>
        </p:spPr>
        <p:txBody>
          <a:bodyPr wrap="square" lIns="0" tIns="0" rIns="0" bIns="0" rtlCol="0" anchor="ctr"/>
          <a:lstStyle/>
          <a:p>
            <a:pPr rtl="1" algn="r" indent="0" marL="0">
              <a:buNone/>
            </a:pPr>
            <a:r>
              <a:rPr lang="en-US" sz="1500" b="1" dirty="0">
                <a:solidFill>
                  <a:srgbClr val="0C3B44"/>
                </a:solidFill>
                <a:latin typeface="Arial" pitchFamily="34" charset="0"/>
                <a:ea typeface="Arial" pitchFamily="34" charset="-122"/>
                <a:cs typeface="Arial" pitchFamily="34" charset="-120"/>
              </a:rPr>
              <a:t>‏מסגרות ספורט נפרדות לנשים‏</a:t>
            </a:r>
            <a:endParaRPr lang="en-US" sz="1500" dirty="0"/>
          </a:p>
        </p:txBody>
      </p:sp>
      <p:sp>
        <p:nvSpPr>
          <p:cNvPr id="20" name="Text 18"/>
          <p:cNvSpPr txBox="1"/>
          <p:nvPr/>
        </p:nvSpPr>
        <p:spPr>
          <a:xfrm>
            <a:off x="704088" y="3374136"/>
            <a:ext cx="6897319" cy="585216"/>
          </a:xfrm>
          <a:prstGeom prst="rect">
            <a:avLst/>
          </a:prstGeom>
          <a:noFill/>
          <a:ln/>
        </p:spPr>
        <p:txBody>
          <a:bodyPr wrap="square" lIns="0" tIns="0" rIns="0" bIns="0" rtlCol="0" anchor="ctr"/>
          <a:lstStyle/>
          <a:p>
            <a:pPr rtl="1" algn="r" indent="0" marL="0">
              <a:buNone/>
            </a:pPr>
            <a:r>
              <a:rPr lang="en-US" sz="1300" dirty="0">
                <a:solidFill>
                  <a:srgbClr val="56686D"/>
                </a:solidFill>
                <a:latin typeface="Arial" pitchFamily="34" charset="0"/>
                <a:ea typeface="Arial" pitchFamily="34" charset="-122"/>
                <a:cs typeface="Arial" pitchFamily="34" charset="-120"/>
              </a:rPr>
              <a:t>‏בהפעלת מדריכות, בשעות אחר הצהריים, בתוך היישוב עצמו‏</a:t>
            </a:r>
            <a:endParaRPr lang="en-US" sz="1300" dirty="0"/>
          </a:p>
        </p:txBody>
      </p:sp>
      <p:sp>
        <p:nvSpPr>
          <p:cNvPr id="21" name="Shape 19"/>
          <p:cNvSpPr/>
          <p:nvPr/>
        </p:nvSpPr>
        <p:spPr>
          <a:xfrm>
            <a:off x="502920" y="4041648"/>
            <a:ext cx="11185855" cy="585216"/>
          </a:xfrm>
          <a:prstGeom prst="roundRect">
            <a:avLst>
              <a:gd name="adj" fmla="val 12500"/>
            </a:avLst>
          </a:prstGeom>
          <a:solidFill>
            <a:srgbClr val="F2F8F9"/>
          </a:solidFill>
          <a:ln w="12700">
            <a:solidFill>
              <a:srgbClr val="D5E7E9"/>
            </a:solidFill>
            <a:prstDash val="solid"/>
          </a:ln>
        </p:spPr>
      </p:sp>
      <p:sp>
        <p:nvSpPr>
          <p:cNvPr id="22" name="Text 20"/>
          <p:cNvSpPr txBox="1"/>
          <p:nvPr/>
        </p:nvSpPr>
        <p:spPr>
          <a:xfrm>
            <a:off x="11085271" y="4123944"/>
            <a:ext cx="420624" cy="420624"/>
          </a:xfrm>
          <a:prstGeom prst="ellipse">
            <a:avLst/>
          </a:prstGeom>
          <a:solidFill>
            <a:srgbClr val="0E6E7E"/>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3" name="Text 21"/>
          <p:cNvSpPr txBox="1"/>
          <p:nvPr/>
        </p:nvSpPr>
        <p:spPr>
          <a:xfrm>
            <a:off x="7765999" y="4041648"/>
            <a:ext cx="3154680" cy="585216"/>
          </a:xfrm>
          <a:prstGeom prst="rect">
            <a:avLst/>
          </a:prstGeom>
          <a:noFill/>
          <a:ln/>
        </p:spPr>
        <p:txBody>
          <a:bodyPr wrap="square" lIns="0" tIns="0" rIns="0" bIns="0" rtlCol="0" anchor="ctr"/>
          <a:lstStyle/>
          <a:p>
            <a:pPr rtl="1" algn="r" indent="0" marL="0">
              <a:buNone/>
            </a:pPr>
            <a:r>
              <a:rPr lang="en-US" sz="1500" b="1" dirty="0">
                <a:solidFill>
                  <a:srgbClr val="0C3B44"/>
                </a:solidFill>
                <a:latin typeface="Arial" pitchFamily="34" charset="0"/>
                <a:ea typeface="Arial" pitchFamily="34" charset="-122"/>
                <a:cs typeface="Arial" pitchFamily="34" charset="-120"/>
              </a:rPr>
              <a:t>‏פנייה יזומה בטלפון, בערבית‏</a:t>
            </a:r>
            <a:endParaRPr lang="en-US" sz="1500" dirty="0"/>
          </a:p>
        </p:txBody>
      </p:sp>
      <p:sp>
        <p:nvSpPr>
          <p:cNvPr id="24" name="Text 22"/>
          <p:cNvSpPr txBox="1"/>
          <p:nvPr/>
        </p:nvSpPr>
        <p:spPr>
          <a:xfrm>
            <a:off x="704088" y="4041648"/>
            <a:ext cx="6897319" cy="585216"/>
          </a:xfrm>
          <a:prstGeom prst="rect">
            <a:avLst/>
          </a:prstGeom>
          <a:noFill/>
          <a:ln/>
        </p:spPr>
        <p:txBody>
          <a:bodyPr wrap="square" lIns="0" tIns="0" rIns="0" bIns="0" rtlCol="0" anchor="ctr"/>
          <a:lstStyle/>
          <a:p>
            <a:pPr rtl="1" algn="r" indent="0" marL="0">
              <a:buNone/>
            </a:pPr>
            <a:r>
              <a:rPr lang="en-US" sz="1300" dirty="0">
                <a:solidFill>
                  <a:srgbClr val="56686D"/>
                </a:solidFill>
                <a:latin typeface="Arial" pitchFamily="34" charset="0"/>
                <a:ea typeface="Arial" pitchFamily="34" charset="-122"/>
                <a:cs typeface="Arial" pitchFamily="34" charset="-120"/>
              </a:rPr>
              <a:t>‏אל בעלי גורמי סיכון שאינם מגיעים לבדיקות, במקום דיוור אוטומטי‏</a:t>
            </a:r>
            <a:endParaRPr lang="en-US" sz="1300" dirty="0"/>
          </a:p>
        </p:txBody>
      </p:sp>
      <p:sp>
        <p:nvSpPr>
          <p:cNvPr id="25" name="Shape 23"/>
          <p:cNvSpPr/>
          <p:nvPr/>
        </p:nvSpPr>
        <p:spPr>
          <a:xfrm>
            <a:off x="502920" y="4709160"/>
            <a:ext cx="11185855" cy="585216"/>
          </a:xfrm>
          <a:prstGeom prst="roundRect">
            <a:avLst>
              <a:gd name="adj" fmla="val 12500"/>
            </a:avLst>
          </a:prstGeom>
          <a:solidFill>
            <a:srgbClr val="F2F8F9"/>
          </a:solidFill>
          <a:ln w="12700">
            <a:solidFill>
              <a:srgbClr val="D5E7E9"/>
            </a:solidFill>
            <a:prstDash val="solid"/>
          </a:ln>
        </p:spPr>
      </p:sp>
      <p:sp>
        <p:nvSpPr>
          <p:cNvPr id="26" name="Text 24"/>
          <p:cNvSpPr txBox="1"/>
          <p:nvPr/>
        </p:nvSpPr>
        <p:spPr>
          <a:xfrm>
            <a:off x="11085271" y="4791456"/>
            <a:ext cx="420624" cy="420624"/>
          </a:xfrm>
          <a:prstGeom prst="ellipse">
            <a:avLst/>
          </a:prstGeom>
          <a:solidFill>
            <a:srgbClr val="1D9E9A"/>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27" name="Text 25"/>
          <p:cNvSpPr txBox="1"/>
          <p:nvPr/>
        </p:nvSpPr>
        <p:spPr>
          <a:xfrm>
            <a:off x="7765999" y="4709160"/>
            <a:ext cx="3154680" cy="585216"/>
          </a:xfrm>
          <a:prstGeom prst="rect">
            <a:avLst/>
          </a:prstGeom>
          <a:noFill/>
          <a:ln/>
        </p:spPr>
        <p:txBody>
          <a:bodyPr wrap="square" lIns="0" tIns="0" rIns="0" bIns="0" rtlCol="0" anchor="ctr"/>
          <a:lstStyle/>
          <a:p>
            <a:pPr rtl="1" algn="r" indent="0" marL="0">
              <a:buNone/>
            </a:pPr>
            <a:r>
              <a:rPr lang="en-US" sz="1500" b="1" dirty="0">
                <a:solidFill>
                  <a:srgbClr val="0C3B44"/>
                </a:solidFill>
                <a:latin typeface="Arial" pitchFamily="34" charset="0"/>
                <a:ea typeface="Arial" pitchFamily="34" charset="-122"/>
                <a:cs typeface="Arial" pitchFamily="34" charset="-120"/>
              </a:rPr>
              <a:t>‏מוסדות הקהילה כערוץ הסברה‏</a:t>
            </a:r>
            <a:endParaRPr lang="en-US" sz="1500" dirty="0"/>
          </a:p>
        </p:txBody>
      </p:sp>
      <p:sp>
        <p:nvSpPr>
          <p:cNvPr id="28" name="Text 26"/>
          <p:cNvSpPr txBox="1"/>
          <p:nvPr/>
        </p:nvSpPr>
        <p:spPr>
          <a:xfrm>
            <a:off x="704088" y="4709160"/>
            <a:ext cx="6897319" cy="585216"/>
          </a:xfrm>
          <a:prstGeom prst="rect">
            <a:avLst/>
          </a:prstGeom>
          <a:noFill/>
          <a:ln/>
        </p:spPr>
        <p:txBody>
          <a:bodyPr wrap="square" lIns="0" tIns="0" rIns="0" bIns="0" rtlCol="0" anchor="ctr"/>
          <a:lstStyle/>
          <a:p>
            <a:pPr rtl="1" algn="r" indent="0" marL="0">
              <a:buNone/>
            </a:pPr>
            <a:r>
              <a:rPr lang="en-US" sz="1300" dirty="0">
                <a:solidFill>
                  <a:srgbClr val="56686D"/>
                </a:solidFill>
                <a:latin typeface="Arial" pitchFamily="34" charset="0"/>
                <a:ea typeface="Arial" pitchFamily="34" charset="-122"/>
                <a:cs typeface="Arial" pitchFamily="34" charset="-120"/>
              </a:rPr>
              <a:t>‏המסגד, בתי הספר וטיפות החלב מגיעים למי שאינו פוקד את המרפאה‏</a:t>
            </a:r>
            <a:endParaRPr lang="en-US" sz="1300" dirty="0"/>
          </a:p>
        </p:txBody>
      </p:sp>
      <p:sp>
        <p:nvSpPr>
          <p:cNvPr id="29" name="Shape 27"/>
          <p:cNvSpPr/>
          <p:nvPr/>
        </p:nvSpPr>
        <p:spPr>
          <a:xfrm>
            <a:off x="502920" y="5376672"/>
            <a:ext cx="11185855" cy="585216"/>
          </a:xfrm>
          <a:prstGeom prst="roundRect">
            <a:avLst>
              <a:gd name="adj" fmla="val 12500"/>
            </a:avLst>
          </a:prstGeom>
          <a:solidFill>
            <a:srgbClr val="F2F8F9"/>
          </a:solidFill>
          <a:ln w="12700">
            <a:solidFill>
              <a:srgbClr val="D5E7E9"/>
            </a:solidFill>
            <a:prstDash val="solid"/>
          </a:ln>
        </p:spPr>
      </p:sp>
      <p:sp>
        <p:nvSpPr>
          <p:cNvPr id="30" name="Text 28"/>
          <p:cNvSpPr txBox="1"/>
          <p:nvPr/>
        </p:nvSpPr>
        <p:spPr>
          <a:xfrm>
            <a:off x="11085271" y="5458968"/>
            <a:ext cx="420624" cy="420624"/>
          </a:xfrm>
          <a:prstGeom prst="ellipse">
            <a:avLst/>
          </a:prstGeom>
          <a:solidFill>
            <a:srgbClr val="0E6E7E"/>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31" name="Text 29"/>
          <p:cNvSpPr txBox="1"/>
          <p:nvPr/>
        </p:nvSpPr>
        <p:spPr>
          <a:xfrm>
            <a:off x="7765999" y="5376672"/>
            <a:ext cx="3154680" cy="585216"/>
          </a:xfrm>
          <a:prstGeom prst="rect">
            <a:avLst/>
          </a:prstGeom>
          <a:noFill/>
          <a:ln/>
        </p:spPr>
        <p:txBody>
          <a:bodyPr wrap="square" lIns="0" tIns="0" rIns="0" bIns="0" rtlCol="0" anchor="ctr"/>
          <a:lstStyle/>
          <a:p>
            <a:pPr rtl="1" algn="r" indent="0" marL="0">
              <a:buNone/>
            </a:pPr>
            <a:r>
              <a:rPr lang="en-US" sz="1500" b="1" dirty="0">
                <a:solidFill>
                  <a:srgbClr val="0C3B44"/>
                </a:solidFill>
                <a:latin typeface="Arial" pitchFamily="34" charset="0"/>
                <a:ea typeface="Arial" pitchFamily="34" charset="-122"/>
                <a:cs typeface="Arial" pitchFamily="34" charset="-120"/>
              </a:rPr>
              <a:t>‏אנשי קהילה כמעבירי מסר‏</a:t>
            </a:r>
            <a:endParaRPr lang="en-US" sz="1500" dirty="0"/>
          </a:p>
        </p:txBody>
      </p:sp>
      <p:sp>
        <p:nvSpPr>
          <p:cNvPr id="32" name="Text 30"/>
          <p:cNvSpPr txBox="1"/>
          <p:nvPr/>
        </p:nvSpPr>
        <p:spPr>
          <a:xfrm>
            <a:off x="704088" y="5376672"/>
            <a:ext cx="6897319" cy="585216"/>
          </a:xfrm>
          <a:prstGeom prst="rect">
            <a:avLst/>
          </a:prstGeom>
          <a:noFill/>
          <a:ln/>
        </p:spPr>
        <p:txBody>
          <a:bodyPr wrap="square" lIns="0" tIns="0" rIns="0" bIns="0" rtlCol="0" anchor="ctr"/>
          <a:lstStyle/>
          <a:p>
            <a:pPr rtl="1" algn="r" indent="0" marL="0">
              <a:buNone/>
            </a:pPr>
            <a:r>
              <a:rPr lang="en-US" sz="1300" dirty="0">
                <a:solidFill>
                  <a:srgbClr val="56686D"/>
                </a:solidFill>
                <a:latin typeface="Arial" pitchFamily="34" charset="0"/>
                <a:ea typeface="Arial" pitchFamily="34" charset="-122"/>
                <a:cs typeface="Arial" pitchFamily="34" charset="-120"/>
              </a:rPr>
              <a:t>‏עדותו של מי שעבר שינוי משכנעת יותר מהרצאה של גורם חיצוני‏</a:t>
            </a:r>
            <a:endParaRPr lang="en-US" sz="13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מגבלות</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מגבלות המחקר</a:t>
            </a:r>
            <a:endParaRPr lang="en-US" sz="3000" dirty="0"/>
          </a:p>
        </p:txBody>
      </p:sp>
      <p:sp>
        <p:nvSpPr>
          <p:cNvPr id="4" name="Shape 2"/>
          <p:cNvSpPr/>
          <p:nvPr/>
        </p:nvSpPr>
        <p:spPr>
          <a:xfrm>
            <a:off x="502920" y="1225296"/>
            <a:ext cx="11185855" cy="585216"/>
          </a:xfrm>
          <a:prstGeom prst="roundRect">
            <a:avLst>
              <a:gd name="adj" fmla="val 12500"/>
            </a:avLst>
          </a:prstGeom>
          <a:solidFill>
            <a:srgbClr val="F2F8F9"/>
          </a:solidFill>
          <a:ln w="12700">
            <a:solidFill>
              <a:srgbClr val="D5E7E9"/>
            </a:solidFill>
            <a:prstDash val="solid"/>
          </a:ln>
        </p:spPr>
      </p:sp>
      <p:sp>
        <p:nvSpPr>
          <p:cNvPr id="5" name="Text 3"/>
          <p:cNvSpPr txBox="1"/>
          <p:nvPr/>
        </p:nvSpPr>
        <p:spPr>
          <a:xfrm>
            <a:off x="11085271" y="1307592"/>
            <a:ext cx="420624" cy="420624"/>
          </a:xfrm>
          <a:prstGeom prst="ellipse">
            <a:avLst/>
          </a:prstGeom>
          <a:solidFill>
            <a:srgbClr val="0E6E7E"/>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txBox="1"/>
          <p:nvPr/>
        </p:nvSpPr>
        <p:spPr>
          <a:xfrm>
            <a:off x="7765999" y="1225296"/>
            <a:ext cx="3154680" cy="585216"/>
          </a:xfrm>
          <a:prstGeom prst="rect">
            <a:avLst/>
          </a:prstGeom>
          <a:noFill/>
          <a:ln/>
        </p:spPr>
        <p:txBody>
          <a:bodyPr wrap="square" lIns="0" tIns="0" rIns="0" bIns="0" rtlCol="0" anchor="ctr"/>
          <a:lstStyle/>
          <a:p>
            <a:pPr rtl="1" algn="r" indent="0" marL="0">
              <a:buNone/>
            </a:pPr>
            <a:r>
              <a:rPr lang="en-US" sz="1500" b="1" dirty="0">
                <a:solidFill>
                  <a:srgbClr val="0C3B44"/>
                </a:solidFill>
                <a:latin typeface="Arial" pitchFamily="34" charset="0"/>
                <a:ea typeface="Arial" pitchFamily="34" charset="-122"/>
                <a:cs typeface="Arial" pitchFamily="34" charset="-120"/>
              </a:rPr>
              <a:t>‏מדגם מצומצם‏</a:t>
            </a:r>
            <a:endParaRPr lang="en-US" sz="1500" dirty="0"/>
          </a:p>
        </p:txBody>
      </p:sp>
      <p:sp>
        <p:nvSpPr>
          <p:cNvPr id="7" name="Text 5"/>
          <p:cNvSpPr txBox="1"/>
          <p:nvPr/>
        </p:nvSpPr>
        <p:spPr>
          <a:xfrm>
            <a:off x="704088" y="1225296"/>
            <a:ext cx="6897319" cy="585216"/>
          </a:xfrm>
          <a:prstGeom prst="rect">
            <a:avLst/>
          </a:prstGeom>
          <a:noFill/>
          <a:ln/>
        </p:spPr>
        <p:txBody>
          <a:bodyPr wrap="square" lIns="0" tIns="0" rIns="0" bIns="0" rtlCol="0" anchor="ctr"/>
          <a:lstStyle/>
          <a:p>
            <a:pPr rtl="1" algn="r" indent="0" marL="0">
              <a:buNone/>
            </a:pPr>
            <a:r>
              <a:rPr lang="en-US" sz="1300" dirty="0">
                <a:solidFill>
                  <a:srgbClr val="56686D"/>
                </a:solidFill>
                <a:latin typeface="Arial" pitchFamily="34" charset="0"/>
                <a:ea typeface="Arial" pitchFamily="34" charset="-122"/>
                <a:cs typeface="Arial" pitchFamily="34" charset="-120"/>
              </a:rPr>
              <a:t>‏שנים עשר משתתפים, ולפיכך אין בממצאים כדי להכליל סטטיסטית לאוכלוסייה‏</a:t>
            </a:r>
            <a:endParaRPr lang="en-US" sz="1300" dirty="0"/>
          </a:p>
        </p:txBody>
      </p:sp>
      <p:sp>
        <p:nvSpPr>
          <p:cNvPr id="8" name="Shape 6"/>
          <p:cNvSpPr/>
          <p:nvPr/>
        </p:nvSpPr>
        <p:spPr>
          <a:xfrm>
            <a:off x="502920" y="1892808"/>
            <a:ext cx="11185855" cy="585216"/>
          </a:xfrm>
          <a:prstGeom prst="roundRect">
            <a:avLst>
              <a:gd name="adj" fmla="val 12500"/>
            </a:avLst>
          </a:prstGeom>
          <a:solidFill>
            <a:srgbClr val="F2F8F9"/>
          </a:solidFill>
          <a:ln w="12700">
            <a:solidFill>
              <a:srgbClr val="D5E7E9"/>
            </a:solidFill>
            <a:prstDash val="solid"/>
          </a:ln>
        </p:spPr>
      </p:sp>
      <p:sp>
        <p:nvSpPr>
          <p:cNvPr id="9" name="Text 7"/>
          <p:cNvSpPr txBox="1"/>
          <p:nvPr/>
        </p:nvSpPr>
        <p:spPr>
          <a:xfrm>
            <a:off x="11085271" y="1975104"/>
            <a:ext cx="420624" cy="420624"/>
          </a:xfrm>
          <a:prstGeom prst="ellipse">
            <a:avLst/>
          </a:prstGeom>
          <a:solidFill>
            <a:srgbClr val="1D9E9A"/>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0" name="Text 8"/>
          <p:cNvSpPr txBox="1"/>
          <p:nvPr/>
        </p:nvSpPr>
        <p:spPr>
          <a:xfrm>
            <a:off x="7765999" y="1892808"/>
            <a:ext cx="3154680" cy="585216"/>
          </a:xfrm>
          <a:prstGeom prst="rect">
            <a:avLst/>
          </a:prstGeom>
          <a:noFill/>
          <a:ln/>
        </p:spPr>
        <p:txBody>
          <a:bodyPr wrap="square" lIns="0" tIns="0" rIns="0" bIns="0" rtlCol="0" anchor="ctr"/>
          <a:lstStyle/>
          <a:p>
            <a:pPr rtl="1" algn="r" indent="0" marL="0">
              <a:buNone/>
            </a:pPr>
            <a:r>
              <a:rPr lang="en-US" sz="1500" b="1" dirty="0">
                <a:solidFill>
                  <a:srgbClr val="0C3B44"/>
                </a:solidFill>
                <a:latin typeface="Arial" pitchFamily="34" charset="0"/>
                <a:ea typeface="Arial" pitchFamily="34" charset="-122"/>
                <a:cs typeface="Arial" pitchFamily="34" charset="-120"/>
              </a:rPr>
              <a:t>‏דגימה מכוונת‏</a:t>
            </a:r>
            <a:endParaRPr lang="en-US" sz="1500" dirty="0"/>
          </a:p>
        </p:txBody>
      </p:sp>
      <p:sp>
        <p:nvSpPr>
          <p:cNvPr id="11" name="Text 9"/>
          <p:cNvSpPr txBox="1"/>
          <p:nvPr/>
        </p:nvSpPr>
        <p:spPr>
          <a:xfrm>
            <a:off x="704088" y="1892808"/>
            <a:ext cx="6897319" cy="585216"/>
          </a:xfrm>
          <a:prstGeom prst="rect">
            <a:avLst/>
          </a:prstGeom>
          <a:noFill/>
          <a:ln/>
        </p:spPr>
        <p:txBody>
          <a:bodyPr wrap="square" lIns="0" tIns="0" rIns="0" bIns="0" rtlCol="0" anchor="ctr"/>
          <a:lstStyle/>
          <a:p>
            <a:pPr rtl="1" algn="r" indent="0" marL="0">
              <a:buNone/>
            </a:pPr>
            <a:r>
              <a:rPr lang="en-US" sz="1300" dirty="0">
                <a:solidFill>
                  <a:srgbClr val="56686D"/>
                </a:solidFill>
                <a:latin typeface="Arial" pitchFamily="34" charset="0"/>
                <a:ea typeface="Arial" pitchFamily="34" charset="-122"/>
                <a:cs typeface="Arial" pitchFamily="34" charset="-120"/>
              </a:rPr>
              <a:t>‏שיטת כדור השלג עלולה להטות לטובת הנכונים לשוחח על בריאותם‏</a:t>
            </a:r>
            <a:endParaRPr lang="en-US" sz="1300" dirty="0"/>
          </a:p>
        </p:txBody>
      </p:sp>
      <p:sp>
        <p:nvSpPr>
          <p:cNvPr id="12" name="Shape 10"/>
          <p:cNvSpPr/>
          <p:nvPr/>
        </p:nvSpPr>
        <p:spPr>
          <a:xfrm>
            <a:off x="502920" y="2560320"/>
            <a:ext cx="11185855" cy="585216"/>
          </a:xfrm>
          <a:prstGeom prst="roundRect">
            <a:avLst>
              <a:gd name="adj" fmla="val 12500"/>
            </a:avLst>
          </a:prstGeom>
          <a:solidFill>
            <a:srgbClr val="F2F8F9"/>
          </a:solidFill>
          <a:ln w="12700">
            <a:solidFill>
              <a:srgbClr val="D5E7E9"/>
            </a:solidFill>
            <a:prstDash val="solid"/>
          </a:ln>
        </p:spPr>
      </p:sp>
      <p:sp>
        <p:nvSpPr>
          <p:cNvPr id="13" name="Text 11"/>
          <p:cNvSpPr txBox="1"/>
          <p:nvPr/>
        </p:nvSpPr>
        <p:spPr>
          <a:xfrm>
            <a:off x="11085271" y="2642616"/>
            <a:ext cx="420624" cy="420624"/>
          </a:xfrm>
          <a:prstGeom prst="ellipse">
            <a:avLst/>
          </a:prstGeom>
          <a:solidFill>
            <a:srgbClr val="0E6E7E"/>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2"/>
          <p:cNvSpPr txBox="1"/>
          <p:nvPr/>
        </p:nvSpPr>
        <p:spPr>
          <a:xfrm>
            <a:off x="7765999" y="2560320"/>
            <a:ext cx="3154680" cy="585216"/>
          </a:xfrm>
          <a:prstGeom prst="rect">
            <a:avLst/>
          </a:prstGeom>
          <a:noFill/>
          <a:ln/>
        </p:spPr>
        <p:txBody>
          <a:bodyPr wrap="square" lIns="0" tIns="0" rIns="0" bIns="0" rtlCol="0" anchor="ctr"/>
          <a:lstStyle/>
          <a:p>
            <a:pPr rtl="1" algn="r" indent="0" marL="0">
              <a:buNone/>
            </a:pPr>
            <a:r>
              <a:rPr lang="en-US" sz="1500" b="1" dirty="0">
                <a:solidFill>
                  <a:srgbClr val="0C3B44"/>
                </a:solidFill>
                <a:latin typeface="Arial" pitchFamily="34" charset="0"/>
                <a:ea typeface="Arial" pitchFamily="34" charset="-122"/>
                <a:cs typeface="Arial" pitchFamily="34" charset="-120"/>
              </a:rPr>
              <a:t>‏דיווח עצמי‏</a:t>
            </a:r>
            <a:endParaRPr lang="en-US" sz="1500" dirty="0"/>
          </a:p>
        </p:txBody>
      </p:sp>
      <p:sp>
        <p:nvSpPr>
          <p:cNvPr id="15" name="Text 13"/>
          <p:cNvSpPr txBox="1"/>
          <p:nvPr/>
        </p:nvSpPr>
        <p:spPr>
          <a:xfrm>
            <a:off x="704088" y="2560320"/>
            <a:ext cx="6897319" cy="585216"/>
          </a:xfrm>
          <a:prstGeom prst="rect">
            <a:avLst/>
          </a:prstGeom>
          <a:noFill/>
          <a:ln/>
        </p:spPr>
        <p:txBody>
          <a:bodyPr wrap="square" lIns="0" tIns="0" rIns="0" bIns="0" rtlCol="0" anchor="ctr"/>
          <a:lstStyle/>
          <a:p>
            <a:pPr rtl="1" algn="r" indent="0" marL="0">
              <a:buNone/>
            </a:pPr>
            <a:r>
              <a:rPr lang="en-US" sz="1300" dirty="0">
                <a:solidFill>
                  <a:srgbClr val="56686D"/>
                </a:solidFill>
                <a:latin typeface="Arial" pitchFamily="34" charset="0"/>
                <a:ea typeface="Arial" pitchFamily="34" charset="-122"/>
                <a:cs typeface="Arial" pitchFamily="34" charset="-120"/>
              </a:rPr>
              <a:t>‏הנתונים חשופים להטיית רצייה חברתית, ובפרט בשל היכרות מוקדמת‏</a:t>
            </a:r>
            <a:endParaRPr lang="en-US" sz="1300" dirty="0"/>
          </a:p>
        </p:txBody>
      </p:sp>
      <p:sp>
        <p:nvSpPr>
          <p:cNvPr id="16" name="Shape 14"/>
          <p:cNvSpPr/>
          <p:nvPr/>
        </p:nvSpPr>
        <p:spPr>
          <a:xfrm>
            <a:off x="502920" y="3227832"/>
            <a:ext cx="11185855" cy="585216"/>
          </a:xfrm>
          <a:prstGeom prst="roundRect">
            <a:avLst>
              <a:gd name="adj" fmla="val 12500"/>
            </a:avLst>
          </a:prstGeom>
          <a:solidFill>
            <a:srgbClr val="F2F8F9"/>
          </a:solidFill>
          <a:ln w="12700">
            <a:solidFill>
              <a:srgbClr val="D5E7E9"/>
            </a:solidFill>
            <a:prstDash val="solid"/>
          </a:ln>
        </p:spPr>
      </p:sp>
      <p:sp>
        <p:nvSpPr>
          <p:cNvPr id="17" name="Text 15"/>
          <p:cNvSpPr txBox="1"/>
          <p:nvPr/>
        </p:nvSpPr>
        <p:spPr>
          <a:xfrm>
            <a:off x="11085271" y="3310128"/>
            <a:ext cx="420624" cy="420624"/>
          </a:xfrm>
          <a:prstGeom prst="ellipse">
            <a:avLst/>
          </a:prstGeom>
          <a:solidFill>
            <a:srgbClr val="1D9E9A"/>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8" name="Text 16"/>
          <p:cNvSpPr txBox="1"/>
          <p:nvPr/>
        </p:nvSpPr>
        <p:spPr>
          <a:xfrm>
            <a:off x="7765999" y="3227832"/>
            <a:ext cx="3154680" cy="585216"/>
          </a:xfrm>
          <a:prstGeom prst="rect">
            <a:avLst/>
          </a:prstGeom>
          <a:noFill/>
          <a:ln/>
        </p:spPr>
        <p:txBody>
          <a:bodyPr wrap="square" lIns="0" tIns="0" rIns="0" bIns="0" rtlCol="0" anchor="ctr"/>
          <a:lstStyle/>
          <a:p>
            <a:pPr rtl="1" algn="r" indent="0" marL="0">
              <a:buNone/>
            </a:pPr>
            <a:r>
              <a:rPr lang="en-US" sz="1500" b="1" dirty="0">
                <a:solidFill>
                  <a:srgbClr val="0C3B44"/>
                </a:solidFill>
                <a:latin typeface="Arial" pitchFamily="34" charset="0"/>
                <a:ea typeface="Arial" pitchFamily="34" charset="-122"/>
                <a:cs typeface="Arial" pitchFamily="34" charset="-120"/>
              </a:rPr>
              <a:t>‏תרגום מערבית‏</a:t>
            </a:r>
            <a:endParaRPr lang="en-US" sz="1500" dirty="0"/>
          </a:p>
        </p:txBody>
      </p:sp>
      <p:sp>
        <p:nvSpPr>
          <p:cNvPr id="19" name="Text 17"/>
          <p:cNvSpPr txBox="1"/>
          <p:nvPr/>
        </p:nvSpPr>
        <p:spPr>
          <a:xfrm>
            <a:off x="704088" y="3227832"/>
            <a:ext cx="6897319" cy="585216"/>
          </a:xfrm>
          <a:prstGeom prst="rect">
            <a:avLst/>
          </a:prstGeom>
          <a:noFill/>
          <a:ln/>
        </p:spPr>
        <p:txBody>
          <a:bodyPr wrap="square" lIns="0" tIns="0" rIns="0" bIns="0" rtlCol="0" anchor="ctr"/>
          <a:lstStyle/>
          <a:p>
            <a:pPr rtl="1" algn="r" indent="0" marL="0">
              <a:buNone/>
            </a:pPr>
            <a:r>
              <a:rPr lang="en-US" sz="1300" dirty="0">
                <a:solidFill>
                  <a:srgbClr val="56686D"/>
                </a:solidFill>
                <a:latin typeface="Arial" pitchFamily="34" charset="0"/>
                <a:ea typeface="Arial" pitchFamily="34" charset="-122"/>
                <a:cs typeface="Arial" pitchFamily="34" charset="-120"/>
              </a:rPr>
              <a:t>‏ארבעה ראיונות תורגמו לעברית, וכל תרגום כרוך באובדן ניואנסים‏</a:t>
            </a:r>
            <a:endParaRPr lang="en-US" sz="1300" dirty="0"/>
          </a:p>
        </p:txBody>
      </p:sp>
      <p:sp>
        <p:nvSpPr>
          <p:cNvPr id="20" name="Shape 18"/>
          <p:cNvSpPr/>
          <p:nvPr/>
        </p:nvSpPr>
        <p:spPr>
          <a:xfrm>
            <a:off x="502920" y="3895344"/>
            <a:ext cx="11185855" cy="585216"/>
          </a:xfrm>
          <a:prstGeom prst="roundRect">
            <a:avLst>
              <a:gd name="adj" fmla="val 12500"/>
            </a:avLst>
          </a:prstGeom>
          <a:solidFill>
            <a:srgbClr val="F2F8F9"/>
          </a:solidFill>
          <a:ln w="12700">
            <a:solidFill>
              <a:srgbClr val="D5E7E9"/>
            </a:solidFill>
            <a:prstDash val="solid"/>
          </a:ln>
        </p:spPr>
      </p:sp>
      <p:sp>
        <p:nvSpPr>
          <p:cNvPr id="21" name="Text 19"/>
          <p:cNvSpPr txBox="1"/>
          <p:nvPr/>
        </p:nvSpPr>
        <p:spPr>
          <a:xfrm>
            <a:off x="11085271" y="3977640"/>
            <a:ext cx="420624" cy="420624"/>
          </a:xfrm>
          <a:prstGeom prst="ellipse">
            <a:avLst/>
          </a:prstGeom>
          <a:solidFill>
            <a:srgbClr val="0E6E7E"/>
          </a:solid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2" name="Text 20"/>
          <p:cNvSpPr txBox="1"/>
          <p:nvPr/>
        </p:nvSpPr>
        <p:spPr>
          <a:xfrm>
            <a:off x="7765999" y="3895344"/>
            <a:ext cx="3154680" cy="585216"/>
          </a:xfrm>
          <a:prstGeom prst="rect">
            <a:avLst/>
          </a:prstGeom>
          <a:noFill/>
          <a:ln/>
        </p:spPr>
        <p:txBody>
          <a:bodyPr wrap="square" lIns="0" tIns="0" rIns="0" bIns="0" rtlCol="0" anchor="ctr"/>
          <a:lstStyle/>
          <a:p>
            <a:pPr rtl="1" algn="r" indent="0" marL="0">
              <a:buNone/>
            </a:pPr>
            <a:r>
              <a:rPr lang="en-US" sz="1500" b="1" dirty="0">
                <a:solidFill>
                  <a:srgbClr val="0C3B44"/>
                </a:solidFill>
                <a:latin typeface="Arial" pitchFamily="34" charset="0"/>
                <a:ea typeface="Arial" pitchFamily="34" charset="-122"/>
                <a:cs typeface="Arial" pitchFamily="34" charset="-120"/>
              </a:rPr>
              <a:t>‏הקשר מקומי‏</a:t>
            </a:r>
            <a:endParaRPr lang="en-US" sz="1500" dirty="0"/>
          </a:p>
        </p:txBody>
      </p:sp>
      <p:sp>
        <p:nvSpPr>
          <p:cNvPr id="23" name="Text 21"/>
          <p:cNvSpPr txBox="1"/>
          <p:nvPr/>
        </p:nvSpPr>
        <p:spPr>
          <a:xfrm>
            <a:off x="704088" y="3895344"/>
            <a:ext cx="6897319" cy="585216"/>
          </a:xfrm>
          <a:prstGeom prst="rect">
            <a:avLst/>
          </a:prstGeom>
          <a:noFill/>
          <a:ln/>
        </p:spPr>
        <p:txBody>
          <a:bodyPr wrap="square" lIns="0" tIns="0" rIns="0" bIns="0" rtlCol="0" anchor="ctr"/>
          <a:lstStyle/>
          <a:p>
            <a:pPr rtl="1" algn="r" indent="0" marL="0">
              <a:buNone/>
            </a:pPr>
            <a:r>
              <a:rPr lang="en-US" sz="1300" dirty="0">
                <a:solidFill>
                  <a:srgbClr val="56686D"/>
                </a:solidFill>
                <a:latin typeface="Arial" pitchFamily="34" charset="0"/>
                <a:ea typeface="Arial" pitchFamily="34" charset="-122"/>
                <a:cs typeface="Arial" pitchFamily="34" charset="-120"/>
              </a:rPr>
              <a:t>‏שלושה יישובים בדרום בלבד, שהוא יתרון של עומק ומגבלה של השלכה‏</a:t>
            </a:r>
            <a:endParaRPr lang="en-US" sz="1300" dirty="0"/>
          </a:p>
        </p:txBody>
      </p:sp>
      <p:sp>
        <p:nvSpPr>
          <p:cNvPr id="24" name="Shape 22"/>
          <p:cNvSpPr/>
          <p:nvPr/>
        </p:nvSpPr>
        <p:spPr>
          <a:xfrm>
            <a:off x="502920" y="4690872"/>
            <a:ext cx="11185855" cy="1527048"/>
          </a:xfrm>
          <a:prstGeom prst="roundRect">
            <a:avLst>
              <a:gd name="adj" fmla="val 5988"/>
            </a:avLst>
          </a:prstGeom>
          <a:solidFill>
            <a:srgbClr val="BFE3DD"/>
          </a:solidFill>
          <a:ln w="12700">
            <a:solidFill>
              <a:srgbClr val="BFE3DD"/>
            </a:solidFill>
            <a:prstDash val="solid"/>
          </a:ln>
        </p:spPr>
      </p:sp>
      <p:sp>
        <p:nvSpPr>
          <p:cNvPr id="25" name="Text 23"/>
          <p:cNvSpPr txBox="1"/>
          <p:nvPr/>
        </p:nvSpPr>
        <p:spPr>
          <a:xfrm>
            <a:off x="850392" y="4837176"/>
            <a:ext cx="10490911" cy="1234440"/>
          </a:xfrm>
          <a:prstGeom prst="rect">
            <a:avLst/>
          </a:prstGeom>
          <a:noFill/>
          <a:ln/>
        </p:spPr>
        <p:txBody>
          <a:bodyPr wrap="square" lIns="0" tIns="0" rIns="0" bIns="0" rtlCol="0" anchor="t"/>
          <a:lstStyle/>
          <a:p>
            <a:pPr rtl="1" algn="r" indent="0" marL="0">
              <a:lnSpc>
                <a:spcPts val="2300"/>
              </a:lnSpc>
              <a:buNone/>
            </a:pPr>
            <a:r>
              <a:rPr lang="en-US" sz="1500" dirty="0">
                <a:solidFill>
                  <a:srgbClr val="0C3B44"/>
                </a:solidFill>
                <a:latin typeface="Arial" pitchFamily="34" charset="0"/>
                <a:ea typeface="Arial" pitchFamily="34" charset="-122"/>
                <a:cs typeface="Arial" pitchFamily="34" charset="-120"/>
              </a:rPr>
              <a:t>‏הכרה במגבלות אלו אינה גורעת מתוקף התמונה הכוללת, אך היא מחדדת את הצורך בזהירות בהכללת המסקנות ואת חשיבותם של מחקרי המשך, ובפרט מחקר משולב שיאמוד את שכיחותם של החסמים שזוהו במדגם מייצג של אוכלוסיית הנגב.‏</a:t>
            </a:r>
            <a:endParaRPr lang="en-US" sz="15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סיכום</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סיכום ומסקנות</a:t>
            </a:r>
            <a:endParaRPr lang="en-US" sz="3000" dirty="0"/>
          </a:p>
        </p:txBody>
      </p:sp>
      <p:sp>
        <p:nvSpPr>
          <p:cNvPr id="4" name="Shape 2"/>
          <p:cNvSpPr/>
          <p:nvPr/>
        </p:nvSpPr>
        <p:spPr>
          <a:xfrm>
            <a:off x="502920" y="1088136"/>
            <a:ext cx="11185855" cy="5129784"/>
          </a:xfrm>
          <a:prstGeom prst="roundRect">
            <a:avLst>
              <a:gd name="adj" fmla="val 2139"/>
            </a:avLst>
          </a:prstGeom>
          <a:solidFill>
            <a:srgbClr val="F2F8F9"/>
          </a:solidFill>
          <a:ln w="12700">
            <a:solidFill>
              <a:srgbClr val="D5E7E9"/>
            </a:solidFill>
            <a:prstDash val="solid"/>
          </a:ln>
        </p:spPr>
      </p:sp>
      <p:sp>
        <p:nvSpPr>
          <p:cNvPr id="5" name="Text 3"/>
          <p:cNvSpPr txBox="1"/>
          <p:nvPr/>
        </p:nvSpPr>
        <p:spPr>
          <a:xfrm>
            <a:off x="923544" y="1325880"/>
            <a:ext cx="10344607" cy="5001768"/>
          </a:xfrm>
          <a:prstGeom prst="rect">
            <a:avLst/>
          </a:prstGeom>
          <a:noFill/>
          <a:ln/>
        </p:spPr>
        <p:txBody>
          <a:bodyPr wrap="square" lIns="0" tIns="0" rIns="0" bIns="0" rtlCol="0" anchor="t"/>
          <a:lstStyle/>
          <a:p>
            <a:pPr algn="r" indent="0" marL="0">
              <a:lnSpc>
                <a:spcPts val="2600"/>
              </a:lnSpc>
              <a:buNone/>
            </a:pPr>
            <a:r>
              <a:rPr lang="en-US" sz="1700" dirty="0">
                <a:solidFill>
                  <a:srgbClr val="0C3B44"/>
                </a:solidFill>
                <a:latin typeface="Arial" pitchFamily="34" charset="0"/>
                <a:ea typeface="Arial" pitchFamily="34" charset="-122"/>
                <a:cs typeface="Arial" pitchFamily="34" charset="-120"/>
              </a:rPr>
              <a:t>‏העבודה יצאה מנקודת מוצא של פער בין ידע ליישום, ומסתיימת בהבנה כי הפער אינו פער של מודעות אלא של תנאים. ארבע מסקנות מרכזיות עולות ממנה. הראשונה היא שהחסם המרכזי אינו חסם של ידע, שכן כל המרואיינים ידעו לנסח את עקרונות אורח החיים הבריא. השנייה היא שאורח חיים בריא הוא תוצר של תשתית ושל מסגרת, ולא של כוח רצון אישי.‏</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‏המסקנה השלישית היא שהשינוי בפועל מתרחש ברוב המקרים רק לאחר אירוע בריאותי, כלומר מאוחר מדי, אף שהוא מוכיח כי בני חמישים, שישים ושבעים מסוגלים לשינוי עמוק ומתמשך. המסקנה הרביעית היא שמערכת הבריאות נתפסת כמצוינת בטיפול וכחלשה במניעה יזומה, ושהמנגנונים שנמצאו אפקטיביים בפועל פשוטים וזולים יחסית לעלות הטיפול במחלה שכבר התפתחה.‏</a:t>
            </a:r>
            <a:endParaRPr lang="en-US" sz="1700" dirty="0"/>
          </a:p>
          <a:p>
            <a:pPr algn="r" indent="0" marL="0">
              <a:lnSpc>
                <a:spcPts val="2600"/>
              </a:lnSpc>
              <a:spcBef>
                <a:spcPts val="700"/>
              </a:spcBef>
              <a:buNone/>
            </a:pPr>
            <a:r>
              <a:rPr lang="en-US" sz="1700" dirty="0">
                <a:solidFill>
                  <a:srgbClr val="0C3B44"/>
                </a:solidFill>
                <a:latin typeface="Arial" pitchFamily="34" charset="0"/>
                <a:ea typeface="Arial" pitchFamily="34" charset="-122"/>
                <a:cs typeface="Arial" pitchFamily="34" charset="-120"/>
              </a:rPr>
              <a:t>‏המרואיינים ידעו כמעט תמיד מה נכון לעשות. מה שחסר להם היה מקום ללכת בו, קבוצה שתחכה להם, טלפון שיזכיר, ומישהו שידבר איתם בשפה שהם מבינים. אלה אינם משאבים יקרים במונחי מערכת בריאות, ובוודאי לא ביחס לעלות הטיפול בסוכרת, בשבץ ובאי-ספיקת לב.‏</a:t>
            </a:r>
            <a:endParaRPr lang="en-US" sz="170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1417320" y="265176"/>
            <a:ext cx="10271455" cy="237744"/>
          </a:xfrm>
          <a:prstGeom prst="rect">
            <a:avLst/>
          </a:prstGeom>
          <a:noFill/>
          <a:ln/>
        </p:spPr>
        <p:txBody>
          <a:bodyPr wrap="square" lIns="0" tIns="0" rIns="0" bIns="0" rtlCol="0" anchor="ctr"/>
          <a:lstStyle/>
          <a:p>
            <a:pPr rtl="1" algn="r" indent="0" marL="0">
              <a:buNone/>
            </a:pPr>
            <a:r>
              <a:rPr lang="en-US" sz="1250" b="1" spc="140" kern="0" dirty="0">
                <a:solidFill>
                  <a:srgbClr val="1D9E9A"/>
                </a:solidFill>
                <a:latin typeface="Arial" pitchFamily="34" charset="0"/>
                <a:ea typeface="Arial" pitchFamily="34" charset="-122"/>
                <a:cs typeface="Arial" pitchFamily="34" charset="-120"/>
              </a:rPr>
              <a:t>מקורות</a:t>
            </a:r>
            <a:endParaRPr lang="en-US" sz="1250" dirty="0"/>
          </a:p>
        </p:txBody>
      </p:sp>
      <p:sp>
        <p:nvSpPr>
          <p:cNvPr id="3" name="Text 1"/>
          <p:cNvSpPr txBox="1"/>
          <p:nvPr/>
        </p:nvSpPr>
        <p:spPr>
          <a:xfrm>
            <a:off x="1417320" y="484632"/>
            <a:ext cx="10271455" cy="530352"/>
          </a:xfrm>
          <a:prstGeom prst="rect">
            <a:avLst/>
          </a:prstGeom>
          <a:noFill/>
          <a:ln/>
        </p:spPr>
        <p:txBody>
          <a:bodyPr wrap="square" lIns="0" tIns="0" rIns="0" bIns="0" rtlCol="0" anchor="ctr"/>
          <a:lstStyle/>
          <a:p>
            <a:pPr rtl="1" algn="r" indent="0" marL="0">
              <a:buNone/>
            </a:pPr>
            <a:r>
              <a:rPr lang="en-US" sz="3000" b="1" dirty="0">
                <a:solidFill>
                  <a:srgbClr val="0C3B44"/>
                </a:solidFill>
                <a:latin typeface="Arial" pitchFamily="34" charset="0"/>
                <a:ea typeface="Arial" pitchFamily="34" charset="-122"/>
                <a:cs typeface="Arial" pitchFamily="34" charset="-120"/>
              </a:rPr>
              <a:t>רשימת מקורות</a:t>
            </a:r>
            <a:endParaRPr lang="en-US" sz="3000" dirty="0"/>
          </a:p>
        </p:txBody>
      </p:sp>
      <p:sp>
        <p:nvSpPr>
          <p:cNvPr id="4" name="Text 2"/>
          <p:cNvSpPr txBox="1"/>
          <p:nvPr/>
        </p:nvSpPr>
        <p:spPr>
          <a:xfrm>
            <a:off x="1417320" y="996696"/>
            <a:ext cx="10271455" cy="274320"/>
          </a:xfrm>
          <a:prstGeom prst="rect">
            <a:avLst/>
          </a:prstGeom>
          <a:noFill/>
          <a:ln/>
        </p:spPr>
        <p:txBody>
          <a:bodyPr wrap="square" lIns="0" tIns="0" rIns="0" bIns="0" rtlCol="0" anchor="ctr"/>
          <a:lstStyle/>
          <a:p>
            <a:pPr rtl="1" algn="r" indent="0" marL="0">
              <a:buNone/>
            </a:pPr>
            <a:r>
              <a:rPr lang="en-US" sz="1500" b="1" dirty="0">
                <a:solidFill>
                  <a:srgbClr val="0E6E7E"/>
                </a:solidFill>
                <a:latin typeface="Arial" pitchFamily="34" charset="0"/>
                <a:ea typeface="Arial" pitchFamily="34" charset="-122"/>
                <a:cs typeface="Arial" pitchFamily="34" charset="-120"/>
              </a:rPr>
              <a:t>המקורות שאוזכרו במצגת, מקורות בעברית ואחריהם באנגלית לפי סדר הא-ב</a:t>
            </a:r>
            <a:endParaRPr lang="en-US" sz="1500" dirty="0"/>
          </a:p>
        </p:txBody>
      </p:sp>
      <p:sp>
        <p:nvSpPr>
          <p:cNvPr id="5" name="Shape 3"/>
          <p:cNvSpPr/>
          <p:nvPr/>
        </p:nvSpPr>
        <p:spPr>
          <a:xfrm>
            <a:off x="502920" y="1307592"/>
            <a:ext cx="11185855" cy="4910328"/>
          </a:xfrm>
          <a:prstGeom prst="roundRect">
            <a:avLst>
              <a:gd name="adj" fmla="val 2235"/>
            </a:avLst>
          </a:prstGeom>
          <a:solidFill>
            <a:srgbClr val="F2F8F9"/>
          </a:solidFill>
          <a:ln w="12700">
            <a:solidFill>
              <a:srgbClr val="D5E7E9"/>
            </a:solidFill>
            <a:prstDash val="solid"/>
          </a:ln>
        </p:spPr>
      </p:sp>
      <p:sp>
        <p:nvSpPr>
          <p:cNvPr id="6" name="Text 4"/>
          <p:cNvSpPr txBox="1"/>
          <p:nvPr/>
        </p:nvSpPr>
        <p:spPr>
          <a:xfrm>
            <a:off x="6385255" y="1554480"/>
            <a:ext cx="4882896" cy="4572000"/>
          </a:xfrm>
          <a:prstGeom prst="rect">
            <a:avLst/>
          </a:prstGeom>
          <a:noFill/>
          <a:ln/>
        </p:spPr>
        <p:txBody>
          <a:bodyPr wrap="square" lIns="0" tIns="0" rIns="0" bIns="0" rtlCol="0" anchor="t"/>
          <a:lstStyle/>
          <a:p>
            <a:pPr algn="r" indent="0" marL="0">
              <a:lnSpc>
                <a:spcPts val="1700"/>
              </a:lnSpc>
              <a:buNone/>
            </a:pPr>
            <a:r>
              <a:rPr lang="en-US" sz="1250" dirty="0">
                <a:solidFill>
                  <a:srgbClr val="0C3B44"/>
                </a:solidFill>
                <a:latin typeface="Arial" pitchFamily="34" charset="0"/>
                <a:ea typeface="Arial" pitchFamily="34" charset="-122"/>
                <a:cs typeface="Arial" pitchFamily="34" charset="-120"/>
              </a:rPr>
              <a:t>‏המרכז הלאומי לבקרת מחלות ‏(2023)‏. סקר בריאות לאומי INHIS-4. משרד הבריאות.‏</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‏המרכז הלאומי לבקרת מחלות ‏(2025)‏. מגמות במצב הסוכרת בישראל. משרד הבריאות.‏</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‏צבר בן-יהושע, נ' ‏(2016)‏. מסורות וזרמים במחקר האיכותני. מכון מופ"ת.‏</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‏קידום בריאות בישראל ‏(2023)‏. גיליון 11. אוניברסיטת אריאל בשומרון.‏</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‏שקדי, א' ‏(2003)‏. מילים המנסות לגעת: מחקר איכותני. רמות.‏</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‏Braun, V., &amp; Clarke, V. ‏(2006)‏. Qualitative Research in Psychology, 3‏(2)‏.‏</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‏Filippou, C. D., et al. ‏(2020)‏. Advances in Nutrition, 11‏(5)‏.‏</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‏Franklin, B. A., et al. ‏(2021)‏. Int. J. of Environmental Research and Public Health, 18‏(18)‏.‏</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‏Geidl, W., et al. ‏(2020)‏. Int. J. of Behavioral Nutrition and Physical Activity, 17.‏</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‏Hareer, L. W., et al. ‏(2024)‏. Nutrition &amp; Dietetics, 81‏(4)‏.‏</a:t>
            </a:r>
            <a:endParaRPr lang="en-US" sz="1250" dirty="0"/>
          </a:p>
        </p:txBody>
      </p:sp>
      <p:sp>
        <p:nvSpPr>
          <p:cNvPr id="7" name="Text 5"/>
          <p:cNvSpPr txBox="1"/>
          <p:nvPr/>
        </p:nvSpPr>
        <p:spPr>
          <a:xfrm>
            <a:off x="923544" y="1554480"/>
            <a:ext cx="4882896" cy="4572000"/>
          </a:xfrm>
          <a:prstGeom prst="rect">
            <a:avLst/>
          </a:prstGeom>
          <a:noFill/>
          <a:ln/>
        </p:spPr>
        <p:txBody>
          <a:bodyPr wrap="square" lIns="0" tIns="0" rIns="0" bIns="0" rtlCol="0" anchor="t"/>
          <a:lstStyle/>
          <a:p>
            <a:pPr algn="r" indent="0" marL="0">
              <a:lnSpc>
                <a:spcPts val="1700"/>
              </a:lnSpc>
              <a:buNone/>
            </a:pPr>
            <a:r>
              <a:rPr lang="en-US" sz="1250" dirty="0">
                <a:solidFill>
                  <a:srgbClr val="0C3B44"/>
                </a:solidFill>
                <a:latin typeface="Arial" pitchFamily="34" charset="0"/>
                <a:ea typeface="Arial" pitchFamily="34" charset="-122"/>
                <a:cs typeface="Arial" pitchFamily="34" charset="-120"/>
              </a:rPr>
              <a:t>‏Karatzi, K., &amp; Manios, Y. ‏(2021)‏. Nutrients, 13‏(5)‏.‏</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‏Laffond, A., et al. ‏(2023)‏. Nutrients, 15‏(15)‏.‏</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‏Lai, C., et al. ‏(2024)‏. The Journal of Nutrition, Health and Aging, 28‏(3)‏.‏</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‏Levi, S., et al. ‏(2025)‏. Israel Journal of Health Policy Research, 14‏(1)‏.‏</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‏Lincoln, Y. S., &amp; Guba, E. G. ‏(1985)‏. Naturalistic inquiry. Sage.‏</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‏Reges, O., et al. ‏(2020)‏. Israel Journal of Health Policy Research, 9‏(1)‏.‏</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‏Treister-Goltzman, Y., &amp; Peleg, R. ‏(2015)‏. Journal of Community Health, 40‏(6)‏.‏</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‏van der Velde, J. H. P. M., et al. ‏(2024)‏. European Journal of Ageing, 21.‏</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‏World Health Organization ‏(2023)‏. Noncommunicable diseases [Fact sheet].‏</a:t>
            </a:r>
            <a:endParaRPr lang="en-US" sz="1250" dirty="0"/>
          </a:p>
          <a:p>
            <a:pPr algn="r" indent="0" marL="0">
              <a:lnSpc>
                <a:spcPts val="1700"/>
              </a:lnSpc>
              <a:spcBef>
                <a:spcPts val="600"/>
              </a:spcBef>
              <a:buNone/>
            </a:pPr>
            <a:r>
              <a:rPr lang="en-US" sz="1250" dirty="0">
                <a:solidFill>
                  <a:srgbClr val="0C3B44"/>
                </a:solidFill>
                <a:latin typeface="Arial" pitchFamily="34" charset="0"/>
                <a:ea typeface="Arial" pitchFamily="34" charset="-122"/>
                <a:cs typeface="Arial" pitchFamily="34" charset="-120"/>
              </a:rPr>
              <a:t>‏Zhang, Y.-B., et al. ‏(2021)‏. BMJ, 373.‏</a:t>
            </a:r>
            <a:endParaRPr lang="en-US" sz="1250" dirty="0"/>
          </a:p>
        </p:txBody>
      </p:sp>
      <p:sp>
        <p:nvSpPr>
          <p:cNvPr id="25" name="Slide Number Placeholder 0"/>
          <p:cNvSpPr>
            <a:spLocks noGrp="1"/>
          </p:cNvSpPr>
          <p:nvPr>
            <p:ph type="sldNum" sz="quarter" idx="4294967295"/>
          </p:nvPr>
        </p:nvSpPr>
        <p:spPr>
          <a:xfrm>
            <a:off x="502920" y="63276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6D"/>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148072" y="1371600"/>
            <a:ext cx="1883664" cy="1883664"/>
          </a:xfrm>
          <a:prstGeom prst="roundRect">
            <a:avLst>
              <a:gd name="adj" fmla="val 7767"/>
            </a:avLst>
          </a:prstGeom>
          <a:solidFill>
            <a:srgbClr val="FFFFFF"/>
          </a:solidFill>
          <a:ln w="12700">
            <a:solidFill>
              <a:srgbClr val="FFFFFF"/>
            </a:solidFill>
            <a:prstDash val="solid"/>
          </a:ln>
        </p:spPr>
      </p:sp>
      <p:pic>
        <p:nvPicPr>
          <p:cNvPr id="3" name="Image 0" descr="logo.jpg">    </p:cNvPr>
          <p:cNvPicPr>
            <a:picLocks noChangeAspect="1"/>
          </p:cNvPicPr>
          <p:nvPr/>
        </p:nvPicPr>
        <p:blipFill>
          <a:blip r:embed="rId1"/>
          <a:stretch>
            <a:fillRect/>
          </a:stretch>
        </p:blipFill>
        <p:spPr>
          <a:xfrm>
            <a:off x="5468112" y="1691640"/>
            <a:ext cx="1243584" cy="1243584"/>
          </a:xfrm>
          <a:prstGeom prst="rect">
            <a:avLst/>
          </a:prstGeom>
        </p:spPr>
      </p:pic>
      <p:sp>
        <p:nvSpPr>
          <p:cNvPr id="4" name="Text 1"/>
          <p:cNvSpPr txBox="1"/>
          <p:nvPr/>
        </p:nvSpPr>
        <p:spPr>
          <a:xfrm>
            <a:off x="502920" y="3657600"/>
            <a:ext cx="11185855" cy="731520"/>
          </a:xfrm>
          <a:prstGeom prst="rect">
            <a:avLst/>
          </a:prstGeom>
          <a:noFill/>
          <a:ln/>
        </p:spPr>
        <p:txBody>
          <a:bodyPr wrap="square" lIns="0" tIns="0" rIns="0" bIns="0" rtlCol="0" anchor="ctr"/>
          <a:lstStyle/>
          <a:p>
            <a:pPr rtl="1" algn="ctr" indent="0" marL="0">
              <a:buNone/>
            </a:pPr>
            <a:r>
              <a:rPr lang="en-US" sz="4000" b="1" dirty="0">
                <a:solidFill>
                  <a:srgbClr val="FFFFFF"/>
                </a:solidFill>
                <a:latin typeface="Arial" pitchFamily="34" charset="0"/>
                <a:ea typeface="Arial" pitchFamily="34" charset="-122"/>
                <a:cs typeface="Arial" pitchFamily="34" charset="-120"/>
              </a:rPr>
              <a:t>תודה על ההקשבה</a:t>
            </a:r>
            <a:endParaRPr lang="en-US" sz="4000" dirty="0"/>
          </a:p>
        </p:txBody>
      </p:sp>
      <p:sp>
        <p:nvSpPr>
          <p:cNvPr id="5" name="Text 2"/>
          <p:cNvSpPr txBox="1"/>
          <p:nvPr/>
        </p:nvSpPr>
        <p:spPr>
          <a:xfrm>
            <a:off x="502920" y="4498848"/>
            <a:ext cx="11185855" cy="402336"/>
          </a:xfrm>
          <a:prstGeom prst="rect">
            <a:avLst/>
          </a:prstGeom>
          <a:noFill/>
          <a:ln/>
        </p:spPr>
        <p:txBody>
          <a:bodyPr wrap="square" lIns="0" tIns="0" rIns="0" bIns="0" rtlCol="0" anchor="ctr"/>
          <a:lstStyle/>
          <a:p>
            <a:pPr rtl="1" algn="ctr" indent="0" marL="0">
              <a:buNone/>
            </a:pPr>
            <a:r>
              <a:rPr lang="en-US" sz="1700" b="1" dirty="0">
                <a:solidFill>
                  <a:srgbClr val="1D9E9A"/>
                </a:solidFill>
                <a:latin typeface="Arial" pitchFamily="34" charset="0"/>
                <a:ea typeface="Arial" pitchFamily="34" charset="-122"/>
                <a:cs typeface="Arial" pitchFamily="34" charset="-120"/>
              </a:rPr>
              <a:t>המרכז האקדמי פרס, החוג למנהל מערכות בריאות</a:t>
            </a:r>
            <a:endParaRPr lang="en-US" sz="1700" dirty="0"/>
          </a:p>
        </p:txBody>
      </p:sp>
      <p:sp>
        <p:nvSpPr>
          <p:cNvPr id="6" name="Text 3"/>
          <p:cNvSpPr txBox="1"/>
          <p:nvPr/>
        </p:nvSpPr>
        <p:spPr>
          <a:xfrm>
            <a:off x="502920" y="4974336"/>
            <a:ext cx="11185855" cy="365760"/>
          </a:xfrm>
          <a:prstGeom prst="rect">
            <a:avLst/>
          </a:prstGeom>
          <a:noFill/>
          <a:ln/>
        </p:spPr>
        <p:txBody>
          <a:bodyPr wrap="square" lIns="0" tIns="0" rIns="0" bIns="0" rtlCol="0" anchor="ctr"/>
          <a:lstStyle/>
          <a:p>
            <a:pPr rtl="1" algn="ctr" indent="0" marL="0">
              <a:buNone/>
            </a:pPr>
            <a:r>
              <a:rPr lang="en-US" sz="1500" dirty="0">
                <a:solidFill>
                  <a:srgbClr val="BFE3DD"/>
                </a:solidFill>
                <a:latin typeface="Arial" pitchFamily="34" charset="0"/>
                <a:ea typeface="Arial" pitchFamily="34" charset="-122"/>
                <a:cs typeface="Arial" pitchFamily="34" charset="-120"/>
              </a:rPr>
              <a:t>מוחמד אבו גודה, ראמי אבו גאמע, מוחמד אלדואיקה</a:t>
            </a:r>
            <a:endParaRPr lang="en-US" sz="1500" dirty="0"/>
          </a:p>
        </p:txBody>
      </p:sp>
      <p:sp>
        <p:nvSpPr>
          <p:cNvPr id="7" name="Text 4"/>
          <p:cNvSpPr txBox="1"/>
          <p:nvPr/>
        </p:nvSpPr>
        <p:spPr>
          <a:xfrm>
            <a:off x="502920" y="5394960"/>
            <a:ext cx="11185855" cy="365760"/>
          </a:xfrm>
          <a:prstGeom prst="rect">
            <a:avLst/>
          </a:prstGeom>
          <a:noFill/>
          <a:ln/>
        </p:spPr>
        <p:txBody>
          <a:bodyPr wrap="square" lIns="0" tIns="0" rIns="0" bIns="0" rtlCol="0" anchor="ctr"/>
          <a:lstStyle/>
          <a:p>
            <a:pPr rtl="1" algn="ctr" indent="0" marL="0">
              <a:buNone/>
            </a:pPr>
            <a:r>
              <a:rPr lang="en-US" sz="1400" dirty="0">
                <a:solidFill>
                  <a:srgbClr val="BFE3DD"/>
                </a:solidFill>
                <a:latin typeface="Arial" pitchFamily="34" charset="0"/>
                <a:ea typeface="Arial" pitchFamily="34" charset="-122"/>
                <a:cs typeface="Arial" pitchFamily="34" charset="-120"/>
              </a:rPr>
              <a:t>‏בהנחיית ד"ר אסנת בשקין, שנה"ל תשפ"ו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פעילות גופנית ותזונה מאוזנת ומחלות כרוניות</dc:title>
  <dc:subject>PptxGenJS Presentation</dc:subject>
  <dc:creator>המרכז האקדמי פרס</dc:creator>
  <cp:lastModifiedBy>המרכז האקדמי פרס</cp:lastModifiedBy>
  <cp:revision>1</cp:revision>
  <dcterms:created xsi:type="dcterms:W3CDTF">2026-09-05T20:05:49Z</dcterms:created>
  <dcterms:modified xsi:type="dcterms:W3CDTF">2026-09-05T20:05:49Z</dcterms:modified>
</cp:coreProperties>
</file>