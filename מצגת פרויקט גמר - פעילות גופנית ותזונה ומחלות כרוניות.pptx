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פרויקט גמר בהמשך לעבודת הסמינריון. המחקר בוחן את הקשר בין פעילות גופנית ותזונה מאוזנת לבין הסיכון לתחלואה כרונית, מנקודת מבטם של מבוגרים בנגב.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נקודת המוצא: הידע קיים ומבוסס, אך היישום באוכלוסייה חלקי. בנגב הפער מתחדד בשל שיעורי תחלואה גבוהים ותשתיות מוגבלות.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השאלה מנוסחת מנקודת מבטם של המבוגרים עצמם, ולא כמדידה סטטיסטית של הקשר, ומכאן בחירת הגישה האיכותנית.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הממדים: כמה, איך זה מתקבץ, וכמה זה עולה. שלושתם מובילים לאותה מסקנה, שהמניעה משתלמת.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הרכיבים בעלי בסיס הראיות החזק ביותר, ושילובם חזק מסך חלקיו. זו הבסיס התאורטי לשאלת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המודל ממקם את המחקר: לא בדיקה חוזרת של הקשר המוכח, אלא בחינת החוליה שבין הידע ליישום.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הראיונות נערכו פנים אל פנים, שמונה בעברית וארבעה בערבית, ותורגמו על ידי החוקרים תוך שמירה על סגנון הדיבור.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המדגם גוון בכוונה בארבעה ממדים כדי שהתמות לא ייגזרו מקבוצה הומוגנית אחת.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השאלון בנוי כמשפך: מהכללי אל הספציפי, ומהתפיסות אל ההתנהגות ואל המערכת.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שתי התמות עלו בכל שנים עשר הראיונות. שימו לב שהחסם המשפחתי נובע דווקא ממימוש ערך חברתי מרכזי, ולא מהזנחה.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החסם המרכזי אינו מוטיבציוני. מרואיינת 8 הדגימה שכאשר קיים מסלול מואר יחיד, נוצרת פעילות ואף מתפשטת לנשים נוספות.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המנגנונים שנמצאו אפקטיביים בפועל: הפניה כתובה למסגרת קונקרטית, שיחת טלפון יזומה, וסדנה קבוצתית.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המסקנה המרכזית של הדיון. היא מעבירה את מוקד ההתערבות מן הפרט אל התנאים שסביבו.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הנקודה החזקה ביותר של המחקר להמלצות מדיניות: הפער ניתן לסגירה בהשקעה בתשתית ובמסגרות.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המנגנונים הראשונים נמצאו אפקטיביים בפועל בראיונות עצמם, ולכן הם ראשונים ברשימה.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סיום: להדגיש שהמסקנה מעשית וברת יישום, ושהמלצות המחקר אינן דורשות משאבים חריגים.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C3B4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logo.jpg">    </p:cNvPr>
          <p:cNvPicPr>
            <a:picLocks noChangeAspect="1"/>
          </p:cNvPicPr>
          <p:nvPr/>
        </p:nvPicPr>
        <p:blipFill>
          <a:blip r:embed="rId1"/>
          <a:stretch>
            <a:fillRect/>
          </a:stretch>
        </p:blipFill>
        <p:spPr>
          <a:xfrm>
            <a:off x="502920" y="274320"/>
            <a:ext cx="713232" cy="713232"/>
          </a:xfrm>
          <a:prstGeom prst="rect">
            <a:avLst/>
          </a:prstGeom>
        </p:spPr>
      </p:pic>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0104120" y="457200"/>
            <a:ext cx="1572768" cy="1572768"/>
          </a:xfrm>
          <a:prstGeom prst="roundRect">
            <a:avLst>
              <a:gd name="adj" fmla="val 8140"/>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10369296" y="722376"/>
            <a:ext cx="1042416" cy="1042416"/>
          </a:xfrm>
          <a:prstGeom prst="rect">
            <a:avLst/>
          </a:prstGeom>
        </p:spPr>
      </p:pic>
      <p:sp>
        <p:nvSpPr>
          <p:cNvPr id="4" name="Text 1"/>
          <p:cNvSpPr txBox="1"/>
          <p:nvPr/>
        </p:nvSpPr>
        <p:spPr>
          <a:xfrm>
            <a:off x="502920" y="566928"/>
            <a:ext cx="9326880" cy="365760"/>
          </a:xfrm>
          <a:prstGeom prst="rect">
            <a:avLst/>
          </a:prstGeom>
          <a:noFill/>
          <a:ln/>
        </p:spPr>
        <p:txBody>
          <a:bodyPr wrap="square" lIns="0" tIns="0" rIns="0" bIns="0" rtlCol="0" anchor="ctr"/>
          <a:lstStyle/>
          <a:p>
            <a:pPr rtl="1" algn="r" indent="0" marL="0">
              <a:buNone/>
            </a:pPr>
            <a:r>
              <a:rPr lang="en-US" sz="1500" b="1" dirty="0">
                <a:solidFill>
                  <a:srgbClr val="BFE3DD"/>
                </a:solidFill>
                <a:latin typeface="Arial" pitchFamily="34" charset="0"/>
                <a:ea typeface="Arial" pitchFamily="34" charset="-122"/>
                <a:cs typeface="Arial" pitchFamily="34" charset="-120"/>
              </a:rPr>
              <a:t>המרכז האקדמי פרס  |  החוג למנהל מערכות בריאות</a:t>
            </a:r>
            <a:endParaRPr lang="en-US" sz="1500" dirty="0"/>
          </a:p>
        </p:txBody>
      </p:sp>
      <p:sp>
        <p:nvSpPr>
          <p:cNvPr id="5" name="Text 2"/>
          <p:cNvSpPr txBox="1"/>
          <p:nvPr/>
        </p:nvSpPr>
        <p:spPr>
          <a:xfrm>
            <a:off x="502920" y="1874520"/>
            <a:ext cx="11185855" cy="1691640"/>
          </a:xfrm>
          <a:prstGeom prst="rect">
            <a:avLst/>
          </a:prstGeom>
          <a:noFill/>
          <a:ln/>
        </p:spPr>
        <p:txBody>
          <a:bodyPr wrap="square" lIns="0" tIns="0" rIns="0" bIns="0" rtlCol="0" anchor="ctr"/>
          <a:lstStyle/>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מהי ההשפעה של פעילות גופנית ותזונה מאוזנת</a:t>
            </a:r>
            <a:endParaRPr lang="en-US" sz="3300" dirty="0"/>
          </a:p>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על הסיכון להתפתחות מחלות כרוניות בקרב מבוגרים?</a:t>
            </a:r>
            <a:endParaRPr lang="en-US" sz="3300" dirty="0"/>
          </a:p>
        </p:txBody>
      </p:sp>
      <p:sp>
        <p:nvSpPr>
          <p:cNvPr id="6" name="Text 3"/>
          <p:cNvSpPr txBox="1"/>
          <p:nvPr/>
        </p:nvSpPr>
        <p:spPr>
          <a:xfrm>
            <a:off x="502920" y="3657600"/>
            <a:ext cx="11185855" cy="384048"/>
          </a:xfrm>
          <a:prstGeom prst="rect">
            <a:avLst/>
          </a:prstGeom>
          <a:noFill/>
          <a:ln/>
        </p:spPr>
        <p:txBody>
          <a:bodyPr wrap="square" lIns="0" tIns="0" rIns="0" bIns="0" rtlCol="0" anchor="ctr"/>
          <a:lstStyle/>
          <a:p>
            <a:pPr rtl="1" algn="r" indent="0" marL="0">
              <a:buNone/>
            </a:pPr>
            <a:r>
              <a:rPr lang="en-US" sz="1800" b="1" dirty="0">
                <a:solidFill>
                  <a:srgbClr val="1D9E9A"/>
                </a:solidFill>
                <a:latin typeface="Arial" pitchFamily="34" charset="0"/>
                <a:ea typeface="Arial" pitchFamily="34" charset="-122"/>
                <a:cs typeface="Arial" pitchFamily="34" charset="-120"/>
              </a:rPr>
              <a:t>פרויקט גמר  |  מחקר איכותני בקרב מבוגרים ביישובי הנגב</a:t>
            </a:r>
            <a:endParaRPr lang="en-US" sz="1800" dirty="0"/>
          </a:p>
        </p:txBody>
      </p:sp>
      <p:sp>
        <p:nvSpPr>
          <p:cNvPr id="7" name="Shape 4"/>
          <p:cNvSpPr/>
          <p:nvPr/>
        </p:nvSpPr>
        <p:spPr>
          <a:xfrm>
            <a:off x="502920" y="4434840"/>
            <a:ext cx="11185855" cy="1572768"/>
          </a:xfrm>
          <a:prstGeom prst="roundRect">
            <a:avLst>
              <a:gd name="adj" fmla="val 5233"/>
            </a:avLst>
          </a:prstGeom>
          <a:solidFill>
            <a:srgbClr val="12505C"/>
          </a:solidFill>
          <a:ln w="12700">
            <a:solidFill>
              <a:srgbClr val="12505C"/>
            </a:solidFill>
            <a:prstDash val="solid"/>
          </a:ln>
        </p:spPr>
      </p:sp>
      <p:sp>
        <p:nvSpPr>
          <p:cNvPr id="8" name="Text 5"/>
          <p:cNvSpPr txBox="1"/>
          <p:nvPr/>
        </p:nvSpPr>
        <p:spPr>
          <a:xfrm>
            <a:off x="822960" y="4590288"/>
            <a:ext cx="384048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מגישים</a:t>
            </a:r>
            <a:endParaRPr lang="en-US" sz="1300" dirty="0"/>
          </a:p>
        </p:txBody>
      </p:sp>
      <p:sp>
        <p:nvSpPr>
          <p:cNvPr id="9" name="Text 6"/>
          <p:cNvSpPr txBox="1"/>
          <p:nvPr/>
        </p:nvSpPr>
        <p:spPr>
          <a:xfrm>
            <a:off x="822960" y="4901184"/>
            <a:ext cx="4937760" cy="96012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אבו גודה, ת"ז 216107623</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ראמי אבו גאמע, ת"ז 215907734</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אלדואיקה, ת"ז 329354765</a:t>
            </a:r>
            <a:endParaRPr lang="en-US" sz="1400" dirty="0"/>
          </a:p>
        </p:txBody>
      </p:sp>
      <p:sp>
        <p:nvSpPr>
          <p:cNvPr id="10" name="Text 7"/>
          <p:cNvSpPr txBox="1"/>
          <p:nvPr/>
        </p:nvSpPr>
        <p:spPr>
          <a:xfrm>
            <a:off x="6949440" y="4590288"/>
            <a:ext cx="448056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בהנחיית</a:t>
            </a:r>
            <a:endParaRPr lang="en-US" sz="1300" dirty="0"/>
          </a:p>
        </p:txBody>
      </p:sp>
      <p:sp>
        <p:nvSpPr>
          <p:cNvPr id="11" name="Text 8"/>
          <p:cNvSpPr txBox="1"/>
          <p:nvPr/>
        </p:nvSpPr>
        <p:spPr>
          <a:xfrm>
            <a:off x="6949440" y="4901184"/>
            <a:ext cx="4480560" cy="68580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ד"ר אסנת בשקין</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שנה"ל תשפ"ו,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רקע והצגת הבעיה</a:t>
            </a:r>
            <a:endParaRPr lang="en-US" sz="3200" dirty="0"/>
          </a:p>
        </p:txBody>
      </p:sp>
      <p:sp>
        <p:nvSpPr>
          <p:cNvPr id="3" name="Shape 1"/>
          <p:cNvSpPr/>
          <p:nvPr/>
        </p:nvSpPr>
        <p:spPr>
          <a:xfrm>
            <a:off x="8186623" y="1463040"/>
            <a:ext cx="3502152" cy="1755648"/>
          </a:xfrm>
          <a:prstGeom prst="roundRect">
            <a:avLst>
              <a:gd name="adj" fmla="val 4688"/>
            </a:avLst>
          </a:prstGeom>
          <a:solidFill>
            <a:srgbClr val="F1F7F8"/>
          </a:solidFill>
          <a:ln w="12700">
            <a:solidFill>
              <a:srgbClr val="F1F7F8"/>
            </a:solidFill>
            <a:prstDash val="solid"/>
          </a:ln>
        </p:spPr>
      </p:sp>
      <p:sp>
        <p:nvSpPr>
          <p:cNvPr id="4" name="Text 2"/>
          <p:cNvSpPr txBox="1"/>
          <p:nvPr/>
        </p:nvSpPr>
        <p:spPr>
          <a:xfrm>
            <a:off x="8415223" y="1591056"/>
            <a:ext cx="3044952" cy="749808"/>
          </a:xfrm>
          <a:prstGeom prst="rect">
            <a:avLst/>
          </a:prstGeom>
          <a:noFill/>
          <a:ln/>
        </p:spPr>
        <p:txBody>
          <a:bodyPr wrap="square" lIns="0" tIns="0" rIns="0" bIns="0" rtlCol="0" anchor="ctr"/>
          <a:lstStyle/>
          <a:p>
            <a:pPr rtl="1" algn="ctr" indent="0" marL="0">
              <a:buNone/>
            </a:pPr>
            <a:r>
              <a:rPr lang="en-US" sz="4000" b="1" dirty="0">
                <a:solidFill>
                  <a:srgbClr val="0E6E7E"/>
                </a:solidFill>
                <a:latin typeface="Arial" pitchFamily="34" charset="0"/>
                <a:ea typeface="Arial" pitchFamily="34" charset="-122"/>
                <a:cs typeface="Arial" pitchFamily="34" charset="-120"/>
              </a:rPr>
              <a:t>85%</a:t>
            </a:r>
            <a:endParaRPr lang="en-US" sz="4000" dirty="0"/>
          </a:p>
        </p:txBody>
      </p:sp>
      <p:sp>
        <p:nvSpPr>
          <p:cNvPr id="5" name="Text 3"/>
          <p:cNvSpPr txBox="1"/>
          <p:nvPr/>
        </p:nvSpPr>
        <p:spPr>
          <a:xfrm>
            <a:off x="8415223" y="2377440"/>
            <a:ext cx="3044952" cy="713232"/>
          </a:xfrm>
          <a:prstGeom prst="rect">
            <a:avLst/>
          </a:prstGeom>
          <a:noFill/>
          <a:ln/>
        </p:spPr>
        <p:txBody>
          <a:bodyPr wrap="square" lIns="0" tIns="0" rIns="0" bIns="0" rtlCol="0" anchor="ctr"/>
          <a:lstStyle/>
          <a:p>
            <a:pPr rtl="1" algn="ctr" indent="0" marL="0">
              <a:lnSpc>
                <a:spcPts val="1800"/>
              </a:lnSpc>
              <a:buNone/>
            </a:pPr>
            <a:r>
              <a:rPr lang="en-US" sz="1300" dirty="0">
                <a:solidFill>
                  <a:srgbClr val="56686D"/>
                </a:solidFill>
                <a:latin typeface="Arial" pitchFamily="34" charset="0"/>
                <a:ea typeface="Arial" pitchFamily="34" charset="-122"/>
                <a:cs typeface="Arial" pitchFamily="34" charset="-120"/>
              </a:rPr>
              <a:t>ממקרי המוות בישראל</a:t>
            </a:r>
            <a:endParaRPr lang="en-US" sz="1300" dirty="0"/>
          </a:p>
          <a:p>
            <a:pPr rtl="1" algn="ctr" indent="0" marL="0">
              <a:lnSpc>
                <a:spcPts val="1800"/>
              </a:lnSpc>
              <a:buNone/>
            </a:pPr>
            <a:r>
              <a:rPr lang="en-US" sz="1300" dirty="0">
                <a:solidFill>
                  <a:srgbClr val="56686D"/>
                </a:solidFill>
                <a:latin typeface="Arial" pitchFamily="34" charset="0"/>
                <a:ea typeface="Arial" pitchFamily="34" charset="-122"/>
                <a:cs typeface="Arial" pitchFamily="34" charset="-120"/>
              </a:rPr>
              <a:t>מיוחסים למחלות לא מדבקות</a:t>
            </a:r>
            <a:endParaRPr lang="en-US" sz="1300" dirty="0"/>
          </a:p>
        </p:txBody>
      </p:sp>
      <p:sp>
        <p:nvSpPr>
          <p:cNvPr id="6" name="Shape 4"/>
          <p:cNvSpPr/>
          <p:nvPr/>
        </p:nvSpPr>
        <p:spPr>
          <a:xfrm>
            <a:off x="4373575" y="1463040"/>
            <a:ext cx="3502152" cy="1755648"/>
          </a:xfrm>
          <a:prstGeom prst="roundRect">
            <a:avLst>
              <a:gd name="adj" fmla="val 4688"/>
            </a:avLst>
          </a:prstGeom>
          <a:solidFill>
            <a:srgbClr val="F1F7F8"/>
          </a:solidFill>
          <a:ln w="12700">
            <a:solidFill>
              <a:srgbClr val="F1F7F8"/>
            </a:solidFill>
            <a:prstDash val="solid"/>
          </a:ln>
        </p:spPr>
      </p:sp>
      <p:sp>
        <p:nvSpPr>
          <p:cNvPr id="7" name="Text 5"/>
          <p:cNvSpPr txBox="1"/>
          <p:nvPr/>
        </p:nvSpPr>
        <p:spPr>
          <a:xfrm>
            <a:off x="4602175" y="1591056"/>
            <a:ext cx="3044952" cy="749808"/>
          </a:xfrm>
          <a:prstGeom prst="rect">
            <a:avLst/>
          </a:prstGeom>
          <a:noFill/>
          <a:ln/>
        </p:spPr>
        <p:txBody>
          <a:bodyPr wrap="square" lIns="0" tIns="0" rIns="0" bIns="0" rtlCol="0" anchor="ctr"/>
          <a:lstStyle/>
          <a:p>
            <a:pPr rtl="1" algn="ctr" indent="0" marL="0">
              <a:buNone/>
            </a:pPr>
            <a:r>
              <a:rPr lang="en-US" sz="4000" b="1" dirty="0">
                <a:solidFill>
                  <a:srgbClr val="1D9E9A"/>
                </a:solidFill>
                <a:latin typeface="Arial" pitchFamily="34" charset="0"/>
                <a:ea typeface="Arial" pitchFamily="34" charset="-122"/>
                <a:cs typeface="Arial" pitchFamily="34" charset="-120"/>
              </a:rPr>
              <a:t>56%</a:t>
            </a:r>
            <a:endParaRPr lang="en-US" sz="4000" dirty="0"/>
          </a:p>
        </p:txBody>
      </p:sp>
      <p:sp>
        <p:nvSpPr>
          <p:cNvPr id="8" name="Text 6"/>
          <p:cNvSpPr txBox="1"/>
          <p:nvPr/>
        </p:nvSpPr>
        <p:spPr>
          <a:xfrm>
            <a:off x="4602175" y="2377440"/>
            <a:ext cx="3044952" cy="713232"/>
          </a:xfrm>
          <a:prstGeom prst="rect">
            <a:avLst/>
          </a:prstGeom>
          <a:noFill/>
          <a:ln/>
        </p:spPr>
        <p:txBody>
          <a:bodyPr wrap="square" lIns="0" tIns="0" rIns="0" bIns="0" rtlCol="0" anchor="ctr"/>
          <a:lstStyle/>
          <a:p>
            <a:pPr rtl="1" algn="ctr" indent="0" marL="0">
              <a:lnSpc>
                <a:spcPts val="1800"/>
              </a:lnSpc>
              <a:buNone/>
            </a:pPr>
            <a:r>
              <a:rPr lang="en-US" sz="1300" dirty="0">
                <a:solidFill>
                  <a:srgbClr val="56686D"/>
                </a:solidFill>
                <a:latin typeface="Arial" pitchFamily="34" charset="0"/>
                <a:ea typeface="Arial" pitchFamily="34" charset="-122"/>
                <a:cs typeface="Arial" pitchFamily="34" charset="-120"/>
              </a:rPr>
              <a:t>מהמבוגרים בישראל סובלים</a:t>
            </a:r>
            <a:endParaRPr lang="en-US" sz="1300" dirty="0"/>
          </a:p>
          <a:p>
            <a:pPr rtl="1" algn="ctr" indent="0" marL="0">
              <a:lnSpc>
                <a:spcPts val="1800"/>
              </a:lnSpc>
              <a:buNone/>
            </a:pPr>
            <a:r>
              <a:rPr lang="en-US" sz="1300" dirty="0">
                <a:solidFill>
                  <a:srgbClr val="56686D"/>
                </a:solidFill>
                <a:latin typeface="Arial" pitchFamily="34" charset="0"/>
                <a:ea typeface="Arial" pitchFamily="34" charset="-122"/>
                <a:cs typeface="Arial" pitchFamily="34" charset="-120"/>
              </a:rPr>
              <a:t>מעודף משקל או מהשמנה</a:t>
            </a:r>
            <a:endParaRPr lang="en-US" sz="1300" dirty="0"/>
          </a:p>
        </p:txBody>
      </p:sp>
      <p:sp>
        <p:nvSpPr>
          <p:cNvPr id="9" name="Shape 7"/>
          <p:cNvSpPr/>
          <p:nvPr/>
        </p:nvSpPr>
        <p:spPr>
          <a:xfrm>
            <a:off x="560527" y="1463040"/>
            <a:ext cx="3502152" cy="1755648"/>
          </a:xfrm>
          <a:prstGeom prst="roundRect">
            <a:avLst>
              <a:gd name="adj" fmla="val 4688"/>
            </a:avLst>
          </a:prstGeom>
          <a:solidFill>
            <a:srgbClr val="F1F7F8"/>
          </a:solidFill>
          <a:ln w="12700">
            <a:solidFill>
              <a:srgbClr val="F1F7F8"/>
            </a:solidFill>
            <a:prstDash val="solid"/>
          </a:ln>
        </p:spPr>
      </p:sp>
      <p:sp>
        <p:nvSpPr>
          <p:cNvPr id="10" name="Text 8"/>
          <p:cNvSpPr txBox="1"/>
          <p:nvPr/>
        </p:nvSpPr>
        <p:spPr>
          <a:xfrm>
            <a:off x="789127" y="1591056"/>
            <a:ext cx="3044952" cy="749808"/>
          </a:xfrm>
          <a:prstGeom prst="rect">
            <a:avLst/>
          </a:prstGeom>
          <a:noFill/>
          <a:ln/>
        </p:spPr>
        <p:txBody>
          <a:bodyPr wrap="square" lIns="0" tIns="0" rIns="0" bIns="0" rtlCol="0" anchor="ctr"/>
          <a:lstStyle/>
          <a:p>
            <a:pPr rtl="1" algn="ctr" indent="0" marL="0">
              <a:buNone/>
            </a:pPr>
            <a:r>
              <a:rPr lang="en-US" sz="4000" b="1" dirty="0">
                <a:solidFill>
                  <a:srgbClr val="D98C2B"/>
                </a:solidFill>
                <a:latin typeface="Arial" pitchFamily="34" charset="0"/>
                <a:ea typeface="Arial" pitchFamily="34" charset="-122"/>
                <a:cs typeface="Arial" pitchFamily="34" charset="-120"/>
              </a:rPr>
              <a:t>2 מתוך 3</a:t>
            </a:r>
            <a:endParaRPr lang="en-US" sz="4000" dirty="0"/>
          </a:p>
        </p:txBody>
      </p:sp>
      <p:sp>
        <p:nvSpPr>
          <p:cNvPr id="11" name="Text 9"/>
          <p:cNvSpPr txBox="1"/>
          <p:nvPr/>
        </p:nvSpPr>
        <p:spPr>
          <a:xfrm>
            <a:off x="789127" y="2377440"/>
            <a:ext cx="3044952" cy="713232"/>
          </a:xfrm>
          <a:prstGeom prst="rect">
            <a:avLst/>
          </a:prstGeom>
          <a:noFill/>
          <a:ln/>
        </p:spPr>
        <p:txBody>
          <a:bodyPr wrap="square" lIns="0" tIns="0" rIns="0" bIns="0" rtlCol="0" anchor="ctr"/>
          <a:lstStyle/>
          <a:p>
            <a:pPr rtl="1" algn="ctr" indent="0" marL="0">
              <a:lnSpc>
                <a:spcPts val="1800"/>
              </a:lnSpc>
              <a:buNone/>
            </a:pPr>
            <a:r>
              <a:rPr lang="en-US" sz="1300" dirty="0">
                <a:solidFill>
                  <a:srgbClr val="56686D"/>
                </a:solidFill>
                <a:latin typeface="Arial" pitchFamily="34" charset="0"/>
                <a:ea typeface="Arial" pitchFamily="34" charset="-122"/>
                <a:cs typeface="Arial" pitchFamily="34" charset="-120"/>
              </a:rPr>
              <a:t>מהמבוגרים אינם עומדים</a:t>
            </a:r>
            <a:endParaRPr lang="en-US" sz="1300" dirty="0"/>
          </a:p>
          <a:p>
            <a:pPr rtl="1" algn="ctr" indent="0" marL="0">
              <a:lnSpc>
                <a:spcPts val="1800"/>
              </a:lnSpc>
              <a:buNone/>
            </a:pPr>
            <a:r>
              <a:rPr lang="en-US" sz="1300" dirty="0">
                <a:solidFill>
                  <a:srgbClr val="56686D"/>
                </a:solidFill>
                <a:latin typeface="Arial" pitchFamily="34" charset="0"/>
                <a:ea typeface="Arial" pitchFamily="34" charset="-122"/>
                <a:cs typeface="Arial" pitchFamily="34" charset="-120"/>
              </a:rPr>
              <a:t>בהמלצות לפעילות גופנית</a:t>
            </a:r>
            <a:endParaRPr lang="en-US" sz="1300" dirty="0"/>
          </a:p>
        </p:txBody>
      </p:sp>
      <p:sp>
        <p:nvSpPr>
          <p:cNvPr id="12" name="Text 10"/>
          <p:cNvSpPr txBox="1"/>
          <p:nvPr/>
        </p:nvSpPr>
        <p:spPr>
          <a:xfrm>
            <a:off x="502920" y="3456432"/>
            <a:ext cx="11185855" cy="566928"/>
          </a:xfrm>
          <a:prstGeom prst="rect">
            <a:avLst/>
          </a:prstGeom>
          <a:noFill/>
          <a:ln/>
        </p:spPr>
        <p:txBody>
          <a:bodyPr wrap="square" lIns="0" tIns="0" rIns="0" bIns="0" rtlCol="0" anchor="ctr"/>
          <a:lstStyle/>
          <a:p>
            <a:pPr rtl="1" algn="r" indent="0" marL="0">
              <a:lnSpc>
                <a:spcPts val="2300"/>
              </a:lnSpc>
              <a:buNone/>
            </a:pPr>
            <a:r>
              <a:rPr lang="en-US" sz="1500" dirty="0">
                <a:solidFill>
                  <a:srgbClr val="0C3B44"/>
                </a:solidFill>
                <a:latin typeface="Arial" pitchFamily="34" charset="0"/>
                <a:ea typeface="Arial" pitchFamily="34" charset="-122"/>
                <a:cs typeface="Arial" pitchFamily="34" charset="-120"/>
              </a:rPr>
              <a:t>המחלות הכרוניות הן כיום גורם התחלואה והתמותה המרכזי בישראל ובעולם, וחלק ניכר מהן ניתן למניעה באמצעות שינוי אורח חיים (World Health Organization, 2023).</a:t>
            </a:r>
            <a:endParaRPr lang="en-US" sz="1500" dirty="0"/>
          </a:p>
        </p:txBody>
      </p:sp>
      <p:sp>
        <p:nvSpPr>
          <p:cNvPr id="13" name="Text 11"/>
          <p:cNvSpPr txBox="1"/>
          <p:nvPr/>
        </p:nvSpPr>
        <p:spPr>
          <a:xfrm>
            <a:off x="11121847" y="4133088"/>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14" name="Text 12"/>
          <p:cNvSpPr txBox="1"/>
          <p:nvPr/>
        </p:nvSpPr>
        <p:spPr>
          <a:xfrm>
            <a:off x="502920" y="4151376"/>
            <a:ext cx="10417759" cy="310896"/>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הפער שבין הידע לבין היישום</a:t>
            </a:r>
            <a:endParaRPr lang="en-US" sz="1700" dirty="0"/>
          </a:p>
        </p:txBody>
      </p:sp>
      <p:sp>
        <p:nvSpPr>
          <p:cNvPr id="15" name="Text 13"/>
          <p:cNvSpPr txBox="1"/>
          <p:nvPr/>
        </p:nvSpPr>
        <p:spPr>
          <a:xfrm>
            <a:off x="502920" y="4480560"/>
            <a:ext cx="10417759" cy="548640"/>
          </a:xfrm>
          <a:prstGeom prst="rect">
            <a:avLst/>
          </a:prstGeom>
          <a:noFill/>
          <a:ln/>
        </p:spPr>
        <p:txBody>
          <a:bodyPr wrap="square" lIns="0" tIns="0" rIns="0" bIns="0" rtlCol="0" anchor="ctr"/>
          <a:lstStyle/>
          <a:p>
            <a:pPr rtl="1" algn="r" indent="0" marL="0">
              <a:lnSpc>
                <a:spcPts val="2000"/>
              </a:lnSpc>
              <a:buNone/>
            </a:pPr>
            <a:r>
              <a:rPr lang="en-US" sz="1400" dirty="0">
                <a:solidFill>
                  <a:srgbClr val="56686D"/>
                </a:solidFill>
                <a:latin typeface="Arial" pitchFamily="34" charset="0"/>
                <a:ea typeface="Arial" pitchFamily="34" charset="-122"/>
                <a:cs typeface="Arial" pitchFamily="34" charset="-120"/>
              </a:rPr>
              <a:t>בסיס הראיות הקושר תזונה ופעילות גופנית להפחתת תחלואה הוא מן המבוססים ברפואה המונעת, ואף על פי כן שיעורי ההשמנה והסוכרת ממשיכים לעלות.</a:t>
            </a:r>
            <a:endParaRPr lang="en-US" sz="1400" dirty="0"/>
          </a:p>
        </p:txBody>
      </p:sp>
      <p:sp>
        <p:nvSpPr>
          <p:cNvPr id="16" name="Text 14"/>
          <p:cNvSpPr txBox="1"/>
          <p:nvPr/>
        </p:nvSpPr>
        <p:spPr>
          <a:xfrm>
            <a:off x="11121847" y="5230368"/>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7" name="Text 15"/>
          <p:cNvSpPr txBox="1"/>
          <p:nvPr/>
        </p:nvSpPr>
        <p:spPr>
          <a:xfrm>
            <a:off x="502920" y="5248656"/>
            <a:ext cx="10417759" cy="310896"/>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הפערים בנגב חריפים במיוחד</a:t>
            </a:r>
            <a:endParaRPr lang="en-US" sz="1700" dirty="0"/>
          </a:p>
        </p:txBody>
      </p:sp>
      <p:sp>
        <p:nvSpPr>
          <p:cNvPr id="18" name="Text 16"/>
          <p:cNvSpPr txBox="1"/>
          <p:nvPr/>
        </p:nvSpPr>
        <p:spPr>
          <a:xfrm>
            <a:off x="502920" y="5577840"/>
            <a:ext cx="10417759" cy="548640"/>
          </a:xfrm>
          <a:prstGeom prst="rect">
            <a:avLst/>
          </a:prstGeom>
          <a:noFill/>
          <a:ln/>
        </p:spPr>
        <p:txBody>
          <a:bodyPr wrap="square" lIns="0" tIns="0" rIns="0" bIns="0" rtlCol="0" anchor="ctr"/>
          <a:lstStyle/>
          <a:p>
            <a:pPr rtl="1" algn="r" indent="0" marL="0">
              <a:lnSpc>
                <a:spcPts val="2000"/>
              </a:lnSpc>
              <a:buNone/>
            </a:pPr>
            <a:r>
              <a:rPr lang="en-US" sz="1400" dirty="0">
                <a:solidFill>
                  <a:srgbClr val="56686D"/>
                </a:solidFill>
                <a:latin typeface="Arial" pitchFamily="34" charset="0"/>
                <a:ea typeface="Arial" pitchFamily="34" charset="-122"/>
                <a:cs typeface="Arial" pitchFamily="34" charset="-120"/>
              </a:rPr>
              <a:t>שיעורי סוכרת והשמנה גבוהים בחברה הבדואית לצד תשתיות מוגבלות לפעילות גופנית וחסמי נגישות לשירותי בריאות (Treister-Goltzman &amp; Peleg, 2015).</a:t>
            </a:r>
            <a:endParaRPr lang="en-US" sz="14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שאלת המחקר ומטרות המחקר</a:t>
            </a:r>
            <a:endParaRPr lang="en-US" sz="3200" dirty="0"/>
          </a:p>
        </p:txBody>
      </p:sp>
      <p:sp>
        <p:nvSpPr>
          <p:cNvPr id="3" name="Shape 1"/>
          <p:cNvSpPr/>
          <p:nvPr/>
        </p:nvSpPr>
        <p:spPr>
          <a:xfrm>
            <a:off x="6979615" y="1463040"/>
            <a:ext cx="4709160" cy="4224528"/>
          </a:xfrm>
          <a:prstGeom prst="roundRect">
            <a:avLst>
              <a:gd name="adj" fmla="val 1948"/>
            </a:avLst>
          </a:prstGeom>
          <a:solidFill>
            <a:srgbClr val="0C3B44"/>
          </a:solidFill>
          <a:ln w="12700">
            <a:solidFill>
              <a:srgbClr val="0C3B44"/>
            </a:solidFill>
            <a:prstDash val="solid"/>
          </a:ln>
        </p:spPr>
      </p:sp>
      <p:sp>
        <p:nvSpPr>
          <p:cNvPr id="4" name="Text 2"/>
          <p:cNvSpPr txBox="1"/>
          <p:nvPr/>
        </p:nvSpPr>
        <p:spPr>
          <a:xfrm>
            <a:off x="7272223" y="1700784"/>
            <a:ext cx="4123944" cy="365760"/>
          </a:xfrm>
          <a:prstGeom prst="rect">
            <a:avLst/>
          </a:prstGeom>
          <a:noFill/>
          <a:ln/>
        </p:spPr>
        <p:txBody>
          <a:bodyPr wrap="square" lIns="0" tIns="0" rIns="0" bIns="0" rtlCol="0" anchor="ctr"/>
          <a:lstStyle/>
          <a:p>
            <a:pPr rtl="1" algn="r" indent="0" marL="0">
              <a:buNone/>
            </a:pPr>
            <a:r>
              <a:rPr lang="en-US" sz="1800" b="1" dirty="0">
                <a:solidFill>
                  <a:srgbClr val="1D9E9A"/>
                </a:solidFill>
                <a:latin typeface="Arial" pitchFamily="34" charset="0"/>
                <a:ea typeface="Arial" pitchFamily="34" charset="-122"/>
                <a:cs typeface="Arial" pitchFamily="34" charset="-120"/>
              </a:rPr>
              <a:t>שאלת המחקר המרכזית</a:t>
            </a:r>
            <a:endParaRPr lang="en-US" sz="1800" dirty="0"/>
          </a:p>
        </p:txBody>
      </p:sp>
      <p:sp>
        <p:nvSpPr>
          <p:cNvPr id="5" name="Text 3"/>
          <p:cNvSpPr txBox="1"/>
          <p:nvPr/>
        </p:nvSpPr>
        <p:spPr>
          <a:xfrm>
            <a:off x="7272223" y="2139696"/>
            <a:ext cx="4123944" cy="1572768"/>
          </a:xfrm>
          <a:prstGeom prst="rect">
            <a:avLst/>
          </a:prstGeom>
          <a:noFill/>
          <a:ln/>
        </p:spPr>
        <p:txBody>
          <a:bodyPr wrap="square" lIns="0" tIns="0" rIns="0" bIns="0" rtlCol="0" anchor="ctr"/>
          <a:lstStyle/>
          <a:p>
            <a:pPr rtl="1" algn="r" indent="0" marL="0">
              <a:lnSpc>
                <a:spcPts val="2800"/>
              </a:lnSpc>
              <a:buNone/>
            </a:pPr>
            <a:r>
              <a:rPr lang="en-US" sz="1800" dirty="0">
                <a:solidFill>
                  <a:srgbClr val="FFFFFF"/>
                </a:solidFill>
                <a:latin typeface="Arial" pitchFamily="34" charset="0"/>
                <a:ea typeface="Arial" pitchFamily="34" charset="-122"/>
                <a:cs typeface="Arial" pitchFamily="34" charset="-120"/>
              </a:rPr>
              <a:t>מהי ההשפעה של פעילות גופנית ותזונה מאוזנת על הסיכון להתפתחות מחלות כרוניות בקרב מבוגרים, כפי שהיא נתפסת ונחווית על ידי המבוגרים עצמם?</a:t>
            </a:r>
            <a:endParaRPr lang="en-US" sz="1800" dirty="0"/>
          </a:p>
        </p:txBody>
      </p:sp>
      <p:sp>
        <p:nvSpPr>
          <p:cNvPr id="6" name="Text 4"/>
          <p:cNvSpPr txBox="1"/>
          <p:nvPr/>
        </p:nvSpPr>
        <p:spPr>
          <a:xfrm>
            <a:off x="7272223" y="3931920"/>
            <a:ext cx="4123944" cy="914400"/>
          </a:xfrm>
          <a:prstGeom prst="rect">
            <a:avLst/>
          </a:prstGeom>
          <a:noFill/>
          <a:ln/>
        </p:spPr>
        <p:txBody>
          <a:bodyPr wrap="square" lIns="0" tIns="0" rIns="0" bIns="0" rtlCol="0" anchor="ctr"/>
          <a:lstStyle/>
          <a:p>
            <a:pPr rtl="1" algn="r" indent="0" marL="0">
              <a:lnSpc>
                <a:spcPts val="2100"/>
              </a:lnSpc>
              <a:buNone/>
            </a:pPr>
            <a:r>
              <a:rPr lang="en-US" sz="1400" dirty="0">
                <a:solidFill>
                  <a:srgbClr val="BFE3DD"/>
                </a:solidFill>
                <a:latin typeface="Arial" pitchFamily="34" charset="0"/>
                <a:ea typeface="Arial" pitchFamily="34" charset="-122"/>
                <a:cs typeface="Arial" pitchFamily="34" charset="-120"/>
              </a:rPr>
              <a:t>שלוש שאלות משנה בוחנות את התפיסות, את החסמים והמנופים, ואת תפקידה של מערכת הבריאות בעיני המטופלים.</a:t>
            </a:r>
            <a:endParaRPr lang="en-US" sz="1400" dirty="0"/>
          </a:p>
        </p:txBody>
      </p:sp>
      <p:sp>
        <p:nvSpPr>
          <p:cNvPr id="7" name="Text 5"/>
          <p:cNvSpPr txBox="1"/>
          <p:nvPr/>
        </p:nvSpPr>
        <p:spPr>
          <a:xfrm>
            <a:off x="502920" y="1481328"/>
            <a:ext cx="6110935" cy="347472"/>
          </a:xfrm>
          <a:prstGeom prst="rect">
            <a:avLst/>
          </a:prstGeom>
          <a:noFill/>
          <a:ln/>
        </p:spPr>
        <p:txBody>
          <a:bodyPr wrap="square" lIns="0" tIns="0" rIns="0" bIns="0" rtlCol="0" anchor="ctr"/>
          <a:lstStyle/>
          <a:p>
            <a:pPr rtl="1" algn="r" indent="0" marL="0">
              <a:buNone/>
            </a:pPr>
            <a:r>
              <a:rPr lang="en-US" sz="2000" b="1" dirty="0">
                <a:solidFill>
                  <a:srgbClr val="0E6E7E"/>
                </a:solidFill>
                <a:latin typeface="Arial" pitchFamily="34" charset="0"/>
                <a:ea typeface="Arial" pitchFamily="34" charset="-122"/>
                <a:cs typeface="Arial" pitchFamily="34" charset="-120"/>
              </a:rPr>
              <a:t>מטרות המחקר</a:t>
            </a:r>
            <a:endParaRPr lang="en-US" sz="2000" dirty="0"/>
          </a:p>
        </p:txBody>
      </p:sp>
      <p:sp>
        <p:nvSpPr>
          <p:cNvPr id="8" name="Text 6"/>
          <p:cNvSpPr txBox="1"/>
          <p:nvPr/>
        </p:nvSpPr>
        <p:spPr>
          <a:xfrm>
            <a:off x="6046927" y="1975104"/>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txBox="1"/>
          <p:nvPr/>
        </p:nvSpPr>
        <p:spPr>
          <a:xfrm>
            <a:off x="502920" y="1993392"/>
            <a:ext cx="5342839" cy="310896"/>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לבחון תפיסות</a:t>
            </a:r>
            <a:endParaRPr lang="en-US" sz="1700" dirty="0"/>
          </a:p>
        </p:txBody>
      </p:sp>
      <p:sp>
        <p:nvSpPr>
          <p:cNvPr id="10" name="Text 8"/>
          <p:cNvSpPr txBox="1"/>
          <p:nvPr/>
        </p:nvSpPr>
        <p:spPr>
          <a:xfrm>
            <a:off x="502920" y="2322576"/>
            <a:ext cx="5342839" cy="512064"/>
          </a:xfrm>
          <a:prstGeom prst="rect">
            <a:avLst/>
          </a:prstGeom>
          <a:noFill/>
          <a:ln/>
        </p:spPr>
        <p:txBody>
          <a:bodyPr wrap="square" lIns="0" tIns="0" rIns="0" bIns="0" rtlCol="0" anchor="ctr"/>
          <a:lstStyle/>
          <a:p>
            <a:pPr rtl="1" algn="r" indent="0" marL="0">
              <a:lnSpc>
                <a:spcPts val="2000"/>
              </a:lnSpc>
              <a:buNone/>
            </a:pPr>
            <a:r>
              <a:rPr lang="en-US" sz="1400" dirty="0">
                <a:solidFill>
                  <a:srgbClr val="56686D"/>
                </a:solidFill>
                <a:latin typeface="Arial" pitchFamily="34" charset="0"/>
                <a:ea typeface="Arial" pitchFamily="34" charset="-122"/>
                <a:cs typeface="Arial" pitchFamily="34" charset="-120"/>
              </a:rPr>
              <a:t>כיצד תופסים מבוגרים את הקשר בין אורח חייהם לבין בריאותם.</a:t>
            </a:r>
            <a:endParaRPr lang="en-US" sz="1400" dirty="0"/>
          </a:p>
        </p:txBody>
      </p:sp>
      <p:sp>
        <p:nvSpPr>
          <p:cNvPr id="11" name="Text 9"/>
          <p:cNvSpPr txBox="1"/>
          <p:nvPr/>
        </p:nvSpPr>
        <p:spPr>
          <a:xfrm>
            <a:off x="6046927" y="2926080"/>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2" name="Text 10"/>
          <p:cNvSpPr txBox="1"/>
          <p:nvPr/>
        </p:nvSpPr>
        <p:spPr>
          <a:xfrm>
            <a:off x="502920" y="2944368"/>
            <a:ext cx="5342839" cy="310896"/>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לזהות חסמים ומנופים</a:t>
            </a:r>
            <a:endParaRPr lang="en-US" sz="1700" dirty="0"/>
          </a:p>
        </p:txBody>
      </p:sp>
      <p:sp>
        <p:nvSpPr>
          <p:cNvPr id="13" name="Text 11"/>
          <p:cNvSpPr txBox="1"/>
          <p:nvPr/>
        </p:nvSpPr>
        <p:spPr>
          <a:xfrm>
            <a:off x="502920" y="3273552"/>
            <a:ext cx="5342839" cy="512064"/>
          </a:xfrm>
          <a:prstGeom prst="rect">
            <a:avLst/>
          </a:prstGeom>
          <a:noFill/>
          <a:ln/>
        </p:spPr>
        <p:txBody>
          <a:bodyPr wrap="square" lIns="0" tIns="0" rIns="0" bIns="0" rtlCol="0" anchor="ctr"/>
          <a:lstStyle/>
          <a:p>
            <a:pPr rtl="1" algn="r" indent="0" marL="0">
              <a:lnSpc>
                <a:spcPts val="2000"/>
              </a:lnSpc>
              <a:buNone/>
            </a:pPr>
            <a:r>
              <a:rPr lang="en-US" sz="1400" dirty="0">
                <a:solidFill>
                  <a:srgbClr val="56686D"/>
                </a:solidFill>
                <a:latin typeface="Arial" pitchFamily="34" charset="0"/>
                <a:ea typeface="Arial" pitchFamily="34" charset="-122"/>
                <a:cs typeface="Arial" pitchFamily="34" charset="-120"/>
              </a:rPr>
              <a:t>מה מסייע ומה מונע אימוץ של פעילות גופנית ותזונה מאוזנת.</a:t>
            </a:r>
            <a:endParaRPr lang="en-US" sz="1400" dirty="0"/>
          </a:p>
        </p:txBody>
      </p:sp>
      <p:sp>
        <p:nvSpPr>
          <p:cNvPr id="14" name="Text 12"/>
          <p:cNvSpPr txBox="1"/>
          <p:nvPr/>
        </p:nvSpPr>
        <p:spPr>
          <a:xfrm>
            <a:off x="6046927" y="3877056"/>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5" name="Text 13"/>
          <p:cNvSpPr txBox="1"/>
          <p:nvPr/>
        </p:nvSpPr>
        <p:spPr>
          <a:xfrm>
            <a:off x="502920" y="3895344"/>
            <a:ext cx="5342839" cy="310896"/>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לבחון את תפקיד המערכת</a:t>
            </a:r>
            <a:endParaRPr lang="en-US" sz="1700" dirty="0"/>
          </a:p>
        </p:txBody>
      </p:sp>
      <p:sp>
        <p:nvSpPr>
          <p:cNvPr id="16" name="Text 14"/>
          <p:cNvSpPr txBox="1"/>
          <p:nvPr/>
        </p:nvSpPr>
        <p:spPr>
          <a:xfrm>
            <a:off x="502920" y="4224528"/>
            <a:ext cx="5342839" cy="512064"/>
          </a:xfrm>
          <a:prstGeom prst="rect">
            <a:avLst/>
          </a:prstGeom>
          <a:noFill/>
          <a:ln/>
        </p:spPr>
        <p:txBody>
          <a:bodyPr wrap="square" lIns="0" tIns="0" rIns="0" bIns="0" rtlCol="0" anchor="ctr"/>
          <a:lstStyle/>
          <a:p>
            <a:pPr rtl="1" algn="r" indent="0" marL="0">
              <a:lnSpc>
                <a:spcPts val="2000"/>
              </a:lnSpc>
              <a:buNone/>
            </a:pPr>
            <a:r>
              <a:rPr lang="en-US" sz="1400" dirty="0">
                <a:solidFill>
                  <a:srgbClr val="56686D"/>
                </a:solidFill>
                <a:latin typeface="Arial" pitchFamily="34" charset="0"/>
                <a:ea typeface="Arial" pitchFamily="34" charset="-122"/>
                <a:cs typeface="Arial" pitchFamily="34" charset="-120"/>
              </a:rPr>
              <a:t>כיצד נתפס תפקידם של רופא המשפחה וקופת החולים במניעה.</a:t>
            </a:r>
            <a:endParaRPr lang="en-US" sz="1400" dirty="0"/>
          </a:p>
        </p:txBody>
      </p:sp>
      <p:sp>
        <p:nvSpPr>
          <p:cNvPr id="17" name="Text 15"/>
          <p:cNvSpPr txBox="1"/>
          <p:nvPr/>
        </p:nvSpPr>
        <p:spPr>
          <a:xfrm>
            <a:off x="6046927" y="4828032"/>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18" name="Text 16"/>
          <p:cNvSpPr txBox="1"/>
          <p:nvPr/>
        </p:nvSpPr>
        <p:spPr>
          <a:xfrm>
            <a:off x="502920" y="4846320"/>
            <a:ext cx="5342839" cy="310896"/>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לגזור המלצות</a:t>
            </a:r>
            <a:endParaRPr lang="en-US" sz="1700" dirty="0"/>
          </a:p>
        </p:txBody>
      </p:sp>
      <p:sp>
        <p:nvSpPr>
          <p:cNvPr id="19" name="Text 17"/>
          <p:cNvSpPr txBox="1"/>
          <p:nvPr/>
        </p:nvSpPr>
        <p:spPr>
          <a:xfrm>
            <a:off x="502920" y="5175504"/>
            <a:ext cx="5342839" cy="512064"/>
          </a:xfrm>
          <a:prstGeom prst="rect">
            <a:avLst/>
          </a:prstGeom>
          <a:noFill/>
          <a:ln/>
        </p:spPr>
        <p:txBody>
          <a:bodyPr wrap="square" lIns="0" tIns="0" rIns="0" bIns="0" rtlCol="0" anchor="ctr"/>
          <a:lstStyle/>
          <a:p>
            <a:pPr rtl="1" algn="r" indent="0" marL="0">
              <a:lnSpc>
                <a:spcPts val="2000"/>
              </a:lnSpc>
              <a:buNone/>
            </a:pPr>
            <a:r>
              <a:rPr lang="en-US" sz="1400" dirty="0">
                <a:solidFill>
                  <a:srgbClr val="56686D"/>
                </a:solidFill>
                <a:latin typeface="Arial" pitchFamily="34" charset="0"/>
                <a:ea typeface="Arial" pitchFamily="34" charset="-122"/>
                <a:cs typeface="Arial" pitchFamily="34" charset="-120"/>
              </a:rPr>
              <a:t>לגבש המלצות יישומיות לקופות החולים ולרשויות המקומיות.</a:t>
            </a:r>
            <a:endParaRPr lang="en-US" sz="14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סקירת ספרות</a:t>
            </a:r>
            <a:endParaRPr lang="en-US" sz="3200" dirty="0"/>
          </a:p>
        </p:txBody>
      </p:sp>
      <p:sp>
        <p:nvSpPr>
          <p:cNvPr id="3" name="Text 1"/>
          <p:cNvSpPr txBox="1"/>
          <p:nvPr/>
        </p:nvSpPr>
        <p:spPr>
          <a:xfrm>
            <a:off x="1417320" y="932688"/>
            <a:ext cx="10271455" cy="329184"/>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המחלות הכרוניות: היקף, רב-תחלואה ונטל כלכלי</a:t>
            </a:r>
            <a:endParaRPr lang="en-US" sz="1500" dirty="0"/>
          </a:p>
        </p:txBody>
      </p:sp>
      <p:sp>
        <p:nvSpPr>
          <p:cNvPr id="4" name="Text 2"/>
          <p:cNvSpPr txBox="1"/>
          <p:nvPr/>
        </p:nvSpPr>
        <p:spPr>
          <a:xfrm>
            <a:off x="11121847" y="1572768"/>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5" name="Text 3"/>
          <p:cNvSpPr txBox="1"/>
          <p:nvPr/>
        </p:nvSpPr>
        <p:spPr>
          <a:xfrm>
            <a:off x="502920" y="1591056"/>
            <a:ext cx="10417759" cy="310896"/>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היקף התופעה</a:t>
            </a:r>
            <a:endParaRPr lang="en-US" sz="1700" dirty="0"/>
          </a:p>
        </p:txBody>
      </p:sp>
      <p:sp>
        <p:nvSpPr>
          <p:cNvPr id="6" name="Text 4"/>
          <p:cNvSpPr txBox="1"/>
          <p:nvPr/>
        </p:nvSpPr>
        <p:spPr>
          <a:xfrm>
            <a:off x="502920" y="1920240"/>
            <a:ext cx="10417759" cy="932688"/>
          </a:xfrm>
          <a:prstGeom prst="rect">
            <a:avLst/>
          </a:prstGeom>
          <a:noFill/>
          <a:ln/>
        </p:spPr>
        <p:txBody>
          <a:bodyPr wrap="square" lIns="0" tIns="0" rIns="0" bIns="0" rtlCol="0" anchor="ctr"/>
          <a:lstStyle/>
          <a:p>
            <a:pPr rtl="1" algn="r" indent="0" marL="0">
              <a:lnSpc>
                <a:spcPts val="2000"/>
              </a:lnSpc>
              <a:buNone/>
            </a:pPr>
            <a:r>
              <a:rPr lang="en-US" sz="1400" dirty="0">
                <a:solidFill>
                  <a:srgbClr val="56686D"/>
                </a:solidFill>
                <a:latin typeface="Arial" pitchFamily="34" charset="0"/>
                <a:ea typeface="Arial" pitchFamily="34" charset="-122"/>
                <a:cs typeface="Arial" pitchFamily="34" charset="-120"/>
              </a:rPr>
              <a:t>כ-85% ממקרי המוות בישראל מיוחסים למחלות לא מדבקות (Levi et al., 2025). ברישום הלאומי נכללו בשנת 2023 כ-696 אלף חולי סוכרת, וכשליש מבני 65 ומעלה חולים במחלה (המרכז הלאומי לבקרת מחלות, 2025).</a:t>
            </a:r>
            <a:endParaRPr lang="en-US" sz="1400" dirty="0"/>
          </a:p>
        </p:txBody>
      </p:sp>
      <p:sp>
        <p:nvSpPr>
          <p:cNvPr id="7" name="Text 5"/>
          <p:cNvSpPr txBox="1"/>
          <p:nvPr/>
        </p:nvSpPr>
        <p:spPr>
          <a:xfrm>
            <a:off x="11121847" y="3054096"/>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8" name="Text 6"/>
          <p:cNvSpPr txBox="1"/>
          <p:nvPr/>
        </p:nvSpPr>
        <p:spPr>
          <a:xfrm>
            <a:off x="502920" y="3072384"/>
            <a:ext cx="10417759" cy="310896"/>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רב-תחלואה</a:t>
            </a:r>
            <a:endParaRPr lang="en-US" sz="1700" dirty="0"/>
          </a:p>
        </p:txBody>
      </p:sp>
      <p:sp>
        <p:nvSpPr>
          <p:cNvPr id="9" name="Text 7"/>
          <p:cNvSpPr txBox="1"/>
          <p:nvPr/>
        </p:nvSpPr>
        <p:spPr>
          <a:xfrm>
            <a:off x="502920" y="3401568"/>
            <a:ext cx="10417759" cy="932688"/>
          </a:xfrm>
          <a:prstGeom prst="rect">
            <a:avLst/>
          </a:prstGeom>
          <a:noFill/>
          <a:ln/>
        </p:spPr>
        <p:txBody>
          <a:bodyPr wrap="square" lIns="0" tIns="0" rIns="0" bIns="0" rtlCol="0" anchor="ctr"/>
          <a:lstStyle/>
          <a:p>
            <a:pPr rtl="1" algn="r" indent="0" marL="0">
              <a:lnSpc>
                <a:spcPts val="2000"/>
              </a:lnSpc>
              <a:buNone/>
            </a:pPr>
            <a:r>
              <a:rPr lang="en-US" sz="1400" dirty="0">
                <a:solidFill>
                  <a:srgbClr val="56686D"/>
                </a:solidFill>
                <a:latin typeface="Arial" pitchFamily="34" charset="0"/>
                <a:ea typeface="Arial" pitchFamily="34" charset="-122"/>
                <a:cs typeface="Arial" pitchFamily="34" charset="-120"/>
              </a:rPr>
              <a:t>מחלות כרוניות נוטות להופיע יחד באותו אדם. מחקר עוקבה בקרב יותר ממאה ושלושים אלף נבדקים מצא כי גורמי אורח חיים מסבירים חלק ניכר מהופעתן המשולבת (van der Velde et al., 2024).</a:t>
            </a:r>
            <a:endParaRPr lang="en-US" sz="1400" dirty="0"/>
          </a:p>
        </p:txBody>
      </p:sp>
      <p:sp>
        <p:nvSpPr>
          <p:cNvPr id="10" name="Text 8"/>
          <p:cNvSpPr txBox="1"/>
          <p:nvPr/>
        </p:nvSpPr>
        <p:spPr>
          <a:xfrm>
            <a:off x="11121847" y="4535424"/>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1" name="Text 9"/>
          <p:cNvSpPr txBox="1"/>
          <p:nvPr/>
        </p:nvSpPr>
        <p:spPr>
          <a:xfrm>
            <a:off x="502920" y="4553712"/>
            <a:ext cx="10417759" cy="310896"/>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הנטל הכלכלי</a:t>
            </a:r>
            <a:endParaRPr lang="en-US" sz="1700" dirty="0"/>
          </a:p>
        </p:txBody>
      </p:sp>
      <p:sp>
        <p:nvSpPr>
          <p:cNvPr id="12" name="Text 10"/>
          <p:cNvSpPr txBox="1"/>
          <p:nvPr/>
        </p:nvSpPr>
        <p:spPr>
          <a:xfrm>
            <a:off x="502920" y="4882896"/>
            <a:ext cx="10417759" cy="932688"/>
          </a:xfrm>
          <a:prstGeom prst="rect">
            <a:avLst/>
          </a:prstGeom>
          <a:noFill/>
          <a:ln/>
        </p:spPr>
        <p:txBody>
          <a:bodyPr wrap="square" lIns="0" tIns="0" rIns="0" bIns="0" rtlCol="0" anchor="ctr"/>
          <a:lstStyle/>
          <a:p>
            <a:pPr rtl="1" algn="r" indent="0" marL="0">
              <a:lnSpc>
                <a:spcPts val="2000"/>
              </a:lnSpc>
              <a:buNone/>
            </a:pPr>
            <a:r>
              <a:rPr lang="en-US" sz="1400" dirty="0">
                <a:solidFill>
                  <a:srgbClr val="56686D"/>
                </a:solidFill>
                <a:latin typeface="Arial" pitchFamily="34" charset="0"/>
                <a:ea typeface="Arial" pitchFamily="34" charset="-122"/>
                <a:cs typeface="Arial" pitchFamily="34" charset="-120"/>
              </a:rPr>
              <a:t>מחקר ישראלי על למעלה ממיליון ושלושת רבעי מיליון מבוגרים מצא כי עלייה במדד מסת הגוף קשורה הן לעלייה בשכיחות המחלות והן לעלייה בעלות הטיפול הרפואי (Reges et al., 2020).</a:t>
            </a:r>
            <a:endParaRPr lang="en-US" sz="1400" dirty="0"/>
          </a:p>
        </p:txBody>
      </p:sp>
      <p:sp>
        <p:nvSpPr>
          <p:cNvPr id="13" name="Shape 11"/>
          <p:cNvSpPr/>
          <p:nvPr/>
        </p:nvSpPr>
        <p:spPr>
          <a:xfrm>
            <a:off x="1234440" y="5998464"/>
            <a:ext cx="10454335" cy="548640"/>
          </a:xfrm>
          <a:prstGeom prst="roundRect">
            <a:avLst>
              <a:gd name="adj" fmla="val 15000"/>
            </a:avLst>
          </a:prstGeom>
          <a:solidFill>
            <a:srgbClr val="BFE3DD"/>
          </a:solidFill>
          <a:ln w="12700">
            <a:solidFill>
              <a:srgbClr val="BFE3DD"/>
            </a:solidFill>
            <a:prstDash val="solid"/>
          </a:ln>
        </p:spPr>
      </p:sp>
      <p:sp>
        <p:nvSpPr>
          <p:cNvPr id="14" name="Text 12"/>
          <p:cNvSpPr txBox="1"/>
          <p:nvPr/>
        </p:nvSpPr>
        <p:spPr>
          <a:xfrm>
            <a:off x="1508760" y="5998464"/>
            <a:ext cx="9905695" cy="548640"/>
          </a:xfrm>
          <a:prstGeom prst="rect">
            <a:avLst/>
          </a:prstGeom>
          <a:noFill/>
          <a:ln/>
        </p:spPr>
        <p:txBody>
          <a:bodyPr wrap="square" lIns="0" tIns="0" rIns="0" bIns="0" rtlCol="0" anchor="ctr"/>
          <a:lstStyle/>
          <a:p>
            <a:pPr rtl="1" algn="r" indent="0" marL="0">
              <a:buNone/>
            </a:pPr>
            <a:r>
              <a:rPr lang="en-US" sz="1400" b="1" dirty="0">
                <a:solidFill>
                  <a:srgbClr val="0C3B44"/>
                </a:solidFill>
                <a:latin typeface="Arial" pitchFamily="34" charset="0"/>
                <a:ea typeface="Arial" pitchFamily="34" charset="-122"/>
                <a:cs typeface="Arial" pitchFamily="34" charset="-120"/>
              </a:rPr>
              <a:t>המשמעות: חלק ניכר מנטל התחלואה ניתן למניעה, ולכן הרפואה המונעת היא יעד מערכתי ולא עניין אישי בלבד.</a:t>
            </a:r>
            <a:endParaRPr lang="en-US" sz="14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סקירת ספרות</a:t>
            </a:r>
            <a:endParaRPr lang="en-US" sz="3200" dirty="0"/>
          </a:p>
        </p:txBody>
      </p:sp>
      <p:sp>
        <p:nvSpPr>
          <p:cNvPr id="3" name="Text 1"/>
          <p:cNvSpPr txBox="1"/>
          <p:nvPr/>
        </p:nvSpPr>
        <p:spPr>
          <a:xfrm>
            <a:off x="1417320" y="932688"/>
            <a:ext cx="10271455" cy="329184"/>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תזונה ופעילות גופנית כגורמים מגנים</a:t>
            </a:r>
            <a:endParaRPr lang="en-US" sz="1500" dirty="0"/>
          </a:p>
        </p:txBody>
      </p:sp>
      <p:sp>
        <p:nvSpPr>
          <p:cNvPr id="4" name="Shape 2"/>
          <p:cNvSpPr/>
          <p:nvPr/>
        </p:nvSpPr>
        <p:spPr>
          <a:xfrm>
            <a:off x="6278728" y="1572768"/>
            <a:ext cx="5410048" cy="3310128"/>
          </a:xfrm>
          <a:prstGeom prst="roundRect">
            <a:avLst>
              <a:gd name="adj" fmla="val 2486"/>
            </a:avLst>
          </a:prstGeom>
          <a:solidFill>
            <a:srgbClr val="F1F7F8"/>
          </a:solidFill>
          <a:ln w="12700">
            <a:solidFill>
              <a:srgbClr val="F1F7F8"/>
            </a:solidFill>
            <a:prstDash val="solid"/>
          </a:ln>
        </p:spPr>
      </p:sp>
      <p:sp>
        <p:nvSpPr>
          <p:cNvPr id="5" name="Text 3"/>
          <p:cNvSpPr txBox="1"/>
          <p:nvPr/>
        </p:nvSpPr>
        <p:spPr>
          <a:xfrm>
            <a:off x="6553048" y="1783080"/>
            <a:ext cx="4861408" cy="402336"/>
          </a:xfrm>
          <a:prstGeom prst="rect">
            <a:avLst/>
          </a:prstGeom>
          <a:noFill/>
          <a:ln/>
        </p:spPr>
        <p:txBody>
          <a:bodyPr wrap="square" lIns="0" tIns="0" rIns="0" bIns="0" rtlCol="0" anchor="ctr"/>
          <a:lstStyle/>
          <a:p>
            <a:pPr rtl="1" algn="r" indent="0" marL="0">
              <a:buNone/>
            </a:pPr>
            <a:r>
              <a:rPr lang="en-US" sz="2100" b="1" dirty="0">
                <a:solidFill>
                  <a:srgbClr val="0E6E7E"/>
                </a:solidFill>
                <a:latin typeface="Arial" pitchFamily="34" charset="0"/>
                <a:ea typeface="Arial" pitchFamily="34" charset="-122"/>
                <a:cs typeface="Arial" pitchFamily="34" charset="-120"/>
              </a:rPr>
              <a:t>תזונה מאוזנת</a:t>
            </a:r>
            <a:endParaRPr lang="en-US" sz="2100" dirty="0"/>
          </a:p>
        </p:txBody>
      </p:sp>
      <p:sp>
        <p:nvSpPr>
          <p:cNvPr id="6" name="Text 4"/>
          <p:cNvSpPr txBox="1"/>
          <p:nvPr/>
        </p:nvSpPr>
        <p:spPr>
          <a:xfrm>
            <a:off x="6553048" y="2331720"/>
            <a:ext cx="4861408" cy="31089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דיאטה ים-תיכונית</a:t>
            </a:r>
            <a:endParaRPr lang="en-US" sz="1500" dirty="0"/>
          </a:p>
        </p:txBody>
      </p:sp>
      <p:sp>
        <p:nvSpPr>
          <p:cNvPr id="7" name="Text 5"/>
          <p:cNvSpPr txBox="1"/>
          <p:nvPr/>
        </p:nvSpPr>
        <p:spPr>
          <a:xfrm>
            <a:off x="6553048" y="2670048"/>
            <a:ext cx="4861408" cy="822960"/>
          </a:xfrm>
          <a:prstGeom prst="rect">
            <a:avLst/>
          </a:prstGeom>
          <a:noFill/>
          <a:ln/>
        </p:spPr>
        <p:txBody>
          <a:bodyPr wrap="square" lIns="0" tIns="0" rIns="0" bIns="0" rtlCol="0" anchor="ctr"/>
          <a:lstStyle/>
          <a:p>
            <a:pPr rtl="1" algn="r" indent="0" marL="0">
              <a:lnSpc>
                <a:spcPts val="1900"/>
              </a:lnSpc>
              <a:buNone/>
            </a:pPr>
            <a:r>
              <a:rPr lang="en-US" sz="1300" dirty="0">
                <a:solidFill>
                  <a:srgbClr val="56686D"/>
                </a:solidFill>
                <a:latin typeface="Arial" pitchFamily="34" charset="0"/>
                <a:ea typeface="Arial" pitchFamily="34" charset="-122"/>
                <a:cs typeface="Arial" pitchFamily="34" charset="-120"/>
              </a:rPr>
              <a:t>סקירת-על של שמונה עשרה מטא-אנליזות מצאה קשר להפחתת התמותה ממחלות לב וכלי דם (Hareer et al., 2024).</a:t>
            </a:r>
            <a:endParaRPr lang="en-US" sz="1300" dirty="0"/>
          </a:p>
        </p:txBody>
      </p:sp>
      <p:sp>
        <p:nvSpPr>
          <p:cNvPr id="8" name="Text 6"/>
          <p:cNvSpPr txBox="1"/>
          <p:nvPr/>
        </p:nvSpPr>
        <p:spPr>
          <a:xfrm>
            <a:off x="6553048" y="3557016"/>
            <a:ext cx="4861408" cy="31089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דיאטת DASH</a:t>
            </a:r>
            <a:endParaRPr lang="en-US" sz="1500" dirty="0"/>
          </a:p>
        </p:txBody>
      </p:sp>
      <p:sp>
        <p:nvSpPr>
          <p:cNvPr id="9" name="Text 7"/>
          <p:cNvSpPr txBox="1"/>
          <p:nvPr/>
        </p:nvSpPr>
        <p:spPr>
          <a:xfrm>
            <a:off x="6553048" y="3895344"/>
            <a:ext cx="4861408" cy="822960"/>
          </a:xfrm>
          <a:prstGeom prst="rect">
            <a:avLst/>
          </a:prstGeom>
          <a:noFill/>
          <a:ln/>
        </p:spPr>
        <p:txBody>
          <a:bodyPr wrap="square" lIns="0" tIns="0" rIns="0" bIns="0" rtlCol="0" anchor="ctr"/>
          <a:lstStyle/>
          <a:p>
            <a:pPr rtl="1" algn="r" indent="0" marL="0">
              <a:lnSpc>
                <a:spcPts val="1900"/>
              </a:lnSpc>
              <a:buNone/>
            </a:pPr>
            <a:r>
              <a:rPr lang="en-US" sz="1300" dirty="0">
                <a:solidFill>
                  <a:srgbClr val="56686D"/>
                </a:solidFill>
                <a:latin typeface="Arial" pitchFamily="34" charset="0"/>
                <a:ea typeface="Arial" pitchFamily="34" charset="-122"/>
                <a:cs typeface="Arial" pitchFamily="34" charset="-120"/>
              </a:rPr>
              <a:t>סקירה של שלושים ניסויים מבוקרים מצאה ירידה מובהקת בלחץ הדם הסיסטולי והדיאסטולי (Filippou et al., 2020).</a:t>
            </a:r>
            <a:endParaRPr lang="en-US" sz="1300" dirty="0"/>
          </a:p>
        </p:txBody>
      </p:sp>
      <p:sp>
        <p:nvSpPr>
          <p:cNvPr id="10" name="Shape 8"/>
          <p:cNvSpPr/>
          <p:nvPr/>
        </p:nvSpPr>
        <p:spPr>
          <a:xfrm>
            <a:off x="502920" y="1572768"/>
            <a:ext cx="5410048" cy="3310128"/>
          </a:xfrm>
          <a:prstGeom prst="roundRect">
            <a:avLst>
              <a:gd name="adj" fmla="val 2486"/>
            </a:avLst>
          </a:prstGeom>
          <a:solidFill>
            <a:srgbClr val="F1F7F8"/>
          </a:solidFill>
          <a:ln w="12700">
            <a:solidFill>
              <a:srgbClr val="F1F7F8"/>
            </a:solidFill>
            <a:prstDash val="solid"/>
          </a:ln>
        </p:spPr>
      </p:sp>
      <p:sp>
        <p:nvSpPr>
          <p:cNvPr id="11" name="Text 9"/>
          <p:cNvSpPr txBox="1"/>
          <p:nvPr/>
        </p:nvSpPr>
        <p:spPr>
          <a:xfrm>
            <a:off x="777240" y="1783080"/>
            <a:ext cx="4861408" cy="402336"/>
          </a:xfrm>
          <a:prstGeom prst="rect">
            <a:avLst/>
          </a:prstGeom>
          <a:noFill/>
          <a:ln/>
        </p:spPr>
        <p:txBody>
          <a:bodyPr wrap="square" lIns="0" tIns="0" rIns="0" bIns="0" rtlCol="0" anchor="ctr"/>
          <a:lstStyle/>
          <a:p>
            <a:pPr rtl="1" algn="r" indent="0" marL="0">
              <a:buNone/>
            </a:pPr>
            <a:r>
              <a:rPr lang="en-US" sz="2100" b="1" dirty="0">
                <a:solidFill>
                  <a:srgbClr val="1D9E9A"/>
                </a:solidFill>
                <a:latin typeface="Arial" pitchFamily="34" charset="0"/>
                <a:ea typeface="Arial" pitchFamily="34" charset="-122"/>
                <a:cs typeface="Arial" pitchFamily="34" charset="-120"/>
              </a:rPr>
              <a:t>פעילות גופנית</a:t>
            </a:r>
            <a:endParaRPr lang="en-US" sz="2100" dirty="0"/>
          </a:p>
        </p:txBody>
      </p:sp>
      <p:sp>
        <p:nvSpPr>
          <p:cNvPr id="12" name="Text 10"/>
          <p:cNvSpPr txBox="1"/>
          <p:nvPr/>
        </p:nvSpPr>
        <p:spPr>
          <a:xfrm>
            <a:off x="777240" y="2331720"/>
            <a:ext cx="4861408" cy="31089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יחס מינון-תגובה</a:t>
            </a:r>
            <a:endParaRPr lang="en-US" sz="1500" dirty="0"/>
          </a:p>
        </p:txBody>
      </p:sp>
      <p:sp>
        <p:nvSpPr>
          <p:cNvPr id="13" name="Text 11"/>
          <p:cNvSpPr txBox="1"/>
          <p:nvPr/>
        </p:nvSpPr>
        <p:spPr>
          <a:xfrm>
            <a:off x="777240" y="2670048"/>
            <a:ext cx="4861408" cy="822960"/>
          </a:xfrm>
          <a:prstGeom prst="rect">
            <a:avLst/>
          </a:prstGeom>
          <a:noFill/>
          <a:ln/>
        </p:spPr>
        <p:txBody>
          <a:bodyPr wrap="square" lIns="0" tIns="0" rIns="0" bIns="0" rtlCol="0" anchor="ctr"/>
          <a:lstStyle/>
          <a:p>
            <a:pPr rtl="1" algn="r" indent="0" marL="0">
              <a:lnSpc>
                <a:spcPts val="1900"/>
              </a:lnSpc>
              <a:buNone/>
            </a:pPr>
            <a:r>
              <a:rPr lang="en-US" sz="1300" dirty="0">
                <a:solidFill>
                  <a:srgbClr val="56686D"/>
                </a:solidFill>
                <a:latin typeface="Arial" pitchFamily="34" charset="0"/>
                <a:ea typeface="Arial" pitchFamily="34" charset="-122"/>
                <a:cs typeface="Arial" pitchFamily="34" charset="-120"/>
              </a:rPr>
              <a:t>כל עלייה בהיקף הפעילות קשורה בירידה בתמותה בקרב חולים במחלות לא מדבקות (Geidl et al., 2020).</a:t>
            </a:r>
            <a:endParaRPr lang="en-US" sz="1300" dirty="0"/>
          </a:p>
        </p:txBody>
      </p:sp>
      <p:sp>
        <p:nvSpPr>
          <p:cNvPr id="14" name="Text 12"/>
          <p:cNvSpPr txBox="1"/>
          <p:nvPr/>
        </p:nvSpPr>
        <p:spPr>
          <a:xfrm>
            <a:off x="777240" y="3557016"/>
            <a:ext cx="4861408" cy="31089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איזון גליקמי</a:t>
            </a:r>
            <a:endParaRPr lang="en-US" sz="1500" dirty="0"/>
          </a:p>
        </p:txBody>
      </p:sp>
      <p:sp>
        <p:nvSpPr>
          <p:cNvPr id="15" name="Text 13"/>
          <p:cNvSpPr txBox="1"/>
          <p:nvPr/>
        </p:nvSpPr>
        <p:spPr>
          <a:xfrm>
            <a:off x="777240" y="3895344"/>
            <a:ext cx="4861408" cy="822960"/>
          </a:xfrm>
          <a:prstGeom prst="rect">
            <a:avLst/>
          </a:prstGeom>
          <a:noFill/>
          <a:ln/>
        </p:spPr>
        <p:txBody>
          <a:bodyPr wrap="square" lIns="0" tIns="0" rIns="0" bIns="0" rtlCol="0" anchor="ctr"/>
          <a:lstStyle/>
          <a:p>
            <a:pPr rtl="1" algn="r" indent="0" marL="0">
              <a:lnSpc>
                <a:spcPts val="1900"/>
              </a:lnSpc>
              <a:buNone/>
            </a:pPr>
            <a:r>
              <a:rPr lang="en-US" sz="1300" dirty="0">
                <a:solidFill>
                  <a:srgbClr val="56686D"/>
                </a:solidFill>
                <a:latin typeface="Arial" pitchFamily="34" charset="0"/>
                <a:ea typeface="Arial" pitchFamily="34" charset="-122"/>
                <a:cs typeface="Arial" pitchFamily="34" charset="-120"/>
              </a:rPr>
              <a:t>שילוב פעילות אירובית ואימוני התנגדות משפר את האיזון בסוכרת מסוג 2 (Kanaley et al., 2022).</a:t>
            </a:r>
            <a:endParaRPr lang="en-US" sz="1300" dirty="0"/>
          </a:p>
        </p:txBody>
      </p:sp>
      <p:sp>
        <p:nvSpPr>
          <p:cNvPr id="16" name="Shape 14"/>
          <p:cNvSpPr/>
          <p:nvPr/>
        </p:nvSpPr>
        <p:spPr>
          <a:xfrm>
            <a:off x="502920" y="5102352"/>
            <a:ext cx="11185855" cy="1207008"/>
          </a:xfrm>
          <a:prstGeom prst="roundRect">
            <a:avLst>
              <a:gd name="adj" fmla="val 6818"/>
            </a:avLst>
          </a:prstGeom>
          <a:solidFill>
            <a:srgbClr val="BFE3DD"/>
          </a:solidFill>
          <a:ln w="12700">
            <a:solidFill>
              <a:srgbClr val="BFE3DD"/>
            </a:solidFill>
            <a:prstDash val="solid"/>
          </a:ln>
        </p:spPr>
      </p:sp>
      <p:sp>
        <p:nvSpPr>
          <p:cNvPr id="17" name="Text 15"/>
          <p:cNvSpPr txBox="1"/>
          <p:nvPr/>
        </p:nvSpPr>
        <p:spPr>
          <a:xfrm>
            <a:off x="777240" y="5230368"/>
            <a:ext cx="10637215" cy="310896"/>
          </a:xfrm>
          <a:prstGeom prst="rect">
            <a:avLst/>
          </a:prstGeom>
          <a:noFill/>
          <a:ln/>
        </p:spPr>
        <p:txBody>
          <a:bodyPr wrap="square" lIns="0" tIns="0" rIns="0" bIns="0" rtlCol="0" anchor="ctr"/>
          <a:lstStyle/>
          <a:p>
            <a:pPr rtl="1" algn="r" indent="0" marL="0">
              <a:buNone/>
            </a:pPr>
            <a:r>
              <a:rPr lang="en-US" sz="1600" b="1" dirty="0">
                <a:solidFill>
                  <a:srgbClr val="0E6E7E"/>
                </a:solidFill>
                <a:latin typeface="Arial" pitchFamily="34" charset="0"/>
                <a:ea typeface="Arial" pitchFamily="34" charset="-122"/>
                <a:cs typeface="Arial" pitchFamily="34" charset="-120"/>
              </a:rPr>
              <a:t>השפעה מצטברת</a:t>
            </a:r>
            <a:endParaRPr lang="en-US" sz="1600" dirty="0"/>
          </a:p>
        </p:txBody>
      </p:sp>
      <p:sp>
        <p:nvSpPr>
          <p:cNvPr id="18" name="Text 16"/>
          <p:cNvSpPr txBox="1"/>
          <p:nvPr/>
        </p:nvSpPr>
        <p:spPr>
          <a:xfrm>
            <a:off x="777240" y="5559552"/>
            <a:ext cx="10637215" cy="640080"/>
          </a:xfrm>
          <a:prstGeom prst="rect">
            <a:avLst/>
          </a:prstGeom>
          <a:noFill/>
          <a:ln/>
        </p:spPr>
        <p:txBody>
          <a:bodyPr wrap="square" lIns="0" tIns="0" rIns="0" bIns="0" rtlCol="0" anchor="ctr"/>
          <a:lstStyle/>
          <a:p>
            <a:pPr rtl="1" algn="r" indent="0" marL="0">
              <a:lnSpc>
                <a:spcPts val="2100"/>
              </a:lnSpc>
              <a:buNone/>
            </a:pPr>
            <a:r>
              <a:rPr lang="en-US" sz="1400" dirty="0">
                <a:solidFill>
                  <a:srgbClr val="0C3B44"/>
                </a:solidFill>
                <a:latin typeface="Arial" pitchFamily="34" charset="0"/>
                <a:ea typeface="Arial" pitchFamily="34" charset="-122"/>
                <a:cs typeface="Arial" pitchFamily="34" charset="-120"/>
              </a:rPr>
              <a:t>אשכול של הרגלים בריאים נמצא קשור לסיכון מופחת למחלות כרוניות ולתמותה, והשפעתו המגנה נשמרת על פני קבוצות חברתיות-כלכליות שונות (Lai et al., 2024; Zhang et al., 2021).</a:t>
            </a:r>
            <a:endParaRPr lang="en-US" sz="14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מסגרת תיאורטית ומודל המחקר</a:t>
            </a:r>
            <a:endParaRPr lang="en-US" sz="3200" dirty="0"/>
          </a:p>
        </p:txBody>
      </p:sp>
      <p:sp>
        <p:nvSpPr>
          <p:cNvPr id="3" name="Shape 1"/>
          <p:cNvSpPr/>
          <p:nvPr/>
        </p:nvSpPr>
        <p:spPr>
          <a:xfrm>
            <a:off x="8415223" y="1783080"/>
            <a:ext cx="3273552" cy="2148840"/>
          </a:xfrm>
          <a:prstGeom prst="roundRect">
            <a:avLst>
              <a:gd name="adj" fmla="val 4255"/>
            </a:avLst>
          </a:prstGeom>
          <a:solidFill>
            <a:srgbClr val="0E6E7E"/>
          </a:solidFill>
          <a:ln w="12700">
            <a:solidFill>
              <a:srgbClr val="0E6E7E"/>
            </a:solidFill>
            <a:prstDash val="solid"/>
          </a:ln>
        </p:spPr>
      </p:sp>
      <p:sp>
        <p:nvSpPr>
          <p:cNvPr id="4" name="Text 2"/>
          <p:cNvSpPr txBox="1"/>
          <p:nvPr/>
        </p:nvSpPr>
        <p:spPr>
          <a:xfrm>
            <a:off x="8652967" y="2020824"/>
            <a:ext cx="2798064" cy="658368"/>
          </a:xfrm>
          <a:prstGeom prst="rect">
            <a:avLst/>
          </a:prstGeom>
          <a:noFill/>
          <a:ln/>
        </p:spPr>
        <p:txBody>
          <a:bodyPr wrap="square" lIns="0" tIns="0" rIns="0" bIns="0" rtlCol="0" anchor="t"/>
          <a:lstStyle/>
          <a:p>
            <a:pPr rtl="1" algn="r" indent="0" marL="0">
              <a:buNone/>
            </a:pPr>
            <a:r>
              <a:rPr lang="en-US" sz="1800" b="1" dirty="0">
                <a:solidFill>
                  <a:srgbClr val="FFFFFF"/>
                </a:solidFill>
                <a:latin typeface="Arial" pitchFamily="34" charset="0"/>
                <a:ea typeface="Arial" pitchFamily="34" charset="-122"/>
                <a:cs typeface="Arial" pitchFamily="34" charset="-120"/>
              </a:rPr>
              <a:t>ידע מדעי מבוסס</a:t>
            </a:r>
            <a:endParaRPr lang="en-US" sz="1800" dirty="0"/>
          </a:p>
        </p:txBody>
      </p:sp>
      <p:sp>
        <p:nvSpPr>
          <p:cNvPr id="5" name="Text 3"/>
          <p:cNvSpPr txBox="1"/>
          <p:nvPr/>
        </p:nvSpPr>
        <p:spPr>
          <a:xfrm>
            <a:off x="8652967" y="2715768"/>
            <a:ext cx="2798064" cy="1042416"/>
          </a:xfrm>
          <a:prstGeom prst="rect">
            <a:avLst/>
          </a:prstGeom>
          <a:noFill/>
          <a:ln/>
        </p:spPr>
        <p:txBody>
          <a:bodyPr wrap="square" lIns="0" tIns="0" rIns="0" bIns="0" rtlCol="0" anchor="ctr"/>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המלצות ברורות לתזונה מאוזנת ולפעילות גופנית סדירה, הנתמכות בסקירות-על ובמטא-אנליזות.</a:t>
            </a:r>
            <a:endParaRPr lang="en-US" sz="1300" dirty="0"/>
          </a:p>
        </p:txBody>
      </p:sp>
      <p:sp>
        <p:nvSpPr>
          <p:cNvPr id="6" name="Shape 4"/>
          <p:cNvSpPr/>
          <p:nvPr/>
        </p:nvSpPr>
        <p:spPr>
          <a:xfrm>
            <a:off x="7857439" y="2697480"/>
            <a:ext cx="475488" cy="347472"/>
          </a:xfrm>
          <a:prstGeom prst="leftArrow">
            <a:avLst/>
          </a:prstGeom>
          <a:solidFill>
            <a:srgbClr val="1D9E9A"/>
          </a:solidFill>
          <a:ln w="12700">
            <a:solidFill>
              <a:srgbClr val="1D9E9A"/>
            </a:solidFill>
            <a:prstDash val="solid"/>
          </a:ln>
        </p:spPr>
      </p:sp>
      <p:sp>
        <p:nvSpPr>
          <p:cNvPr id="7" name="Shape 5"/>
          <p:cNvSpPr/>
          <p:nvPr/>
        </p:nvSpPr>
        <p:spPr>
          <a:xfrm>
            <a:off x="4501591" y="1783080"/>
            <a:ext cx="3273552" cy="2148840"/>
          </a:xfrm>
          <a:prstGeom prst="roundRect">
            <a:avLst>
              <a:gd name="adj" fmla="val 4255"/>
            </a:avLst>
          </a:prstGeom>
          <a:solidFill>
            <a:srgbClr val="D98C2B"/>
          </a:solidFill>
          <a:ln w="12700">
            <a:solidFill>
              <a:srgbClr val="D98C2B"/>
            </a:solidFill>
            <a:prstDash val="solid"/>
          </a:ln>
        </p:spPr>
      </p:sp>
      <p:sp>
        <p:nvSpPr>
          <p:cNvPr id="8" name="Text 6"/>
          <p:cNvSpPr txBox="1"/>
          <p:nvPr/>
        </p:nvSpPr>
        <p:spPr>
          <a:xfrm>
            <a:off x="4739335" y="2020824"/>
            <a:ext cx="2798064" cy="658368"/>
          </a:xfrm>
          <a:prstGeom prst="rect">
            <a:avLst/>
          </a:prstGeom>
          <a:noFill/>
          <a:ln/>
        </p:spPr>
        <p:txBody>
          <a:bodyPr wrap="square" lIns="0" tIns="0" rIns="0" bIns="0" rtlCol="0" anchor="t"/>
          <a:lstStyle/>
          <a:p>
            <a:pPr rtl="1" algn="r" indent="0" marL="0">
              <a:buNone/>
            </a:pPr>
            <a:r>
              <a:rPr lang="en-US" sz="1800" b="1" dirty="0">
                <a:solidFill>
                  <a:srgbClr val="FFFFFF"/>
                </a:solidFill>
                <a:latin typeface="Arial" pitchFamily="34" charset="0"/>
                <a:ea typeface="Arial" pitchFamily="34" charset="-122"/>
                <a:cs typeface="Arial" pitchFamily="34" charset="-120"/>
              </a:rPr>
              <a:t>המרחב שבין השניים</a:t>
            </a:r>
            <a:endParaRPr lang="en-US" sz="1800" dirty="0"/>
          </a:p>
        </p:txBody>
      </p:sp>
      <p:sp>
        <p:nvSpPr>
          <p:cNvPr id="9" name="Text 7"/>
          <p:cNvSpPr txBox="1"/>
          <p:nvPr/>
        </p:nvSpPr>
        <p:spPr>
          <a:xfrm>
            <a:off x="4739335" y="2715768"/>
            <a:ext cx="2798064" cy="1042416"/>
          </a:xfrm>
          <a:prstGeom prst="rect">
            <a:avLst/>
          </a:prstGeom>
          <a:noFill/>
          <a:ln/>
        </p:spPr>
        <p:txBody>
          <a:bodyPr wrap="square" lIns="0" tIns="0" rIns="0" bIns="0" rtlCol="0" anchor="ctr"/>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חסמים: תשתית, נורמות מגדריות, עומס חיים, היעדר ליווי.</a:t>
            </a:r>
            <a:endParaRPr lang="en-US" sz="1300" dirty="0"/>
          </a:p>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מנופים: משפחה, קבוצה, מסגרת ומעקב.</a:t>
            </a:r>
            <a:endParaRPr lang="en-US" sz="1300" dirty="0"/>
          </a:p>
        </p:txBody>
      </p:sp>
      <p:sp>
        <p:nvSpPr>
          <p:cNvPr id="10" name="Shape 8"/>
          <p:cNvSpPr/>
          <p:nvPr/>
        </p:nvSpPr>
        <p:spPr>
          <a:xfrm>
            <a:off x="3943807" y="2697480"/>
            <a:ext cx="475488" cy="347472"/>
          </a:xfrm>
          <a:prstGeom prst="leftArrow">
            <a:avLst/>
          </a:prstGeom>
          <a:solidFill>
            <a:srgbClr val="1D9E9A"/>
          </a:solidFill>
          <a:ln w="12700">
            <a:solidFill>
              <a:srgbClr val="1D9E9A"/>
            </a:solidFill>
            <a:prstDash val="solid"/>
          </a:ln>
        </p:spPr>
      </p:sp>
      <p:sp>
        <p:nvSpPr>
          <p:cNvPr id="11" name="Shape 9"/>
          <p:cNvSpPr/>
          <p:nvPr/>
        </p:nvSpPr>
        <p:spPr>
          <a:xfrm>
            <a:off x="587959" y="1783080"/>
            <a:ext cx="3273552" cy="2148840"/>
          </a:xfrm>
          <a:prstGeom prst="roundRect">
            <a:avLst>
              <a:gd name="adj" fmla="val 4255"/>
            </a:avLst>
          </a:prstGeom>
          <a:solidFill>
            <a:srgbClr val="0C3B44"/>
          </a:solidFill>
          <a:ln w="12700">
            <a:solidFill>
              <a:srgbClr val="0C3B44"/>
            </a:solidFill>
            <a:prstDash val="solid"/>
          </a:ln>
        </p:spPr>
      </p:sp>
      <p:sp>
        <p:nvSpPr>
          <p:cNvPr id="12" name="Text 10"/>
          <p:cNvSpPr txBox="1"/>
          <p:nvPr/>
        </p:nvSpPr>
        <p:spPr>
          <a:xfrm>
            <a:off x="825703" y="2020824"/>
            <a:ext cx="2798064" cy="658368"/>
          </a:xfrm>
          <a:prstGeom prst="rect">
            <a:avLst/>
          </a:prstGeom>
          <a:noFill/>
          <a:ln/>
        </p:spPr>
        <p:txBody>
          <a:bodyPr wrap="square" lIns="0" tIns="0" rIns="0" bIns="0" rtlCol="0" anchor="t"/>
          <a:lstStyle/>
          <a:p>
            <a:pPr rtl="1" algn="r" indent="0" marL="0">
              <a:buNone/>
            </a:pPr>
            <a:r>
              <a:rPr lang="en-US" sz="1800" b="1" dirty="0">
                <a:solidFill>
                  <a:srgbClr val="FFFFFF"/>
                </a:solidFill>
                <a:latin typeface="Arial" pitchFamily="34" charset="0"/>
                <a:ea typeface="Arial" pitchFamily="34" charset="-122"/>
                <a:cs typeface="Arial" pitchFamily="34" charset="-120"/>
              </a:rPr>
              <a:t>הסיכון לתחלואה כרונית</a:t>
            </a:r>
            <a:endParaRPr lang="en-US" sz="1800" dirty="0"/>
          </a:p>
        </p:txBody>
      </p:sp>
      <p:sp>
        <p:nvSpPr>
          <p:cNvPr id="13" name="Text 11"/>
          <p:cNvSpPr txBox="1"/>
          <p:nvPr/>
        </p:nvSpPr>
        <p:spPr>
          <a:xfrm>
            <a:off x="825703" y="2715768"/>
            <a:ext cx="2798064" cy="1042416"/>
          </a:xfrm>
          <a:prstGeom prst="rect">
            <a:avLst/>
          </a:prstGeom>
          <a:noFill/>
          <a:ln/>
        </p:spPr>
        <p:txBody>
          <a:bodyPr wrap="square" lIns="0" tIns="0" rIns="0" bIns="0" rtlCol="0" anchor="ctr"/>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סוכרת מסוג 2, יתר לחץ דם, מחלות לב וכלי דם והשמנה.</a:t>
            </a:r>
            <a:endParaRPr lang="en-US" sz="1300" dirty="0"/>
          </a:p>
        </p:txBody>
      </p:sp>
      <p:sp>
        <p:nvSpPr>
          <p:cNvPr id="14" name="Shape 12"/>
          <p:cNvSpPr/>
          <p:nvPr/>
        </p:nvSpPr>
        <p:spPr>
          <a:xfrm>
            <a:off x="502920" y="4315968"/>
            <a:ext cx="11185855" cy="1481328"/>
          </a:xfrm>
          <a:prstGeom prst="roundRect">
            <a:avLst>
              <a:gd name="adj" fmla="val 5556"/>
            </a:avLst>
          </a:prstGeom>
          <a:solidFill>
            <a:srgbClr val="F1F7F8"/>
          </a:solidFill>
          <a:ln w="12700">
            <a:solidFill>
              <a:srgbClr val="F1F7F8"/>
            </a:solidFill>
            <a:prstDash val="solid"/>
          </a:ln>
        </p:spPr>
      </p:sp>
      <p:sp>
        <p:nvSpPr>
          <p:cNvPr id="15" name="Text 13"/>
          <p:cNvSpPr txBox="1"/>
          <p:nvPr/>
        </p:nvSpPr>
        <p:spPr>
          <a:xfrm>
            <a:off x="795528" y="4480560"/>
            <a:ext cx="10600639" cy="329184"/>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החוליה הנחקרת</a:t>
            </a:r>
            <a:endParaRPr lang="en-US" sz="1700" dirty="0"/>
          </a:p>
        </p:txBody>
      </p:sp>
      <p:sp>
        <p:nvSpPr>
          <p:cNvPr id="16" name="Text 14"/>
          <p:cNvSpPr txBox="1"/>
          <p:nvPr/>
        </p:nvSpPr>
        <p:spPr>
          <a:xfrm>
            <a:off x="795528" y="4846320"/>
            <a:ext cx="10600639" cy="822960"/>
          </a:xfrm>
          <a:prstGeom prst="rect">
            <a:avLst/>
          </a:prstGeom>
          <a:noFill/>
          <a:ln/>
        </p:spPr>
        <p:txBody>
          <a:bodyPr wrap="square" lIns="0" tIns="0" rIns="0" bIns="0" rtlCol="0" anchor="ctr"/>
          <a:lstStyle/>
          <a:p>
            <a:pPr rtl="1" algn="r" indent="0" marL="0">
              <a:lnSpc>
                <a:spcPts val="2300"/>
              </a:lnSpc>
              <a:buNone/>
            </a:pPr>
            <a:r>
              <a:rPr lang="en-US" sz="1450" dirty="0">
                <a:solidFill>
                  <a:srgbClr val="0C3B44"/>
                </a:solidFill>
                <a:latin typeface="Arial" pitchFamily="34" charset="0"/>
                <a:ea typeface="Arial" pitchFamily="34" charset="-122"/>
                <a:cs typeface="Arial" pitchFamily="34" charset="-120"/>
              </a:rPr>
              <a:t>הספרות הכמותית ביססה את הקשר בין הקצה האחד לקצה האחר. המחקר הנוכחי מתמקד במרחב שביניהם, ובוחן מה מתרחש בפועל בין הידע לבין ההתנהגות בחיי היומיום של מבוגרים בנגב, ומהם התנאים שמאפשרים או מונעים את התרגום הזה.</a:t>
            </a:r>
            <a:endParaRPr lang="en-US" sz="14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מתודולוגיה</a:t>
            </a:r>
            <a:endParaRPr lang="en-US" sz="3200" dirty="0"/>
          </a:p>
        </p:txBody>
      </p:sp>
      <p:sp>
        <p:nvSpPr>
          <p:cNvPr id="3" name="Shape 1"/>
          <p:cNvSpPr/>
          <p:nvPr/>
        </p:nvSpPr>
        <p:spPr>
          <a:xfrm>
            <a:off x="6278728" y="1517904"/>
            <a:ext cx="5410048" cy="2212848"/>
          </a:xfrm>
          <a:prstGeom prst="roundRect">
            <a:avLst>
              <a:gd name="adj" fmla="val 3719"/>
            </a:avLst>
          </a:prstGeom>
          <a:solidFill>
            <a:srgbClr val="F1F7F8"/>
          </a:solidFill>
          <a:ln w="12700">
            <a:solidFill>
              <a:srgbClr val="F1F7F8"/>
            </a:solidFill>
            <a:prstDash val="solid"/>
          </a:ln>
        </p:spPr>
      </p:sp>
      <p:sp>
        <p:nvSpPr>
          <p:cNvPr id="4" name="Text 2"/>
          <p:cNvSpPr txBox="1"/>
          <p:nvPr/>
        </p:nvSpPr>
        <p:spPr>
          <a:xfrm>
            <a:off x="10884103" y="1755648"/>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5" name="Text 3"/>
          <p:cNvSpPr txBox="1"/>
          <p:nvPr/>
        </p:nvSpPr>
        <p:spPr>
          <a:xfrm>
            <a:off x="6553048" y="1792224"/>
            <a:ext cx="4239616" cy="457200"/>
          </a:xfrm>
          <a:prstGeom prst="rect">
            <a:avLst/>
          </a:prstGeom>
          <a:noFill/>
          <a:ln/>
        </p:spPr>
        <p:txBody>
          <a:bodyPr wrap="square" lIns="0" tIns="0" rIns="0" bIns="0" rtlCol="0" anchor="ctr"/>
          <a:lstStyle/>
          <a:p>
            <a:pPr rtl="1" algn="r" indent="0" marL="0">
              <a:buNone/>
            </a:pPr>
            <a:r>
              <a:rPr lang="en-US" sz="1900" b="1" dirty="0">
                <a:solidFill>
                  <a:srgbClr val="0E6E7E"/>
                </a:solidFill>
                <a:latin typeface="Arial" pitchFamily="34" charset="0"/>
                <a:ea typeface="Arial" pitchFamily="34" charset="-122"/>
                <a:cs typeface="Arial" pitchFamily="34" charset="-120"/>
              </a:rPr>
              <a:t>סוג המחקר</a:t>
            </a:r>
            <a:endParaRPr lang="en-US" sz="1900" dirty="0"/>
          </a:p>
        </p:txBody>
      </p:sp>
      <p:sp>
        <p:nvSpPr>
          <p:cNvPr id="6" name="Text 4"/>
          <p:cNvSpPr txBox="1"/>
          <p:nvPr/>
        </p:nvSpPr>
        <p:spPr>
          <a:xfrm>
            <a:off x="6553048" y="2414016"/>
            <a:ext cx="4861408" cy="1078992"/>
          </a:xfrm>
          <a:prstGeom prst="rect">
            <a:avLst/>
          </a:prstGeom>
          <a:noFill/>
          <a:ln/>
        </p:spPr>
        <p:txBody>
          <a:bodyPr wrap="square" lIns="0" tIns="0" rIns="0" bIns="0" rtlCol="0" anchor="ctr"/>
          <a:lstStyle/>
          <a:p>
            <a:pPr rtl="1" algn="r" indent="0" marL="0">
              <a:lnSpc>
                <a:spcPts val="2100"/>
              </a:lnSpc>
              <a:buNone/>
            </a:pPr>
            <a:r>
              <a:rPr lang="en-US" sz="1400" dirty="0">
                <a:solidFill>
                  <a:srgbClr val="56686D"/>
                </a:solidFill>
                <a:latin typeface="Arial" pitchFamily="34" charset="0"/>
                <a:ea typeface="Arial" pitchFamily="34" charset="-122"/>
                <a:cs typeface="Arial" pitchFamily="34" charset="-120"/>
              </a:rPr>
              <a:t>מחקר איכותני בגישה פנומנולוגית, המתמקדת בחקר משמעותה של חוויה כפי שהיא נתפסת על ידי החווים אותה (צבר בן-יהושע, 2016).</a:t>
            </a:r>
            <a:endParaRPr lang="en-US" sz="1400" dirty="0"/>
          </a:p>
        </p:txBody>
      </p:sp>
      <p:sp>
        <p:nvSpPr>
          <p:cNvPr id="7" name="Shape 5"/>
          <p:cNvSpPr/>
          <p:nvPr/>
        </p:nvSpPr>
        <p:spPr>
          <a:xfrm>
            <a:off x="502920" y="1517904"/>
            <a:ext cx="5410048" cy="2212848"/>
          </a:xfrm>
          <a:prstGeom prst="roundRect">
            <a:avLst>
              <a:gd name="adj" fmla="val 3719"/>
            </a:avLst>
          </a:prstGeom>
          <a:solidFill>
            <a:srgbClr val="F1F7F8"/>
          </a:solidFill>
          <a:ln w="12700">
            <a:solidFill>
              <a:srgbClr val="F1F7F8"/>
            </a:solidFill>
            <a:prstDash val="solid"/>
          </a:ln>
        </p:spPr>
      </p:sp>
      <p:sp>
        <p:nvSpPr>
          <p:cNvPr id="8" name="Text 6"/>
          <p:cNvSpPr txBox="1"/>
          <p:nvPr/>
        </p:nvSpPr>
        <p:spPr>
          <a:xfrm>
            <a:off x="5108296" y="1755648"/>
            <a:ext cx="566928" cy="566928"/>
          </a:xfrm>
          <a:prstGeom prst="ellipse">
            <a:avLst/>
          </a:prstGeom>
          <a:solidFill>
            <a:srgbClr val="1D9E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9" name="Text 7"/>
          <p:cNvSpPr txBox="1"/>
          <p:nvPr/>
        </p:nvSpPr>
        <p:spPr>
          <a:xfrm>
            <a:off x="777240" y="1792224"/>
            <a:ext cx="4239616" cy="457200"/>
          </a:xfrm>
          <a:prstGeom prst="rect">
            <a:avLst/>
          </a:prstGeom>
          <a:noFill/>
          <a:ln/>
        </p:spPr>
        <p:txBody>
          <a:bodyPr wrap="square" lIns="0" tIns="0" rIns="0" bIns="0" rtlCol="0" anchor="ctr"/>
          <a:lstStyle/>
          <a:p>
            <a:pPr rtl="1" algn="r" indent="0" marL="0">
              <a:buNone/>
            </a:pPr>
            <a:r>
              <a:rPr lang="en-US" sz="1900" b="1" dirty="0">
                <a:solidFill>
                  <a:srgbClr val="1D9E9A"/>
                </a:solidFill>
                <a:latin typeface="Arial" pitchFamily="34" charset="0"/>
                <a:ea typeface="Arial" pitchFamily="34" charset="-122"/>
                <a:cs typeface="Arial" pitchFamily="34" charset="-120"/>
              </a:rPr>
              <a:t>אוכלוסיית המחקר</a:t>
            </a:r>
            <a:endParaRPr lang="en-US" sz="1900" dirty="0"/>
          </a:p>
        </p:txBody>
      </p:sp>
      <p:sp>
        <p:nvSpPr>
          <p:cNvPr id="10" name="Text 8"/>
          <p:cNvSpPr txBox="1"/>
          <p:nvPr/>
        </p:nvSpPr>
        <p:spPr>
          <a:xfrm>
            <a:off x="777240" y="2414016"/>
            <a:ext cx="4861408" cy="1078992"/>
          </a:xfrm>
          <a:prstGeom prst="rect">
            <a:avLst/>
          </a:prstGeom>
          <a:noFill/>
          <a:ln/>
        </p:spPr>
        <p:txBody>
          <a:bodyPr wrap="square" lIns="0" tIns="0" rIns="0" bIns="0" rtlCol="0" anchor="ctr"/>
          <a:lstStyle/>
          <a:p>
            <a:pPr rtl="1" algn="r" indent="0" marL="0">
              <a:lnSpc>
                <a:spcPts val="2100"/>
              </a:lnSpc>
              <a:buNone/>
            </a:pPr>
            <a:r>
              <a:rPr lang="en-US" sz="1400" dirty="0">
                <a:solidFill>
                  <a:srgbClr val="56686D"/>
                </a:solidFill>
                <a:latin typeface="Arial" pitchFamily="34" charset="0"/>
                <a:ea typeface="Arial" pitchFamily="34" charset="-122"/>
                <a:cs typeface="Arial" pitchFamily="34" charset="-120"/>
              </a:rPr>
              <a:t>שנים עשר משתתפים, שישה גברים ושש נשים, בגילאי 44 עד 71, תושבי כסייפה, ערד וחורה. דגימה מכוונת ומגוונת בשיטת כדור השלג.</a:t>
            </a:r>
            <a:endParaRPr lang="en-US" sz="1400" dirty="0"/>
          </a:p>
        </p:txBody>
      </p:sp>
      <p:sp>
        <p:nvSpPr>
          <p:cNvPr id="11" name="Shape 9"/>
          <p:cNvSpPr/>
          <p:nvPr/>
        </p:nvSpPr>
        <p:spPr>
          <a:xfrm>
            <a:off x="6278728" y="4041648"/>
            <a:ext cx="5410048" cy="2212848"/>
          </a:xfrm>
          <a:prstGeom prst="roundRect">
            <a:avLst>
              <a:gd name="adj" fmla="val 3719"/>
            </a:avLst>
          </a:prstGeom>
          <a:solidFill>
            <a:srgbClr val="F1F7F8"/>
          </a:solidFill>
          <a:ln w="12700">
            <a:solidFill>
              <a:srgbClr val="F1F7F8"/>
            </a:solidFill>
            <a:prstDash val="solid"/>
          </a:ln>
        </p:spPr>
      </p:sp>
      <p:sp>
        <p:nvSpPr>
          <p:cNvPr id="12" name="Text 10"/>
          <p:cNvSpPr txBox="1"/>
          <p:nvPr/>
        </p:nvSpPr>
        <p:spPr>
          <a:xfrm>
            <a:off x="10884103" y="4279392"/>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3" name="Text 11"/>
          <p:cNvSpPr txBox="1"/>
          <p:nvPr/>
        </p:nvSpPr>
        <p:spPr>
          <a:xfrm>
            <a:off x="6553048" y="4315968"/>
            <a:ext cx="4239616" cy="457200"/>
          </a:xfrm>
          <a:prstGeom prst="rect">
            <a:avLst/>
          </a:prstGeom>
          <a:noFill/>
          <a:ln/>
        </p:spPr>
        <p:txBody>
          <a:bodyPr wrap="square" lIns="0" tIns="0" rIns="0" bIns="0" rtlCol="0" anchor="ctr"/>
          <a:lstStyle/>
          <a:p>
            <a:pPr rtl="1" algn="r" indent="0" marL="0">
              <a:buNone/>
            </a:pPr>
            <a:r>
              <a:rPr lang="en-US" sz="1900" b="1" dirty="0">
                <a:solidFill>
                  <a:srgbClr val="0E6E7E"/>
                </a:solidFill>
                <a:latin typeface="Arial" pitchFamily="34" charset="0"/>
                <a:ea typeface="Arial" pitchFamily="34" charset="-122"/>
                <a:cs typeface="Arial" pitchFamily="34" charset="-120"/>
              </a:rPr>
              <a:t>כלי המחקר</a:t>
            </a:r>
            <a:endParaRPr lang="en-US" sz="1900" dirty="0"/>
          </a:p>
        </p:txBody>
      </p:sp>
      <p:sp>
        <p:nvSpPr>
          <p:cNvPr id="14" name="Text 12"/>
          <p:cNvSpPr txBox="1"/>
          <p:nvPr/>
        </p:nvSpPr>
        <p:spPr>
          <a:xfrm>
            <a:off x="6553048" y="4937760"/>
            <a:ext cx="4861408" cy="1078992"/>
          </a:xfrm>
          <a:prstGeom prst="rect">
            <a:avLst/>
          </a:prstGeom>
          <a:noFill/>
          <a:ln/>
        </p:spPr>
        <p:txBody>
          <a:bodyPr wrap="square" lIns="0" tIns="0" rIns="0" bIns="0" rtlCol="0" anchor="ctr"/>
          <a:lstStyle/>
          <a:p>
            <a:pPr rtl="1" algn="r" indent="0" marL="0">
              <a:lnSpc>
                <a:spcPts val="2100"/>
              </a:lnSpc>
              <a:buNone/>
            </a:pPr>
            <a:r>
              <a:rPr lang="en-US" sz="1400" dirty="0">
                <a:solidFill>
                  <a:srgbClr val="56686D"/>
                </a:solidFill>
                <a:latin typeface="Arial" pitchFamily="34" charset="0"/>
                <a:ea typeface="Arial" pitchFamily="34" charset="-122"/>
                <a:cs typeface="Arial" pitchFamily="34" charset="-120"/>
              </a:rPr>
              <a:t>ריאיון עומק חצי מובנה בן חמש עשרה שאלות פתוחות, ובהן שאלת פתיחה. משך כל ריאיון בין 30 ל-45 דקות (שקדי, 2003).</a:t>
            </a:r>
            <a:endParaRPr lang="en-US" sz="1400" dirty="0"/>
          </a:p>
        </p:txBody>
      </p:sp>
      <p:sp>
        <p:nvSpPr>
          <p:cNvPr id="15" name="Shape 13"/>
          <p:cNvSpPr/>
          <p:nvPr/>
        </p:nvSpPr>
        <p:spPr>
          <a:xfrm>
            <a:off x="502920" y="4041648"/>
            <a:ext cx="5410048" cy="2212848"/>
          </a:xfrm>
          <a:prstGeom prst="roundRect">
            <a:avLst>
              <a:gd name="adj" fmla="val 3719"/>
            </a:avLst>
          </a:prstGeom>
          <a:solidFill>
            <a:srgbClr val="F1F7F8"/>
          </a:solidFill>
          <a:ln w="12700">
            <a:solidFill>
              <a:srgbClr val="F1F7F8"/>
            </a:solidFill>
            <a:prstDash val="solid"/>
          </a:ln>
        </p:spPr>
      </p:sp>
      <p:sp>
        <p:nvSpPr>
          <p:cNvPr id="16" name="Text 14"/>
          <p:cNvSpPr txBox="1"/>
          <p:nvPr/>
        </p:nvSpPr>
        <p:spPr>
          <a:xfrm>
            <a:off x="5108296" y="4279392"/>
            <a:ext cx="566928" cy="566928"/>
          </a:xfrm>
          <a:prstGeom prst="ellipse">
            <a:avLst/>
          </a:prstGeom>
          <a:solidFill>
            <a:srgbClr val="1D9E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17" name="Text 15"/>
          <p:cNvSpPr txBox="1"/>
          <p:nvPr/>
        </p:nvSpPr>
        <p:spPr>
          <a:xfrm>
            <a:off x="777240" y="4315968"/>
            <a:ext cx="4239616" cy="457200"/>
          </a:xfrm>
          <a:prstGeom prst="rect">
            <a:avLst/>
          </a:prstGeom>
          <a:noFill/>
          <a:ln/>
        </p:spPr>
        <p:txBody>
          <a:bodyPr wrap="square" lIns="0" tIns="0" rIns="0" bIns="0" rtlCol="0" anchor="ctr"/>
          <a:lstStyle/>
          <a:p>
            <a:pPr rtl="1" algn="r" indent="0" marL="0">
              <a:buNone/>
            </a:pPr>
            <a:r>
              <a:rPr lang="en-US" sz="1900" b="1" dirty="0">
                <a:solidFill>
                  <a:srgbClr val="1D9E9A"/>
                </a:solidFill>
                <a:latin typeface="Arial" pitchFamily="34" charset="0"/>
                <a:ea typeface="Arial" pitchFamily="34" charset="-122"/>
                <a:cs typeface="Arial" pitchFamily="34" charset="-120"/>
              </a:rPr>
              <a:t>ניתוח הנתונים</a:t>
            </a:r>
            <a:endParaRPr lang="en-US" sz="1900" dirty="0"/>
          </a:p>
        </p:txBody>
      </p:sp>
      <p:sp>
        <p:nvSpPr>
          <p:cNvPr id="18" name="Text 16"/>
          <p:cNvSpPr txBox="1"/>
          <p:nvPr/>
        </p:nvSpPr>
        <p:spPr>
          <a:xfrm>
            <a:off x="777240" y="4937760"/>
            <a:ext cx="4861408" cy="1078992"/>
          </a:xfrm>
          <a:prstGeom prst="rect">
            <a:avLst/>
          </a:prstGeom>
          <a:noFill/>
          <a:ln/>
        </p:spPr>
        <p:txBody>
          <a:bodyPr wrap="square" lIns="0" tIns="0" rIns="0" bIns="0" rtlCol="0" anchor="ctr"/>
          <a:lstStyle/>
          <a:p>
            <a:pPr rtl="1" algn="r" indent="0" marL="0">
              <a:lnSpc>
                <a:spcPts val="2100"/>
              </a:lnSpc>
              <a:buNone/>
            </a:pPr>
            <a:r>
              <a:rPr lang="en-US" sz="1400" dirty="0">
                <a:solidFill>
                  <a:srgbClr val="56686D"/>
                </a:solidFill>
                <a:latin typeface="Arial" pitchFamily="34" charset="0"/>
                <a:ea typeface="Arial" pitchFamily="34" charset="-122"/>
                <a:cs typeface="Arial" pitchFamily="34" charset="-120"/>
              </a:rPr>
              <a:t>ניתוח תמטי בשישה שלבים, מקידוד פתוח ועד גיבוש תמות. הניתוח נעשה בנפרד על ידי שלושת החוקרים (Braun &amp; Clarke, 2006).</a:t>
            </a:r>
            <a:endParaRPr lang="en-US" sz="14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אוכלוסיית המחקר</a:t>
            </a:r>
            <a:endParaRPr lang="en-US" sz="3200" dirty="0"/>
          </a:p>
        </p:txBody>
      </p:sp>
      <p:sp>
        <p:nvSpPr>
          <p:cNvPr id="3" name="Text 1"/>
          <p:cNvSpPr txBox="1"/>
          <p:nvPr/>
        </p:nvSpPr>
        <p:spPr>
          <a:xfrm>
            <a:off x="1417320" y="932688"/>
            <a:ext cx="10271455" cy="329184"/>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שנים עשר משתתפים, שישה גברים ושש נשים, גילאי 44 עד 71</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755648" y="1627632"/>
          <a:ext cx="8686800" cy="914400"/>
        </p:xfrm>
        <a:graphic>
          <a:graphicData uri="http://schemas.openxmlformats.org/drawingml/2006/table">
            <a:tbl>
              <a:tblPr/>
              <a:tblGrid>
                <a:gridCol w="3200400"/>
                <a:gridCol w="3108960"/>
                <a:gridCol w="640080"/>
                <a:gridCol w="914400"/>
                <a:gridCol w="822960"/>
              </a:tblGrid>
              <a:tr h="306324">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מצב בריאותי</a:t>
                      </a:r>
                      <a:endParaRPr lang="en-US" sz="120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0E6E7E"/>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יישוב ותעסוקה</a:t>
                      </a:r>
                      <a:endParaRPr lang="en-US" sz="120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0E6E7E"/>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גיל</a:t>
                      </a:r>
                      <a:endParaRPr lang="en-US" sz="120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0E6E7E"/>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מגדר</a:t>
                      </a:r>
                      <a:endParaRPr lang="en-US" sz="120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0E6E7E"/>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מס'</a:t>
                      </a:r>
                      <a:endParaRPr lang="en-US" sz="120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0E6E7E"/>
                    </a:solidFill>
                  </a:tcPr>
                </a:tc>
              </a:tr>
              <a:tr h="306324">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סוכרת מסוג 2, יתר לחץ דם</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כסייפה, נהג הסעות</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52</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גבר</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1</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r>
              <a:tr h="306324">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טרום-סוכרת, השמנה</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כסייפה, עובדת מטבח בבית ספר</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47</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אישה</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r>
              <a:tr h="306324">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לאחר צנתור, יתר לחץ דם</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ערד, גמלאי תעשייה</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63</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גבר</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r>
              <a:tr h="306324">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כולסטרול גבוה, אוסטאופניה</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ערד, מורה בחצי משרה</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58</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אישה</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4</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r>
              <a:tr h="306324">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ללא אבחנה, מעשן</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חורה, קבלן שיפוצים</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44</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גבר</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5</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r>
              <a:tr h="306324">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סוכרת מתקדמת, השמנה</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כסייפה, עקרת בית</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66</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אישה</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6</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r>
              <a:tr h="306324">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יתר לחץ דם קל</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ערד, מורה בגמלאות</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71</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גבר</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7</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r>
              <a:tr h="306324">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ללא אבחנה כרונית</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כסייפה, סייעת בטיפת חלב</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אישה</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8</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r>
              <a:tr h="306324">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טרום-סוכרת בעבר, ירד במשקל</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כסייפה, מורה בתיכון</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55</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גבר</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9</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r>
              <a:tr h="306324">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עודף משקל, לחץ דם גבולי</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ערד, עובדת סוציאלית</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50</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אישה</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10</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r>
              <a:tr h="306324">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סוכרת, יתר לחץ דם, כליות</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חורה, גמלאי בניין</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68</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גבר</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FFFFF"/>
                    </a:solidFill>
                  </a:tcPr>
                </a:tc>
              </a:tr>
              <a:tr h="306324">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יתר לחץ דם, מטפלת בבן זוג</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r" indent="0" marL="0">
                        <a:buNone/>
                      </a:pPr>
                      <a:r>
                        <a:rPr lang="en-US" sz="1150" dirty="0">
                          <a:solidFill>
                            <a:srgbClr val="0C3B44"/>
                          </a:solidFill>
                          <a:latin typeface="Arial" pitchFamily="34" charset="0"/>
                          <a:ea typeface="Arial" pitchFamily="34" charset="-122"/>
                          <a:cs typeface="Arial" pitchFamily="34" charset="-120"/>
                        </a:rPr>
                        <a:t>ערד, עובדת בחנות</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61</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אישה</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c>
                  <a:txBody>
                    <a:bodyPr/>
                    <a:lstStyle/>
                    <a:p>
                      <a:pPr algn="ctr" indent="0" marL="0">
                        <a:buNone/>
                      </a:pPr>
                      <a:r>
                        <a:rPr lang="en-US" sz="1150" dirty="0">
                          <a:solidFill>
                            <a:srgbClr val="0C3B44"/>
                          </a:solidFill>
                          <a:latin typeface="Arial" pitchFamily="34" charset="0"/>
                          <a:ea typeface="Arial" pitchFamily="34" charset="-122"/>
                          <a:cs typeface="Arial" pitchFamily="34" charset="-120"/>
                        </a:rPr>
                        <a:t>12</a:t>
                      </a:r>
                      <a:endParaRPr lang="en-US" sz="1150" dirty="0">
                        <a:latin typeface="Arial" charset="0"/>
                        <a:ea typeface="Arial" charset="0"/>
                        <a:cs typeface="Arial" charset="0"/>
                      </a:endParaRPr>
                    </a:p>
                  </a:txBody>
                  <a:tcPr marL="101600" marR="101600" marT="25400" marB="25400" anchor="ctr">
                    <a:lnL w="6350" cap="flat" cmpd="sng" algn="ctr">
                      <a:solidFill>
                        <a:srgbClr val="D6E3E5"/>
                      </a:solidFill>
                      <a:prstDash val="solid"/>
                      <a:round/>
                      <a:headEnd type="none" w="med" len="med"/>
                      <a:tailEnd type="none" w="med" len="med"/>
                    </a:lnL>
                    <a:lnR w="6350" cap="flat" cmpd="sng" algn="ctr">
                      <a:solidFill>
                        <a:srgbClr val="D6E3E5"/>
                      </a:solidFill>
                      <a:prstDash val="solid"/>
                      <a:round/>
                      <a:headEnd type="none" w="med" len="med"/>
                      <a:tailEnd type="none" w="med" len="med"/>
                    </a:lnR>
                    <a:lnT w="6350" cap="flat" cmpd="sng" algn="ctr">
                      <a:solidFill>
                        <a:srgbClr val="D6E3E5"/>
                      </a:solidFill>
                      <a:prstDash val="solid"/>
                      <a:round/>
                      <a:headEnd type="none" w="med" len="med"/>
                      <a:tailEnd type="none" w="med" len="med"/>
                    </a:lnT>
                    <a:lnB w="6350" cap="flat" cmpd="sng" algn="ctr">
                      <a:solidFill>
                        <a:srgbClr val="D6E3E5"/>
                      </a:solidFill>
                      <a:prstDash val="solid"/>
                      <a:round/>
                      <a:headEnd type="none" w="med" len="med"/>
                      <a:tailEnd type="none" w="med" len="med"/>
                    </a:lnB>
                    <a:solidFill>
                      <a:srgbClr val="F1F7F8"/>
                    </a:solidFill>
                  </a:tcPr>
                </a:tc>
              </a:tr>
            </a:tbl>
          </a:graphicData>
        </a:graphic>
      </p:graphicFrame>
      <p:sp>
        <p:nvSpPr>
          <p:cNvPr id="5" name="Text 2"/>
          <p:cNvSpPr txBox="1"/>
          <p:nvPr/>
        </p:nvSpPr>
        <p:spPr>
          <a:xfrm>
            <a:off x="502920" y="5797296"/>
            <a:ext cx="11185855" cy="329184"/>
          </a:xfrm>
          <a:prstGeom prst="rect">
            <a:avLst/>
          </a:prstGeom>
          <a:noFill/>
          <a:ln/>
        </p:spPr>
        <p:txBody>
          <a:bodyPr wrap="square" lIns="0" tIns="0" rIns="0" bIns="0" rtlCol="0" anchor="ctr"/>
          <a:lstStyle/>
          <a:p>
            <a:pPr rtl="1" algn="r" indent="0" marL="0">
              <a:buNone/>
            </a:pPr>
            <a:r>
              <a:rPr lang="en-US" sz="1250" dirty="0">
                <a:solidFill>
                  <a:srgbClr val="56686D"/>
                </a:solidFill>
                <a:latin typeface="Arial" pitchFamily="34" charset="0"/>
                <a:ea typeface="Arial" pitchFamily="34" charset="-122"/>
                <a:cs typeface="Arial" pitchFamily="34" charset="-120"/>
              </a:rPr>
              <a:t>שם המשתתפים והפרטים המזהים הושמטו. הדגימה גוונה במצב הבריאותי, במגדר, ביישוב וברמת הפעילות הגופנית.</a:t>
            </a:r>
            <a:endParaRPr lang="en-US" sz="12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כלי המחקר</a:t>
            </a:r>
            <a:endParaRPr lang="en-US" sz="3200" dirty="0"/>
          </a:p>
        </p:txBody>
      </p:sp>
      <p:sp>
        <p:nvSpPr>
          <p:cNvPr id="3" name="Text 1"/>
          <p:cNvSpPr txBox="1"/>
          <p:nvPr/>
        </p:nvSpPr>
        <p:spPr>
          <a:xfrm>
            <a:off x="1417320" y="932688"/>
            <a:ext cx="10271455" cy="329184"/>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ריאיון עומק חצי מובנה בן חמש עשרה שאלות</a:t>
            </a:r>
            <a:endParaRPr lang="en-US" sz="1500" dirty="0"/>
          </a:p>
        </p:txBody>
      </p:sp>
      <p:sp>
        <p:nvSpPr>
          <p:cNvPr id="4" name="Shape 2"/>
          <p:cNvSpPr/>
          <p:nvPr/>
        </p:nvSpPr>
        <p:spPr>
          <a:xfrm>
            <a:off x="9098051" y="1627632"/>
            <a:ext cx="2590724" cy="2487168"/>
          </a:xfrm>
          <a:prstGeom prst="roundRect">
            <a:avLst>
              <a:gd name="adj" fmla="val 3309"/>
            </a:avLst>
          </a:prstGeom>
          <a:solidFill>
            <a:srgbClr val="F1F7F8"/>
          </a:solidFill>
          <a:ln w="12700">
            <a:solidFill>
              <a:srgbClr val="F1F7F8"/>
            </a:solidFill>
            <a:prstDash val="solid"/>
          </a:ln>
        </p:spPr>
      </p:sp>
      <p:sp>
        <p:nvSpPr>
          <p:cNvPr id="5" name="Text 3"/>
          <p:cNvSpPr txBox="1"/>
          <p:nvPr/>
        </p:nvSpPr>
        <p:spPr>
          <a:xfrm>
            <a:off x="10902391" y="1828800"/>
            <a:ext cx="512064" cy="512064"/>
          </a:xfrm>
          <a:prstGeom prst="ellipse">
            <a:avLst/>
          </a:prstGeom>
          <a:solidFill>
            <a:srgbClr val="0E6E7E"/>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9335795" y="2395728"/>
            <a:ext cx="2115236" cy="365760"/>
          </a:xfrm>
          <a:prstGeom prst="rect">
            <a:avLst/>
          </a:prstGeom>
          <a:noFill/>
          <a:ln/>
        </p:spPr>
        <p:txBody>
          <a:bodyPr wrap="square" lIns="0" tIns="0" rIns="0" bIns="0" rtlCol="0" anchor="ctr"/>
          <a:lstStyle/>
          <a:p>
            <a:pPr rtl="1" algn="r" indent="0" marL="0">
              <a:buNone/>
            </a:pPr>
            <a:r>
              <a:rPr lang="en-US" sz="1600" b="1" dirty="0">
                <a:solidFill>
                  <a:srgbClr val="0C3B44"/>
                </a:solidFill>
                <a:latin typeface="Arial" pitchFamily="34" charset="0"/>
                <a:ea typeface="Arial" pitchFamily="34" charset="-122"/>
                <a:cs typeface="Arial" pitchFamily="34" charset="-120"/>
              </a:rPr>
              <a:t>תפיסות בריאות</a:t>
            </a:r>
            <a:endParaRPr lang="en-US" sz="1600" dirty="0"/>
          </a:p>
        </p:txBody>
      </p:sp>
      <p:sp>
        <p:nvSpPr>
          <p:cNvPr id="7" name="Text 5"/>
          <p:cNvSpPr txBox="1"/>
          <p:nvPr/>
        </p:nvSpPr>
        <p:spPr>
          <a:xfrm>
            <a:off x="9335795" y="2743200"/>
            <a:ext cx="2115236" cy="274320"/>
          </a:xfrm>
          <a:prstGeom prst="rect">
            <a:avLst/>
          </a:prstGeom>
          <a:noFill/>
          <a:ln/>
        </p:spPr>
        <p:txBody>
          <a:bodyPr wrap="square" lIns="0" tIns="0" rIns="0" bIns="0" rtlCol="0" anchor="ctr"/>
          <a:lstStyle/>
          <a:p>
            <a:pPr rtl="1" algn="r" indent="0" marL="0">
              <a:buNone/>
            </a:pPr>
            <a:r>
              <a:rPr lang="en-US" sz="1250" b="1" dirty="0">
                <a:solidFill>
                  <a:srgbClr val="D98C2B"/>
                </a:solidFill>
                <a:latin typeface="Arial" pitchFamily="34" charset="0"/>
                <a:ea typeface="Arial" pitchFamily="34" charset="-122"/>
                <a:cs typeface="Arial" pitchFamily="34" charset="-120"/>
              </a:rPr>
              <a:t>שאלות 1-3</a:t>
            </a:r>
            <a:endParaRPr lang="en-US" sz="1250" dirty="0"/>
          </a:p>
        </p:txBody>
      </p:sp>
      <p:sp>
        <p:nvSpPr>
          <p:cNvPr id="8" name="Text 6"/>
          <p:cNvSpPr txBox="1"/>
          <p:nvPr/>
        </p:nvSpPr>
        <p:spPr>
          <a:xfrm>
            <a:off x="9335795" y="3054096"/>
            <a:ext cx="2115236" cy="914400"/>
          </a:xfrm>
          <a:prstGeom prst="rect">
            <a:avLst/>
          </a:prstGeom>
          <a:noFill/>
          <a:ln/>
        </p:spPr>
        <p:txBody>
          <a:bodyPr wrap="square" lIns="0" tIns="0" rIns="0" bIns="0" rtlCol="0" anchor="ctr"/>
          <a:lstStyle/>
          <a:p>
            <a:pPr rtl="1" algn="r" indent="0" marL="0">
              <a:lnSpc>
                <a:spcPts val="1800"/>
              </a:lnSpc>
              <a:buNone/>
            </a:pPr>
            <a:r>
              <a:rPr lang="en-US" sz="1250" dirty="0">
                <a:solidFill>
                  <a:srgbClr val="56686D"/>
                </a:solidFill>
                <a:latin typeface="Arial" pitchFamily="34" charset="0"/>
                <a:ea typeface="Arial" pitchFamily="34" charset="-122"/>
                <a:cs typeface="Arial" pitchFamily="34" charset="-120"/>
              </a:rPr>
              <a:t>מצב הבריאות הנתפס ומשמעות המושג אורח חיים בריא.</a:t>
            </a:r>
            <a:endParaRPr lang="en-US" sz="1250" dirty="0"/>
          </a:p>
        </p:txBody>
      </p:sp>
      <p:sp>
        <p:nvSpPr>
          <p:cNvPr id="9" name="Shape 7"/>
          <p:cNvSpPr/>
          <p:nvPr/>
        </p:nvSpPr>
        <p:spPr>
          <a:xfrm>
            <a:off x="6233008" y="1627632"/>
            <a:ext cx="2590724" cy="2487168"/>
          </a:xfrm>
          <a:prstGeom prst="roundRect">
            <a:avLst>
              <a:gd name="adj" fmla="val 3309"/>
            </a:avLst>
          </a:prstGeom>
          <a:solidFill>
            <a:srgbClr val="F1F7F8"/>
          </a:solidFill>
          <a:ln w="12700">
            <a:solidFill>
              <a:srgbClr val="F1F7F8"/>
            </a:solidFill>
            <a:prstDash val="solid"/>
          </a:ln>
        </p:spPr>
      </p:sp>
      <p:sp>
        <p:nvSpPr>
          <p:cNvPr id="10" name="Text 8"/>
          <p:cNvSpPr txBox="1"/>
          <p:nvPr/>
        </p:nvSpPr>
        <p:spPr>
          <a:xfrm>
            <a:off x="8037347" y="1828800"/>
            <a:ext cx="512064" cy="512064"/>
          </a:xfrm>
          <a:prstGeom prst="ellipse">
            <a:avLst/>
          </a:prstGeom>
          <a:solidFill>
            <a:srgbClr val="1D9E9A"/>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Text 9"/>
          <p:cNvSpPr txBox="1"/>
          <p:nvPr/>
        </p:nvSpPr>
        <p:spPr>
          <a:xfrm>
            <a:off x="6470752" y="2395728"/>
            <a:ext cx="2115236" cy="365760"/>
          </a:xfrm>
          <a:prstGeom prst="rect">
            <a:avLst/>
          </a:prstGeom>
          <a:noFill/>
          <a:ln/>
        </p:spPr>
        <p:txBody>
          <a:bodyPr wrap="square" lIns="0" tIns="0" rIns="0" bIns="0" rtlCol="0" anchor="ctr"/>
          <a:lstStyle/>
          <a:p>
            <a:pPr rtl="1" algn="r" indent="0" marL="0">
              <a:buNone/>
            </a:pPr>
            <a:r>
              <a:rPr lang="en-US" sz="1600" b="1" dirty="0">
                <a:solidFill>
                  <a:srgbClr val="0C3B44"/>
                </a:solidFill>
                <a:latin typeface="Arial" pitchFamily="34" charset="0"/>
                <a:ea typeface="Arial" pitchFamily="34" charset="-122"/>
                <a:cs typeface="Arial" pitchFamily="34" charset="-120"/>
              </a:rPr>
              <a:t>התנהגות בפועל</a:t>
            </a:r>
            <a:endParaRPr lang="en-US" sz="1600" dirty="0"/>
          </a:p>
        </p:txBody>
      </p:sp>
      <p:sp>
        <p:nvSpPr>
          <p:cNvPr id="12" name="Text 10"/>
          <p:cNvSpPr txBox="1"/>
          <p:nvPr/>
        </p:nvSpPr>
        <p:spPr>
          <a:xfrm>
            <a:off x="6470752" y="2743200"/>
            <a:ext cx="2115236" cy="274320"/>
          </a:xfrm>
          <a:prstGeom prst="rect">
            <a:avLst/>
          </a:prstGeom>
          <a:noFill/>
          <a:ln/>
        </p:spPr>
        <p:txBody>
          <a:bodyPr wrap="square" lIns="0" tIns="0" rIns="0" bIns="0" rtlCol="0" anchor="ctr"/>
          <a:lstStyle/>
          <a:p>
            <a:pPr rtl="1" algn="r" indent="0" marL="0">
              <a:buNone/>
            </a:pPr>
            <a:r>
              <a:rPr lang="en-US" sz="1250" b="1" dirty="0">
                <a:solidFill>
                  <a:srgbClr val="D98C2B"/>
                </a:solidFill>
                <a:latin typeface="Arial" pitchFamily="34" charset="0"/>
                <a:ea typeface="Arial" pitchFamily="34" charset="-122"/>
                <a:cs typeface="Arial" pitchFamily="34" charset="-120"/>
              </a:rPr>
              <a:t>שאלות 4-7</a:t>
            </a:r>
            <a:endParaRPr lang="en-US" sz="1250" dirty="0"/>
          </a:p>
        </p:txBody>
      </p:sp>
      <p:sp>
        <p:nvSpPr>
          <p:cNvPr id="13" name="Text 11"/>
          <p:cNvSpPr txBox="1"/>
          <p:nvPr/>
        </p:nvSpPr>
        <p:spPr>
          <a:xfrm>
            <a:off x="6470752" y="3054096"/>
            <a:ext cx="2115236" cy="914400"/>
          </a:xfrm>
          <a:prstGeom prst="rect">
            <a:avLst/>
          </a:prstGeom>
          <a:noFill/>
          <a:ln/>
        </p:spPr>
        <p:txBody>
          <a:bodyPr wrap="square" lIns="0" tIns="0" rIns="0" bIns="0" rtlCol="0" anchor="ctr"/>
          <a:lstStyle/>
          <a:p>
            <a:pPr rtl="1" algn="r" indent="0" marL="0">
              <a:lnSpc>
                <a:spcPts val="1800"/>
              </a:lnSpc>
              <a:buNone/>
            </a:pPr>
            <a:r>
              <a:rPr lang="en-US" sz="1250" dirty="0">
                <a:solidFill>
                  <a:srgbClr val="56686D"/>
                </a:solidFill>
                <a:latin typeface="Arial" pitchFamily="34" charset="0"/>
                <a:ea typeface="Arial" pitchFamily="34" charset="-122"/>
                <a:cs typeface="Arial" pitchFamily="34" charset="-120"/>
              </a:rPr>
              <a:t>דפוסי הפעילות והתזונה, שינויים לאורך השנים, מסייעים ומונעים.</a:t>
            </a:r>
            <a:endParaRPr lang="en-US" sz="1250" dirty="0"/>
          </a:p>
        </p:txBody>
      </p:sp>
      <p:sp>
        <p:nvSpPr>
          <p:cNvPr id="14" name="Shape 12"/>
          <p:cNvSpPr/>
          <p:nvPr/>
        </p:nvSpPr>
        <p:spPr>
          <a:xfrm>
            <a:off x="3367964" y="1627632"/>
            <a:ext cx="2590724" cy="2487168"/>
          </a:xfrm>
          <a:prstGeom prst="roundRect">
            <a:avLst>
              <a:gd name="adj" fmla="val 3309"/>
            </a:avLst>
          </a:prstGeom>
          <a:solidFill>
            <a:srgbClr val="F1F7F8"/>
          </a:solidFill>
          <a:ln w="12700">
            <a:solidFill>
              <a:srgbClr val="F1F7F8"/>
            </a:solidFill>
            <a:prstDash val="solid"/>
          </a:ln>
        </p:spPr>
      </p:sp>
      <p:sp>
        <p:nvSpPr>
          <p:cNvPr id="15" name="Text 13"/>
          <p:cNvSpPr txBox="1"/>
          <p:nvPr/>
        </p:nvSpPr>
        <p:spPr>
          <a:xfrm>
            <a:off x="5172304" y="1828800"/>
            <a:ext cx="512064" cy="512064"/>
          </a:xfrm>
          <a:prstGeom prst="ellipse">
            <a:avLst/>
          </a:prstGeom>
          <a:solidFill>
            <a:srgbClr val="0E6E7E"/>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3605708" y="2395728"/>
            <a:ext cx="2115236" cy="365760"/>
          </a:xfrm>
          <a:prstGeom prst="rect">
            <a:avLst/>
          </a:prstGeom>
          <a:noFill/>
          <a:ln/>
        </p:spPr>
        <p:txBody>
          <a:bodyPr wrap="square" lIns="0" tIns="0" rIns="0" bIns="0" rtlCol="0" anchor="ctr"/>
          <a:lstStyle/>
          <a:p>
            <a:pPr rtl="1" algn="r" indent="0" marL="0">
              <a:buNone/>
            </a:pPr>
            <a:r>
              <a:rPr lang="en-US" sz="1600" b="1" dirty="0">
                <a:solidFill>
                  <a:srgbClr val="0C3B44"/>
                </a:solidFill>
                <a:latin typeface="Arial" pitchFamily="34" charset="0"/>
                <a:ea typeface="Arial" pitchFamily="34" charset="-122"/>
                <a:cs typeface="Arial" pitchFamily="34" charset="-120"/>
              </a:rPr>
              <a:t>הקשר וסביבה</a:t>
            </a:r>
            <a:endParaRPr lang="en-US" sz="1600" dirty="0"/>
          </a:p>
        </p:txBody>
      </p:sp>
      <p:sp>
        <p:nvSpPr>
          <p:cNvPr id="17" name="Text 15"/>
          <p:cNvSpPr txBox="1"/>
          <p:nvPr/>
        </p:nvSpPr>
        <p:spPr>
          <a:xfrm>
            <a:off x="3605708" y="2743200"/>
            <a:ext cx="2115236" cy="274320"/>
          </a:xfrm>
          <a:prstGeom prst="rect">
            <a:avLst/>
          </a:prstGeom>
          <a:noFill/>
          <a:ln/>
        </p:spPr>
        <p:txBody>
          <a:bodyPr wrap="square" lIns="0" tIns="0" rIns="0" bIns="0" rtlCol="0" anchor="ctr"/>
          <a:lstStyle/>
          <a:p>
            <a:pPr rtl="1" algn="r" indent="0" marL="0">
              <a:buNone/>
            </a:pPr>
            <a:r>
              <a:rPr lang="en-US" sz="1250" b="1" dirty="0">
                <a:solidFill>
                  <a:srgbClr val="D98C2B"/>
                </a:solidFill>
                <a:latin typeface="Arial" pitchFamily="34" charset="0"/>
                <a:ea typeface="Arial" pitchFamily="34" charset="-122"/>
                <a:cs typeface="Arial" pitchFamily="34" charset="-120"/>
              </a:rPr>
              <a:t>שאלות 8, 12, 13</a:t>
            </a:r>
            <a:endParaRPr lang="en-US" sz="1250" dirty="0"/>
          </a:p>
        </p:txBody>
      </p:sp>
      <p:sp>
        <p:nvSpPr>
          <p:cNvPr id="18" name="Text 16"/>
          <p:cNvSpPr txBox="1"/>
          <p:nvPr/>
        </p:nvSpPr>
        <p:spPr>
          <a:xfrm>
            <a:off x="3605708" y="3054096"/>
            <a:ext cx="2115236" cy="914400"/>
          </a:xfrm>
          <a:prstGeom prst="rect">
            <a:avLst/>
          </a:prstGeom>
          <a:noFill/>
          <a:ln/>
        </p:spPr>
        <p:txBody>
          <a:bodyPr wrap="square" lIns="0" tIns="0" rIns="0" bIns="0" rtlCol="0" anchor="ctr"/>
          <a:lstStyle/>
          <a:p>
            <a:pPr rtl="1" algn="r" indent="0" marL="0">
              <a:lnSpc>
                <a:spcPts val="1800"/>
              </a:lnSpc>
              <a:buNone/>
            </a:pPr>
            <a:r>
              <a:rPr lang="en-US" sz="1250" dirty="0">
                <a:solidFill>
                  <a:srgbClr val="56686D"/>
                </a:solidFill>
                <a:latin typeface="Arial" pitchFamily="34" charset="0"/>
                <a:ea typeface="Arial" pitchFamily="34" charset="-122"/>
                <a:cs typeface="Arial" pitchFamily="34" charset="-120"/>
              </a:rPr>
              <a:t>היסטוריה משפחתית, השפעת המשפחה והקהילה, החסמים המרכזיים.</a:t>
            </a:r>
            <a:endParaRPr lang="en-US" sz="1250" dirty="0"/>
          </a:p>
        </p:txBody>
      </p:sp>
      <p:sp>
        <p:nvSpPr>
          <p:cNvPr id="19" name="Shape 17"/>
          <p:cNvSpPr/>
          <p:nvPr/>
        </p:nvSpPr>
        <p:spPr>
          <a:xfrm>
            <a:off x="502920" y="1627632"/>
            <a:ext cx="2590724" cy="2487168"/>
          </a:xfrm>
          <a:prstGeom prst="roundRect">
            <a:avLst>
              <a:gd name="adj" fmla="val 3309"/>
            </a:avLst>
          </a:prstGeom>
          <a:solidFill>
            <a:srgbClr val="F1F7F8"/>
          </a:solidFill>
          <a:ln w="12700">
            <a:solidFill>
              <a:srgbClr val="F1F7F8"/>
            </a:solidFill>
            <a:prstDash val="solid"/>
          </a:ln>
        </p:spPr>
      </p:sp>
      <p:sp>
        <p:nvSpPr>
          <p:cNvPr id="20" name="Text 18"/>
          <p:cNvSpPr txBox="1"/>
          <p:nvPr/>
        </p:nvSpPr>
        <p:spPr>
          <a:xfrm>
            <a:off x="2307260" y="1828800"/>
            <a:ext cx="512064" cy="512064"/>
          </a:xfrm>
          <a:prstGeom prst="ellipse">
            <a:avLst/>
          </a:prstGeom>
          <a:solidFill>
            <a:srgbClr val="1D9E9A"/>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1" name="Text 19"/>
          <p:cNvSpPr txBox="1"/>
          <p:nvPr/>
        </p:nvSpPr>
        <p:spPr>
          <a:xfrm>
            <a:off x="740664" y="2395728"/>
            <a:ext cx="2115236" cy="365760"/>
          </a:xfrm>
          <a:prstGeom prst="rect">
            <a:avLst/>
          </a:prstGeom>
          <a:noFill/>
          <a:ln/>
        </p:spPr>
        <p:txBody>
          <a:bodyPr wrap="square" lIns="0" tIns="0" rIns="0" bIns="0" rtlCol="0" anchor="ctr"/>
          <a:lstStyle/>
          <a:p>
            <a:pPr rtl="1" algn="r" indent="0" marL="0">
              <a:buNone/>
            </a:pPr>
            <a:r>
              <a:rPr lang="en-US" sz="1600" b="1" dirty="0">
                <a:solidFill>
                  <a:srgbClr val="0C3B44"/>
                </a:solidFill>
                <a:latin typeface="Arial" pitchFamily="34" charset="0"/>
                <a:ea typeface="Arial" pitchFamily="34" charset="-122"/>
                <a:cs typeface="Arial" pitchFamily="34" charset="-120"/>
              </a:rPr>
              <a:t>מערכת ומידע</a:t>
            </a:r>
            <a:endParaRPr lang="en-US" sz="1600" dirty="0"/>
          </a:p>
        </p:txBody>
      </p:sp>
      <p:sp>
        <p:nvSpPr>
          <p:cNvPr id="22" name="Text 20"/>
          <p:cNvSpPr txBox="1"/>
          <p:nvPr/>
        </p:nvSpPr>
        <p:spPr>
          <a:xfrm>
            <a:off x="740664" y="2743200"/>
            <a:ext cx="2115236" cy="274320"/>
          </a:xfrm>
          <a:prstGeom prst="rect">
            <a:avLst/>
          </a:prstGeom>
          <a:noFill/>
          <a:ln/>
        </p:spPr>
        <p:txBody>
          <a:bodyPr wrap="square" lIns="0" tIns="0" rIns="0" bIns="0" rtlCol="0" anchor="ctr"/>
          <a:lstStyle/>
          <a:p>
            <a:pPr rtl="1" algn="r" indent="0" marL="0">
              <a:buNone/>
            </a:pPr>
            <a:r>
              <a:rPr lang="en-US" sz="1250" b="1" dirty="0">
                <a:solidFill>
                  <a:srgbClr val="D98C2B"/>
                </a:solidFill>
                <a:latin typeface="Arial" pitchFamily="34" charset="0"/>
                <a:ea typeface="Arial" pitchFamily="34" charset="-122"/>
                <a:cs typeface="Arial" pitchFamily="34" charset="-120"/>
              </a:rPr>
              <a:t>שאלות 9-11, 14-15</a:t>
            </a:r>
            <a:endParaRPr lang="en-US" sz="1250" dirty="0"/>
          </a:p>
        </p:txBody>
      </p:sp>
      <p:sp>
        <p:nvSpPr>
          <p:cNvPr id="23" name="Text 21"/>
          <p:cNvSpPr txBox="1"/>
          <p:nvPr/>
        </p:nvSpPr>
        <p:spPr>
          <a:xfrm>
            <a:off x="740664" y="3054096"/>
            <a:ext cx="2115236" cy="914400"/>
          </a:xfrm>
          <a:prstGeom prst="rect">
            <a:avLst/>
          </a:prstGeom>
          <a:noFill/>
          <a:ln/>
        </p:spPr>
        <p:txBody>
          <a:bodyPr wrap="square" lIns="0" tIns="0" rIns="0" bIns="0" rtlCol="0" anchor="ctr"/>
          <a:lstStyle/>
          <a:p>
            <a:pPr rtl="1" algn="r" indent="0" marL="0">
              <a:lnSpc>
                <a:spcPts val="1800"/>
              </a:lnSpc>
              <a:buNone/>
            </a:pPr>
            <a:r>
              <a:rPr lang="en-US" sz="1250" dirty="0">
                <a:solidFill>
                  <a:srgbClr val="56686D"/>
                </a:solidFill>
                <a:latin typeface="Arial" pitchFamily="34" charset="0"/>
                <a:ea typeface="Arial" pitchFamily="34" charset="-122"/>
                <a:cs typeface="Arial" pitchFamily="34" charset="-120"/>
              </a:rPr>
              <a:t>מקורות המידע, תפקיד רופא המשפחה והקופה, והמלצות המרואיין.</a:t>
            </a:r>
            <a:endParaRPr lang="en-US" sz="1250" dirty="0"/>
          </a:p>
        </p:txBody>
      </p:sp>
      <p:sp>
        <p:nvSpPr>
          <p:cNvPr id="24" name="Shape 22"/>
          <p:cNvSpPr/>
          <p:nvPr/>
        </p:nvSpPr>
        <p:spPr>
          <a:xfrm>
            <a:off x="8143037" y="4370832"/>
            <a:ext cx="3545738" cy="1170432"/>
          </a:xfrm>
          <a:prstGeom prst="roundRect">
            <a:avLst>
              <a:gd name="adj" fmla="val 7031"/>
            </a:avLst>
          </a:prstGeom>
          <a:solidFill>
            <a:srgbClr val="BFE3DD"/>
          </a:solidFill>
          <a:ln w="12700">
            <a:solidFill>
              <a:srgbClr val="BFE3DD"/>
            </a:solidFill>
            <a:prstDash val="solid"/>
          </a:ln>
        </p:spPr>
      </p:sp>
      <p:sp>
        <p:nvSpPr>
          <p:cNvPr id="25" name="Text 23"/>
          <p:cNvSpPr txBox="1"/>
          <p:nvPr/>
        </p:nvSpPr>
        <p:spPr>
          <a:xfrm>
            <a:off x="8362493" y="4517136"/>
            <a:ext cx="3106826" cy="438912"/>
          </a:xfrm>
          <a:prstGeom prst="rect">
            <a:avLst/>
          </a:prstGeom>
          <a:noFill/>
          <a:ln/>
        </p:spPr>
        <p:txBody>
          <a:bodyPr wrap="square" lIns="0" tIns="0" rIns="0" bIns="0" rtlCol="0" anchor="ctr"/>
          <a:lstStyle/>
          <a:p>
            <a:pPr rtl="1" algn="ctr" indent="0" marL="0">
              <a:buNone/>
            </a:pPr>
            <a:r>
              <a:rPr lang="en-US" sz="1900" b="1" dirty="0">
                <a:solidFill>
                  <a:srgbClr val="0E6E7E"/>
                </a:solidFill>
                <a:latin typeface="Arial" pitchFamily="34" charset="0"/>
                <a:ea typeface="Arial" pitchFamily="34" charset="-122"/>
                <a:cs typeface="Arial" pitchFamily="34" charset="-120"/>
              </a:rPr>
              <a:t>30-45 דקות</a:t>
            </a:r>
            <a:endParaRPr lang="en-US" sz="1900" dirty="0"/>
          </a:p>
        </p:txBody>
      </p:sp>
      <p:sp>
        <p:nvSpPr>
          <p:cNvPr id="26" name="Text 24"/>
          <p:cNvSpPr txBox="1"/>
          <p:nvPr/>
        </p:nvSpPr>
        <p:spPr>
          <a:xfrm>
            <a:off x="8362493" y="4974336"/>
            <a:ext cx="3106826" cy="365760"/>
          </a:xfrm>
          <a:prstGeom prst="rect">
            <a:avLst/>
          </a:prstGeom>
          <a:noFill/>
          <a:ln/>
        </p:spPr>
        <p:txBody>
          <a:bodyPr wrap="square" lIns="0" tIns="0" rIns="0" bIns="0" rtlCol="0" anchor="ctr"/>
          <a:lstStyle/>
          <a:p>
            <a:pPr rtl="1" algn="ctr" indent="0" marL="0">
              <a:buNone/>
            </a:pPr>
            <a:r>
              <a:rPr lang="en-US" sz="1300" dirty="0">
                <a:solidFill>
                  <a:srgbClr val="0C3B44"/>
                </a:solidFill>
                <a:latin typeface="Arial" pitchFamily="34" charset="0"/>
                <a:ea typeface="Arial" pitchFamily="34" charset="-122"/>
                <a:cs typeface="Arial" pitchFamily="34" charset="-120"/>
              </a:rPr>
              <a:t>משך כל ריאיון</a:t>
            </a:r>
            <a:endParaRPr lang="en-US" sz="1300" dirty="0"/>
          </a:p>
        </p:txBody>
      </p:sp>
      <p:sp>
        <p:nvSpPr>
          <p:cNvPr id="27" name="Shape 25"/>
          <p:cNvSpPr/>
          <p:nvPr/>
        </p:nvSpPr>
        <p:spPr>
          <a:xfrm>
            <a:off x="4322978" y="4370832"/>
            <a:ext cx="3545738" cy="1170432"/>
          </a:xfrm>
          <a:prstGeom prst="roundRect">
            <a:avLst>
              <a:gd name="adj" fmla="val 7031"/>
            </a:avLst>
          </a:prstGeom>
          <a:solidFill>
            <a:srgbClr val="BFE3DD"/>
          </a:solidFill>
          <a:ln w="12700">
            <a:solidFill>
              <a:srgbClr val="BFE3DD"/>
            </a:solidFill>
            <a:prstDash val="solid"/>
          </a:ln>
        </p:spPr>
      </p:sp>
      <p:sp>
        <p:nvSpPr>
          <p:cNvPr id="28" name="Text 26"/>
          <p:cNvSpPr txBox="1"/>
          <p:nvPr/>
        </p:nvSpPr>
        <p:spPr>
          <a:xfrm>
            <a:off x="4542434" y="4517136"/>
            <a:ext cx="3106826" cy="438912"/>
          </a:xfrm>
          <a:prstGeom prst="rect">
            <a:avLst/>
          </a:prstGeom>
          <a:noFill/>
          <a:ln/>
        </p:spPr>
        <p:txBody>
          <a:bodyPr wrap="square" lIns="0" tIns="0" rIns="0" bIns="0" rtlCol="0" anchor="ctr"/>
          <a:lstStyle/>
          <a:p>
            <a:pPr rtl="1" algn="ctr" indent="0" marL="0">
              <a:buNone/>
            </a:pPr>
            <a:r>
              <a:rPr lang="en-US" sz="1900" b="1" dirty="0">
                <a:solidFill>
                  <a:srgbClr val="0E6E7E"/>
                </a:solidFill>
                <a:latin typeface="Arial" pitchFamily="34" charset="0"/>
                <a:ea typeface="Arial" pitchFamily="34" charset="-122"/>
                <a:cs typeface="Arial" pitchFamily="34" charset="-120"/>
              </a:rPr>
              <a:t>8 בעברית, 4 בערבית</a:t>
            </a:r>
            <a:endParaRPr lang="en-US" sz="1900" dirty="0"/>
          </a:p>
        </p:txBody>
      </p:sp>
      <p:sp>
        <p:nvSpPr>
          <p:cNvPr id="29" name="Text 27"/>
          <p:cNvSpPr txBox="1"/>
          <p:nvPr/>
        </p:nvSpPr>
        <p:spPr>
          <a:xfrm>
            <a:off x="4542434" y="4974336"/>
            <a:ext cx="3106826" cy="365760"/>
          </a:xfrm>
          <a:prstGeom prst="rect">
            <a:avLst/>
          </a:prstGeom>
          <a:noFill/>
          <a:ln/>
        </p:spPr>
        <p:txBody>
          <a:bodyPr wrap="square" lIns="0" tIns="0" rIns="0" bIns="0" rtlCol="0" anchor="ctr"/>
          <a:lstStyle/>
          <a:p>
            <a:pPr rtl="1" algn="ctr" indent="0" marL="0">
              <a:buNone/>
            </a:pPr>
            <a:r>
              <a:rPr lang="en-US" sz="1300" dirty="0">
                <a:solidFill>
                  <a:srgbClr val="0C3B44"/>
                </a:solidFill>
                <a:latin typeface="Arial" pitchFamily="34" charset="0"/>
                <a:ea typeface="Arial" pitchFamily="34" charset="-122"/>
                <a:cs typeface="Arial" pitchFamily="34" charset="-120"/>
              </a:rPr>
              <a:t>לפי בחירת המרואיין</a:t>
            </a:r>
            <a:endParaRPr lang="en-US" sz="1300" dirty="0"/>
          </a:p>
        </p:txBody>
      </p:sp>
      <p:sp>
        <p:nvSpPr>
          <p:cNvPr id="30" name="Shape 28"/>
          <p:cNvSpPr/>
          <p:nvPr/>
        </p:nvSpPr>
        <p:spPr>
          <a:xfrm>
            <a:off x="502920" y="4370832"/>
            <a:ext cx="3545738" cy="1170432"/>
          </a:xfrm>
          <a:prstGeom prst="roundRect">
            <a:avLst>
              <a:gd name="adj" fmla="val 7031"/>
            </a:avLst>
          </a:prstGeom>
          <a:solidFill>
            <a:srgbClr val="BFE3DD"/>
          </a:solidFill>
          <a:ln w="12700">
            <a:solidFill>
              <a:srgbClr val="BFE3DD"/>
            </a:solidFill>
            <a:prstDash val="solid"/>
          </a:ln>
        </p:spPr>
      </p:sp>
      <p:sp>
        <p:nvSpPr>
          <p:cNvPr id="31" name="Text 29"/>
          <p:cNvSpPr txBox="1"/>
          <p:nvPr/>
        </p:nvSpPr>
        <p:spPr>
          <a:xfrm>
            <a:off x="722376" y="4517136"/>
            <a:ext cx="3106826" cy="438912"/>
          </a:xfrm>
          <a:prstGeom prst="rect">
            <a:avLst/>
          </a:prstGeom>
          <a:noFill/>
          <a:ln/>
        </p:spPr>
        <p:txBody>
          <a:bodyPr wrap="square" lIns="0" tIns="0" rIns="0" bIns="0" rtlCol="0" anchor="ctr"/>
          <a:lstStyle/>
          <a:p>
            <a:pPr rtl="1" algn="ctr" indent="0" marL="0">
              <a:buNone/>
            </a:pPr>
            <a:r>
              <a:rPr lang="en-US" sz="1900" b="1" dirty="0">
                <a:solidFill>
                  <a:srgbClr val="0E6E7E"/>
                </a:solidFill>
                <a:latin typeface="Arial" pitchFamily="34" charset="0"/>
                <a:ea typeface="Arial" pitchFamily="34" charset="-122"/>
                <a:cs typeface="Arial" pitchFamily="34" charset="-120"/>
              </a:rPr>
              <a:t>עילום שם מלא</a:t>
            </a:r>
            <a:endParaRPr lang="en-US" sz="1900" dirty="0"/>
          </a:p>
        </p:txBody>
      </p:sp>
      <p:sp>
        <p:nvSpPr>
          <p:cNvPr id="32" name="Text 30"/>
          <p:cNvSpPr txBox="1"/>
          <p:nvPr/>
        </p:nvSpPr>
        <p:spPr>
          <a:xfrm>
            <a:off x="722376" y="4974336"/>
            <a:ext cx="3106826" cy="365760"/>
          </a:xfrm>
          <a:prstGeom prst="rect">
            <a:avLst/>
          </a:prstGeom>
          <a:noFill/>
          <a:ln/>
        </p:spPr>
        <p:txBody>
          <a:bodyPr wrap="square" lIns="0" tIns="0" rIns="0" bIns="0" rtlCol="0" anchor="ctr"/>
          <a:lstStyle/>
          <a:p>
            <a:pPr rtl="1" algn="ctr" indent="0" marL="0">
              <a:buNone/>
            </a:pPr>
            <a:r>
              <a:rPr lang="en-US" sz="1300" dirty="0">
                <a:solidFill>
                  <a:srgbClr val="0C3B44"/>
                </a:solidFill>
                <a:latin typeface="Arial" pitchFamily="34" charset="0"/>
                <a:ea typeface="Arial" pitchFamily="34" charset="-122"/>
                <a:cs typeface="Arial" pitchFamily="34" charset="-120"/>
              </a:rPr>
              <a:t>השמטת כל פרט מזהה</a:t>
            </a:r>
            <a:endParaRPr lang="en-US" sz="1300" dirty="0"/>
          </a:p>
        </p:txBody>
      </p:sp>
      <p:sp>
        <p:nvSpPr>
          <p:cNvPr id="33" name="Text 31"/>
          <p:cNvSpPr txBox="1"/>
          <p:nvPr/>
        </p:nvSpPr>
        <p:spPr>
          <a:xfrm>
            <a:off x="502920" y="5687568"/>
            <a:ext cx="11185855" cy="585216"/>
          </a:xfrm>
          <a:prstGeom prst="rect">
            <a:avLst/>
          </a:prstGeom>
          <a:noFill/>
          <a:ln/>
        </p:spPr>
        <p:txBody>
          <a:bodyPr wrap="square" lIns="0" tIns="0" rIns="0" bIns="0" rtlCol="0" anchor="ctr"/>
          <a:lstStyle/>
          <a:p>
            <a:pPr rtl="1" algn="r" indent="0" marL="0">
              <a:lnSpc>
                <a:spcPts val="2000"/>
              </a:lnSpc>
              <a:buNone/>
            </a:pPr>
            <a:r>
              <a:rPr lang="en-US" sz="1300" dirty="0">
                <a:solidFill>
                  <a:srgbClr val="56686D"/>
                </a:solidFill>
                <a:latin typeface="Arial" pitchFamily="34" charset="0"/>
                <a:ea typeface="Arial" pitchFamily="34" charset="-122"/>
                <a:cs typeface="Arial" pitchFamily="34" charset="-120"/>
              </a:rPr>
              <a:t>הראיונות הוקלטו באישור המשתתפים, תומללו במלואם, ומובאים כנספח לעבודה. הראיונות שנערכו בערבית תורגמו לעברית תוך שמירה על סגנון הדיבור של המרואיין.</a:t>
            </a:r>
            <a:endParaRPr lang="en-US" sz="13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ממצאים מרכזיים</a:t>
            </a:r>
            <a:endParaRPr lang="en-US" sz="3200" dirty="0"/>
          </a:p>
        </p:txBody>
      </p:sp>
      <p:sp>
        <p:nvSpPr>
          <p:cNvPr id="3" name="Text 1"/>
          <p:cNvSpPr txBox="1"/>
          <p:nvPr/>
        </p:nvSpPr>
        <p:spPr>
          <a:xfrm>
            <a:off x="1417320" y="932688"/>
            <a:ext cx="10271455" cy="329184"/>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הפער בין הידע ליישום, והמשפחה כמנוע וכבלם</a:t>
            </a:r>
            <a:endParaRPr lang="en-US" sz="1500" dirty="0"/>
          </a:p>
        </p:txBody>
      </p:sp>
      <p:sp>
        <p:nvSpPr>
          <p:cNvPr id="4" name="Shape 2"/>
          <p:cNvSpPr/>
          <p:nvPr/>
        </p:nvSpPr>
        <p:spPr>
          <a:xfrm>
            <a:off x="502920" y="1627632"/>
            <a:ext cx="11185855" cy="2084832"/>
          </a:xfrm>
          <a:prstGeom prst="roundRect">
            <a:avLst>
              <a:gd name="adj" fmla="val 3947"/>
            </a:avLst>
          </a:prstGeom>
          <a:solidFill>
            <a:srgbClr val="F1F7F8"/>
          </a:solidFill>
          <a:ln w="12700">
            <a:solidFill>
              <a:srgbClr val="F1F7F8"/>
            </a:solidFill>
            <a:prstDash val="solid"/>
          </a:ln>
        </p:spPr>
      </p:sp>
      <p:sp>
        <p:nvSpPr>
          <p:cNvPr id="5" name="Text 3"/>
          <p:cNvSpPr txBox="1"/>
          <p:nvPr/>
        </p:nvSpPr>
        <p:spPr>
          <a:xfrm>
            <a:off x="10390327" y="1847088"/>
            <a:ext cx="1024128" cy="402336"/>
          </a:xfrm>
          <a:prstGeom prst="roundRect">
            <a:avLst>
              <a:gd name="adj" fmla="val 15909"/>
            </a:avLst>
          </a:prstGeom>
          <a:solidFill>
            <a:srgbClr val="0E6E7E"/>
          </a:solidFill>
          <a:ln>
            <a:solidFill>
              <a:srgbClr val="0E6E7E"/>
            </a:solid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תמה 1</a:t>
            </a:r>
            <a:endParaRPr lang="en-US" sz="1300" dirty="0"/>
          </a:p>
        </p:txBody>
      </p:sp>
      <p:sp>
        <p:nvSpPr>
          <p:cNvPr id="6" name="Text 4"/>
          <p:cNvSpPr txBox="1"/>
          <p:nvPr/>
        </p:nvSpPr>
        <p:spPr>
          <a:xfrm>
            <a:off x="2834640" y="1828800"/>
            <a:ext cx="7436815" cy="438912"/>
          </a:xfrm>
          <a:prstGeom prst="rect">
            <a:avLst/>
          </a:prstGeom>
          <a:noFill/>
          <a:ln/>
        </p:spPr>
        <p:txBody>
          <a:bodyPr wrap="square" lIns="0" tIns="0" rIns="0" bIns="0" rtlCol="0" anchor="ctr"/>
          <a:lstStyle/>
          <a:p>
            <a:pPr rtl="1" algn="r" indent="0" marL="0">
              <a:buNone/>
            </a:pPr>
            <a:r>
              <a:rPr lang="en-US" sz="2000" b="1" dirty="0">
                <a:solidFill>
                  <a:srgbClr val="0C3B44"/>
                </a:solidFill>
                <a:latin typeface="Arial" pitchFamily="34" charset="0"/>
                <a:ea typeface="Arial" pitchFamily="34" charset="-122"/>
                <a:cs typeface="Arial" pitchFamily="34" charset="-120"/>
              </a:rPr>
              <a:t>הפער בין הידע לבין היישום</a:t>
            </a:r>
            <a:endParaRPr lang="en-US" sz="2000" dirty="0"/>
          </a:p>
        </p:txBody>
      </p:sp>
      <p:sp>
        <p:nvSpPr>
          <p:cNvPr id="7" name="Text 5"/>
          <p:cNvSpPr txBox="1"/>
          <p:nvPr/>
        </p:nvSpPr>
        <p:spPr>
          <a:xfrm>
            <a:off x="777240" y="1865376"/>
            <a:ext cx="1920240" cy="365760"/>
          </a:xfrm>
          <a:prstGeom prst="rect">
            <a:avLst/>
          </a:prstGeom>
          <a:noFill/>
          <a:ln/>
        </p:spPr>
        <p:txBody>
          <a:bodyPr wrap="square" lIns="0" tIns="0" rIns="0" bIns="0" rtlCol="0" anchor="ctr"/>
          <a:lstStyle/>
          <a:p>
            <a:pPr rtl="1" algn="l" indent="0" marL="0">
              <a:buNone/>
            </a:pPr>
            <a:r>
              <a:rPr lang="en-US" sz="1250" b="1" dirty="0">
                <a:solidFill>
                  <a:srgbClr val="D98C2B"/>
                </a:solidFill>
                <a:latin typeface="Arial" pitchFamily="34" charset="0"/>
                <a:ea typeface="Arial" pitchFamily="34" charset="-122"/>
                <a:cs typeface="Arial" pitchFamily="34" charset="-120"/>
              </a:rPr>
              <a:t>12 מתוך 12 ראיונות</a:t>
            </a:r>
            <a:endParaRPr lang="en-US" sz="1250" dirty="0"/>
          </a:p>
        </p:txBody>
      </p:sp>
      <p:sp>
        <p:nvSpPr>
          <p:cNvPr id="8" name="Text 6"/>
          <p:cNvSpPr txBox="1"/>
          <p:nvPr/>
        </p:nvSpPr>
        <p:spPr>
          <a:xfrm>
            <a:off x="777240" y="2340864"/>
            <a:ext cx="10637215" cy="512064"/>
          </a:xfrm>
          <a:prstGeom prst="rect">
            <a:avLst/>
          </a:prstGeom>
          <a:noFill/>
          <a:ln/>
        </p:spPr>
        <p:txBody>
          <a:bodyPr wrap="square" lIns="0" tIns="0" rIns="0" bIns="0" rtlCol="0" anchor="ctr"/>
          <a:lstStyle/>
          <a:p>
            <a:pPr rtl="1" algn="r" indent="0" marL="0">
              <a:lnSpc>
                <a:spcPts val="2100"/>
              </a:lnSpc>
              <a:buNone/>
            </a:pPr>
            <a:r>
              <a:rPr lang="en-US" sz="1400" dirty="0">
                <a:solidFill>
                  <a:srgbClr val="56686D"/>
                </a:solidFill>
                <a:latin typeface="Arial" pitchFamily="34" charset="0"/>
                <a:ea typeface="Arial" pitchFamily="34" charset="-122"/>
                <a:cs typeface="Arial" pitchFamily="34" charset="-120"/>
              </a:rPr>
              <a:t>כל המרואיינים, לרבות מי שאינו יודע קרוא וכתוב, ידעו לנסח את עקרונות אורח החיים הבריא. הקושי המדווח לא היה בהבנה אלא ביישום.</a:t>
            </a:r>
            <a:endParaRPr lang="en-US" sz="1400" dirty="0"/>
          </a:p>
        </p:txBody>
      </p:sp>
      <p:sp>
        <p:nvSpPr>
          <p:cNvPr id="9" name="Shape 7"/>
          <p:cNvSpPr/>
          <p:nvPr/>
        </p:nvSpPr>
        <p:spPr>
          <a:xfrm>
            <a:off x="777240" y="2907792"/>
            <a:ext cx="10637215" cy="621792"/>
          </a:xfrm>
          <a:prstGeom prst="roundRect">
            <a:avLst>
              <a:gd name="adj" fmla="val 10294"/>
            </a:avLst>
          </a:prstGeom>
          <a:solidFill>
            <a:srgbClr val="FFFFFF"/>
          </a:solidFill>
          <a:ln w="15875">
            <a:solidFill>
              <a:srgbClr val="BFE3DD"/>
            </a:solidFill>
            <a:prstDash val="solid"/>
          </a:ln>
        </p:spPr>
      </p:sp>
      <p:sp>
        <p:nvSpPr>
          <p:cNvPr id="10" name="Text 8"/>
          <p:cNvSpPr txBox="1"/>
          <p:nvPr/>
        </p:nvSpPr>
        <p:spPr>
          <a:xfrm>
            <a:off x="978408" y="2907792"/>
            <a:ext cx="10234879" cy="621792"/>
          </a:xfrm>
          <a:prstGeom prst="rect">
            <a:avLst/>
          </a:prstGeom>
          <a:noFill/>
          <a:ln/>
        </p:spPr>
        <p:txBody>
          <a:bodyPr wrap="square" lIns="0" tIns="0" rIns="0" bIns="0" rtlCol="0" anchor="ctr"/>
          <a:lstStyle/>
          <a:p>
            <a:pPr algn="r" indent="0" marL="0">
              <a:buNone/>
            </a:pPr>
            <a:r>
              <a:rPr lang="en-US" sz="1400" i="1" dirty="0">
                <a:solidFill>
                  <a:srgbClr val="0C3B44"/>
                </a:solidFill>
                <a:latin typeface="Arial" pitchFamily="34" charset="0"/>
                <a:ea typeface="Arial" pitchFamily="34" charset="-122"/>
                <a:cs typeface="Arial" pitchFamily="34" charset="-120"/>
              </a:rPr>
              <a:t>“אני יודע את כל זה, אני יודע הכול ולא עושה כלום. בן אדם לא מאמין שזה יקרה לו, עד שזה קורה לו”  </a:t>
            </a:r>
            <a:pPr algn="r" indent="0" marL="0">
              <a:buNone/>
            </a:pPr>
            <a:r>
              <a:rPr lang="en-US" sz="1400" b="1" dirty="0">
                <a:solidFill>
                  <a:srgbClr val="1D9E9A"/>
                </a:solidFill>
                <a:latin typeface="Arial" pitchFamily="34" charset="0"/>
                <a:ea typeface="Arial" pitchFamily="34" charset="-122"/>
                <a:cs typeface="Arial" pitchFamily="34" charset="-120"/>
              </a:rPr>
              <a:t>(מרואיין 5)</a:t>
            </a:r>
            <a:endParaRPr lang="en-US" sz="1400" dirty="0"/>
          </a:p>
        </p:txBody>
      </p:sp>
      <p:sp>
        <p:nvSpPr>
          <p:cNvPr id="11" name="Shape 9"/>
          <p:cNvSpPr/>
          <p:nvPr/>
        </p:nvSpPr>
        <p:spPr>
          <a:xfrm>
            <a:off x="502920" y="3931920"/>
            <a:ext cx="11185855" cy="2084832"/>
          </a:xfrm>
          <a:prstGeom prst="roundRect">
            <a:avLst>
              <a:gd name="adj" fmla="val 3947"/>
            </a:avLst>
          </a:prstGeom>
          <a:solidFill>
            <a:srgbClr val="F1F7F8"/>
          </a:solidFill>
          <a:ln w="12700">
            <a:solidFill>
              <a:srgbClr val="F1F7F8"/>
            </a:solidFill>
            <a:prstDash val="solid"/>
          </a:ln>
        </p:spPr>
      </p:sp>
      <p:sp>
        <p:nvSpPr>
          <p:cNvPr id="12" name="Text 10"/>
          <p:cNvSpPr txBox="1"/>
          <p:nvPr/>
        </p:nvSpPr>
        <p:spPr>
          <a:xfrm>
            <a:off x="10390327" y="4151376"/>
            <a:ext cx="1024128" cy="402336"/>
          </a:xfrm>
          <a:prstGeom prst="roundRect">
            <a:avLst>
              <a:gd name="adj" fmla="val 15909"/>
            </a:avLst>
          </a:prstGeom>
          <a:solidFill>
            <a:srgbClr val="0E6E7E"/>
          </a:solidFill>
          <a:ln>
            <a:solidFill>
              <a:srgbClr val="0E6E7E"/>
            </a:solid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תמה 2</a:t>
            </a:r>
            <a:endParaRPr lang="en-US" sz="1300" dirty="0"/>
          </a:p>
        </p:txBody>
      </p:sp>
      <p:sp>
        <p:nvSpPr>
          <p:cNvPr id="13" name="Text 11"/>
          <p:cNvSpPr txBox="1"/>
          <p:nvPr/>
        </p:nvSpPr>
        <p:spPr>
          <a:xfrm>
            <a:off x="2834640" y="4133088"/>
            <a:ext cx="7436815" cy="438912"/>
          </a:xfrm>
          <a:prstGeom prst="rect">
            <a:avLst/>
          </a:prstGeom>
          <a:noFill/>
          <a:ln/>
        </p:spPr>
        <p:txBody>
          <a:bodyPr wrap="square" lIns="0" tIns="0" rIns="0" bIns="0" rtlCol="0" anchor="ctr"/>
          <a:lstStyle/>
          <a:p>
            <a:pPr rtl="1" algn="r" indent="0" marL="0">
              <a:buNone/>
            </a:pPr>
            <a:r>
              <a:rPr lang="en-US" sz="2000" b="1" dirty="0">
                <a:solidFill>
                  <a:srgbClr val="0C3B44"/>
                </a:solidFill>
                <a:latin typeface="Arial" pitchFamily="34" charset="0"/>
                <a:ea typeface="Arial" pitchFamily="34" charset="-122"/>
                <a:cs typeface="Arial" pitchFamily="34" charset="-120"/>
              </a:rPr>
              <a:t>המשפחה כמנוע וכבלם</a:t>
            </a:r>
            <a:endParaRPr lang="en-US" sz="2000" dirty="0"/>
          </a:p>
        </p:txBody>
      </p:sp>
      <p:sp>
        <p:nvSpPr>
          <p:cNvPr id="14" name="Text 12"/>
          <p:cNvSpPr txBox="1"/>
          <p:nvPr/>
        </p:nvSpPr>
        <p:spPr>
          <a:xfrm>
            <a:off x="777240" y="4169664"/>
            <a:ext cx="1920240" cy="365760"/>
          </a:xfrm>
          <a:prstGeom prst="rect">
            <a:avLst/>
          </a:prstGeom>
          <a:noFill/>
          <a:ln/>
        </p:spPr>
        <p:txBody>
          <a:bodyPr wrap="square" lIns="0" tIns="0" rIns="0" bIns="0" rtlCol="0" anchor="ctr"/>
          <a:lstStyle/>
          <a:p>
            <a:pPr rtl="1" algn="l" indent="0" marL="0">
              <a:buNone/>
            </a:pPr>
            <a:r>
              <a:rPr lang="en-US" sz="1250" b="1" dirty="0">
                <a:solidFill>
                  <a:srgbClr val="D98C2B"/>
                </a:solidFill>
                <a:latin typeface="Arial" pitchFamily="34" charset="0"/>
                <a:ea typeface="Arial" pitchFamily="34" charset="-122"/>
                <a:cs typeface="Arial" pitchFamily="34" charset="-120"/>
              </a:rPr>
              <a:t>12 מתוך 12 ראיונות</a:t>
            </a:r>
            <a:endParaRPr lang="en-US" sz="1250" dirty="0"/>
          </a:p>
        </p:txBody>
      </p:sp>
      <p:sp>
        <p:nvSpPr>
          <p:cNvPr id="15" name="Text 13"/>
          <p:cNvSpPr txBox="1"/>
          <p:nvPr/>
        </p:nvSpPr>
        <p:spPr>
          <a:xfrm>
            <a:off x="777240" y="4645152"/>
            <a:ext cx="10637215" cy="512064"/>
          </a:xfrm>
          <a:prstGeom prst="rect">
            <a:avLst/>
          </a:prstGeom>
          <a:noFill/>
          <a:ln/>
        </p:spPr>
        <p:txBody>
          <a:bodyPr wrap="square" lIns="0" tIns="0" rIns="0" bIns="0" rtlCol="0" anchor="ctr"/>
          <a:lstStyle/>
          <a:p>
            <a:pPr rtl="1" algn="r" indent="0" marL="0">
              <a:lnSpc>
                <a:spcPts val="2100"/>
              </a:lnSpc>
              <a:buNone/>
            </a:pPr>
            <a:r>
              <a:rPr lang="en-US" sz="1400" dirty="0">
                <a:solidFill>
                  <a:srgbClr val="56686D"/>
                </a:solidFill>
                <a:latin typeface="Arial" pitchFamily="34" charset="0"/>
                <a:ea typeface="Arial" pitchFamily="34" charset="-122"/>
                <a:cs typeface="Arial" pitchFamily="34" charset="-120"/>
              </a:rPr>
              <a:t>המשפחה תוארה כתנאי להצלחה בשינוי, ובה בעת מנהגי האירוח והכיבוד תוארו כחסם המרכזי בפני תזונה מאוזנת.</a:t>
            </a:r>
            <a:endParaRPr lang="en-US" sz="1400" dirty="0"/>
          </a:p>
        </p:txBody>
      </p:sp>
      <p:sp>
        <p:nvSpPr>
          <p:cNvPr id="16" name="Shape 14"/>
          <p:cNvSpPr/>
          <p:nvPr/>
        </p:nvSpPr>
        <p:spPr>
          <a:xfrm>
            <a:off x="777240" y="5212080"/>
            <a:ext cx="10637215" cy="621792"/>
          </a:xfrm>
          <a:prstGeom prst="roundRect">
            <a:avLst>
              <a:gd name="adj" fmla="val 10294"/>
            </a:avLst>
          </a:prstGeom>
          <a:solidFill>
            <a:srgbClr val="FFFFFF"/>
          </a:solidFill>
          <a:ln w="15875">
            <a:solidFill>
              <a:srgbClr val="BFE3DD"/>
            </a:solidFill>
            <a:prstDash val="solid"/>
          </a:ln>
        </p:spPr>
      </p:sp>
      <p:sp>
        <p:nvSpPr>
          <p:cNvPr id="17" name="Text 15"/>
          <p:cNvSpPr txBox="1"/>
          <p:nvPr/>
        </p:nvSpPr>
        <p:spPr>
          <a:xfrm>
            <a:off x="978408" y="5212080"/>
            <a:ext cx="10234879" cy="621792"/>
          </a:xfrm>
          <a:prstGeom prst="rect">
            <a:avLst/>
          </a:prstGeom>
          <a:noFill/>
          <a:ln/>
        </p:spPr>
        <p:txBody>
          <a:bodyPr wrap="square" lIns="0" tIns="0" rIns="0" bIns="0" rtlCol="0" anchor="ctr"/>
          <a:lstStyle/>
          <a:p>
            <a:pPr algn="r" indent="0" marL="0">
              <a:buNone/>
            </a:pPr>
            <a:r>
              <a:rPr lang="en-US" sz="1400" i="1" dirty="0">
                <a:solidFill>
                  <a:srgbClr val="0C3B44"/>
                </a:solidFill>
                <a:latin typeface="Arial" pitchFamily="34" charset="0"/>
                <a:ea typeface="Arial" pitchFamily="34" charset="-122"/>
                <a:cs typeface="Arial" pitchFamily="34" charset="-120"/>
              </a:rPr>
              <a:t>“מרוב כבוד הם עושים אותי נכה, הכבוד שלנו לזקנים הורג את הזקנים”  </a:t>
            </a:r>
            <a:pPr algn="r" indent="0" marL="0">
              <a:buNone/>
            </a:pPr>
            <a:r>
              <a:rPr lang="en-US" sz="1400" b="1" dirty="0">
                <a:solidFill>
                  <a:srgbClr val="1D9E9A"/>
                </a:solidFill>
                <a:latin typeface="Arial" pitchFamily="34" charset="0"/>
                <a:ea typeface="Arial" pitchFamily="34" charset="-122"/>
                <a:cs typeface="Arial" pitchFamily="34" charset="-120"/>
              </a:rPr>
              <a:t>(מרואיין 11)</a:t>
            </a:r>
            <a:endParaRPr lang="en-US" sz="14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ממצאים מרכזיים</a:t>
            </a:r>
            <a:endParaRPr lang="en-US" sz="3200" dirty="0"/>
          </a:p>
        </p:txBody>
      </p:sp>
      <p:sp>
        <p:nvSpPr>
          <p:cNvPr id="3" name="Text 1"/>
          <p:cNvSpPr txBox="1"/>
          <p:nvPr/>
        </p:nvSpPr>
        <p:spPr>
          <a:xfrm>
            <a:off x="1417320" y="932688"/>
            <a:ext cx="10271455" cy="329184"/>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התשתית כתנאי מקדים, ונקודת המפנה שמאחרת להגיע</a:t>
            </a:r>
            <a:endParaRPr lang="en-US" sz="1500" dirty="0"/>
          </a:p>
        </p:txBody>
      </p:sp>
      <p:sp>
        <p:nvSpPr>
          <p:cNvPr id="4" name="Shape 2"/>
          <p:cNvSpPr/>
          <p:nvPr/>
        </p:nvSpPr>
        <p:spPr>
          <a:xfrm>
            <a:off x="502920" y="1627632"/>
            <a:ext cx="11185855" cy="2084832"/>
          </a:xfrm>
          <a:prstGeom prst="roundRect">
            <a:avLst>
              <a:gd name="adj" fmla="val 3947"/>
            </a:avLst>
          </a:prstGeom>
          <a:solidFill>
            <a:srgbClr val="F1F7F8"/>
          </a:solidFill>
          <a:ln w="12700">
            <a:solidFill>
              <a:srgbClr val="F1F7F8"/>
            </a:solidFill>
            <a:prstDash val="solid"/>
          </a:ln>
        </p:spPr>
      </p:sp>
      <p:sp>
        <p:nvSpPr>
          <p:cNvPr id="5" name="Text 3"/>
          <p:cNvSpPr txBox="1"/>
          <p:nvPr/>
        </p:nvSpPr>
        <p:spPr>
          <a:xfrm>
            <a:off x="10390327" y="1847088"/>
            <a:ext cx="1024128" cy="402336"/>
          </a:xfrm>
          <a:prstGeom prst="roundRect">
            <a:avLst>
              <a:gd name="adj" fmla="val 15909"/>
            </a:avLst>
          </a:prstGeom>
          <a:solidFill>
            <a:srgbClr val="0E6E7E"/>
          </a:solidFill>
          <a:ln>
            <a:solidFill>
              <a:srgbClr val="0E6E7E"/>
            </a:solid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תמה 3</a:t>
            </a:r>
            <a:endParaRPr lang="en-US" sz="1300" dirty="0"/>
          </a:p>
        </p:txBody>
      </p:sp>
      <p:sp>
        <p:nvSpPr>
          <p:cNvPr id="6" name="Text 4"/>
          <p:cNvSpPr txBox="1"/>
          <p:nvPr/>
        </p:nvSpPr>
        <p:spPr>
          <a:xfrm>
            <a:off x="2834640" y="1828800"/>
            <a:ext cx="7436815" cy="438912"/>
          </a:xfrm>
          <a:prstGeom prst="rect">
            <a:avLst/>
          </a:prstGeom>
          <a:noFill/>
          <a:ln/>
        </p:spPr>
        <p:txBody>
          <a:bodyPr wrap="square" lIns="0" tIns="0" rIns="0" bIns="0" rtlCol="0" anchor="ctr"/>
          <a:lstStyle/>
          <a:p>
            <a:pPr rtl="1" algn="r" indent="0" marL="0">
              <a:buNone/>
            </a:pPr>
            <a:r>
              <a:rPr lang="en-US" sz="2000" b="1" dirty="0">
                <a:solidFill>
                  <a:srgbClr val="0C3B44"/>
                </a:solidFill>
                <a:latin typeface="Arial" pitchFamily="34" charset="0"/>
                <a:ea typeface="Arial" pitchFamily="34" charset="-122"/>
                <a:cs typeface="Arial" pitchFamily="34" charset="-120"/>
              </a:rPr>
              <a:t>תשתית פיזית ומגדרית</a:t>
            </a:r>
            <a:endParaRPr lang="en-US" sz="2000" dirty="0"/>
          </a:p>
        </p:txBody>
      </p:sp>
      <p:sp>
        <p:nvSpPr>
          <p:cNvPr id="7" name="Text 5"/>
          <p:cNvSpPr txBox="1"/>
          <p:nvPr/>
        </p:nvSpPr>
        <p:spPr>
          <a:xfrm>
            <a:off x="777240" y="1865376"/>
            <a:ext cx="1920240" cy="365760"/>
          </a:xfrm>
          <a:prstGeom prst="rect">
            <a:avLst/>
          </a:prstGeom>
          <a:noFill/>
          <a:ln/>
        </p:spPr>
        <p:txBody>
          <a:bodyPr wrap="square" lIns="0" tIns="0" rIns="0" bIns="0" rtlCol="0" anchor="ctr"/>
          <a:lstStyle/>
          <a:p>
            <a:pPr rtl="1" algn="l" indent="0" marL="0">
              <a:buNone/>
            </a:pPr>
            <a:r>
              <a:rPr lang="en-US" sz="1250" b="1" dirty="0">
                <a:solidFill>
                  <a:srgbClr val="D98C2B"/>
                </a:solidFill>
                <a:latin typeface="Arial" pitchFamily="34" charset="0"/>
                <a:ea typeface="Arial" pitchFamily="34" charset="-122"/>
                <a:cs typeface="Arial" pitchFamily="34" charset="-120"/>
              </a:rPr>
              <a:t>10 מתוך 12 ראיונות</a:t>
            </a:r>
            <a:endParaRPr lang="en-US" sz="1250" dirty="0"/>
          </a:p>
        </p:txBody>
      </p:sp>
      <p:sp>
        <p:nvSpPr>
          <p:cNvPr id="8" name="Text 6"/>
          <p:cNvSpPr txBox="1"/>
          <p:nvPr/>
        </p:nvSpPr>
        <p:spPr>
          <a:xfrm>
            <a:off x="777240" y="2340864"/>
            <a:ext cx="10637215" cy="512064"/>
          </a:xfrm>
          <a:prstGeom prst="rect">
            <a:avLst/>
          </a:prstGeom>
          <a:noFill/>
          <a:ln/>
        </p:spPr>
        <p:txBody>
          <a:bodyPr wrap="square" lIns="0" tIns="0" rIns="0" bIns="0" rtlCol="0" anchor="ctr"/>
          <a:lstStyle/>
          <a:p>
            <a:pPr rtl="1" algn="r" indent="0" marL="0">
              <a:lnSpc>
                <a:spcPts val="2100"/>
              </a:lnSpc>
              <a:buNone/>
            </a:pPr>
            <a:r>
              <a:rPr lang="en-US" sz="1400" dirty="0">
                <a:solidFill>
                  <a:srgbClr val="56686D"/>
                </a:solidFill>
                <a:latin typeface="Arial" pitchFamily="34" charset="0"/>
                <a:ea typeface="Arial" pitchFamily="34" charset="-122"/>
                <a:cs typeface="Arial" pitchFamily="34" charset="-120"/>
              </a:rPr>
              <a:t>פער חד בין ערד, שתוארה כעיר של הולכים, לבין כסייפה וחורה, שבהן תוארו היעדר מדרכות ותאורה והיעדר מסגרות ספורט, ובפרט לנשים.</a:t>
            </a:r>
            <a:endParaRPr lang="en-US" sz="1400" dirty="0"/>
          </a:p>
        </p:txBody>
      </p:sp>
      <p:sp>
        <p:nvSpPr>
          <p:cNvPr id="9" name="Shape 7"/>
          <p:cNvSpPr/>
          <p:nvPr/>
        </p:nvSpPr>
        <p:spPr>
          <a:xfrm>
            <a:off x="777240" y="2907792"/>
            <a:ext cx="10637215" cy="621792"/>
          </a:xfrm>
          <a:prstGeom prst="roundRect">
            <a:avLst>
              <a:gd name="adj" fmla="val 10294"/>
            </a:avLst>
          </a:prstGeom>
          <a:solidFill>
            <a:srgbClr val="FFFFFF"/>
          </a:solidFill>
          <a:ln w="15875">
            <a:solidFill>
              <a:srgbClr val="BFE3DD"/>
            </a:solidFill>
            <a:prstDash val="solid"/>
          </a:ln>
        </p:spPr>
      </p:sp>
      <p:sp>
        <p:nvSpPr>
          <p:cNvPr id="10" name="Text 8"/>
          <p:cNvSpPr txBox="1"/>
          <p:nvPr/>
        </p:nvSpPr>
        <p:spPr>
          <a:xfrm>
            <a:off x="978408" y="2907792"/>
            <a:ext cx="10234879" cy="621792"/>
          </a:xfrm>
          <a:prstGeom prst="rect">
            <a:avLst/>
          </a:prstGeom>
          <a:noFill/>
          <a:ln/>
        </p:spPr>
        <p:txBody>
          <a:bodyPr wrap="square" lIns="0" tIns="0" rIns="0" bIns="0" rtlCol="0" anchor="ctr"/>
          <a:lstStyle/>
          <a:p>
            <a:pPr algn="r" indent="0" marL="0">
              <a:buNone/>
            </a:pPr>
            <a:r>
              <a:rPr lang="en-US" sz="1400" i="1" dirty="0">
                <a:solidFill>
                  <a:srgbClr val="0C3B44"/>
                </a:solidFill>
                <a:latin typeface="Arial" pitchFamily="34" charset="0"/>
                <a:ea typeface="Arial" pitchFamily="34" charset="-122"/>
                <a:cs typeface="Arial" pitchFamily="34" charset="-120"/>
              </a:rPr>
              <a:t>“יש לי משפחה שכל זקן יהודי היה מקנא בה, ואין לי מדרכה אחת ללכת עליה”  </a:t>
            </a:r>
            <a:pPr algn="r" indent="0" marL="0">
              <a:buNone/>
            </a:pPr>
            <a:r>
              <a:rPr lang="en-US" sz="1400" b="1" dirty="0">
                <a:solidFill>
                  <a:srgbClr val="1D9E9A"/>
                </a:solidFill>
                <a:latin typeface="Arial" pitchFamily="34" charset="0"/>
                <a:ea typeface="Arial" pitchFamily="34" charset="-122"/>
                <a:cs typeface="Arial" pitchFamily="34" charset="-120"/>
              </a:rPr>
              <a:t>(מרואיין 11)</a:t>
            </a:r>
            <a:endParaRPr lang="en-US" sz="1400" dirty="0"/>
          </a:p>
        </p:txBody>
      </p:sp>
      <p:sp>
        <p:nvSpPr>
          <p:cNvPr id="11" name="Shape 9"/>
          <p:cNvSpPr/>
          <p:nvPr/>
        </p:nvSpPr>
        <p:spPr>
          <a:xfrm>
            <a:off x="502920" y="3931920"/>
            <a:ext cx="11185855" cy="2084832"/>
          </a:xfrm>
          <a:prstGeom prst="roundRect">
            <a:avLst>
              <a:gd name="adj" fmla="val 3947"/>
            </a:avLst>
          </a:prstGeom>
          <a:solidFill>
            <a:srgbClr val="F1F7F8"/>
          </a:solidFill>
          <a:ln w="12700">
            <a:solidFill>
              <a:srgbClr val="F1F7F8"/>
            </a:solidFill>
            <a:prstDash val="solid"/>
          </a:ln>
        </p:spPr>
      </p:sp>
      <p:sp>
        <p:nvSpPr>
          <p:cNvPr id="12" name="Text 10"/>
          <p:cNvSpPr txBox="1"/>
          <p:nvPr/>
        </p:nvSpPr>
        <p:spPr>
          <a:xfrm>
            <a:off x="10390327" y="4151376"/>
            <a:ext cx="1024128" cy="402336"/>
          </a:xfrm>
          <a:prstGeom prst="roundRect">
            <a:avLst>
              <a:gd name="adj" fmla="val 15909"/>
            </a:avLst>
          </a:prstGeom>
          <a:solidFill>
            <a:srgbClr val="0E6E7E"/>
          </a:solidFill>
          <a:ln>
            <a:solidFill>
              <a:srgbClr val="0E6E7E"/>
            </a:solid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תמה 4</a:t>
            </a:r>
            <a:endParaRPr lang="en-US" sz="1300" dirty="0"/>
          </a:p>
        </p:txBody>
      </p:sp>
      <p:sp>
        <p:nvSpPr>
          <p:cNvPr id="13" name="Text 11"/>
          <p:cNvSpPr txBox="1"/>
          <p:nvPr/>
        </p:nvSpPr>
        <p:spPr>
          <a:xfrm>
            <a:off x="2834640" y="4133088"/>
            <a:ext cx="7436815" cy="438912"/>
          </a:xfrm>
          <a:prstGeom prst="rect">
            <a:avLst/>
          </a:prstGeom>
          <a:noFill/>
          <a:ln/>
        </p:spPr>
        <p:txBody>
          <a:bodyPr wrap="square" lIns="0" tIns="0" rIns="0" bIns="0" rtlCol="0" anchor="ctr"/>
          <a:lstStyle/>
          <a:p>
            <a:pPr rtl="1" algn="r" indent="0" marL="0">
              <a:buNone/>
            </a:pPr>
            <a:r>
              <a:rPr lang="en-US" sz="2000" b="1" dirty="0">
                <a:solidFill>
                  <a:srgbClr val="0C3B44"/>
                </a:solidFill>
                <a:latin typeface="Arial" pitchFamily="34" charset="0"/>
                <a:ea typeface="Arial" pitchFamily="34" charset="-122"/>
                <a:cs typeface="Arial" pitchFamily="34" charset="-120"/>
              </a:rPr>
              <a:t>נקודת המפנה: האירוע הבריאותי כטריגר</a:t>
            </a:r>
            <a:endParaRPr lang="en-US" sz="2000" dirty="0"/>
          </a:p>
        </p:txBody>
      </p:sp>
      <p:sp>
        <p:nvSpPr>
          <p:cNvPr id="14" name="Text 12"/>
          <p:cNvSpPr txBox="1"/>
          <p:nvPr/>
        </p:nvSpPr>
        <p:spPr>
          <a:xfrm>
            <a:off x="777240" y="4169664"/>
            <a:ext cx="1920240" cy="365760"/>
          </a:xfrm>
          <a:prstGeom prst="rect">
            <a:avLst/>
          </a:prstGeom>
          <a:noFill/>
          <a:ln/>
        </p:spPr>
        <p:txBody>
          <a:bodyPr wrap="square" lIns="0" tIns="0" rIns="0" bIns="0" rtlCol="0" anchor="ctr"/>
          <a:lstStyle/>
          <a:p>
            <a:pPr rtl="1" algn="l" indent="0" marL="0">
              <a:buNone/>
            </a:pPr>
            <a:r>
              <a:rPr lang="en-US" sz="1250" b="1" dirty="0">
                <a:solidFill>
                  <a:srgbClr val="D98C2B"/>
                </a:solidFill>
                <a:latin typeface="Arial" pitchFamily="34" charset="0"/>
                <a:ea typeface="Arial" pitchFamily="34" charset="-122"/>
                <a:cs typeface="Arial" pitchFamily="34" charset="-120"/>
              </a:rPr>
              <a:t>9 מתוך 12 ראיונות</a:t>
            </a:r>
            <a:endParaRPr lang="en-US" sz="1250" dirty="0"/>
          </a:p>
        </p:txBody>
      </p:sp>
      <p:sp>
        <p:nvSpPr>
          <p:cNvPr id="15" name="Text 13"/>
          <p:cNvSpPr txBox="1"/>
          <p:nvPr/>
        </p:nvSpPr>
        <p:spPr>
          <a:xfrm>
            <a:off x="777240" y="4645152"/>
            <a:ext cx="10637215" cy="512064"/>
          </a:xfrm>
          <a:prstGeom prst="rect">
            <a:avLst/>
          </a:prstGeom>
          <a:noFill/>
          <a:ln/>
        </p:spPr>
        <p:txBody>
          <a:bodyPr wrap="square" lIns="0" tIns="0" rIns="0" bIns="0" rtlCol="0" anchor="ctr"/>
          <a:lstStyle/>
          <a:p>
            <a:pPr rtl="1" algn="r" indent="0" marL="0">
              <a:lnSpc>
                <a:spcPts val="2100"/>
              </a:lnSpc>
              <a:buNone/>
            </a:pPr>
            <a:r>
              <a:rPr lang="en-US" sz="1400" dirty="0">
                <a:solidFill>
                  <a:srgbClr val="56686D"/>
                </a:solidFill>
                <a:latin typeface="Arial" pitchFamily="34" charset="0"/>
                <a:ea typeface="Arial" pitchFamily="34" charset="-122"/>
                <a:cs typeface="Arial" pitchFamily="34" charset="-120"/>
              </a:rPr>
              <a:t>השינוי בפועל לא התרחש בעקבות ידע או הסברה, אלא בעקבות אבחנה או אירוע לב. הדפוס מעודד ומדאיג כאחד, שכן הוא מגיע לאחר שנגרם נזק.</a:t>
            </a:r>
            <a:endParaRPr lang="en-US" sz="1400" dirty="0"/>
          </a:p>
        </p:txBody>
      </p:sp>
      <p:sp>
        <p:nvSpPr>
          <p:cNvPr id="16" name="Shape 14"/>
          <p:cNvSpPr/>
          <p:nvPr/>
        </p:nvSpPr>
        <p:spPr>
          <a:xfrm>
            <a:off x="777240" y="5212080"/>
            <a:ext cx="10637215" cy="621792"/>
          </a:xfrm>
          <a:prstGeom prst="roundRect">
            <a:avLst>
              <a:gd name="adj" fmla="val 10294"/>
            </a:avLst>
          </a:prstGeom>
          <a:solidFill>
            <a:srgbClr val="FFFFFF"/>
          </a:solidFill>
          <a:ln w="15875">
            <a:solidFill>
              <a:srgbClr val="BFE3DD"/>
            </a:solidFill>
            <a:prstDash val="solid"/>
          </a:ln>
        </p:spPr>
      </p:sp>
      <p:sp>
        <p:nvSpPr>
          <p:cNvPr id="17" name="Text 15"/>
          <p:cNvSpPr txBox="1"/>
          <p:nvPr/>
        </p:nvSpPr>
        <p:spPr>
          <a:xfrm>
            <a:off x="978408" y="5212080"/>
            <a:ext cx="10234879" cy="621792"/>
          </a:xfrm>
          <a:prstGeom prst="rect">
            <a:avLst/>
          </a:prstGeom>
          <a:noFill/>
          <a:ln/>
        </p:spPr>
        <p:txBody>
          <a:bodyPr wrap="square" lIns="0" tIns="0" rIns="0" bIns="0" rtlCol="0" anchor="ctr"/>
          <a:lstStyle/>
          <a:p>
            <a:pPr algn="r" indent="0" marL="0">
              <a:buNone/>
            </a:pPr>
            <a:r>
              <a:rPr lang="en-US" sz="1400" i="1" dirty="0">
                <a:solidFill>
                  <a:srgbClr val="0C3B44"/>
                </a:solidFill>
                <a:latin typeface="Arial" pitchFamily="34" charset="0"/>
                <a:ea typeface="Arial" pitchFamily="34" charset="-122"/>
                <a:cs typeface="Arial" pitchFamily="34" charset="-120"/>
              </a:rPr>
              <a:t>“אל תחכה לצנתור שלך. אני חיכיתי, ועד היום אני מצטער שלא התחלתי בגיל שלושים וחמש”  </a:t>
            </a:r>
            <a:pPr algn="r" indent="0" marL="0">
              <a:buNone/>
            </a:pPr>
            <a:r>
              <a:rPr lang="en-US" sz="1400" b="1" dirty="0">
                <a:solidFill>
                  <a:srgbClr val="1D9E9A"/>
                </a:solidFill>
                <a:latin typeface="Arial" pitchFamily="34" charset="0"/>
                <a:ea typeface="Arial" pitchFamily="34" charset="-122"/>
                <a:cs typeface="Arial" pitchFamily="34" charset="-120"/>
              </a:rPr>
              <a:t>(מרואיין 3)</a:t>
            </a:r>
            <a:endParaRPr lang="en-US" sz="14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ממצאים מרכזיים</a:t>
            </a:r>
            <a:endParaRPr lang="en-US" sz="3200" dirty="0"/>
          </a:p>
        </p:txBody>
      </p:sp>
      <p:sp>
        <p:nvSpPr>
          <p:cNvPr id="3" name="Text 1"/>
          <p:cNvSpPr txBox="1"/>
          <p:nvPr/>
        </p:nvSpPr>
        <p:spPr>
          <a:xfrm>
            <a:off x="1417320" y="932688"/>
            <a:ext cx="10271455" cy="329184"/>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תפיסת מערכת הבריאות, וסביבת המידע</a:t>
            </a:r>
            <a:endParaRPr lang="en-US" sz="1500" dirty="0"/>
          </a:p>
        </p:txBody>
      </p:sp>
      <p:sp>
        <p:nvSpPr>
          <p:cNvPr id="4" name="Shape 2"/>
          <p:cNvSpPr/>
          <p:nvPr/>
        </p:nvSpPr>
        <p:spPr>
          <a:xfrm>
            <a:off x="502920" y="1627632"/>
            <a:ext cx="11185855" cy="2084832"/>
          </a:xfrm>
          <a:prstGeom prst="roundRect">
            <a:avLst>
              <a:gd name="adj" fmla="val 3947"/>
            </a:avLst>
          </a:prstGeom>
          <a:solidFill>
            <a:srgbClr val="F1F7F8"/>
          </a:solidFill>
          <a:ln w="12700">
            <a:solidFill>
              <a:srgbClr val="F1F7F8"/>
            </a:solidFill>
            <a:prstDash val="solid"/>
          </a:ln>
        </p:spPr>
      </p:sp>
      <p:sp>
        <p:nvSpPr>
          <p:cNvPr id="5" name="Text 3"/>
          <p:cNvSpPr txBox="1"/>
          <p:nvPr/>
        </p:nvSpPr>
        <p:spPr>
          <a:xfrm>
            <a:off x="10390327" y="1847088"/>
            <a:ext cx="1024128" cy="402336"/>
          </a:xfrm>
          <a:prstGeom prst="roundRect">
            <a:avLst>
              <a:gd name="adj" fmla="val 15909"/>
            </a:avLst>
          </a:prstGeom>
          <a:solidFill>
            <a:srgbClr val="0E6E7E"/>
          </a:solidFill>
          <a:ln>
            <a:solidFill>
              <a:srgbClr val="0E6E7E"/>
            </a:solid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תמה 5</a:t>
            </a:r>
            <a:endParaRPr lang="en-US" sz="1300" dirty="0"/>
          </a:p>
        </p:txBody>
      </p:sp>
      <p:sp>
        <p:nvSpPr>
          <p:cNvPr id="6" name="Text 4"/>
          <p:cNvSpPr txBox="1"/>
          <p:nvPr/>
        </p:nvSpPr>
        <p:spPr>
          <a:xfrm>
            <a:off x="2834640" y="1828800"/>
            <a:ext cx="7436815" cy="438912"/>
          </a:xfrm>
          <a:prstGeom prst="rect">
            <a:avLst/>
          </a:prstGeom>
          <a:noFill/>
          <a:ln/>
        </p:spPr>
        <p:txBody>
          <a:bodyPr wrap="square" lIns="0" tIns="0" rIns="0" bIns="0" rtlCol="0" anchor="ctr"/>
          <a:lstStyle/>
          <a:p>
            <a:pPr rtl="1" algn="r" indent="0" marL="0">
              <a:buNone/>
            </a:pPr>
            <a:r>
              <a:rPr lang="en-US" sz="2000" b="1" dirty="0">
                <a:solidFill>
                  <a:srgbClr val="0C3B44"/>
                </a:solidFill>
                <a:latin typeface="Arial" pitchFamily="34" charset="0"/>
                <a:ea typeface="Arial" pitchFamily="34" charset="-122"/>
                <a:cs typeface="Arial" pitchFamily="34" charset="-120"/>
              </a:rPr>
              <a:t>מערכת מצוינת בטיפול, חלשה במניעה יזומה</a:t>
            </a:r>
            <a:endParaRPr lang="en-US" sz="2000" dirty="0"/>
          </a:p>
        </p:txBody>
      </p:sp>
      <p:sp>
        <p:nvSpPr>
          <p:cNvPr id="7" name="Text 5"/>
          <p:cNvSpPr txBox="1"/>
          <p:nvPr/>
        </p:nvSpPr>
        <p:spPr>
          <a:xfrm>
            <a:off x="777240" y="1865376"/>
            <a:ext cx="1920240" cy="365760"/>
          </a:xfrm>
          <a:prstGeom prst="rect">
            <a:avLst/>
          </a:prstGeom>
          <a:noFill/>
          <a:ln/>
        </p:spPr>
        <p:txBody>
          <a:bodyPr wrap="square" lIns="0" tIns="0" rIns="0" bIns="0" rtlCol="0" anchor="ctr"/>
          <a:lstStyle/>
          <a:p>
            <a:pPr rtl="1" algn="l" indent="0" marL="0">
              <a:buNone/>
            </a:pPr>
            <a:r>
              <a:rPr lang="en-US" sz="1250" b="1" dirty="0">
                <a:solidFill>
                  <a:srgbClr val="D98C2B"/>
                </a:solidFill>
                <a:latin typeface="Arial" pitchFamily="34" charset="0"/>
                <a:ea typeface="Arial" pitchFamily="34" charset="-122"/>
                <a:cs typeface="Arial" pitchFamily="34" charset="-120"/>
              </a:rPr>
              <a:t>11 מתוך 12 ראיונות</a:t>
            </a:r>
            <a:endParaRPr lang="en-US" sz="1250" dirty="0"/>
          </a:p>
        </p:txBody>
      </p:sp>
      <p:sp>
        <p:nvSpPr>
          <p:cNvPr id="8" name="Text 6"/>
          <p:cNvSpPr txBox="1"/>
          <p:nvPr/>
        </p:nvSpPr>
        <p:spPr>
          <a:xfrm>
            <a:off x="777240" y="2340864"/>
            <a:ext cx="10637215" cy="512064"/>
          </a:xfrm>
          <a:prstGeom prst="rect">
            <a:avLst/>
          </a:prstGeom>
          <a:noFill/>
          <a:ln/>
        </p:spPr>
        <p:txBody>
          <a:bodyPr wrap="square" lIns="0" tIns="0" rIns="0" bIns="0" rtlCol="0" anchor="ctr"/>
          <a:lstStyle/>
          <a:p>
            <a:pPr rtl="1" algn="r" indent="0" marL="0">
              <a:lnSpc>
                <a:spcPts val="2100"/>
              </a:lnSpc>
              <a:buNone/>
            </a:pPr>
            <a:r>
              <a:rPr lang="en-US" sz="1400" dirty="0">
                <a:solidFill>
                  <a:srgbClr val="56686D"/>
                </a:solidFill>
                <a:latin typeface="Arial" pitchFamily="34" charset="0"/>
                <a:ea typeface="Arial" pitchFamily="34" charset="-122"/>
                <a:cs typeface="Arial" pitchFamily="34" charset="-120"/>
              </a:rPr>
              <a:t>הערכה גבוהה לאיכות המעקב לאחר אבחנה, לצד ביקורת עקבית על היעדר פנייה יזומה קודם לה, אף כשגורמי הסיכון מתועדים בתיק הרפואי.</a:t>
            </a:r>
            <a:endParaRPr lang="en-US" sz="1400" dirty="0"/>
          </a:p>
        </p:txBody>
      </p:sp>
      <p:sp>
        <p:nvSpPr>
          <p:cNvPr id="9" name="Shape 7"/>
          <p:cNvSpPr/>
          <p:nvPr/>
        </p:nvSpPr>
        <p:spPr>
          <a:xfrm>
            <a:off x="777240" y="2907792"/>
            <a:ext cx="10637215" cy="621792"/>
          </a:xfrm>
          <a:prstGeom prst="roundRect">
            <a:avLst>
              <a:gd name="adj" fmla="val 10294"/>
            </a:avLst>
          </a:prstGeom>
          <a:solidFill>
            <a:srgbClr val="FFFFFF"/>
          </a:solidFill>
          <a:ln w="15875">
            <a:solidFill>
              <a:srgbClr val="BFE3DD"/>
            </a:solidFill>
            <a:prstDash val="solid"/>
          </a:ln>
        </p:spPr>
      </p:sp>
      <p:sp>
        <p:nvSpPr>
          <p:cNvPr id="10" name="Text 8"/>
          <p:cNvSpPr txBox="1"/>
          <p:nvPr/>
        </p:nvSpPr>
        <p:spPr>
          <a:xfrm>
            <a:off x="978408" y="2907792"/>
            <a:ext cx="10234879" cy="621792"/>
          </a:xfrm>
          <a:prstGeom prst="rect">
            <a:avLst/>
          </a:prstGeom>
          <a:noFill/>
          <a:ln/>
        </p:spPr>
        <p:txBody>
          <a:bodyPr wrap="square" lIns="0" tIns="0" rIns="0" bIns="0" rtlCol="0" anchor="ctr"/>
          <a:lstStyle/>
          <a:p>
            <a:pPr algn="r" indent="0" marL="0">
              <a:buNone/>
            </a:pPr>
            <a:r>
              <a:rPr lang="en-US" sz="1400" i="1" dirty="0">
                <a:solidFill>
                  <a:srgbClr val="0C3B44"/>
                </a:solidFill>
                <a:latin typeface="Arial" pitchFamily="34" charset="0"/>
                <a:ea typeface="Arial" pitchFamily="34" charset="-122"/>
                <a:cs typeface="Arial" pitchFamily="34" charset="-120"/>
              </a:rPr>
              <a:t>“המערכת שלנו מצוינת בלטפל בחולים, וחלשה בלמנוע מבריאים להפוך לחולים”  </a:t>
            </a:r>
            <a:pPr algn="r" indent="0" marL="0">
              <a:buNone/>
            </a:pPr>
            <a:r>
              <a:rPr lang="en-US" sz="1400" b="1" dirty="0">
                <a:solidFill>
                  <a:srgbClr val="1D9E9A"/>
                </a:solidFill>
                <a:latin typeface="Arial" pitchFamily="34" charset="0"/>
                <a:ea typeface="Arial" pitchFamily="34" charset="-122"/>
                <a:cs typeface="Arial" pitchFamily="34" charset="-120"/>
              </a:rPr>
              <a:t>(מרואיין 3)</a:t>
            </a:r>
            <a:endParaRPr lang="en-US" sz="1400" dirty="0"/>
          </a:p>
        </p:txBody>
      </p:sp>
      <p:sp>
        <p:nvSpPr>
          <p:cNvPr id="11" name="Shape 9"/>
          <p:cNvSpPr/>
          <p:nvPr/>
        </p:nvSpPr>
        <p:spPr>
          <a:xfrm>
            <a:off x="502920" y="3931920"/>
            <a:ext cx="11185855" cy="2084832"/>
          </a:xfrm>
          <a:prstGeom prst="roundRect">
            <a:avLst>
              <a:gd name="adj" fmla="val 3947"/>
            </a:avLst>
          </a:prstGeom>
          <a:solidFill>
            <a:srgbClr val="F1F7F8"/>
          </a:solidFill>
          <a:ln w="12700">
            <a:solidFill>
              <a:srgbClr val="F1F7F8"/>
            </a:solidFill>
            <a:prstDash val="solid"/>
          </a:ln>
        </p:spPr>
      </p:sp>
      <p:sp>
        <p:nvSpPr>
          <p:cNvPr id="12" name="Text 10"/>
          <p:cNvSpPr txBox="1"/>
          <p:nvPr/>
        </p:nvSpPr>
        <p:spPr>
          <a:xfrm>
            <a:off x="10390327" y="4151376"/>
            <a:ext cx="1024128" cy="402336"/>
          </a:xfrm>
          <a:prstGeom prst="roundRect">
            <a:avLst>
              <a:gd name="adj" fmla="val 15909"/>
            </a:avLst>
          </a:prstGeom>
          <a:solidFill>
            <a:srgbClr val="0E6E7E"/>
          </a:solidFill>
          <a:ln>
            <a:solidFill>
              <a:srgbClr val="0E6E7E"/>
            </a:solid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תמה 6</a:t>
            </a:r>
            <a:endParaRPr lang="en-US" sz="1300" dirty="0"/>
          </a:p>
        </p:txBody>
      </p:sp>
      <p:sp>
        <p:nvSpPr>
          <p:cNvPr id="13" name="Text 11"/>
          <p:cNvSpPr txBox="1"/>
          <p:nvPr/>
        </p:nvSpPr>
        <p:spPr>
          <a:xfrm>
            <a:off x="2834640" y="4133088"/>
            <a:ext cx="7436815" cy="438912"/>
          </a:xfrm>
          <a:prstGeom prst="rect">
            <a:avLst/>
          </a:prstGeom>
          <a:noFill/>
          <a:ln/>
        </p:spPr>
        <p:txBody>
          <a:bodyPr wrap="square" lIns="0" tIns="0" rIns="0" bIns="0" rtlCol="0" anchor="ctr"/>
          <a:lstStyle/>
          <a:p>
            <a:pPr rtl="1" algn="r" indent="0" marL="0">
              <a:buNone/>
            </a:pPr>
            <a:r>
              <a:rPr lang="en-US" sz="2000" b="1" dirty="0">
                <a:solidFill>
                  <a:srgbClr val="0C3B44"/>
                </a:solidFill>
                <a:latin typeface="Arial" pitchFamily="34" charset="0"/>
                <a:ea typeface="Arial" pitchFamily="34" charset="-122"/>
                <a:cs typeface="Arial" pitchFamily="34" charset="-120"/>
              </a:rPr>
              <a:t>סביבת מידע רוויה ואמון סלקטיבי</a:t>
            </a:r>
            <a:endParaRPr lang="en-US" sz="2000" dirty="0"/>
          </a:p>
        </p:txBody>
      </p:sp>
      <p:sp>
        <p:nvSpPr>
          <p:cNvPr id="14" name="Text 12"/>
          <p:cNvSpPr txBox="1"/>
          <p:nvPr/>
        </p:nvSpPr>
        <p:spPr>
          <a:xfrm>
            <a:off x="777240" y="4169664"/>
            <a:ext cx="1920240" cy="365760"/>
          </a:xfrm>
          <a:prstGeom prst="rect">
            <a:avLst/>
          </a:prstGeom>
          <a:noFill/>
          <a:ln/>
        </p:spPr>
        <p:txBody>
          <a:bodyPr wrap="square" lIns="0" tIns="0" rIns="0" bIns="0" rtlCol="0" anchor="ctr"/>
          <a:lstStyle/>
          <a:p>
            <a:pPr rtl="1" algn="l" indent="0" marL="0">
              <a:buNone/>
            </a:pPr>
            <a:r>
              <a:rPr lang="en-US" sz="1250" b="1" dirty="0">
                <a:solidFill>
                  <a:srgbClr val="D98C2B"/>
                </a:solidFill>
                <a:latin typeface="Arial" pitchFamily="34" charset="0"/>
                <a:ea typeface="Arial" pitchFamily="34" charset="-122"/>
                <a:cs typeface="Arial" pitchFamily="34" charset="-120"/>
              </a:rPr>
              <a:t>12 מתוך 12 ראיונות</a:t>
            </a:r>
            <a:endParaRPr lang="en-US" sz="1250" dirty="0"/>
          </a:p>
        </p:txBody>
      </p:sp>
      <p:sp>
        <p:nvSpPr>
          <p:cNvPr id="15" name="Text 13"/>
          <p:cNvSpPr txBox="1"/>
          <p:nvPr/>
        </p:nvSpPr>
        <p:spPr>
          <a:xfrm>
            <a:off x="777240" y="4645152"/>
            <a:ext cx="10637215" cy="512064"/>
          </a:xfrm>
          <a:prstGeom prst="rect">
            <a:avLst/>
          </a:prstGeom>
          <a:noFill/>
          <a:ln/>
        </p:spPr>
        <p:txBody>
          <a:bodyPr wrap="square" lIns="0" tIns="0" rIns="0" bIns="0" rtlCol="0" anchor="ctr"/>
          <a:lstStyle/>
          <a:p>
            <a:pPr rtl="1" algn="r" indent="0" marL="0">
              <a:lnSpc>
                <a:spcPts val="2100"/>
              </a:lnSpc>
              <a:buNone/>
            </a:pPr>
            <a:r>
              <a:rPr lang="en-US" sz="1400" dirty="0">
                <a:solidFill>
                  <a:srgbClr val="56686D"/>
                </a:solidFill>
                <a:latin typeface="Arial" pitchFamily="34" charset="0"/>
                <a:ea typeface="Arial" pitchFamily="34" charset="-122"/>
                <a:cs typeface="Arial" pitchFamily="34" charset="-120"/>
              </a:rPr>
              <a:t>המרואיינים תיארו זרם מתמיד של מידע ברשתות החברתיות, ובכללו טענות על תרופות פלא. האמון נבנה על היכרות אישית ושפה משותפת, לא על סמכות פורמלית.</a:t>
            </a:r>
            <a:endParaRPr lang="en-US" sz="1400" dirty="0"/>
          </a:p>
        </p:txBody>
      </p:sp>
      <p:sp>
        <p:nvSpPr>
          <p:cNvPr id="16" name="Shape 14"/>
          <p:cNvSpPr/>
          <p:nvPr/>
        </p:nvSpPr>
        <p:spPr>
          <a:xfrm>
            <a:off x="777240" y="5212080"/>
            <a:ext cx="10637215" cy="621792"/>
          </a:xfrm>
          <a:prstGeom prst="roundRect">
            <a:avLst>
              <a:gd name="adj" fmla="val 10294"/>
            </a:avLst>
          </a:prstGeom>
          <a:solidFill>
            <a:srgbClr val="FFFFFF"/>
          </a:solidFill>
          <a:ln w="15875">
            <a:solidFill>
              <a:srgbClr val="BFE3DD"/>
            </a:solidFill>
            <a:prstDash val="solid"/>
          </a:ln>
        </p:spPr>
      </p:sp>
      <p:sp>
        <p:nvSpPr>
          <p:cNvPr id="17" name="Text 15"/>
          <p:cNvSpPr txBox="1"/>
          <p:nvPr/>
        </p:nvSpPr>
        <p:spPr>
          <a:xfrm>
            <a:off x="978408" y="5212080"/>
            <a:ext cx="10234879" cy="621792"/>
          </a:xfrm>
          <a:prstGeom prst="rect">
            <a:avLst/>
          </a:prstGeom>
          <a:noFill/>
          <a:ln/>
        </p:spPr>
        <p:txBody>
          <a:bodyPr wrap="square" lIns="0" tIns="0" rIns="0" bIns="0" rtlCol="0" anchor="ctr"/>
          <a:lstStyle/>
          <a:p>
            <a:pPr algn="r" indent="0" marL="0">
              <a:buNone/>
            </a:pPr>
            <a:r>
              <a:rPr lang="en-US" sz="1400" i="1" dirty="0">
                <a:solidFill>
                  <a:srgbClr val="0C3B44"/>
                </a:solidFill>
                <a:latin typeface="Arial" pitchFamily="34" charset="0"/>
                <a:ea typeface="Arial" pitchFamily="34" charset="-122"/>
                <a:cs typeface="Arial" pitchFamily="34" charset="-120"/>
              </a:rPr>
              <a:t>“מידע בריאותי לוקחים ממי שאחראי עלייך, לא ממי שמרוויח ממך, ולא ממי שמפחיד אותך”  </a:t>
            </a:r>
            <a:pPr algn="r" indent="0" marL="0">
              <a:buNone/>
            </a:pPr>
            <a:r>
              <a:rPr lang="en-US" sz="1400" b="1" dirty="0">
                <a:solidFill>
                  <a:srgbClr val="1D9E9A"/>
                </a:solidFill>
                <a:latin typeface="Arial" pitchFamily="34" charset="0"/>
                <a:ea typeface="Arial" pitchFamily="34" charset="-122"/>
                <a:cs typeface="Arial" pitchFamily="34" charset="-120"/>
              </a:rPr>
              <a:t>(מרואיינת 8)</a:t>
            </a:r>
            <a:endParaRPr lang="en-US" sz="14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משמעות הממצאים</a:t>
            </a:r>
            <a:endParaRPr lang="en-US" sz="3200" dirty="0"/>
          </a:p>
        </p:txBody>
      </p:sp>
      <p:sp>
        <p:nvSpPr>
          <p:cNvPr id="3" name="Text 1"/>
          <p:cNvSpPr txBox="1"/>
          <p:nvPr/>
        </p:nvSpPr>
        <p:spPr>
          <a:xfrm>
            <a:off x="1417320" y="932688"/>
            <a:ext cx="10271455" cy="329184"/>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דיון: מה מסבירים הממצאים לאור הספרות</a:t>
            </a:r>
            <a:endParaRPr lang="en-US" sz="1500" dirty="0"/>
          </a:p>
        </p:txBody>
      </p:sp>
      <p:sp>
        <p:nvSpPr>
          <p:cNvPr id="4" name="Text 2"/>
          <p:cNvSpPr txBox="1"/>
          <p:nvPr/>
        </p:nvSpPr>
        <p:spPr>
          <a:xfrm>
            <a:off x="11121847" y="1627632"/>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5" name="Text 3"/>
          <p:cNvSpPr txBox="1"/>
          <p:nvPr/>
        </p:nvSpPr>
        <p:spPr>
          <a:xfrm>
            <a:off x="502920" y="1645920"/>
            <a:ext cx="10417759" cy="310896"/>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החסם אינו חסם של ידע</a:t>
            </a:r>
            <a:endParaRPr lang="en-US" sz="1700" dirty="0"/>
          </a:p>
        </p:txBody>
      </p:sp>
      <p:sp>
        <p:nvSpPr>
          <p:cNvPr id="6" name="Text 4"/>
          <p:cNvSpPr txBox="1"/>
          <p:nvPr/>
        </p:nvSpPr>
        <p:spPr>
          <a:xfrm>
            <a:off x="502920" y="1975104"/>
            <a:ext cx="10417759" cy="969264"/>
          </a:xfrm>
          <a:prstGeom prst="rect">
            <a:avLst/>
          </a:prstGeom>
          <a:noFill/>
          <a:ln/>
        </p:spPr>
        <p:txBody>
          <a:bodyPr wrap="square" lIns="0" tIns="0" rIns="0" bIns="0" rtlCol="0" anchor="ctr"/>
          <a:lstStyle/>
          <a:p>
            <a:pPr rtl="1" algn="r" indent="0" marL="0">
              <a:lnSpc>
                <a:spcPts val="2000"/>
              </a:lnSpc>
              <a:buNone/>
            </a:pPr>
            <a:r>
              <a:rPr lang="en-US" sz="1400" dirty="0">
                <a:solidFill>
                  <a:srgbClr val="56686D"/>
                </a:solidFill>
                <a:latin typeface="Arial" pitchFamily="34" charset="0"/>
                <a:ea typeface="Arial" pitchFamily="34" charset="-122"/>
                <a:cs typeface="Arial" pitchFamily="34" charset="-120"/>
              </a:rPr>
              <a:t>כל המרואיינים הכירו את ההמלצות. מכאן שתכניות שעיקרן העברת מידע צפויות להניב תשואה נמוכה, וכי המשאב צריך להיות מופנה אל שלב היישום. ממצא זה תואם את הביקורת בספרות על הפער בין הידע לבין הפרקטיקה (The Role of Behavioral Factors on Chronic Diseases, 2024).</a:t>
            </a:r>
            <a:endParaRPr lang="en-US" sz="1400" dirty="0"/>
          </a:p>
        </p:txBody>
      </p:sp>
      <p:sp>
        <p:nvSpPr>
          <p:cNvPr id="7" name="Text 5"/>
          <p:cNvSpPr txBox="1"/>
          <p:nvPr/>
        </p:nvSpPr>
        <p:spPr>
          <a:xfrm>
            <a:off x="11121847" y="3145536"/>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8" name="Text 6"/>
          <p:cNvSpPr txBox="1"/>
          <p:nvPr/>
        </p:nvSpPr>
        <p:spPr>
          <a:xfrm>
            <a:off x="502920" y="3163824"/>
            <a:ext cx="10417759" cy="310896"/>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שלושה מנגנונים מסבירים את הפער</a:t>
            </a:r>
            <a:endParaRPr lang="en-US" sz="1700" dirty="0"/>
          </a:p>
        </p:txBody>
      </p:sp>
      <p:sp>
        <p:nvSpPr>
          <p:cNvPr id="9" name="Text 7"/>
          <p:cNvSpPr txBox="1"/>
          <p:nvPr/>
        </p:nvSpPr>
        <p:spPr>
          <a:xfrm>
            <a:off x="502920" y="3493008"/>
            <a:ext cx="10417759" cy="969264"/>
          </a:xfrm>
          <a:prstGeom prst="rect">
            <a:avLst/>
          </a:prstGeom>
          <a:noFill/>
          <a:ln/>
        </p:spPr>
        <p:txBody>
          <a:bodyPr wrap="square" lIns="0" tIns="0" rIns="0" bIns="0" rtlCol="0" anchor="ctr"/>
          <a:lstStyle/>
          <a:p>
            <a:pPr rtl="1" algn="r" indent="0" marL="0">
              <a:lnSpc>
                <a:spcPts val="2000"/>
              </a:lnSpc>
              <a:buNone/>
            </a:pPr>
            <a:r>
              <a:rPr lang="en-US" sz="1400" dirty="0">
                <a:solidFill>
                  <a:srgbClr val="56686D"/>
                </a:solidFill>
                <a:latin typeface="Arial" pitchFamily="34" charset="0"/>
                <a:ea typeface="Arial" pitchFamily="34" charset="-122"/>
                <a:cs typeface="Arial" pitchFamily="34" charset="-120"/>
              </a:rPr>
              <a:t>מרחק הזמן בין ההתנהגות לתוצאתה; היעדר דחיפות סובייקטיבית, שכן גורמי הסיכון אינם מלווים בתסמינים; ומיצוי המשאב הנפשי בסוף היום, המתכתב עם הקשר הידוע בין מתח כרוני לתחלואה (Franklin et al., 2021).</a:t>
            </a:r>
            <a:endParaRPr lang="en-US" sz="1400" dirty="0"/>
          </a:p>
        </p:txBody>
      </p:sp>
      <p:sp>
        <p:nvSpPr>
          <p:cNvPr id="10" name="Text 8"/>
          <p:cNvSpPr txBox="1"/>
          <p:nvPr/>
        </p:nvSpPr>
        <p:spPr>
          <a:xfrm>
            <a:off x="11121847" y="4663440"/>
            <a:ext cx="566928" cy="566928"/>
          </a:xfrm>
          <a:prstGeom prst="ellipse">
            <a:avLst/>
          </a:prstGeom>
          <a:solidFill>
            <a:srgbClr val="0E6E7E"/>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1" name="Text 9"/>
          <p:cNvSpPr txBox="1"/>
          <p:nvPr/>
        </p:nvSpPr>
        <p:spPr>
          <a:xfrm>
            <a:off x="502920" y="4681728"/>
            <a:ext cx="10417759" cy="310896"/>
          </a:xfrm>
          <a:prstGeom prst="rect">
            <a:avLst/>
          </a:prstGeom>
          <a:noFill/>
          <a:ln/>
        </p:spPr>
        <p:txBody>
          <a:bodyPr wrap="square" lIns="0" tIns="0" rIns="0" bIns="0" rtlCol="0" anchor="ctr"/>
          <a:lstStyle/>
          <a:p>
            <a:pPr rtl="1" algn="r" indent="0" marL="0">
              <a:buNone/>
            </a:pPr>
            <a:r>
              <a:rPr lang="en-US" sz="1700" b="1" dirty="0">
                <a:solidFill>
                  <a:srgbClr val="0E6E7E"/>
                </a:solidFill>
                <a:latin typeface="Arial" pitchFamily="34" charset="0"/>
                <a:ea typeface="Arial" pitchFamily="34" charset="-122"/>
                <a:cs typeface="Arial" pitchFamily="34" charset="-120"/>
              </a:rPr>
              <a:t>ההשוואה הבין-דורית תואמת את הספרות</a:t>
            </a:r>
            <a:endParaRPr lang="en-US" sz="1700" dirty="0"/>
          </a:p>
        </p:txBody>
      </p:sp>
      <p:sp>
        <p:nvSpPr>
          <p:cNvPr id="12" name="Text 10"/>
          <p:cNvSpPr txBox="1"/>
          <p:nvPr/>
        </p:nvSpPr>
        <p:spPr>
          <a:xfrm>
            <a:off x="502920" y="5010912"/>
            <a:ext cx="10417759" cy="969264"/>
          </a:xfrm>
          <a:prstGeom prst="rect">
            <a:avLst/>
          </a:prstGeom>
          <a:noFill/>
          <a:ln/>
        </p:spPr>
        <p:txBody>
          <a:bodyPr wrap="square" lIns="0" tIns="0" rIns="0" bIns="0" rtlCol="0" anchor="ctr"/>
          <a:lstStyle/>
          <a:p>
            <a:pPr rtl="1" algn="r" indent="0" marL="0">
              <a:lnSpc>
                <a:spcPts val="2000"/>
              </a:lnSpc>
              <a:buNone/>
            </a:pPr>
            <a:r>
              <a:rPr lang="en-US" sz="1400" dirty="0">
                <a:solidFill>
                  <a:srgbClr val="56686D"/>
                </a:solidFill>
                <a:latin typeface="Arial" pitchFamily="34" charset="0"/>
                <a:ea typeface="Arial" pitchFamily="34" charset="-122"/>
                <a:cs typeface="Arial" pitchFamily="34" charset="-120"/>
              </a:rPr>
              <a:t>מרואיינים מבוגרים תיארו באופן עצמאי מעבר בתוך שני דורות, מתנועה מרובה ותזונה פשוטה אל ישיבה ומזון מעובד. תיאור זה עולה בקנה אחד עם הממצאים על דפוסי תזונה מערביים וסיכון לסוכרת (Karatzi &amp; Manios, 2021).</a:t>
            </a:r>
            <a:endParaRPr lang="en-US" sz="1400" dirty="0"/>
          </a:p>
        </p:txBody>
      </p:sp>
      <p:sp>
        <p:nvSpPr>
          <p:cNvPr id="13" name="Shape 11"/>
          <p:cNvSpPr/>
          <p:nvPr/>
        </p:nvSpPr>
        <p:spPr>
          <a:xfrm>
            <a:off x="1234440" y="6016752"/>
            <a:ext cx="10454335" cy="512064"/>
          </a:xfrm>
          <a:prstGeom prst="roundRect">
            <a:avLst>
              <a:gd name="adj" fmla="val 16071"/>
            </a:avLst>
          </a:prstGeom>
          <a:solidFill>
            <a:srgbClr val="BFE3DD"/>
          </a:solidFill>
          <a:ln w="12700">
            <a:solidFill>
              <a:srgbClr val="BFE3DD"/>
            </a:solidFill>
            <a:prstDash val="solid"/>
          </a:ln>
        </p:spPr>
      </p:sp>
      <p:sp>
        <p:nvSpPr>
          <p:cNvPr id="14" name="Text 12"/>
          <p:cNvSpPr txBox="1"/>
          <p:nvPr/>
        </p:nvSpPr>
        <p:spPr>
          <a:xfrm>
            <a:off x="1508760" y="6016752"/>
            <a:ext cx="9905695" cy="512064"/>
          </a:xfrm>
          <a:prstGeom prst="rect">
            <a:avLst/>
          </a:prstGeom>
          <a:noFill/>
          <a:ln/>
        </p:spPr>
        <p:txBody>
          <a:bodyPr wrap="square" lIns="0" tIns="0" rIns="0" bIns="0" rtlCol="0" anchor="ctr"/>
          <a:lstStyle/>
          <a:p>
            <a:pPr rtl="1" algn="r" indent="0" marL="0">
              <a:buNone/>
            </a:pPr>
            <a:r>
              <a:rPr lang="en-US" sz="1400" b="1" dirty="0">
                <a:solidFill>
                  <a:srgbClr val="0C3B44"/>
                </a:solidFill>
                <a:latin typeface="Arial" pitchFamily="34" charset="0"/>
                <a:ea typeface="Arial" pitchFamily="34" charset="-122"/>
                <a:cs typeface="Arial" pitchFamily="34" charset="-120"/>
              </a:rPr>
              <a:t>אורח חיים בריא אינו תוצר של ידע או של כוח רצון אישי, אלא של מפגש בין הפרט לבין תשתית, מסגרת חברתית וליווי מערכתי.</a:t>
            </a:r>
            <a:endParaRPr lang="en-US" sz="14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חסמים מבניים לעומת חסמים אישיים</a:t>
            </a:r>
            <a:endParaRPr lang="en-US" sz="3200" dirty="0"/>
          </a:p>
        </p:txBody>
      </p:sp>
      <p:sp>
        <p:nvSpPr>
          <p:cNvPr id="3" name="Text 1"/>
          <p:cNvSpPr txBox="1"/>
          <p:nvPr/>
        </p:nvSpPr>
        <p:spPr>
          <a:xfrm>
            <a:off x="1417320" y="932688"/>
            <a:ext cx="10271455" cy="329184"/>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ההשוואה בין היישובים חושפת פער של תנאים, לא של מוטיבציה</a:t>
            </a:r>
            <a:endParaRPr lang="en-US" sz="1500" dirty="0"/>
          </a:p>
        </p:txBody>
      </p:sp>
      <p:sp>
        <p:nvSpPr>
          <p:cNvPr id="4" name="Shape 2"/>
          <p:cNvSpPr/>
          <p:nvPr/>
        </p:nvSpPr>
        <p:spPr>
          <a:xfrm>
            <a:off x="6278728" y="1700784"/>
            <a:ext cx="5410048" cy="3200400"/>
          </a:xfrm>
          <a:prstGeom prst="roundRect">
            <a:avLst>
              <a:gd name="adj" fmla="val 2571"/>
            </a:avLst>
          </a:prstGeom>
          <a:solidFill>
            <a:srgbClr val="F1F7F8"/>
          </a:solidFill>
          <a:ln w="12700">
            <a:solidFill>
              <a:srgbClr val="F1F7F8"/>
            </a:solidFill>
            <a:prstDash val="solid"/>
          </a:ln>
        </p:spPr>
      </p:sp>
      <p:sp>
        <p:nvSpPr>
          <p:cNvPr id="5" name="Text 3"/>
          <p:cNvSpPr txBox="1"/>
          <p:nvPr/>
        </p:nvSpPr>
        <p:spPr>
          <a:xfrm>
            <a:off x="6553048" y="1901952"/>
            <a:ext cx="4861408" cy="420624"/>
          </a:xfrm>
          <a:prstGeom prst="rect">
            <a:avLst/>
          </a:prstGeom>
          <a:noFill/>
          <a:ln/>
        </p:spPr>
        <p:txBody>
          <a:bodyPr wrap="square" lIns="0" tIns="0" rIns="0" bIns="0" rtlCol="0" anchor="ctr"/>
          <a:lstStyle/>
          <a:p>
            <a:pPr rtl="1" algn="r" indent="0" marL="0">
              <a:buNone/>
            </a:pPr>
            <a:r>
              <a:rPr lang="en-US" sz="2300" b="1" dirty="0">
                <a:solidFill>
                  <a:srgbClr val="0E6E7E"/>
                </a:solidFill>
                <a:latin typeface="Arial" pitchFamily="34" charset="0"/>
                <a:ea typeface="Arial" pitchFamily="34" charset="-122"/>
                <a:cs typeface="Arial" pitchFamily="34" charset="-120"/>
              </a:rPr>
              <a:t>ערד</a:t>
            </a:r>
            <a:endParaRPr lang="en-US" sz="2300" dirty="0"/>
          </a:p>
        </p:txBody>
      </p:sp>
      <p:sp>
        <p:nvSpPr>
          <p:cNvPr id="6" name="Text 4"/>
          <p:cNvSpPr txBox="1"/>
          <p:nvPr/>
        </p:nvSpPr>
        <p:spPr>
          <a:xfrm>
            <a:off x="6553048" y="2432304"/>
            <a:ext cx="4861408" cy="1572768"/>
          </a:xfrm>
          <a:prstGeom prst="rect">
            <a:avLst/>
          </a:prstGeom>
          <a:noFill/>
          <a:ln/>
        </p:spPr>
        <p:txBody>
          <a:bodyPr wrap="square" lIns="0" tIns="0" rIns="0" bIns="0" rtlCol="0" anchor="ctr"/>
          <a:lstStyle/>
          <a:p>
            <a:pPr algn="r" marL="342900" indent="-342900">
              <a:spcAft>
                <a:spcPts val="900"/>
              </a:spcAft>
              <a:buSzPct val="100000"/>
              <a:buChar char="▪"/>
            </a:pPr>
            <a:r>
              <a:rPr lang="en-US" sz="1450" dirty="0">
                <a:solidFill>
                  <a:srgbClr val="0C3B44"/>
                </a:solidFill>
                <a:latin typeface="Arial" pitchFamily="34" charset="0"/>
                <a:ea typeface="Arial" pitchFamily="34" charset="-122"/>
                <a:cs typeface="Arial" pitchFamily="34" charset="-120"/>
              </a:rPr>
              <a:t>מדרכות רציפות, טיילת ותאורה</a:t>
            </a:r>
            <a:endParaRPr lang="en-US" sz="1450" dirty="0"/>
          </a:p>
          <a:p>
            <a:pPr algn="r" marL="342900" indent="-342900">
              <a:spcAft>
                <a:spcPts val="900"/>
              </a:spcAft>
              <a:buSzPct val="100000"/>
              <a:buChar char="▪"/>
            </a:pPr>
            <a:r>
              <a:rPr lang="en-US" sz="1450" dirty="0">
                <a:solidFill>
                  <a:srgbClr val="0C3B44"/>
                </a:solidFill>
                <a:latin typeface="Arial" pitchFamily="34" charset="0"/>
                <a:ea typeface="Arial" pitchFamily="34" charset="-122"/>
                <a:cs typeface="Arial" pitchFamily="34" charset="-120"/>
              </a:rPr>
              <a:t>חוגים במתנ"ס וקאנטרי עירוני</a:t>
            </a:r>
            <a:endParaRPr lang="en-US" sz="1450" dirty="0"/>
          </a:p>
          <a:p>
            <a:pPr algn="r" marL="342900" indent="-342900">
              <a:spcAft>
                <a:spcPts val="900"/>
              </a:spcAft>
              <a:buSzPct val="100000"/>
              <a:buChar char="▪"/>
            </a:pPr>
            <a:r>
              <a:rPr lang="en-US" sz="1450" dirty="0">
                <a:solidFill>
                  <a:srgbClr val="0C3B44"/>
                </a:solidFill>
                <a:latin typeface="Arial" pitchFamily="34" charset="0"/>
                <a:ea typeface="Arial" pitchFamily="34" charset="-122"/>
                <a:cs typeface="Arial" pitchFamily="34" charset="-120"/>
              </a:rPr>
              <a:t>קבוצות הליכה מאורגנות של הקופה</a:t>
            </a:r>
            <a:endParaRPr lang="en-US" sz="1450" dirty="0"/>
          </a:p>
          <a:p>
            <a:pPr algn="r" marL="342900" indent="-342900">
              <a:spcAft>
                <a:spcPts val="900"/>
              </a:spcAft>
              <a:buSzPct val="100000"/>
              <a:buChar char="▪"/>
            </a:pPr>
            <a:r>
              <a:rPr lang="en-US" sz="1450" dirty="0">
                <a:solidFill>
                  <a:srgbClr val="0C3B44"/>
                </a:solidFill>
                <a:latin typeface="Arial" pitchFamily="34" charset="0"/>
                <a:ea typeface="Arial" pitchFamily="34" charset="-122"/>
                <a:cs typeface="Arial" pitchFamily="34" charset="-120"/>
              </a:rPr>
              <a:t>בית גמלאי פעיל עם חוגים והתנדבות</a:t>
            </a:r>
            <a:endParaRPr lang="en-US" sz="1450" dirty="0"/>
          </a:p>
        </p:txBody>
      </p:sp>
      <p:sp>
        <p:nvSpPr>
          <p:cNvPr id="7" name="Text 5"/>
          <p:cNvSpPr txBox="1"/>
          <p:nvPr/>
        </p:nvSpPr>
        <p:spPr>
          <a:xfrm>
            <a:off x="6553048" y="4133088"/>
            <a:ext cx="4861408" cy="603504"/>
          </a:xfrm>
          <a:prstGeom prst="rect">
            <a:avLst/>
          </a:prstGeom>
          <a:noFill/>
          <a:ln/>
        </p:spPr>
        <p:txBody>
          <a:bodyPr wrap="square" lIns="0" tIns="0" rIns="0" bIns="0" rtlCol="0" anchor="ctr"/>
          <a:lstStyle/>
          <a:p>
            <a:pPr rtl="1" algn="r" indent="0" marL="0">
              <a:lnSpc>
                <a:spcPts val="1900"/>
              </a:lnSpc>
              <a:buNone/>
            </a:pPr>
            <a:r>
              <a:rPr lang="en-US" sz="1300" b="1" dirty="0">
                <a:solidFill>
                  <a:srgbClr val="0E6E7E"/>
                </a:solidFill>
                <a:latin typeface="Arial" pitchFamily="34" charset="0"/>
                <a:ea typeface="Arial" pitchFamily="34" charset="-122"/>
                <a:cs typeface="Arial" pitchFamily="34" charset="-120"/>
              </a:rPr>
              <a:t>ארבעת המרואיינים מערד מקיימים שגרת פעילות גופנית קבועה.</a:t>
            </a:r>
            <a:endParaRPr lang="en-US" sz="1300" dirty="0"/>
          </a:p>
        </p:txBody>
      </p:sp>
      <p:sp>
        <p:nvSpPr>
          <p:cNvPr id="8" name="Shape 6"/>
          <p:cNvSpPr/>
          <p:nvPr/>
        </p:nvSpPr>
        <p:spPr>
          <a:xfrm>
            <a:off x="502920" y="1700784"/>
            <a:ext cx="5410048" cy="3200400"/>
          </a:xfrm>
          <a:prstGeom prst="roundRect">
            <a:avLst>
              <a:gd name="adj" fmla="val 2571"/>
            </a:avLst>
          </a:prstGeom>
          <a:solidFill>
            <a:srgbClr val="F1F7F8"/>
          </a:solidFill>
          <a:ln w="12700">
            <a:solidFill>
              <a:srgbClr val="F1F7F8"/>
            </a:solidFill>
            <a:prstDash val="solid"/>
          </a:ln>
        </p:spPr>
      </p:sp>
      <p:sp>
        <p:nvSpPr>
          <p:cNvPr id="9" name="Text 7"/>
          <p:cNvSpPr txBox="1"/>
          <p:nvPr/>
        </p:nvSpPr>
        <p:spPr>
          <a:xfrm>
            <a:off x="777240" y="1901952"/>
            <a:ext cx="4861408" cy="420624"/>
          </a:xfrm>
          <a:prstGeom prst="rect">
            <a:avLst/>
          </a:prstGeom>
          <a:noFill/>
          <a:ln/>
        </p:spPr>
        <p:txBody>
          <a:bodyPr wrap="square" lIns="0" tIns="0" rIns="0" bIns="0" rtlCol="0" anchor="ctr"/>
          <a:lstStyle/>
          <a:p>
            <a:pPr rtl="1" algn="r" indent="0" marL="0">
              <a:buNone/>
            </a:pPr>
            <a:r>
              <a:rPr lang="en-US" sz="2300" b="1" dirty="0">
                <a:solidFill>
                  <a:srgbClr val="D98C2B"/>
                </a:solidFill>
                <a:latin typeface="Arial" pitchFamily="34" charset="0"/>
                <a:ea typeface="Arial" pitchFamily="34" charset="-122"/>
                <a:cs typeface="Arial" pitchFamily="34" charset="-120"/>
              </a:rPr>
              <a:t>כסייפה וחורה</a:t>
            </a:r>
            <a:endParaRPr lang="en-US" sz="2300" dirty="0"/>
          </a:p>
        </p:txBody>
      </p:sp>
      <p:sp>
        <p:nvSpPr>
          <p:cNvPr id="10" name="Text 8"/>
          <p:cNvSpPr txBox="1"/>
          <p:nvPr/>
        </p:nvSpPr>
        <p:spPr>
          <a:xfrm>
            <a:off x="777240" y="2432304"/>
            <a:ext cx="4861408" cy="1572768"/>
          </a:xfrm>
          <a:prstGeom prst="rect">
            <a:avLst/>
          </a:prstGeom>
          <a:noFill/>
          <a:ln/>
        </p:spPr>
        <p:txBody>
          <a:bodyPr wrap="square" lIns="0" tIns="0" rIns="0" bIns="0" rtlCol="0" anchor="ctr"/>
          <a:lstStyle/>
          <a:p>
            <a:pPr algn="r" marL="342900" indent="-342900">
              <a:spcAft>
                <a:spcPts val="900"/>
              </a:spcAft>
              <a:buSzPct val="100000"/>
              <a:buChar char="▪"/>
            </a:pPr>
            <a:r>
              <a:rPr lang="en-US" sz="1450" dirty="0">
                <a:solidFill>
                  <a:srgbClr val="0C3B44"/>
                </a:solidFill>
                <a:latin typeface="Arial" pitchFamily="34" charset="0"/>
                <a:ea typeface="Arial" pitchFamily="34" charset="-122"/>
                <a:cs typeface="Arial" pitchFamily="34" charset="-120"/>
              </a:rPr>
              <a:t>היעדר מדרכות ותאורה בחלק מהרחובות</a:t>
            </a:r>
            <a:endParaRPr lang="en-US" sz="1450" dirty="0"/>
          </a:p>
          <a:p>
            <a:pPr algn="r" marL="342900" indent="-342900">
              <a:spcAft>
                <a:spcPts val="900"/>
              </a:spcAft>
              <a:buSzPct val="100000"/>
              <a:buChar char="▪"/>
            </a:pPr>
            <a:r>
              <a:rPr lang="en-US" sz="1450" dirty="0">
                <a:solidFill>
                  <a:srgbClr val="0C3B44"/>
                </a:solidFill>
                <a:latin typeface="Arial" pitchFamily="34" charset="0"/>
                <a:ea typeface="Arial" pitchFamily="34" charset="-122"/>
                <a:cs typeface="Arial" pitchFamily="34" charset="-120"/>
              </a:rPr>
              <a:t>אין חדר כושר, בריכה או מועדון קשישים</a:t>
            </a:r>
            <a:endParaRPr lang="en-US" sz="1450" dirty="0"/>
          </a:p>
          <a:p>
            <a:pPr algn="r" marL="342900" indent="-342900">
              <a:spcAft>
                <a:spcPts val="900"/>
              </a:spcAft>
              <a:buSzPct val="100000"/>
              <a:buChar char="▪"/>
            </a:pPr>
            <a:r>
              <a:rPr lang="en-US" sz="1450" dirty="0">
                <a:solidFill>
                  <a:srgbClr val="0C3B44"/>
                </a:solidFill>
                <a:latin typeface="Arial" pitchFamily="34" charset="0"/>
                <a:ea typeface="Arial" pitchFamily="34" charset="-122"/>
                <a:cs typeface="Arial" pitchFamily="34" charset="-120"/>
              </a:rPr>
              <a:t>אין מסגרת ספורט נפרדת לנשים</a:t>
            </a:r>
            <a:endParaRPr lang="en-US" sz="1450" dirty="0"/>
          </a:p>
          <a:p>
            <a:pPr algn="r" marL="342900" indent="-342900">
              <a:spcAft>
                <a:spcPts val="900"/>
              </a:spcAft>
              <a:buSzPct val="100000"/>
              <a:buChar char="▪"/>
            </a:pPr>
            <a:r>
              <a:rPr lang="en-US" sz="1450" dirty="0">
                <a:solidFill>
                  <a:srgbClr val="0C3B44"/>
                </a:solidFill>
                <a:latin typeface="Arial" pitchFamily="34" charset="0"/>
                <a:ea typeface="Arial" pitchFamily="34" charset="-122"/>
                <a:cs typeface="Arial" pitchFamily="34" charset="-120"/>
              </a:rPr>
              <a:t>דיאטנית מגיעה ליום אחד בשבוע בלבד</a:t>
            </a:r>
            <a:endParaRPr lang="en-US" sz="1450" dirty="0"/>
          </a:p>
        </p:txBody>
      </p:sp>
      <p:sp>
        <p:nvSpPr>
          <p:cNvPr id="11" name="Text 9"/>
          <p:cNvSpPr txBox="1"/>
          <p:nvPr/>
        </p:nvSpPr>
        <p:spPr>
          <a:xfrm>
            <a:off x="777240" y="4133088"/>
            <a:ext cx="4861408" cy="603504"/>
          </a:xfrm>
          <a:prstGeom prst="rect">
            <a:avLst/>
          </a:prstGeom>
          <a:noFill/>
          <a:ln/>
        </p:spPr>
        <p:txBody>
          <a:bodyPr wrap="square" lIns="0" tIns="0" rIns="0" bIns="0" rtlCol="0" anchor="ctr"/>
          <a:lstStyle/>
          <a:p>
            <a:pPr rtl="1" algn="r" indent="0" marL="0">
              <a:lnSpc>
                <a:spcPts val="1900"/>
              </a:lnSpc>
              <a:buNone/>
            </a:pPr>
            <a:r>
              <a:rPr lang="en-US" sz="1300" b="1" dirty="0">
                <a:solidFill>
                  <a:srgbClr val="D98C2B"/>
                </a:solidFill>
                <a:latin typeface="Arial" pitchFamily="34" charset="0"/>
                <a:ea typeface="Arial" pitchFamily="34" charset="-122"/>
                <a:cs typeface="Arial" pitchFamily="34" charset="-120"/>
              </a:rPr>
              <a:t>חמש מתוך שש המרואיינות ציינו היעדר מסגרת מותאמת כחסם מרכזי.</a:t>
            </a:r>
            <a:endParaRPr lang="en-US" sz="1300" dirty="0"/>
          </a:p>
        </p:txBody>
      </p:sp>
      <p:sp>
        <p:nvSpPr>
          <p:cNvPr id="12" name="Shape 10"/>
          <p:cNvSpPr/>
          <p:nvPr/>
        </p:nvSpPr>
        <p:spPr>
          <a:xfrm>
            <a:off x="502920" y="5138928"/>
            <a:ext cx="11185855" cy="1188720"/>
          </a:xfrm>
          <a:prstGeom prst="roundRect">
            <a:avLst>
              <a:gd name="adj" fmla="val 6923"/>
            </a:avLst>
          </a:prstGeom>
          <a:solidFill>
            <a:srgbClr val="0C3B44"/>
          </a:solidFill>
          <a:ln w="12700">
            <a:solidFill>
              <a:srgbClr val="0C3B44"/>
            </a:solidFill>
            <a:prstDash val="solid"/>
          </a:ln>
        </p:spPr>
      </p:sp>
      <p:sp>
        <p:nvSpPr>
          <p:cNvPr id="13" name="Text 11"/>
          <p:cNvSpPr txBox="1"/>
          <p:nvPr/>
        </p:nvSpPr>
        <p:spPr>
          <a:xfrm>
            <a:off x="795528" y="5266944"/>
            <a:ext cx="10600639" cy="310896"/>
          </a:xfrm>
          <a:prstGeom prst="rect">
            <a:avLst/>
          </a:prstGeom>
          <a:noFill/>
          <a:ln/>
        </p:spPr>
        <p:txBody>
          <a:bodyPr wrap="square" lIns="0" tIns="0" rIns="0" bIns="0" rtlCol="0" anchor="ctr"/>
          <a:lstStyle/>
          <a:p>
            <a:pPr rtl="1" algn="r" indent="0" marL="0">
              <a:buNone/>
            </a:pPr>
            <a:r>
              <a:rPr lang="en-US" sz="1600" b="1" dirty="0">
                <a:solidFill>
                  <a:srgbClr val="1D9E9A"/>
                </a:solidFill>
                <a:latin typeface="Arial" pitchFamily="34" charset="0"/>
                <a:ea typeface="Arial" pitchFamily="34" charset="-122"/>
                <a:cs typeface="Arial" pitchFamily="34" charset="-120"/>
              </a:rPr>
              <a:t>המסקנה</a:t>
            </a:r>
            <a:endParaRPr lang="en-US" sz="1600" dirty="0"/>
          </a:p>
        </p:txBody>
      </p:sp>
      <p:sp>
        <p:nvSpPr>
          <p:cNvPr id="14" name="Text 12"/>
          <p:cNvSpPr txBox="1"/>
          <p:nvPr/>
        </p:nvSpPr>
        <p:spPr>
          <a:xfrm>
            <a:off x="795528" y="5596128"/>
            <a:ext cx="10600639" cy="640080"/>
          </a:xfrm>
          <a:prstGeom prst="rect">
            <a:avLst/>
          </a:prstGeom>
          <a:noFill/>
          <a:ln/>
        </p:spPr>
        <p:txBody>
          <a:bodyPr wrap="square" lIns="0" tIns="0" rIns="0" bIns="0" rtlCol="0" anchor="ctr"/>
          <a:lstStyle/>
          <a:p>
            <a:pPr rtl="1" algn="r" indent="0" marL="0">
              <a:lnSpc>
                <a:spcPts val="2100"/>
              </a:lnSpc>
              <a:buNone/>
            </a:pPr>
            <a:r>
              <a:rPr lang="en-US" sz="1400" dirty="0">
                <a:solidFill>
                  <a:srgbClr val="FFFFFF"/>
                </a:solidFill>
                <a:latin typeface="Arial" pitchFamily="34" charset="0"/>
                <a:ea typeface="Arial" pitchFamily="34" charset="-122"/>
                <a:cs typeface="Arial" pitchFamily="34" charset="-120"/>
              </a:rPr>
              <a:t>עדותה של מרואיינת 8 ממחישה זאת: כאשר קיים מסלול מואר אחד בלבד, נוצרת שגרת הליכה קבועה שאף מתפשטת לקבוצות נשים נוספות בשכונה. המחסום אינו היעדר רצון אלא היעדר תנאים.</a:t>
            </a:r>
            <a:endParaRPr lang="en-US" sz="14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1417320" y="310896"/>
            <a:ext cx="10271455" cy="658368"/>
          </a:xfrm>
          <a:prstGeom prst="rect">
            <a:avLst/>
          </a:prstGeom>
          <a:noFill/>
          <a:ln/>
        </p:spPr>
        <p:txBody>
          <a:bodyPr wrap="square" lIns="0" tIns="0" rIns="0" bIns="0" rtlCol="0" anchor="ctr"/>
          <a:lstStyle/>
          <a:p>
            <a:pPr rtl="1" algn="r" indent="0" marL="0">
              <a:buNone/>
            </a:pPr>
            <a:r>
              <a:rPr lang="en-US" sz="3200" b="1" dirty="0">
                <a:solidFill>
                  <a:srgbClr val="0C3B44"/>
                </a:solidFill>
                <a:latin typeface="Arial" pitchFamily="34" charset="0"/>
                <a:ea typeface="Arial" pitchFamily="34" charset="-122"/>
                <a:cs typeface="Arial" pitchFamily="34" charset="-120"/>
              </a:rPr>
              <a:t>המלצות יישומיות</a:t>
            </a:r>
            <a:endParaRPr lang="en-US" sz="3200" dirty="0"/>
          </a:p>
        </p:txBody>
      </p:sp>
      <p:sp>
        <p:nvSpPr>
          <p:cNvPr id="3" name="Text 1"/>
          <p:cNvSpPr txBox="1"/>
          <p:nvPr/>
        </p:nvSpPr>
        <p:spPr>
          <a:xfrm>
            <a:off x="1417320" y="932688"/>
            <a:ext cx="10271455" cy="329184"/>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שבע המלצות לקופות החולים, לרשויות המקומיות ולמשרד הבריאות</a:t>
            </a:r>
            <a:endParaRPr lang="en-US" sz="1500" dirty="0"/>
          </a:p>
        </p:txBody>
      </p:sp>
      <p:sp>
        <p:nvSpPr>
          <p:cNvPr id="4" name="Shape 2"/>
          <p:cNvSpPr/>
          <p:nvPr/>
        </p:nvSpPr>
        <p:spPr>
          <a:xfrm>
            <a:off x="6251296" y="1700784"/>
            <a:ext cx="5437480" cy="914400"/>
          </a:xfrm>
          <a:prstGeom prst="roundRect">
            <a:avLst>
              <a:gd name="adj" fmla="val 9000"/>
            </a:avLst>
          </a:prstGeom>
          <a:solidFill>
            <a:srgbClr val="F1F7F8"/>
          </a:solidFill>
          <a:ln w="12700">
            <a:solidFill>
              <a:srgbClr val="F1F7F8"/>
            </a:solidFill>
            <a:prstDash val="solid"/>
          </a:ln>
        </p:spPr>
      </p:sp>
      <p:sp>
        <p:nvSpPr>
          <p:cNvPr id="5" name="Text 3"/>
          <p:cNvSpPr txBox="1"/>
          <p:nvPr/>
        </p:nvSpPr>
        <p:spPr>
          <a:xfrm>
            <a:off x="10975543" y="1883664"/>
            <a:ext cx="548640" cy="548640"/>
          </a:xfrm>
          <a:prstGeom prst="ellipse">
            <a:avLst/>
          </a:prstGeom>
          <a:solidFill>
            <a:srgbClr val="0E6E7E"/>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6489040" y="1828800"/>
            <a:ext cx="4431640" cy="310896"/>
          </a:xfrm>
          <a:prstGeom prst="rect">
            <a:avLst/>
          </a:prstGeom>
          <a:noFill/>
          <a:ln/>
        </p:spPr>
        <p:txBody>
          <a:bodyPr wrap="square" lIns="0" tIns="0" rIns="0" bIns="0" rtlCol="0" anchor="ctr"/>
          <a:lstStyle/>
          <a:p>
            <a:pPr rtl="1" algn="r" indent="0" marL="0">
              <a:buNone/>
            </a:pPr>
            <a:r>
              <a:rPr lang="en-US" sz="1550" b="1" dirty="0">
                <a:solidFill>
                  <a:srgbClr val="0C3B44"/>
                </a:solidFill>
                <a:latin typeface="Arial" pitchFamily="34" charset="0"/>
                <a:ea typeface="Arial" pitchFamily="34" charset="-122"/>
                <a:cs typeface="Arial" pitchFamily="34" charset="-120"/>
              </a:rPr>
              <a:t>מרשם לפעילות גופנית</a:t>
            </a:r>
            <a:endParaRPr lang="en-US" sz="1550" dirty="0"/>
          </a:p>
        </p:txBody>
      </p:sp>
      <p:sp>
        <p:nvSpPr>
          <p:cNvPr id="7" name="Text 5"/>
          <p:cNvSpPr txBox="1"/>
          <p:nvPr/>
        </p:nvSpPr>
        <p:spPr>
          <a:xfrm>
            <a:off x="6489040" y="2139696"/>
            <a:ext cx="4431640" cy="402336"/>
          </a:xfrm>
          <a:prstGeom prst="rect">
            <a:avLst/>
          </a:prstGeom>
          <a:noFill/>
          <a:ln/>
        </p:spPr>
        <p:txBody>
          <a:bodyPr wrap="square" lIns="0" tIns="0" rIns="0" bIns="0" rtlCol="0" anchor="ctr"/>
          <a:lstStyle/>
          <a:p>
            <a:pPr rtl="1" algn="r" indent="0" marL="0">
              <a:lnSpc>
                <a:spcPts val="1700"/>
              </a:lnSpc>
              <a:buNone/>
            </a:pPr>
            <a:r>
              <a:rPr lang="en-US" sz="1250" dirty="0">
                <a:solidFill>
                  <a:srgbClr val="56686D"/>
                </a:solidFill>
                <a:latin typeface="Arial" pitchFamily="34" charset="0"/>
                <a:ea typeface="Arial" pitchFamily="34" charset="-122"/>
                <a:cs typeface="Arial" pitchFamily="34" charset="-120"/>
              </a:rPr>
              <a:t>הפניה בכתב עם שם קבוצה, מקום, יום ושעה, ולא המלצה כללית.</a:t>
            </a:r>
            <a:endParaRPr lang="en-US" sz="1250" dirty="0"/>
          </a:p>
        </p:txBody>
      </p:sp>
      <p:sp>
        <p:nvSpPr>
          <p:cNvPr id="8" name="Shape 6"/>
          <p:cNvSpPr/>
          <p:nvPr/>
        </p:nvSpPr>
        <p:spPr>
          <a:xfrm>
            <a:off x="502920" y="1700784"/>
            <a:ext cx="5437480" cy="914400"/>
          </a:xfrm>
          <a:prstGeom prst="roundRect">
            <a:avLst>
              <a:gd name="adj" fmla="val 9000"/>
            </a:avLst>
          </a:prstGeom>
          <a:solidFill>
            <a:srgbClr val="F1F7F8"/>
          </a:solidFill>
          <a:ln w="12700">
            <a:solidFill>
              <a:srgbClr val="F1F7F8"/>
            </a:solidFill>
            <a:prstDash val="solid"/>
          </a:ln>
        </p:spPr>
      </p:sp>
      <p:sp>
        <p:nvSpPr>
          <p:cNvPr id="9" name="Text 7"/>
          <p:cNvSpPr txBox="1"/>
          <p:nvPr/>
        </p:nvSpPr>
        <p:spPr>
          <a:xfrm>
            <a:off x="5227168" y="1883664"/>
            <a:ext cx="548640" cy="548640"/>
          </a:xfrm>
          <a:prstGeom prst="ellipse">
            <a:avLst/>
          </a:prstGeom>
          <a:solidFill>
            <a:srgbClr val="1D9E9A"/>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740664" y="1828800"/>
            <a:ext cx="4431640" cy="310896"/>
          </a:xfrm>
          <a:prstGeom prst="rect">
            <a:avLst/>
          </a:prstGeom>
          <a:noFill/>
          <a:ln/>
        </p:spPr>
        <p:txBody>
          <a:bodyPr wrap="square" lIns="0" tIns="0" rIns="0" bIns="0" rtlCol="0" anchor="ctr"/>
          <a:lstStyle/>
          <a:p>
            <a:pPr rtl="1" algn="r" indent="0" marL="0">
              <a:buNone/>
            </a:pPr>
            <a:r>
              <a:rPr lang="en-US" sz="1550" b="1" dirty="0">
                <a:solidFill>
                  <a:srgbClr val="0C3B44"/>
                </a:solidFill>
                <a:latin typeface="Arial" pitchFamily="34" charset="0"/>
                <a:ea typeface="Arial" pitchFamily="34" charset="-122"/>
                <a:cs typeface="Arial" pitchFamily="34" charset="-120"/>
              </a:rPr>
              <a:t>קבוצות הליכה שכונתיות</a:t>
            </a:r>
            <a:endParaRPr lang="en-US" sz="1550" dirty="0"/>
          </a:p>
        </p:txBody>
      </p:sp>
      <p:sp>
        <p:nvSpPr>
          <p:cNvPr id="11" name="Text 9"/>
          <p:cNvSpPr txBox="1"/>
          <p:nvPr/>
        </p:nvSpPr>
        <p:spPr>
          <a:xfrm>
            <a:off x="740664" y="2139696"/>
            <a:ext cx="4431640" cy="402336"/>
          </a:xfrm>
          <a:prstGeom prst="rect">
            <a:avLst/>
          </a:prstGeom>
          <a:noFill/>
          <a:ln/>
        </p:spPr>
        <p:txBody>
          <a:bodyPr wrap="square" lIns="0" tIns="0" rIns="0" bIns="0" rtlCol="0" anchor="ctr"/>
          <a:lstStyle/>
          <a:p>
            <a:pPr rtl="1" algn="r" indent="0" marL="0">
              <a:lnSpc>
                <a:spcPts val="1700"/>
              </a:lnSpc>
              <a:buNone/>
            </a:pPr>
            <a:r>
              <a:rPr lang="en-US" sz="1250" dirty="0">
                <a:solidFill>
                  <a:srgbClr val="56686D"/>
                </a:solidFill>
                <a:latin typeface="Arial" pitchFamily="34" charset="0"/>
                <a:ea typeface="Arial" pitchFamily="34" charset="-122"/>
                <a:cs typeface="Arial" pitchFamily="34" charset="-120"/>
              </a:rPr>
              <a:t>מדריך אחד ומסלול קיים, עם טלפון למי שנעדר.</a:t>
            </a:r>
            <a:endParaRPr lang="en-US" sz="1250" dirty="0"/>
          </a:p>
        </p:txBody>
      </p:sp>
      <p:sp>
        <p:nvSpPr>
          <p:cNvPr id="12" name="Shape 10"/>
          <p:cNvSpPr/>
          <p:nvPr/>
        </p:nvSpPr>
        <p:spPr>
          <a:xfrm>
            <a:off x="6251296" y="2761488"/>
            <a:ext cx="5437480" cy="914400"/>
          </a:xfrm>
          <a:prstGeom prst="roundRect">
            <a:avLst>
              <a:gd name="adj" fmla="val 9000"/>
            </a:avLst>
          </a:prstGeom>
          <a:solidFill>
            <a:srgbClr val="F1F7F8"/>
          </a:solidFill>
          <a:ln w="12700">
            <a:solidFill>
              <a:srgbClr val="F1F7F8"/>
            </a:solidFill>
            <a:prstDash val="solid"/>
          </a:ln>
        </p:spPr>
      </p:sp>
      <p:sp>
        <p:nvSpPr>
          <p:cNvPr id="13" name="Text 11"/>
          <p:cNvSpPr txBox="1"/>
          <p:nvPr/>
        </p:nvSpPr>
        <p:spPr>
          <a:xfrm>
            <a:off x="10975543" y="2944368"/>
            <a:ext cx="548640" cy="548640"/>
          </a:xfrm>
          <a:prstGeom prst="ellipse">
            <a:avLst/>
          </a:prstGeom>
          <a:solidFill>
            <a:srgbClr val="0E6E7E"/>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6489040" y="2889504"/>
            <a:ext cx="4431640" cy="310896"/>
          </a:xfrm>
          <a:prstGeom prst="rect">
            <a:avLst/>
          </a:prstGeom>
          <a:noFill/>
          <a:ln/>
        </p:spPr>
        <p:txBody>
          <a:bodyPr wrap="square" lIns="0" tIns="0" rIns="0" bIns="0" rtlCol="0" anchor="ctr"/>
          <a:lstStyle/>
          <a:p>
            <a:pPr rtl="1" algn="r" indent="0" marL="0">
              <a:buNone/>
            </a:pPr>
            <a:r>
              <a:rPr lang="en-US" sz="1550" b="1" dirty="0">
                <a:solidFill>
                  <a:srgbClr val="0C3B44"/>
                </a:solidFill>
                <a:latin typeface="Arial" pitchFamily="34" charset="0"/>
                <a:ea typeface="Arial" pitchFamily="34" charset="-122"/>
                <a:cs typeface="Arial" pitchFamily="34" charset="-120"/>
              </a:rPr>
              <a:t>תשתית הליכה ביישובי הבדואים</a:t>
            </a:r>
            <a:endParaRPr lang="en-US" sz="1550" dirty="0"/>
          </a:p>
        </p:txBody>
      </p:sp>
      <p:sp>
        <p:nvSpPr>
          <p:cNvPr id="15" name="Text 13"/>
          <p:cNvSpPr txBox="1"/>
          <p:nvPr/>
        </p:nvSpPr>
        <p:spPr>
          <a:xfrm>
            <a:off x="6489040" y="3200400"/>
            <a:ext cx="4431640" cy="402336"/>
          </a:xfrm>
          <a:prstGeom prst="rect">
            <a:avLst/>
          </a:prstGeom>
          <a:noFill/>
          <a:ln/>
        </p:spPr>
        <p:txBody>
          <a:bodyPr wrap="square" lIns="0" tIns="0" rIns="0" bIns="0" rtlCol="0" anchor="ctr"/>
          <a:lstStyle/>
          <a:p>
            <a:pPr rtl="1" algn="r" indent="0" marL="0">
              <a:lnSpc>
                <a:spcPts val="1700"/>
              </a:lnSpc>
              <a:buNone/>
            </a:pPr>
            <a:r>
              <a:rPr lang="en-US" sz="1250" dirty="0">
                <a:solidFill>
                  <a:srgbClr val="56686D"/>
                </a:solidFill>
                <a:latin typeface="Arial" pitchFamily="34" charset="0"/>
                <a:ea typeface="Arial" pitchFamily="34" charset="-122"/>
                <a:cs typeface="Arial" pitchFamily="34" charset="-120"/>
              </a:rPr>
              <a:t>מדרכה רציפה, תאורה וספסלים במסלול אחד לפחות בכל שכונה.</a:t>
            </a:r>
            <a:endParaRPr lang="en-US" sz="1250" dirty="0"/>
          </a:p>
        </p:txBody>
      </p:sp>
      <p:sp>
        <p:nvSpPr>
          <p:cNvPr id="16" name="Shape 14"/>
          <p:cNvSpPr/>
          <p:nvPr/>
        </p:nvSpPr>
        <p:spPr>
          <a:xfrm>
            <a:off x="502920" y="2761488"/>
            <a:ext cx="5437480" cy="914400"/>
          </a:xfrm>
          <a:prstGeom prst="roundRect">
            <a:avLst>
              <a:gd name="adj" fmla="val 9000"/>
            </a:avLst>
          </a:prstGeom>
          <a:solidFill>
            <a:srgbClr val="F1F7F8"/>
          </a:solidFill>
          <a:ln w="12700">
            <a:solidFill>
              <a:srgbClr val="F1F7F8"/>
            </a:solidFill>
            <a:prstDash val="solid"/>
          </a:ln>
        </p:spPr>
      </p:sp>
      <p:sp>
        <p:nvSpPr>
          <p:cNvPr id="17" name="Text 15"/>
          <p:cNvSpPr txBox="1"/>
          <p:nvPr/>
        </p:nvSpPr>
        <p:spPr>
          <a:xfrm>
            <a:off x="5227168" y="2944368"/>
            <a:ext cx="548640" cy="548640"/>
          </a:xfrm>
          <a:prstGeom prst="ellipse">
            <a:avLst/>
          </a:prstGeom>
          <a:solidFill>
            <a:srgbClr val="1D9E9A"/>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740664" y="2889504"/>
            <a:ext cx="4431640" cy="310896"/>
          </a:xfrm>
          <a:prstGeom prst="rect">
            <a:avLst/>
          </a:prstGeom>
          <a:noFill/>
          <a:ln/>
        </p:spPr>
        <p:txBody>
          <a:bodyPr wrap="square" lIns="0" tIns="0" rIns="0" bIns="0" rtlCol="0" anchor="ctr"/>
          <a:lstStyle/>
          <a:p>
            <a:pPr rtl="1" algn="r" indent="0" marL="0">
              <a:buNone/>
            </a:pPr>
            <a:r>
              <a:rPr lang="en-US" sz="1550" b="1" dirty="0">
                <a:solidFill>
                  <a:srgbClr val="0C3B44"/>
                </a:solidFill>
                <a:latin typeface="Arial" pitchFamily="34" charset="0"/>
                <a:ea typeface="Arial" pitchFamily="34" charset="-122"/>
                <a:cs typeface="Arial" pitchFamily="34" charset="-120"/>
              </a:rPr>
              <a:t>מסגרות ספורט לנשים</a:t>
            </a:r>
            <a:endParaRPr lang="en-US" sz="1550" dirty="0"/>
          </a:p>
        </p:txBody>
      </p:sp>
      <p:sp>
        <p:nvSpPr>
          <p:cNvPr id="19" name="Text 17"/>
          <p:cNvSpPr txBox="1"/>
          <p:nvPr/>
        </p:nvSpPr>
        <p:spPr>
          <a:xfrm>
            <a:off x="740664" y="3200400"/>
            <a:ext cx="4431640" cy="402336"/>
          </a:xfrm>
          <a:prstGeom prst="rect">
            <a:avLst/>
          </a:prstGeom>
          <a:noFill/>
          <a:ln/>
        </p:spPr>
        <p:txBody>
          <a:bodyPr wrap="square" lIns="0" tIns="0" rIns="0" bIns="0" rtlCol="0" anchor="ctr"/>
          <a:lstStyle/>
          <a:p>
            <a:pPr rtl="1" algn="r" indent="0" marL="0">
              <a:lnSpc>
                <a:spcPts val="1700"/>
              </a:lnSpc>
              <a:buNone/>
            </a:pPr>
            <a:r>
              <a:rPr lang="en-US" sz="1250" dirty="0">
                <a:solidFill>
                  <a:srgbClr val="56686D"/>
                </a:solidFill>
                <a:latin typeface="Arial" pitchFamily="34" charset="0"/>
                <a:ea typeface="Arial" pitchFamily="34" charset="-122"/>
                <a:cs typeface="Arial" pitchFamily="34" charset="-120"/>
              </a:rPr>
              <a:t>אולם או מתחם מגודר עם מדריכות, בשעות אחר הצהריים.</a:t>
            </a:r>
            <a:endParaRPr lang="en-US" sz="1250" dirty="0"/>
          </a:p>
        </p:txBody>
      </p:sp>
      <p:sp>
        <p:nvSpPr>
          <p:cNvPr id="20" name="Shape 18"/>
          <p:cNvSpPr/>
          <p:nvPr/>
        </p:nvSpPr>
        <p:spPr>
          <a:xfrm>
            <a:off x="6251296" y="3822192"/>
            <a:ext cx="5437480" cy="914400"/>
          </a:xfrm>
          <a:prstGeom prst="roundRect">
            <a:avLst>
              <a:gd name="adj" fmla="val 9000"/>
            </a:avLst>
          </a:prstGeom>
          <a:solidFill>
            <a:srgbClr val="F1F7F8"/>
          </a:solidFill>
          <a:ln w="12700">
            <a:solidFill>
              <a:srgbClr val="F1F7F8"/>
            </a:solidFill>
            <a:prstDash val="solid"/>
          </a:ln>
        </p:spPr>
      </p:sp>
      <p:sp>
        <p:nvSpPr>
          <p:cNvPr id="21" name="Text 19"/>
          <p:cNvSpPr txBox="1"/>
          <p:nvPr/>
        </p:nvSpPr>
        <p:spPr>
          <a:xfrm>
            <a:off x="10975543" y="4005072"/>
            <a:ext cx="548640" cy="548640"/>
          </a:xfrm>
          <a:prstGeom prst="ellipse">
            <a:avLst/>
          </a:prstGeom>
          <a:solidFill>
            <a:srgbClr val="0E6E7E"/>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6489040" y="3950208"/>
            <a:ext cx="4431640" cy="310896"/>
          </a:xfrm>
          <a:prstGeom prst="rect">
            <a:avLst/>
          </a:prstGeom>
          <a:noFill/>
          <a:ln/>
        </p:spPr>
        <p:txBody>
          <a:bodyPr wrap="square" lIns="0" tIns="0" rIns="0" bIns="0" rtlCol="0" anchor="ctr"/>
          <a:lstStyle/>
          <a:p>
            <a:pPr rtl="1" algn="r" indent="0" marL="0">
              <a:buNone/>
            </a:pPr>
            <a:r>
              <a:rPr lang="en-US" sz="1550" b="1" dirty="0">
                <a:solidFill>
                  <a:srgbClr val="0C3B44"/>
                </a:solidFill>
                <a:latin typeface="Arial" pitchFamily="34" charset="0"/>
                <a:ea typeface="Arial" pitchFamily="34" charset="-122"/>
                <a:cs typeface="Arial" pitchFamily="34" charset="-120"/>
              </a:rPr>
              <a:t>פנייה יזומה בטלפון, בערבית</a:t>
            </a:r>
            <a:endParaRPr lang="en-US" sz="1550" dirty="0"/>
          </a:p>
        </p:txBody>
      </p:sp>
      <p:sp>
        <p:nvSpPr>
          <p:cNvPr id="23" name="Text 21"/>
          <p:cNvSpPr txBox="1"/>
          <p:nvPr/>
        </p:nvSpPr>
        <p:spPr>
          <a:xfrm>
            <a:off x="6489040" y="4261104"/>
            <a:ext cx="4431640" cy="402336"/>
          </a:xfrm>
          <a:prstGeom prst="rect">
            <a:avLst/>
          </a:prstGeom>
          <a:noFill/>
          <a:ln/>
        </p:spPr>
        <p:txBody>
          <a:bodyPr wrap="square" lIns="0" tIns="0" rIns="0" bIns="0" rtlCol="0" anchor="ctr"/>
          <a:lstStyle/>
          <a:p>
            <a:pPr rtl="1" algn="r" indent="0" marL="0">
              <a:lnSpc>
                <a:spcPts val="1700"/>
              </a:lnSpc>
              <a:buNone/>
            </a:pPr>
            <a:r>
              <a:rPr lang="en-US" sz="1250" dirty="0">
                <a:solidFill>
                  <a:srgbClr val="56686D"/>
                </a:solidFill>
                <a:latin typeface="Arial" pitchFamily="34" charset="0"/>
                <a:ea typeface="Arial" pitchFamily="34" charset="-122"/>
                <a:cs typeface="Arial" pitchFamily="34" charset="-120"/>
              </a:rPr>
              <a:t>אל בעלי גורמי סיכון שאינם מגיעים לבדיקות. דיוור אינו אפקטיבי.</a:t>
            </a:r>
            <a:endParaRPr lang="en-US" sz="1250" dirty="0"/>
          </a:p>
        </p:txBody>
      </p:sp>
      <p:sp>
        <p:nvSpPr>
          <p:cNvPr id="24" name="Shape 22"/>
          <p:cNvSpPr/>
          <p:nvPr/>
        </p:nvSpPr>
        <p:spPr>
          <a:xfrm>
            <a:off x="502920" y="3822192"/>
            <a:ext cx="5437480" cy="914400"/>
          </a:xfrm>
          <a:prstGeom prst="roundRect">
            <a:avLst>
              <a:gd name="adj" fmla="val 9000"/>
            </a:avLst>
          </a:prstGeom>
          <a:solidFill>
            <a:srgbClr val="F1F7F8"/>
          </a:solidFill>
          <a:ln w="12700">
            <a:solidFill>
              <a:srgbClr val="F1F7F8"/>
            </a:solidFill>
            <a:prstDash val="solid"/>
          </a:ln>
        </p:spPr>
      </p:sp>
      <p:sp>
        <p:nvSpPr>
          <p:cNvPr id="25" name="Text 23"/>
          <p:cNvSpPr txBox="1"/>
          <p:nvPr/>
        </p:nvSpPr>
        <p:spPr>
          <a:xfrm>
            <a:off x="5227168" y="4005072"/>
            <a:ext cx="548640" cy="548640"/>
          </a:xfrm>
          <a:prstGeom prst="ellipse">
            <a:avLst/>
          </a:prstGeom>
          <a:solidFill>
            <a:srgbClr val="1D9E9A"/>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26" name="Text 24"/>
          <p:cNvSpPr txBox="1"/>
          <p:nvPr/>
        </p:nvSpPr>
        <p:spPr>
          <a:xfrm>
            <a:off x="740664" y="3950208"/>
            <a:ext cx="4431640" cy="310896"/>
          </a:xfrm>
          <a:prstGeom prst="rect">
            <a:avLst/>
          </a:prstGeom>
          <a:noFill/>
          <a:ln/>
        </p:spPr>
        <p:txBody>
          <a:bodyPr wrap="square" lIns="0" tIns="0" rIns="0" bIns="0" rtlCol="0" anchor="ctr"/>
          <a:lstStyle/>
          <a:p>
            <a:pPr rtl="1" algn="r" indent="0" marL="0">
              <a:buNone/>
            </a:pPr>
            <a:r>
              <a:rPr lang="en-US" sz="1550" b="1" dirty="0">
                <a:solidFill>
                  <a:srgbClr val="0C3B44"/>
                </a:solidFill>
                <a:latin typeface="Arial" pitchFamily="34" charset="0"/>
                <a:ea typeface="Arial" pitchFamily="34" charset="-122"/>
                <a:cs typeface="Arial" pitchFamily="34" charset="-120"/>
              </a:rPr>
              <a:t>מוסדות הקהילה כערוץ הסברה</a:t>
            </a:r>
            <a:endParaRPr lang="en-US" sz="1550" dirty="0"/>
          </a:p>
        </p:txBody>
      </p:sp>
      <p:sp>
        <p:nvSpPr>
          <p:cNvPr id="27" name="Text 25"/>
          <p:cNvSpPr txBox="1"/>
          <p:nvPr/>
        </p:nvSpPr>
        <p:spPr>
          <a:xfrm>
            <a:off x="740664" y="4261104"/>
            <a:ext cx="4431640" cy="402336"/>
          </a:xfrm>
          <a:prstGeom prst="rect">
            <a:avLst/>
          </a:prstGeom>
          <a:noFill/>
          <a:ln/>
        </p:spPr>
        <p:txBody>
          <a:bodyPr wrap="square" lIns="0" tIns="0" rIns="0" bIns="0" rtlCol="0" anchor="ctr"/>
          <a:lstStyle/>
          <a:p>
            <a:pPr rtl="1" algn="r" indent="0" marL="0">
              <a:lnSpc>
                <a:spcPts val="1700"/>
              </a:lnSpc>
              <a:buNone/>
            </a:pPr>
            <a:r>
              <a:rPr lang="en-US" sz="1250" dirty="0">
                <a:solidFill>
                  <a:srgbClr val="56686D"/>
                </a:solidFill>
                <a:latin typeface="Arial" pitchFamily="34" charset="0"/>
                <a:ea typeface="Arial" pitchFamily="34" charset="-122"/>
                <a:cs typeface="Arial" pitchFamily="34" charset="-120"/>
              </a:rPr>
              <a:t>המסגד, בתי הספר וטיפות החלב כנקודות מפגש עם מי שאינו פוקד את המרפאה.</a:t>
            </a:r>
            <a:endParaRPr lang="en-US" sz="1250" dirty="0"/>
          </a:p>
        </p:txBody>
      </p:sp>
      <p:sp>
        <p:nvSpPr>
          <p:cNvPr id="28" name="Shape 26"/>
          <p:cNvSpPr/>
          <p:nvPr/>
        </p:nvSpPr>
        <p:spPr>
          <a:xfrm>
            <a:off x="6251296" y="4882896"/>
            <a:ext cx="5437480" cy="914400"/>
          </a:xfrm>
          <a:prstGeom prst="roundRect">
            <a:avLst>
              <a:gd name="adj" fmla="val 9000"/>
            </a:avLst>
          </a:prstGeom>
          <a:solidFill>
            <a:srgbClr val="F1F7F8"/>
          </a:solidFill>
          <a:ln w="12700">
            <a:solidFill>
              <a:srgbClr val="F1F7F8"/>
            </a:solidFill>
            <a:prstDash val="solid"/>
          </a:ln>
        </p:spPr>
      </p:sp>
      <p:sp>
        <p:nvSpPr>
          <p:cNvPr id="29" name="Text 27"/>
          <p:cNvSpPr txBox="1"/>
          <p:nvPr/>
        </p:nvSpPr>
        <p:spPr>
          <a:xfrm>
            <a:off x="10975543" y="5065776"/>
            <a:ext cx="548640" cy="548640"/>
          </a:xfrm>
          <a:prstGeom prst="ellipse">
            <a:avLst/>
          </a:prstGeom>
          <a:solidFill>
            <a:srgbClr val="0E6E7E"/>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7</a:t>
            </a:r>
            <a:endParaRPr lang="en-US" sz="1600" dirty="0"/>
          </a:p>
        </p:txBody>
      </p:sp>
      <p:sp>
        <p:nvSpPr>
          <p:cNvPr id="30" name="Text 28"/>
          <p:cNvSpPr txBox="1"/>
          <p:nvPr/>
        </p:nvSpPr>
        <p:spPr>
          <a:xfrm>
            <a:off x="6489040" y="5010912"/>
            <a:ext cx="4431640" cy="310896"/>
          </a:xfrm>
          <a:prstGeom prst="rect">
            <a:avLst/>
          </a:prstGeom>
          <a:noFill/>
          <a:ln/>
        </p:spPr>
        <p:txBody>
          <a:bodyPr wrap="square" lIns="0" tIns="0" rIns="0" bIns="0" rtlCol="0" anchor="ctr"/>
          <a:lstStyle/>
          <a:p>
            <a:pPr rtl="1" algn="r" indent="0" marL="0">
              <a:buNone/>
            </a:pPr>
            <a:r>
              <a:rPr lang="en-US" sz="1550" b="1" dirty="0">
                <a:solidFill>
                  <a:srgbClr val="0C3B44"/>
                </a:solidFill>
                <a:latin typeface="Arial" pitchFamily="34" charset="0"/>
                <a:ea typeface="Arial" pitchFamily="34" charset="-122"/>
                <a:cs typeface="Arial" pitchFamily="34" charset="-120"/>
              </a:rPr>
              <a:t>אנשי הקהילה כמעבירי מסר</a:t>
            </a:r>
            <a:endParaRPr lang="en-US" sz="1550" dirty="0"/>
          </a:p>
        </p:txBody>
      </p:sp>
      <p:sp>
        <p:nvSpPr>
          <p:cNvPr id="31" name="Text 29"/>
          <p:cNvSpPr txBox="1"/>
          <p:nvPr/>
        </p:nvSpPr>
        <p:spPr>
          <a:xfrm>
            <a:off x="6489040" y="5321808"/>
            <a:ext cx="4431640" cy="402336"/>
          </a:xfrm>
          <a:prstGeom prst="rect">
            <a:avLst/>
          </a:prstGeom>
          <a:noFill/>
          <a:ln/>
        </p:spPr>
        <p:txBody>
          <a:bodyPr wrap="square" lIns="0" tIns="0" rIns="0" bIns="0" rtlCol="0" anchor="ctr"/>
          <a:lstStyle/>
          <a:p>
            <a:pPr rtl="1" algn="r" indent="0" marL="0">
              <a:lnSpc>
                <a:spcPts val="1700"/>
              </a:lnSpc>
              <a:buNone/>
            </a:pPr>
            <a:r>
              <a:rPr lang="en-US" sz="1250" dirty="0">
                <a:solidFill>
                  <a:srgbClr val="56686D"/>
                </a:solidFill>
                <a:latin typeface="Arial" pitchFamily="34" charset="0"/>
                <a:ea typeface="Arial" pitchFamily="34" charset="-122"/>
                <a:cs typeface="Arial" pitchFamily="34" charset="-120"/>
              </a:rPr>
              <a:t>מי שעבר שינוי מוצלח משכנע יותר מהרצאה של איש מקצוע חיצוני.</a:t>
            </a:r>
            <a:endParaRPr lang="en-US" sz="12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10378440" y="5724144"/>
            <a:ext cx="1298448" cy="786384"/>
          </a:xfrm>
          <a:prstGeom prst="roundRect">
            <a:avLst>
              <a:gd name="adj" fmla="val 10465"/>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10634472" y="5815584"/>
            <a:ext cx="603504" cy="603504"/>
          </a:xfrm>
          <a:prstGeom prst="rect">
            <a:avLst/>
          </a:prstGeom>
        </p:spPr>
      </p:pic>
      <p:sp>
        <p:nvSpPr>
          <p:cNvPr id="4" name="Text 1"/>
          <p:cNvSpPr txBox="1"/>
          <p:nvPr/>
        </p:nvSpPr>
        <p:spPr>
          <a:xfrm>
            <a:off x="502920" y="457200"/>
            <a:ext cx="11185855" cy="658368"/>
          </a:xfrm>
          <a:prstGeom prst="rect">
            <a:avLst/>
          </a:prstGeom>
          <a:noFill/>
          <a:ln/>
        </p:spPr>
        <p:txBody>
          <a:bodyPr wrap="square" lIns="0" tIns="0" rIns="0" bIns="0" rtlCol="0" anchor="ctr"/>
          <a:lstStyle/>
          <a:p>
            <a:pPr rtl="1" algn="r" indent="0" marL="0">
              <a:buNone/>
            </a:pPr>
            <a:r>
              <a:rPr lang="en-US" sz="3200" b="1" dirty="0">
                <a:solidFill>
                  <a:srgbClr val="FFFFFF"/>
                </a:solidFill>
                <a:latin typeface="Arial" pitchFamily="34" charset="0"/>
                <a:ea typeface="Arial" pitchFamily="34" charset="-122"/>
                <a:cs typeface="Arial" pitchFamily="34" charset="-120"/>
              </a:rPr>
              <a:t>מגבלות המחקר וסיכום</a:t>
            </a:r>
            <a:endParaRPr lang="en-US" sz="3200" dirty="0"/>
          </a:p>
        </p:txBody>
      </p:sp>
      <p:sp>
        <p:nvSpPr>
          <p:cNvPr id="5" name="Text 2"/>
          <p:cNvSpPr txBox="1"/>
          <p:nvPr/>
        </p:nvSpPr>
        <p:spPr>
          <a:xfrm>
            <a:off x="6278728" y="1371600"/>
            <a:ext cx="5410048" cy="365760"/>
          </a:xfrm>
          <a:prstGeom prst="rect">
            <a:avLst/>
          </a:prstGeom>
          <a:noFill/>
          <a:ln/>
        </p:spPr>
        <p:txBody>
          <a:bodyPr wrap="square" lIns="0" tIns="0" rIns="0" bIns="0" rtlCol="0" anchor="ctr"/>
          <a:lstStyle/>
          <a:p>
            <a:pPr rtl="1" algn="r" indent="0" marL="0">
              <a:buNone/>
            </a:pPr>
            <a:r>
              <a:rPr lang="en-US" sz="2000" b="1" dirty="0">
                <a:solidFill>
                  <a:srgbClr val="1D9E9A"/>
                </a:solidFill>
                <a:latin typeface="Arial" pitchFamily="34" charset="0"/>
                <a:ea typeface="Arial" pitchFamily="34" charset="-122"/>
                <a:cs typeface="Arial" pitchFamily="34" charset="-120"/>
              </a:rPr>
              <a:t>מגבלות</a:t>
            </a:r>
            <a:endParaRPr lang="en-US" sz="2000" dirty="0"/>
          </a:p>
        </p:txBody>
      </p:sp>
      <p:sp>
        <p:nvSpPr>
          <p:cNvPr id="6" name="Text 3"/>
          <p:cNvSpPr txBox="1"/>
          <p:nvPr/>
        </p:nvSpPr>
        <p:spPr>
          <a:xfrm>
            <a:off x="6278728" y="1828800"/>
            <a:ext cx="5410048" cy="2834640"/>
          </a:xfrm>
          <a:prstGeom prst="rect">
            <a:avLst/>
          </a:prstGeom>
          <a:noFill/>
          <a:ln/>
        </p:spPr>
        <p:txBody>
          <a:bodyPr wrap="square" lIns="0" tIns="0" rIns="0" bIns="0" rtlCol="0" anchor="ctr"/>
          <a:lstStyle/>
          <a:p>
            <a:pPr algn="r" marL="342900" indent="-342900">
              <a:lnSpc>
                <a:spcPts val="2100"/>
              </a:lnSpc>
              <a:spcAft>
                <a:spcPts val="1100"/>
              </a:spcAft>
              <a:buSzPct val="100000"/>
              <a:buChar char="▪"/>
            </a:pPr>
            <a:r>
              <a:rPr lang="en-US" sz="1450" dirty="0">
                <a:solidFill>
                  <a:srgbClr val="BFE3DD"/>
                </a:solidFill>
                <a:latin typeface="Arial" pitchFamily="34" charset="0"/>
                <a:ea typeface="Arial" pitchFamily="34" charset="-122"/>
                <a:cs typeface="Arial" pitchFamily="34" charset="-120"/>
              </a:rPr>
              <a:t>מדגם של שנים עשר משתתפים, שאינו מאפשר הכללה סטטיסטית</a:t>
            </a:r>
            <a:endParaRPr lang="en-US" sz="1450" dirty="0"/>
          </a:p>
          <a:p>
            <a:pPr algn="r" marL="342900" indent="-342900">
              <a:lnSpc>
                <a:spcPts val="2100"/>
              </a:lnSpc>
              <a:spcAft>
                <a:spcPts val="1100"/>
              </a:spcAft>
              <a:buSzPct val="100000"/>
              <a:buChar char="▪"/>
            </a:pPr>
            <a:r>
              <a:rPr lang="en-US" sz="1450" dirty="0">
                <a:solidFill>
                  <a:srgbClr val="BFE3DD"/>
                </a:solidFill>
                <a:latin typeface="Arial" pitchFamily="34" charset="0"/>
                <a:ea typeface="Arial" pitchFamily="34" charset="-122"/>
                <a:cs typeface="Arial" pitchFamily="34" charset="-120"/>
              </a:rPr>
              <a:t>דגימה מכוונת בשיטת כדור השלג, העלולה להטות לטובת נכונות לשוחח</a:t>
            </a:r>
            <a:endParaRPr lang="en-US" sz="1450" dirty="0"/>
          </a:p>
          <a:p>
            <a:pPr algn="r" marL="342900" indent="-342900">
              <a:lnSpc>
                <a:spcPts val="2100"/>
              </a:lnSpc>
              <a:spcAft>
                <a:spcPts val="1100"/>
              </a:spcAft>
              <a:buSzPct val="100000"/>
              <a:buChar char="▪"/>
            </a:pPr>
            <a:r>
              <a:rPr lang="en-US" sz="1450" dirty="0">
                <a:solidFill>
                  <a:srgbClr val="BFE3DD"/>
                </a:solidFill>
                <a:latin typeface="Arial" pitchFamily="34" charset="0"/>
                <a:ea typeface="Arial" pitchFamily="34" charset="-122"/>
                <a:cs typeface="Arial" pitchFamily="34" charset="-120"/>
              </a:rPr>
              <a:t>הסתמכות על דיווח עצמי, החשוף להטיית רצייה חברתית</a:t>
            </a:r>
            <a:endParaRPr lang="en-US" sz="1450" dirty="0"/>
          </a:p>
          <a:p>
            <a:pPr algn="r" marL="342900" indent="-342900">
              <a:lnSpc>
                <a:spcPts val="2100"/>
              </a:lnSpc>
              <a:spcAft>
                <a:spcPts val="1100"/>
              </a:spcAft>
              <a:buSzPct val="100000"/>
              <a:buChar char="▪"/>
            </a:pPr>
            <a:r>
              <a:rPr lang="en-US" sz="1450" dirty="0">
                <a:solidFill>
                  <a:srgbClr val="BFE3DD"/>
                </a:solidFill>
                <a:latin typeface="Arial" pitchFamily="34" charset="0"/>
                <a:ea typeface="Arial" pitchFamily="34" charset="-122"/>
                <a:cs typeface="Arial" pitchFamily="34" charset="-120"/>
              </a:rPr>
              <a:t>ארבעה ראיונות תורגמו מערבית, וכל תרגום כרוך באובדן ניואנסים</a:t>
            </a:r>
            <a:endParaRPr lang="en-US" sz="1450" dirty="0"/>
          </a:p>
          <a:p>
            <a:pPr algn="r" marL="342900" indent="-342900">
              <a:lnSpc>
                <a:spcPts val="2100"/>
              </a:lnSpc>
              <a:spcAft>
                <a:spcPts val="1100"/>
              </a:spcAft>
              <a:buSzPct val="100000"/>
              <a:buChar char="▪"/>
            </a:pPr>
            <a:r>
              <a:rPr lang="en-US" sz="1450" dirty="0">
                <a:solidFill>
                  <a:srgbClr val="BFE3DD"/>
                </a:solidFill>
                <a:latin typeface="Arial" pitchFamily="34" charset="0"/>
                <a:ea typeface="Arial" pitchFamily="34" charset="-122"/>
                <a:cs typeface="Arial" pitchFamily="34" charset="-120"/>
              </a:rPr>
              <a:t>הקשר מקומי של שלושה יישובים בדרום, המצמצם את ההשלכה</a:t>
            </a:r>
            <a:endParaRPr lang="en-US" sz="1450" dirty="0"/>
          </a:p>
        </p:txBody>
      </p:sp>
      <p:sp>
        <p:nvSpPr>
          <p:cNvPr id="7" name="Text 4"/>
          <p:cNvSpPr txBox="1"/>
          <p:nvPr/>
        </p:nvSpPr>
        <p:spPr>
          <a:xfrm>
            <a:off x="502920" y="1371600"/>
            <a:ext cx="5410048" cy="365760"/>
          </a:xfrm>
          <a:prstGeom prst="rect">
            <a:avLst/>
          </a:prstGeom>
          <a:noFill/>
          <a:ln/>
        </p:spPr>
        <p:txBody>
          <a:bodyPr wrap="square" lIns="0" tIns="0" rIns="0" bIns="0" rtlCol="0" anchor="ctr"/>
          <a:lstStyle/>
          <a:p>
            <a:pPr rtl="1" algn="r" indent="0" marL="0">
              <a:buNone/>
            </a:pPr>
            <a:r>
              <a:rPr lang="en-US" sz="2000" b="1" dirty="0">
                <a:solidFill>
                  <a:srgbClr val="1D9E9A"/>
                </a:solidFill>
                <a:latin typeface="Arial" pitchFamily="34" charset="0"/>
                <a:ea typeface="Arial" pitchFamily="34" charset="-122"/>
                <a:cs typeface="Arial" pitchFamily="34" charset="-120"/>
              </a:rPr>
              <a:t>סיכום</a:t>
            </a:r>
            <a:endParaRPr lang="en-US" sz="2000" dirty="0"/>
          </a:p>
        </p:txBody>
      </p:sp>
      <p:sp>
        <p:nvSpPr>
          <p:cNvPr id="8" name="Text 5"/>
          <p:cNvSpPr txBox="1"/>
          <p:nvPr/>
        </p:nvSpPr>
        <p:spPr>
          <a:xfrm>
            <a:off x="502920" y="1828800"/>
            <a:ext cx="5410048" cy="1371600"/>
          </a:xfrm>
          <a:prstGeom prst="rect">
            <a:avLst/>
          </a:prstGeom>
          <a:noFill/>
          <a:ln/>
        </p:spPr>
        <p:txBody>
          <a:bodyPr wrap="square" lIns="0" tIns="0" rIns="0" bIns="0" rtlCol="0" anchor="ctr"/>
          <a:lstStyle/>
          <a:p>
            <a:pPr rtl="1" algn="r" indent="0" marL="0">
              <a:lnSpc>
                <a:spcPts val="3000"/>
              </a:lnSpc>
              <a:buNone/>
            </a:pPr>
            <a:r>
              <a:rPr lang="en-US" sz="1800" dirty="0">
                <a:solidFill>
                  <a:srgbClr val="FFFFFF"/>
                </a:solidFill>
                <a:latin typeface="Arial" pitchFamily="34" charset="0"/>
                <a:ea typeface="Arial" pitchFamily="34" charset="-122"/>
                <a:cs typeface="Arial" pitchFamily="34" charset="-120"/>
              </a:rPr>
              <a:t>המרואיינים ידעו כמעט תמיד מה נכון לעשות. מה שחסר להם היה מקום ללכת בו, קבוצה שתחכה להם, טלפון שיזכיר, ומישהו שידבר איתם בשפה שהם מבינים.</a:t>
            </a:r>
            <a:endParaRPr lang="en-US" sz="1800" dirty="0"/>
          </a:p>
        </p:txBody>
      </p:sp>
      <p:sp>
        <p:nvSpPr>
          <p:cNvPr id="9" name="Text 6"/>
          <p:cNvSpPr txBox="1"/>
          <p:nvPr/>
        </p:nvSpPr>
        <p:spPr>
          <a:xfrm>
            <a:off x="502920" y="3291840"/>
            <a:ext cx="5410048" cy="914400"/>
          </a:xfrm>
          <a:prstGeom prst="rect">
            <a:avLst/>
          </a:prstGeom>
          <a:noFill/>
          <a:ln/>
        </p:spPr>
        <p:txBody>
          <a:bodyPr wrap="square" lIns="0" tIns="0" rIns="0" bIns="0" rtlCol="0" anchor="ctr"/>
          <a:lstStyle/>
          <a:p>
            <a:pPr rtl="1" algn="r" indent="0" marL="0">
              <a:lnSpc>
                <a:spcPts val="2400"/>
              </a:lnSpc>
              <a:buNone/>
            </a:pPr>
            <a:r>
              <a:rPr lang="en-US" sz="1500" dirty="0">
                <a:solidFill>
                  <a:srgbClr val="BFE3DD"/>
                </a:solidFill>
                <a:latin typeface="Arial" pitchFamily="34" charset="0"/>
                <a:ea typeface="Arial" pitchFamily="34" charset="-122"/>
                <a:cs typeface="Arial" pitchFamily="34" charset="-120"/>
              </a:rPr>
              <a:t>אלה אינם משאבים יקרים במונחי מערכת בריאות, ובוודאי לא ביחס לעלות הטיפול בסוכרת, בשבץ ובאי-ספיקת לב.</a:t>
            </a:r>
            <a:endParaRPr lang="en-US" sz="1500" dirty="0"/>
          </a:p>
        </p:txBody>
      </p:sp>
      <p:sp>
        <p:nvSpPr>
          <p:cNvPr id="10" name="Text 7"/>
          <p:cNvSpPr txBox="1"/>
          <p:nvPr/>
        </p:nvSpPr>
        <p:spPr>
          <a:xfrm>
            <a:off x="502920" y="5029200"/>
            <a:ext cx="6858000" cy="548640"/>
          </a:xfrm>
          <a:prstGeom prst="rect">
            <a:avLst/>
          </a:prstGeom>
          <a:noFill/>
          <a:ln/>
        </p:spPr>
        <p:txBody>
          <a:bodyPr wrap="square" lIns="0" tIns="0" rIns="0" bIns="0" rtlCol="0" anchor="ctr"/>
          <a:lstStyle/>
          <a:p>
            <a:pPr rtl="1" algn="r" indent="0" marL="0">
              <a:buNone/>
            </a:pPr>
            <a:r>
              <a:rPr lang="en-US" sz="2600" b="1" dirty="0">
                <a:solidFill>
                  <a:srgbClr val="FFFFFF"/>
                </a:solidFill>
                <a:latin typeface="Arial" pitchFamily="34" charset="0"/>
                <a:ea typeface="Arial" pitchFamily="34" charset="-122"/>
                <a:cs typeface="Arial" pitchFamily="34" charset="-120"/>
              </a:rPr>
              <a:t>תודה על ההקשבה</a:t>
            </a:r>
            <a:endParaRPr lang="en-US" sz="2600" dirty="0"/>
          </a:p>
        </p:txBody>
      </p:sp>
      <p:sp>
        <p:nvSpPr>
          <p:cNvPr id="11" name="Text 8"/>
          <p:cNvSpPr txBox="1"/>
          <p:nvPr/>
        </p:nvSpPr>
        <p:spPr>
          <a:xfrm>
            <a:off x="502920" y="5614416"/>
            <a:ext cx="7772400" cy="365760"/>
          </a:xfrm>
          <a:prstGeom prst="rect">
            <a:avLst/>
          </a:prstGeom>
          <a:noFill/>
          <a:ln/>
        </p:spPr>
        <p:txBody>
          <a:bodyPr wrap="square" lIns="0" tIns="0" rIns="0" bIns="0" rtlCol="0" anchor="ctr"/>
          <a:lstStyle/>
          <a:p>
            <a:pPr rtl="1" algn="r" indent="0" marL="0">
              <a:buNone/>
            </a:pPr>
            <a:r>
              <a:rPr lang="en-US" sz="1300" dirty="0">
                <a:solidFill>
                  <a:srgbClr val="1D9E9A"/>
                </a:solidFill>
                <a:latin typeface="Arial" pitchFamily="34" charset="0"/>
                <a:ea typeface="Arial" pitchFamily="34" charset="-122"/>
                <a:cs typeface="Arial" pitchFamily="34" charset="-120"/>
              </a:rPr>
              <a:t>המרכז האקדמי פרס  |  החוג למנהל מערכות בריאות  |  תשפ"ו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פעילות גופנית ותזונה מאוזנת ומחלות כרוניות</dc:title>
  <dc:subject>PptxGenJS Presentation</dc:subject>
  <dc:creator>המרכז האקדמי פרס</dc:creator>
  <cp:lastModifiedBy>המרכז האקדמי פרס</cp:lastModifiedBy>
  <cp:revision>1</cp:revision>
  <dcterms:created xsi:type="dcterms:W3CDTF">2026-09-05T17:22:03Z</dcterms:created>
  <dcterms:modified xsi:type="dcterms:W3CDTF">2026-09-05T17:22:03Z</dcterms:modified>
</cp:coreProperties>
</file>