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gemini.google.com/share/2551167d6872?skid=d1d7d30a-1505-42bd-a8f5-bd96beb983fa" TargetMode="Externa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slide" Target="slide1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1.png"/><Relationship Id="rId3" Type="http://schemas.openxmlformats.org/officeDocument/2006/relationships/image" Target="../media/image-4-1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2.png"/><Relationship Id="rId5" Type="http://schemas.openxmlformats.org/officeDocument/2006/relationships/image" Target="../media/image-5-5.png"/><Relationship Id="rId6" Type="http://schemas.openxmlformats.org/officeDocument/2006/relationships/image" Target="../media/image-5-2.png"/><Relationship Id="rId7" Type="http://schemas.openxmlformats.org/officeDocument/2006/relationships/image" Target="../media/image-5-7.png"/><Relationship Id="rId8" Type="http://schemas.openxmlformats.org/officeDocument/2006/relationships/image" Target="../media/image-5-2.png"/><Relationship Id="rId9" Type="http://schemas.openxmlformats.org/officeDocument/2006/relationships/image" Target="../media/image-5-9.png"/><Relationship Id="rId10" Type="http://schemas.openxmlformats.org/officeDocument/2006/relationships/image" Target="../media/image-5-2.png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2.png"/><Relationship Id="rId4" Type="http://schemas.openxmlformats.org/officeDocument/2006/relationships/image" Target="../media/image-13-2.png"/><Relationship Id="rId5" Type="http://schemas.openxmlformats.org/officeDocument/2006/relationships/image" Target="../media/image-13-2.png"/><Relationship Id="rId6" Type="http://schemas.openxmlformats.org/officeDocument/2006/relationships/image" Target="../media/image-13-6.png"/><Relationship Id="rId7" Type="http://schemas.openxmlformats.org/officeDocument/2006/relationships/image" Target="../media/image-13-2.png"/><Relationship Id="rId8" Type="http://schemas.openxmlformats.org/officeDocument/2006/relationships/image" Target="../media/image-13-2.png"/><Relationship Id="rId9" Type="http://schemas.openxmlformats.org/officeDocument/2006/relationships/image" Target="../media/image-13-2.png"/><Relationship Id="rId10" Type="http://schemas.openxmlformats.org/officeDocument/2006/relationships/image" Target="../media/image-13-2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gemini.google.com/share/2551167d6872?skid=d1d7d30a-1505-42bd-a8f5-bd96beb983fa" TargetMode="External"/><Relationship Id="rId4" Type="http://schemas.openxmlformats.org/officeDocument/2006/relationships/slide" Target="slide11.xml"/><Relationship Id="rId1" Type="http://schemas.openxmlformats.org/officeDocument/2006/relationships/image" Target="../media/image-14-1.png"/><Relationship Id="rId3" Type="http://schemas.openxmlformats.org/officeDocument/2006/relationships/image" Target="../media/image-14-1.png"/><Relationship Id="rId5" Type="http://schemas.openxmlformats.org/officeDocument/2006/relationships/image" Target="../media/image-14-1.png"/><Relationship Id="rId6" Type="http://schemas.openxmlformats.org/officeDocument/2006/relationships/image" Target="../media/image-14-1.png"/><Relationship Id="rId7" Type="http://schemas.openxmlformats.org/officeDocument/2006/relationships/image" Target="../media/image-14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226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81328" y="475488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3" name="Shape 1"/>
          <p:cNvSpPr/>
          <p:nvPr/>
        </p:nvSpPr>
        <p:spPr>
          <a:xfrm>
            <a:off x="1481328" y="475488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4" name="Shape 2"/>
          <p:cNvSpPr/>
          <p:nvPr/>
        </p:nvSpPr>
        <p:spPr>
          <a:xfrm>
            <a:off x="854211" y="946404"/>
            <a:ext cx="1400538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2181597" y="886968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6" name="Shape 4"/>
          <p:cNvSpPr/>
          <p:nvPr/>
        </p:nvSpPr>
        <p:spPr>
          <a:xfrm>
            <a:off x="781059" y="886968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7" name="Shape 5"/>
          <p:cNvSpPr/>
          <p:nvPr/>
        </p:nvSpPr>
        <p:spPr>
          <a:xfrm>
            <a:off x="946809" y="1357884"/>
            <a:ext cx="1215341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2088999" y="1298448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9" name="Shape 7"/>
          <p:cNvSpPr/>
          <p:nvPr/>
        </p:nvSpPr>
        <p:spPr>
          <a:xfrm>
            <a:off x="873657" y="1298448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10" name="Shape 8"/>
          <p:cNvSpPr/>
          <p:nvPr/>
        </p:nvSpPr>
        <p:spPr>
          <a:xfrm>
            <a:off x="1381528" y="1769364"/>
            <a:ext cx="345904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308376" y="1709928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2" name="Shape 10"/>
          <p:cNvSpPr/>
          <p:nvPr/>
        </p:nvSpPr>
        <p:spPr>
          <a:xfrm>
            <a:off x="1654280" y="1709928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13" name="Shape 11"/>
          <p:cNvSpPr/>
          <p:nvPr/>
        </p:nvSpPr>
        <p:spPr>
          <a:xfrm>
            <a:off x="796727" y="2180844"/>
            <a:ext cx="1515506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723575" y="2121408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15" name="Shape 13"/>
          <p:cNvSpPr/>
          <p:nvPr/>
        </p:nvSpPr>
        <p:spPr>
          <a:xfrm>
            <a:off x="2239081" y="2121408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879" y="2592324"/>
            <a:ext cx="969202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96727" y="2532888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18" name="Shape 16"/>
          <p:cNvSpPr/>
          <p:nvPr/>
        </p:nvSpPr>
        <p:spPr>
          <a:xfrm>
            <a:off x="1965929" y="2532888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9" name="Shape 17"/>
          <p:cNvSpPr/>
          <p:nvPr/>
        </p:nvSpPr>
        <p:spPr>
          <a:xfrm>
            <a:off x="1217248" y="3003804"/>
            <a:ext cx="674464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818560" y="2944368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21" name="Shape 19"/>
          <p:cNvSpPr/>
          <p:nvPr/>
        </p:nvSpPr>
        <p:spPr>
          <a:xfrm>
            <a:off x="1144096" y="2944368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22" name="Shape 20"/>
          <p:cNvSpPr/>
          <p:nvPr/>
        </p:nvSpPr>
        <p:spPr>
          <a:xfrm>
            <a:off x="777240" y="3415284"/>
            <a:ext cx="1554480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2258568" y="3355848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24" name="Shape 22"/>
          <p:cNvSpPr/>
          <p:nvPr/>
        </p:nvSpPr>
        <p:spPr>
          <a:xfrm>
            <a:off x="704088" y="3355848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25" name="Shape 23"/>
          <p:cNvSpPr/>
          <p:nvPr/>
        </p:nvSpPr>
        <p:spPr>
          <a:xfrm>
            <a:off x="1217248" y="3826764"/>
            <a:ext cx="674464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818560" y="3767328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27" name="Shape 25"/>
          <p:cNvSpPr/>
          <p:nvPr/>
        </p:nvSpPr>
        <p:spPr>
          <a:xfrm>
            <a:off x="1144096" y="3767328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28" name="Shape 26"/>
          <p:cNvSpPr/>
          <p:nvPr/>
        </p:nvSpPr>
        <p:spPr>
          <a:xfrm>
            <a:off x="1069879" y="4238244"/>
            <a:ext cx="969202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996727" y="4178808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30" name="Shape 28"/>
          <p:cNvSpPr/>
          <p:nvPr/>
        </p:nvSpPr>
        <p:spPr>
          <a:xfrm>
            <a:off x="1965929" y="4178808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31" name="Shape 29"/>
          <p:cNvSpPr/>
          <p:nvPr/>
        </p:nvSpPr>
        <p:spPr>
          <a:xfrm>
            <a:off x="796727" y="4649724"/>
            <a:ext cx="1515506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723575" y="4590288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33" name="Shape 31"/>
          <p:cNvSpPr/>
          <p:nvPr/>
        </p:nvSpPr>
        <p:spPr>
          <a:xfrm>
            <a:off x="2239081" y="4590288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34" name="Shape 32"/>
          <p:cNvSpPr/>
          <p:nvPr/>
        </p:nvSpPr>
        <p:spPr>
          <a:xfrm>
            <a:off x="1381528" y="5061204"/>
            <a:ext cx="345904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308376" y="5001768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1654280" y="5001768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37" name="Shape 35"/>
          <p:cNvSpPr/>
          <p:nvPr/>
        </p:nvSpPr>
        <p:spPr>
          <a:xfrm>
            <a:off x="946809" y="5472684"/>
            <a:ext cx="1215341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2088999" y="5413248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39" name="Shape 37"/>
          <p:cNvSpPr/>
          <p:nvPr/>
        </p:nvSpPr>
        <p:spPr>
          <a:xfrm>
            <a:off x="873657" y="5413248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40" name="Shape 38"/>
          <p:cNvSpPr/>
          <p:nvPr/>
        </p:nvSpPr>
        <p:spPr>
          <a:xfrm>
            <a:off x="854211" y="5884164"/>
            <a:ext cx="1400538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2181597" y="5824728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42" name="Shape 40"/>
          <p:cNvSpPr/>
          <p:nvPr/>
        </p:nvSpPr>
        <p:spPr>
          <a:xfrm>
            <a:off x="781059" y="5824728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43" name="Shape 41"/>
          <p:cNvSpPr/>
          <p:nvPr/>
        </p:nvSpPr>
        <p:spPr>
          <a:xfrm>
            <a:off x="1481328" y="6236208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44" name="Shape 42"/>
          <p:cNvSpPr/>
          <p:nvPr/>
        </p:nvSpPr>
        <p:spPr>
          <a:xfrm>
            <a:off x="1481328" y="6236208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1828800"/>
            <a:ext cx="7680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גנטיקה</a:t>
            </a:r>
            <a:endParaRPr lang="he-IL" sz="7200" dirty="0"/>
          </a:p>
        </p:txBody>
      </p:sp>
      <p:sp>
        <p:nvSpPr>
          <p:cNvPr id="46" name="Text 44"/>
          <p:cNvSpPr txBox="1"/>
          <p:nvPr/>
        </p:nvSpPr>
        <p:spPr>
          <a:xfrm>
            <a:off x="3840480" y="32461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2800" b="1" dirty="0">
                <a:solidFill>
                  <a:srgbClr val="2BB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המסע אל הצופן הסודי של החיים</a:t>
            </a:r>
            <a:endParaRPr lang="he-IL" sz="2800" dirty="0"/>
          </a:p>
        </p:txBody>
      </p:sp>
      <p:sp>
        <p:nvSpPr>
          <p:cNvPr id="47" name="Text 45"/>
          <p:cNvSpPr txBox="1"/>
          <p:nvPr/>
        </p:nvSpPr>
        <p:spPr>
          <a:xfrm>
            <a:off x="3840480" y="4069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יחידת לימוד לתלמידים  •  מדעים</a:t>
            </a:r>
            <a:endParaRPr lang="he-IL" sz="1600" dirty="0"/>
          </a:p>
        </p:txBody>
      </p:sp>
      <p:sp>
        <p:nvSpPr>
          <p:cNvPr id="48" name="Shape 46"/>
          <p:cNvSpPr/>
          <p:nvPr/>
        </p:nvSpPr>
        <p:spPr>
          <a:xfrm>
            <a:off x="10469880" y="594360"/>
            <a:ext cx="822960" cy="82296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49" name="Image 0" descr="icons/d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67390" y="791870"/>
            <a:ext cx="427939" cy="427939"/>
          </a:xfrm>
          <a:prstGeom prst="rect">
            <a:avLst/>
          </a:prstGeom>
        </p:spPr>
      </p:pic>
      <p:sp>
        <p:nvSpPr>
          <p:cNvPr id="50" name="Text 47"/>
          <p:cNvSpPr txBox="1"/>
          <p:nvPr/>
        </p:nvSpPr>
        <p:spPr>
          <a:xfrm>
            <a:off x="2286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222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רגע לפני שמתחילים...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הכנו לכם טריילר קצר שמציג את מה שמחכה לכם ביחידה</a:t>
            </a:r>
            <a:endParaRPr lang="he-IL" sz="1600" dirty="0"/>
          </a:p>
        </p:txBody>
      </p:sp>
      <p:sp>
        <p:nvSpPr>
          <p:cNvPr id="4" name="Shape 2"/>
          <p:cNvSpPr/>
          <p:nvPr/>
        </p:nvSpPr>
        <p:spPr>
          <a:xfrm>
            <a:off x="2651760" y="1828800"/>
            <a:ext cx="6858000" cy="3657600"/>
          </a:xfrm>
          <a:prstGeom prst="roundRect">
            <a:avLst>
              <a:gd name="adj" fmla="val 3750"/>
            </a:avLst>
          </a:prstGeom>
          <a:solidFill>
            <a:srgbClr val="22264B"/>
          </a:solidFill>
          <a:ln/>
          <a:effectLst>
            <a:outerShdw sx="100000" sy="100000" kx="0" ky="0" algn="bl" rotWithShape="0" blurRad="101600" dist="38100" dir="5400000">
              <a:srgbClr val="9AA7B8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08676" y="2377440"/>
            <a:ext cx="1371600" cy="1371600"/>
          </a:xfrm>
          <a:prstGeom prst="ellipse">
            <a:avLst/>
          </a:prstGeom>
          <a:solidFill>
            <a:srgbClr val="E4572E"/>
          </a:solidFill>
          <a:ln/>
        </p:spPr>
      </p:sp>
      <p:pic>
        <p:nvPicPr>
          <p:cNvPr id="6" name="Image 0" descr="icons/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7860" y="2706624"/>
            <a:ext cx="713232" cy="713232"/>
          </a:xfrm>
          <a:prstGeom prst="rect">
            <a:avLst/>
          </a:prstGeom>
        </p:spPr>
      </p:pic>
      <p:sp>
        <p:nvSpPr>
          <p:cNvPr id="7" name="Text 4">
            <a:hlinkClick r:id="rId2" tooltip="צפייה בטריילר"/>
          </p:cNvPr>
          <p:cNvSpPr txBox="1"/>
          <p:nvPr/>
        </p:nvSpPr>
        <p:spPr>
          <a:xfrm>
            <a:off x="4023360" y="4114800"/>
            <a:ext cx="4114800" cy="685800"/>
          </a:xfrm>
          <a:prstGeom prst="roundRect">
            <a:avLst>
              <a:gd name="adj" fmla="val 13333"/>
            </a:avLst>
          </a:prstGeom>
          <a:solidFill>
            <a:srgbClr val="2BB673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2000" b="1" u="sng" dirty="0">
                <a:solidFill>
                  <a:srgbClr val="22264B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צפייה בטריילר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לחצו כאן לצפייה בטריילר</a:t>
            </a:r>
            <a:endParaRPr lang="he-IL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737360" y="58064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צפו יחד בתחילת השיעור. אחרי הצפייה נדבר: מה סיקרן אתכם הכי הרבה?</a:t>
            </a:r>
            <a:endParaRPr lang="he-IL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2286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222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מחכה לנו ביחידה?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10652760" y="1737360"/>
            <a:ext cx="640080" cy="640080"/>
          </a:xfrm>
          <a:prstGeom prst="ellipse">
            <a:avLst/>
          </a:prstGeom>
          <a:solidFill>
            <a:srgbClr val="2BB673"/>
          </a:solidFill>
          <a:ln/>
        </p:spPr>
      </p:sp>
      <p:pic>
        <p:nvPicPr>
          <p:cNvPr id="4" name="Image 0" descr="icons/micro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6379" y="1890979"/>
            <a:ext cx="332842" cy="3328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097280" y="178308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80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נגלה מה זה DNA, איך הוא בנוי ואיפה הוא מסתתר בגוף.</a:t>
            </a:r>
            <a:endParaRPr lang="he-IL" sz="1800" dirty="0"/>
          </a:p>
        </p:txBody>
      </p:sp>
      <p:sp>
        <p:nvSpPr>
          <p:cNvPr id="6" name="Shape 3"/>
          <p:cNvSpPr/>
          <p:nvPr/>
        </p:nvSpPr>
        <p:spPr>
          <a:xfrm>
            <a:off x="10652760" y="2670048"/>
            <a:ext cx="640080" cy="640080"/>
          </a:xfrm>
          <a:prstGeom prst="ellipse">
            <a:avLst/>
          </a:prstGeom>
          <a:solidFill>
            <a:srgbClr val="4C9AFF"/>
          </a:solidFill>
          <a:ln/>
        </p:spPr>
      </p:sp>
      <p:pic>
        <p:nvPicPr>
          <p:cNvPr id="7" name="Image 1" descr="icons/ey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6379" y="2823667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97280" y="2715768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80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נבין למה אנחנו דומים להורים שלנו: תורשה, גנים ותכונות.</a:t>
            </a:r>
            <a:endParaRPr lang="he-IL" sz="1800" dirty="0"/>
          </a:p>
        </p:txBody>
      </p:sp>
      <p:sp>
        <p:nvSpPr>
          <p:cNvPr id="9" name="Shape 5"/>
          <p:cNvSpPr/>
          <p:nvPr/>
        </p:nvSpPr>
        <p:spPr>
          <a:xfrm>
            <a:off x="10652760" y="3602736"/>
            <a:ext cx="640080" cy="640080"/>
          </a:xfrm>
          <a:prstGeom prst="ellipse">
            <a:avLst/>
          </a:prstGeom>
          <a:solidFill>
            <a:srgbClr val="F9A03F"/>
          </a:solidFill>
          <a:ln/>
        </p:spPr>
      </p:sp>
      <p:pic>
        <p:nvPicPr>
          <p:cNvPr id="10" name="Image 2" descr="icons/bol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6379" y="3756355"/>
            <a:ext cx="332842" cy="33284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0" y="3648456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80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נכיר מוטציות והנדסה גנטית, ונראה מה הן עושות בעולם האמיתי.</a:t>
            </a:r>
            <a:endParaRPr lang="he-IL" sz="1800" dirty="0"/>
          </a:p>
        </p:txBody>
      </p:sp>
      <p:sp>
        <p:nvSpPr>
          <p:cNvPr id="12" name="Shape 7"/>
          <p:cNvSpPr/>
          <p:nvPr/>
        </p:nvSpPr>
        <p:spPr>
          <a:xfrm>
            <a:off x="10652760" y="4535424"/>
            <a:ext cx="640080" cy="640080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13" name="Image 3" descr="icons/s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6379" y="4689043"/>
            <a:ext cx="332842" cy="332842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0" y="4581144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80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ובסוף: אתם בוחרים איך להציג את מה שלמדתם, מתוך לוח בחירה.</a:t>
            </a:r>
            <a:endParaRPr lang="he-IL" sz="1800" dirty="0"/>
          </a:p>
        </p:txBody>
      </p:sp>
      <p:sp>
        <p:nvSpPr>
          <p:cNvPr id="15" name="Shape 9"/>
          <p:cNvSpPr/>
          <p:nvPr/>
        </p:nvSpPr>
        <p:spPr>
          <a:xfrm>
            <a:off x="1755648" y="1755648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16" name="Shape 10"/>
          <p:cNvSpPr/>
          <p:nvPr/>
        </p:nvSpPr>
        <p:spPr>
          <a:xfrm>
            <a:off x="1755648" y="1755648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17" name="Shape 11"/>
          <p:cNvSpPr/>
          <p:nvPr/>
        </p:nvSpPr>
        <p:spPr>
          <a:xfrm>
            <a:off x="1515235" y="2069810"/>
            <a:ext cx="627131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18" name="Shape 12"/>
          <p:cNvSpPr/>
          <p:nvPr/>
        </p:nvSpPr>
        <p:spPr>
          <a:xfrm>
            <a:off x="2069213" y="2010374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19" name="Shape 13"/>
          <p:cNvSpPr/>
          <p:nvPr/>
        </p:nvSpPr>
        <p:spPr>
          <a:xfrm>
            <a:off x="1442083" y="2010374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20" name="Shape 14"/>
          <p:cNvSpPr/>
          <p:nvPr/>
        </p:nvSpPr>
        <p:spPr>
          <a:xfrm>
            <a:off x="1338489" y="2324535"/>
            <a:ext cx="980621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21" name="Shape 15"/>
          <p:cNvSpPr/>
          <p:nvPr/>
        </p:nvSpPr>
        <p:spPr>
          <a:xfrm>
            <a:off x="2245959" y="2265099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22" name="Shape 16"/>
          <p:cNvSpPr/>
          <p:nvPr/>
        </p:nvSpPr>
        <p:spPr>
          <a:xfrm>
            <a:off x="1265337" y="2265099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23" name="Shape 17"/>
          <p:cNvSpPr/>
          <p:nvPr/>
        </p:nvSpPr>
        <p:spPr>
          <a:xfrm>
            <a:off x="1375685" y="2579261"/>
            <a:ext cx="906231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24" name="Shape 18"/>
          <p:cNvSpPr/>
          <p:nvPr/>
        </p:nvSpPr>
        <p:spPr>
          <a:xfrm>
            <a:off x="2208763" y="2519825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25" name="Shape 19"/>
          <p:cNvSpPr/>
          <p:nvPr/>
        </p:nvSpPr>
        <p:spPr>
          <a:xfrm>
            <a:off x="1302533" y="2519825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26" name="Shape 20"/>
          <p:cNvSpPr/>
          <p:nvPr/>
        </p:nvSpPr>
        <p:spPr>
          <a:xfrm>
            <a:off x="1610591" y="2833987"/>
            <a:ext cx="436418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27" name="Shape 21"/>
          <p:cNvSpPr/>
          <p:nvPr/>
        </p:nvSpPr>
        <p:spPr>
          <a:xfrm>
            <a:off x="1973857" y="2774551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28" name="Shape 22"/>
          <p:cNvSpPr/>
          <p:nvPr/>
        </p:nvSpPr>
        <p:spPr>
          <a:xfrm>
            <a:off x="1537439" y="2774551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29" name="Shape 23"/>
          <p:cNvSpPr/>
          <p:nvPr/>
        </p:nvSpPr>
        <p:spPr>
          <a:xfrm>
            <a:off x="1716890" y="3088713"/>
            <a:ext cx="223820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30" name="Shape 24"/>
          <p:cNvSpPr/>
          <p:nvPr/>
        </p:nvSpPr>
        <p:spPr>
          <a:xfrm>
            <a:off x="1643738" y="3029277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31" name="Shape 25"/>
          <p:cNvSpPr/>
          <p:nvPr/>
        </p:nvSpPr>
        <p:spPr>
          <a:xfrm>
            <a:off x="1867558" y="3029277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32" name="Shape 26"/>
          <p:cNvSpPr/>
          <p:nvPr/>
        </p:nvSpPr>
        <p:spPr>
          <a:xfrm>
            <a:off x="1435601" y="3343438"/>
            <a:ext cx="786397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33" name="Shape 27"/>
          <p:cNvSpPr/>
          <p:nvPr/>
        </p:nvSpPr>
        <p:spPr>
          <a:xfrm>
            <a:off x="1362449" y="3284002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34" name="Shape 28"/>
          <p:cNvSpPr/>
          <p:nvPr/>
        </p:nvSpPr>
        <p:spPr>
          <a:xfrm>
            <a:off x="2148847" y="3284002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35" name="Shape 29"/>
          <p:cNvSpPr/>
          <p:nvPr/>
        </p:nvSpPr>
        <p:spPr>
          <a:xfrm>
            <a:off x="1325880" y="3598164"/>
            <a:ext cx="1005840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36" name="Shape 30"/>
          <p:cNvSpPr/>
          <p:nvPr/>
        </p:nvSpPr>
        <p:spPr>
          <a:xfrm>
            <a:off x="1252728" y="3538728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37" name="Shape 31"/>
          <p:cNvSpPr/>
          <p:nvPr/>
        </p:nvSpPr>
        <p:spPr>
          <a:xfrm>
            <a:off x="2258568" y="3538728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38" name="Shape 32"/>
          <p:cNvSpPr/>
          <p:nvPr/>
        </p:nvSpPr>
        <p:spPr>
          <a:xfrm>
            <a:off x="1435601" y="3852890"/>
            <a:ext cx="786397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39" name="Shape 33"/>
          <p:cNvSpPr/>
          <p:nvPr/>
        </p:nvSpPr>
        <p:spPr>
          <a:xfrm>
            <a:off x="1362449" y="3793454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40" name="Shape 34"/>
          <p:cNvSpPr/>
          <p:nvPr/>
        </p:nvSpPr>
        <p:spPr>
          <a:xfrm>
            <a:off x="2148847" y="3793454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41" name="Shape 35"/>
          <p:cNvSpPr/>
          <p:nvPr/>
        </p:nvSpPr>
        <p:spPr>
          <a:xfrm>
            <a:off x="1716890" y="4107615"/>
            <a:ext cx="223820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42" name="Shape 36"/>
          <p:cNvSpPr/>
          <p:nvPr/>
        </p:nvSpPr>
        <p:spPr>
          <a:xfrm>
            <a:off x="1643738" y="4048179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43" name="Shape 37"/>
          <p:cNvSpPr/>
          <p:nvPr/>
        </p:nvSpPr>
        <p:spPr>
          <a:xfrm>
            <a:off x="1867558" y="4048179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44" name="Shape 38"/>
          <p:cNvSpPr/>
          <p:nvPr/>
        </p:nvSpPr>
        <p:spPr>
          <a:xfrm>
            <a:off x="1610591" y="4362341"/>
            <a:ext cx="436418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45" name="Shape 39"/>
          <p:cNvSpPr/>
          <p:nvPr/>
        </p:nvSpPr>
        <p:spPr>
          <a:xfrm>
            <a:off x="1973857" y="4302905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46" name="Shape 40"/>
          <p:cNvSpPr/>
          <p:nvPr/>
        </p:nvSpPr>
        <p:spPr>
          <a:xfrm>
            <a:off x="1537439" y="4302905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47" name="Shape 41"/>
          <p:cNvSpPr/>
          <p:nvPr/>
        </p:nvSpPr>
        <p:spPr>
          <a:xfrm>
            <a:off x="1375685" y="4617067"/>
            <a:ext cx="906231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48" name="Shape 42"/>
          <p:cNvSpPr/>
          <p:nvPr/>
        </p:nvSpPr>
        <p:spPr>
          <a:xfrm>
            <a:off x="2208763" y="4557631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49" name="Shape 43"/>
          <p:cNvSpPr/>
          <p:nvPr/>
        </p:nvSpPr>
        <p:spPr>
          <a:xfrm>
            <a:off x="1302533" y="4557631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50" name="Shape 44"/>
          <p:cNvSpPr/>
          <p:nvPr/>
        </p:nvSpPr>
        <p:spPr>
          <a:xfrm>
            <a:off x="1338489" y="4871793"/>
            <a:ext cx="980621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51" name="Shape 45"/>
          <p:cNvSpPr/>
          <p:nvPr/>
        </p:nvSpPr>
        <p:spPr>
          <a:xfrm>
            <a:off x="2245959" y="4812357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52" name="Shape 46"/>
          <p:cNvSpPr/>
          <p:nvPr/>
        </p:nvSpPr>
        <p:spPr>
          <a:xfrm>
            <a:off x="1265337" y="4812357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53" name="Shape 47"/>
          <p:cNvSpPr/>
          <p:nvPr/>
        </p:nvSpPr>
        <p:spPr>
          <a:xfrm>
            <a:off x="1515235" y="5126518"/>
            <a:ext cx="627131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54" name="Shape 48"/>
          <p:cNvSpPr/>
          <p:nvPr/>
        </p:nvSpPr>
        <p:spPr>
          <a:xfrm>
            <a:off x="2069213" y="5067082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55" name="Shape 49"/>
          <p:cNvSpPr/>
          <p:nvPr/>
        </p:nvSpPr>
        <p:spPr>
          <a:xfrm>
            <a:off x="1442083" y="5067082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56" name="Shape 50"/>
          <p:cNvSpPr/>
          <p:nvPr/>
        </p:nvSpPr>
        <p:spPr>
          <a:xfrm>
            <a:off x="1755648" y="5321808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57" name="Shape 51"/>
          <p:cNvSpPr/>
          <p:nvPr/>
        </p:nvSpPr>
        <p:spPr>
          <a:xfrm>
            <a:off x="1755648" y="5321808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58" name="Text 52">
            <a:hlinkClick r:id="rId5" tooltip="ללוח הבחירה" action="ppaction://hlinksldjump"/>
          </p:cNvPr>
          <p:cNvSpPr txBox="1"/>
          <p:nvPr/>
        </p:nvSpPr>
        <p:spPr>
          <a:xfrm>
            <a:off x="640080" y="5806440"/>
            <a:ext cx="3291840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he-IL" altLang="en-US" sz="1400" b="1" u="sng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5" action="ppaction://hlinksldjump" tooltip="ללוח הבחירה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קפיצה ישירה ללוח הבחירה</a:t>
            </a:r>
            <a:endParaRPr lang="he-IL" sz="1400" dirty="0"/>
          </a:p>
        </p:txBody>
      </p:sp>
      <p:sp>
        <p:nvSpPr>
          <p:cNvPr id="59" name="Text 53"/>
          <p:cNvSpPr txBox="1"/>
          <p:nvPr/>
        </p:nvSpPr>
        <p:spPr>
          <a:xfrm>
            <a:off x="2286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222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בכלל גנטיקה?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949440" y="1691640"/>
            <a:ext cx="457200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858500" y="2057400"/>
            <a:ext cx="502920" cy="502920"/>
          </a:xfrm>
          <a:prstGeom prst="ellipse">
            <a:avLst/>
          </a:prstGeom>
          <a:solidFill>
            <a:srgbClr val="F9A03F"/>
          </a:solidFill>
          <a:ln/>
        </p:spPr>
      </p:sp>
      <p:pic>
        <p:nvPicPr>
          <p:cNvPr id="5" name="Image 0" descr="icons/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9201" y="2178101"/>
            <a:ext cx="261518" cy="26151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132320" y="1801368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יש לך צבע עיניים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כמו של אמא?</a:t>
            </a:r>
            <a:endParaRPr lang="he-IL" sz="1500" dirty="0"/>
          </a:p>
        </p:txBody>
      </p:sp>
      <p:sp>
        <p:nvSpPr>
          <p:cNvPr id="7" name="Shape 4"/>
          <p:cNvSpPr/>
          <p:nvPr/>
        </p:nvSpPr>
        <p:spPr>
          <a:xfrm>
            <a:off x="6949440" y="3154680"/>
            <a:ext cx="457200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858500" y="3520440"/>
            <a:ext cx="502920" cy="502920"/>
          </a:xfrm>
          <a:prstGeom prst="ellipse">
            <a:avLst/>
          </a:prstGeom>
          <a:solidFill>
            <a:srgbClr val="F9A03F"/>
          </a:solidFill>
          <a:ln/>
        </p:spPr>
      </p:sp>
      <p:pic>
        <p:nvPicPr>
          <p:cNvPr id="9" name="Image 1" descr="icons/ques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9201" y="3641141"/>
            <a:ext cx="261518" cy="26151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132320" y="3264408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אחים דומים,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אף פעם לא זהים?</a:t>
            </a:r>
            <a:endParaRPr lang="he-IL" sz="1500" dirty="0"/>
          </a:p>
        </p:txBody>
      </p:sp>
      <p:sp>
        <p:nvSpPr>
          <p:cNvPr id="11" name="Shape 7"/>
          <p:cNvSpPr/>
          <p:nvPr/>
        </p:nvSpPr>
        <p:spPr>
          <a:xfrm>
            <a:off x="6949440" y="4617720"/>
            <a:ext cx="457200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0858500" y="4983480"/>
            <a:ext cx="502920" cy="502920"/>
          </a:xfrm>
          <a:prstGeom prst="ellipse">
            <a:avLst/>
          </a:prstGeom>
          <a:solidFill>
            <a:srgbClr val="F9A03F"/>
          </a:solidFill>
          <a:ln/>
        </p:spPr>
      </p:sp>
      <p:pic>
        <p:nvPicPr>
          <p:cNvPr id="13" name="Image 2" descr="icons/ques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9201" y="5104181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132320" y="4727448"/>
            <a:ext cx="3611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מזהים אדם</a:t>
            </a:r>
            <a:endParaRPr lang="he-IL" sz="1500" dirty="0"/>
          </a:p>
          <a:p>
            <a:pPr rtl="1" algn="r" indent="0" marL="0">
              <a:buNone/>
            </a:pPr>
            <a:r>
              <a:rPr lang="he-IL" altLang="en-US" sz="15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לפי שערה אחת?</a:t>
            </a:r>
            <a:endParaRPr lang="he-IL" sz="1500" dirty="0"/>
          </a:p>
        </p:txBody>
      </p:sp>
      <p:sp>
        <p:nvSpPr>
          <p:cNvPr id="15" name="Shape 10"/>
          <p:cNvSpPr/>
          <p:nvPr/>
        </p:nvSpPr>
        <p:spPr>
          <a:xfrm>
            <a:off x="640080" y="1691640"/>
            <a:ext cx="5852160" cy="4160520"/>
          </a:xfrm>
          <a:prstGeom prst="roundRect">
            <a:avLst>
              <a:gd name="adj" fmla="val 2637"/>
            </a:avLst>
          </a:prstGeom>
          <a:solidFill>
            <a:srgbClr val="0E7C86"/>
          </a:solidFill>
          <a:ln/>
        </p:spPr>
      </p:sp>
      <p:sp>
        <p:nvSpPr>
          <p:cNvPr id="16" name="Shape 11"/>
          <p:cNvSpPr/>
          <p:nvPr/>
        </p:nvSpPr>
        <p:spPr>
          <a:xfrm>
            <a:off x="3131820" y="2080260"/>
            <a:ext cx="868680" cy="868680"/>
          </a:xfrm>
          <a:prstGeom prst="ellipse">
            <a:avLst/>
          </a:prstGeom>
          <a:solidFill>
            <a:srgbClr val="22264B"/>
          </a:solidFill>
          <a:ln/>
        </p:spPr>
      </p:sp>
      <p:pic>
        <p:nvPicPr>
          <p:cNvPr id="17" name="Image 3" descr="icons/dna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0303" y="2288743"/>
            <a:ext cx="451714" cy="45171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05840" y="32004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גנטיקה היא תחום במדע שחוקר איך תכונות עוברות בתורשה, מהורים לילדים.</a:t>
            </a:r>
            <a:endParaRPr lang="he-IL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1005840" y="43434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התשובות לכל השאלות האלה מסתתרות במולקולה קטנה אחת: DNA. בואו נכיר אותה.</a:t>
            </a:r>
            <a:endParaRPr lang="he-IL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2286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222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מסתתר הצופן?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מתקרבים פנימה, שלב אחרי שלב</a:t>
            </a:r>
            <a:endParaRPr lang="he-IL" sz="1600" dirty="0"/>
          </a:p>
        </p:txBody>
      </p:sp>
      <p:sp>
        <p:nvSpPr>
          <p:cNvPr id="4" name="Shape 2"/>
          <p:cNvSpPr/>
          <p:nvPr/>
        </p:nvSpPr>
        <p:spPr>
          <a:xfrm>
            <a:off x="10177272" y="2606040"/>
            <a:ext cx="1371600" cy="1371600"/>
          </a:xfrm>
          <a:prstGeom prst="ellipse">
            <a:avLst/>
          </a:prstGeom>
          <a:solidFill>
            <a:srgbClr val="2BB673"/>
          </a:solidFill>
          <a:ln/>
        </p:spPr>
      </p:sp>
      <p:pic>
        <p:nvPicPr>
          <p:cNvPr id="5" name="Image 0" descr="icon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6456" y="2935224"/>
            <a:ext cx="713232" cy="7132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948672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הגוף</a:t>
            </a:r>
            <a:endParaRPr lang="he-IL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9857232" y="44805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5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טריליוני תאים</a:t>
            </a:r>
            <a:endParaRPr lang="he-IL" sz="1150" dirty="0"/>
          </a:p>
        </p:txBody>
      </p:sp>
      <p:pic>
        <p:nvPicPr>
          <p:cNvPr id="8" name="Image 1" descr="icons/arrowL.png">    </p:cNvPr>
          <p:cNvPicPr>
            <a:picLocks noChangeAspect="1"/>
          </p:cNvPicPr>
          <p:nvPr/>
        </p:nvPicPr>
        <p:blipFill>
          <a:blip r:embed="rId2">
            <a:alphaModFix amt="60000"/>
          </a:blip>
          <a:stretch>
            <a:fillRect/>
          </a:stretch>
        </p:blipFill>
        <p:spPr>
          <a:xfrm>
            <a:off x="9772193" y="3154680"/>
            <a:ext cx="274320" cy="2743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269834" y="2606040"/>
            <a:ext cx="1371600" cy="137160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10" name="Image 2" descr="icons/microscop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18" y="2935224"/>
            <a:ext cx="713232" cy="71323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041234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</a:t>
            </a:r>
            <a:endParaRPr lang="he-IL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7949794" y="44805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5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יחידת החיים</a:t>
            </a:r>
            <a:endParaRPr lang="he-IL" sz="1150" dirty="0"/>
          </a:p>
        </p:txBody>
      </p:sp>
      <p:pic>
        <p:nvPicPr>
          <p:cNvPr id="13" name="Image 3" descr="icons/arrowL.png">    </p:cNvPr>
          <p:cNvPicPr>
            <a:picLocks noChangeAspect="1"/>
          </p:cNvPicPr>
          <p:nvPr/>
        </p:nvPicPr>
        <p:blipFill>
          <a:blip r:embed="rId4">
            <a:alphaModFix amt="60000"/>
          </a:blip>
          <a:stretch>
            <a:fillRect/>
          </a:stretch>
        </p:blipFill>
        <p:spPr>
          <a:xfrm>
            <a:off x="7864754" y="3154680"/>
            <a:ext cx="274320" cy="27432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62395" y="2606040"/>
            <a:ext cx="1371600" cy="1371600"/>
          </a:xfrm>
          <a:prstGeom prst="ellipse">
            <a:avLst/>
          </a:prstGeom>
          <a:solidFill>
            <a:srgbClr val="4C9AFF"/>
          </a:solidFill>
          <a:ln/>
        </p:spPr>
      </p:sp>
      <p:pic>
        <p:nvPicPr>
          <p:cNvPr id="15" name="Image 4" descr="icons/shie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1579" y="2935224"/>
            <a:ext cx="713232" cy="71323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133795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הגרעין</a:t>
            </a:r>
            <a:endParaRPr lang="he-IL" sz="1600" dirty="0"/>
          </a:p>
        </p:txBody>
      </p:sp>
      <p:sp>
        <p:nvSpPr>
          <p:cNvPr id="17" name="Text 10"/>
          <p:cNvSpPr txBox="1"/>
          <p:nvPr/>
        </p:nvSpPr>
        <p:spPr>
          <a:xfrm>
            <a:off x="6042355" y="44805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5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מרכז הבקרה</a:t>
            </a:r>
            <a:endParaRPr lang="he-IL" sz="1150" dirty="0"/>
          </a:p>
        </p:txBody>
      </p:sp>
      <p:pic>
        <p:nvPicPr>
          <p:cNvPr id="18" name="Image 5" descr="icons/arrowL.png">    </p:cNvPr>
          <p:cNvPicPr>
            <a:picLocks noChangeAspect="1"/>
          </p:cNvPicPr>
          <p:nvPr/>
        </p:nvPicPr>
        <p:blipFill>
          <a:blip r:embed="rId6">
            <a:alphaModFix amt="60000"/>
          </a:blip>
          <a:stretch>
            <a:fillRect/>
          </a:stretch>
        </p:blipFill>
        <p:spPr>
          <a:xfrm>
            <a:off x="5957316" y="3154680"/>
            <a:ext cx="274320" cy="27432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4454957" y="2606040"/>
            <a:ext cx="1371600" cy="1371600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20" name="Image 6" descr="icons/ke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84141" y="2935224"/>
            <a:ext cx="713232" cy="71323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4226357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כרומוזום</a:t>
            </a:r>
            <a:endParaRPr lang="he-IL" sz="1600" dirty="0"/>
          </a:p>
        </p:txBody>
      </p:sp>
      <p:sp>
        <p:nvSpPr>
          <p:cNvPr id="22" name="Text 13"/>
          <p:cNvSpPr txBox="1"/>
          <p:nvPr/>
        </p:nvSpPr>
        <p:spPr>
          <a:xfrm>
            <a:off x="4134917" y="44805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5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בכל תא</a:t>
            </a:r>
            <a:endParaRPr lang="he-IL" sz="1150" dirty="0"/>
          </a:p>
        </p:txBody>
      </p:sp>
      <p:pic>
        <p:nvPicPr>
          <p:cNvPr id="23" name="Image 7" descr="icons/arrowL.png">    </p:cNvPr>
          <p:cNvPicPr>
            <a:picLocks noChangeAspect="1"/>
          </p:cNvPicPr>
          <p:nvPr/>
        </p:nvPicPr>
        <p:blipFill>
          <a:blip r:embed="rId8">
            <a:alphaModFix amt="60000"/>
          </a:blip>
          <a:stretch>
            <a:fillRect/>
          </a:stretch>
        </p:blipFill>
        <p:spPr>
          <a:xfrm>
            <a:off x="4049878" y="3154680"/>
            <a:ext cx="274320" cy="274320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2547518" y="2606040"/>
            <a:ext cx="1371600" cy="1371600"/>
          </a:xfrm>
          <a:prstGeom prst="ellipse">
            <a:avLst/>
          </a:prstGeom>
          <a:solidFill>
            <a:srgbClr val="F9A03F"/>
          </a:solidFill>
          <a:ln/>
        </p:spPr>
      </p:sp>
      <p:pic>
        <p:nvPicPr>
          <p:cNvPr id="25" name="Image 8" descr="icons/dn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76702" y="2935224"/>
            <a:ext cx="713232" cy="713232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2318918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DNA</a:t>
            </a:r>
            <a:endParaRPr lang="he-IL" sz="1600" dirty="0"/>
          </a:p>
        </p:txBody>
      </p:sp>
      <p:sp>
        <p:nvSpPr>
          <p:cNvPr id="27" name="Text 16"/>
          <p:cNvSpPr txBox="1"/>
          <p:nvPr/>
        </p:nvSpPr>
        <p:spPr>
          <a:xfrm>
            <a:off x="2227478" y="44805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5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הסולם המפותל</a:t>
            </a:r>
            <a:endParaRPr lang="he-IL" sz="1150" dirty="0"/>
          </a:p>
        </p:txBody>
      </p:sp>
      <p:pic>
        <p:nvPicPr>
          <p:cNvPr id="28" name="Image 9" descr="icons/arrowL.png">    </p:cNvPr>
          <p:cNvPicPr>
            <a:picLocks noChangeAspect="1"/>
          </p:cNvPicPr>
          <p:nvPr/>
        </p:nvPicPr>
        <p:blipFill>
          <a:blip r:embed="rId10">
            <a:alphaModFix amt="60000"/>
          </a:blip>
          <a:stretch>
            <a:fillRect/>
          </a:stretch>
        </p:blipFill>
        <p:spPr>
          <a:xfrm>
            <a:off x="2142439" y="3154680"/>
            <a:ext cx="274320" cy="274320"/>
          </a:xfrm>
          <a:prstGeom prst="rect">
            <a:avLst/>
          </a:prstGeom>
        </p:spPr>
      </p:pic>
      <p:sp>
        <p:nvSpPr>
          <p:cNvPr id="29" name="Shape 17"/>
          <p:cNvSpPr/>
          <p:nvPr/>
        </p:nvSpPr>
        <p:spPr>
          <a:xfrm>
            <a:off x="640080" y="2606040"/>
            <a:ext cx="1371600" cy="1371600"/>
          </a:xfrm>
          <a:prstGeom prst="ellipse">
            <a:avLst/>
          </a:prstGeom>
          <a:solidFill>
            <a:srgbClr val="E4572E"/>
          </a:solidFill>
          <a:ln/>
        </p:spPr>
      </p:sp>
      <p:pic>
        <p:nvPicPr>
          <p:cNvPr id="30" name="Image 10" descr="icons/bulb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9264" y="2935224"/>
            <a:ext cx="713232" cy="713232"/>
          </a:xfrm>
          <a:prstGeom prst="rect">
            <a:avLst/>
          </a:prstGeom>
        </p:spPr>
      </p:pic>
      <p:sp>
        <p:nvSpPr>
          <p:cNvPr id="31" name="Text 18"/>
          <p:cNvSpPr txBox="1"/>
          <p:nvPr/>
        </p:nvSpPr>
        <p:spPr>
          <a:xfrm>
            <a:off x="411480" y="4114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גן</a:t>
            </a:r>
            <a:endParaRPr lang="he-IL" sz="1600" dirty="0"/>
          </a:p>
        </p:txBody>
      </p:sp>
      <p:sp>
        <p:nvSpPr>
          <p:cNvPr id="32" name="Text 19"/>
          <p:cNvSpPr txBox="1"/>
          <p:nvPr/>
        </p:nvSpPr>
        <p:spPr>
          <a:xfrm>
            <a:off x="320040" y="44805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5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הוראה לתכונה אחת</a:t>
            </a:r>
            <a:endParaRPr lang="he-IL" sz="1150" dirty="0"/>
          </a:p>
        </p:txBody>
      </p:sp>
      <p:sp>
        <p:nvSpPr>
          <p:cNvPr id="33" name="Text 20"/>
          <p:cNvSpPr txBox="1"/>
          <p:nvPr/>
        </p:nvSpPr>
        <p:spPr>
          <a:xfrm>
            <a:off x="1737360" y="58978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בתוך כל תא בגוף שלכם נמצא עותק מלא של כל ההוראות. מדהים, לא?</a:t>
            </a:r>
            <a:endParaRPr lang="he-IL" sz="1500" dirty="0"/>
          </a:p>
        </p:txBody>
      </p:sp>
      <p:sp>
        <p:nvSpPr>
          <p:cNvPr id="34" name="Text 21"/>
          <p:cNvSpPr txBox="1"/>
          <p:nvPr/>
        </p:nvSpPr>
        <p:spPr>
          <a:xfrm>
            <a:off x="2286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222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שפת ה-DNA: ארבע אותיות בלבד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120640" y="17830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ה-DNA נראה כמו סולם מפותל. כל שלב בסולם בנוי מזוג "אותיות" כימיות.</a:t>
            </a:r>
            <a:endParaRPr lang="he-IL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120640" y="2651760"/>
            <a:ext cx="6400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רק ארבע אותיות: A, T, G, C. הסדר שלהן הוא הצופן, וכולו יחד הוא ספר הוראות שלם לבניית הגוף ולהפעלתו.</a:t>
            </a:r>
            <a:endParaRPr lang="he-IL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374904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חוק הזיווג: A מתחברת תמיד אל T, ‏ו-G מתחברת תמיד אל C.</a:t>
            </a:r>
            <a:endParaRPr lang="he-IL" sz="1700" dirty="0"/>
          </a:p>
        </p:txBody>
      </p:sp>
      <p:sp>
        <p:nvSpPr>
          <p:cNvPr id="6" name="Shape 4"/>
          <p:cNvSpPr/>
          <p:nvPr/>
        </p:nvSpPr>
        <p:spPr>
          <a:xfrm>
            <a:off x="5120640" y="4663440"/>
            <a:ext cx="6400800" cy="1234440"/>
          </a:xfrm>
          <a:prstGeom prst="roundRect">
            <a:avLst>
              <a:gd name="adj" fmla="val 7407"/>
            </a:avLst>
          </a:prstGeom>
          <a:solidFill>
            <a:srgbClr val="22264B"/>
          </a:solidFill>
          <a:ln/>
        </p:spPr>
      </p:sp>
      <p:sp>
        <p:nvSpPr>
          <p:cNvPr id="7" name="Shape 5"/>
          <p:cNvSpPr/>
          <p:nvPr/>
        </p:nvSpPr>
        <p:spPr>
          <a:xfrm>
            <a:off x="10652760" y="5006340"/>
            <a:ext cx="548640" cy="548640"/>
          </a:xfrm>
          <a:prstGeom prst="ellipse">
            <a:avLst/>
          </a:prstGeom>
          <a:solidFill>
            <a:srgbClr val="F9A03F"/>
          </a:solidFill>
          <a:ln/>
        </p:spPr>
      </p:sp>
      <p:pic>
        <p:nvPicPr>
          <p:cNvPr id="8" name="Image 0" descr="icons/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4434" y="5138014"/>
            <a:ext cx="285293" cy="28529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349240" y="4846320"/>
            <a:ext cx="5029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ידעתם? אם מותחים את ה-DNA שבתא אחד בלבד, מקבלים חוט באורך של כ-2 מטרים!</a:t>
            </a:r>
            <a:endParaRPr lang="he-IL" sz="1450" dirty="0"/>
          </a:p>
        </p:txBody>
      </p:sp>
      <p:sp>
        <p:nvSpPr>
          <p:cNvPr id="10" name="Shape 7"/>
          <p:cNvSpPr/>
          <p:nvPr/>
        </p:nvSpPr>
        <p:spPr>
          <a:xfrm>
            <a:off x="923544" y="1600200"/>
            <a:ext cx="164592" cy="4352544"/>
          </a:xfrm>
          <a:prstGeom prst="roundRect">
            <a:avLst>
              <a:gd name="adj" fmla="val 27778"/>
            </a:avLst>
          </a:prstGeom>
          <a:solidFill>
            <a:srgbClr val="C9D4E2"/>
          </a:solidFill>
          <a:ln/>
        </p:spPr>
      </p:sp>
      <p:sp>
        <p:nvSpPr>
          <p:cNvPr id="11" name="Shape 8"/>
          <p:cNvSpPr/>
          <p:nvPr/>
        </p:nvSpPr>
        <p:spPr>
          <a:xfrm>
            <a:off x="4233672" y="1600200"/>
            <a:ext cx="164592" cy="4352544"/>
          </a:xfrm>
          <a:prstGeom prst="roundRect">
            <a:avLst>
              <a:gd name="adj" fmla="val 27778"/>
            </a:avLst>
          </a:prstGeom>
          <a:solidFill>
            <a:srgbClr val="C9D4E2"/>
          </a:solidFill>
          <a:ln/>
        </p:spPr>
      </p:sp>
      <p:sp>
        <p:nvSpPr>
          <p:cNvPr id="12" name="Shape 9"/>
          <p:cNvSpPr/>
          <p:nvPr/>
        </p:nvSpPr>
        <p:spPr>
          <a:xfrm>
            <a:off x="1335024" y="2212848"/>
            <a:ext cx="2651760" cy="73152"/>
          </a:xfrm>
          <a:prstGeom prst="rect">
            <a:avLst/>
          </a:prstGeom>
          <a:solidFill>
            <a:srgbClr val="C9D4E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05840" y="1920240"/>
            <a:ext cx="658368" cy="658368"/>
          </a:xfrm>
          <a:prstGeom prst="ellipse">
            <a:avLst/>
          </a:prstGeom>
          <a:solidFill>
            <a:srgbClr val="F9A0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3657600" y="1920240"/>
            <a:ext cx="658368" cy="658368"/>
          </a:xfrm>
          <a:prstGeom prst="ellipse">
            <a:avLst/>
          </a:prstGeom>
          <a:solidFill>
            <a:srgbClr val="2BB67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1335024" y="3236976"/>
            <a:ext cx="2651760" cy="73152"/>
          </a:xfrm>
          <a:prstGeom prst="rect">
            <a:avLst/>
          </a:prstGeom>
          <a:solidFill>
            <a:srgbClr val="C9D4E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1005840" y="2944368"/>
            <a:ext cx="658368" cy="658368"/>
          </a:xfrm>
          <a:prstGeom prst="ellipse">
            <a:avLst/>
          </a:prstGeom>
          <a:solidFill>
            <a:srgbClr val="6C5CE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3657600" y="2944368"/>
            <a:ext cx="658368" cy="658368"/>
          </a:xfrm>
          <a:prstGeom prst="ellipse">
            <a:avLst/>
          </a:prstGeom>
          <a:solidFill>
            <a:srgbClr val="4C9A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1335024" y="4261104"/>
            <a:ext cx="2651760" cy="73152"/>
          </a:xfrm>
          <a:prstGeom prst="rect">
            <a:avLst/>
          </a:prstGeom>
          <a:solidFill>
            <a:srgbClr val="C9D4E2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005840" y="3968496"/>
            <a:ext cx="658368" cy="658368"/>
          </a:xfrm>
          <a:prstGeom prst="ellipse">
            <a:avLst/>
          </a:prstGeom>
          <a:solidFill>
            <a:srgbClr val="2BB67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3968496"/>
            <a:ext cx="658368" cy="658368"/>
          </a:xfrm>
          <a:prstGeom prst="ellipse">
            <a:avLst/>
          </a:prstGeom>
          <a:solidFill>
            <a:srgbClr val="F9A0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2000" dirty="0"/>
          </a:p>
        </p:txBody>
      </p:sp>
      <p:sp>
        <p:nvSpPr>
          <p:cNvPr id="21" name="Shape 18"/>
          <p:cNvSpPr/>
          <p:nvPr/>
        </p:nvSpPr>
        <p:spPr>
          <a:xfrm>
            <a:off x="1335024" y="5285232"/>
            <a:ext cx="2651760" cy="73152"/>
          </a:xfrm>
          <a:prstGeom prst="rect">
            <a:avLst/>
          </a:prstGeom>
          <a:solidFill>
            <a:srgbClr val="C9D4E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005840" y="4992624"/>
            <a:ext cx="658368" cy="658368"/>
          </a:xfrm>
          <a:prstGeom prst="ellipse">
            <a:avLst/>
          </a:prstGeom>
          <a:solidFill>
            <a:srgbClr val="4C9A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2000" dirty="0"/>
          </a:p>
        </p:txBody>
      </p:sp>
      <p:sp>
        <p:nvSpPr>
          <p:cNvPr id="23" name="Text 20"/>
          <p:cNvSpPr txBox="1"/>
          <p:nvPr/>
        </p:nvSpPr>
        <p:spPr>
          <a:xfrm>
            <a:off x="3657600" y="4992624"/>
            <a:ext cx="658368" cy="658368"/>
          </a:xfrm>
          <a:prstGeom prst="ellipse">
            <a:avLst/>
          </a:prstGeom>
          <a:solidFill>
            <a:srgbClr val="6C5CE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2286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222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DNA מול RNA: מה ההבדל?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263640" y="1737360"/>
            <a:ext cx="5285232" cy="3749040"/>
          </a:xfrm>
          <a:prstGeom prst="roundRect">
            <a:avLst>
              <a:gd name="adj" fmla="val 2927"/>
            </a:avLst>
          </a:prstGeom>
          <a:solidFill>
            <a:srgbClr val="F4F7FA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63640" y="1737360"/>
            <a:ext cx="5285232" cy="777240"/>
          </a:xfrm>
          <a:prstGeom prst="roundRect">
            <a:avLst>
              <a:gd name="adj" fmla="val 14118"/>
            </a:avLst>
          </a:prstGeom>
          <a:solidFill>
            <a:srgbClr val="0E7C86"/>
          </a:solidFill>
          <a:ln/>
        </p:spPr>
      </p:sp>
      <p:sp>
        <p:nvSpPr>
          <p:cNvPr id="5" name="Shape 3"/>
          <p:cNvSpPr/>
          <p:nvPr/>
        </p:nvSpPr>
        <p:spPr>
          <a:xfrm>
            <a:off x="10794492" y="1869948"/>
            <a:ext cx="502920" cy="502920"/>
          </a:xfrm>
          <a:prstGeom prst="ellipse">
            <a:avLst/>
          </a:prstGeom>
          <a:solidFill>
            <a:srgbClr val="22264B"/>
          </a:solidFill>
          <a:ln/>
        </p:spPr>
      </p:sp>
      <p:pic>
        <p:nvPicPr>
          <p:cNvPr id="6" name="Image 0" descr="icons/d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15193" y="1990649"/>
            <a:ext cx="261518" cy="26151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537960" y="1737360"/>
            <a:ext cx="4279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DNA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6583680" y="27432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גדילים, בצורת סולם מפותל</a:t>
            </a:r>
            <a:endParaRPr lang="he-IL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583680" y="3438144"/>
            <a:ext cx="4645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נשאר בתוך הגרעין</a:t>
            </a:r>
            <a:endParaRPr lang="he-IL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4133088"/>
            <a:ext cx="4645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שומר את כל המידע לאורך זמן</a:t>
            </a:r>
            <a:endParaRPr lang="he-IL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583680" y="48280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האותיות שלו: A T G C</a:t>
            </a:r>
            <a:endParaRPr lang="he-IL" sz="1500" dirty="0"/>
          </a:p>
        </p:txBody>
      </p:sp>
      <p:sp>
        <p:nvSpPr>
          <p:cNvPr id="12" name="Shape 9"/>
          <p:cNvSpPr/>
          <p:nvPr/>
        </p:nvSpPr>
        <p:spPr>
          <a:xfrm>
            <a:off x="640080" y="1737360"/>
            <a:ext cx="5285232" cy="3749040"/>
          </a:xfrm>
          <a:prstGeom prst="roundRect">
            <a:avLst>
              <a:gd name="adj" fmla="val 2927"/>
            </a:avLst>
          </a:prstGeom>
          <a:solidFill>
            <a:srgbClr val="F4F7FA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0080" y="1737360"/>
            <a:ext cx="5285232" cy="777240"/>
          </a:xfrm>
          <a:prstGeom prst="roundRect">
            <a:avLst>
              <a:gd name="adj" fmla="val 14118"/>
            </a:avLst>
          </a:prstGeom>
          <a:solidFill>
            <a:srgbClr val="F9A03F"/>
          </a:solidFill>
          <a:ln/>
        </p:spPr>
      </p:sp>
      <p:sp>
        <p:nvSpPr>
          <p:cNvPr id="14" name="Shape 11"/>
          <p:cNvSpPr/>
          <p:nvPr/>
        </p:nvSpPr>
        <p:spPr>
          <a:xfrm>
            <a:off x="5170932" y="1869948"/>
            <a:ext cx="502920" cy="502920"/>
          </a:xfrm>
          <a:prstGeom prst="ellipse">
            <a:avLst/>
          </a:prstGeom>
          <a:solidFill>
            <a:srgbClr val="22264B"/>
          </a:solidFill>
          <a:ln/>
        </p:spPr>
      </p:sp>
      <p:pic>
        <p:nvPicPr>
          <p:cNvPr id="15" name="Image 1" descr="icons/syn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1633" y="1990649"/>
            <a:ext cx="261518" cy="26151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914400" y="1737360"/>
            <a:ext cx="4279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RNA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960120" y="2743200"/>
            <a:ext cx="4645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גדיל אחד בלבד</a:t>
            </a:r>
            <a:endParaRPr lang="he-IL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960120" y="3438144"/>
            <a:ext cx="4645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יוצא מהגרעין אל התא</a:t>
            </a:r>
            <a:endParaRPr lang="he-IL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960120" y="4133088"/>
            <a:ext cx="4645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שליח: מעתיק הוראה ומעביר הלאה</a:t>
            </a:r>
            <a:endParaRPr lang="he-IL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4828032"/>
            <a:ext cx="4645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במקום T יש לו U</a:t>
            </a:r>
            <a:endParaRPr lang="he-IL" sz="1500" dirty="0"/>
          </a:p>
        </p:txBody>
      </p:sp>
      <p:sp>
        <p:nvSpPr>
          <p:cNvPr id="21" name="Shape 17"/>
          <p:cNvSpPr/>
          <p:nvPr/>
        </p:nvSpPr>
        <p:spPr>
          <a:xfrm>
            <a:off x="640080" y="5715000"/>
            <a:ext cx="10908792" cy="685800"/>
          </a:xfrm>
          <a:prstGeom prst="roundRect">
            <a:avLst>
              <a:gd name="adj" fmla="val 13333"/>
            </a:avLst>
          </a:prstGeom>
          <a:solidFill>
            <a:srgbClr val="22264B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914400" y="571500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דרך קלה לזכור: ה-DNA הוא הספרייה, וה-RNA הוא העותק המצולם של דף אחד שיוצא ממנה.</a:t>
            </a:r>
            <a:endParaRPr lang="he-IL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2286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222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תכונה חזקה, תכונה שקטה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תכונה מגיעה בשני עותקים: אחד מאבא ואחד מאמא</a:t>
            </a:r>
            <a:endParaRPr lang="he-IL" sz="1600" dirty="0"/>
          </a:p>
        </p:txBody>
      </p:sp>
      <p:sp>
        <p:nvSpPr>
          <p:cNvPr id="4" name="Shape 2"/>
          <p:cNvSpPr/>
          <p:nvPr/>
        </p:nvSpPr>
        <p:spPr>
          <a:xfrm>
            <a:off x="6263640" y="1828800"/>
            <a:ext cx="5285232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0" y="2148840"/>
            <a:ext cx="4645152" cy="640080"/>
          </a:xfrm>
          <a:prstGeom prst="roundRect">
            <a:avLst>
              <a:gd name="adj" fmla="val 14286"/>
            </a:avLst>
          </a:prstGeom>
          <a:solidFill>
            <a:srgbClr val="2BB67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0" y="2148840"/>
            <a:ext cx="4645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תכונה דומיננטית ("חזקה")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6629400" y="2971800"/>
            <a:ext cx="4553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5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מספיק עותק אחד שלה כדי שהיא תופיע אצלכם.</a:t>
            </a:r>
            <a:endParaRPr lang="he-IL" sz="1550" dirty="0"/>
          </a:p>
        </p:txBody>
      </p:sp>
      <p:sp>
        <p:nvSpPr>
          <p:cNvPr id="8" name="Text 6"/>
          <p:cNvSpPr txBox="1"/>
          <p:nvPr/>
        </p:nvSpPr>
        <p:spPr>
          <a:xfrm>
            <a:off x="6629400" y="393192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דוגמה: עיניים חומות.</a:t>
            </a:r>
            <a:endParaRPr lang="he-IL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1828800"/>
            <a:ext cx="5285232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0120" y="2148840"/>
            <a:ext cx="4645152" cy="640080"/>
          </a:xfrm>
          <a:prstGeom prst="roundRect">
            <a:avLst>
              <a:gd name="adj" fmla="val 14286"/>
            </a:avLst>
          </a:prstGeom>
          <a:solidFill>
            <a:srgbClr val="6C5CE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2148840"/>
            <a:ext cx="46451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תכונה רצסיבית ("שקטה")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971800"/>
            <a:ext cx="4553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5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מופיעה רק כששני העותקים שקיבלתם הם שלה.</a:t>
            </a:r>
            <a:endParaRPr lang="he-IL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393192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50" b="1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דוגמה: עיניים כחולות.</a:t>
            </a:r>
            <a:endParaRPr lang="he-IL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493776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0E7C86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52760" y="5189220"/>
            <a:ext cx="548640" cy="548640"/>
          </a:xfrm>
          <a:prstGeom prst="ellipse">
            <a:avLst/>
          </a:prstGeom>
          <a:solidFill>
            <a:srgbClr val="22264B"/>
          </a:solidFill>
          <a:ln/>
        </p:spPr>
      </p:sp>
      <p:pic>
        <p:nvPicPr>
          <p:cNvPr id="16" name="Image 0" descr="icons/ey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4434" y="5320894"/>
            <a:ext cx="285293" cy="285293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914400" y="5029200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ולכן: שני הורים עם עיניים חומות יכולים לקבל ילד עם עיניים כחולות. לכל אחד מהם היה עותק "שקט", ושניהם העבירו אותו הלאה.</a:t>
            </a:r>
            <a:endParaRPr lang="he-IL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2286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222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מוטציות: שינוי בצופן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שינוי קטן ברצף האותיות של ה-DNA, כמו שגיאת הקלדה בספר ההוראות</a:t>
            </a:r>
            <a:endParaRPr lang="he-IL" sz="1600" dirty="0"/>
          </a:p>
        </p:txBody>
      </p:sp>
      <p:sp>
        <p:nvSpPr>
          <p:cNvPr id="4" name="Shape 2"/>
          <p:cNvSpPr/>
          <p:nvPr/>
        </p:nvSpPr>
        <p:spPr>
          <a:xfrm>
            <a:off x="8028432" y="192024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00032" y="2217420"/>
            <a:ext cx="777240" cy="777240"/>
          </a:xfrm>
          <a:prstGeom prst="ellipse">
            <a:avLst/>
          </a:prstGeom>
          <a:solidFill>
            <a:srgbClr val="2BB673"/>
          </a:solidFill>
          <a:ln/>
        </p:spPr>
      </p:sp>
      <p:pic>
        <p:nvPicPr>
          <p:cNvPr id="6" name="Image 0" descr="icons/sm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86570" y="2403958"/>
            <a:ext cx="404165" cy="40416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57032" y="31546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לרוב: לא קורה כלום</a:t>
            </a:r>
            <a:endParaRPr lang="he-IL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302752" y="36576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35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רוב המוטציות קטנות ולא מרגישים אותן בכלל.</a:t>
            </a:r>
            <a:endParaRPr lang="he-IL" sz="1350" dirty="0"/>
          </a:p>
        </p:txBody>
      </p:sp>
      <p:sp>
        <p:nvSpPr>
          <p:cNvPr id="9" name="Shape 6"/>
          <p:cNvSpPr/>
          <p:nvPr/>
        </p:nvSpPr>
        <p:spPr>
          <a:xfrm>
            <a:off x="4334256" y="192024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05856" y="2217420"/>
            <a:ext cx="777240" cy="777240"/>
          </a:xfrm>
          <a:prstGeom prst="ellipse">
            <a:avLst/>
          </a:prstGeom>
          <a:solidFill>
            <a:srgbClr val="E4572E"/>
          </a:solidFill>
          <a:ln/>
        </p:spPr>
      </p:sp>
      <p:pic>
        <p:nvPicPr>
          <p:cNvPr id="11" name="Image 1" descr="icons/bo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2394" y="2403958"/>
            <a:ext cx="404165" cy="40416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62856" y="31546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לפעמים: מזיקה</a:t>
            </a:r>
            <a:endParaRPr lang="he-IL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608576" y="36576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35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ההוראה משתבשת, וזה עלול לגרום למחלה.</a:t>
            </a:r>
            <a:endParaRPr lang="he-IL" sz="1350" dirty="0"/>
          </a:p>
        </p:txBody>
      </p:sp>
      <p:sp>
        <p:nvSpPr>
          <p:cNvPr id="14" name="Shape 10"/>
          <p:cNvSpPr/>
          <p:nvPr/>
        </p:nvSpPr>
        <p:spPr>
          <a:xfrm>
            <a:off x="640080" y="192024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011680" y="2217420"/>
            <a:ext cx="777240" cy="777240"/>
          </a:xfrm>
          <a:prstGeom prst="ellipse">
            <a:avLst/>
          </a:prstGeom>
          <a:solidFill>
            <a:srgbClr val="4C9AFF"/>
          </a:solidFill>
          <a:ln/>
        </p:spPr>
      </p:sp>
      <p:pic>
        <p:nvPicPr>
          <p:cNvPr id="16" name="Image 2" descr="icons/sta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8218" y="2403958"/>
            <a:ext cx="404165" cy="40416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68680" y="31546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6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ולפעמים: דווקא מועילה</a:t>
            </a:r>
            <a:endParaRPr lang="he-IL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914400" y="365760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35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תכונה חדשה שעוזרת להסתדר טוב יותר בסביבה.</a:t>
            </a:r>
            <a:endParaRPr lang="he-IL" sz="1350" dirty="0"/>
          </a:p>
        </p:txBody>
      </p:sp>
      <p:sp>
        <p:nvSpPr>
          <p:cNvPr id="19" name="Shape 14"/>
          <p:cNvSpPr/>
          <p:nvPr/>
        </p:nvSpPr>
        <p:spPr>
          <a:xfrm>
            <a:off x="640080" y="5074920"/>
            <a:ext cx="10908792" cy="914400"/>
          </a:xfrm>
          <a:prstGeom prst="roundRect">
            <a:avLst>
              <a:gd name="adj" fmla="val 10000"/>
            </a:avLst>
          </a:prstGeom>
          <a:solidFill>
            <a:srgbClr val="22264B"/>
          </a:solidFill>
          <a:ln/>
        </p:spPr>
      </p:sp>
      <p:sp>
        <p:nvSpPr>
          <p:cNvPr id="20" name="Text 15"/>
          <p:cNvSpPr txBox="1"/>
          <p:nvPr/>
        </p:nvSpPr>
        <p:spPr>
          <a:xfrm>
            <a:off x="914400" y="512064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4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עובדה מגניבה: צבע העיניים הכחול התחיל כנראה ממוטציה אחת אצל אדם אחד, לפני אלפי שנים. כל כחולי העיניים בעולם ירשו אותה ממנו.</a:t>
            </a:r>
            <a:endParaRPr lang="he-IL" sz="1450" dirty="0"/>
          </a:p>
        </p:txBody>
      </p:sp>
      <p:sp>
        <p:nvSpPr>
          <p:cNvPr id="21" name="Text 16"/>
          <p:cNvSpPr txBox="1"/>
          <p:nvPr/>
        </p:nvSpPr>
        <p:spPr>
          <a:xfrm>
            <a:off x="2286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222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גנטיקה בעולם האמיתי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1090879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61904" y="1906524"/>
            <a:ext cx="621792" cy="621792"/>
          </a:xfrm>
          <a:prstGeom prst="ellipse">
            <a:avLst/>
          </a:prstGeom>
          <a:solidFill>
            <a:srgbClr val="2BB673"/>
          </a:solidFill>
          <a:ln/>
        </p:spPr>
      </p:sp>
      <p:pic>
        <p:nvPicPr>
          <p:cNvPr id="5" name="Image 0" descr="icons/userm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11134" y="2055754"/>
            <a:ext cx="323332" cy="3233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52360" y="182880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רפואה</a:t>
            </a:r>
            <a:endParaRPr lang="he-IL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828800"/>
            <a:ext cx="6446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בדיקות גנטיות ותרופות שמותאמות בדיוק לחולה.</a:t>
            </a:r>
            <a:endParaRPr lang="he-IL" sz="1500" dirty="0"/>
          </a:p>
        </p:txBody>
      </p:sp>
      <p:sp>
        <p:nvSpPr>
          <p:cNvPr id="8" name="Shape 5"/>
          <p:cNvSpPr/>
          <p:nvPr/>
        </p:nvSpPr>
        <p:spPr>
          <a:xfrm>
            <a:off x="640080" y="2834640"/>
            <a:ext cx="1090879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661904" y="3003804"/>
            <a:ext cx="621792" cy="621792"/>
          </a:xfrm>
          <a:prstGeom prst="ellipse">
            <a:avLst/>
          </a:prstGeom>
          <a:solidFill>
            <a:srgbClr val="F9A03F"/>
          </a:solidFill>
          <a:ln/>
        </p:spPr>
      </p:sp>
      <p:pic>
        <p:nvPicPr>
          <p:cNvPr id="10" name="Image 1" descr="icons/seedl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1134" y="3153034"/>
            <a:ext cx="323332" cy="32333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52360" y="292608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חקלאות</a:t>
            </a:r>
            <a:endParaRPr lang="he-IL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914400" y="2926080"/>
            <a:ext cx="6446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גידולים שעמידים למחלות, לחום וליובש.</a:t>
            </a:r>
            <a:endParaRPr lang="he-IL" sz="1500" dirty="0"/>
          </a:p>
        </p:txBody>
      </p:sp>
      <p:sp>
        <p:nvSpPr>
          <p:cNvPr id="13" name="Shape 9"/>
          <p:cNvSpPr/>
          <p:nvPr/>
        </p:nvSpPr>
        <p:spPr>
          <a:xfrm>
            <a:off x="640080" y="3931920"/>
            <a:ext cx="1090879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0661904" y="4101084"/>
            <a:ext cx="621792" cy="621792"/>
          </a:xfrm>
          <a:prstGeom prst="ellipse">
            <a:avLst/>
          </a:prstGeom>
          <a:solidFill>
            <a:srgbClr val="4C9AFF"/>
          </a:solidFill>
          <a:ln/>
        </p:spPr>
      </p:sp>
      <p:pic>
        <p:nvPicPr>
          <p:cNvPr id="15" name="Image 2" descr="icons/fingerprin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11134" y="4250314"/>
            <a:ext cx="323332" cy="32333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452360" y="4023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זיהוי פלילי</a:t>
            </a:r>
            <a:endParaRPr lang="he-IL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914400" y="4023360"/>
            <a:ext cx="6446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שערה אחת מהזירה מספיקה כדי לזהות אדם.</a:t>
            </a:r>
            <a:endParaRPr lang="he-IL" sz="1500" dirty="0"/>
          </a:p>
        </p:txBody>
      </p:sp>
      <p:sp>
        <p:nvSpPr>
          <p:cNvPr id="18" name="Shape 13"/>
          <p:cNvSpPr/>
          <p:nvPr/>
        </p:nvSpPr>
        <p:spPr>
          <a:xfrm>
            <a:off x="640080" y="5029200"/>
            <a:ext cx="10908792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10661904" y="5198364"/>
            <a:ext cx="621792" cy="621792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20" name="Image 3" descr="icons/flas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11134" y="5347594"/>
            <a:ext cx="323332" cy="32333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452360" y="512064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הנדסה גנטית</a:t>
            </a:r>
            <a:endParaRPr lang="he-IL" sz="1700" dirty="0"/>
          </a:p>
        </p:txBody>
      </p:sp>
      <p:sp>
        <p:nvSpPr>
          <p:cNvPr id="22" name="Text 16"/>
          <p:cNvSpPr txBox="1"/>
          <p:nvPr/>
        </p:nvSpPr>
        <p:spPr>
          <a:xfrm>
            <a:off x="914400" y="5120640"/>
            <a:ext cx="6446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מדענים "עורכים" גנים, למשל כדי לייצר אינסולין לחולי סוכרת.</a:t>
            </a:r>
            <a:endParaRPr lang="he-IL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1737360" y="617220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4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בדיוק החומר שמחכה לכם בתוצרים: תוכלו לבחור נושא מהעולם האמיתי ולחקור אותו לעומק.</a:t>
            </a:r>
            <a:endParaRPr lang="he-IL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2286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222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לוח הבחירה: אתם מחליטים!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24128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6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בחרו תוצר אחד שמציג את מה שלמדתם, ועבדו לפי המחוון שתקבלו</a:t>
            </a:r>
            <a:endParaRPr lang="he-IL" sz="1600" dirty="0"/>
          </a:p>
        </p:txBody>
      </p:sp>
      <p:sp>
        <p:nvSpPr>
          <p:cNvPr id="4" name="Shape 2"/>
          <p:cNvSpPr/>
          <p:nvPr/>
        </p:nvSpPr>
        <p:spPr>
          <a:xfrm>
            <a:off x="8028432" y="16916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4F7FA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468612" y="1874520"/>
            <a:ext cx="640080" cy="64008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6" name="Image 0" descr="icons/deskt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2231" y="2028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11312" y="25603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5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מצגת דיגיטלית</a:t>
            </a:r>
            <a:endParaRPr lang="he-IL" sz="1550" dirty="0"/>
          </a:p>
        </p:txBody>
      </p:sp>
      <p:sp>
        <p:nvSpPr>
          <p:cNvPr id="8" name="Text 5"/>
          <p:cNvSpPr txBox="1"/>
          <p:nvPr/>
        </p:nvSpPr>
        <p:spPr>
          <a:xfrm>
            <a:off x="8257032" y="29260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5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הידע שלכם בשקופיות ברורות ומעוצבות</a:t>
            </a:r>
            <a:endParaRPr lang="he-IL" sz="1150" dirty="0"/>
          </a:p>
        </p:txBody>
      </p:sp>
      <p:sp>
        <p:nvSpPr>
          <p:cNvPr id="9" name="Shape 6"/>
          <p:cNvSpPr/>
          <p:nvPr/>
        </p:nvSpPr>
        <p:spPr>
          <a:xfrm>
            <a:off x="4334256" y="16916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4F7FA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774436" y="1874520"/>
            <a:ext cx="640080" cy="640080"/>
          </a:xfrm>
          <a:prstGeom prst="ellipse">
            <a:avLst/>
          </a:prstGeom>
          <a:solidFill>
            <a:srgbClr val="E4572E"/>
          </a:solidFill>
          <a:ln/>
        </p:spPr>
      </p:sp>
      <p:pic>
        <p:nvPicPr>
          <p:cNvPr id="11" name="Image 1" descr="icons/fil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8055" y="2028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17136" y="25603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5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סרטון</a:t>
            </a:r>
            <a:endParaRPr lang="he-IL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4562856" y="29260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5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הסבר חזותי וקולי בקצב שלכם</a:t>
            </a:r>
            <a:endParaRPr lang="he-IL" sz="1150" dirty="0"/>
          </a:p>
        </p:txBody>
      </p:sp>
      <p:sp>
        <p:nvSpPr>
          <p:cNvPr id="14" name="Shape 10"/>
          <p:cNvSpPr/>
          <p:nvPr/>
        </p:nvSpPr>
        <p:spPr>
          <a:xfrm>
            <a:off x="640080" y="16916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4F7FA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080260" y="1874520"/>
            <a:ext cx="640080" cy="640080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16" name="Image 2" descr="icons/gamep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3879" y="2028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2960" y="25603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5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משחק לימודי</a:t>
            </a:r>
            <a:endParaRPr lang="he-IL" sz="1550" dirty="0"/>
          </a:p>
        </p:txBody>
      </p:sp>
      <p:sp>
        <p:nvSpPr>
          <p:cNvPr id="18" name="Text 13"/>
          <p:cNvSpPr txBox="1"/>
          <p:nvPr/>
        </p:nvSpPr>
        <p:spPr>
          <a:xfrm>
            <a:off x="868680" y="292608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5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הופכים את החומר לחוויה אינטראקטיבית</a:t>
            </a:r>
            <a:endParaRPr lang="he-IL" sz="1150" dirty="0"/>
          </a:p>
        </p:txBody>
      </p:sp>
      <p:sp>
        <p:nvSpPr>
          <p:cNvPr id="19" name="Shape 14"/>
          <p:cNvSpPr/>
          <p:nvPr/>
        </p:nvSpPr>
        <p:spPr>
          <a:xfrm>
            <a:off x="8028432" y="37947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4F7FA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9468612" y="3977640"/>
            <a:ext cx="640080" cy="640080"/>
          </a:xfrm>
          <a:prstGeom prst="ellipse">
            <a:avLst/>
          </a:prstGeom>
          <a:solidFill>
            <a:srgbClr val="2BB673"/>
          </a:solidFill>
          <a:ln/>
        </p:spPr>
      </p:sp>
      <p:pic>
        <p:nvPicPr>
          <p:cNvPr id="21" name="Image 3" descr="icons/cub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2231" y="4131259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11312" y="46634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5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דגם תלת-ממדי</a:t>
            </a:r>
            <a:endParaRPr lang="he-IL" sz="1550" dirty="0"/>
          </a:p>
        </p:txBody>
      </p:sp>
      <p:sp>
        <p:nvSpPr>
          <p:cNvPr id="23" name="Text 17"/>
          <p:cNvSpPr txBox="1"/>
          <p:nvPr/>
        </p:nvSpPr>
        <p:spPr>
          <a:xfrm>
            <a:off x="8257032" y="50292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5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בונים DNA, תא או כרומוזום</a:t>
            </a:r>
            <a:endParaRPr lang="he-IL" sz="1150" dirty="0"/>
          </a:p>
        </p:txBody>
      </p:sp>
      <p:sp>
        <p:nvSpPr>
          <p:cNvPr id="24" name="Shape 18"/>
          <p:cNvSpPr/>
          <p:nvPr/>
        </p:nvSpPr>
        <p:spPr>
          <a:xfrm>
            <a:off x="4334256" y="37947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4F7FA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5774436" y="3977640"/>
            <a:ext cx="640080" cy="640080"/>
          </a:xfrm>
          <a:prstGeom prst="ellipse">
            <a:avLst/>
          </a:prstGeom>
          <a:solidFill>
            <a:srgbClr val="F9A03F"/>
          </a:solidFill>
          <a:ln/>
        </p:spPr>
      </p:sp>
      <p:pic>
        <p:nvPicPr>
          <p:cNvPr id="26" name="Image 4" descr="icons/timeli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8055" y="4131259"/>
            <a:ext cx="332842" cy="332842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517136" y="46634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5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ציר זמן</a:t>
            </a:r>
            <a:endParaRPr lang="he-IL" sz="1550" dirty="0"/>
          </a:p>
        </p:txBody>
      </p:sp>
      <p:sp>
        <p:nvSpPr>
          <p:cNvPr id="28" name="Text 21"/>
          <p:cNvSpPr txBox="1"/>
          <p:nvPr/>
        </p:nvSpPr>
        <p:spPr>
          <a:xfrm>
            <a:off x="4562856" y="50292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5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תגליות הגנטיקה לאורך השנים</a:t>
            </a:r>
            <a:endParaRPr lang="he-IL" sz="1150" dirty="0"/>
          </a:p>
        </p:txBody>
      </p:sp>
      <p:sp>
        <p:nvSpPr>
          <p:cNvPr id="29" name="Shape 22"/>
          <p:cNvSpPr/>
          <p:nvPr/>
        </p:nvSpPr>
        <p:spPr>
          <a:xfrm>
            <a:off x="640080" y="37947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4F7FA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2080260" y="3977640"/>
            <a:ext cx="640080" cy="640080"/>
          </a:xfrm>
          <a:prstGeom prst="ellipse">
            <a:avLst/>
          </a:prstGeom>
          <a:solidFill>
            <a:srgbClr val="4C9AFF"/>
          </a:solidFill>
          <a:ln/>
        </p:spPr>
      </p:sp>
      <p:pic>
        <p:nvPicPr>
          <p:cNvPr id="31" name="Image 5" descr="icons/tabl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3879" y="4131259"/>
            <a:ext cx="332842" cy="332842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22960" y="466344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5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טבלת השוואה</a:t>
            </a:r>
            <a:endParaRPr lang="he-IL" sz="1550" dirty="0"/>
          </a:p>
        </p:txBody>
      </p:sp>
      <p:sp>
        <p:nvSpPr>
          <p:cNvPr id="33" name="Text 25"/>
          <p:cNvSpPr txBox="1"/>
          <p:nvPr/>
        </p:nvSpPr>
        <p:spPr>
          <a:xfrm>
            <a:off x="868680" y="50292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15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למשל: DNA מול RNA, דומיננטי מול רצסיבי</a:t>
            </a:r>
            <a:endParaRPr lang="he-IL" sz="1150" dirty="0"/>
          </a:p>
        </p:txBody>
      </p:sp>
      <p:sp>
        <p:nvSpPr>
          <p:cNvPr id="34" name="Shape 26"/>
          <p:cNvSpPr/>
          <p:nvPr/>
        </p:nvSpPr>
        <p:spPr>
          <a:xfrm>
            <a:off x="640080" y="5943600"/>
            <a:ext cx="10908792" cy="548640"/>
          </a:xfrm>
          <a:prstGeom prst="roundRect">
            <a:avLst>
              <a:gd name="adj" fmla="val 13333"/>
            </a:avLst>
          </a:prstGeom>
          <a:solidFill>
            <a:srgbClr val="22264B"/>
          </a:solidFill>
          <a:ln/>
        </p:spPr>
      </p:sp>
      <p:sp>
        <p:nvSpPr>
          <p:cNvPr id="35" name="Text 27"/>
          <p:cNvSpPr txBox="1"/>
          <p:nvPr/>
        </p:nvSpPr>
        <p:spPr>
          <a:xfrm>
            <a:off x="914400" y="594360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לעבוד לבד, בזוג או בקבוצה קטנה. לכל תוצר מצרפים קישור למקורות שבהם השתמשתם.</a:t>
            </a:r>
            <a:endParaRPr lang="he-IL" sz="1300" dirty="0"/>
          </a:p>
        </p:txBody>
      </p:sp>
      <p:sp>
        <p:nvSpPr>
          <p:cNvPr id="36" name="Text 28"/>
          <p:cNvSpPr txBox="1"/>
          <p:nvPr/>
        </p:nvSpPr>
        <p:spPr>
          <a:xfrm>
            <a:off x="2286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222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עובדים על התוצר?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1090879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634472" y="1929384"/>
            <a:ext cx="621792" cy="621792"/>
          </a:xfrm>
          <a:prstGeom prst="ellipse">
            <a:avLst/>
          </a:prstGeom>
          <a:solidFill>
            <a:srgbClr val="2BB673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0" y="1856232"/>
            <a:ext cx="31089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בוחרים</a:t>
            </a:r>
            <a:endParaRPr lang="he-IL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856232"/>
            <a:ext cx="6309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5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תוצר מלוח הבחירה שמתאים לחוזקות שלכם.</a:t>
            </a:r>
            <a:endParaRPr lang="he-IL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1090879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634472" y="2980944"/>
            <a:ext cx="621792" cy="621792"/>
          </a:xfrm>
          <a:prstGeom prst="ellipse">
            <a:avLst/>
          </a:prstGeom>
          <a:solidFill>
            <a:srgbClr val="0E7C8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907792"/>
            <a:ext cx="31089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מתכננים</a:t>
            </a:r>
            <a:endParaRPr lang="he-IL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907792"/>
            <a:ext cx="6309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5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מגדירים מטרה, מחלקים את העבודה לשלבים וקובעים לוח זמנים.</a:t>
            </a:r>
            <a:endParaRPr lang="he-IL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886200"/>
            <a:ext cx="1090879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634472" y="4032504"/>
            <a:ext cx="621792" cy="621792"/>
          </a:xfrm>
          <a:prstGeom prst="ellipse">
            <a:avLst/>
          </a:prstGeom>
          <a:solidFill>
            <a:srgbClr val="F9A0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3959352"/>
            <a:ext cx="31089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עובדים ובודקים</a:t>
            </a:r>
            <a:endParaRPr lang="he-IL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959352"/>
            <a:ext cx="6309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5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משווים את עצמכם למחוון תוך כדי העבודה, ומשנים כיוון אם צריך.</a:t>
            </a:r>
            <a:endParaRPr lang="he-IL" sz="1450" dirty="0"/>
          </a:p>
        </p:txBody>
      </p:sp>
      <p:sp>
        <p:nvSpPr>
          <p:cNvPr id="15" name="Shape 13"/>
          <p:cNvSpPr/>
          <p:nvPr/>
        </p:nvSpPr>
        <p:spPr>
          <a:xfrm>
            <a:off x="640080" y="4937760"/>
            <a:ext cx="10908792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634472" y="5084064"/>
            <a:ext cx="621792" cy="621792"/>
          </a:xfrm>
          <a:prstGeom prst="ellipse">
            <a:avLst/>
          </a:prstGeom>
          <a:solidFill>
            <a:srgbClr val="6C5CE7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0" y="5010912"/>
            <a:ext cx="31089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7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מציגים ומשתפים</a:t>
            </a:r>
            <a:endParaRPr lang="he-IL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5010912"/>
            <a:ext cx="63093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5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מציגים לכיתה, נותנים משוב לחברים ומקבלים משוב בחזרה.</a:t>
            </a:r>
            <a:endParaRPr lang="he-IL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1737360" y="608076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rgbClr val="0E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ובסוף הדרך, שאלה אחת לעצמכם: מה עבד לי טוב, ומה אעשה אחרת בפעם הבאה?</a:t>
            </a:r>
            <a:endParaRPr lang="he-IL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286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222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חכמים ברשת: מקורות ו-AI</a:t>
            </a:r>
            <a:endParaRPr lang="he-IL" sz="3200" dirty="0"/>
          </a:p>
        </p:txBody>
      </p:sp>
      <p:sp>
        <p:nvSpPr>
          <p:cNvPr id="3" name="Shape 1"/>
          <p:cNvSpPr/>
          <p:nvPr/>
        </p:nvSpPr>
        <p:spPr>
          <a:xfrm>
            <a:off x="6263640" y="1737360"/>
            <a:ext cx="5285232" cy="4297680"/>
          </a:xfrm>
          <a:prstGeom prst="roundRect">
            <a:avLst>
              <a:gd name="adj" fmla="val 2553"/>
            </a:avLst>
          </a:prstGeom>
          <a:solidFill>
            <a:srgbClr val="F4F7FA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634472" y="1965960"/>
            <a:ext cx="640080" cy="640080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5" name="Image 0" descr="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8091" y="211957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83680" y="1965960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שמשתמשים במידע</a:t>
            </a:r>
            <a:endParaRPr lang="he-IL" sz="1800" dirty="0"/>
          </a:p>
        </p:txBody>
      </p:sp>
      <p:sp>
        <p:nvSpPr>
          <p:cNvPr id="7" name="Shape 4"/>
          <p:cNvSpPr/>
          <p:nvPr/>
        </p:nvSpPr>
        <p:spPr>
          <a:xfrm>
            <a:off x="10890504" y="2907792"/>
            <a:ext cx="310896" cy="310896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8" name="Image 1" descr="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5119" y="2982407"/>
            <a:ext cx="161666" cy="16166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583680" y="2807208"/>
            <a:ext cx="4233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35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בודקים מי כתב אותו ומטעם איזה גוף.</a:t>
            </a:r>
            <a:endParaRPr lang="he-IL" sz="1350" dirty="0"/>
          </a:p>
        </p:txBody>
      </p:sp>
      <p:sp>
        <p:nvSpPr>
          <p:cNvPr id="10" name="Shape 6"/>
          <p:cNvSpPr/>
          <p:nvPr/>
        </p:nvSpPr>
        <p:spPr>
          <a:xfrm>
            <a:off x="10890504" y="3675888"/>
            <a:ext cx="310896" cy="310896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11" name="Image 2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5119" y="3750503"/>
            <a:ext cx="161666" cy="16166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583680" y="3575304"/>
            <a:ext cx="4233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35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בודקים מתי הוא עודכן לאחרונה.</a:t>
            </a:r>
            <a:endParaRPr lang="he-IL" sz="1350" dirty="0"/>
          </a:p>
        </p:txBody>
      </p:sp>
      <p:sp>
        <p:nvSpPr>
          <p:cNvPr id="13" name="Shape 8"/>
          <p:cNvSpPr/>
          <p:nvPr/>
        </p:nvSpPr>
        <p:spPr>
          <a:xfrm>
            <a:off x="10890504" y="4443984"/>
            <a:ext cx="310896" cy="310896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14" name="Image 3" descr="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65119" y="4518599"/>
            <a:ext cx="161666" cy="16166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83680" y="4343400"/>
            <a:ext cx="4233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35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משווים: האם מקור נוסף אומר אותו דבר?</a:t>
            </a:r>
            <a:endParaRPr lang="he-IL" sz="1350" dirty="0"/>
          </a:p>
        </p:txBody>
      </p:sp>
      <p:sp>
        <p:nvSpPr>
          <p:cNvPr id="16" name="Shape 10"/>
          <p:cNvSpPr/>
          <p:nvPr/>
        </p:nvSpPr>
        <p:spPr>
          <a:xfrm>
            <a:off x="10890504" y="5212080"/>
            <a:ext cx="310896" cy="310896"/>
          </a:xfrm>
          <a:prstGeom prst="ellipse">
            <a:avLst/>
          </a:prstGeom>
          <a:solidFill>
            <a:srgbClr val="0E7C86"/>
          </a:solidFill>
          <a:ln/>
        </p:spPr>
      </p:sp>
      <p:pic>
        <p:nvPicPr>
          <p:cNvPr id="17" name="Image 4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65119" y="5286695"/>
            <a:ext cx="161666" cy="16166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583680" y="5111496"/>
            <a:ext cx="4233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35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שומרים את הקישור ומצרפים אותו לתוצר.</a:t>
            </a:r>
            <a:endParaRPr lang="he-IL" sz="1350" dirty="0"/>
          </a:p>
        </p:txBody>
      </p:sp>
      <p:sp>
        <p:nvSpPr>
          <p:cNvPr id="19" name="Shape 12"/>
          <p:cNvSpPr/>
          <p:nvPr/>
        </p:nvSpPr>
        <p:spPr>
          <a:xfrm>
            <a:off x="640080" y="1737360"/>
            <a:ext cx="5285232" cy="4297680"/>
          </a:xfrm>
          <a:prstGeom prst="roundRect">
            <a:avLst>
              <a:gd name="adj" fmla="val 2553"/>
            </a:avLst>
          </a:prstGeom>
          <a:solidFill>
            <a:srgbClr val="F4F7FA"/>
          </a:solidFill>
          <a:ln w="12700">
            <a:solidFill>
              <a:srgbClr val="DDE5EE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5010912" y="1965960"/>
            <a:ext cx="640080" cy="640080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21" name="Image 5" descr="icons/robo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4531" y="2119579"/>
            <a:ext cx="332842" cy="332842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960120" y="1965960"/>
            <a:ext cx="4005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עובדים עם AI כמו מקצוענים</a:t>
            </a:r>
            <a:endParaRPr lang="he-IL" sz="1800" dirty="0"/>
          </a:p>
        </p:txBody>
      </p:sp>
      <p:sp>
        <p:nvSpPr>
          <p:cNvPr id="23" name="Shape 15"/>
          <p:cNvSpPr/>
          <p:nvPr/>
        </p:nvSpPr>
        <p:spPr>
          <a:xfrm>
            <a:off x="5266944" y="2907792"/>
            <a:ext cx="310896" cy="310896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24" name="Image 6" descr="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1559" y="2982407"/>
            <a:ext cx="161666" cy="161666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960120" y="2807208"/>
            <a:ext cx="4233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35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עוזר לרעיונות, לארגון המידע ולניסוח.</a:t>
            </a:r>
            <a:endParaRPr lang="he-IL" sz="1350" dirty="0"/>
          </a:p>
        </p:txBody>
      </p:sp>
      <p:sp>
        <p:nvSpPr>
          <p:cNvPr id="26" name="Shape 17"/>
          <p:cNvSpPr/>
          <p:nvPr/>
        </p:nvSpPr>
        <p:spPr>
          <a:xfrm>
            <a:off x="5266944" y="3675888"/>
            <a:ext cx="310896" cy="310896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27" name="Image 7" descr="icons/chec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41559" y="3750503"/>
            <a:ext cx="161666" cy="161666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960120" y="3575304"/>
            <a:ext cx="4233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35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הוא לא מחליף את ההבנה שלכם.</a:t>
            </a:r>
            <a:endParaRPr lang="he-IL" sz="1350" dirty="0"/>
          </a:p>
        </p:txBody>
      </p:sp>
      <p:sp>
        <p:nvSpPr>
          <p:cNvPr id="29" name="Shape 19"/>
          <p:cNvSpPr/>
          <p:nvPr/>
        </p:nvSpPr>
        <p:spPr>
          <a:xfrm>
            <a:off x="5266944" y="4443984"/>
            <a:ext cx="310896" cy="310896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30" name="Image 8" descr="icons/check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341559" y="4518599"/>
            <a:ext cx="161666" cy="161666"/>
          </a:xfrm>
          <a:prstGeom prst="rect">
            <a:avLst/>
          </a:prstGeom>
        </p:spPr>
      </p:pic>
      <p:sp>
        <p:nvSpPr>
          <p:cNvPr id="31" name="Text 20"/>
          <p:cNvSpPr txBox="1"/>
          <p:nvPr/>
        </p:nvSpPr>
        <p:spPr>
          <a:xfrm>
            <a:off x="960120" y="4343400"/>
            <a:ext cx="4233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35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תשובה שלו בודקים מול מקור אמין.</a:t>
            </a:r>
            <a:endParaRPr lang="he-IL" sz="1350" dirty="0"/>
          </a:p>
        </p:txBody>
      </p:sp>
      <p:sp>
        <p:nvSpPr>
          <p:cNvPr id="32" name="Shape 21"/>
          <p:cNvSpPr/>
          <p:nvPr/>
        </p:nvSpPr>
        <p:spPr>
          <a:xfrm>
            <a:off x="5266944" y="5212080"/>
            <a:ext cx="310896" cy="310896"/>
          </a:xfrm>
          <a:prstGeom prst="ellipse">
            <a:avLst/>
          </a:prstGeom>
          <a:solidFill>
            <a:srgbClr val="6C5CE7"/>
          </a:solidFill>
          <a:ln/>
        </p:spPr>
      </p:sp>
      <p:pic>
        <p:nvPicPr>
          <p:cNvPr id="33" name="Image 9" descr="icons/check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41559" y="5286695"/>
            <a:ext cx="161666" cy="161666"/>
          </a:xfrm>
          <a:prstGeom prst="rect">
            <a:avLst/>
          </a:prstGeom>
        </p:spPr>
      </p:pic>
      <p:sp>
        <p:nvSpPr>
          <p:cNvPr id="34" name="Text 22"/>
          <p:cNvSpPr txBox="1"/>
          <p:nvPr/>
        </p:nvSpPr>
        <p:spPr>
          <a:xfrm>
            <a:off x="960120" y="5111496"/>
            <a:ext cx="4233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35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מספרים בתוצר במה בדיוק נעזרתם.</a:t>
            </a:r>
            <a:endParaRPr lang="he-IL" sz="1350" dirty="0"/>
          </a:p>
        </p:txBody>
      </p:sp>
      <p:sp>
        <p:nvSpPr>
          <p:cNvPr id="35" name="Text 23"/>
          <p:cNvSpPr txBox="1"/>
          <p:nvPr/>
        </p:nvSpPr>
        <p:spPr>
          <a:xfrm>
            <a:off x="2286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226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91088" y="475488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3" name="Shape 1"/>
          <p:cNvSpPr/>
          <p:nvPr/>
        </p:nvSpPr>
        <p:spPr>
          <a:xfrm>
            <a:off x="10991088" y="475488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4" name="Shape 2"/>
          <p:cNvSpPr/>
          <p:nvPr/>
        </p:nvSpPr>
        <p:spPr>
          <a:xfrm>
            <a:off x="10528740" y="946404"/>
            <a:ext cx="1071000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11526588" y="886968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6" name="Shape 4"/>
          <p:cNvSpPr/>
          <p:nvPr/>
        </p:nvSpPr>
        <p:spPr>
          <a:xfrm>
            <a:off x="10455588" y="886968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7" name="Shape 5"/>
          <p:cNvSpPr/>
          <p:nvPr/>
        </p:nvSpPr>
        <p:spPr>
          <a:xfrm>
            <a:off x="10599551" y="1357884"/>
            <a:ext cx="929379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455777" y="1298448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9" name="Shape 7"/>
          <p:cNvSpPr/>
          <p:nvPr/>
        </p:nvSpPr>
        <p:spPr>
          <a:xfrm>
            <a:off x="10526399" y="1298448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10" name="Shape 8"/>
          <p:cNvSpPr/>
          <p:nvPr/>
        </p:nvSpPr>
        <p:spPr>
          <a:xfrm>
            <a:off x="10931982" y="1769364"/>
            <a:ext cx="264515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0858830" y="1709928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23346" y="1709928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84782" y="2180844"/>
            <a:ext cx="1158916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0411630" y="2121408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15" name="Shape 13"/>
          <p:cNvSpPr/>
          <p:nvPr/>
        </p:nvSpPr>
        <p:spPr>
          <a:xfrm>
            <a:off x="11570546" y="2121408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693663" y="2592324"/>
            <a:ext cx="741155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10620511" y="2532888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361665" y="2532888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9" name="Shape 17"/>
          <p:cNvSpPr/>
          <p:nvPr/>
        </p:nvSpPr>
        <p:spPr>
          <a:xfrm>
            <a:off x="10806357" y="3003804"/>
            <a:ext cx="515766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248971" y="2944368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733205" y="2944368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22" name="Shape 20"/>
          <p:cNvSpPr/>
          <p:nvPr/>
        </p:nvSpPr>
        <p:spPr>
          <a:xfrm>
            <a:off x="10469880" y="3415284"/>
            <a:ext cx="1188720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1585448" y="3355848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24" name="Shape 22"/>
          <p:cNvSpPr/>
          <p:nvPr/>
        </p:nvSpPr>
        <p:spPr>
          <a:xfrm>
            <a:off x="10396728" y="3355848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25" name="Shape 23"/>
          <p:cNvSpPr/>
          <p:nvPr/>
        </p:nvSpPr>
        <p:spPr>
          <a:xfrm>
            <a:off x="10806357" y="3826764"/>
            <a:ext cx="515766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11248971" y="3767328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27" name="Shape 25"/>
          <p:cNvSpPr/>
          <p:nvPr/>
        </p:nvSpPr>
        <p:spPr>
          <a:xfrm>
            <a:off x="10733205" y="3767328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28" name="Shape 26"/>
          <p:cNvSpPr/>
          <p:nvPr/>
        </p:nvSpPr>
        <p:spPr>
          <a:xfrm>
            <a:off x="10693663" y="4238244"/>
            <a:ext cx="741155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10620511" y="4178808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30" name="Shape 28"/>
          <p:cNvSpPr/>
          <p:nvPr/>
        </p:nvSpPr>
        <p:spPr>
          <a:xfrm>
            <a:off x="11361665" y="4178808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31" name="Shape 29"/>
          <p:cNvSpPr/>
          <p:nvPr/>
        </p:nvSpPr>
        <p:spPr>
          <a:xfrm>
            <a:off x="10484782" y="4649724"/>
            <a:ext cx="1158916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10411630" y="4590288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33" name="Shape 31"/>
          <p:cNvSpPr/>
          <p:nvPr/>
        </p:nvSpPr>
        <p:spPr>
          <a:xfrm>
            <a:off x="11570546" y="4590288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34" name="Shape 32"/>
          <p:cNvSpPr/>
          <p:nvPr/>
        </p:nvSpPr>
        <p:spPr>
          <a:xfrm>
            <a:off x="10931982" y="5061204"/>
            <a:ext cx="264515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10858830" y="5001768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11123346" y="5001768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37" name="Shape 35"/>
          <p:cNvSpPr/>
          <p:nvPr/>
        </p:nvSpPr>
        <p:spPr>
          <a:xfrm>
            <a:off x="10599551" y="5472684"/>
            <a:ext cx="929379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11455777" y="5413248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39" name="Shape 37"/>
          <p:cNvSpPr/>
          <p:nvPr/>
        </p:nvSpPr>
        <p:spPr>
          <a:xfrm>
            <a:off x="10526399" y="5413248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40" name="Shape 38"/>
          <p:cNvSpPr/>
          <p:nvPr/>
        </p:nvSpPr>
        <p:spPr>
          <a:xfrm>
            <a:off x="10528740" y="5884164"/>
            <a:ext cx="1071000" cy="27432"/>
          </a:xfrm>
          <a:prstGeom prst="rect">
            <a:avLst/>
          </a:prstGeom>
          <a:solidFill>
            <a:srgbClr val="CADCFC">
              <a:alpha val="45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11526588" y="5824728"/>
            <a:ext cx="146304" cy="146304"/>
          </a:xfrm>
          <a:prstGeom prst="ellipse">
            <a:avLst/>
          </a:prstGeom>
          <a:solidFill>
            <a:srgbClr val="F9A03F"/>
          </a:solidFill>
          <a:ln/>
        </p:spPr>
      </p:sp>
      <p:sp>
        <p:nvSpPr>
          <p:cNvPr id="42" name="Shape 40"/>
          <p:cNvSpPr/>
          <p:nvPr/>
        </p:nvSpPr>
        <p:spPr>
          <a:xfrm>
            <a:off x="10455588" y="5824728"/>
            <a:ext cx="146304" cy="146304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43" name="Shape 41"/>
          <p:cNvSpPr/>
          <p:nvPr/>
        </p:nvSpPr>
        <p:spPr>
          <a:xfrm>
            <a:off x="10991088" y="6236208"/>
            <a:ext cx="146304" cy="146304"/>
          </a:xfrm>
          <a:prstGeom prst="ellipse">
            <a:avLst/>
          </a:prstGeom>
          <a:solidFill>
            <a:srgbClr val="4C9AFF"/>
          </a:solidFill>
          <a:ln/>
        </p:spPr>
      </p:sp>
      <p:sp>
        <p:nvSpPr>
          <p:cNvPr id="44" name="Shape 42"/>
          <p:cNvSpPr/>
          <p:nvPr/>
        </p:nvSpPr>
        <p:spPr>
          <a:xfrm>
            <a:off x="10991088" y="6236208"/>
            <a:ext cx="146304" cy="146304"/>
          </a:xfrm>
          <a:prstGeom prst="ellipse">
            <a:avLst/>
          </a:prstGeom>
          <a:solidFill>
            <a:srgbClr val="2BB673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22960" y="6400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יוצאים לדרך!</a:t>
            </a:r>
            <a:endParaRPr lang="he-IL" sz="4000" dirty="0"/>
          </a:p>
        </p:txBody>
      </p:sp>
      <p:sp>
        <p:nvSpPr>
          <p:cNvPr id="46" name="Shape 44"/>
          <p:cNvSpPr/>
          <p:nvPr/>
        </p:nvSpPr>
        <p:spPr>
          <a:xfrm>
            <a:off x="8961120" y="1892808"/>
            <a:ext cx="457200" cy="457200"/>
          </a:xfrm>
          <a:prstGeom prst="ellipse">
            <a:avLst/>
          </a:prstGeom>
          <a:solidFill>
            <a:srgbClr val="2BB673"/>
          </a:solidFill>
          <a:ln/>
        </p:spPr>
      </p:sp>
      <p:pic>
        <p:nvPicPr>
          <p:cNvPr id="47" name="Image 0" descr="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70848" y="2002536"/>
            <a:ext cx="237744" cy="237744"/>
          </a:xfrm>
          <a:prstGeom prst="rect">
            <a:avLst/>
          </a:prstGeom>
        </p:spPr>
      </p:pic>
      <p:sp>
        <p:nvSpPr>
          <p:cNvPr id="48" name="Text 45">
            <a:hlinkClick r:id="rId2" tooltip="לטריילר"/>
          </p:cNvPr>
          <p:cNvSpPr txBox="1"/>
          <p:nvPr/>
        </p:nvSpPr>
        <p:spPr>
          <a:xfrm>
            <a:off x="1097280" y="182880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900" u="sng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לטריילר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צופים בטריילר בתחילת השיעור</a:t>
            </a:r>
            <a:endParaRPr lang="he-IL" sz="1900" dirty="0"/>
          </a:p>
        </p:txBody>
      </p:sp>
      <p:sp>
        <p:nvSpPr>
          <p:cNvPr id="49" name="Shape 46"/>
          <p:cNvSpPr/>
          <p:nvPr/>
        </p:nvSpPr>
        <p:spPr>
          <a:xfrm>
            <a:off x="8961120" y="2670048"/>
            <a:ext cx="457200" cy="457200"/>
          </a:xfrm>
          <a:prstGeom prst="ellipse">
            <a:avLst/>
          </a:prstGeom>
          <a:solidFill>
            <a:srgbClr val="2BB673"/>
          </a:solidFill>
          <a:ln/>
        </p:spPr>
      </p:sp>
      <p:pic>
        <p:nvPicPr>
          <p:cNvPr id="50" name="Image 1" descr="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0848" y="2779776"/>
            <a:ext cx="237744" cy="237744"/>
          </a:xfrm>
          <a:prstGeom prst="rect">
            <a:avLst/>
          </a:prstGeom>
        </p:spPr>
      </p:pic>
      <p:sp>
        <p:nvSpPr>
          <p:cNvPr id="51" name="Text 47">
            <a:hlinkClick r:id="rId4" tooltip="ללוח הבחירה" action="ppaction://hlinksldjump"/>
          </p:cNvPr>
          <p:cNvSpPr txBox="1"/>
          <p:nvPr/>
        </p:nvSpPr>
        <p:spPr>
          <a:xfrm>
            <a:off x="1097280" y="2606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900" u="sng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 action="ppaction://hlinksldjump" tooltip="ללוח הבחירה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בוחרים תוצר מלוח הבחירה</a:t>
            </a:r>
            <a:endParaRPr lang="he-IL" sz="1900" dirty="0"/>
          </a:p>
        </p:txBody>
      </p:sp>
      <p:sp>
        <p:nvSpPr>
          <p:cNvPr id="52" name="Shape 48"/>
          <p:cNvSpPr/>
          <p:nvPr/>
        </p:nvSpPr>
        <p:spPr>
          <a:xfrm>
            <a:off x="8961120" y="3447288"/>
            <a:ext cx="457200" cy="457200"/>
          </a:xfrm>
          <a:prstGeom prst="ellipse">
            <a:avLst/>
          </a:prstGeom>
          <a:solidFill>
            <a:srgbClr val="2BB673"/>
          </a:solidFill>
          <a:ln/>
        </p:spPr>
      </p:sp>
      <p:pic>
        <p:nvPicPr>
          <p:cNvPr id="53" name="Image 2" descr="icons/chec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0848" y="3557016"/>
            <a:ext cx="237744" cy="237744"/>
          </a:xfrm>
          <a:prstGeom prst="rect">
            <a:avLst/>
          </a:prstGeom>
        </p:spPr>
      </p:pic>
      <p:sp>
        <p:nvSpPr>
          <p:cNvPr id="54" name="Text 49"/>
          <p:cNvSpPr txBox="1"/>
          <p:nvPr/>
        </p:nvSpPr>
        <p:spPr>
          <a:xfrm>
            <a:off x="1097280" y="338328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מתכננים שלבים ולוח זמנים</a:t>
            </a:r>
            <a:endParaRPr lang="he-IL" sz="1900" dirty="0"/>
          </a:p>
        </p:txBody>
      </p:sp>
      <p:sp>
        <p:nvSpPr>
          <p:cNvPr id="55" name="Shape 50"/>
          <p:cNvSpPr/>
          <p:nvPr/>
        </p:nvSpPr>
        <p:spPr>
          <a:xfrm>
            <a:off x="8961120" y="4224528"/>
            <a:ext cx="457200" cy="457200"/>
          </a:xfrm>
          <a:prstGeom prst="ellipse">
            <a:avLst/>
          </a:prstGeom>
          <a:solidFill>
            <a:srgbClr val="2BB673"/>
          </a:solidFill>
          <a:ln/>
        </p:spPr>
      </p:sp>
      <p:pic>
        <p:nvPicPr>
          <p:cNvPr id="56" name="Image 3" descr="icons/check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0848" y="4334256"/>
            <a:ext cx="237744" cy="237744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97280" y="41605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בודקים מקורות ומצרפים קישורים</a:t>
            </a:r>
            <a:endParaRPr lang="he-IL" sz="1900" dirty="0"/>
          </a:p>
        </p:txBody>
      </p:sp>
      <p:sp>
        <p:nvSpPr>
          <p:cNvPr id="58" name="Shape 52"/>
          <p:cNvSpPr/>
          <p:nvPr/>
        </p:nvSpPr>
        <p:spPr>
          <a:xfrm>
            <a:off x="8961120" y="5001768"/>
            <a:ext cx="457200" cy="457200"/>
          </a:xfrm>
          <a:prstGeom prst="ellipse">
            <a:avLst/>
          </a:prstGeom>
          <a:solidFill>
            <a:srgbClr val="2BB673"/>
          </a:solidFill>
          <a:ln/>
        </p:spPr>
      </p:sp>
      <p:pic>
        <p:nvPicPr>
          <p:cNvPr id="59" name="Image 4" descr="icons/check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70848" y="5111496"/>
            <a:ext cx="237744" cy="237744"/>
          </a:xfrm>
          <a:prstGeom prst="rect">
            <a:avLst/>
          </a:prstGeom>
        </p:spPr>
      </p:pic>
      <p:sp>
        <p:nvSpPr>
          <p:cNvPr id="60" name="Text 53"/>
          <p:cNvSpPr txBox="1"/>
          <p:nvPr/>
        </p:nvSpPr>
        <p:spPr>
          <a:xfrm>
            <a:off x="1097280" y="49377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מציגים, משתפים ונהנים</a:t>
            </a:r>
            <a:endParaRPr lang="he-IL" sz="1900" dirty="0"/>
          </a:p>
        </p:txBody>
      </p:sp>
      <p:sp>
        <p:nvSpPr>
          <p:cNvPr id="61" name="Text 54"/>
          <p:cNvSpPr txBox="1"/>
          <p:nvPr/>
        </p:nvSpPr>
        <p:spPr>
          <a:xfrm>
            <a:off x="1097280" y="594360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2BB6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בהצלחה! אנחנו כבר סקרנים לראות מה תיצרו.</a:t>
            </a:r>
            <a:endParaRPr lang="he-IL" sz="1800" dirty="0"/>
          </a:p>
        </p:txBody>
      </p:sp>
      <p:sp>
        <p:nvSpPr>
          <p:cNvPr id="62" name="Text 55"/>
          <p:cNvSpPr txBox="1"/>
          <p:nvPr/>
        </p:nvSpPr>
        <p:spPr>
          <a:xfrm>
            <a:off x="2286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65760"/>
            <a:ext cx="109087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2226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רשימת מקורות</a:t>
            </a:r>
            <a:endParaRPr lang="he-IL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828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אייל, ל׳, והלוש-מנסקר, ע׳ (בפרסום). פרקטיקות הוראה מקדמות אסטרטגיות הכוונה עצמית בלמידה.</a:t>
            </a:r>
            <a:endParaRPr lang="he-IL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514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2632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משרד החינוך. (2020). מצפן 2030: דמות הבוגר/ת והיערכות מערכת החינוך.</a:t>
            </a:r>
            <a:endParaRPr lang="he-IL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632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CAST. (2018). </a:t>
            </a:r>
            <a:pPr algn="l" indent="0" marL="0">
              <a:buNone/>
            </a:pPr>
            <a:r>
              <a:rPr lang="en-US" sz="1400" i="1" dirty="0">
                <a:solidFill>
                  <a:srgbClr val="2632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Universal Design for Learning Guidelines version 2.2</a:t>
            </a:r>
            <a:pPr algn="l" indent="0" marL="0">
              <a:buNone/>
            </a:pPr>
            <a:r>
              <a:rPr lang="en-US" sz="1400" dirty="0">
                <a:solidFill>
                  <a:srgbClr val="2632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. https://udlguidelines.cast.org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86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2632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Zimmerman, B. J. (2002). Becoming a self-regulated learner: An overview. </a:t>
            </a:r>
            <a:pPr algn="l" indent="0" marL="0">
              <a:buNone/>
            </a:pPr>
            <a:r>
              <a:rPr lang="en-US" sz="1400" i="1" dirty="0">
                <a:solidFill>
                  <a:srgbClr val="2632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Theory Into Practice, 41</a:t>
            </a:r>
            <a:pPr algn="l" indent="0" marL="0">
              <a:buNone/>
            </a:pPr>
            <a:r>
              <a:rPr lang="en-US" sz="1400" dirty="0">
                <a:solidFill>
                  <a:srgbClr val="26324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(2), 64-70.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846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הטריילר ולוח הבחירה הוכנו על ידינו במסגרת היחידה.</a:t>
            </a:r>
            <a:endParaRPr lang="he-IL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28600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B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2026-08-31T08:40:11Z</dcterms:created>
  <dcterms:modified xsi:type="dcterms:W3CDTF">2026-08-31T08:40:11Z</dcterms:modified>
</cp:coreProperties>
</file>