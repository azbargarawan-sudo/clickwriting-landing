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2551167d6872?skid=d1d7d30a-1505-42bd-a8f5-bd96beb983fa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1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9.png"/><Relationship Id="rId10" Type="http://schemas.openxmlformats.org/officeDocument/2006/relationships/image" Target="../media/image-5-2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6.png"/><Relationship Id="rId7" Type="http://schemas.openxmlformats.org/officeDocument/2006/relationships/image" Target="../media/image-13-2.png"/><Relationship Id="rId8" Type="http://schemas.openxmlformats.org/officeDocument/2006/relationships/image" Target="../media/image-13-2.png"/><Relationship Id="rId9" Type="http://schemas.openxmlformats.org/officeDocument/2006/relationships/image" Target="../media/image-13-2.png"/><Relationship Id="rId10" Type="http://schemas.openxmlformats.org/officeDocument/2006/relationships/image" Target="../media/image-1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2551167d6872?skid=d1d7d30a-1505-42bd-a8f5-bd96beb983fa" TargetMode="External"/><Relationship Id="rId4" Type="http://schemas.openxmlformats.org/officeDocument/2006/relationships/slide" Target="slide11.xml"/><Relationship Id="rId1" Type="http://schemas.openxmlformats.org/officeDocument/2006/relationships/image" Target="../media/image-14-1.png"/><Relationship Id="rId3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image" Target="../media/image-1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1328" y="47548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" name="Shape 1"/>
          <p:cNvSpPr/>
          <p:nvPr/>
        </p:nvSpPr>
        <p:spPr>
          <a:xfrm>
            <a:off x="1481328" y="47548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" name="Shape 2"/>
          <p:cNvSpPr/>
          <p:nvPr/>
        </p:nvSpPr>
        <p:spPr>
          <a:xfrm>
            <a:off x="854211" y="946404"/>
            <a:ext cx="1400538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81597" y="88696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6" name="Shape 4"/>
          <p:cNvSpPr/>
          <p:nvPr/>
        </p:nvSpPr>
        <p:spPr>
          <a:xfrm>
            <a:off x="781059" y="88696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Shape 5"/>
          <p:cNvSpPr/>
          <p:nvPr/>
        </p:nvSpPr>
        <p:spPr>
          <a:xfrm>
            <a:off x="946809" y="1357884"/>
            <a:ext cx="121534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88999" y="129844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9" name="Shape 7"/>
          <p:cNvSpPr/>
          <p:nvPr/>
        </p:nvSpPr>
        <p:spPr>
          <a:xfrm>
            <a:off x="873657" y="12984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528" y="1769364"/>
            <a:ext cx="345904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08376" y="17099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4280" y="170992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6727" y="2180844"/>
            <a:ext cx="151550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3575" y="212140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Shape 13"/>
          <p:cNvSpPr/>
          <p:nvPr/>
        </p:nvSpPr>
        <p:spPr>
          <a:xfrm>
            <a:off x="2239081" y="212140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79" y="2592324"/>
            <a:ext cx="969202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96727" y="253288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8" name="Shape 16"/>
          <p:cNvSpPr/>
          <p:nvPr/>
        </p:nvSpPr>
        <p:spPr>
          <a:xfrm>
            <a:off x="1965929" y="253288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7248" y="3003804"/>
            <a:ext cx="674464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18560" y="294436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4096" y="294436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415284"/>
            <a:ext cx="155448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58568" y="335584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" y="335584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7248" y="3826764"/>
            <a:ext cx="674464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818560" y="376732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096" y="376732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9879" y="4238244"/>
            <a:ext cx="969202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6727" y="417880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5929" y="417880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1" name="Shape 29"/>
          <p:cNvSpPr/>
          <p:nvPr/>
        </p:nvSpPr>
        <p:spPr>
          <a:xfrm>
            <a:off x="796727" y="4649724"/>
            <a:ext cx="151550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3575" y="459028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239081" y="459028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4" name="Shape 32"/>
          <p:cNvSpPr/>
          <p:nvPr/>
        </p:nvSpPr>
        <p:spPr>
          <a:xfrm>
            <a:off x="1381528" y="5061204"/>
            <a:ext cx="345904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08376" y="500176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1654280" y="500176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7" name="Shape 35"/>
          <p:cNvSpPr/>
          <p:nvPr/>
        </p:nvSpPr>
        <p:spPr>
          <a:xfrm>
            <a:off x="946809" y="5472684"/>
            <a:ext cx="121534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088999" y="54132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9" name="Shape 37"/>
          <p:cNvSpPr/>
          <p:nvPr/>
        </p:nvSpPr>
        <p:spPr>
          <a:xfrm>
            <a:off x="873657" y="541324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54211" y="5884164"/>
            <a:ext cx="1400538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181597" y="582472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9" y="58247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3" name="Shape 41"/>
          <p:cNvSpPr/>
          <p:nvPr/>
        </p:nvSpPr>
        <p:spPr>
          <a:xfrm>
            <a:off x="1481328" y="623620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481328" y="623620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4048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‫גנטיקה‬</a:t>
            </a:r>
            <a:endParaRPr lang="he-IL" sz="7200" dirty="0"/>
          </a:p>
        </p:txBody>
      </p:sp>
      <p:sp>
        <p:nvSpPr>
          <p:cNvPr id="46" name="Text 44"/>
          <p:cNvSpPr txBox="1"/>
          <p:nvPr/>
        </p:nvSpPr>
        <p:spPr>
          <a:xfrm>
            <a:off x="3840480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‫המסע אל הצופן הסודי של החיים‬</a:t>
            </a:r>
            <a:endParaRPr lang="he-IL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3840480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‫יחידת לימוד לתלמידים  •  מדעים‬</a:t>
            </a:r>
            <a:endParaRPr lang="he-IL" sz="1600" dirty="0"/>
          </a:p>
        </p:txBody>
      </p:sp>
      <p:sp>
        <p:nvSpPr>
          <p:cNvPr id="48" name="Shape 46"/>
          <p:cNvSpPr/>
          <p:nvPr/>
        </p:nvSpPr>
        <p:spPr>
          <a:xfrm>
            <a:off x="10469880" y="5943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9" name="Image 0" descr="icons/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7390" y="791870"/>
            <a:ext cx="427939" cy="427939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‫רגע לפני שמתחילים...‬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‫הכנו לכם טריילר קצר שמציג את מה שמחכה לכם ביחידה‬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2651760" y="1828800"/>
            <a:ext cx="6858000" cy="3657600"/>
          </a:xfrm>
          <a:prstGeom prst="roundRect">
            <a:avLst>
              <a:gd name="adj" fmla="val 3750"/>
            </a:avLst>
          </a:prstGeom>
          <a:solidFill>
            <a:srgbClr val="22264B"/>
          </a:solidFill>
          <a:ln/>
          <a:effectLst>
            <a:outerShdw sx="100000" sy="100000" kx="0" ky="0" algn="bl" rotWithShape="0" blurRad="1016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08676" y="2377440"/>
            <a:ext cx="1371600" cy="13716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706624"/>
            <a:ext cx="713232" cy="713232"/>
          </a:xfrm>
          <a:prstGeom prst="rect">
            <a:avLst/>
          </a:prstGeom>
        </p:spPr>
      </p:pic>
      <p:sp>
        <p:nvSpPr>
          <p:cNvPr id="7" name="Text 4">
            <a:hlinkClick r:id="rId2" tooltip="צפייה בטריילר"/>
          </p:cNvPr>
          <p:cNvSpPr txBox="1"/>
          <p:nvPr/>
        </p:nvSpPr>
        <p:spPr>
          <a:xfrm>
            <a:off x="4023360" y="41148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2BB67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u="sng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צפייה בטרייל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‫לחצו כאן לצפייה בטריילר‬</a:t>
            </a:r>
            <a:endParaRPr lang="he-IL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5806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‫צפו יחד בתחילת השיעור. אחרי הצפייה נדבר: מה סיקרן אתכם הכי הרבה?‬</a:t>
            </a:r>
            <a:endParaRPr lang="he-IL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מחכה לנו ביחידה?‬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0652760" y="173736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4" name="Image 0" descr="icons/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379" y="189097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7830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‫נגלה מה זה DNA, איך הוא בנוי ואיפה הוא מסתתר בגוף.‬</a:t>
            </a:r>
            <a:endParaRPr lang="he-IL" sz="1800" dirty="0"/>
          </a:p>
        </p:txBody>
      </p:sp>
      <p:sp>
        <p:nvSpPr>
          <p:cNvPr id="6" name="Shape 3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4C9AFF"/>
          </a:solidFill>
          <a:ln/>
        </p:spPr>
      </p:sp>
      <p:pic>
        <p:nvPicPr>
          <p:cNvPr id="7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379" y="2823667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7157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‫נבין למה אנחנו דומים להורים שלנו: תורשה, גנים ותכונות.‬</a:t>
            </a:r>
            <a:endParaRPr lang="he-IL" sz="1800" dirty="0"/>
          </a:p>
        </p:txBody>
      </p:sp>
      <p:sp>
        <p:nvSpPr>
          <p:cNvPr id="9" name="Shape 5"/>
          <p:cNvSpPr/>
          <p:nvPr/>
        </p:nvSpPr>
        <p:spPr>
          <a:xfrm>
            <a:off x="10652760" y="3602736"/>
            <a:ext cx="640080" cy="64008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10" name="Image 2" descr="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379" y="3756355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364845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‫נכיר מוטציות והנדסה גנטית, ונראה מה הן עושות בעולם האמיתי.‬</a:t>
            </a:r>
            <a:endParaRPr lang="he-IL" sz="1800" dirty="0"/>
          </a:p>
        </p:txBody>
      </p:sp>
      <p:sp>
        <p:nvSpPr>
          <p:cNvPr id="12" name="Shape 7"/>
          <p:cNvSpPr/>
          <p:nvPr/>
        </p:nvSpPr>
        <p:spPr>
          <a:xfrm>
            <a:off x="10652760" y="4535424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79" y="4689043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45811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‫ובסוף: אתם בוחרים איך להציג את מה שלמדתם, מתוך לוח בחירה.‬</a:t>
            </a:r>
            <a:endParaRPr lang="he-IL" sz="1800" dirty="0"/>
          </a:p>
        </p:txBody>
      </p:sp>
      <p:sp>
        <p:nvSpPr>
          <p:cNvPr id="15" name="Shape 9"/>
          <p:cNvSpPr/>
          <p:nvPr/>
        </p:nvSpPr>
        <p:spPr>
          <a:xfrm>
            <a:off x="1755648" y="17556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6" name="Shape 10"/>
          <p:cNvSpPr/>
          <p:nvPr/>
        </p:nvSpPr>
        <p:spPr>
          <a:xfrm>
            <a:off x="1755648" y="175564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17" name="Shape 11"/>
          <p:cNvSpPr/>
          <p:nvPr/>
        </p:nvSpPr>
        <p:spPr>
          <a:xfrm>
            <a:off x="1515235" y="2069810"/>
            <a:ext cx="62713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2069213" y="2010374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9" name="Shape 13"/>
          <p:cNvSpPr/>
          <p:nvPr/>
        </p:nvSpPr>
        <p:spPr>
          <a:xfrm>
            <a:off x="1442083" y="2010374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Shape 14"/>
          <p:cNvSpPr/>
          <p:nvPr/>
        </p:nvSpPr>
        <p:spPr>
          <a:xfrm>
            <a:off x="1338489" y="2324535"/>
            <a:ext cx="98062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2245959" y="2265099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2" name="Shape 16"/>
          <p:cNvSpPr/>
          <p:nvPr/>
        </p:nvSpPr>
        <p:spPr>
          <a:xfrm>
            <a:off x="1265337" y="2265099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3" name="Shape 17"/>
          <p:cNvSpPr/>
          <p:nvPr/>
        </p:nvSpPr>
        <p:spPr>
          <a:xfrm>
            <a:off x="1375685" y="2579261"/>
            <a:ext cx="90623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2208763" y="2519825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Shape 19"/>
          <p:cNvSpPr/>
          <p:nvPr/>
        </p:nvSpPr>
        <p:spPr>
          <a:xfrm>
            <a:off x="1302533" y="2519825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6" name="Shape 20"/>
          <p:cNvSpPr/>
          <p:nvPr/>
        </p:nvSpPr>
        <p:spPr>
          <a:xfrm>
            <a:off x="1610591" y="2833987"/>
            <a:ext cx="436418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1973857" y="2774551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8" name="Shape 22"/>
          <p:cNvSpPr/>
          <p:nvPr/>
        </p:nvSpPr>
        <p:spPr>
          <a:xfrm>
            <a:off x="1537439" y="2774551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9" name="Shape 23"/>
          <p:cNvSpPr/>
          <p:nvPr/>
        </p:nvSpPr>
        <p:spPr>
          <a:xfrm>
            <a:off x="1716890" y="3088713"/>
            <a:ext cx="22382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1643738" y="3029277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1" name="Shape 25"/>
          <p:cNvSpPr/>
          <p:nvPr/>
        </p:nvSpPr>
        <p:spPr>
          <a:xfrm>
            <a:off x="1867558" y="3029277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Shape 26"/>
          <p:cNvSpPr/>
          <p:nvPr/>
        </p:nvSpPr>
        <p:spPr>
          <a:xfrm>
            <a:off x="1435601" y="3343438"/>
            <a:ext cx="786397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1362449" y="3284002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34" name="Shape 28"/>
          <p:cNvSpPr/>
          <p:nvPr/>
        </p:nvSpPr>
        <p:spPr>
          <a:xfrm>
            <a:off x="2148847" y="3284002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5" name="Shape 29"/>
          <p:cNvSpPr/>
          <p:nvPr/>
        </p:nvSpPr>
        <p:spPr>
          <a:xfrm>
            <a:off x="1325880" y="3598164"/>
            <a:ext cx="100584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1252728" y="35387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7" name="Shape 31"/>
          <p:cNvSpPr/>
          <p:nvPr/>
        </p:nvSpPr>
        <p:spPr>
          <a:xfrm>
            <a:off x="2258568" y="353872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8" name="Shape 32"/>
          <p:cNvSpPr/>
          <p:nvPr/>
        </p:nvSpPr>
        <p:spPr>
          <a:xfrm>
            <a:off x="1435601" y="3852890"/>
            <a:ext cx="786397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1362449" y="3793454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0" name="Shape 34"/>
          <p:cNvSpPr/>
          <p:nvPr/>
        </p:nvSpPr>
        <p:spPr>
          <a:xfrm>
            <a:off x="2148847" y="3793454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1" name="Shape 35"/>
          <p:cNvSpPr/>
          <p:nvPr/>
        </p:nvSpPr>
        <p:spPr>
          <a:xfrm>
            <a:off x="1716890" y="4107615"/>
            <a:ext cx="22382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1643738" y="4048179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43" name="Shape 37"/>
          <p:cNvSpPr/>
          <p:nvPr/>
        </p:nvSpPr>
        <p:spPr>
          <a:xfrm>
            <a:off x="1867558" y="4048179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4" name="Shape 38"/>
          <p:cNvSpPr/>
          <p:nvPr/>
        </p:nvSpPr>
        <p:spPr>
          <a:xfrm>
            <a:off x="1610591" y="4362341"/>
            <a:ext cx="436418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1973857" y="4302905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6" name="Shape 40"/>
          <p:cNvSpPr/>
          <p:nvPr/>
        </p:nvSpPr>
        <p:spPr>
          <a:xfrm>
            <a:off x="1537439" y="4302905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7" name="Shape 41"/>
          <p:cNvSpPr/>
          <p:nvPr/>
        </p:nvSpPr>
        <p:spPr>
          <a:xfrm>
            <a:off x="1375685" y="4617067"/>
            <a:ext cx="90623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2208763" y="4557631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9" name="Shape 43"/>
          <p:cNvSpPr/>
          <p:nvPr/>
        </p:nvSpPr>
        <p:spPr>
          <a:xfrm>
            <a:off x="1302533" y="4557631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50" name="Shape 44"/>
          <p:cNvSpPr/>
          <p:nvPr/>
        </p:nvSpPr>
        <p:spPr>
          <a:xfrm>
            <a:off x="1338489" y="4871793"/>
            <a:ext cx="98062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2245959" y="4812357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2" name="Shape 46"/>
          <p:cNvSpPr/>
          <p:nvPr/>
        </p:nvSpPr>
        <p:spPr>
          <a:xfrm>
            <a:off x="1265337" y="4812357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53" name="Shape 47"/>
          <p:cNvSpPr/>
          <p:nvPr/>
        </p:nvSpPr>
        <p:spPr>
          <a:xfrm>
            <a:off x="1515235" y="5126518"/>
            <a:ext cx="627131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4" name="Shape 48"/>
          <p:cNvSpPr/>
          <p:nvPr/>
        </p:nvSpPr>
        <p:spPr>
          <a:xfrm>
            <a:off x="2069213" y="5067082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55" name="Shape 49"/>
          <p:cNvSpPr/>
          <p:nvPr/>
        </p:nvSpPr>
        <p:spPr>
          <a:xfrm>
            <a:off x="1442083" y="5067082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6" name="Shape 50"/>
          <p:cNvSpPr/>
          <p:nvPr/>
        </p:nvSpPr>
        <p:spPr>
          <a:xfrm>
            <a:off x="1755648" y="532180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57" name="Shape 51"/>
          <p:cNvSpPr/>
          <p:nvPr/>
        </p:nvSpPr>
        <p:spPr>
          <a:xfrm>
            <a:off x="1755648" y="532180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8" name="Text 52">
            <a:hlinkClick r:id="rId5" tooltip="ללוח הבחירה" action="ppaction://hlinksldjump"/>
          </p:cNvPr>
          <p:cNvSpPr txBox="1"/>
          <p:nvPr/>
        </p:nvSpPr>
        <p:spPr>
          <a:xfrm>
            <a:off x="640080" y="580644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ללוח הבחירה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‫קפיצה ישירה ללוח הבחירה‬</a:t>
            </a:r>
            <a:endParaRPr lang="he-IL" sz="1400" dirty="0"/>
          </a:p>
        </p:txBody>
      </p:sp>
      <p:sp>
        <p:nvSpPr>
          <p:cNvPr id="59" name="Text 53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זה בכלל גנטיקה?‬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949440" y="16916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8500" y="2057400"/>
            <a:ext cx="502920" cy="50292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5" name="Image 0" descr="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9201" y="21781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0" y="180136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‫למה יש לך צבע עיניים‬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‫כמו של אמא?‬</a:t>
            </a:r>
            <a:endParaRPr lang="he-IL" sz="1500" dirty="0"/>
          </a:p>
        </p:txBody>
      </p:sp>
      <p:sp>
        <p:nvSpPr>
          <p:cNvPr id="7" name="Shape 4"/>
          <p:cNvSpPr/>
          <p:nvPr/>
        </p:nvSpPr>
        <p:spPr>
          <a:xfrm>
            <a:off x="6949440" y="315468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58500" y="3520440"/>
            <a:ext cx="502920" cy="50292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9" name="Image 1" descr="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201" y="36411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32644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‫למה אחים דומים,‬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‫אבל אף פעם לא זהים?‬</a:t>
            </a:r>
            <a:endParaRPr lang="he-IL" sz="1500" dirty="0"/>
          </a:p>
        </p:txBody>
      </p:sp>
      <p:sp>
        <p:nvSpPr>
          <p:cNvPr id="11" name="Shape 7"/>
          <p:cNvSpPr/>
          <p:nvPr/>
        </p:nvSpPr>
        <p:spPr>
          <a:xfrm>
            <a:off x="6949440" y="461772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858500" y="4983480"/>
            <a:ext cx="502920" cy="50292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13" name="Image 2" descr="icons/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201" y="510418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32320" y="472744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מזהים אדם‬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‫לפי שערה אחת?‬</a:t>
            </a:r>
            <a:endParaRPr lang="he-IL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1691640"/>
            <a:ext cx="5852160" cy="4160520"/>
          </a:xfrm>
          <a:prstGeom prst="roundRect">
            <a:avLst>
              <a:gd name="adj" fmla="val 2637"/>
            </a:avLst>
          </a:prstGeom>
          <a:solidFill>
            <a:srgbClr val="0E7C86"/>
          </a:solidFill>
          <a:ln/>
        </p:spPr>
      </p:sp>
      <p:sp>
        <p:nvSpPr>
          <p:cNvPr id="16" name="Shape 11"/>
          <p:cNvSpPr/>
          <p:nvPr/>
        </p:nvSpPr>
        <p:spPr>
          <a:xfrm>
            <a:off x="3131820" y="2080260"/>
            <a:ext cx="868680" cy="868680"/>
          </a:xfrm>
          <a:prstGeom prst="ellipse">
            <a:avLst/>
          </a:prstGeom>
          <a:solidFill>
            <a:srgbClr val="22264B"/>
          </a:solidFill>
          <a:ln/>
        </p:spPr>
      </p:sp>
      <p:pic>
        <p:nvPicPr>
          <p:cNvPr id="17" name="Image 3" descr="icons/dn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303" y="228874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3200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‫גנטיקה היא תחום במדע שחוקר איך תכונות עוברות בתורשה, מהורים לילדים.‬</a:t>
            </a:r>
            <a:endParaRPr lang="he-IL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005840" y="43434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‫התשובות לכל השאלות האלה מסתתרות במולקולה קטנה אחת: DNA. בואו נכיר אותה.‬</a:t>
            </a:r>
            <a:endParaRPr lang="he-IL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‫איפה מסתתר הצופן?‬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‫מתקרבים פנימה, שלב אחרי שלב‬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177272" y="2606040"/>
            <a:ext cx="1371600" cy="13716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56" y="29352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48672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‫הגוף‬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857232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‫טריליוני תאים‬</a:t>
            </a:r>
            <a:endParaRPr lang="he-IL" sz="1150" dirty="0"/>
          </a:p>
        </p:txBody>
      </p:sp>
      <p:pic>
        <p:nvPicPr>
          <p:cNvPr id="8" name="Image 1" descr="icons/arrowL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9772193" y="315468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69834" y="2606040"/>
            <a:ext cx="1371600" cy="13716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2" descr="icons/micr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935224"/>
            <a:ext cx="713232" cy="7132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41234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‫התא‬</a:t>
            </a:r>
            <a:endParaRPr lang="he-IL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949794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‫יחידת החיים‬</a:t>
            </a:r>
            <a:endParaRPr lang="he-IL" sz="1150" dirty="0"/>
          </a:p>
        </p:txBody>
      </p:sp>
      <p:pic>
        <p:nvPicPr>
          <p:cNvPr id="13" name="Image 3" descr="icons/arrowL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864754" y="315468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62395" y="2606040"/>
            <a:ext cx="1371600" cy="1371600"/>
          </a:xfrm>
          <a:prstGeom prst="ellipse">
            <a:avLst/>
          </a:prstGeom>
          <a:solidFill>
            <a:srgbClr val="4C9AFF"/>
          </a:solidFill>
          <a:ln/>
        </p:spPr>
      </p:sp>
      <p:pic>
        <p:nvPicPr>
          <p:cNvPr id="15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579" y="2935224"/>
            <a:ext cx="713232" cy="7132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133795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‫הגרעין‬</a:t>
            </a:r>
            <a:endParaRPr lang="he-IL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6042355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‫מרכז הבקרה‬</a:t>
            </a:r>
            <a:endParaRPr lang="he-IL" sz="1150" dirty="0"/>
          </a:p>
        </p:txBody>
      </p:sp>
      <p:pic>
        <p:nvPicPr>
          <p:cNvPr id="18" name="Image 5" descr="icons/arrowL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5957316" y="315468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454957" y="2606040"/>
            <a:ext cx="1371600" cy="13716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6" descr="icons/k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141" y="2935224"/>
            <a:ext cx="713232" cy="71323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226357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‫כרומוזום‬</a:t>
            </a:r>
            <a:endParaRPr lang="he-IL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4134917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‫46 בכל תא‬</a:t>
            </a:r>
            <a:endParaRPr lang="he-IL" sz="1150" dirty="0"/>
          </a:p>
        </p:txBody>
      </p:sp>
      <p:pic>
        <p:nvPicPr>
          <p:cNvPr id="23" name="Image 7" descr="icons/arrowL.png">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4049878" y="315468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2547518" y="2606040"/>
            <a:ext cx="1371600" cy="137160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25" name="Image 8" descr="icons/dn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6702" y="2935224"/>
            <a:ext cx="713232" cy="71323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2318918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‫DNA‬</a:t>
            </a:r>
            <a:endParaRPr lang="he-IL" sz="1600" dirty="0"/>
          </a:p>
        </p:txBody>
      </p:sp>
      <p:sp>
        <p:nvSpPr>
          <p:cNvPr id="27" name="Text 16"/>
          <p:cNvSpPr txBox="1"/>
          <p:nvPr/>
        </p:nvSpPr>
        <p:spPr>
          <a:xfrm>
            <a:off x="2227478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‫הסולם המפותל‬</a:t>
            </a:r>
            <a:endParaRPr lang="he-IL" sz="1150" dirty="0"/>
          </a:p>
        </p:txBody>
      </p:sp>
      <p:pic>
        <p:nvPicPr>
          <p:cNvPr id="28" name="Image 9" descr="icons/arrowL.png">    </p:cNvPr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2142439" y="3154680"/>
            <a:ext cx="274320" cy="27432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640080" y="2606040"/>
            <a:ext cx="1371600" cy="13716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0" name="Image 10" descr="icons/bul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64" y="2935224"/>
            <a:ext cx="713232" cy="71323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4114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‫גן‬</a:t>
            </a:r>
            <a:endParaRPr lang="he-IL" sz="1600" dirty="0"/>
          </a:p>
        </p:txBody>
      </p:sp>
      <p:sp>
        <p:nvSpPr>
          <p:cNvPr id="32" name="Text 19"/>
          <p:cNvSpPr txBox="1"/>
          <p:nvPr/>
        </p:nvSpPr>
        <p:spPr>
          <a:xfrm>
            <a:off x="320040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‫הוראה לתכונה אחת‬</a:t>
            </a:r>
            <a:endParaRPr lang="he-IL" sz="1150" dirty="0"/>
          </a:p>
        </p:txBody>
      </p:sp>
      <p:sp>
        <p:nvSpPr>
          <p:cNvPr id="33" name="Text 20"/>
          <p:cNvSpPr txBox="1"/>
          <p:nvPr/>
        </p:nvSpPr>
        <p:spPr>
          <a:xfrm>
            <a:off x="1737360" y="5897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‫בתוך כל תא בגוף שלכם נמצא עותק מלא של כל ההוראות. מדהים, לא?‬</a:t>
            </a:r>
            <a:endParaRPr lang="he-IL" sz="1500" dirty="0"/>
          </a:p>
        </p:txBody>
      </p:sp>
      <p:sp>
        <p:nvSpPr>
          <p:cNvPr id="34" name="Text 21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‫שפת ה-DNA: ארבע אותיות בלבד‬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‫ה-DNA נראה כמו סולם מפותל. כל שלב בסולם בנוי מזוג "אותיות" כימיות.‬</a:t>
            </a:r>
            <a:endParaRPr lang="he-IL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26517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‫יש רק ארבע אותיות: A, T, G, C. הסדר שלהן הוא הצופן, וכולו יחד הוא ספר הוראות שלם לבניית הגוף ולהפעלתו.‬</a:t>
            </a:r>
            <a:endParaRPr lang="he-IL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3749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‫חוק הזיווג: A מתחברת תמיד אל T, ‏ו-G מתחברת תמיד אל C.‬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120640" y="4663440"/>
            <a:ext cx="6400800" cy="1234440"/>
          </a:xfrm>
          <a:prstGeom prst="roundRect">
            <a:avLst>
              <a:gd name="adj" fmla="val 7407"/>
            </a:avLst>
          </a:prstGeom>
          <a:solidFill>
            <a:srgbClr val="22264B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0" y="5006340"/>
            <a:ext cx="548640" cy="54864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8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4434" y="51380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49240" y="4846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‫ידעתם? אם מותחים את ה-DNA שבתא אחד בלבד, מקבלים חוט באורך של כ-2 מטרים!‬</a:t>
            </a:r>
            <a:endParaRPr lang="he-IL" sz="1450" dirty="0"/>
          </a:p>
        </p:txBody>
      </p:sp>
      <p:sp>
        <p:nvSpPr>
          <p:cNvPr id="10" name="Shape 7"/>
          <p:cNvSpPr/>
          <p:nvPr/>
        </p:nvSpPr>
        <p:spPr>
          <a:xfrm>
            <a:off x="923544" y="1600200"/>
            <a:ext cx="164592" cy="4352544"/>
          </a:xfrm>
          <a:prstGeom prst="roundRect">
            <a:avLst>
              <a:gd name="adj" fmla="val 27778"/>
            </a:avLst>
          </a:prstGeom>
          <a:solidFill>
            <a:srgbClr val="C9D4E2"/>
          </a:solidFill>
          <a:ln/>
        </p:spPr>
      </p:sp>
      <p:sp>
        <p:nvSpPr>
          <p:cNvPr id="11" name="Shape 8"/>
          <p:cNvSpPr/>
          <p:nvPr/>
        </p:nvSpPr>
        <p:spPr>
          <a:xfrm>
            <a:off x="4233672" y="1600200"/>
            <a:ext cx="164592" cy="4352544"/>
          </a:xfrm>
          <a:prstGeom prst="roundRect">
            <a:avLst>
              <a:gd name="adj" fmla="val 27778"/>
            </a:avLst>
          </a:prstGeom>
          <a:solidFill>
            <a:srgbClr val="C9D4E2"/>
          </a:solidFill>
          <a:ln/>
        </p:spPr>
      </p:sp>
      <p:sp>
        <p:nvSpPr>
          <p:cNvPr id="12" name="Shape 9"/>
          <p:cNvSpPr/>
          <p:nvPr/>
        </p:nvSpPr>
        <p:spPr>
          <a:xfrm>
            <a:off x="1335024" y="2212848"/>
            <a:ext cx="2651760" cy="73152"/>
          </a:xfrm>
          <a:prstGeom prst="rect">
            <a:avLst/>
          </a:prstGeom>
          <a:solidFill>
            <a:srgbClr val="C9D4E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920240"/>
            <a:ext cx="658368" cy="658368"/>
          </a:xfrm>
          <a:prstGeom prst="ellipse">
            <a:avLst/>
          </a:prstGeom>
          <a:solidFill>
            <a:srgbClr val="F9A0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1920240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335024" y="3236976"/>
            <a:ext cx="2651760" cy="73152"/>
          </a:xfrm>
          <a:prstGeom prst="rect">
            <a:avLst/>
          </a:prstGeom>
          <a:solidFill>
            <a:srgbClr val="C9D4E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2944368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2944368"/>
            <a:ext cx="658368" cy="658368"/>
          </a:xfrm>
          <a:prstGeom prst="ellipse">
            <a:avLst/>
          </a:prstGeom>
          <a:solidFill>
            <a:srgbClr val="4C9A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335024" y="4261104"/>
            <a:ext cx="2651760" cy="73152"/>
          </a:xfrm>
          <a:prstGeom prst="rect">
            <a:avLst/>
          </a:prstGeom>
          <a:solidFill>
            <a:srgbClr val="C9D4E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3968496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968496"/>
            <a:ext cx="658368" cy="658368"/>
          </a:xfrm>
          <a:prstGeom prst="ellipse">
            <a:avLst/>
          </a:prstGeom>
          <a:solidFill>
            <a:srgbClr val="F9A0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335024" y="5285232"/>
            <a:ext cx="2651760" cy="73152"/>
          </a:xfrm>
          <a:prstGeom prst="rect">
            <a:avLst/>
          </a:prstGeom>
          <a:solidFill>
            <a:srgbClr val="C9D4E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5840" y="4992624"/>
            <a:ext cx="658368" cy="658368"/>
          </a:xfrm>
          <a:prstGeom prst="ellipse">
            <a:avLst/>
          </a:prstGeom>
          <a:solidFill>
            <a:srgbClr val="4C9A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0" y="4992624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‫DNA מול RNA: מה ההבדל?‬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263640" y="1737360"/>
            <a:ext cx="5285232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737360"/>
            <a:ext cx="5285232" cy="777240"/>
          </a:xfrm>
          <a:prstGeom prst="roundRect">
            <a:avLst>
              <a:gd name="adj" fmla="val 14118"/>
            </a:avLst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10794492" y="1869948"/>
            <a:ext cx="502920" cy="502920"/>
          </a:xfrm>
          <a:prstGeom prst="ellipse">
            <a:avLst/>
          </a:prstGeom>
          <a:solidFill>
            <a:srgbClr val="22264B"/>
          </a:solidFill>
          <a:ln/>
        </p:spPr>
      </p:sp>
      <p:pic>
        <p:nvPicPr>
          <p:cNvPr id="6" name="Image 0" descr="icons/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193" y="19906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37960" y="1737360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7432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‫שני גדילים, בצורת סולם מפותל‬</a:t>
            </a:r>
            <a:endParaRPr lang="he-IL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438144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‫נשאר בתוך הגרעין‬</a:t>
            </a:r>
            <a:endParaRPr lang="he-IL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133088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‫שומר את כל המידע לאורך זמן‬</a:t>
            </a:r>
            <a:endParaRPr lang="he-IL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8280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‫האותיות שלו: A T G C‬</a:t>
            </a:r>
            <a:endParaRPr lang="he-IL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1737360"/>
            <a:ext cx="5285232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737360"/>
            <a:ext cx="5285232" cy="777240"/>
          </a:xfrm>
          <a:prstGeom prst="roundRect">
            <a:avLst>
              <a:gd name="adj" fmla="val 14118"/>
            </a:avLst>
          </a:prstGeom>
          <a:solidFill>
            <a:srgbClr val="F9A03F"/>
          </a:solidFill>
          <a:ln/>
        </p:spPr>
      </p:sp>
      <p:sp>
        <p:nvSpPr>
          <p:cNvPr id="14" name="Shape 11"/>
          <p:cNvSpPr/>
          <p:nvPr/>
        </p:nvSpPr>
        <p:spPr>
          <a:xfrm>
            <a:off x="5170932" y="1869948"/>
            <a:ext cx="502920" cy="502920"/>
          </a:xfrm>
          <a:prstGeom prst="ellipse">
            <a:avLst/>
          </a:prstGeom>
          <a:solidFill>
            <a:srgbClr val="22264B"/>
          </a:solidFill>
          <a:ln/>
        </p:spPr>
      </p:sp>
      <p:pic>
        <p:nvPicPr>
          <p:cNvPr id="15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33" y="1990649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" y="1737360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27432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‫גדיל אחד בלבד‬</a:t>
            </a:r>
            <a:endParaRPr lang="he-IL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438144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‫יוצא מהגרעין אל התא‬</a:t>
            </a:r>
            <a:endParaRPr lang="he-IL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4133088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‫שליח: מעתיק הוראה ומעביר הלאה‬</a:t>
            </a:r>
            <a:endParaRPr lang="he-IL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60120" y="48280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‫במקום T יש לו U‬</a:t>
            </a:r>
            <a:endParaRPr lang="he-IL" sz="1500" dirty="0"/>
          </a:p>
        </p:txBody>
      </p:sp>
      <p:sp>
        <p:nvSpPr>
          <p:cNvPr id="21" name="Shape 17"/>
          <p:cNvSpPr/>
          <p:nvPr/>
        </p:nvSpPr>
        <p:spPr>
          <a:xfrm>
            <a:off x="640080" y="571500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22264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‫דרך קלה לזכור: ה-DNA הוא הספרייה, וה-RNA הוא העותק המצולם של דף אחד שיוצא ממנה.‬</a:t>
            </a:r>
            <a:endParaRPr lang="he-IL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‫תכונה חזקה, תכונה שקטה‬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תכונה מגיעה בשני עותקים: אחד מאבא ואחד מאמא‬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6263640" y="1828800"/>
            <a:ext cx="528523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148840"/>
            <a:ext cx="4645152" cy="640080"/>
          </a:xfrm>
          <a:prstGeom prst="roundRect">
            <a:avLst>
              <a:gd name="adj" fmla="val 14286"/>
            </a:avLst>
          </a:prstGeom>
          <a:solidFill>
            <a:srgbClr val="2BB6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2148840"/>
            <a:ext cx="4645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‫תכונה דומיננטית ("חזקה")‬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297180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‫מספיק עותק אחד שלה כדי שהיא תופיע אצלכם.‬</a:t>
            </a:r>
            <a:endParaRPr lang="he-IL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39319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‫דוגמה: עיניים חומות.‬</a:t>
            </a:r>
            <a:endParaRPr lang="he-IL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28523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48840"/>
            <a:ext cx="4645152" cy="640080"/>
          </a:xfrm>
          <a:prstGeom prst="roundRect">
            <a:avLst>
              <a:gd name="adj" fmla="val 14286"/>
            </a:avLst>
          </a:prstGeom>
          <a:solidFill>
            <a:srgbClr val="6C5C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148840"/>
            <a:ext cx="4645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‫תכונה רצסיבית ("שקטה")‬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‫מופיעה רק כששני העותקים שקיבלתם הם שלה.‬</a:t>
            </a:r>
            <a:endParaRPr lang="he-IL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319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‫דוגמה: עיניים כחולות.‬</a:t>
            </a:r>
            <a:endParaRPr lang="he-IL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2760" y="5189220"/>
            <a:ext cx="548640" cy="548640"/>
          </a:xfrm>
          <a:prstGeom prst="ellipse">
            <a:avLst/>
          </a:prstGeom>
          <a:solidFill>
            <a:srgbClr val="22264B"/>
          </a:solidFill>
          <a:ln/>
        </p:spPr>
      </p:sp>
      <p:pic>
        <p:nvPicPr>
          <p:cNvPr id="16" name="Image 0" descr="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4434" y="5320894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" y="50292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‫ולכן: שני הורים עם עיניים חומות יכולים לקבל ילד עם עיניים כחולות. לכל אחד מהם היה עותק "שקט", ושניהם העבירו אותו הלאה.‬</a:t>
            </a:r>
            <a:endParaRPr lang="he-IL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‫מוטציות: שינוי בצופן‬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‫שינוי קטן ברצף האותיות של ה-DNA, כמו שגיאת הקלדה בספר ההוראות‬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8028432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2" y="2217420"/>
            <a:ext cx="777240" cy="77724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6" name="Image 0" descr="icons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6570" y="24039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57032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‫לרוב: לא קורה כלום‬</a:t>
            </a:r>
            <a:endParaRPr lang="he-IL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02752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‫רוב המוטציות קטנות ולא מרגישים אותן בכלל.‬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4334256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05856" y="221742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1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394" y="24039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2856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‫לפעמים: מזיקה‬</a:t>
            </a:r>
            <a:endParaRPr lang="he-IL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‫ההוראה משתבשת, וזה עלול לגרום למחלה.‬</a:t>
            </a:r>
            <a:endParaRPr lang="he-IL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011680" y="2217420"/>
            <a:ext cx="777240" cy="777240"/>
          </a:xfrm>
          <a:prstGeom prst="ellipse">
            <a:avLst/>
          </a:prstGeom>
          <a:solidFill>
            <a:srgbClr val="4C9AFF"/>
          </a:solidFill>
          <a:ln/>
        </p:spPr>
      </p:sp>
      <p:pic>
        <p:nvPicPr>
          <p:cNvPr id="16" name="Image 2" descr="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18" y="24039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‫ולפעמים: דווקא מועילה‬</a:t>
            </a:r>
            <a:endParaRPr lang="he-IL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‫תכונה חדשה שעוזרת להסתדר טוב יותר בסביבה.‬</a:t>
            </a:r>
            <a:endParaRPr lang="he-IL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2264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‫עובדה מגניבה: צבע העיניים הכחול התחיל כנראה ממוטציה אחת אצל אדם אחד, לפני אלפי שנים. כל כחולי העיניים בעולם ירשו אותה ממנו.‬</a:t>
            </a:r>
            <a:endParaRPr lang="he-IL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‫גנטיקה בעולם האמיתי‬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1906524"/>
            <a:ext cx="621792" cy="621792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" name="Image 0" descr="icons/user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1134" y="2055754"/>
            <a:ext cx="323332" cy="323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52360" y="1828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‫רפואה‬</a:t>
            </a:r>
            <a:endParaRPr lang="he-IL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82880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‫בדיקות גנטיות ותרופות שמותאמות בדיוק לחולה.‬</a:t>
            </a:r>
            <a:endParaRPr lang="he-IL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61904" y="3003804"/>
            <a:ext cx="621792" cy="621792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10" name="Image 1" descr="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134" y="3153034"/>
            <a:ext cx="323332" cy="3233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926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‫חקלאות‬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292608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‫גידולים שעמידים למחלות, לחום וליובש.‬</a:t>
            </a:r>
            <a:endParaRPr lang="he-IL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661904" y="4101084"/>
            <a:ext cx="621792" cy="621792"/>
          </a:xfrm>
          <a:prstGeom prst="ellipse">
            <a:avLst/>
          </a:prstGeom>
          <a:solidFill>
            <a:srgbClr val="4C9AFF"/>
          </a:solidFill>
          <a:ln/>
        </p:spPr>
      </p:sp>
      <p:pic>
        <p:nvPicPr>
          <p:cNvPr id="15" name="Image 2" descr="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34" y="4250314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52360" y="4023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‫זיהוי פלילי‬</a:t>
            </a:r>
            <a:endParaRPr lang="he-IL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402336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‫שערה אחת מהזירה מספיקה כדי לזהות אדם.‬</a:t>
            </a:r>
            <a:endParaRPr lang="he-IL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661904" y="5198364"/>
            <a:ext cx="621792" cy="621792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1134" y="5347594"/>
            <a:ext cx="323332" cy="3233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5120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‫הנדסה גנטית‬</a:t>
            </a:r>
            <a:endParaRPr lang="he-IL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12064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‫מדענים "עורכים" גנים, למשל כדי לייצר אינסולין לחולי סוכרת.‬</a:t>
            </a:r>
            <a:endParaRPr lang="he-IL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61722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‫זה בדיוק החומר שמחכה לכם בתוצרים: תוכלו לבחור נושא מהעולם האמיתי ולחקור אותו לעומק.‬</a:t>
            </a:r>
            <a:endParaRPr lang="he-IL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‫לוח הבחירה: אתם מחליטים!‬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‫בחרו תוצר אחד שמציג את מה שלמדתם, ועבדו לפי המחוון שתקבלו‬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8028432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8612" y="1874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2231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11312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‫מצגת דיגיטלית‬</a:t>
            </a:r>
            <a:endParaRPr lang="he-IL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57032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‫הידע שלכם בשקופיות ברורות ומעוצבות‬</a:t>
            </a:r>
            <a:endParaRPr lang="he-IL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74436" y="187452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1" name="Image 1" descr="icons/fi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5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‫סרטון‬</a:t>
            </a:r>
            <a:endParaRPr lang="he-IL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‫הסבר חזותי וקולי בקצב שלכם‬</a:t>
            </a:r>
            <a:endParaRPr lang="he-IL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080260" y="187452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2" descr="icons/gamep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879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‫משחק לימודי‬</a:t>
            </a:r>
            <a:endParaRPr lang="he-IL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‫הופכים את החומר לחוויה אינטראקטיבית‬</a:t>
            </a:r>
            <a:endParaRPr lang="he-IL" sz="1150" dirty="0"/>
          </a:p>
        </p:txBody>
      </p:sp>
      <p:sp>
        <p:nvSpPr>
          <p:cNvPr id="19" name="Shape 14"/>
          <p:cNvSpPr/>
          <p:nvPr/>
        </p:nvSpPr>
        <p:spPr>
          <a:xfrm>
            <a:off x="8028432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68612" y="397764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21" name="Image 3" descr="icons/c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231" y="41312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11312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‫דגם תלת-ממדי‬</a:t>
            </a:r>
            <a:endParaRPr lang="he-IL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257032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‫בונים DNA, תא או כרומוזום‬</a:t>
            </a:r>
            <a:endParaRPr lang="he-IL" sz="1150" dirty="0"/>
          </a:p>
        </p:txBody>
      </p:sp>
      <p:sp>
        <p:nvSpPr>
          <p:cNvPr id="24" name="Shape 18"/>
          <p:cNvSpPr/>
          <p:nvPr/>
        </p:nvSpPr>
        <p:spPr>
          <a:xfrm>
            <a:off x="4334256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74436" y="3977640"/>
            <a:ext cx="640080" cy="640080"/>
          </a:xfrm>
          <a:prstGeom prst="ellipse">
            <a:avLst/>
          </a:prstGeom>
          <a:solidFill>
            <a:srgbClr val="F9A03F"/>
          </a:solidFill>
          <a:ln/>
        </p:spPr>
      </p:sp>
      <p:pic>
        <p:nvPicPr>
          <p:cNvPr id="26" name="Image 4" descr="icons/time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055" y="41312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17136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‫ציר זמן‬</a:t>
            </a:r>
            <a:endParaRPr lang="he-IL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562856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‫תגליות הגנטיקה לאורך השנים‬</a:t>
            </a:r>
            <a:endParaRPr lang="he-IL" sz="1150" dirty="0"/>
          </a:p>
        </p:txBody>
      </p:sp>
      <p:sp>
        <p:nvSpPr>
          <p:cNvPr id="29" name="Shape 22"/>
          <p:cNvSpPr/>
          <p:nvPr/>
        </p:nvSpPr>
        <p:spPr>
          <a:xfrm>
            <a:off x="64008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080260" y="3977640"/>
            <a:ext cx="640080" cy="640080"/>
          </a:xfrm>
          <a:prstGeom prst="ellipse">
            <a:avLst/>
          </a:prstGeom>
          <a:solidFill>
            <a:srgbClr val="4C9AFF"/>
          </a:solidFill>
          <a:ln/>
        </p:spPr>
      </p:sp>
      <p:pic>
        <p:nvPicPr>
          <p:cNvPr id="31" name="Image 5" descr="icons/t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3879" y="413125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5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‫טבלת השוואה‬</a:t>
            </a:r>
            <a:endParaRPr lang="he-IL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68680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‫למשל: DNA מול RNA, דומיננטי מול רצסיבי‬</a:t>
            </a:r>
            <a:endParaRPr lang="he-IL" sz="1150" dirty="0"/>
          </a:p>
        </p:txBody>
      </p:sp>
      <p:sp>
        <p:nvSpPr>
          <p:cNvPr id="34" name="Shape 26"/>
          <p:cNvSpPr/>
          <p:nvPr/>
        </p:nvSpPr>
        <p:spPr>
          <a:xfrm>
            <a:off x="640080" y="594360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22264B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‫אפשר לעבוד לבד, בזוג או בקבוצה קטנה. לכל תוצר מצרפים קישור למקורות שבהם השתמשתם.‬</a:t>
            </a:r>
            <a:endParaRPr lang="he-IL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עובדים על התוצר?‬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34472" y="1929384"/>
            <a:ext cx="621792" cy="621792"/>
          </a:xfrm>
          <a:prstGeom prst="ellipse">
            <a:avLst/>
          </a:prstGeom>
          <a:solidFill>
            <a:srgbClr val="2BB6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85623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‫בוחרים‬</a:t>
            </a:r>
            <a:endParaRPr lang="he-IL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56232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‫תוצר מלוח הבחירה שמתאים לחוזקות שלכם.‬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34472" y="2980944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90779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‫מתכננים‬</a:t>
            </a:r>
            <a:endParaRPr lang="he-IL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907792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‫מגדירים מטרה, מחלקים את העבודה לשלבים וקובעים לוח זמנים.‬</a:t>
            </a:r>
            <a:endParaRPr lang="he-IL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34472" y="4032504"/>
            <a:ext cx="621792" cy="621792"/>
          </a:xfrm>
          <a:prstGeom prst="ellipse">
            <a:avLst/>
          </a:prstGeom>
          <a:solidFill>
            <a:srgbClr val="F9A0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9593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‫עובדים ובודקים‬</a:t>
            </a:r>
            <a:endParaRPr lang="he-IL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59352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‫משווים את עצמכם למחוון תוך כדי העבודה, ומשנים כיוון אם צריך.‬</a:t>
            </a:r>
            <a:endParaRPr lang="he-IL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34472" y="5084064"/>
            <a:ext cx="621792" cy="621792"/>
          </a:xfrm>
          <a:prstGeom prst="ellipse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501091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‫מציגים ומשתפים‬</a:t>
            </a:r>
            <a:endParaRPr lang="he-IL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10912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‫מציגים לכיתה, נותנים משוב לחברים ומקבלים משוב בחזרה.‬</a:t>
            </a:r>
            <a:endParaRPr lang="he-IL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6080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‫ובסוף הדרך, שאלה אחת לעצמכם: מה עבד לי טוב, ומה אעשה אחרת בפעם הבאה?‬</a:t>
            </a:r>
            <a:endParaRPr lang="he-IL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‫חכמים ברשת: מקורות ו-AI‬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263640" y="173736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4472" y="19659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1" y="21195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0" y="196596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‫לפני שמשתמשים במידע‬</a:t>
            </a:r>
            <a:endParaRPr lang="he-IL" sz="1800" dirty="0"/>
          </a:p>
        </p:txBody>
      </p:sp>
      <p:sp>
        <p:nvSpPr>
          <p:cNvPr id="7" name="Shape 4"/>
          <p:cNvSpPr/>
          <p:nvPr/>
        </p:nvSpPr>
        <p:spPr>
          <a:xfrm>
            <a:off x="10890504" y="2907792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19" y="298240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0" y="2807208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‫בודקים מי כתב אותו ומטעם איזה גוף.‬</a:t>
            </a:r>
            <a:endParaRPr lang="he-IL" sz="1350" dirty="0"/>
          </a:p>
        </p:txBody>
      </p:sp>
      <p:sp>
        <p:nvSpPr>
          <p:cNvPr id="10" name="Shape 6"/>
          <p:cNvSpPr/>
          <p:nvPr/>
        </p:nvSpPr>
        <p:spPr>
          <a:xfrm>
            <a:off x="10890504" y="367588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119" y="3750503"/>
            <a:ext cx="161666" cy="16166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83680" y="357530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‫בודקים מתי הוא עודכן לאחרונה.‬</a:t>
            </a:r>
            <a:endParaRPr lang="he-IL" sz="1350" dirty="0"/>
          </a:p>
        </p:txBody>
      </p:sp>
      <p:sp>
        <p:nvSpPr>
          <p:cNvPr id="13" name="Shape 8"/>
          <p:cNvSpPr/>
          <p:nvPr/>
        </p:nvSpPr>
        <p:spPr>
          <a:xfrm>
            <a:off x="10890504" y="444398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119" y="4518599"/>
            <a:ext cx="161666" cy="1616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0" y="43434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‫משווים: האם מקור נוסף אומר אותו דבר?‬</a:t>
            </a:r>
            <a:endParaRPr lang="he-IL" sz="1350" dirty="0"/>
          </a:p>
        </p:txBody>
      </p:sp>
      <p:sp>
        <p:nvSpPr>
          <p:cNvPr id="16" name="Shape 10"/>
          <p:cNvSpPr/>
          <p:nvPr/>
        </p:nvSpPr>
        <p:spPr>
          <a:xfrm>
            <a:off x="10890504" y="521208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5119" y="5286695"/>
            <a:ext cx="161666" cy="16166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0" y="5111496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‫שומרים את הקישור ומצרפים אותו לתוצר.‬</a:t>
            </a:r>
            <a:endParaRPr lang="he-IL" sz="1350" dirty="0"/>
          </a:p>
        </p:txBody>
      </p:sp>
      <p:sp>
        <p:nvSpPr>
          <p:cNvPr id="19" name="Shape 12"/>
          <p:cNvSpPr/>
          <p:nvPr/>
        </p:nvSpPr>
        <p:spPr>
          <a:xfrm>
            <a:off x="640080" y="173736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010912" y="19659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531" y="2119579"/>
            <a:ext cx="332842" cy="33284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0120" y="196596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‫עובדים עם AI כמו מקצוענים‬</a:t>
            </a:r>
            <a:endParaRPr lang="he-IL" sz="1800" dirty="0"/>
          </a:p>
        </p:txBody>
      </p:sp>
      <p:sp>
        <p:nvSpPr>
          <p:cNvPr id="23" name="Shape 15"/>
          <p:cNvSpPr/>
          <p:nvPr/>
        </p:nvSpPr>
        <p:spPr>
          <a:xfrm>
            <a:off x="5266944" y="290779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4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1559" y="2982407"/>
            <a:ext cx="161666" cy="16166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60120" y="2807208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‫AI עוזר לרעיונות, לארגון המידע ולניסוח.‬</a:t>
            </a:r>
            <a:endParaRPr lang="he-IL" sz="1350" dirty="0"/>
          </a:p>
        </p:txBody>
      </p:sp>
      <p:sp>
        <p:nvSpPr>
          <p:cNvPr id="26" name="Shape 17"/>
          <p:cNvSpPr/>
          <p:nvPr/>
        </p:nvSpPr>
        <p:spPr>
          <a:xfrm>
            <a:off x="5266944" y="36758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7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559" y="3750503"/>
            <a:ext cx="161666" cy="16166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0120" y="357530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‫הוא לא מחליף את ההבנה שלכם.‬</a:t>
            </a:r>
            <a:endParaRPr lang="he-IL" sz="1350" dirty="0"/>
          </a:p>
        </p:txBody>
      </p:sp>
      <p:sp>
        <p:nvSpPr>
          <p:cNvPr id="29" name="Shape 19"/>
          <p:cNvSpPr/>
          <p:nvPr/>
        </p:nvSpPr>
        <p:spPr>
          <a:xfrm>
            <a:off x="5266944" y="444398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0" name="Image 8" descr="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559" y="4518599"/>
            <a:ext cx="161666" cy="16166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60120" y="43434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תשובה שלו בודקים מול מקור אמין.‬</a:t>
            </a:r>
            <a:endParaRPr lang="he-IL" sz="1350" dirty="0"/>
          </a:p>
        </p:txBody>
      </p:sp>
      <p:sp>
        <p:nvSpPr>
          <p:cNvPr id="32" name="Shape 21"/>
          <p:cNvSpPr/>
          <p:nvPr/>
        </p:nvSpPr>
        <p:spPr>
          <a:xfrm>
            <a:off x="5266944" y="5212080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3" name="Image 9" descr="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1559" y="5286695"/>
            <a:ext cx="161666" cy="16166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60120" y="5111496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‫מספרים בתוצר במה בדיוק נעזרתם.‬</a:t>
            </a:r>
            <a:endParaRPr lang="he-IL" sz="1350" dirty="0"/>
          </a:p>
        </p:txBody>
      </p:sp>
      <p:sp>
        <p:nvSpPr>
          <p:cNvPr id="35" name="Text 23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91088" y="47548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47548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" name="Shape 2"/>
          <p:cNvSpPr/>
          <p:nvPr/>
        </p:nvSpPr>
        <p:spPr>
          <a:xfrm>
            <a:off x="10528740" y="946404"/>
            <a:ext cx="107100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6588" y="88696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6" name="Shape 4"/>
          <p:cNvSpPr/>
          <p:nvPr/>
        </p:nvSpPr>
        <p:spPr>
          <a:xfrm>
            <a:off x="10455588" y="88696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Shape 5"/>
          <p:cNvSpPr/>
          <p:nvPr/>
        </p:nvSpPr>
        <p:spPr>
          <a:xfrm>
            <a:off x="10599551" y="1357884"/>
            <a:ext cx="929379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55777" y="129844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9" name="Shape 7"/>
          <p:cNvSpPr/>
          <p:nvPr/>
        </p:nvSpPr>
        <p:spPr>
          <a:xfrm>
            <a:off x="10526399" y="12984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0" name="Shape 8"/>
          <p:cNvSpPr/>
          <p:nvPr/>
        </p:nvSpPr>
        <p:spPr>
          <a:xfrm>
            <a:off x="10931982" y="1769364"/>
            <a:ext cx="264515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58830" y="17099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23346" y="170992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84782" y="2180844"/>
            <a:ext cx="115891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11630" y="212140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70546" y="212140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3663" y="2592324"/>
            <a:ext cx="741155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20511" y="253288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61665" y="253288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06357" y="3003804"/>
            <a:ext cx="51576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48971" y="294436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33205" y="294436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9880" y="3415284"/>
            <a:ext cx="118872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85448" y="335584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96728" y="335584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06357" y="3826764"/>
            <a:ext cx="51576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248971" y="376732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33205" y="376732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93663" y="4238244"/>
            <a:ext cx="741155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20511" y="417880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61665" y="417880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84782" y="4649724"/>
            <a:ext cx="1158916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411630" y="459028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70546" y="459028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31982" y="5061204"/>
            <a:ext cx="264515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58830" y="500176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23346" y="500176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99551" y="5472684"/>
            <a:ext cx="929379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455777" y="54132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26399" y="541324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28740" y="5884164"/>
            <a:ext cx="1071000" cy="27432"/>
          </a:xfrm>
          <a:prstGeom prst="rect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526588" y="5824728"/>
            <a:ext cx="146304" cy="14630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55588" y="58247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91088" y="6236208"/>
            <a:ext cx="146304" cy="146304"/>
          </a:xfrm>
          <a:prstGeom prst="ellipse">
            <a:avLst/>
          </a:prstGeom>
          <a:solidFill>
            <a:srgbClr val="4C9A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91088" y="623620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2960" y="640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‫יוצאים לדרך!‬</a:t>
            </a:r>
            <a:endParaRPr lang="he-IL" sz="4000" dirty="0"/>
          </a:p>
        </p:txBody>
      </p:sp>
      <p:sp>
        <p:nvSpPr>
          <p:cNvPr id="46" name="Shape 44"/>
          <p:cNvSpPr/>
          <p:nvPr/>
        </p:nvSpPr>
        <p:spPr>
          <a:xfrm>
            <a:off x="8961120" y="189280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4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48" y="2002536"/>
            <a:ext cx="237744" cy="237744"/>
          </a:xfrm>
          <a:prstGeom prst="rect">
            <a:avLst/>
          </a:prstGeom>
        </p:spPr>
      </p:pic>
      <p:sp>
        <p:nvSpPr>
          <p:cNvPr id="48" name="Text 45">
            <a:hlinkClick r:id="rId2" tooltip="לטריילר"/>
          </p:cNvPr>
          <p:cNvSpPr txBox="1"/>
          <p:nvPr/>
        </p:nvSpPr>
        <p:spPr>
          <a:xfrm>
            <a:off x="1097280" y="1828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u="sng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לטרייל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‫צופים בטריילר בתחילת השיעור‬</a:t>
            </a:r>
            <a:endParaRPr lang="he-IL" sz="1900" dirty="0"/>
          </a:p>
        </p:txBody>
      </p:sp>
      <p:sp>
        <p:nvSpPr>
          <p:cNvPr id="49" name="Shape 46"/>
          <p:cNvSpPr/>
          <p:nvPr/>
        </p:nvSpPr>
        <p:spPr>
          <a:xfrm>
            <a:off x="8961120" y="267004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0" name="Image 1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2779776"/>
            <a:ext cx="237744" cy="237744"/>
          </a:xfrm>
          <a:prstGeom prst="rect">
            <a:avLst/>
          </a:prstGeom>
        </p:spPr>
      </p:pic>
      <p:sp>
        <p:nvSpPr>
          <p:cNvPr id="51" name="Text 47">
            <a:hlinkClick r:id="rId4" tooltip="ללוח הבחירה" action="ppaction://hlinksldjump"/>
          </p:cNvPr>
          <p:cNvSpPr txBox="1"/>
          <p:nvPr/>
        </p:nvSpPr>
        <p:spPr>
          <a:xfrm>
            <a:off x="1097280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u="sng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ללוח הבחירה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‫בוחרים תוצר מלוח הבחירה‬</a:t>
            </a:r>
            <a:endParaRPr lang="he-IL" sz="1900" dirty="0"/>
          </a:p>
        </p:txBody>
      </p:sp>
      <p:sp>
        <p:nvSpPr>
          <p:cNvPr id="52" name="Shape 48"/>
          <p:cNvSpPr/>
          <p:nvPr/>
        </p:nvSpPr>
        <p:spPr>
          <a:xfrm>
            <a:off x="8961120" y="344728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3" name="Image 2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3557016"/>
            <a:ext cx="237744" cy="237744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1097280" y="33832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‫מתכננים שלבים ולוח זמנים‬</a:t>
            </a:r>
            <a:endParaRPr lang="he-IL" sz="1900" dirty="0"/>
          </a:p>
        </p:txBody>
      </p:sp>
      <p:sp>
        <p:nvSpPr>
          <p:cNvPr id="55" name="Shape 50"/>
          <p:cNvSpPr/>
          <p:nvPr/>
        </p:nvSpPr>
        <p:spPr>
          <a:xfrm>
            <a:off x="8961120" y="422452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6" name="Image 3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4334256"/>
            <a:ext cx="237744" cy="237744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09728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‫בודקים מקורות ומצרפים קישורים‬</a:t>
            </a:r>
            <a:endParaRPr lang="he-IL" sz="1900" dirty="0"/>
          </a:p>
        </p:txBody>
      </p:sp>
      <p:sp>
        <p:nvSpPr>
          <p:cNvPr id="58" name="Shape 52"/>
          <p:cNvSpPr/>
          <p:nvPr/>
        </p:nvSpPr>
        <p:spPr>
          <a:xfrm>
            <a:off x="8961120" y="500176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59" name="Image 4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5111496"/>
            <a:ext cx="237744" cy="237744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1097280" y="4937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‫מציגים, משתפים ונהנים‬</a:t>
            </a:r>
            <a:endParaRPr lang="he-IL" sz="1900" dirty="0"/>
          </a:p>
        </p:txBody>
      </p:sp>
      <p:sp>
        <p:nvSpPr>
          <p:cNvPr id="61" name="Text 54"/>
          <p:cNvSpPr txBox="1"/>
          <p:nvPr/>
        </p:nvSpPr>
        <p:spPr>
          <a:xfrm>
            <a:off x="1097280" y="5943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‫בהצלחה! אנחנו כבר סקרנים לראות מה תיצרו.‬</a:t>
            </a:r>
            <a:endParaRPr lang="he-IL" sz="1800" dirty="0"/>
          </a:p>
        </p:txBody>
      </p:sp>
      <p:sp>
        <p:nvSpPr>
          <p:cNvPr id="62" name="Text 55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22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‫רשימת מקורות‬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‫אייל, ל׳, והלוש-מנסקר, ע׳ (בפרסום). פרקטיקות הוראה מקדמות אסטרטגיות הכוונה עצמית בלמידה.‬</a:t>
            </a:r>
            <a:endParaRPr lang="he-IL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26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‫משרד החינוך. (2020). מצפן 2030: דמות הבוגר/ת והיערכות מערכת החינוך.‬</a:t>
            </a:r>
            <a:endParaRPr lang="he-IL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CAST. (2018). </a:t>
            </a:r>
            <a:pPr algn="l" indent="0" marL="0">
              <a:buNone/>
            </a:pPr>
            <a:r>
              <a:rPr lang="en-US" sz="1400" i="1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Universal Design for Learning Guidelines version 2.2</a:t>
            </a:r>
            <a:pPr algn="l" indent="0" marL="0">
              <a:buNone/>
            </a:pPr>
            <a:r>
              <a:rPr lang="en-US" sz="1400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https://udlguidelines.cast.org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Zimmerman, B. J. (2002). Becoming a self-regulated learner: An overview. </a:t>
            </a:r>
            <a:pPr algn="l" indent="0" marL="0">
              <a:buNone/>
            </a:pPr>
            <a:r>
              <a:rPr lang="en-US" sz="1400" i="1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Theory Into Practice, 41</a:t>
            </a:r>
            <a:pPr algn="l" indent="0" marL="0">
              <a:buNone/>
            </a:pPr>
            <a:r>
              <a:rPr lang="en-US" sz="1400" dirty="0">
                <a:solidFill>
                  <a:srgbClr val="2632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(2), 64-70.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‫הטריילר ולוח הבחירה הוכנו על ידינו במסגרת היחידה.‬</a:t>
            </a:r>
            <a:endParaRPr lang="he-IL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2026-08-31T09:49:23Z</dcterms:created>
  <dcterms:modified xsi:type="dcterms:W3CDTF">2026-08-31T09:49:23Z</dcterms:modified>
</cp:coreProperties>
</file>