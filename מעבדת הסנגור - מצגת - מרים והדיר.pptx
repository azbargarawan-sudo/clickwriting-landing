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on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194560"/>
            <a:ext cx="103327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מעבדת הסנגור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מסנגור עצמי בכיתה לסנגור קהילתי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</a:pPr>
            <a:r>
              <a:rPr sz="17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יוזמה לקידום סוכנות עצמית בקרב תלמידים עם מוגבלות בלתי נראית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הקורס "מסנגור עצמי לסנגור קהילתי"  |  ד"ר נצן אלמוג  |  הקריה האקדמית אונו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מגישות: מרים והדיר  |  תשפ"ו, סמסטר ב'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הרעיון בקצרה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מעבדת הסנגור היא סדנה קצרה בבית הספר שנותנת לתלמיד עם מוגבלות בלתי נראית כלים לדבר בעד עצמו.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המטרה: להפוך את השיחה מ"מדברים עליו" ל"מדברים איתו".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מהתלמיד כאובייקט שמחליטים עליו, לסובייקט שמנהל את חייו.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שדה הפעולה הוא החינוך, כי בכיתה נקבע אם ילד יגדל לבקש רשות או לבקש את מה שמגיע לו.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החסם: שלושה מעגלים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פרטני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התלמיד לא מכיר את עצמו ואת זכויותיו, ולכן נשאר פסיבי, מסתיר וממסך. המיסוך גובה אנרגיה שהייתה אמורה ללכת ללמידה.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קהילתי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תרבות הכיתה לא תמיד מקבלת שונות, החשיפה מרגישה מסוכנת, ואין קהילת שווים תומכת.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מערכתי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ועדות שילוב ותוכניות התאמה נבנות בלי התלמיד, בשפה של ליקוי ולא של זכויות.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ביסוס תיאורטי (1): מהו סנגור עצמי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מסגרת RASE  (Test et al., 2005)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ארבעה רכיבים: ידע עצמי, ידע על זכויות, תקשורת ומנהיגות. שני הראשונים הם היסוד, והמנהיגות היא שמעבירה מהסנגור העצמי אל הקהילתי.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הכוונה עצמית ואיכות חיים  (Kim, 2019)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אצל בוגרים על הרצף, הסנגור וגיבוש זהות חיובית הם חלק מאיכות החיים. לדבר בעד עצמך זה לא רק כלי, זה חלק מהחיים הטובים.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ביסוס תיאורטי (2): זהות, חשיפה וקול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גילוי עצמי  (Almog et al., 2026)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מודל ארבעת השלבים: מ"מה שונה בי?" ל"מה המשמעות של האבחנה עבורי?", מאובייקט פסיבי לסובייקט פעיל.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חשיפה מול מיסוך  (Sasson &amp; Morrison, 2019)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כשהסביבה יודעת יותר והאדם חושף את האבחנה, הרושם הראשוני עליו משתפר. הבעיה בפער הידע, לא באדם.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היגד הסנגור  (קוזמינסקי, 2005)  ומעבר לשיח זכויות  (טולוב ושלומאי, 2019)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תבנית שלושת החלקים לניסוח בקשה, יחד עם מעבר מ"טובת האדם" הפטרנליסטית ל"רצון האדם".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קהל היעד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תלמידות ותלמידים עם מוגבלות בלתי נראית, כיתות ד' עד ט', כשהזהות מתחילה להתגבש.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מורות, מחנכים וצוות מקצועי, שלומדים להיות "מאפשרים" ולא "חוסמים".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הורים, בהזמנה עדינה להתחיל לשחרר ולהעביר את הקול לידי הילד.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מטרות היוזמה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התלמיד מכיר את חוזקותיו, את מוגבלותו ואת זכויותיו.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יודע לבנות היגד סנגור ולהשמיע אותו כדי לבקש התאמה.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מקבל החלטה מושכלת על חשיפה, מתי, למי וכמה, במקום להסתיר מפחד.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המורה עוברת משיח של ליקוי לשיח של זכויות.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בטווח הארוך: מקום בוועדה שדנה בו, וחיבור לקהילת מסנגרים.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עקרון "שום דבר עלינו בלעדינו"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היוזמה נבנית עם התלמידים, לא עבורם.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התוצר המרכזי הוא ההיגד של התלמיד עצמו, במילים שלו.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בוגרים עם מוגבלות, מסנגרים בעצמם, שותפים בבניית הסדנה ובהעברתה.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לתלמיד כיסא בשולחן שבו מחליטים על חייו.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ברוח טולוב ושלומאי (2019) ואמנת האו"ם בדבר זכויות אנשים עם מוגבלויות.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הכלי המעשי: דף הפעילות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1737360"/>
            <a:ext cx="5577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"בונים היגד סנגור": דף נגיש שמלווה את התלמיד בשלושה חלקים, מה חשוב לי, אבל, ומה יעזור לי.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צד למורה: איך להיות "מאפשר" ולא "חוסם".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הרחבה קהילתית: קמפיין מסרים אישיים על מוגבלות בלתי נראית, בהשראת "מישהו שבר לי את הלב, אל תצפרו".</a:t>
            </a:r>
          </a:p>
        </p:txBody>
      </p:sp>
      <p:pic>
        <p:nvPicPr>
          <p:cNvPr id="7" name="Picture 6" descr="t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3172078" cy="4480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30352" y="1719072"/>
            <a:ext cx="3657600" cy="18288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סיכום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325880"/>
            <a:ext cx="1554480" cy="36576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לא מתקנים את התלמיד, משנים את השיחה סביבו.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כלי אחד, מבוסס על מה שלמדנו בקורס, שמורה יכולה להשתמש בו כבר מחר בבוקר.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>
                <a:solidFill>
                  <a:srgbClr val="1A1A1A"/>
                </a:solidFill>
                <a:latin typeface="David"/>
                <a:cs typeface="David"/>
                <a:ea typeface="David"/>
              </a:rPr>
              <a:t>•  אם תלמיד אחד יידע להגיד בקול מה הוא צריך ולמה מגיע לו, עשינו את שלנו.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881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David"/>
                <a:cs typeface="David"/>
                <a:ea typeface="David"/>
              </a:rPr>
              <a:t>מקורות</a:t>
            </a:r>
          </a:p>
          <a:p>
            <a:pPr rtl="1" algn="r">
              <a:lnSpc>
                <a:spcPct val="100000"/>
              </a:lnSpc>
              <a:spcAft>
                <a:spcPts val="300"/>
              </a:spcAft>
            </a:pPr>
            <a:r>
              <a:rPr sz="1100">
                <a:solidFill>
                  <a:srgbClr val="555555"/>
                </a:solidFill>
                <a:latin typeface="David"/>
                <a:cs typeface="David"/>
                <a:ea typeface="David"/>
              </a:rPr>
              <a:t>טולוב, י', ושלומאי, א' (2019). "לא בטיפול". מחקרי משפט, לב.</a:t>
            </a:r>
          </a:p>
          <a:p>
            <a:pPr rtl="1" algn="r">
              <a:lnSpc>
                <a:spcPct val="100000"/>
              </a:lnSpc>
              <a:spcAft>
                <a:spcPts val="300"/>
              </a:spcAft>
            </a:pPr>
            <a:r>
              <a:rPr sz="1100">
                <a:solidFill>
                  <a:srgbClr val="555555"/>
                </a:solidFill>
                <a:latin typeface="David"/>
                <a:cs typeface="David"/>
                <a:ea typeface="David"/>
              </a:rPr>
              <a:t>קוזמינסקי, ל' (2005). תכנית מס"ע: סנגור עצמי של תלמידים עם לקויות למידה. סוגיות בחינוך מיוחד ושיקום, 20(2), 15-24.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>
                <a:solidFill>
                  <a:srgbClr val="555555"/>
                </a:solidFill>
                <a:latin typeface="David"/>
                <a:cs typeface="David"/>
                <a:ea typeface="David"/>
              </a:rPr>
              <a:t>Almog, N., Amar-Sahar, B., Gabai, T., &amp; Keren, E.-H. (2026). Autism self-discovery. In Collaborative care and partnerships in autism diagnosis and treatment (pp. 3-26). Springer.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>
                <a:solidFill>
                  <a:srgbClr val="555555"/>
                </a:solidFill>
                <a:latin typeface="David"/>
                <a:cs typeface="David"/>
                <a:ea typeface="David"/>
              </a:rPr>
              <a:t>Kim, S. Y. (2019). Self-determination and quality of life. Research in Autism Spectrum Disorders, 60, 1-15.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>
                <a:solidFill>
                  <a:srgbClr val="555555"/>
                </a:solidFill>
                <a:latin typeface="David"/>
                <a:cs typeface="David"/>
                <a:ea typeface="David"/>
              </a:rPr>
              <a:t>Sasson, N. J., &amp; Morrison, K. E. (2019). First impressions of adults with autism improve with diagnostic disclosure. Autism, 23(1), 50-59.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>
                <a:solidFill>
                  <a:srgbClr val="555555"/>
                </a:solidFill>
                <a:latin typeface="David"/>
                <a:cs typeface="David"/>
                <a:ea typeface="David"/>
              </a:rPr>
              <a:t>Test, D. W., et al. (2005). A conceptual framework of self-advocacy for students with disabilities. RASE, 26(1), 43-54.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David"/>
                <a:cs typeface="David"/>
                <a:ea typeface="David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