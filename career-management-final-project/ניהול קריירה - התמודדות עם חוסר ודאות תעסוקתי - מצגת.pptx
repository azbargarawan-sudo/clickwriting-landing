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עיצוב לצרכי התקרבות</c:v>
                </c:pt>
              </c:strCache>
            </c:strRef>
          </c:tx>
          <c:spPr>
            <a:solidFill>
              <a:srgbClr val="1F3864"/>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Sheet1!$B$2:$B$4</c:f>
              <c:numCache>
                <c:formatCode>General</c:formatCode>
                <c:ptCount val="3"/>
                <c:pt idx="0">
                  <c:v>0.142</c:v>
                </c:pt>
                <c:pt idx="1">
                  <c:v>0.137</c:v>
                </c:pt>
                <c:pt idx="2">
                  <c:v>0.166</c:v>
                </c:pt>
              </c:numCache>
            </c:numRef>
          </c:val>
        </c:ser>
        <c:ser>
          <c:idx val="1"/>
          <c:order val="1"/>
          <c:tx>
            <c:strRef>
              <c:f>Sheet1!$C$1</c:f>
              <c:strCache>
                <c:ptCount val="1"/>
                <c:pt idx="0">
                  <c:v>עיצוב לצרכי הימנעות</c:v>
                </c:pt>
              </c:strCache>
            </c:strRef>
          </c:tx>
          <c:spPr>
            <a:solidFill>
              <a:srgbClr val="ED7D31"/>
            </a:solidFill>
            <a:effectLst/>
          </c:spPr>
          <c:invertIfNegative val="0"/>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cat>
            <c:multiLvlStrRef>
              <c:f>Sheet1!$A$2:$A$4</c:f>
              <c:multiLvlStrCache>
                <c:ptCount val="3"/>
                <c:lvl>
                  <c:pt idx="0">
                    <c:v>מובנות</c:v>
                  </c:pt>
                  <c:pt idx="1">
                    <c:v>ניהוליות</c:v>
                  </c:pt>
                  <c:pt idx="2">
                    <c:v>משמעותיות</c:v>
                  </c:pt>
                </c:lvl>
              </c:multiLvlStrCache>
            </c:multiLvlStrRef>
          </c:cat>
          <c:val>
            <c:numRef>
              <c:f>Sheet1!$C$2:$C$4</c:f>
              <c:numCache>
                <c:formatCode>General</c:formatCode>
                <c:ptCount val="3"/>
                <c:pt idx="0">
                  <c:v>0.077</c:v>
                </c:pt>
                <c:pt idx="1">
                  <c:v>0.09</c:v>
                </c:pt>
                <c:pt idx="2">
                  <c:v>0.027</c:v>
                </c:pt>
              </c:numCache>
            </c:numRef>
          </c:val>
        </c:ser>
        <c:dLbls>
          <c:numFmt formatCode="0.000" sourceLinked="0"/>
          <c:txPr>
            <a:bodyPr/>
            <a:lstStyle/>
            <a:p>
              <a:pPr>
                <a:defRPr b="0" i="0" strike="noStrike" sz="900" u="none">
                  <a:solidFill>
                    <a:srgbClr val="000000"/>
                  </a:solidFill>
                  <a:latin typeface="Times New Roma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David"/>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6350"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000000"/>
                </a:solidFill>
                <a:latin typeface="Times New Roman"/>
              </a:defRPr>
            </a:pPr>
            <a:endParaRPr lang="en-US"/>
          </a:p>
        </c:txPr>
        <c:crossAx val="2094734554"/>
        <c:crosses val="autoZero"/>
        <c:crossBetween val="between"/>
      </c:valAx>
      <c:spPr>
        <a:noFill/>
        <a:ln>
          <a:noFill/>
        </a:ln>
        <a:effectLst/>
      </c:spPr>
    </c:plotArea>
    <c:legend>
      <c:legendPos val="b"/>
      <c:overlay val="0"/>
      <c:txPr>
        <a:bodyPr/>
        <a:lstStyle/>
        <a:p>
          <a:pPr>
            <a:defRPr sz="1000">
              <a:latin typeface="David"/>
              <a:cs typeface="Davi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(30 שניות): הצגת הנושא. במקום לשאול מה אי-הוודאות עושה לנו, נשאל מה אנחנו יכולים לעשות לה. מחקר אורך מ-2026 על 924 עובדים נותן תשובה.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כתבת עיתון: להציג את כותרת TheMarker (21.6.2026). נתון בנק ישראל: כחמישית מהמועסקים במקצועות תחליפיים. סקר פתיחה קצר: בסולם 1 עד 5, עד כמה העבודה שלכם מרגישה ברורה, בשליטה ומשמעותית? נחזור לתוצאות בסוף.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המאמר במשפט: מחקר שעקב אחרי כמעט אלף עובדים במשך חצי שנה ובדק אם מה שהם עושים בתפקיד משנה את האופן שבו הם תופסים אותו.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להזכיר שאנטונובסקי פעל באוניברסיטת בן-גוריון. חוסר ודאות במונחים שלו הוא בעיקר פגיעה במובנות.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מושגים ואז השאלה: האם מה שהעובד עושה (עיצוב תפקיד) משנה את איך שהעבודה נתפסת (תחושת קוהרנטיות)? ולהפך?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בקצרה מהו מודל פאנל צולב: אותם אנשים נמדדים פעמיים, וכל משתנה בזמן השני מנובא גם מהמשתנה האחר בזמן הראשון. זה מאפשר לבחון כיווניות בזמן.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הגרף: עמודות כחולות (התקרבות) מול כתומות (הימנעות). מקדם 0.14 עד 0.17 נשמע קטן, אבל המדדים יציבים מאוד (0.61 עד 0.70), ולכן כל שינוי שנשמר אחרי חצי שנה משמעותי. להזכיר: מתאמים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הכנות של המחברים לגבי המגבלות היא אחד הדברים שהערכתי במאמר. להדגיש: קשרים בזמן, לא סיבתיות.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המשלים = האבחנה: מאיפה מגיע חוסר הביטחון של 2026 ומה ממתן אותו. המרכזי = הטיפול.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לעצור על דוגמה אחת, למשל הרצברג: המניעים = התקרבות, ההיגייניים = הימנעות.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הלב של המסר: המשאבים קודמים ליוזמה. העצה "תעצבו את התפקיד" נכונה, אבל צריך לתת אותה לפני שהאיום מגיע.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להגיד את הביקורת בקול. ועדיין, זה המאמר שנתן לי הכי הרבה מה לעשות מחר בבוקר.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הכלי שאני משאיר/ה לכיתה. ארבעה צרכים, שאלה אחת לכל צורך, ופעולות שאפשר לעשות גם במשרה סטודנטיאלית.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לחלק כרטיסיות מודפסות או להשאיר את השקופית. אחרי השיתוף: "שימו לב שאף אחד לא בחר לנוח יותר. זה נכון, וזה גם מה שהמאמר 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לחזור לתוצאות סקר הפתיחה: מי שדירג נמוך, המאמר אומר שזה לא גזירת גורל, והפעולה שכתבתם עכשיו היא בדיוק הדרך לשנות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ted.com/talks/lucy_hone_the_three_secrets_of_resilient_people"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0" y="4041648"/>
            <a:ext cx="12188952" cy="64008"/>
          </a:xfrm>
          <a:prstGeom prst="rect">
            <a:avLst/>
          </a:prstGeom>
          <a:solidFill>
            <a:srgbClr val="ED7D31"/>
          </a:solidFill>
          <a:ln w="12700">
            <a:solidFill>
              <a:srgbClr val="ED7D31"/>
            </a:solidFill>
            <a:prstDash val="solid"/>
          </a:ln>
        </p:spPr>
      </p:sp>
      <p:sp>
        <p:nvSpPr>
          <p:cNvPr id="3" name="Shape 1"/>
          <p:cNvSpPr/>
          <p:nvPr/>
        </p:nvSpPr>
        <p:spPr>
          <a:xfrm>
            <a:off x="5276088" y="274320"/>
            <a:ext cx="1645920" cy="1645920"/>
          </a:xfrm>
          <a:prstGeom prst="rect">
            <a:avLst/>
          </a:prstGeom>
          <a:solidFill>
            <a:srgbClr val="FFFFFF"/>
          </a:solidFill>
          <a:ln w="12700">
            <a:solidFill>
              <a:srgbClr val="FFFFFF"/>
            </a:solidFill>
            <a:prstDash val="solid"/>
          </a:ln>
        </p:spPr>
      </p:sp>
      <p:pic>
        <p:nvPicPr>
          <p:cNvPr id="4" name="Image 0" descr="/tmp/claude-0/-home-user-clickwriting-landing/d2627f80-c93a-5206-ba5d-647532b375c9/scratchpad/ono-logo.jpg">    </p:cNvPr>
          <p:cNvPicPr>
            <a:picLocks noChangeAspect="1"/>
          </p:cNvPicPr>
          <p:nvPr/>
        </p:nvPicPr>
        <p:blipFill>
          <a:blip r:embed="rId1"/>
          <a:stretch>
            <a:fillRect/>
          </a:stretch>
        </p:blipFill>
        <p:spPr>
          <a:xfrm>
            <a:off x="5413248" y="411480"/>
            <a:ext cx="1371600" cy="1371600"/>
          </a:xfrm>
          <a:prstGeom prst="rect">
            <a:avLst/>
          </a:prstGeom>
        </p:spPr>
      </p:pic>
      <p:sp>
        <p:nvSpPr>
          <p:cNvPr id="5" name="Text 2"/>
          <p:cNvSpPr txBox="1"/>
          <p:nvPr/>
        </p:nvSpPr>
        <p:spPr>
          <a:xfrm>
            <a:off x="640080" y="2057400"/>
            <a:ext cx="10908792" cy="36576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David" pitchFamily="34" charset="0"/>
                <a:ea typeface="David" pitchFamily="34" charset="-122"/>
                <a:cs typeface="David" pitchFamily="34" charset="-120"/>
              </a:rPr>
              <a:t>הקריה האקדמית אונו, הפקולטה למנהל עסקים</a:t>
            </a:r>
            <a:endParaRPr lang="he-IL" sz="1700" dirty="0"/>
          </a:p>
        </p:txBody>
      </p:sp>
      <p:sp>
        <p:nvSpPr>
          <p:cNvPr id="6" name="Text 3"/>
          <p:cNvSpPr txBox="1"/>
          <p:nvPr/>
        </p:nvSpPr>
        <p:spPr>
          <a:xfrm>
            <a:off x="640080" y="2423160"/>
            <a:ext cx="10908792" cy="365760"/>
          </a:xfrm>
          <a:prstGeom prst="rect">
            <a:avLst/>
          </a:prstGeom>
          <a:noFill/>
          <a:ln/>
        </p:spPr>
        <p:txBody>
          <a:bodyPr wrap="square" lIns="0" tIns="0" rIns="0" bIns="0" rtlCol="0" anchor="t"/>
          <a:lstStyle/>
          <a:p>
            <a:pPr rtl="1" algn="ctr" indent="0" marL="0">
              <a:buNone/>
            </a:pPr>
            <a:r>
              <a:rPr lang="he-IL" altLang="en-US" sz="1700" dirty="0">
                <a:solidFill>
                  <a:srgbClr val="FFFFFF"/>
                </a:solidFill>
                <a:latin typeface="David" pitchFamily="34" charset="0"/>
                <a:ea typeface="David" pitchFamily="34" charset="-122"/>
                <a:cs typeface="David" pitchFamily="34" charset="-120"/>
              </a:rPr>
              <a:t>עבודה מסכמת בקורס ניהול קריירה בארגונים</a:t>
            </a:r>
            <a:endParaRPr lang="he-IL" sz="1700" dirty="0"/>
          </a:p>
        </p:txBody>
      </p:sp>
      <p:sp>
        <p:nvSpPr>
          <p:cNvPr id="7" name="Text 4"/>
          <p:cNvSpPr txBox="1"/>
          <p:nvPr/>
        </p:nvSpPr>
        <p:spPr>
          <a:xfrm>
            <a:off x="640080" y="2880360"/>
            <a:ext cx="10908792" cy="777240"/>
          </a:xfrm>
          <a:prstGeom prst="rect">
            <a:avLst/>
          </a:prstGeom>
          <a:noFill/>
          <a:ln/>
        </p:spPr>
        <p:txBody>
          <a:bodyPr wrap="square" lIns="0" tIns="0" rIns="0" bIns="0" rtlCol="0" anchor="ctr"/>
          <a:lstStyle/>
          <a:p>
            <a:pPr rtl="1" algn="ctr" indent="0" marL="0">
              <a:buNone/>
            </a:pPr>
            <a:r>
              <a:rPr lang="he-IL" altLang="en-US" sz="3800" b="1" dirty="0">
                <a:solidFill>
                  <a:srgbClr val="FFFFFF"/>
                </a:solidFill>
                <a:latin typeface="David" pitchFamily="34" charset="0"/>
                <a:ea typeface="David" pitchFamily="34" charset="-122"/>
                <a:cs typeface="David" pitchFamily="34" charset="-120"/>
              </a:rPr>
              <a:t>התמודדות עם חוסר ודאות תעסוקתי</a:t>
            </a:r>
            <a:endParaRPr lang="he-IL" sz="3800" dirty="0"/>
          </a:p>
        </p:txBody>
      </p:sp>
      <p:sp>
        <p:nvSpPr>
          <p:cNvPr id="8" name="Text 5"/>
          <p:cNvSpPr txBox="1"/>
          <p:nvPr/>
        </p:nvSpPr>
        <p:spPr>
          <a:xfrm>
            <a:off x="640080" y="3639312"/>
            <a:ext cx="10908792" cy="411480"/>
          </a:xfrm>
          <a:prstGeom prst="rect">
            <a:avLst/>
          </a:prstGeom>
          <a:noFill/>
          <a:ln/>
        </p:spPr>
        <p:txBody>
          <a:bodyPr wrap="square" lIns="0" tIns="0" rIns="0" bIns="0" rtlCol="0" anchor="t"/>
          <a:lstStyle/>
          <a:p>
            <a:pPr rtl="1" algn="ctr" indent="0" marL="0">
              <a:buNone/>
            </a:pPr>
            <a:r>
              <a:rPr lang="he-IL" altLang="en-US" sz="1800" dirty="0">
                <a:solidFill>
                  <a:srgbClr val="ED7D31"/>
                </a:solidFill>
                <a:latin typeface="David" pitchFamily="34" charset="0"/>
                <a:ea typeface="David" pitchFamily="34" charset="-122"/>
                <a:cs typeface="David" pitchFamily="34" charset="-120"/>
              </a:rPr>
              <a:t>עיצוב תפקיד מבוסס צרכים כדרך לבנות בהירות, שליטה ומשמעות בעבודה</a:t>
            </a:r>
            <a:endParaRPr lang="he-IL" sz="1800" dirty="0"/>
          </a:p>
        </p:txBody>
      </p:sp>
      <p:sp>
        <p:nvSpPr>
          <p:cNvPr id="9" name="Text 6"/>
          <p:cNvSpPr txBox="1"/>
          <p:nvPr/>
        </p:nvSpPr>
        <p:spPr>
          <a:xfrm>
            <a:off x="1097280" y="4251960"/>
            <a:ext cx="9994392" cy="594360"/>
          </a:xfrm>
          <a:prstGeom prst="rect">
            <a:avLst/>
          </a:prstGeom>
          <a:noFill/>
          <a:ln/>
        </p:spPr>
        <p:txBody>
          <a:bodyPr wrap="square" lIns="0" tIns="0" rIns="0" bIns="0" rtlCol="0" anchor="t"/>
          <a:lstStyle/>
          <a:p>
            <a:pPr algn="ctr" indent="0" marL="0">
              <a:buNone/>
            </a:pPr>
            <a:r>
              <a:rPr lang="en-US" sz="1200" i="1" dirty="0">
                <a:solidFill>
                  <a:srgbClr val="FFFFFF"/>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a:t>
            </a:r>
            <a:endParaRPr lang="en-US" sz="1200" dirty="0"/>
          </a:p>
        </p:txBody>
      </p:sp>
      <p:sp>
        <p:nvSpPr>
          <p:cNvPr id="10" name="Text 7"/>
          <p:cNvSpPr txBox="1"/>
          <p:nvPr/>
        </p:nvSpPr>
        <p:spPr>
          <a:xfrm>
            <a:off x="640080" y="4983480"/>
            <a:ext cx="10908792" cy="411480"/>
          </a:xfrm>
          <a:prstGeom prst="rect">
            <a:avLst/>
          </a:prstGeom>
          <a:noFill/>
          <a:ln/>
        </p:spPr>
        <p:txBody>
          <a:bodyPr wrap="square" lIns="0" tIns="0" rIns="0" bIns="0" rtlCol="0" anchor="t"/>
          <a:lstStyle/>
          <a:p>
            <a:pPr rtl="1" algn="ctr" indent="0" marL="0">
              <a:buNone/>
            </a:pPr>
            <a:r>
              <a:rPr lang="he-IL" altLang="en-US" sz="1800" b="1" dirty="0">
                <a:solidFill>
                  <a:srgbClr val="ED7D31"/>
                </a:solidFill>
                <a:latin typeface="David" pitchFamily="34" charset="0"/>
                <a:ea typeface="David" pitchFamily="34" charset="-122"/>
                <a:cs typeface="David" pitchFamily="34" charset="-120"/>
              </a:rPr>
              <a:t>מגיש/ה: דוחה עמאש, מספר תעודת זהות 208121137</a:t>
            </a:r>
            <a:endParaRPr lang="he-IL" sz="1800" dirty="0"/>
          </a:p>
        </p:txBody>
      </p:sp>
      <p:sp>
        <p:nvSpPr>
          <p:cNvPr id="11" name="Text 8"/>
          <p:cNvSpPr txBox="1"/>
          <p:nvPr/>
        </p:nvSpPr>
        <p:spPr>
          <a:xfrm>
            <a:off x="640080" y="5468112"/>
            <a:ext cx="10908792" cy="411480"/>
          </a:xfrm>
          <a:prstGeom prst="rect">
            <a:avLst/>
          </a:prstGeom>
          <a:noFill/>
          <a:ln/>
        </p:spPr>
        <p:txBody>
          <a:bodyPr wrap="square" lIns="0" tIns="0" rIns="0" bIns="0" rtlCol="0" anchor="t"/>
          <a:lstStyle/>
          <a:p>
            <a:pPr rtl="1" algn="ctr" indent="0" marL="0">
              <a:buNone/>
            </a:pPr>
            <a:r>
              <a:rPr lang="he-IL" altLang="en-US" sz="1500" dirty="0">
                <a:solidFill>
                  <a:srgbClr val="FFFFFF"/>
                </a:solidFill>
                <a:latin typeface="David" pitchFamily="34" charset="0"/>
                <a:ea typeface="David" pitchFamily="34" charset="-122"/>
                <a:cs typeface="David" pitchFamily="34" charset="-120"/>
              </a:rPr>
              <a:t>מרצה: גב' מורן דבדבני דקל   |   עוזר הוראה: מר פאר רועי</a:t>
            </a:r>
            <a:endParaRPr lang="he-IL" sz="1500" dirty="0"/>
          </a:p>
        </p:txBody>
      </p:sp>
      <p:sp>
        <p:nvSpPr>
          <p:cNvPr id="12" name="Text 9"/>
          <p:cNvSpPr txBox="1"/>
          <p:nvPr/>
        </p:nvSpPr>
        <p:spPr>
          <a:xfrm>
            <a:off x="640080" y="5870448"/>
            <a:ext cx="10908792" cy="411480"/>
          </a:xfrm>
          <a:prstGeom prst="rect">
            <a:avLst/>
          </a:prstGeom>
          <a:noFill/>
          <a:ln/>
        </p:spPr>
        <p:txBody>
          <a:bodyPr wrap="square" lIns="0" tIns="0" rIns="0" bIns="0" rtlCol="0" anchor="t"/>
          <a:lstStyle/>
          <a:p>
            <a:pPr rtl="1" algn="ctr" indent="0" marL="0">
              <a:buNone/>
            </a:pPr>
            <a:r>
              <a:rPr lang="he-IL" altLang="en-US" sz="1400" dirty="0">
                <a:solidFill>
                  <a:srgbClr val="D9E2F3"/>
                </a:solidFill>
                <a:latin typeface="David" pitchFamily="34" charset="0"/>
                <a:ea typeface="David" pitchFamily="34" charset="-122"/>
                <a:cs typeface="David" pitchFamily="34" charset="-120"/>
              </a:rPr>
              <a:t>תשפ"ו, סמסטר 3   |   ספטמבר 2026</a:t>
            </a:r>
            <a:endParaRPr lang="he-IL"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מבוא: הצגת הנושא</a:t>
            </a:r>
            <a:endParaRPr lang="he-IL" sz="2800" dirty="0"/>
          </a:p>
        </p:txBody>
      </p:sp>
      <p:sp>
        <p:nvSpPr>
          <p:cNvPr id="5" name="Text 3"/>
          <p:cNvSpPr txBox="1"/>
          <p:nvPr/>
        </p:nvSpPr>
        <p:spPr>
          <a:xfrm>
            <a:off x="640080" y="1325880"/>
            <a:ext cx="10908792" cy="30175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עולם העבודה של שנת 2026 מתאפיין באי-ודאות. גלי ההתייעלות בענף ההייטק, כניסת הבינה המלאכותית היוצרת לתפקידי צווארון לבן, המלחמה ושירות המילואים הממושך והמעבר לצורות העסקה גמישות יצרו מציאות שבה גם עובדים בעלי ותק אינם יודעים כיצד ייראה תפקידם בעוד שנה. תיבה בדוח בנק ישראל לשנת 2024 העריכה כי כחמישית מהמועסקים בישראל עובדים במקצועות שבהם הביקוש צפוי לרדת באופן משמעותי עם התרחבות השימוש בבינה מלאכותית (בנק ישראל, 2025), ובעיתונות הכלכלית דווח כי ההתייעלות באמצעות בינה מלאכותית עומדת בראש סדר היום של מנהלי ההייטק ("הקשיים של מנהלי הייטק", 2026). חוסר ביטחון תעסוקתי, החשש לאבד את המשרה או את מאפייניה החשובים, הפך מאירוע חריג לתנאי קבוע (Chung et al., 2025).</a:t>
            </a:r>
            <a:endParaRPr lang="he-IL" sz="1600" dirty="0"/>
          </a:p>
        </p:txBody>
      </p:sp>
      <p:sp>
        <p:nvSpPr>
          <p:cNvPr id="6" name="Text 4"/>
          <p:cNvSpPr txBox="1"/>
          <p:nvPr/>
        </p:nvSpPr>
        <p:spPr>
          <a:xfrm>
            <a:off x="640080" y="443484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רוב המחקר בתחום שואל מה הנזק שאי-הוודאות גורמת. עבודה זו בוחרת בשאלה ההפוכה, שהציב אהרן אנטונובסקי מאוניברסיטת בן-גוריון: מה מאפשר לעובדים להישאר בריאים ומתפקדים גם כשהסביבה אינה יציבה (Antonovsky, 1987, כפי שמצוטט אצל Cetkovská et al., 2026). המאמר שנבחר מציע תשובה שנמצאת בשליטת העובד עצמו.</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2</a:t>
            </a:r>
            <a:endParaRPr lang="he-IL"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מבוא: הצגת המאמר</a:t>
            </a:r>
            <a:endParaRPr lang="he-IL" sz="2800" dirty="0"/>
          </a:p>
        </p:txBody>
      </p:sp>
      <p:sp>
        <p:nvSpPr>
          <p:cNvPr id="5" name="Text 3"/>
          <p:cNvSpPr txBox="1"/>
          <p:nvPr/>
        </p:nvSpPr>
        <p:spPr>
          <a:xfrm>
            <a:off x="640080" y="1280160"/>
            <a:ext cx="10908792" cy="685800"/>
          </a:xfrm>
          <a:prstGeom prst="rect">
            <a:avLst/>
          </a:prstGeom>
          <a:noFill/>
          <a:ln/>
        </p:spPr>
        <p:txBody>
          <a:bodyPr wrap="square" lIns="0" tIns="0" rIns="0" bIns="0" rtlCol="0" anchor="t"/>
          <a:lstStyle/>
          <a:p>
            <a:pPr algn="r" indent="0" marL="0">
              <a:buNone/>
            </a:pPr>
            <a:r>
              <a:rPr lang="en-US" sz="1300" i="1" dirty="0">
                <a:solidFill>
                  <a:srgbClr val="1F3864"/>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p:txBody>
      </p:sp>
      <p:sp>
        <p:nvSpPr>
          <p:cNvPr id="6" name="Text 4"/>
          <p:cNvSpPr txBox="1"/>
          <p:nvPr/>
        </p:nvSpPr>
        <p:spPr>
          <a:xfrm>
            <a:off x="640080" y="210312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שנבחר הוא מחקר אמפירי כמותי במערך אורך, שפורסם בשנת 2026 בכתב העת השפיט Scandinavian Journal of Work and Organizational Psychology, היוצא לאור בהוצאת אוניברסיטת סטוקהולם, בגישה פתוחה מלאה. מחבריו הם קריסטינה צטקובסקה מאוניברסיטת קארל בפראג, וגאורג באואר ומרטין טושל מהמרכז לסלוטוגנזה באוניברסיטת ציריך, והמחקר מומן על ידי הקרן הלאומית השווייצרית למדע (Cetkovská et al., 2026).</a:t>
            </a:r>
            <a:endParaRPr lang="he-IL" sz="1600" dirty="0"/>
          </a:p>
        </p:txBody>
      </p:sp>
      <p:sp>
        <p:nvSpPr>
          <p:cNvPr id="7" name="Text 5"/>
          <p:cNvSpPr txBox="1"/>
          <p:nvPr/>
        </p:nvSpPr>
        <p:spPr>
          <a:xfrm>
            <a:off x="640080" y="393192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מדובר במחקר פאנל בשני גלי מדידה בהפרש של שישה חודשים, שבו השתתפו 924 עובדים מגרמניה ומשווייץ. המאמר נבחר משום שהוא שואל מה עוזר לעובדים ולא רק מה מזיק להם, משום שהוא מציע כלי שאינו תלוי בארגון, ומשום שהוא עומד בדרישות המטלה: מאמר שפיט מחמש השנים האחרונות, מקיף ומהימן, הזמין במלואו לכל קורא (Cetkovská et al., 2026).</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3</a:t>
            </a:r>
            <a:endParaRPr lang="he-IL"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הרקע התיאורטי</a:t>
            </a:r>
            <a:endParaRPr lang="he-IL" sz="2800" dirty="0"/>
          </a:p>
        </p:txBody>
      </p:sp>
      <p:sp>
        <p:nvSpPr>
          <p:cNvPr id="5" name="Text 3"/>
          <p:cNvSpPr txBox="1"/>
          <p:nvPr/>
        </p:nvSpPr>
        <p:spPr>
          <a:xfrm>
            <a:off x="640080" y="1325880"/>
            <a:ext cx="10908792" cy="22402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הגישה הסלוטוגנית הופכת את שאלת המחקר המקובלת: במקום לשאול מדוע אנשים חולים, היא שואלת כיצד הם שומרים על בריאותם למרות גורמי דחק. במרכזה עומדת תחושת הקוהרנטיות, המידה שבה האדם תופס את חייו כמובנים, כניתנים לניהול וכמשמעותיים (Antonovsky, 1987, כפי שמצוטט אצל Cetkovská et al., 2026). על בסיס זה פותח המושג תחושת קוהרנטיות בעבודה, המתייחס למצב העבודה הנוכחי בלבד ומורכב משלושה רכיבים. בניגוד לתחושת הקוהרנטיות הכללית, המתייצבת בבגרות הצעירה, הרכיב התעסוקתי דינמי ומעוצב ללא הרף על ידי תנאי העבודה (Cetkovská et al., 2026).</a:t>
            </a:r>
            <a:endParaRPr lang="he-IL" sz="1600" dirty="0"/>
          </a:p>
        </p:txBody>
      </p:sp>
      <p:sp>
        <p:nvSpPr>
          <p:cNvPr id="6" name="Shape 4"/>
          <p:cNvSpPr/>
          <p:nvPr/>
        </p:nvSpPr>
        <p:spPr>
          <a:xfrm>
            <a:off x="8074152" y="3657600"/>
            <a:ext cx="3474720" cy="1691640"/>
          </a:xfrm>
          <a:prstGeom prst="rect">
            <a:avLst/>
          </a:prstGeom>
          <a:solidFill>
            <a:srgbClr val="FFFFFF"/>
          </a:solidFill>
          <a:ln w="15875">
            <a:solidFill>
              <a:srgbClr val="1F3864"/>
            </a:solidFill>
            <a:prstDash val="solid"/>
          </a:ln>
        </p:spPr>
      </p:sp>
      <p:sp>
        <p:nvSpPr>
          <p:cNvPr id="7" name="Shape 5"/>
          <p:cNvSpPr/>
          <p:nvPr/>
        </p:nvSpPr>
        <p:spPr>
          <a:xfrm>
            <a:off x="8074152" y="3657600"/>
            <a:ext cx="3474720" cy="502920"/>
          </a:xfrm>
          <a:prstGeom prst="rect">
            <a:avLst/>
          </a:prstGeom>
          <a:solidFill>
            <a:srgbClr val="1F3864"/>
          </a:solidFill>
          <a:ln w="12700">
            <a:solidFill>
              <a:srgbClr val="1F3864"/>
            </a:solidFill>
            <a:prstDash val="solid"/>
          </a:ln>
        </p:spPr>
      </p:sp>
      <p:sp>
        <p:nvSpPr>
          <p:cNvPr id="8" name="Shape 6"/>
          <p:cNvSpPr/>
          <p:nvPr/>
        </p:nvSpPr>
        <p:spPr>
          <a:xfrm>
            <a:off x="8074152" y="4160520"/>
            <a:ext cx="3474720" cy="45720"/>
          </a:xfrm>
          <a:prstGeom prst="rect">
            <a:avLst/>
          </a:prstGeom>
          <a:solidFill>
            <a:srgbClr val="ED7D31"/>
          </a:solidFill>
          <a:ln w="12700">
            <a:solidFill>
              <a:srgbClr val="ED7D31"/>
            </a:solidFill>
            <a:prstDash val="solid"/>
          </a:ln>
        </p:spPr>
      </p:sp>
      <p:sp>
        <p:nvSpPr>
          <p:cNvPr id="9" name="Text 7"/>
          <p:cNvSpPr txBox="1"/>
          <p:nvPr/>
        </p:nvSpPr>
        <p:spPr>
          <a:xfrm>
            <a:off x="8165592"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מובנות (רכיב קוגניטיבי)</a:t>
            </a:r>
            <a:endParaRPr lang="he-IL" sz="1600" dirty="0"/>
          </a:p>
        </p:txBody>
      </p:sp>
      <p:sp>
        <p:nvSpPr>
          <p:cNvPr id="10" name="Text 8"/>
          <p:cNvSpPr txBox="1"/>
          <p:nvPr/>
        </p:nvSpPr>
        <p:spPr>
          <a:xfrm>
            <a:off x="8211312"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כמובנה, עקבי וברור. חוסר ודאות פוגע ברכיב זה ראשון: העתיד אינו צפוי.</a:t>
            </a:r>
            <a:endParaRPr lang="he-IL" sz="1300" dirty="0"/>
          </a:p>
        </p:txBody>
      </p:sp>
      <p:sp>
        <p:nvSpPr>
          <p:cNvPr id="11" name="Shape 9"/>
          <p:cNvSpPr/>
          <p:nvPr/>
        </p:nvSpPr>
        <p:spPr>
          <a:xfrm>
            <a:off x="4357116" y="3657600"/>
            <a:ext cx="3474720" cy="1691640"/>
          </a:xfrm>
          <a:prstGeom prst="rect">
            <a:avLst/>
          </a:prstGeom>
          <a:solidFill>
            <a:srgbClr val="FFFFFF"/>
          </a:solidFill>
          <a:ln w="15875">
            <a:solidFill>
              <a:srgbClr val="1F3864"/>
            </a:solidFill>
            <a:prstDash val="solid"/>
          </a:ln>
        </p:spPr>
      </p:sp>
      <p:sp>
        <p:nvSpPr>
          <p:cNvPr id="12" name="Shape 10"/>
          <p:cNvSpPr/>
          <p:nvPr/>
        </p:nvSpPr>
        <p:spPr>
          <a:xfrm>
            <a:off x="4357116" y="3657600"/>
            <a:ext cx="3474720" cy="502920"/>
          </a:xfrm>
          <a:prstGeom prst="rect">
            <a:avLst/>
          </a:prstGeom>
          <a:solidFill>
            <a:srgbClr val="1F3864"/>
          </a:solidFill>
          <a:ln w="12700">
            <a:solidFill>
              <a:srgbClr val="1F3864"/>
            </a:solidFill>
            <a:prstDash val="solid"/>
          </a:ln>
        </p:spPr>
      </p:sp>
      <p:sp>
        <p:nvSpPr>
          <p:cNvPr id="13" name="Shape 11"/>
          <p:cNvSpPr/>
          <p:nvPr/>
        </p:nvSpPr>
        <p:spPr>
          <a:xfrm>
            <a:off x="4357116" y="4160520"/>
            <a:ext cx="3474720" cy="45720"/>
          </a:xfrm>
          <a:prstGeom prst="rect">
            <a:avLst/>
          </a:prstGeom>
          <a:solidFill>
            <a:srgbClr val="ED7D31"/>
          </a:solidFill>
          <a:ln w="12700">
            <a:solidFill>
              <a:srgbClr val="ED7D31"/>
            </a:solidFill>
            <a:prstDash val="solid"/>
          </a:ln>
        </p:spPr>
      </p:sp>
      <p:sp>
        <p:nvSpPr>
          <p:cNvPr id="14" name="Text 12"/>
          <p:cNvSpPr txBox="1"/>
          <p:nvPr/>
        </p:nvSpPr>
        <p:spPr>
          <a:xfrm>
            <a:off x="4448556"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ניהוליות (רכיב התנהגותי)</a:t>
            </a:r>
            <a:endParaRPr lang="he-IL" sz="1600" dirty="0"/>
          </a:p>
        </p:txBody>
      </p:sp>
      <p:sp>
        <p:nvSpPr>
          <p:cNvPr id="15" name="Text 13"/>
          <p:cNvSpPr txBox="1"/>
          <p:nvPr/>
        </p:nvSpPr>
        <p:spPr>
          <a:xfrm>
            <a:off x="4494276"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לעובד יש משאבים מספיקים להתמודד עם הדרישות. בתקופת אי-ודאות המשאבים נראים בלתי מספיקים.</a:t>
            </a:r>
            <a:endParaRPr lang="he-IL" sz="1300" dirty="0"/>
          </a:p>
        </p:txBody>
      </p:sp>
      <p:sp>
        <p:nvSpPr>
          <p:cNvPr id="16" name="Shape 14"/>
          <p:cNvSpPr/>
          <p:nvPr/>
        </p:nvSpPr>
        <p:spPr>
          <a:xfrm>
            <a:off x="640080" y="3657600"/>
            <a:ext cx="3474720" cy="1691640"/>
          </a:xfrm>
          <a:prstGeom prst="rect">
            <a:avLst/>
          </a:prstGeom>
          <a:solidFill>
            <a:srgbClr val="FFFFFF"/>
          </a:solidFill>
          <a:ln w="15875">
            <a:solidFill>
              <a:srgbClr val="1F3864"/>
            </a:solidFill>
            <a:prstDash val="solid"/>
          </a:ln>
        </p:spPr>
      </p:sp>
      <p:sp>
        <p:nvSpPr>
          <p:cNvPr id="17" name="Shape 15"/>
          <p:cNvSpPr/>
          <p:nvPr/>
        </p:nvSpPr>
        <p:spPr>
          <a:xfrm>
            <a:off x="640080" y="3657600"/>
            <a:ext cx="3474720" cy="502920"/>
          </a:xfrm>
          <a:prstGeom prst="rect">
            <a:avLst/>
          </a:prstGeom>
          <a:solidFill>
            <a:srgbClr val="1F3864"/>
          </a:solidFill>
          <a:ln w="12700">
            <a:solidFill>
              <a:srgbClr val="1F3864"/>
            </a:solidFill>
            <a:prstDash val="solid"/>
          </a:ln>
        </p:spPr>
      </p:sp>
      <p:sp>
        <p:nvSpPr>
          <p:cNvPr id="18" name="Shape 16"/>
          <p:cNvSpPr/>
          <p:nvPr/>
        </p:nvSpPr>
        <p:spPr>
          <a:xfrm>
            <a:off x="640080" y="4160520"/>
            <a:ext cx="3474720" cy="45720"/>
          </a:xfrm>
          <a:prstGeom prst="rect">
            <a:avLst/>
          </a:prstGeom>
          <a:solidFill>
            <a:srgbClr val="ED7D31"/>
          </a:solidFill>
          <a:ln w="12700">
            <a:solidFill>
              <a:srgbClr val="ED7D31"/>
            </a:solidFill>
            <a:prstDash val="solid"/>
          </a:ln>
        </p:spPr>
      </p:sp>
      <p:sp>
        <p:nvSpPr>
          <p:cNvPr id="19" name="Text 17"/>
          <p:cNvSpPr txBox="1"/>
          <p:nvPr/>
        </p:nvSpPr>
        <p:spPr>
          <a:xfrm>
            <a:off x="731520" y="3657600"/>
            <a:ext cx="3291840"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משמעותיות (רכיב מוטיבציוני)</a:t>
            </a:r>
            <a:endParaRPr lang="he-IL" sz="1600" dirty="0"/>
          </a:p>
        </p:txBody>
      </p:sp>
      <p:sp>
        <p:nvSpPr>
          <p:cNvPr id="20" name="Text 18"/>
          <p:cNvSpPr txBox="1"/>
          <p:nvPr/>
        </p:nvSpPr>
        <p:spPr>
          <a:xfrm>
            <a:off x="777240" y="4297680"/>
            <a:ext cx="3200400" cy="960120"/>
          </a:xfrm>
          <a:prstGeom prst="rect">
            <a:avLst/>
          </a:prstGeom>
          <a:noFill/>
          <a:ln/>
        </p:spPr>
        <p:txBody>
          <a:bodyPr wrap="square" lIns="0" tIns="0" rIns="0" bIns="0" rtlCol="0" anchor="t"/>
          <a:lstStyle/>
          <a:p>
            <a:pPr rtl="1" algn="ctr" indent="0" marL="0">
              <a:lnSpc>
                <a:spcPct val="115000"/>
              </a:lnSpc>
              <a:buNone/>
            </a:pPr>
            <a:r>
              <a:rPr lang="he-IL" altLang="en-US" sz="1300" dirty="0">
                <a:solidFill>
                  <a:srgbClr val="000000"/>
                </a:solidFill>
                <a:latin typeface="David" pitchFamily="34" charset="0"/>
                <a:ea typeface="David" pitchFamily="34" charset="-122"/>
                <a:cs typeface="David" pitchFamily="34" charset="-120"/>
              </a:rPr>
              <a:t>מצב העבודה נתפס כראוי למחויבות ולמעורבות. קשה להתחייב למה שעלול להיעלם.</a:t>
            </a:r>
            <a:endParaRPr lang="he-IL" sz="1300" dirty="0"/>
          </a:p>
        </p:txBody>
      </p:sp>
      <p:sp>
        <p:nvSpPr>
          <p:cNvPr id="21" name="Text 19"/>
          <p:cNvSpPr txBox="1"/>
          <p:nvPr/>
        </p:nvSpPr>
        <p:spPr>
          <a:xfrm>
            <a:off x="640080" y="5486400"/>
            <a:ext cx="10908792" cy="320040"/>
          </a:xfrm>
          <a:prstGeom prst="rect">
            <a:avLst/>
          </a:prstGeom>
          <a:noFill/>
          <a:ln/>
        </p:spPr>
        <p:txBody>
          <a:bodyPr wrap="square" lIns="0" tIns="0" rIns="0" bIns="0" rtlCol="0" anchor="t"/>
          <a:lstStyle/>
          <a:p>
            <a:pPr rtl="1" algn="r" indent="0" marL="0">
              <a:buNone/>
            </a:pPr>
            <a:r>
              <a:rPr lang="he-IL" altLang="en-US" sz="1100" dirty="0">
                <a:solidFill>
                  <a:srgbClr val="1F3864"/>
                </a:solidFill>
                <a:latin typeface="David" pitchFamily="34" charset="0"/>
                <a:ea typeface="David" pitchFamily="34" charset="-122"/>
                <a:cs typeface="David" pitchFamily="34" charset="-120"/>
              </a:rPr>
              <a:t>איור 1: שלושת רכיבי תחושת הקוהרנטיות בעבודה ופגיעתו של חוסר הוודאות בכל אחד מהם (על פי Cetkovská et al., 2026)</a:t>
            </a:r>
            <a:endParaRPr lang="he-IL" sz="1100" dirty="0"/>
          </a:p>
        </p:txBody>
      </p:sp>
      <p:sp>
        <p:nvSpPr>
          <p:cNvPr id="22" name="Shape 20"/>
          <p:cNvSpPr/>
          <p:nvPr/>
        </p:nvSpPr>
        <p:spPr>
          <a:xfrm>
            <a:off x="640080" y="6355080"/>
            <a:ext cx="10908792" cy="0"/>
          </a:xfrm>
          <a:prstGeom prst="line">
            <a:avLst/>
          </a:prstGeom>
          <a:noFill/>
          <a:ln w="12700">
            <a:solidFill>
              <a:srgbClr val="ED7D31"/>
            </a:solidFill>
            <a:prstDash val="solid"/>
          </a:ln>
        </p:spPr>
      </p:sp>
      <p:sp>
        <p:nvSpPr>
          <p:cNvPr id="23" name="Text 21"/>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24" name="Text 22"/>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4</a:t>
            </a:r>
            <a:endParaRPr lang="he-IL"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עיצוב תפקיד מבוסס צרכים והשערות המחקר</a:t>
            </a:r>
            <a:endParaRPr lang="he-IL" sz="2800" dirty="0"/>
          </a:p>
        </p:txBody>
      </p:sp>
      <p:sp>
        <p:nvSpPr>
          <p:cNvPr id="5" name="Text 3"/>
          <p:cNvSpPr txBox="1"/>
          <p:nvPr/>
        </p:nvSpPr>
        <p:spPr>
          <a:xfrm>
            <a:off x="640080" y="132588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עיצוב תפקיד הוגדר לראשונה כמאמצים יזומים של עובדים להתאים היבטים של תפקידם לצרכיהם ולכישוריהם, גישה שהעבירה את העובד ממקבל פסיבי של תנאי עבודה לשחקן פעיל בעיצובם (Wrzesniewski &amp; Dutton, 2001, כפי שמצוטט אצל Cetkovská et al., 2026). המאמר משתמש בגרסה המתמקדת בסיפוק שישה צרכים פסיכולוגיים בעבודה, צרכי DRAMMA: ניתוק והרפיה הם צרכי הימנעות שמטרתם להפחית מאמץ ולהשיב אנרגיה, ואילו אוטונומיה, מיומנות, משמעות ושייכות הם צרכי התקרבות שמטרתם לייצר מצבים חיוביים, צמיחה ומשאבים חדשים. פריט לדוגמה: "ארגנתי את עבודתי כך שאשיג תחושת תכלית במה שאני עושה" (Cetkovská et al., 2026).</a:t>
            </a:r>
            <a:endParaRPr lang="he-IL" sz="1600" dirty="0"/>
          </a:p>
        </p:txBody>
      </p:sp>
      <p:sp>
        <p:nvSpPr>
          <p:cNvPr id="6" name="Text 4"/>
          <p:cNvSpPr txBox="1"/>
          <p:nvPr/>
        </p:nvSpPr>
        <p:spPr>
          <a:xfrm>
            <a:off x="640080" y="379476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על בסיס תיאוריית שימור המשאבים, שלפיה מי שמחזיק במשאבים נוטה לפתח משאבים נוספים (Hobfoll, 2001, כפי שמצוטט אצל Cetkovská et al., 2026), הועלו שתי השערות. ההשערה הראשונה היא שעיצוב תפקיד מבוסס צרכים מנבא באופן חיובי את שלושת רכיבי תחושת הקוהרנטיות חצי שנה מאוחר יותר. ההשערה השנייה היא שתחושת קוהרנטיות בעבודה מנבאת עיצוב תפקיד עתידי. יחד הן מתארות "ספירלת רווח" שבה שני המשתנים מחזקים זה את זה לאורך זמן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5</a:t>
            </a:r>
            <a:endParaRPr lang="he-IL"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שיטת המחקר</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המחקר הוא מחקר פאנל בשני גלים בהפרש של שישה חודשים, במסגרת פרויקט Craft4Health. הנתונים נאספו בשאלון מקוון ממדגם מכסות של האוכלוסייה העובדת בגרמניה ובאזור דובר הגרמנית בשווייץ, בדצמבר 2021 עד ינואר 2022 וביוני עד יולי 2022. בגל הראשון השתתפו 924 עובדים, לאחר סינון 53 משיבים רשלניים, ו-740 מהם השלימו את הגל השני, שיעור השתתפות של 80%. במדגם 56% גברים, הגיל הממוצע 48.9, ממוצע שעות העבודה השבועיות 38.1, ו-35% מהמשתתפים בעלי תואר אקדמי (Cetkovská et al., 2026).</a:t>
            </a:r>
            <a:endParaRPr lang="he-IL" sz="1600" dirty="0"/>
          </a:p>
        </p:txBody>
      </p:sp>
      <p:sp>
        <p:nvSpPr>
          <p:cNvPr id="6" name="Text 4"/>
          <p:cNvSpPr txBox="1"/>
          <p:nvPr/>
        </p:nvSpPr>
        <p:spPr>
          <a:xfrm>
            <a:off x="640080" y="3703320"/>
            <a:ext cx="10908792" cy="24688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תחושת קוהרנטיות בעבודה נמדדה בסולם של תשעה פריטים, שלושה לכל רכיב, בדיפרנציאל סמנטי בן שבע דרגות, למשל צפוי לעומת בלתי צפוי. עיצוב תפקיד מבוסס צרכים נמדד בסולם של 18 פריטים, שלושה לכל אחד משישה הצרכים, בסולם של חמש דרגות ביחס לשבועיים האחרונים. הניתוח נערך במודל פאנל צולב, לאחר ניתוח גורמים מאשש ובדיקת אי-שונות מדידה בין הגלים, והושוו ארבעה מודלים: יציבות בלבד, שני מודלים חד-כיווניים ומודל הדדי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6</a:t>
            </a:r>
            <a:endParaRPr lang="he-IL"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הממצאים המרכזיים</a:t>
            </a:r>
            <a:endParaRPr lang="he-IL" sz="2800" dirty="0"/>
          </a:p>
        </p:txBody>
      </p:sp>
      <p:sp>
        <p:nvSpPr>
          <p:cNvPr id="5" name="Text 3"/>
          <p:cNvSpPr txBox="1"/>
          <p:nvPr/>
        </p:nvSpPr>
        <p:spPr>
          <a:xfrm>
            <a:off x="640080" y="1325880"/>
            <a:ext cx="10908792" cy="21488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המודל ההדדי השיג את ההתאמה הטובה ביותר לנתונים. עיצוב תפקיד לצרכי התקרבות ניבא באופן מובהק את שלושת הרכיבים חצי שנה מאוחר יותר: מובנות (β = 0.142, p = .002), ניהוליות (β = 0.137, p = .003) ומשמעותיות (β = 0.166, p &lt; .001). עיצוב תפקיד לצרכי הימנעות לא ניבא אף אחד מהם (β בין 0.03 ל-0.09, לא מובהק). בכיוון ההפוך, ניהוליות (β = 0.431, p &lt; .001) ומשמעותיות (β = 0.095) ניבאו עיצוב תפקיד עתידי לצרכי התקרבות, ומובנות הראתה מקדם שלילי שהמחברים מייחסים לאפקט דיכוי סטטיסטי. המודל הסביר 56% עד 66% מהשונות ברכיבי תחושת הקוהרנטיות (Cetkovská et al., 2026).</a:t>
            </a:r>
            <a:endParaRPr lang="he-IL" sz="1500" dirty="0"/>
          </a:p>
        </p:txBody>
      </p:sp>
      <p:graphicFrame>
        <p:nvGraphicFramePr>
          <p:cNvPr id="6" name="Chart 0" descr=""/>
          <p:cNvGraphicFramePr/>
          <p:nvPr/>
        </p:nvGraphicFramePr>
        <p:xfrm>
          <a:off x="2926080" y="3520440"/>
          <a:ext cx="6309360" cy="25146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40080" y="6035040"/>
            <a:ext cx="10908792" cy="320040"/>
          </a:xfrm>
          <a:prstGeom prst="rect">
            <a:avLst/>
          </a:prstGeom>
          <a:noFill/>
          <a:ln/>
        </p:spPr>
        <p:txBody>
          <a:bodyPr wrap="square" lIns="0" tIns="0" rIns="0" bIns="0" rtlCol="0" anchor="t"/>
          <a:lstStyle/>
          <a:p>
            <a:pPr rtl="1" algn="ctr" indent="0" marL="0">
              <a:buNone/>
            </a:pPr>
            <a:r>
              <a:rPr lang="he-IL" altLang="en-US" sz="1100" dirty="0">
                <a:solidFill>
                  <a:srgbClr val="1F3864"/>
                </a:solidFill>
                <a:latin typeface="David" pitchFamily="34" charset="0"/>
                <a:ea typeface="David" pitchFamily="34" charset="-122"/>
                <a:cs typeface="David" pitchFamily="34" charset="-120"/>
              </a:rPr>
              <a:t>תרשים 1: מקדמי ניבוי מתוקננים (β) של שלושת רכיבי תחושת הקוהרנטיות בגל 2 לפי סוג עיצוב התפקיד בגל 1 (Cetkovská et al., 2026, טבלה 4)</a:t>
            </a:r>
            <a:endParaRPr lang="he-IL" sz="1100" dirty="0"/>
          </a:p>
        </p:txBody>
      </p:sp>
      <p:sp>
        <p:nvSpPr>
          <p:cNvPr id="8" name="Shape 5"/>
          <p:cNvSpPr/>
          <p:nvPr/>
        </p:nvSpPr>
        <p:spPr>
          <a:xfrm>
            <a:off x="640080" y="6355080"/>
            <a:ext cx="10908792" cy="0"/>
          </a:xfrm>
          <a:prstGeom prst="line">
            <a:avLst/>
          </a:prstGeom>
          <a:noFill/>
          <a:ln w="12700">
            <a:solidFill>
              <a:srgbClr val="ED7D31"/>
            </a:solidFill>
            <a:prstDash val="solid"/>
          </a:ln>
        </p:spPr>
      </p:sp>
      <p:sp>
        <p:nvSpPr>
          <p:cNvPr id="9"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7</a:t>
            </a:r>
            <a:endParaRPr lang="he-IL"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תמצית המאמר: מסקנות המחברים, חוזקות ומגבלות</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המחברים מסיקים שתחושת הקוהרנטיות בעבודה היא משאב דינמי שמגיב לשינויים שהעובד עצמו יוזם. עובדים שמעצבים את תפקידם כדי לספק את צרכי האוטונומיה, המיומנות, המשמעות והשייכות תופסים את עבודתם, חצי שנה מאוחר יותר, כמובנת יותר, ניתנת לניהול יותר ומשמעותית יותר. עיצוב תפקיד שמכוון רק להתרחק מהעבודה ולנוח תומך בהתאוששות אך אינו משנה את תפיסת העבודה עצמה. לארגונים המסקנה היא שיש לטפח תחושת ניהוליות ולתת מרחב לעיצוב תפקיד, משום שהניהוליות היא המניע החזק ביותר ליוזמה נוספת (Cetkovská et al., 2026).</a:t>
            </a:r>
            <a:endParaRPr lang="he-IL" sz="1600" dirty="0"/>
          </a:p>
        </p:txBody>
      </p:sp>
      <p:sp>
        <p:nvSpPr>
          <p:cNvPr id="6" name="Text 4"/>
          <p:cNvSpPr txBox="1"/>
          <p:nvPr/>
        </p:nvSpPr>
        <p:spPr>
          <a:xfrm>
            <a:off x="640080" y="3703320"/>
            <a:ext cx="10908792" cy="2560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חוזקות המחקר הן מערך האורך המאפשר לבחון כיווניות בזמן, המדגם הגדול והמאוזן, שיעור ההשתתפות הגבוה בגל השני וכלי המדידה המתוקפים. מגבלותיו, שהמחברים עצמם מפרטים, הן מדגם מערבי ולא מייצג לחלוטין, איסוף נתונים בתקופת הקורונה, דיווח עצמי בלבד, הקושי לפרש את המקדם השלילי של המובנות, ומודל פאנל צולב שאינו מפריד בין שונות בין-אישית לתוך-אישית, ולכן יש לפרש את הממצאים כקשרים בזמן ולא כהוכחה סיבתית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8</a:t>
            </a:r>
            <a:endParaRPr lang="he-IL"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המאמר המשלים: מודעות לבינה מלאכותית, חוסר ביטחון וחוסן קריירה</a:t>
            </a:r>
            <a:endParaRPr lang="he-IL" sz="2800" dirty="0"/>
          </a:p>
        </p:txBody>
      </p:sp>
      <p:sp>
        <p:nvSpPr>
          <p:cNvPr id="5" name="Text 3"/>
          <p:cNvSpPr txBox="1"/>
          <p:nvPr/>
        </p:nvSpPr>
        <p:spPr>
          <a:xfrm>
            <a:off x="640080" y="1280160"/>
            <a:ext cx="10908792" cy="640080"/>
          </a:xfrm>
          <a:prstGeom prst="rect">
            <a:avLst/>
          </a:prstGeom>
          <a:noFill/>
          <a:ln/>
        </p:spPr>
        <p:txBody>
          <a:bodyPr wrap="square" lIns="0" tIns="0" rIns="0" bIns="0" rtlCol="0" anchor="t"/>
          <a:lstStyle/>
          <a:p>
            <a:pPr algn="r" indent="0" marL="0">
              <a:buNone/>
            </a:pPr>
            <a:r>
              <a:rPr lang="en-US" sz="1200" i="1" dirty="0">
                <a:solidFill>
                  <a:srgbClr val="1F3864"/>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200" dirty="0"/>
          </a:p>
        </p:txBody>
      </p:sp>
      <p:sp>
        <p:nvSpPr>
          <p:cNvPr id="6" name="Text 4"/>
          <p:cNvSpPr txBox="1"/>
          <p:nvPr/>
        </p:nvSpPr>
        <p:spPr>
          <a:xfrm>
            <a:off x="640080" y="2011680"/>
            <a:ext cx="10908792" cy="17373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לחיזוק הקשר בין המאמר המרכזי לבין נושא העבודה נבחר מחקר אורך נוסף, שפורסם בגישה פתוחה בכתב עת שפיט. המחברים, מאוניברסיטת סוּוֹן בדרום קוריאה, בחנו את ההשלכות של מודעות לבינה מלאכותית, כלומר תפיסת העובד שטכנולוגיה עלולה להחליף אותו או לשנות את תפקידו, על חוסר ביטחון תעסוקתי, על ביצועי משימה ועל התנהגות סוטה בעבודה. הנתונים נאספו בשלוש נקודות זמן מעובדי משרד במשרה מלאה (Chung et al., 2025).</a:t>
            </a:r>
            <a:endParaRPr lang="he-IL" sz="1600" dirty="0"/>
          </a:p>
        </p:txBody>
      </p:sp>
      <p:sp>
        <p:nvSpPr>
          <p:cNvPr id="7" name="Text 5"/>
          <p:cNvSpPr txBox="1"/>
          <p:nvPr/>
        </p:nvSpPr>
        <p:spPr>
          <a:xfrm>
            <a:off x="640080" y="3794760"/>
            <a:ext cx="10908792" cy="25146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הממצאים מראים שעצם המודעות לבינה מלאכותית, עוד לפני שינוי בפועל, מגבירה חוסר ביטחון תעסוקתי, ושחוסר הביטחון מתווך את הקשר בין המודעות לבין ירידה בביצועי המשימה ועלייה בהתנהגות סוטה. אצל עובדים בעלי חוסן קריירה גבוה הקשר בין המודעות לבין חוסר הביטחון היה חלש יותר (Chung et al., 2025). שני המאמרים משלימים זה את זה: המאמר המשלים מתאר את מקור חוסר הוודאות של שנת 2026 ומראה שמשאב אישי ממתן אותו, והמאמר המרכזי מראה כיצד בונים משאב כזה בפועל, באמצעות עיצוב תפקיד יזום (Cetkovská et al., 2026).</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9</a:t>
            </a:r>
            <a:endParaRPr lang="he-IL"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חיבור לחומר הנלמד בקורס</a:t>
            </a:r>
            <a:endParaRPr lang="he-IL" sz="2800" dirty="0"/>
          </a:p>
        </p:txBody>
      </p:sp>
      <p:sp>
        <p:nvSpPr>
          <p:cNvPr id="5" name="Text 3"/>
          <p:cNvSpPr txBox="1"/>
          <p:nvPr/>
        </p:nvSpPr>
        <p:spPr>
          <a:xfrm>
            <a:off x="640080" y="1325880"/>
            <a:ext cx="10908792" cy="23774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המאמר אינו זר לחומר הקורס אלא מעניק לו בסיס אמפירי. שלושת סלי הכלים שנלמדו בקורס, רשת אנשים, זהות מקצועית והתפתחות, מקבילים כמעט אחד לאחד לצרכי ההתקרבות שנמצאו כבונים תחושת קוהרנטיות: רשת האנשים היא צורך השייכות, חמש השאלות של הזהות המקצועית הן עיצוב תפקיד לצורך המשמעות, וההתפתחות היא צורך המיומנות. הרעיון של קריירה רבודה וקיר הטיפוס, שבהם כל שלב נבנה על קודמו, הוא בדיוק ספירלת הרווח שהמחקר מתעד, שבה כל צעד של עיצוב תפקיד מגדיל את המשאבים לצעד הבא (Cetkovská et al., 2026).</a:t>
            </a:r>
            <a:endParaRPr lang="he-IL" sz="1600" dirty="0"/>
          </a:p>
        </p:txBody>
      </p:sp>
      <p:sp>
        <p:nvSpPr>
          <p:cNvPr id="6" name="Text 4"/>
          <p:cNvSpPr txBox="1"/>
          <p:nvPr/>
        </p:nvSpPr>
        <p:spPr>
          <a:xfrm>
            <a:off x="640080" y="3794760"/>
            <a:ext cx="10908792" cy="25146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הגורמים המניעים של הרצברג, הישג, הכרה ומשמעות, מקבילים לצרכי ההתקרבות, ואילו הגורמים ההיגייניים מקבילים לצרכי ההימנעות, מה שמסביר מדוע רק הראשונים שינו את תפיסת העבודה. עוגני הקריירה של שיין מסבירים מדוע צרכים שונים חשובים לעובדים שונים: מי שעוגנו הוא אוטונומיה יעצב את תפקידו סביב חופש הפעולה, ומי שעוגנו הוא ביטחון ויציבות יחפש קודם כול מובנות. מאמר החובה בקורס מראה שתמיכה במקום העבודה ובמשפחה משפרת את הזמינות הפסיכולוגית של העובד (Russo et al., 2016), כלומר את תחושת הניהוליות שהמחקר מזהה כמנוע החזק ביותר ליוזמה (Cetkovská et al., 2026).</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10</a:t>
            </a:r>
            <a:endParaRPr lang="he-IL"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תובנות ומסקנות</a:t>
            </a:r>
            <a:endParaRPr lang="he-IL" sz="2800" dirty="0"/>
          </a:p>
        </p:txBody>
      </p:sp>
      <p:sp>
        <p:nvSpPr>
          <p:cNvPr id="5" name="Text 3"/>
          <p:cNvSpPr txBox="1"/>
          <p:nvPr/>
        </p:nvSpPr>
        <p:spPr>
          <a:xfrm>
            <a:off x="640080" y="1325880"/>
            <a:ext cx="10908792" cy="28346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התובנה הראשונה היא שבהירות, שליטה ומשמעות אינן רק תוצר של הסביבה: תחושת הקוהרנטיות עולה כשהעובד פועל על תפקידו, גם כשהסביבה לא השתנתה. התובנה השנייה היא שההבדל בין התקרבות להימנעות מכריע, שכן מאמצים להתנתק ולנוח חשובים להתאוששות אך אינם משנים את תפיסת העבודה. התובנה השלישית היא שהמשאבים קודמים ליוזמה: תחושת הניהוליות ניבאה עיצוב תפקיד עתידי במקדם החזק ביותר במודל, ולכן מי שמרגיש שאין לו משאבים מגן על מה שנותר במקום להשקיע (Cetkovská et al., 2026). התובנה הרביעית, מהמאמר המשלים, היא שמשאב אישי ממתן את הקשר בין האיום הטכנולוגי לבין חוסר הביטחון (Chung et al., 2025).</a:t>
            </a:r>
            <a:endParaRPr lang="he-IL" sz="1600" dirty="0"/>
          </a:p>
        </p:txBody>
      </p:sp>
      <p:sp>
        <p:nvSpPr>
          <p:cNvPr id="6" name="Text 4"/>
          <p:cNvSpPr txBox="1"/>
          <p:nvPr/>
        </p:nvSpPr>
        <p:spPr>
          <a:xfrm>
            <a:off x="640080" y="425196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המסקנה המרכזית היא שההתמודדות עם חוסר ודאות תעסוקתי אינה מסתכמת בהגנה מפני האיום, אלא בבנייה יזומה של בהירות, שליטה ומשמעות בתוך התפקיד הקיים, ושאת המשאבים לכך יש לבנות בתקופות של יציבות, לפני שהאיום מדלדל אותם. ברמה הארגונית, מנהלים שרוצים עובדים יוזמים בתקופת שינוי צריכים קודם כול לדאוג לתחושת ניהוליות: משאבים מספיקים, מידע ברור ומרחב לעיצוב התפקיד.</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11</a:t>
            </a:r>
            <a:endParaRPr lang="he-IL"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דעה אישית על המאמר</a:t>
            </a:r>
            <a:endParaRPr lang="he-IL" sz="2800" dirty="0"/>
          </a:p>
        </p:txBody>
      </p:sp>
      <p:sp>
        <p:nvSpPr>
          <p:cNvPr id="5" name="Text 3"/>
          <p:cNvSpPr txBox="1"/>
          <p:nvPr/>
        </p:nvSpPr>
        <p:spPr>
          <a:xfrm>
            <a:off x="640080" y="1325880"/>
            <a:ext cx="10908792" cy="201168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מה שאהבתי במאמר הוא נקודת המבט, ששואלת מה עוזר לעובדים ולא רק מה מזיק להם, והעובדה שהיא נשענת על רעיון של חוקר שפעל בישראל. אהבתי את הפרקטיות שלו, שישה צרכים, שאלות פשוטות ופעולות לשבועיים, ואת הכנות של המחברים, שמקדישים כמעט עמוד שלם למגבלות, כולל הודאה שהמקדם השלילי של המובנות קשה להם להסביר. העובדה שהמאמר זמין לכולם בחינם חשובה בעיניי (Cetkovská et al., 2026).</a:t>
            </a:r>
            <a:endParaRPr lang="he-IL" sz="1600" dirty="0"/>
          </a:p>
        </p:txBody>
      </p:sp>
      <p:sp>
        <p:nvSpPr>
          <p:cNvPr id="6" name="Text 4"/>
          <p:cNvSpPr txBox="1"/>
          <p:nvPr/>
        </p:nvSpPr>
        <p:spPr>
          <a:xfrm>
            <a:off x="640080" y="3474720"/>
            <a:ext cx="10908792" cy="27432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חסרו לי שלושה דברים. המאמר אינו מודד חוסר ביטחון תעסוקתי במישרין, ואת החיבור לנושא בניתי דרך המאמר המשלים. המדגם גרמני ושווייצרי, בגיל ממוצע של כמעט 49 ומתרבות עבודה עם ביטחון סוציאלי גבוה, ולא ברור שהמרחב לעצב תפקיד קיים גם אצל סטודנטים ישראלים בתחילת הדרך. המחקר עוסק בשכירים בתפקיד קיים בלבד. עמדתי היא שהמאמר משלים את המסר "ממשבר להזדמנות" שנלמד בקורס: משבר הופך להזדמנות לא מעצמו, אלא כשמישהו מעצב אותו כך, ומי שמרגיש שאין לו משאבים צריך קודם תמיכה ולא עצות.</a:t>
            </a:r>
            <a:endParaRPr lang="he-IL" sz="16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12</a:t>
            </a:r>
            <a:endParaRPr lang="he-IL"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יישום מעשי: תוכנית עיצוב תפקיד אישית</a:t>
            </a:r>
            <a:endParaRPr lang="he-IL" sz="2800" dirty="0"/>
          </a:p>
        </p:txBody>
      </p:sp>
      <p:sp>
        <p:nvSpPr>
          <p:cNvPr id="5" name="Text 3"/>
          <p:cNvSpPr txBox="1"/>
          <p:nvPr/>
        </p:nvSpPr>
        <p:spPr>
          <a:xfrm>
            <a:off x="640080" y="1325880"/>
            <a:ext cx="10908792" cy="1234440"/>
          </a:xfrm>
          <a:prstGeom prst="rect">
            <a:avLst/>
          </a:prstGeom>
          <a:noFill/>
          <a:ln/>
        </p:spPr>
        <p:txBody>
          <a:bodyPr wrap="square" lIns="0" tIns="0" rIns="0" bIns="0" rtlCol="0" anchor="t"/>
          <a:lstStyle/>
          <a:p>
            <a:pPr rtl="1" algn="just" indent="0" marL="0">
              <a:lnSpc>
                <a:spcPct val="125000"/>
              </a:lnSpc>
              <a:buNone/>
            </a:pPr>
            <a:r>
              <a:rPr lang="he-IL" altLang="en-US" sz="1500" dirty="0">
                <a:solidFill>
                  <a:srgbClr val="000000"/>
                </a:solidFill>
                <a:latin typeface="David" pitchFamily="34" charset="0"/>
                <a:ea typeface="David" pitchFamily="34" charset="-122"/>
                <a:cs typeface="David" pitchFamily="34" charset="-120"/>
              </a:rPr>
              <a:t>ממצאי המאמר תורגמו לכלי אישי המבוסס על ארבעת צרכי ההתקרבות, שנמצאו כבונים תחושת קוהרנטיות. לכל צורך שאלה מנחה ודוגמאות לפעולה שאפשר לבצע בשבועיים, גם בתפקיד סטודנטיאלי או במשרה חלקית. את צרכי ההימנעות מומלץ לטפח לצורך התאוששות, אך לפי המאמר הם אינם משנים את תפיסת העבודה (Cetkovská et al., 2026).</a:t>
            </a:r>
            <a:endParaRPr lang="he-IL" sz="1500" dirty="0"/>
          </a:p>
        </p:txBody>
      </p:sp>
      <p:sp>
        <p:nvSpPr>
          <p:cNvPr id="6" name="Shape 4"/>
          <p:cNvSpPr/>
          <p:nvPr/>
        </p:nvSpPr>
        <p:spPr>
          <a:xfrm>
            <a:off x="8951976" y="2697480"/>
            <a:ext cx="2587752" cy="3017520"/>
          </a:xfrm>
          <a:prstGeom prst="rect">
            <a:avLst/>
          </a:prstGeom>
          <a:solidFill>
            <a:srgbClr val="FFFFFF"/>
          </a:solidFill>
          <a:ln w="15875">
            <a:solidFill>
              <a:srgbClr val="1F3864"/>
            </a:solidFill>
            <a:prstDash val="solid"/>
          </a:ln>
        </p:spPr>
      </p:sp>
      <p:sp>
        <p:nvSpPr>
          <p:cNvPr id="7" name="Shape 5"/>
          <p:cNvSpPr/>
          <p:nvPr/>
        </p:nvSpPr>
        <p:spPr>
          <a:xfrm>
            <a:off x="8951976" y="2697480"/>
            <a:ext cx="2587752" cy="502920"/>
          </a:xfrm>
          <a:prstGeom prst="rect">
            <a:avLst/>
          </a:prstGeom>
          <a:solidFill>
            <a:srgbClr val="1F3864"/>
          </a:solidFill>
          <a:ln w="12700">
            <a:solidFill>
              <a:srgbClr val="1F3864"/>
            </a:solidFill>
            <a:prstDash val="solid"/>
          </a:ln>
        </p:spPr>
      </p:sp>
      <p:sp>
        <p:nvSpPr>
          <p:cNvPr id="8" name="Shape 6"/>
          <p:cNvSpPr/>
          <p:nvPr/>
        </p:nvSpPr>
        <p:spPr>
          <a:xfrm>
            <a:off x="8951976" y="3200400"/>
            <a:ext cx="2587752" cy="45720"/>
          </a:xfrm>
          <a:prstGeom prst="rect">
            <a:avLst/>
          </a:prstGeom>
          <a:solidFill>
            <a:srgbClr val="ED7D31"/>
          </a:solidFill>
          <a:ln w="12700">
            <a:solidFill>
              <a:srgbClr val="ED7D31"/>
            </a:solidFill>
            <a:prstDash val="solid"/>
          </a:ln>
        </p:spPr>
      </p:sp>
      <p:sp>
        <p:nvSpPr>
          <p:cNvPr id="9" name="Text 7"/>
          <p:cNvSpPr txBox="1"/>
          <p:nvPr/>
        </p:nvSpPr>
        <p:spPr>
          <a:xfrm>
            <a:off x="9043416"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אוטונומיה</a:t>
            </a:r>
            <a:endParaRPr lang="he-IL" sz="1600" dirty="0"/>
          </a:p>
        </p:txBody>
      </p:sp>
      <p:sp>
        <p:nvSpPr>
          <p:cNvPr id="10" name="Text 8"/>
          <p:cNvSpPr txBox="1"/>
          <p:nvPr/>
        </p:nvSpPr>
        <p:spPr>
          <a:xfrm>
            <a:off x="9089136"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באילו החלטות קטנות אני יכול/ה לבחור בעצמי?</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לקבוע את סדר המשימות של הבוקר; להציע דרך משלי למשימה חוזרת; שעה קבועה ללא הפרעות.</a:t>
            </a:r>
            <a:endParaRPr lang="he-IL" sz="1250" dirty="0"/>
          </a:p>
        </p:txBody>
      </p:sp>
      <p:sp>
        <p:nvSpPr>
          <p:cNvPr id="11" name="Shape 9"/>
          <p:cNvSpPr/>
          <p:nvPr/>
        </p:nvSpPr>
        <p:spPr>
          <a:xfrm>
            <a:off x="6181344" y="2697480"/>
            <a:ext cx="2587752" cy="3017520"/>
          </a:xfrm>
          <a:prstGeom prst="rect">
            <a:avLst/>
          </a:prstGeom>
          <a:solidFill>
            <a:srgbClr val="FFFFFF"/>
          </a:solidFill>
          <a:ln w="15875">
            <a:solidFill>
              <a:srgbClr val="1F3864"/>
            </a:solidFill>
            <a:prstDash val="solid"/>
          </a:ln>
        </p:spPr>
      </p:sp>
      <p:sp>
        <p:nvSpPr>
          <p:cNvPr id="12" name="Shape 10"/>
          <p:cNvSpPr/>
          <p:nvPr/>
        </p:nvSpPr>
        <p:spPr>
          <a:xfrm>
            <a:off x="6181344" y="2697480"/>
            <a:ext cx="2587752" cy="502920"/>
          </a:xfrm>
          <a:prstGeom prst="rect">
            <a:avLst/>
          </a:prstGeom>
          <a:solidFill>
            <a:srgbClr val="1F3864"/>
          </a:solidFill>
          <a:ln w="12700">
            <a:solidFill>
              <a:srgbClr val="1F3864"/>
            </a:solidFill>
            <a:prstDash val="solid"/>
          </a:ln>
        </p:spPr>
      </p:sp>
      <p:sp>
        <p:nvSpPr>
          <p:cNvPr id="13" name="Shape 11"/>
          <p:cNvSpPr/>
          <p:nvPr/>
        </p:nvSpPr>
        <p:spPr>
          <a:xfrm>
            <a:off x="6181344" y="3200400"/>
            <a:ext cx="2587752" cy="45720"/>
          </a:xfrm>
          <a:prstGeom prst="rect">
            <a:avLst/>
          </a:prstGeom>
          <a:solidFill>
            <a:srgbClr val="ED7D31"/>
          </a:solidFill>
          <a:ln w="12700">
            <a:solidFill>
              <a:srgbClr val="ED7D31"/>
            </a:solidFill>
            <a:prstDash val="solid"/>
          </a:ln>
        </p:spPr>
      </p:sp>
      <p:sp>
        <p:nvSpPr>
          <p:cNvPr id="14" name="Text 12"/>
          <p:cNvSpPr txBox="1"/>
          <p:nvPr/>
        </p:nvSpPr>
        <p:spPr>
          <a:xfrm>
            <a:off x="6272784"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מיומנות</a:t>
            </a:r>
            <a:endParaRPr lang="he-IL" sz="1600" dirty="0"/>
          </a:p>
        </p:txBody>
      </p:sp>
      <p:sp>
        <p:nvSpPr>
          <p:cNvPr id="15" name="Text 13"/>
          <p:cNvSpPr txBox="1"/>
          <p:nvPr/>
        </p:nvSpPr>
        <p:spPr>
          <a:xfrm>
            <a:off x="6318504"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אתגר בגובה הנכון יגרום לי להרגיש שאני מתקדם/ת?</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משימה אחת מעט מעבר ליכולת; כלי בינה מלאכותית אחד בתחום; לתעד בסוף השבוע דבר אחד שלמדתי.</a:t>
            </a:r>
            <a:endParaRPr lang="he-IL" sz="1250" dirty="0"/>
          </a:p>
        </p:txBody>
      </p:sp>
      <p:sp>
        <p:nvSpPr>
          <p:cNvPr id="16" name="Shape 14"/>
          <p:cNvSpPr/>
          <p:nvPr/>
        </p:nvSpPr>
        <p:spPr>
          <a:xfrm>
            <a:off x="3410712" y="2697480"/>
            <a:ext cx="2587752" cy="3017520"/>
          </a:xfrm>
          <a:prstGeom prst="rect">
            <a:avLst/>
          </a:prstGeom>
          <a:solidFill>
            <a:srgbClr val="FFFFFF"/>
          </a:solidFill>
          <a:ln w="15875">
            <a:solidFill>
              <a:srgbClr val="1F3864"/>
            </a:solidFill>
            <a:prstDash val="solid"/>
          </a:ln>
        </p:spPr>
      </p:sp>
      <p:sp>
        <p:nvSpPr>
          <p:cNvPr id="17" name="Shape 15"/>
          <p:cNvSpPr/>
          <p:nvPr/>
        </p:nvSpPr>
        <p:spPr>
          <a:xfrm>
            <a:off x="3410712" y="2697480"/>
            <a:ext cx="2587752" cy="502920"/>
          </a:xfrm>
          <a:prstGeom prst="rect">
            <a:avLst/>
          </a:prstGeom>
          <a:solidFill>
            <a:srgbClr val="1F3864"/>
          </a:solidFill>
          <a:ln w="12700">
            <a:solidFill>
              <a:srgbClr val="1F3864"/>
            </a:solidFill>
            <a:prstDash val="solid"/>
          </a:ln>
        </p:spPr>
      </p:sp>
      <p:sp>
        <p:nvSpPr>
          <p:cNvPr id="18" name="Shape 16"/>
          <p:cNvSpPr/>
          <p:nvPr/>
        </p:nvSpPr>
        <p:spPr>
          <a:xfrm>
            <a:off x="3410712" y="3200400"/>
            <a:ext cx="2587752" cy="45720"/>
          </a:xfrm>
          <a:prstGeom prst="rect">
            <a:avLst/>
          </a:prstGeom>
          <a:solidFill>
            <a:srgbClr val="ED7D31"/>
          </a:solidFill>
          <a:ln w="12700">
            <a:solidFill>
              <a:srgbClr val="ED7D31"/>
            </a:solidFill>
            <a:prstDash val="solid"/>
          </a:ln>
        </p:spPr>
      </p:sp>
      <p:sp>
        <p:nvSpPr>
          <p:cNvPr id="19" name="Text 17"/>
          <p:cNvSpPr txBox="1"/>
          <p:nvPr/>
        </p:nvSpPr>
        <p:spPr>
          <a:xfrm>
            <a:off x="3502152"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משמעות</a:t>
            </a:r>
            <a:endParaRPr lang="he-IL" sz="1600" dirty="0"/>
          </a:p>
        </p:txBody>
      </p:sp>
      <p:sp>
        <p:nvSpPr>
          <p:cNvPr id="20" name="Text 18"/>
          <p:cNvSpPr txBox="1"/>
          <p:nvPr/>
        </p:nvSpPr>
        <p:spPr>
          <a:xfrm>
            <a:off x="3547872"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איזה חלק בעבודה מתחבר למה שחשוב לי, ואיך מגדילים אותו?</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לזהות למי העבודה שלי עוזרת ולדבר איתו; לנסח במשפט למה התפקיד חשוב; להתנדב למשימה שמתחברת לערכים.</a:t>
            </a:r>
            <a:endParaRPr lang="he-IL" sz="1250" dirty="0"/>
          </a:p>
        </p:txBody>
      </p:sp>
      <p:sp>
        <p:nvSpPr>
          <p:cNvPr id="21" name="Shape 19"/>
          <p:cNvSpPr/>
          <p:nvPr/>
        </p:nvSpPr>
        <p:spPr>
          <a:xfrm>
            <a:off x="640080" y="2697480"/>
            <a:ext cx="2587752" cy="3017520"/>
          </a:xfrm>
          <a:prstGeom prst="rect">
            <a:avLst/>
          </a:prstGeom>
          <a:solidFill>
            <a:srgbClr val="FFFFFF"/>
          </a:solidFill>
          <a:ln w="15875">
            <a:solidFill>
              <a:srgbClr val="1F3864"/>
            </a:solidFill>
            <a:prstDash val="solid"/>
          </a:ln>
        </p:spPr>
      </p:sp>
      <p:sp>
        <p:nvSpPr>
          <p:cNvPr id="22" name="Shape 20"/>
          <p:cNvSpPr/>
          <p:nvPr/>
        </p:nvSpPr>
        <p:spPr>
          <a:xfrm>
            <a:off x="640080" y="2697480"/>
            <a:ext cx="2587752" cy="502920"/>
          </a:xfrm>
          <a:prstGeom prst="rect">
            <a:avLst/>
          </a:prstGeom>
          <a:solidFill>
            <a:srgbClr val="1F3864"/>
          </a:solidFill>
          <a:ln w="12700">
            <a:solidFill>
              <a:srgbClr val="1F3864"/>
            </a:solidFill>
            <a:prstDash val="solid"/>
          </a:ln>
        </p:spPr>
      </p:sp>
      <p:sp>
        <p:nvSpPr>
          <p:cNvPr id="23" name="Shape 21"/>
          <p:cNvSpPr/>
          <p:nvPr/>
        </p:nvSpPr>
        <p:spPr>
          <a:xfrm>
            <a:off x="640080" y="3200400"/>
            <a:ext cx="2587752" cy="45720"/>
          </a:xfrm>
          <a:prstGeom prst="rect">
            <a:avLst/>
          </a:prstGeom>
          <a:solidFill>
            <a:srgbClr val="ED7D31"/>
          </a:solidFill>
          <a:ln w="12700">
            <a:solidFill>
              <a:srgbClr val="ED7D31"/>
            </a:solidFill>
            <a:prstDash val="solid"/>
          </a:ln>
        </p:spPr>
      </p:sp>
      <p:sp>
        <p:nvSpPr>
          <p:cNvPr id="24" name="Text 22"/>
          <p:cNvSpPr txBox="1"/>
          <p:nvPr/>
        </p:nvSpPr>
        <p:spPr>
          <a:xfrm>
            <a:off x="731520" y="2697480"/>
            <a:ext cx="2404872" cy="502920"/>
          </a:xfrm>
          <a:prstGeom prst="rect">
            <a:avLst/>
          </a:prstGeom>
          <a:noFill/>
          <a:ln/>
        </p:spPr>
        <p:txBody>
          <a:bodyPr wrap="square" lIns="0" tIns="0" rIns="0" bIns="0" rtlCol="0" anchor="ctr"/>
          <a:lstStyle/>
          <a:p>
            <a:pPr rtl="1" algn="ctr" indent="0" marL="0">
              <a:buNone/>
            </a:pPr>
            <a:r>
              <a:rPr lang="he-IL" altLang="en-US" sz="1600" b="1" dirty="0">
                <a:solidFill>
                  <a:srgbClr val="FFFFFF"/>
                </a:solidFill>
                <a:latin typeface="David" pitchFamily="34" charset="0"/>
                <a:ea typeface="David" pitchFamily="34" charset="-122"/>
                <a:cs typeface="David" pitchFamily="34" charset="-120"/>
              </a:rPr>
              <a:t>שייכות</a:t>
            </a:r>
            <a:endParaRPr lang="he-IL" sz="1600" dirty="0"/>
          </a:p>
        </p:txBody>
      </p:sp>
      <p:sp>
        <p:nvSpPr>
          <p:cNvPr id="25" name="Text 23"/>
          <p:cNvSpPr txBox="1"/>
          <p:nvPr/>
        </p:nvSpPr>
        <p:spPr>
          <a:xfrm>
            <a:off x="777240" y="3337560"/>
            <a:ext cx="2313432" cy="2286000"/>
          </a:xfrm>
          <a:prstGeom prst="rect">
            <a:avLst/>
          </a:prstGeom>
          <a:noFill/>
          <a:ln/>
        </p:spPr>
        <p:txBody>
          <a:bodyPr wrap="square" lIns="0" tIns="0" rIns="0" bIns="0" rtlCol="0" anchor="t"/>
          <a:lstStyle/>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שאלה מנחה: עם מי בעבודה אני רוצה קשר אמיתי יותר?</a:t>
            </a:r>
            <a:endParaRPr lang="he-IL" sz="1250" dirty="0"/>
          </a:p>
          <a:p>
            <a:pPr rtl="1" algn="r" indent="0" marL="0">
              <a:lnSpc>
                <a:spcPct val="115000"/>
              </a:lnSpc>
              <a:buNone/>
            </a:pPr>
            <a:endParaRPr lang="he-IL" sz="1250" dirty="0"/>
          </a:p>
          <a:p>
            <a:pPr rtl="1" algn="r" indent="0" marL="0">
              <a:lnSpc>
                <a:spcPct val="115000"/>
              </a:lnSpc>
              <a:buNone/>
            </a:pPr>
            <a:r>
              <a:rPr lang="he-IL" altLang="en-US" sz="1250" dirty="0">
                <a:solidFill>
                  <a:srgbClr val="000000"/>
                </a:solidFill>
                <a:latin typeface="David" pitchFamily="34" charset="0"/>
                <a:ea typeface="David" pitchFamily="34" charset="-122"/>
                <a:cs typeface="David" pitchFamily="34" charset="-120"/>
              </a:rPr>
              <a:t>לשבועיים הקרובים: הפסקת קפה קבועה עם עמית; להציע עזרה לפני שמבקשים; להצטרף לפרויקט חוצה מחלקות.</a:t>
            </a:r>
            <a:endParaRPr lang="he-IL" sz="1250" dirty="0"/>
          </a:p>
        </p:txBody>
      </p:sp>
      <p:sp>
        <p:nvSpPr>
          <p:cNvPr id="26" name="Text 24"/>
          <p:cNvSpPr txBox="1"/>
          <p:nvPr/>
        </p:nvSpPr>
        <p:spPr>
          <a:xfrm>
            <a:off x="640080" y="5852160"/>
            <a:ext cx="10908792" cy="320040"/>
          </a:xfrm>
          <a:prstGeom prst="rect">
            <a:avLst/>
          </a:prstGeom>
          <a:noFill/>
          <a:ln/>
        </p:spPr>
        <p:txBody>
          <a:bodyPr wrap="square" lIns="0" tIns="0" rIns="0" bIns="0" rtlCol="0" anchor="t"/>
          <a:lstStyle/>
          <a:p>
            <a:pPr rtl="1" algn="r" indent="0" marL="0">
              <a:buNone/>
            </a:pPr>
            <a:r>
              <a:rPr lang="he-IL" altLang="en-US" sz="1100" dirty="0">
                <a:solidFill>
                  <a:srgbClr val="1F3864"/>
                </a:solidFill>
                <a:latin typeface="David" pitchFamily="34" charset="0"/>
                <a:ea typeface="David" pitchFamily="34" charset="-122"/>
                <a:cs typeface="David" pitchFamily="34" charset="-120"/>
              </a:rPr>
              <a:t>איור 2: תוכנית עיצוב תפקיד אישית לפי ארבעת צרכי ההתקרבות. פיתוח על פי Cetkovská et al. (2026)</a:t>
            </a:r>
            <a:endParaRPr lang="he-IL" sz="1100" dirty="0"/>
          </a:p>
        </p:txBody>
      </p:sp>
      <p:sp>
        <p:nvSpPr>
          <p:cNvPr id="27" name="Shape 25"/>
          <p:cNvSpPr/>
          <p:nvPr/>
        </p:nvSpPr>
        <p:spPr>
          <a:xfrm>
            <a:off x="640080" y="6355080"/>
            <a:ext cx="10908792" cy="0"/>
          </a:xfrm>
          <a:prstGeom prst="line">
            <a:avLst/>
          </a:prstGeom>
          <a:noFill/>
          <a:ln w="12700">
            <a:solidFill>
              <a:srgbClr val="ED7D31"/>
            </a:solidFill>
            <a:prstDash val="solid"/>
          </a:ln>
        </p:spPr>
      </p:sp>
      <p:sp>
        <p:nvSpPr>
          <p:cNvPr id="28" name="Text 2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29" name="Text 2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13</a:t>
            </a:r>
            <a:endParaRPr lang="he-IL"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אמצעי עזר להמחשה ולהפעלה</a:t>
            </a:r>
            <a:endParaRPr lang="he-IL" sz="2800" dirty="0"/>
          </a:p>
        </p:txBody>
      </p:sp>
      <p:sp>
        <p:nvSpPr>
          <p:cNvPr id="5" name="Text 3"/>
          <p:cNvSpPr txBox="1"/>
          <p:nvPr/>
        </p:nvSpPr>
        <p:spPr>
          <a:xfrm>
            <a:off x="640080" y="1325880"/>
            <a:ext cx="10908792" cy="141732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כתבת עיתון וסקר פתיחה. ההצגה נפתחת בכותרת מהעיתונות הכלכלית על התייעלות באמצעות בינה מלאכותית בענף ההייטק ("הקשיים של מנהלי הייטק", 2026), ולאחריה הכיתה מתבקשת לדרג, בסולם 1 עד 5, עד כמה העבודה או הלימודים הנוכחיים מרגישים ברורים, בשליטה ומשמעותיים. שלוש השאלות הן שלושת רכיבי תחושת הקוהרנטיות בעבודה, והתוצאות נשמרות לדיון בסיום.</a:t>
            </a:r>
            <a:endParaRPr lang="he-IL" sz="1600" dirty="0"/>
          </a:p>
        </p:txBody>
      </p:sp>
      <p:sp>
        <p:nvSpPr>
          <p:cNvPr id="6" name="Text 4"/>
          <p:cNvSpPr txBox="1"/>
          <p:nvPr/>
        </p:nvSpPr>
        <p:spPr>
          <a:xfrm>
            <a:off x="640080" y="2788920"/>
            <a:ext cx="10908792" cy="146304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סרטון. יוקרן קטע של כ-75 שניות מהרצאת TED של חוקרת החוסן לוסי הון, המציעה שלושה עקרונות: לקבל שדברים רעים קורים, לבחור במה להתמקד ולהפנות את הקשב למה שבשליטתנו, ולשאול על כל פעולה האם היא עוזרת או פוגעת (Hone, 2019). שני העקרונות האחרונים הם, במונחי המאמר, חיזוק המובנות והניהוליות והבחירה לעצב את המצב במקום רק לשרוד אותו.</a:t>
            </a:r>
            <a:endParaRPr lang="he-IL" sz="1600" dirty="0"/>
          </a:p>
        </p:txBody>
      </p:sp>
      <p:sp>
        <p:nvSpPr>
          <p:cNvPr id="7" name="Text 5">
            <a:hlinkClick r:id="rId1" tooltip=""/>
          </p:cNvPr>
          <p:cNvSpPr txBox="1"/>
          <p:nvPr/>
        </p:nvSpPr>
        <p:spPr>
          <a:xfrm>
            <a:off x="640080" y="4251960"/>
            <a:ext cx="10908792" cy="320040"/>
          </a:xfrm>
          <a:prstGeom prst="rect">
            <a:avLst/>
          </a:prstGeom>
          <a:noFill/>
          <a:ln/>
        </p:spPr>
        <p:txBody>
          <a:bodyPr wrap="square" lIns="0" tIns="0" rIns="0" bIns="0" rtlCol="0" anchor="t"/>
          <a:lstStyle/>
          <a:p>
            <a:pPr algn="r" indent="0" marL="0">
              <a:buNone/>
            </a:pPr>
            <a:r>
              <a:rPr lang="en-US" sz="1200" u="sng" dirty="0">
                <a:solidFill>
                  <a:srgbClr val="000000"/>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https://www.ted.com/talks/lucy_hone_the_three_secrets_of_resilient_people</a:t>
            </a:r>
            <a:endParaRPr lang="en-US" sz="1200" dirty="0"/>
          </a:p>
        </p:txBody>
      </p:sp>
      <p:sp>
        <p:nvSpPr>
          <p:cNvPr id="8" name="Text 6"/>
          <p:cNvSpPr txBox="1"/>
          <p:nvPr/>
        </p:nvSpPr>
        <p:spPr>
          <a:xfrm>
            <a:off x="640080" y="4663440"/>
            <a:ext cx="10908792" cy="16002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הפעלה. כל סטודנט בוחר צורך התקרבות אחד מתוך ארבעת הצרכים שבאיור 2, כותב פעולה אחת קונקרטית ומועד לביצועה, ומשתף את השכן במשפט אחד. לאחר מכן נאספות שתיים או שלוש דוגמאות מהכיתה ומחוברות לממצא: פעולות מסוג זה, לפי המאמר, מנבאות עלייה בבהירות, בשליטה ובמשמעות חצי שנה מאוחר יותר (Cetkovská et al., 2026). משך ההפעלה כשתי דקות.</a:t>
            </a:r>
            <a:endParaRPr lang="he-IL" sz="1600" dirty="0"/>
          </a:p>
        </p:txBody>
      </p:sp>
      <p:sp>
        <p:nvSpPr>
          <p:cNvPr id="9" name="Shape 7"/>
          <p:cNvSpPr/>
          <p:nvPr/>
        </p:nvSpPr>
        <p:spPr>
          <a:xfrm>
            <a:off x="640080" y="6355080"/>
            <a:ext cx="10908792" cy="0"/>
          </a:xfrm>
          <a:prstGeom prst="line">
            <a:avLst/>
          </a:prstGeom>
          <a:noFill/>
          <a:ln w="12700">
            <a:solidFill>
              <a:srgbClr val="ED7D31"/>
            </a:solidFill>
            <a:prstDash val="solid"/>
          </a:ln>
        </p:spPr>
      </p:sp>
      <p:sp>
        <p:nvSpPr>
          <p:cNvPr id="10" name="Text 8"/>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1" name="Text 9"/>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14</a:t>
            </a:r>
            <a:endParaRPr lang="he-IL"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סיכום</a:t>
            </a:r>
            <a:endParaRPr lang="he-IL" sz="2800" dirty="0"/>
          </a:p>
        </p:txBody>
      </p:sp>
      <p:sp>
        <p:nvSpPr>
          <p:cNvPr id="5" name="Text 3"/>
          <p:cNvSpPr txBox="1"/>
          <p:nvPr/>
        </p:nvSpPr>
        <p:spPr>
          <a:xfrm>
            <a:off x="640080" y="1325880"/>
            <a:ext cx="10908792" cy="228600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העבודה פתחה בשאלה מה מאפשר לעובדים להישאר בריאים ומתפקדים כשעולם העבודה אינו יציב. התשובה שעלתה ממחקר האורך של צטקובסקה ואחרים היא שתחושת הקוהרנטיות בעבודה היא משאב דינמי שהעובד יכול לחזק בעצמו באמצעות עיצוב תפקיד המכוון לצרכי אוטונומיה, מיומנות, משמעות ושייכות, ושהמשאב הזה בתורו מזין יוזמה נוספת (Cetkovská et al., 2026). המאמר המשלים הראה שהמודעות לבינה מלאכותית היא מקור מרכזי לחוסר הביטחון של ימינו ושמשאב אישי ממתן אותו (Chung et al., 2025).</a:t>
            </a:r>
            <a:endParaRPr lang="he-IL" sz="1600" dirty="0"/>
          </a:p>
        </p:txBody>
      </p:sp>
      <p:sp>
        <p:nvSpPr>
          <p:cNvPr id="6" name="Text 4"/>
          <p:cNvSpPr txBox="1"/>
          <p:nvPr/>
        </p:nvSpPr>
        <p:spPr>
          <a:xfrm>
            <a:off x="640080" y="3703320"/>
            <a:ext cx="10908792" cy="2194560"/>
          </a:xfrm>
          <a:prstGeom prst="rect">
            <a:avLst/>
          </a:prstGeom>
          <a:noFill/>
          <a:ln/>
        </p:spPr>
        <p:txBody>
          <a:bodyPr wrap="square" lIns="0" tIns="0" rIns="0" bIns="0" rtlCol="0" anchor="t"/>
          <a:lstStyle/>
          <a:p>
            <a:pPr rtl="1" algn="just" indent="0" marL="0">
              <a:lnSpc>
                <a:spcPct val="125000"/>
              </a:lnSpc>
              <a:buNone/>
            </a:pPr>
            <a:r>
              <a:rPr lang="he-IL" altLang="en-US" sz="1600" dirty="0">
                <a:solidFill>
                  <a:srgbClr val="000000"/>
                </a:solidFill>
                <a:latin typeface="David" pitchFamily="34" charset="0"/>
                <a:ea typeface="David" pitchFamily="34" charset="-122"/>
                <a:cs typeface="David" pitchFamily="34" charset="-120"/>
              </a:rPr>
              <a:t>מכאן ההמלצות היישומיות. לסטודנט: לבחור בכל שבועיים צורך התקרבות אחד ופעולה אחת של עיצוב תפקיד, ללמוד כלי בינה מלאכותית אחד בתחום העיסוק, ולתעד בסוף כל שבוע דבר אחד שנלמד. למנהל: לטפח תחושת ניהוליות באמצעות משאבים ומידע ברור, לתת מרחב לעיצוב תפקיד, ולתקשר שינויים טכנולוגיים בשקיפות. את חוסר הוודאות לא תמיד אפשר למנוע. את הבהירות, השליטה והמשמעות בתוך התפקיד אפשר לבנות.</a:t>
            </a:r>
            <a:endParaRPr lang="he-IL" sz="1600" dirty="0"/>
          </a:p>
        </p:txBody>
      </p:sp>
      <p:sp>
        <p:nvSpPr>
          <p:cNvPr id="7" name="Text 5"/>
          <p:cNvSpPr txBox="1"/>
          <p:nvPr/>
        </p:nvSpPr>
        <p:spPr>
          <a:xfrm>
            <a:off x="640080" y="5897880"/>
            <a:ext cx="10908792" cy="411480"/>
          </a:xfrm>
          <a:prstGeom prst="rect">
            <a:avLst/>
          </a:prstGeom>
          <a:noFill/>
          <a:ln/>
        </p:spPr>
        <p:txBody>
          <a:bodyPr wrap="square" lIns="0" tIns="0" rIns="0" bIns="0" rtlCol="0" anchor="t"/>
          <a:lstStyle/>
          <a:p>
            <a:pPr rtl="1" algn="r" indent="0" marL="0">
              <a:buNone/>
            </a:pPr>
            <a:r>
              <a:rPr lang="he-IL" altLang="en-US" sz="1600" b="1" dirty="0">
                <a:solidFill>
                  <a:srgbClr val="ED7D31"/>
                </a:solidFill>
                <a:latin typeface="David" pitchFamily="34" charset="0"/>
                <a:ea typeface="David" pitchFamily="34" charset="-122"/>
                <a:cs typeface="David" pitchFamily="34" charset="-120"/>
              </a:rPr>
              <a:t>תודה. אשמח לשאלות.</a:t>
            </a:r>
            <a:endParaRPr lang="he-IL" sz="1600" dirty="0"/>
          </a:p>
        </p:txBody>
      </p:sp>
      <p:sp>
        <p:nvSpPr>
          <p:cNvPr id="8" name="Shape 6"/>
          <p:cNvSpPr/>
          <p:nvPr/>
        </p:nvSpPr>
        <p:spPr>
          <a:xfrm>
            <a:off x="640080" y="6355080"/>
            <a:ext cx="10908792" cy="0"/>
          </a:xfrm>
          <a:prstGeom prst="line">
            <a:avLst/>
          </a:prstGeom>
          <a:noFill/>
          <a:ln w="12700">
            <a:solidFill>
              <a:srgbClr val="ED7D31"/>
            </a:solidFill>
            <a:prstDash val="solid"/>
          </a:ln>
        </p:spPr>
      </p:sp>
      <p:sp>
        <p:nvSpPr>
          <p:cNvPr id="9" name="Text 7"/>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10" name="Text 8"/>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15</a:t>
            </a:r>
            <a:endParaRPr lang="he-IL"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1F3864"/>
          </a:solidFill>
          <a:ln w="12700">
            <a:solidFill>
              <a:srgbClr val="1F3864"/>
            </a:solidFill>
            <a:prstDash val="solid"/>
          </a:ln>
        </p:spPr>
      </p:sp>
      <p:sp>
        <p:nvSpPr>
          <p:cNvPr id="3" name="Shape 1"/>
          <p:cNvSpPr/>
          <p:nvPr/>
        </p:nvSpPr>
        <p:spPr>
          <a:xfrm>
            <a:off x="0" y="1051560"/>
            <a:ext cx="12188952" cy="64008"/>
          </a:xfrm>
          <a:prstGeom prst="rect">
            <a:avLst/>
          </a:prstGeom>
          <a:solidFill>
            <a:srgbClr val="ED7D31"/>
          </a:solidFill>
          <a:ln w="12700">
            <a:solidFill>
              <a:srgbClr val="ED7D31"/>
            </a:solidFill>
            <a:prstDash val="solid"/>
          </a:ln>
        </p:spPr>
      </p:sp>
      <p:sp>
        <p:nvSpPr>
          <p:cNvPr id="4" name="Text 2"/>
          <p:cNvSpPr txBox="1"/>
          <p:nvPr/>
        </p:nvSpPr>
        <p:spPr>
          <a:xfrm>
            <a:off x="640080" y="137160"/>
            <a:ext cx="10908792" cy="777240"/>
          </a:xfrm>
          <a:prstGeom prst="rect">
            <a:avLst/>
          </a:prstGeom>
          <a:noFill/>
          <a:ln/>
        </p:spPr>
        <p:txBody>
          <a:bodyPr wrap="square" lIns="0" tIns="0" rIns="0" bIns="0" rtlCol="0" anchor="ctr"/>
          <a:lstStyle/>
          <a:p>
            <a:pPr rtl="1" algn="r" indent="0" marL="0">
              <a:buNone/>
            </a:pPr>
            <a:r>
              <a:rPr lang="he-IL" altLang="en-US" sz="2800" b="1" dirty="0">
                <a:solidFill>
                  <a:srgbClr val="FFFFFF"/>
                </a:solidFill>
                <a:latin typeface="David" pitchFamily="34" charset="0"/>
                <a:ea typeface="David" pitchFamily="34" charset="-122"/>
                <a:cs typeface="David" pitchFamily="34" charset="-120"/>
              </a:rPr>
              <a:t>רשימת מקורות</a:t>
            </a:r>
            <a:endParaRPr lang="he-IL" sz="2800" dirty="0"/>
          </a:p>
        </p:txBody>
      </p:sp>
      <p:sp>
        <p:nvSpPr>
          <p:cNvPr id="5" name="Text 3"/>
          <p:cNvSpPr txBox="1"/>
          <p:nvPr/>
        </p:nvSpPr>
        <p:spPr>
          <a:xfrm>
            <a:off x="640080" y="1325880"/>
            <a:ext cx="10908792" cy="1371600"/>
          </a:xfrm>
          <a:prstGeom prst="rect">
            <a:avLst/>
          </a:prstGeom>
          <a:noFill/>
          <a:ln/>
        </p:spPr>
        <p:txBody>
          <a:bodyPr wrap="square" lIns="0" tIns="0" rIns="0" bIns="0" rtlCol="0" anchor="t"/>
          <a:lstStyle/>
          <a:p>
            <a:pPr algn="r" indent="0" marL="0">
              <a:spcAft>
                <a:spcPts val="800"/>
              </a:spcAft>
              <a:buNone/>
            </a:pPr>
            <a:r>
              <a:rPr lang="he-IL" altLang="en-US" sz="1300" dirty="0">
                <a:solidFill>
                  <a:srgbClr val="000000"/>
                </a:solidFill>
                <a:latin typeface="David" pitchFamily="34" charset="0"/>
                <a:ea typeface="David" pitchFamily="34" charset="-122"/>
                <a:cs typeface="David" pitchFamily="34" charset="-120"/>
              </a:rPr>
              <a:t>בנק ישראל. (2025, 11 במרץ). ההשפעה הצפויה של בינה מלאכותית יוצרת על העובדים: השלכות על המדיניות בשוק העבודה [תיבה מתוך דוח בנק ישראל לשנת 2024].</a:t>
            </a:r>
            <a:endParaRPr lang="he-IL" sz="1300" dirty="0"/>
          </a:p>
          <a:p>
            <a:pPr algn="r" indent="0" marL="0">
              <a:buNone/>
            </a:pPr>
            <a:r>
              <a:rPr lang="he-IL" altLang="en-US" sz="1300" dirty="0">
                <a:solidFill>
                  <a:srgbClr val="000000"/>
                </a:solidFill>
                <a:latin typeface="David" pitchFamily="34" charset="0"/>
                <a:ea typeface="David" pitchFamily="34" charset="-122"/>
                <a:cs typeface="David" pitchFamily="34" charset="-120"/>
              </a:rPr>
              <a:t>הקשיים של מנהלי הייטק ב-2026: גיוס עובדים מתאימים והתייעלות AI. (2026, 21 ביוני). TheMarker.</a:t>
            </a:r>
            <a:endParaRPr lang="he-IL" sz="1300" dirty="0"/>
          </a:p>
        </p:txBody>
      </p:sp>
      <p:sp>
        <p:nvSpPr>
          <p:cNvPr id="6" name="Text 4"/>
          <p:cNvSpPr txBox="1"/>
          <p:nvPr/>
        </p:nvSpPr>
        <p:spPr>
          <a:xfrm>
            <a:off x="640080" y="2834640"/>
            <a:ext cx="10908792" cy="3291840"/>
          </a:xfrm>
          <a:prstGeom prst="rect">
            <a:avLst/>
          </a:prstGeom>
          <a:noFill/>
          <a:ln/>
        </p:spPr>
        <p:txBody>
          <a:bodyPr wrap="square" lIns="0" tIns="0" rIns="0" bIns="0" rtlCol="0" anchor="t"/>
          <a:lstStyle/>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Cetkovská, K., Bauer, G. F., &amp; Tušl, M. (2026). The role of needs-based job crafting in strengthening work-related sense of coherence: A two-wave panel study. Scandinavian Journal of Work and Organizational Psychology, 11(1), Article 14. https://doi.org/10.16993/sjwop.389</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Chung, Y. W., Im, S., Kim, J. E., &amp; Yun, J. K. (2025). Artificial intelligence awareness, career resilience, job insecurity and behavioural outcomes. Australian Journal of Psychology, 77(1), Article 2559910. https://doi.org/10.1080/00049530.2025.2559910</a:t>
            </a:r>
            <a:endParaRPr lang="en-US" sz="1300" dirty="0"/>
          </a:p>
          <a:p>
            <a:pPr algn="l" indent="0" marL="0">
              <a:spcAft>
                <a:spcPts val="800"/>
              </a:spcAft>
              <a:buNone/>
            </a:pPr>
            <a:r>
              <a:rPr lang="en-US" sz="1300" dirty="0">
                <a:solidFill>
                  <a:srgbClr val="000000"/>
                </a:solidFill>
                <a:latin typeface="Times New Roman" pitchFamily="34" charset="0"/>
                <a:ea typeface="Times New Roman" pitchFamily="34" charset="-122"/>
                <a:cs typeface="Times New Roman" pitchFamily="34" charset="-120"/>
              </a:rPr>
              <a:t>Hone, L. (2019). 3 secrets of resilient people [Video]. TED Conferences. https://www.ted.com/talks/lucy_hone_the_three_secrets_of_resilient_people</a:t>
            </a:r>
            <a:endParaRPr lang="en-US" sz="1300" dirty="0"/>
          </a:p>
          <a:p>
            <a:pPr algn="l" indent="0" marL="0">
              <a:buNone/>
            </a:pPr>
            <a:r>
              <a:rPr lang="en-US" sz="1300" dirty="0">
                <a:solidFill>
                  <a:srgbClr val="000000"/>
                </a:solidFill>
                <a:latin typeface="Times New Roman" pitchFamily="34" charset="0"/>
                <a:ea typeface="Times New Roman" pitchFamily="34" charset="-122"/>
                <a:cs typeface="Times New Roman" pitchFamily="34" charset="-120"/>
              </a:rPr>
              <a:t>Russo, M., Shteigman, A., &amp; Carmeli, A. (2016). Workplace and family support and work-life balance: Implications for individual psychological availability and energy at work. The Journal of Positive Psychology, 11(2), 173-188. https://doi.org/10.1080/17439760.2015.1025424</a:t>
            </a:r>
            <a:endParaRPr lang="en-US" sz="1300" dirty="0"/>
          </a:p>
        </p:txBody>
      </p:sp>
      <p:sp>
        <p:nvSpPr>
          <p:cNvPr id="7" name="Shape 5"/>
          <p:cNvSpPr/>
          <p:nvPr/>
        </p:nvSpPr>
        <p:spPr>
          <a:xfrm>
            <a:off x="640080" y="6355080"/>
            <a:ext cx="10908792" cy="0"/>
          </a:xfrm>
          <a:prstGeom prst="line">
            <a:avLst/>
          </a:prstGeom>
          <a:noFill/>
          <a:ln w="12700">
            <a:solidFill>
              <a:srgbClr val="ED7D31"/>
            </a:solidFill>
            <a:prstDash val="solid"/>
          </a:ln>
        </p:spPr>
      </p:sp>
      <p:sp>
        <p:nvSpPr>
          <p:cNvPr id="8" name="Text 6"/>
          <p:cNvSpPr txBox="1"/>
          <p:nvPr/>
        </p:nvSpPr>
        <p:spPr>
          <a:xfrm>
            <a:off x="5943600" y="6400800"/>
            <a:ext cx="5605272" cy="274320"/>
          </a:xfrm>
          <a:prstGeom prst="rect">
            <a:avLst/>
          </a:prstGeom>
          <a:noFill/>
          <a:ln/>
        </p:spPr>
        <p:txBody>
          <a:bodyPr wrap="square" lIns="0" tIns="0" rIns="0" bIns="0" rtlCol="0" anchor="ctr"/>
          <a:lstStyle/>
          <a:p>
            <a:pPr rtl="1" algn="r" indent="0" marL="0">
              <a:buNone/>
            </a:pPr>
            <a:r>
              <a:rPr lang="he-IL" altLang="en-US" sz="1000" dirty="0">
                <a:solidFill>
                  <a:srgbClr val="1F3864"/>
                </a:solidFill>
                <a:latin typeface="David" pitchFamily="34" charset="0"/>
                <a:ea typeface="David" pitchFamily="34" charset="-122"/>
                <a:cs typeface="David" pitchFamily="34" charset="-120"/>
              </a:rPr>
              <a:t>ניהול קריירה בארגונים, הקריה האקדמית אונו</a:t>
            </a:r>
            <a:endParaRPr lang="he-IL" sz="1000" dirty="0"/>
          </a:p>
        </p:txBody>
      </p:sp>
      <p:sp>
        <p:nvSpPr>
          <p:cNvPr id="9" name="Text 7"/>
          <p:cNvSpPr txBox="1"/>
          <p:nvPr/>
        </p:nvSpPr>
        <p:spPr>
          <a:xfrm>
            <a:off x="640080" y="6400800"/>
            <a:ext cx="914400" cy="274320"/>
          </a:xfrm>
          <a:prstGeom prst="rect">
            <a:avLst/>
          </a:prstGeom>
          <a:noFill/>
          <a:ln/>
        </p:spPr>
        <p:txBody>
          <a:bodyPr wrap="square" lIns="0" tIns="0" rIns="0" bIns="0" rtlCol="0" anchor="ctr"/>
          <a:lstStyle/>
          <a:p>
            <a:pPr rtl="1" algn="l" indent="0" marL="0">
              <a:buNone/>
            </a:pPr>
            <a:r>
              <a:rPr lang="he-IL" altLang="en-US" sz="1100" b="1" dirty="0">
                <a:solidFill>
                  <a:srgbClr val="ED7D31"/>
                </a:solidFill>
                <a:latin typeface="David" pitchFamily="34" charset="0"/>
                <a:ea typeface="David" pitchFamily="34" charset="-122"/>
                <a:cs typeface="David" pitchFamily="34" charset="-120"/>
              </a:rPr>
              <a:t>16</a:t>
            </a:r>
            <a:endParaRPr lang="he-IL"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התמודדות עם חוסר ודאות תעסוקתי</dc:title>
  <dc:subject>PptxGenJS Presentation</dc:subject>
  <dc:creator>PptxGenJS</dc:creator>
  <cp:lastModifiedBy>PptxGenJS</cp:lastModifiedBy>
  <cp:revision>1</cp:revision>
  <dcterms:created xsi:type="dcterms:W3CDTF">2026-09-21T19:40:45Z</dcterms:created>
  <dcterms:modified xsi:type="dcterms:W3CDTF">2026-09-21T19:40:45Z</dcterms:modified>
</cp:coreProperties>
</file>