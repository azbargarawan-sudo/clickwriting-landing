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מועסקים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76F51"/>
              </a:solidFill>
              <a:effectLst/>
            </c:spPr>
          </c:dPt>
          <c:dPt>
            <c:idx val="1"/>
            <c:bubble3D val="0"/>
            <c:spPr>
              <a:solidFill>
                <a:srgbClr val="CBD5E1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מקצועות תחליפיים</c:v>
                </c:pt>
                <c:pt idx="1">
                  <c:v>שאר המקצועות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20</c:v>
                </c:pt>
                <c:pt idx="1">
                  <c:v>80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פתיחה (30 שניות): שלום לכולם, אנחנו [שמות]. הנושא שלנו הוא התמודדות עם חוסר ודאות תעסוקתי – נושא שנוגע כמעט לכל אחד בחדר, בין אם בגלל הבינה המלאכותית, המצב בהייטק, המילואים או פשוט ההתחלה של הקריירה.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מעבר מהיר על המבנה. להדגיש שיש סרטון והפעלה – כדי שהכיתה תישאר ערנית.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להריץ סקר מנטימטר (או הרמת ידיים). לצלם מסך של התוצאות. לומר: "שימו לב לפיזור – זה בדיוק מה שהמאמר מסביר: אותו שוק, אותה כיתה, תחושות שונות לגמרי".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כתבת עיתון: להציג את הכותרת של TheMarker (21.6.2026) – "הקשיים של מנהלי הייטק ב-2026: גיוס עובדים מתאימים – והתייעלות AI". נתון בנק ישראל: כחמישית מהמועסקים במקצועות תחליפיים. המסר: חוסר ביטחון הוא לא רק "האם אפוטר" אלא "האם התפקיד שלי ישתנה".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להציג את המאמר במשפט: זו לא סקירה של מחקר אחד אלא "מפה" של כל התחום. מינדי שוס היא חוקרת בפסיכולוגיה ארגונית מאוניברסיטת סנטרל פלורידה. בהגשה בשלשה – להרחיב על המאמר של לי, הואנג ואשפורד: סקירה גלובלית ובין-תרבותית, מדגישה את עולם העבודה המשתנה.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ההגדרה בארבעה רכיבים: תפיסה, איום, המשכיות/יציבות, המשרה הנוכחית. הטבלה: כמותי לעומת איכותני, קוגניטיבי לעומת רגשי. להדגיש: בעידן ה-AI האיום האיכותני חשוב לא פחות.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לקרוא את התרשים מימין לשמאל: גורמים בשלוש רמות יוצרים תחושת חוסר ביטחון; היא מובילה לתוצאות דרך ארבעה מנגנונים; והפס הצהוב למטה – המשתנים הממתנים – מסביר למה אצל אחד זה משתק ואצל אחר זה מניע.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דוגמה מהחיים: בזמן צמצומים, עמית עובד עד מאוחר, לא מתלונן – ובמקביל מראיין בחברות אחרות. זה לא סתירה, זה שני מנגנונים שפועלים במקביל. למנהלים: מאמץ מוגבר בתקופת אי-ודאות הוא לא בהכרח מחויבות – לפעמים זה פחד.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כאן נמצאת הבשורה של המאמר לניהול קריירה: על מאפייני האיום השליטה שלנו מוגבלת, אבל על שתי הפגיעויות – כלכלית ופסיכולוגית – אפשר לעבוד כבר עכשיו, בתור סטודנטים.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מטא-אנליזה = מחקר שמאחד סטטיסטית מאות מחקרים. 535 מדגמים, 51 מתוך 56 תוצאות. הממצא החשוב לנו: הרגש מתווך – ולכן עבודה על הדאגה חשובה לא פחות מעבודה על המצב.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להגיד את הביקורת בקול: המאמר לא מכיר את המציאות הישראלית של 2026. ועם זאת, המסגרת שלו מחזיקה מעמד מצוין – זו בדיוק הסיבה שהשתמשנו בה כדי לבנות כלי.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להקרין כ-90 שניות (מומלץ מהדקה ~9:30, שבה הון מציגה את שלושת העקרונות; לבדוק את הטיים-קוד מראש). לחבר כל עיקרון לרכיב במודל: קבלת האיום, מיקוד בשליטה, ויסות רגשי. חלופה: Jon Youshaei &amp; Michelle Weise – "How do you prepare for jobs that don't exist yet?" (TED).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זה הכלי שאנחנו משאירים לכיתה. כל שורה = משתנה ממתן מהמאמר שהפכנו לפעולה. השורה הרביעית היא הבחירה המודעת במנגנון הפרואקטיבי.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לחלק כרטיסים מודפסים (או להשאיר את השקופית). 2 דקות. אחר כך לשמוע 2–3 זוגות. לחבר את התשובות למודל: "שימו לב שרובכם קפצתם ישר לפעולה – זה המנגנון הפרואקטיבי. מי חשב קודם על הכרית הכלכלית?"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לחזור לתוצאות הסקר מהפתיחה: "מי שסימן 1–2: המאמר אומר שזה לא גזירת גורל. מי שסימן 5: יופי, אבל האיום האיכותני קיים גם אצלכם". לסיים במסר ולפתוח לשאלות.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ted.com/talks/lucy_hone_the_three_secrets_of_resilient_people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206240"/>
            <a:ext cx="5029200" cy="5029200"/>
          </a:xfrm>
          <a:prstGeom prst="ellipse">
            <a:avLst/>
          </a:prstGeom>
          <a:solidFill>
            <a:srgbClr val="1D2E52"/>
          </a:solidFill>
          <a:ln w="12700">
            <a:solidFill>
              <a:srgbClr val="1D2E5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424160" y="-1920240"/>
            <a:ext cx="3291840" cy="329184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800" dirty="0">
                <a:solidFill>
                  <a:srgbClr val="CAD3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עבודה מסכמת בקורס ניהול קריירה בארגונים</a:t>
            </a:r>
            <a:endParaRPr lang="he-IL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6459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התמודדות עם חוסר ודאות תעסוקתי</a:t>
            </a:r>
            <a:endParaRPr lang="he-IL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83464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200" i="1" dirty="0">
                <a:solidFill>
                  <a:srgbClr val="FCA3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מנהלים קריירה כשהוודאות היחידה היא חוסר הוודאות?</a:t>
            </a:r>
            <a:endParaRPr lang="he-IL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5204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AD3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Shoss, M. K. (2017). Job insecurity: An integrative review and agenda for future research. Journal of Management, 43(6), 1911–1939.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4389120"/>
            <a:ext cx="5669280" cy="1600200"/>
          </a:xfrm>
          <a:prstGeom prst="roundRect">
            <a:avLst>
              <a:gd name="adj" fmla="val 6857"/>
            </a:avLst>
          </a:prstGeom>
          <a:solidFill>
            <a:srgbClr val="1D2E52"/>
          </a:solidFill>
          <a:ln w="12700">
            <a:solidFill>
              <a:srgbClr val="1D2E52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914400" y="44805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400" b="1" dirty="0">
                <a:solidFill>
                  <a:srgbClr val="FCA3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מגישים/ות</a:t>
            </a:r>
            <a:endParaRPr lang="he-IL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484632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400"/>
              </a:spcAft>
              <a:buNone/>
            </a:pPr>
            <a:r>
              <a:rPr lang="he-IL" alt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[שם מלא]  |  ת.ז. [_________]</a:t>
            </a:r>
            <a:endParaRPr lang="he-IL" sz="1500" dirty="0"/>
          </a:p>
          <a:p>
            <a:pPr algn="r" indent="0" marL="0">
              <a:spcAft>
                <a:spcPts val="400"/>
              </a:spcAft>
              <a:buNone/>
            </a:pPr>
            <a:r>
              <a:rPr lang="he-IL" alt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[שם מלא]  |  ת.ז. [_________]</a:t>
            </a:r>
            <a:endParaRPr lang="he-IL" sz="1500" dirty="0"/>
          </a:p>
          <a:p>
            <a:pPr algn="r" indent="0" marL="0">
              <a:spcAft>
                <a:spcPts val="400"/>
              </a:spcAft>
              <a:buNone/>
            </a:pPr>
            <a:r>
              <a:rPr lang="he-IL" alt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[שם מלא]  |  ת.ז. [_________]  (אם בשלשה)</a:t>
            </a:r>
            <a:endParaRPr lang="he-IL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675120" y="448056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400"/>
              </a:spcAft>
              <a:buNone/>
            </a:pPr>
            <a:r>
              <a:rPr lang="he-IL" altLang="en-US" sz="1500" dirty="0">
                <a:solidFill>
                  <a:srgbClr val="CAD3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מרצה: גב' מורן דבדבני דקל</a:t>
            </a:r>
            <a:endParaRPr lang="he-IL" sz="1500" dirty="0"/>
          </a:p>
          <a:p>
            <a:pPr algn="r" indent="0" marL="0">
              <a:spcAft>
                <a:spcPts val="400"/>
              </a:spcAft>
              <a:buNone/>
            </a:pPr>
            <a:r>
              <a:rPr lang="he-IL" altLang="en-US" sz="1500" dirty="0">
                <a:solidFill>
                  <a:srgbClr val="CAD3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עוזר הוראה: מר פאר רועי</a:t>
            </a:r>
            <a:endParaRPr lang="he-IL" sz="1500" dirty="0"/>
          </a:p>
          <a:p>
            <a:pPr algn="r" indent="0" marL="0">
              <a:spcAft>
                <a:spcPts val="400"/>
              </a:spcAft>
              <a:buNone/>
            </a:pPr>
            <a:r>
              <a:rPr lang="he-IL" altLang="en-US" sz="1500" dirty="0">
                <a:solidFill>
                  <a:srgbClr val="CAD3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הפקולטה למנהל עסקים | תשפ"ו, סמסטר 3</a:t>
            </a:r>
            <a:endParaRPr lang="he-IL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נעשה ב-10 הדקות הקרובות?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8119872" y="141732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863072" y="1691640"/>
            <a:ext cx="502920" cy="50292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863072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394192" y="169164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סקר פתיחה</a:t>
            </a:r>
            <a:endParaRPr lang="he-IL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394192" y="233172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בטוחים אתם בעצם?</a:t>
            </a:r>
            <a:endParaRPr lang="he-IL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394192" y="30175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דק'</a:t>
            </a:r>
            <a:endParaRPr lang="he-IL" sz="1300" dirty="0"/>
          </a:p>
        </p:txBody>
      </p:sp>
      <p:sp>
        <p:nvSpPr>
          <p:cNvPr id="9" name="Shape 7"/>
          <p:cNvSpPr/>
          <p:nvPr/>
        </p:nvSpPr>
        <p:spPr>
          <a:xfrm>
            <a:off x="4334256" y="141732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077456" y="1691640"/>
            <a:ext cx="502920" cy="50292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077456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608576" y="169164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עכשיו</a:t>
            </a:r>
            <a:endParaRPr lang="he-IL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608576" y="233172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בינה מלאכותית, הייטק, מילואים</a:t>
            </a:r>
            <a:endParaRPr lang="he-IL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608576" y="30175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 דק'</a:t>
            </a:r>
            <a:endParaRPr lang="he-IL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141732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91840" y="1691640"/>
            <a:ext cx="502920" cy="50292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29184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169164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המאמר</a:t>
            </a:r>
            <a:endParaRPr lang="he-IL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233172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הגדרה, 4 מנגנונים, משתנים ממתנים</a:t>
            </a:r>
            <a:endParaRPr lang="he-IL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30175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 דק'</a:t>
            </a:r>
            <a:endParaRPr lang="he-IL" sz="1300" dirty="0"/>
          </a:p>
        </p:txBody>
      </p:sp>
      <p:sp>
        <p:nvSpPr>
          <p:cNvPr id="21" name="Shape 19"/>
          <p:cNvSpPr/>
          <p:nvPr/>
        </p:nvSpPr>
        <p:spPr>
          <a:xfrm>
            <a:off x="8119872" y="379476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0863072" y="4069080"/>
            <a:ext cx="502920" cy="50292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863072" y="4069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8394192" y="406908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ראיות ותובנות</a:t>
            </a:r>
            <a:endParaRPr lang="he-IL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8394192" y="470916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מטא-אנליזה ודעה אישית</a:t>
            </a:r>
            <a:endParaRPr lang="he-IL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394192" y="539496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דק'</a:t>
            </a:r>
            <a:endParaRPr lang="he-IL" sz="1300" dirty="0"/>
          </a:p>
        </p:txBody>
      </p:sp>
      <p:sp>
        <p:nvSpPr>
          <p:cNvPr id="27" name="Shape 25"/>
          <p:cNvSpPr/>
          <p:nvPr/>
        </p:nvSpPr>
        <p:spPr>
          <a:xfrm>
            <a:off x="4334256" y="379476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077456" y="4069080"/>
            <a:ext cx="502920" cy="50292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077456" y="4069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4608576" y="406908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סרטון + הפעלה</a:t>
            </a:r>
            <a:endParaRPr lang="he-IL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4608576" y="470916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TED וכרטיסי תרחיש</a:t>
            </a:r>
            <a:endParaRPr lang="he-IL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4608576" y="539496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דק'</a:t>
            </a:r>
            <a:endParaRPr lang="he-IL" sz="1300" dirty="0"/>
          </a:p>
        </p:txBody>
      </p:sp>
      <p:sp>
        <p:nvSpPr>
          <p:cNvPr id="33" name="Shape 31"/>
          <p:cNvSpPr/>
          <p:nvPr/>
        </p:nvSpPr>
        <p:spPr>
          <a:xfrm>
            <a:off x="548640" y="379476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4069080"/>
            <a:ext cx="502920" cy="50292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291840" y="4069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822960" y="406908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</a:t>
            </a:r>
            <a:endParaRPr lang="he-IL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822960" y="470916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המסר שלנו לכיתה</a:t>
            </a:r>
            <a:endParaRPr lang="he-IL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" y="539496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דק'</a:t>
            </a:r>
            <a:endParaRPr lang="he-IL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5943600" y="6446520"/>
            <a:ext cx="5696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ניהול קריירה בארגונים | הקריה האקדמית אונו</a:t>
            </a:r>
            <a:endParaRPr lang="he-IL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he-IL" alt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he-IL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סקר פתיחה</a:t>
            </a:r>
            <a:endParaRPr lang="he-IL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בסולם 1–5: עד כמה אתם בטוחים שתהיו באותו תפקיד (או באותו מסלול) בעוד שנתיים?</a:t>
            </a:r>
            <a:endParaRPr lang="he-IL" sz="2600" dirty="0"/>
          </a:p>
        </p:txBody>
      </p:sp>
      <p:sp>
        <p:nvSpPr>
          <p:cNvPr id="4" name="Shape 2"/>
          <p:cNvSpPr/>
          <p:nvPr/>
        </p:nvSpPr>
        <p:spPr>
          <a:xfrm>
            <a:off x="9249156" y="2743200"/>
            <a:ext cx="137160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249156" y="27432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974836" y="42519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he-IL" alt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בכלל לא בטוח/ה</a:t>
            </a:r>
            <a:endParaRPr lang="he-IL" sz="1400" dirty="0"/>
          </a:p>
        </p:txBody>
      </p:sp>
      <p:sp>
        <p:nvSpPr>
          <p:cNvPr id="7" name="Shape 5"/>
          <p:cNvSpPr/>
          <p:nvPr/>
        </p:nvSpPr>
        <p:spPr>
          <a:xfrm>
            <a:off x="7328916" y="2743200"/>
            <a:ext cx="13716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28916" y="27432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7054596" y="42519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he-IL" alt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כל כך</a:t>
            </a:r>
            <a:endParaRPr lang="he-IL" sz="1400" dirty="0"/>
          </a:p>
        </p:txBody>
      </p:sp>
      <p:sp>
        <p:nvSpPr>
          <p:cNvPr id="10" name="Shape 8"/>
          <p:cNvSpPr/>
          <p:nvPr/>
        </p:nvSpPr>
        <p:spPr>
          <a:xfrm>
            <a:off x="5408676" y="2743200"/>
            <a:ext cx="1371600" cy="1371600"/>
          </a:xfrm>
          <a:prstGeom prst="ellipse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08676" y="27432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5134356" y="42519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he-IL" alt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ככה-ככה</a:t>
            </a:r>
            <a:endParaRPr lang="he-IL" sz="1400" dirty="0"/>
          </a:p>
        </p:txBody>
      </p:sp>
      <p:sp>
        <p:nvSpPr>
          <p:cNvPr id="13" name="Shape 11"/>
          <p:cNvSpPr/>
          <p:nvPr/>
        </p:nvSpPr>
        <p:spPr>
          <a:xfrm>
            <a:off x="3488436" y="2743200"/>
            <a:ext cx="1371600" cy="1371600"/>
          </a:xfrm>
          <a:prstGeom prst="ellipse">
            <a:avLst/>
          </a:prstGeom>
          <a:solidFill>
            <a:srgbClr val="8AB17D"/>
          </a:solidFill>
          <a:ln w="12700">
            <a:solidFill>
              <a:srgbClr val="8AB17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488436" y="27432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3214116" y="42519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he-IL" alt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די בטוח/ה</a:t>
            </a:r>
            <a:endParaRPr lang="he-IL" sz="1400" dirty="0"/>
          </a:p>
        </p:txBody>
      </p:sp>
      <p:sp>
        <p:nvSpPr>
          <p:cNvPr id="16" name="Shape 14"/>
          <p:cNvSpPr/>
          <p:nvPr/>
        </p:nvSpPr>
        <p:spPr>
          <a:xfrm>
            <a:off x="1568196" y="2743200"/>
            <a:ext cx="1371600" cy="13716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568196" y="27432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4000" dirty="0"/>
          </a:p>
        </p:txBody>
      </p:sp>
      <p:sp>
        <p:nvSpPr>
          <p:cNvPr id="18" name="Text 16"/>
          <p:cNvSpPr txBox="1"/>
          <p:nvPr/>
        </p:nvSpPr>
        <p:spPr>
          <a:xfrm>
            <a:off x="1293876" y="42519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he-IL" alt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בטוח/ה מאוד</a:t>
            </a:r>
            <a:endParaRPr lang="he-IL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5120640"/>
            <a:ext cx="11091672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822960" y="5257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הצבעה ב-Mentimeter / הרמת ידיים. התוצאות יוצגו על המסך – ונחזור אליהן בסוף.</a:t>
            </a:r>
            <a:endParaRPr lang="he-IL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0" y="6446520"/>
            <a:ext cx="5696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ניהול קריירה בארגונים | הקריה האקדמית אונו</a:t>
            </a:r>
            <a:endParaRPr lang="he-IL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he-IL" alt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he-IL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דווקא עכשיו?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6492240" y="1325880"/>
            <a:ext cx="5148072" cy="4937760"/>
          </a:xfrm>
          <a:prstGeom prst="roundRect">
            <a:avLst>
              <a:gd name="adj" fmla="val 2222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675120" y="146304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60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מכל 5</a:t>
            </a:r>
            <a:endParaRPr lang="he-IL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6766560" y="242316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he-IL" alt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מהמועסקים בישראל עובדים במקצועות "תחליפיים" שבהם הביקוש צפוי לרדת משמעותית עם התרחבות הבינה המלאכותית (בנק ישראל, 2025)</a:t>
            </a:r>
            <a:endParaRPr lang="he-IL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949440" y="3474720"/>
          <a:ext cx="4206240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1325880"/>
            <a:ext cx="56692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0" y="1600200"/>
            <a:ext cx="548640" cy="54864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🤖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143560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בינה מלאכותית</a:t>
            </a:r>
            <a:endParaRPr lang="he-IL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18288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משנה את תוכן התפקיד גם כשהמשרה נשמרת – "איום איכותני"</a:t>
            </a:r>
            <a:endParaRPr lang="he-IL" sz="1250" dirty="0"/>
          </a:p>
        </p:txBody>
      </p:sp>
      <p:sp>
        <p:nvSpPr>
          <p:cNvPr id="12" name="Shape 9"/>
          <p:cNvSpPr/>
          <p:nvPr/>
        </p:nvSpPr>
        <p:spPr>
          <a:xfrm>
            <a:off x="548640" y="2578608"/>
            <a:ext cx="56692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486400" y="2852928"/>
            <a:ext cx="548640" cy="54864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0" y="28529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📉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731520" y="2688336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התייעלות בהייטק</a:t>
            </a:r>
            <a:endParaRPr lang="he-IL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731520" y="308152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גלי פיטורים ו"התייעלות AI" בראש סדר היום של מנהלים ב-2026 (TheMarker, 21.6.2026)</a:t>
            </a:r>
            <a:endParaRPr lang="he-IL" sz="1250" dirty="0"/>
          </a:p>
        </p:txBody>
      </p:sp>
      <p:sp>
        <p:nvSpPr>
          <p:cNvPr id="17" name="Shape 14"/>
          <p:cNvSpPr/>
          <p:nvPr/>
        </p:nvSpPr>
        <p:spPr>
          <a:xfrm>
            <a:off x="548640" y="3831336"/>
            <a:ext cx="56692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486400" y="4105656"/>
            <a:ext cx="548640" cy="54864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0" y="41056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🎖️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731520" y="3941064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מילואים ומלחמה</a:t>
            </a:r>
            <a:endParaRPr lang="he-IL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731520" y="4334256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חוסר ודאות שמקורו מחוץ לארגון – ממד ישראלי ייחודי</a:t>
            </a:r>
            <a:endParaRPr lang="he-IL" sz="1250" dirty="0"/>
          </a:p>
        </p:txBody>
      </p:sp>
      <p:sp>
        <p:nvSpPr>
          <p:cNvPr id="22" name="Shape 19"/>
          <p:cNvSpPr/>
          <p:nvPr/>
        </p:nvSpPr>
        <p:spPr>
          <a:xfrm>
            <a:off x="548640" y="5084064"/>
            <a:ext cx="56692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5486400" y="5358384"/>
            <a:ext cx="548640" cy="54864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86400" y="53583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🧩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731520" y="5193792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צורות העסקה חדשות</a:t>
            </a:r>
            <a:endParaRPr lang="he-IL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731520" y="5586984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פרילנס, חוזים זמניים, גיג – חוסר ביטחון הופך ממצב חריג למצב כרוני</a:t>
            </a:r>
            <a:endParaRPr lang="he-IL" sz="1250" dirty="0"/>
          </a:p>
        </p:txBody>
      </p:sp>
      <p:sp>
        <p:nvSpPr>
          <p:cNvPr id="27" name="Text 24"/>
          <p:cNvSpPr txBox="1"/>
          <p:nvPr/>
        </p:nvSpPr>
        <p:spPr>
          <a:xfrm>
            <a:off x="5943600" y="6446520"/>
            <a:ext cx="5696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ניהול קריירה בארגונים | הקריה האקדמית אונו</a:t>
            </a:r>
            <a:endParaRPr lang="he-IL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he-IL" alt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he-IL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המאמר שבחרנו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4846320" y="1325880"/>
            <a:ext cx="6793992" cy="3017520"/>
          </a:xfrm>
          <a:prstGeom prst="roundRect">
            <a:avLst>
              <a:gd name="adj" fmla="val 3636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5074920" y="1463040"/>
            <a:ext cx="6355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Insecurity: An Integrative Review and Agenda for Future Research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074920" y="2377440"/>
            <a:ext cx="6355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CA3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Mindy K. Shoss  |  Journal of Management, 43(6), 1911–1939  |  2017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74920" y="2788920"/>
            <a:ext cx="6355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E5EA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סקירה אינטגרטיבית – מסנתזת עשרות שנות מחקר מניהול, פסיכולוגיה, סוציולוגיה וכלכלה</a:t>
            </a:r>
            <a:endParaRPr lang="he-IL" sz="1350" dirty="0"/>
          </a:p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E5EA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כתב עת שפיט מהמובילים בעולם בתחום הניהול; המאמר מצוטט מאות פעמים</a:t>
            </a:r>
            <a:endParaRPr lang="he-IL" sz="1350" dirty="0"/>
          </a:p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E5EA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מטרה: הגדרה ברורה + מסגרת מושגית אחת + אג'נדה למחקר</a:t>
            </a:r>
            <a:endParaRPr lang="he-IL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1325880"/>
            <a:ext cx="4023360" cy="3017520"/>
          </a:xfrm>
          <a:prstGeom prst="roundRect">
            <a:avLst>
              <a:gd name="adj" fmla="val 3636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14630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8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בחרנו בו?</a:t>
            </a:r>
            <a:endParaRPr lang="he-IL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196596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עונה על השאלה "למה אנשים שונים מגיבים אחרת לאותו איום"</a:t>
            </a:r>
            <a:endParaRPr lang="he-IL" sz="1350" dirty="0"/>
          </a:p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נותן שפה משותפת – מהתחושה האמורפית לרכיבים שאפשר לעבוד איתם</a:t>
            </a:r>
            <a:endParaRPr lang="he-IL" sz="1350" dirty="0"/>
          </a:p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מתחבר ל"שלושת סלי הכלים" ול"ממשבר להזדמנות" מהקורס</a:t>
            </a:r>
            <a:endParaRPr lang="he-IL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4572000"/>
            <a:ext cx="11091672" cy="1691640"/>
          </a:xfrm>
          <a:prstGeom prst="roundRect">
            <a:avLst>
              <a:gd name="adj" fmla="val 648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466344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6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מאמר משלים וראיות תומכות</a:t>
            </a:r>
            <a:endParaRPr lang="he-IL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507492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Lee, C., Huang, G.-H., &amp; Ashford, S. J. (2018). Job insecurity and the changing workplace. Annual Review of Organizational Psychology and Organizational Behavior, 5, 335–359.</a:t>
            </a:r>
            <a:endParaRPr lang="en-US" sz="1250" dirty="0"/>
          </a:p>
          <a:p>
            <a:pPr algn="r"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Jiang, L., &amp; Lavaysse, L. M. (2018). Cognitive and affective job insecurity: A meta-analysis and a primary study. Journal of Management, 44(6), 2307–2342.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943600" y="6446520"/>
            <a:ext cx="5696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ניהול קריירה בארגונים | הקריה האקדמית אונו</a:t>
            </a:r>
            <a:endParaRPr lang="he-IL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he-IL" alt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he-IL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זה בכלל חוסר ביטחון תעסוקתי?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11091672" cy="1143000"/>
          </a:xfrm>
          <a:prstGeom prst="roundRect">
            <a:avLst>
              <a:gd name="adj" fmla="val 9600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"איום נתפס על ההמשכיות והיציבות של התעסוקה כפי שהיא נחווית כיום"</a:t>
            </a:r>
            <a:endParaRPr lang="he-IL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92024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FCA3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 perceived threat to the continuity and stability of employment as it is currently experienced” (Shoss, 2017)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1109960" y="2788920"/>
            <a:ext cx="457200" cy="45720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0996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949440" y="26974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6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תפיסה</a:t>
            </a:r>
            <a:endParaRPr lang="he-IL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949440" y="30632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סובייקטיבי – שני עובדים, אותו חוזה, תחושה שונה</a:t>
            </a:r>
            <a:endParaRPr lang="he-IL" sz="1250" dirty="0"/>
          </a:p>
        </p:txBody>
      </p:sp>
      <p:sp>
        <p:nvSpPr>
          <p:cNvPr id="10" name="Shape 8"/>
          <p:cNvSpPr/>
          <p:nvPr/>
        </p:nvSpPr>
        <p:spPr>
          <a:xfrm>
            <a:off x="11109960" y="3703320"/>
            <a:ext cx="457200" cy="45720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109960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949440" y="36118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6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איום</a:t>
            </a:r>
            <a:endParaRPr lang="he-IL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949440" y="3977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מכוון לעתיד – זה "לפני", לא אחרי</a:t>
            </a:r>
            <a:endParaRPr lang="he-IL" sz="1250" dirty="0"/>
          </a:p>
        </p:txBody>
      </p:sp>
      <p:sp>
        <p:nvSpPr>
          <p:cNvPr id="14" name="Shape 12"/>
          <p:cNvSpPr/>
          <p:nvPr/>
        </p:nvSpPr>
        <p:spPr>
          <a:xfrm>
            <a:off x="11109960" y="4617720"/>
            <a:ext cx="457200" cy="45720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109960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949440" y="45262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6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המשכיות ויציבות</a:t>
            </a:r>
            <a:endParaRPr lang="he-IL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949440" y="4892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המשרה עצמה – או מאפייניה</a:t>
            </a:r>
            <a:endParaRPr lang="he-IL" sz="1250" dirty="0"/>
          </a:p>
        </p:txBody>
      </p:sp>
      <p:sp>
        <p:nvSpPr>
          <p:cNvPr id="18" name="Shape 16"/>
          <p:cNvSpPr/>
          <p:nvPr/>
        </p:nvSpPr>
        <p:spPr>
          <a:xfrm>
            <a:off x="11109960" y="5532120"/>
            <a:ext cx="457200" cy="45720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1109960" y="5532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949440" y="54406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6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כפי שנחווית כיום</a:t>
            </a:r>
            <a:endParaRPr lang="he-IL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949440" y="58064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המשרה הנוכחית, לא חרדה כללית</a:t>
            </a:r>
            <a:endParaRPr lang="he-IL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260604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מוקדי האיום (Threat Foci)</a:t>
            </a:r>
            <a:endParaRPr lang="he-IL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3794760" y="30175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he-IL" altLang="en-US" sz="11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קוגניטיבי – "עד כמה זה סביר?"</a:t>
            </a:r>
            <a:endParaRPr lang="he-IL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1371600" y="30175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he-IL" altLang="en-US" sz="11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רגשי – "עד כמה זה מדאיג?"</a:t>
            </a:r>
            <a:endParaRPr lang="he-IL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3429000"/>
            <a:ext cx="777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1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כמותי – אובדן המשרה</a:t>
            </a:r>
            <a:endParaRPr lang="he-IL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4846320"/>
            <a:ext cx="777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1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איכותני – אובדן מאפיינים</a:t>
            </a:r>
            <a:endParaRPr lang="he-IL" sz="1150" dirty="0"/>
          </a:p>
        </p:txBody>
      </p:sp>
      <p:sp>
        <p:nvSpPr>
          <p:cNvPr id="27" name="Shape 25"/>
          <p:cNvSpPr/>
          <p:nvPr/>
        </p:nvSpPr>
        <p:spPr>
          <a:xfrm>
            <a:off x="3794760" y="3429000"/>
            <a:ext cx="2331720" cy="1325880"/>
          </a:xfrm>
          <a:prstGeom prst="roundRect">
            <a:avLst>
              <a:gd name="adj" fmla="val 8276"/>
            </a:avLst>
          </a:prstGeom>
          <a:solidFill>
            <a:srgbClr val="FDE2DC"/>
          </a:solidFill>
          <a:ln w="12700">
            <a:solidFill>
              <a:srgbClr val="FDE2DC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3931920" y="352044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"יש סיכוי שיפטרו אותי"</a:t>
            </a:r>
            <a:endParaRPr lang="he-IL" sz="1300" dirty="0"/>
          </a:p>
        </p:txBody>
      </p:sp>
      <p:sp>
        <p:nvSpPr>
          <p:cNvPr id="29" name="Shape 27"/>
          <p:cNvSpPr/>
          <p:nvPr/>
        </p:nvSpPr>
        <p:spPr>
          <a:xfrm>
            <a:off x="1371600" y="3429000"/>
            <a:ext cx="2331720" cy="1325880"/>
          </a:xfrm>
          <a:prstGeom prst="roundRect">
            <a:avLst>
              <a:gd name="adj" fmla="val 8276"/>
            </a:avLst>
          </a:prstGeom>
          <a:solidFill>
            <a:srgbClr val="F9C9BF"/>
          </a:solidFill>
          <a:ln w="12700">
            <a:solidFill>
              <a:srgbClr val="F9C9BF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1508760" y="352044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"אני דואג/ת ולא ישן/ה בלילה"</a:t>
            </a:r>
            <a:endParaRPr lang="he-IL" sz="1300" dirty="0"/>
          </a:p>
        </p:txBody>
      </p:sp>
      <p:sp>
        <p:nvSpPr>
          <p:cNvPr id="31" name="Shape 29"/>
          <p:cNvSpPr/>
          <p:nvPr/>
        </p:nvSpPr>
        <p:spPr>
          <a:xfrm>
            <a:off x="3794760" y="4846320"/>
            <a:ext cx="2331720" cy="1325880"/>
          </a:xfrm>
          <a:prstGeom prst="roundRect">
            <a:avLst>
              <a:gd name="adj" fmla="val 8276"/>
            </a:avLst>
          </a:prstGeom>
          <a:solidFill>
            <a:srgbClr val="FFF1D6"/>
          </a:solidFill>
          <a:ln w="12700">
            <a:solidFill>
              <a:srgbClr val="FFF1D6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3931920" y="493776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"התפקיד יישאר אבל ה-AI ישנה אותו"</a:t>
            </a:r>
            <a:endParaRPr lang="he-IL" sz="1300" dirty="0"/>
          </a:p>
        </p:txBody>
      </p:sp>
      <p:sp>
        <p:nvSpPr>
          <p:cNvPr id="33" name="Shape 31"/>
          <p:cNvSpPr/>
          <p:nvPr/>
        </p:nvSpPr>
        <p:spPr>
          <a:xfrm>
            <a:off x="1371600" y="4846320"/>
            <a:ext cx="2331720" cy="1325880"/>
          </a:xfrm>
          <a:prstGeom prst="roundRect">
            <a:avLst>
              <a:gd name="adj" fmla="val 8276"/>
            </a:avLst>
          </a:prstGeom>
          <a:solidFill>
            <a:srgbClr val="FFE4B3"/>
          </a:solidFill>
          <a:ln w="12700">
            <a:solidFill>
              <a:srgbClr val="FFE4B3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1508760" y="493776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"אני חושש/ת שאאבד את מה שאני אוהב/ת בעבודה"</a:t>
            </a:r>
            <a:endParaRPr lang="he-IL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943600" y="6446520"/>
            <a:ext cx="5696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ניהול קריירה בארגונים | הקריה האקדמית אונו</a:t>
            </a:r>
            <a:endParaRPr lang="he-IL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he-IL" alt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he-IL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המודל של Shoss (2017): מאיפה זה מגיע ולאן זה מוביל</a:t>
            </a:r>
            <a:endParaRPr lang="he-IL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8503920" y="1280160"/>
            <a:ext cx="3136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he-IL" altLang="en-US" sz="15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הגורמים</a:t>
            </a:r>
            <a:endParaRPr lang="he-IL" sz="1500" dirty="0"/>
          </a:p>
        </p:txBody>
      </p:sp>
      <p:sp>
        <p:nvSpPr>
          <p:cNvPr id="4" name="Shape 2"/>
          <p:cNvSpPr/>
          <p:nvPr/>
        </p:nvSpPr>
        <p:spPr>
          <a:xfrm>
            <a:off x="8503920" y="1691640"/>
            <a:ext cx="3136392" cy="1005840"/>
          </a:xfrm>
          <a:prstGeom prst="roundRect">
            <a:avLst>
              <a:gd name="adj" fmla="val 10909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41080" y="1764792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מאקרו</a:t>
            </a:r>
            <a:endParaRPr lang="he-IL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641080" y="2130552"/>
            <a:ext cx="2862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מיתון, טכנולוגיה, מלחמה</a:t>
            </a:r>
            <a:endParaRPr lang="he-IL" sz="1150" dirty="0"/>
          </a:p>
        </p:txBody>
      </p:sp>
      <p:sp>
        <p:nvSpPr>
          <p:cNvPr id="7" name="Shape 5"/>
          <p:cNvSpPr/>
          <p:nvPr/>
        </p:nvSpPr>
        <p:spPr>
          <a:xfrm>
            <a:off x="8503920" y="2834640"/>
            <a:ext cx="3136392" cy="1005840"/>
          </a:xfrm>
          <a:prstGeom prst="roundRect">
            <a:avLst>
              <a:gd name="adj" fmla="val 10909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641080" y="2907792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ארגוני</a:t>
            </a:r>
            <a:endParaRPr lang="he-IL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641080" y="3273552"/>
            <a:ext cx="2862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צמצומים, מיזוגים, חוזים זמניים, תקשורת לקויה</a:t>
            </a:r>
            <a:endParaRPr lang="he-IL" sz="1150" dirty="0"/>
          </a:p>
        </p:txBody>
      </p:sp>
      <p:sp>
        <p:nvSpPr>
          <p:cNvPr id="10" name="Shape 8"/>
          <p:cNvSpPr/>
          <p:nvPr/>
        </p:nvSpPr>
        <p:spPr>
          <a:xfrm>
            <a:off x="8503920" y="3977640"/>
            <a:ext cx="3136392" cy="1005840"/>
          </a:xfrm>
          <a:prstGeom prst="roundRect">
            <a:avLst>
              <a:gd name="adj" fmla="val 10909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641080" y="4050792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אישי</a:t>
            </a:r>
            <a:endParaRPr lang="he-IL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641080" y="4416552"/>
            <a:ext cx="2862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אישיות, ותק, השכלה, יכולת תעסוקה</a:t>
            </a:r>
            <a:endParaRPr lang="he-IL" sz="1150" dirty="0"/>
          </a:p>
        </p:txBody>
      </p:sp>
      <p:sp>
        <p:nvSpPr>
          <p:cNvPr id="13" name="Shape 11"/>
          <p:cNvSpPr/>
          <p:nvPr/>
        </p:nvSpPr>
        <p:spPr>
          <a:xfrm>
            <a:off x="7635240" y="2926080"/>
            <a:ext cx="777240" cy="548640"/>
          </a:xfrm>
          <a:prstGeom prst="leftArrow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74920" y="2148840"/>
            <a:ext cx="2468880" cy="210312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66360" y="23317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חוסר ביטחון תעסוקתי</a:t>
            </a:r>
            <a:endParaRPr lang="he-IL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166360" y="32004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100" dirty="0">
                <a:solidFill>
                  <a:srgbClr val="FCA3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כמותי / איכותני</a:t>
            </a:r>
            <a:endParaRPr lang="he-IL" sz="1100" dirty="0"/>
          </a:p>
          <a:p>
            <a:pPr rtl="1" algn="ctr" indent="0" marL="0">
              <a:buNone/>
            </a:pPr>
            <a:r>
              <a:rPr lang="he-IL" altLang="en-US" sz="1100" dirty="0">
                <a:solidFill>
                  <a:srgbClr val="FCA3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קוגניטיבי / רגשי</a:t>
            </a:r>
            <a:endParaRPr lang="he-IL" sz="1100" dirty="0"/>
          </a:p>
        </p:txBody>
      </p:sp>
      <p:sp>
        <p:nvSpPr>
          <p:cNvPr id="17" name="Shape 15"/>
          <p:cNvSpPr/>
          <p:nvPr/>
        </p:nvSpPr>
        <p:spPr>
          <a:xfrm>
            <a:off x="4206240" y="2926080"/>
            <a:ext cx="777240" cy="548640"/>
          </a:xfrm>
          <a:prstGeom prst="leftArrow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12801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he-IL" altLang="en-US" sz="15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מנגנונים → תוצאות</a:t>
            </a:r>
            <a:endParaRPr lang="he-IL" sz="1500" dirty="0"/>
          </a:p>
        </p:txBody>
      </p:sp>
      <p:sp>
        <p:nvSpPr>
          <p:cNvPr id="19" name="Shape 17"/>
          <p:cNvSpPr/>
          <p:nvPr/>
        </p:nvSpPr>
        <p:spPr>
          <a:xfrm>
            <a:off x="548640" y="1691640"/>
            <a:ext cx="3566160" cy="749808"/>
          </a:xfrm>
          <a:prstGeom prst="roundRect">
            <a:avLst>
              <a:gd name="adj" fmla="val 14634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657600" y="1883664"/>
            <a:ext cx="365760" cy="36576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1746504"/>
            <a:ext cx="2880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4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לחץ</a:t>
            </a:r>
            <a:endParaRPr lang="he-IL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2075688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שחיקה, בריאות, משפחה</a:t>
            </a:r>
            <a:endParaRPr lang="he-IL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2560320"/>
            <a:ext cx="3566160" cy="749808"/>
          </a:xfrm>
          <a:prstGeom prst="roundRect">
            <a:avLst>
              <a:gd name="adj" fmla="val 14634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657600" y="2752344"/>
            <a:ext cx="365760" cy="36576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85800" y="2615184"/>
            <a:ext cx="2880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4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חליפין חברתי</a:t>
            </a:r>
            <a:endParaRPr lang="he-IL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85800" y="2944368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ירידה במחויבות ובאמון</a:t>
            </a:r>
            <a:endParaRPr lang="he-IL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3429000"/>
            <a:ext cx="3566160" cy="749808"/>
          </a:xfrm>
          <a:prstGeom prst="roundRect">
            <a:avLst>
              <a:gd name="adj" fmla="val 14634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657600" y="3621024"/>
            <a:ext cx="365760" cy="36576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85800" y="3483864"/>
            <a:ext cx="2880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4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שימור המשרה</a:t>
            </a:r>
            <a:endParaRPr lang="he-IL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3813048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"להתכופף" – מאמץ ושתיקה</a:t>
            </a:r>
            <a:endParaRPr lang="he-IL" sz="1100" dirty="0"/>
          </a:p>
        </p:txBody>
      </p:sp>
      <p:sp>
        <p:nvSpPr>
          <p:cNvPr id="31" name="Shape 29"/>
          <p:cNvSpPr/>
          <p:nvPr/>
        </p:nvSpPr>
        <p:spPr>
          <a:xfrm>
            <a:off x="548640" y="4297680"/>
            <a:ext cx="3566160" cy="749808"/>
          </a:xfrm>
          <a:prstGeom prst="roundRect">
            <a:avLst>
              <a:gd name="adj" fmla="val 14634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657600" y="4489704"/>
            <a:ext cx="365760" cy="36576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85800" y="4352544"/>
            <a:ext cx="2880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4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התמודדות פרואקטיבית</a:t>
            </a:r>
            <a:endParaRPr lang="he-IL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685800" y="4681728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למידה, נטוורקינג, תוכנית ב'</a:t>
            </a:r>
            <a:endParaRPr lang="he-IL" sz="1100" dirty="0"/>
          </a:p>
        </p:txBody>
      </p:sp>
      <p:sp>
        <p:nvSpPr>
          <p:cNvPr id="35" name="Shape 33"/>
          <p:cNvSpPr/>
          <p:nvPr/>
        </p:nvSpPr>
        <p:spPr>
          <a:xfrm>
            <a:off x="548640" y="5257800"/>
            <a:ext cx="11091672" cy="1005840"/>
          </a:xfrm>
          <a:prstGeom prst="roundRect">
            <a:avLst>
              <a:gd name="adj" fmla="val 10909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 txBox="1"/>
          <p:nvPr/>
        </p:nvSpPr>
        <p:spPr>
          <a:xfrm>
            <a:off x="822960" y="5303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4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משתנים ממתנים – מה קובע את עוצמת התגובה?</a:t>
            </a:r>
            <a:endParaRPr lang="he-IL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822960" y="566928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מאפייני האיום (הסתברות, חומרה, שליטה)   •   פגיעוּת כלכלית (כרית, תלות, יכולת תעסוקה)   •   פגיעוּת פסיכולוגית (מסוגלות, תמיכה, זהות)</a:t>
            </a:r>
            <a:endParaRPr lang="he-IL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5943600" y="6446520"/>
            <a:ext cx="5696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ניהול קריירה בארגונים | הקריה האקדמית אונו</a:t>
            </a:r>
            <a:endParaRPr lang="he-IL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he-IL" alt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he-IL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ארבעת המנגנונים: למה אותו עובד גם "מתכופף" וגם שולח קורות חיים?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8988552" y="1371600"/>
            <a:ext cx="2651760" cy="38404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948672" y="1645920"/>
            <a:ext cx="731520" cy="73152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948672" y="16459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9125712" y="2514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5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לחץ</a:t>
            </a:r>
            <a:endParaRPr lang="he-IL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9171432" y="299923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171432" y="3383280"/>
            <a:ext cx="2286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האיום הצפוי מדלדל משאבים (הכנסה, מעמד, זהות) עוד לפני שמשהו קרה → מתח, שחיקה, בעיות שינה, השלכות על המשפחה</a:t>
            </a:r>
            <a:endParaRPr lang="he-IL" sz="1250" dirty="0"/>
          </a:p>
        </p:txBody>
      </p:sp>
      <p:sp>
        <p:nvSpPr>
          <p:cNvPr id="9" name="Shape 7"/>
          <p:cNvSpPr/>
          <p:nvPr/>
        </p:nvSpPr>
        <p:spPr>
          <a:xfrm>
            <a:off x="6172200" y="1371600"/>
            <a:ext cx="2651760" cy="38404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132320" y="1645920"/>
            <a:ext cx="731520" cy="73152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132320" y="16459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2514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5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חליפין חברתי</a:t>
            </a:r>
            <a:endParaRPr lang="he-IL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299923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Exchange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3383280"/>
            <a:ext cx="2286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"אני נותן נאמנות, הארגון אמור לתת ביטחון" – הפרת החוזה הפסיכולוגי → פחות מחויבות, אמון ועזרה לעמיתים</a:t>
            </a:r>
            <a:endParaRPr lang="he-IL" sz="1250" dirty="0"/>
          </a:p>
        </p:txBody>
      </p:sp>
      <p:sp>
        <p:nvSpPr>
          <p:cNvPr id="15" name="Shape 13"/>
          <p:cNvSpPr/>
          <p:nvPr/>
        </p:nvSpPr>
        <p:spPr>
          <a:xfrm>
            <a:off x="3355848" y="1371600"/>
            <a:ext cx="2651760" cy="38404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15968" y="1645920"/>
            <a:ext cx="731520" cy="73152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15968" y="16459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3493008" y="2514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5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שימור המשרה</a:t>
            </a:r>
            <a:endParaRPr lang="he-IL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3538728" y="299923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Preservation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3538728" y="3383280"/>
            <a:ext cx="2286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עובדים קשה יותר, שותקים, מגיעים חולים, מנהלים רושם – המשרה נשמרת בטווח הקצר, במחיר בריאותי</a:t>
            </a:r>
            <a:endParaRPr lang="he-IL" sz="1250" dirty="0"/>
          </a:p>
        </p:txBody>
      </p:sp>
      <p:sp>
        <p:nvSpPr>
          <p:cNvPr id="21" name="Shape 19"/>
          <p:cNvSpPr/>
          <p:nvPr/>
        </p:nvSpPr>
        <p:spPr>
          <a:xfrm>
            <a:off x="539496" y="1371600"/>
            <a:ext cx="2651760" cy="38404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499616" y="1645920"/>
            <a:ext cx="731520" cy="73152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499616" y="16459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24" name="Text 22"/>
          <p:cNvSpPr txBox="1"/>
          <p:nvPr/>
        </p:nvSpPr>
        <p:spPr>
          <a:xfrm>
            <a:off x="676656" y="2514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5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התמודדות פרואקטיבית</a:t>
            </a:r>
            <a:endParaRPr lang="he-IL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22376" y="299923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Proactive Coping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22376" y="3383280"/>
            <a:ext cx="2286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חיפוש עבודה, למידה, רשת קשרים, תוכנית ב' – המנגנון הבריא, אבל דורש משאבים שהלחץ מדלדל</a:t>
            </a:r>
            <a:endParaRPr lang="he-IL" sz="1250" dirty="0"/>
          </a:p>
        </p:txBody>
      </p:sp>
      <p:sp>
        <p:nvSpPr>
          <p:cNvPr id="27" name="Shape 25"/>
          <p:cNvSpPr/>
          <p:nvPr/>
        </p:nvSpPr>
        <p:spPr>
          <a:xfrm>
            <a:off x="548640" y="5440680"/>
            <a:ext cx="11091672" cy="822960"/>
          </a:xfrm>
          <a:prstGeom prst="roundRect">
            <a:avLst>
              <a:gd name="adj" fmla="val 13333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822960" y="54864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4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המתח המובנה: הלחץ (1) גוזל בדיוק את המשאבים שהפרואקטיביות (4) צריכה. לכן המטרה בניהול קריירה: לבנות מראש את המשאבים שיאפשרו לבחור ב-4.</a:t>
            </a:r>
            <a:endParaRPr lang="he-IL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0" y="6446520"/>
            <a:ext cx="5696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ניהול קריירה בארגונים | הקריה האקדמית אונו</a:t>
            </a:r>
            <a:endParaRPr lang="he-IL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he-IL" alt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he-IL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לא כולם מגיבים אותו דבר? שלושת המשתנים הממתנים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8074152" y="1371600"/>
            <a:ext cx="3566160" cy="38862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302752" y="1600200"/>
            <a:ext cx="3108960" cy="868680"/>
          </a:xfrm>
          <a:prstGeom prst="roundRect">
            <a:avLst>
              <a:gd name="adj" fmla="val 10526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394192" y="162763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מאפייני האיום</a:t>
            </a:r>
            <a:endParaRPr lang="he-IL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394192" y="20574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 Features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8348472" y="2697480"/>
            <a:ext cx="30175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הסתברות – כמה זה באמת סביר?</a:t>
            </a:r>
            <a:endParaRPr lang="he-IL" sz="135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חומרה – מה אאבד?</a:t>
            </a:r>
            <a:endParaRPr lang="he-IL" sz="135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מיידיות ומשך – מתי, ולכמה זמן?</a:t>
            </a:r>
            <a:endParaRPr lang="he-IL" sz="135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שליטה – מה תלוי בי?</a:t>
            </a:r>
            <a:endParaRPr lang="he-IL" sz="1350" dirty="0"/>
          </a:p>
        </p:txBody>
      </p:sp>
      <p:sp>
        <p:nvSpPr>
          <p:cNvPr id="8" name="Shape 6"/>
          <p:cNvSpPr/>
          <p:nvPr/>
        </p:nvSpPr>
        <p:spPr>
          <a:xfrm>
            <a:off x="4311396" y="1371600"/>
            <a:ext cx="3566160" cy="38862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39996" y="1600200"/>
            <a:ext cx="3108960" cy="868680"/>
          </a:xfrm>
          <a:prstGeom prst="roundRect">
            <a:avLst>
              <a:gd name="adj" fmla="val 10526"/>
            </a:avLst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31436" y="162763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פגיעוּת כלכלית</a:t>
            </a:r>
            <a:endParaRPr lang="he-IL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631436" y="20574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 Vulnerabilities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585716" y="2697480"/>
            <a:ext cx="30175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תלות בהכנסה מהמשרה</a:t>
            </a:r>
            <a:endParaRPr lang="he-IL" sz="135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חובות והתחייבויות משפחתיות</a:t>
            </a:r>
            <a:endParaRPr lang="he-IL" sz="135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יכולת תעסוקה (Employability)</a:t>
            </a:r>
            <a:endParaRPr lang="he-IL" sz="135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מצב שוק העבודה ורשת ביטחון</a:t>
            </a:r>
            <a:endParaRPr lang="he-IL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1371600"/>
            <a:ext cx="3566160" cy="38862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77240" y="1600200"/>
            <a:ext cx="3108960" cy="868680"/>
          </a:xfrm>
          <a:prstGeom prst="roundRect">
            <a:avLst>
              <a:gd name="adj" fmla="val 10526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8680" y="162763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פגיעוּת פסיכולוגית</a:t>
            </a:r>
            <a:endParaRPr lang="he-IL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20574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Psychological Vulnerabilities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2697480"/>
            <a:ext cx="30175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מסוגלות עצמית וסגנון התמודדות</a:t>
            </a:r>
            <a:endParaRPr lang="he-IL" sz="135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עד כמה הזהות שלי = התפקיד</a:t>
            </a:r>
            <a:endParaRPr lang="he-IL" sz="135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עוגן קריירה של ביטחון (Schein)</a:t>
            </a:r>
            <a:endParaRPr lang="he-IL" sz="135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תמיכה חברתית ומשפחתית</a:t>
            </a:r>
            <a:endParaRPr lang="he-IL" sz="1350" dirty="0"/>
          </a:p>
        </p:txBody>
      </p:sp>
      <p:sp>
        <p:nvSpPr>
          <p:cNvPr id="18" name="Shape 16"/>
          <p:cNvSpPr/>
          <p:nvPr/>
        </p:nvSpPr>
        <p:spPr>
          <a:xfrm>
            <a:off x="548640" y="5440680"/>
            <a:ext cx="11091672" cy="822960"/>
          </a:xfrm>
          <a:prstGeom prst="roundRect">
            <a:avLst>
              <a:gd name="adj" fmla="val 1333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22960" y="54864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החדשות הטובות: רוב המשתנים האלה ניתנים לפיתוח מראש. זה הגשר בין המאמר לבין ניהול קריירה.</a:t>
            </a:r>
            <a:endParaRPr lang="he-IL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0" y="6446520"/>
            <a:ext cx="5696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ניהול קריירה בארגונים | הקריה האקדמית אונו</a:t>
            </a:r>
            <a:endParaRPr lang="he-IL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he-IL" alt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he-IL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אומרים המספרים? (Jiang &amp; Lavaysse, 2018)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8074152" y="1371600"/>
            <a:ext cx="356616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57032" y="160020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48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535</a:t>
            </a:r>
            <a:endParaRPr lang="he-IL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348472" y="265176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he-IL" alt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מדגמים בלתי תלויים במטא-אנליזה</a:t>
            </a:r>
            <a:endParaRPr lang="he-IL" sz="1400" dirty="0"/>
          </a:p>
        </p:txBody>
      </p:sp>
      <p:sp>
        <p:nvSpPr>
          <p:cNvPr id="6" name="Shape 4"/>
          <p:cNvSpPr/>
          <p:nvPr/>
        </p:nvSpPr>
        <p:spPr>
          <a:xfrm>
            <a:off x="4311396" y="1371600"/>
            <a:ext cx="356616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494276" y="160020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48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 / 56</a:t>
            </a:r>
            <a:endParaRPr lang="he-IL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4585716" y="265176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he-IL" alt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תוצאות שנמצאו קשורות באופן מובהק לחוסר ביטחון תעסוקתי</a:t>
            </a:r>
            <a:endParaRPr lang="he-IL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1371600"/>
            <a:ext cx="3566160" cy="2377440"/>
          </a:xfrm>
          <a:prstGeom prst="roundRect">
            <a:avLst>
              <a:gd name="adj" fmla="val 4615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731520" y="160020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3400" b="1" dirty="0">
                <a:solidFill>
                  <a:srgbClr val="FCA3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רגש &gt; מחשבה</a:t>
            </a:r>
            <a:endParaRPr lang="he-IL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65176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he-IL" alt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הרכיב הרגשי (דאגה) קשור חזק יותר לתוצאות מהרכיב הקוגניטיבי – ומתווך אותו</a:t>
            </a:r>
            <a:endParaRPr lang="he-IL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977640"/>
            <a:ext cx="11091672" cy="2286000"/>
          </a:xfrm>
          <a:prstGeom prst="roundRect">
            <a:avLst>
              <a:gd name="adj" fmla="val 48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2960" y="40690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המשמעות לניהול קריירה</a:t>
            </a:r>
            <a:endParaRPr lang="he-IL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526280"/>
            <a:ext cx="10515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he-IL" alt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המחשבה "ייתכן שאפוטר" פוגעת – אלא הדאגה שהיא מעוררת. שם נמצא המנוף: ויסות רגשי, תמיכה ומסגור מחדש.</a:t>
            </a:r>
            <a:endParaRPr lang="he-IL" sz="1400" dirty="0"/>
          </a:p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he-IL" alt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המאמר המשלים של לי, הואנג ואשפורד (2018) מוסיף: העוצמה משתנה בין תרבויות ומדינות, ובעולם העבודה החדש חוסר ביטחון הוא מצב כרוני, לא אירוע.</a:t>
            </a:r>
            <a:endParaRPr lang="he-IL" sz="1400" dirty="0"/>
          </a:p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he-IL" alt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מסקנה: "לא לפחד" זו לא עצה. "לבנות כרית שתאפשר לפעול" – כן.</a:t>
            </a:r>
            <a:endParaRPr lang="he-IL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6446520"/>
            <a:ext cx="5696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ניהול קריירה בארגונים | הקריה האקדמית אונו</a:t>
            </a:r>
            <a:endParaRPr lang="he-IL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he-IL" alt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he-IL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תובנות, ביקורת ודעה אישית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6263640" y="1325880"/>
            <a:ext cx="5376672" cy="2926080"/>
          </a:xfrm>
          <a:prstGeom prst="roundRect">
            <a:avLst>
              <a:gd name="adj" fmla="val 3750"/>
            </a:avLst>
          </a:prstGeom>
          <a:solidFill>
            <a:srgbClr val="E8F5F1"/>
          </a:solidFill>
          <a:ln w="12700">
            <a:solidFill>
              <a:srgbClr val="E8F5F1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492240" y="14173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8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👍 מה אהבנו</a:t>
            </a:r>
            <a:endParaRPr lang="he-IL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92240" y="192024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בהירות: מתחושה אמורפית לרכיבים שאפשר לעבוד איתם</a:t>
            </a:r>
            <a:endParaRPr lang="he-IL" sz="1350" dirty="0"/>
          </a:p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ארבעת המנגנונים הסבירו לנו התנהגויות שראינו בבית ובעבודה</a:t>
            </a:r>
            <a:endParaRPr lang="he-IL" sz="1350" dirty="0"/>
          </a:p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"רשימת מכולת" של דברים שאפשר לעשות כבר כסטודנטים</a:t>
            </a:r>
            <a:endParaRPr lang="he-IL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5376672" cy="2926080"/>
          </a:xfrm>
          <a:prstGeom prst="roundRect">
            <a:avLst>
              <a:gd name="adj" fmla="val 3750"/>
            </a:avLst>
          </a:prstGeom>
          <a:solidFill>
            <a:srgbClr val="FDECEA"/>
          </a:solidFill>
          <a:ln w="12700">
            <a:solidFill>
              <a:srgbClr val="FDECEA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77240" y="14173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8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🤔 מה חסר לנו</a:t>
            </a:r>
            <a:endParaRPr lang="he-IL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192024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תיאורטי – בלי "מה עושים עם זה" (בנינו לבד)</a:t>
            </a:r>
            <a:endParaRPr lang="he-IL" sz="1350" dirty="0"/>
          </a:p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נכתב לפני הקורונה ולפני הבינה המלאכותית היוצרת</a:t>
            </a:r>
            <a:endParaRPr lang="he-IL" sz="1350" dirty="0"/>
          </a:p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מתייחס לאיום שמקורו מחוץ לארגון – מילואים, מלחמה</a:t>
            </a:r>
            <a:endParaRPr lang="he-IL" sz="1350" dirty="0"/>
          </a:p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נשען בעיקר על מחקרים מערביים</a:t>
            </a:r>
            <a:endParaRPr lang="he-IL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4480560"/>
            <a:ext cx="11091672" cy="1783080"/>
          </a:xfrm>
          <a:prstGeom prst="roundRect">
            <a:avLst>
              <a:gd name="adj" fmla="val 6154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22960" y="45720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FCA3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העמדה שלנו</a:t>
            </a:r>
            <a:endParaRPr lang="he-IL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98348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המאמר צודק שחוסר ביטחון הוא בעיקר גורם לחץ מזיק. אבל לאור "ממשבר להזדמנות" והתרבות הישראלית של אלתור, אנחנו מאמינים שמידה של חוסר ודאות יכולה להיות מנוע לצמיחה – בתנאי שיש משאבים. בלי משאבים חוסר ודאות משתק; עם משאבים הוא מניע.</a:t>
            </a:r>
            <a:endParaRPr lang="he-IL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5943600" y="6446520"/>
            <a:ext cx="5696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ניהול קריירה בארגונים | הקריה האקדמית אונו</a:t>
            </a:r>
            <a:endParaRPr lang="he-IL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he-IL" alt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he-IL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סרטון: "3 הסודות של אנשים חסינים" – Lucy Hone, TED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6309360" y="1463040"/>
            <a:ext cx="5330952" cy="3017520"/>
          </a:xfrm>
          <a:prstGeom prst="roundRect">
            <a:avLst>
              <a:gd name="adj" fmla="val 3636"/>
            </a:avLst>
          </a:prstGeom>
          <a:solidFill>
            <a:srgbClr val="0B1530"/>
          </a:solidFill>
          <a:ln w="12700">
            <a:solidFill>
              <a:srgbClr val="0B153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0" y="2377440"/>
            <a:ext cx="1143000" cy="114300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12480" y="237744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3000" dirty="0"/>
          </a:p>
        </p:txBody>
      </p:sp>
      <p:sp>
        <p:nvSpPr>
          <p:cNvPr id="6" name="Text 4">
            <a:hlinkClick r:id="rId1" tooltip=""/>
          </p:cNvPr>
          <p:cNvSpPr txBox="1"/>
          <p:nvPr/>
        </p:nvSpPr>
        <p:spPr>
          <a:xfrm>
            <a:off x="6492240" y="3977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CAD3E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ted.com/talks/lucy_hone_the_three_secrets_of_resilient_people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46304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800" b="1" dirty="0">
                <a:solidFill>
                  <a:srgbClr val="FCA3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לחפש בקטע (90 שניות):</a:t>
            </a:r>
            <a:endParaRPr lang="he-IL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965960"/>
            <a:ext cx="5212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"דברים רעים קורים" – קבלת חוסר הוודאות כחלק מהחיים (מאפייני האיום)</a:t>
            </a:r>
            <a:endParaRPr lang="he-IL" sz="145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לבחור במה להתמקד – מה בשליטתי (הערכה קוגניטיבית)</a:t>
            </a:r>
            <a:endParaRPr lang="he-IL" sz="145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"האם זה עוזר לי או פוגע בי?" – ויסות הרכיב הרגשי</a:t>
            </a:r>
            <a:endParaRPr lang="he-IL" sz="1450" dirty="0"/>
          </a:p>
        </p:txBody>
      </p:sp>
      <p:sp>
        <p:nvSpPr>
          <p:cNvPr id="9" name="Shape 7"/>
          <p:cNvSpPr/>
          <p:nvPr/>
        </p:nvSpPr>
        <p:spPr>
          <a:xfrm>
            <a:off x="731520" y="4800600"/>
            <a:ext cx="10908792" cy="1371600"/>
          </a:xfrm>
          <a:prstGeom prst="roundRect">
            <a:avLst>
              <a:gd name="adj" fmla="val 8000"/>
            </a:avLst>
          </a:prstGeom>
          <a:solidFill>
            <a:srgbClr val="1D2E52"/>
          </a:solidFill>
          <a:ln w="12700">
            <a:solidFill>
              <a:srgbClr val="1D2E52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960120" y="4892040"/>
            <a:ext cx="10424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שאלה לכיתה אחרי הסרטון: איזה מהשלושה הכי קשה לכם ליישם בהקשר של הקריירה? (הרמת ידיים)</a:t>
            </a:r>
            <a:endParaRPr lang="he-IL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6446520"/>
            <a:ext cx="5696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A9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ניהול קריירה בארגונים | הקריה האקדמית אונו</a:t>
            </a:r>
            <a:endParaRPr lang="he-IL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he-IL" altLang="en-US" sz="1000" dirty="0">
                <a:solidFill>
                  <a:srgbClr val="A9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he-IL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יישום: "מפת החוסן התעסוקתי" – הכלי שבנינו מהמאמר</a:t>
            </a:r>
            <a:endParaRPr lang="he-IL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3291840"/>
                <a:gridCol w="2679192"/>
              </a:tblGrid>
              <a:tr h="45720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פעולות מומלצות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שאלות מנחות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שלב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להחליף שמועות במידע: שיחה עם המנהל, מעקב אחר החברה והענף; להבחין בין איום כמותי לאיכותני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מה ההסתברות? מה החומרה? מתי? מה בשליטתי?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E76F5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הערכת האיום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קרן חירום 3–6 חודשים; מקור הכנסה משלים; קו"ח ולינקדאין מעודכנים כל חצי שנה; מיומנויות AI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כמה חודשים אחזיק מעמד? כמה קל למצוא עבודה דומה?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D982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הקטנת פגיעוּת כלכלית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זהות מקצועית שלא תלויה בארגון; רשת תמיכה ומנטור; מסגור מחדש ("זה לא מגדיר אותי"); שגרה וספורט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עד כמה הזהות שלי = התפקיד? למי אפנה? איך אני מגיב/ה ללחץ?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2A9D8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הקטנת פגיעוּת פסיכולוגית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זמן שבועי קבוע ללמידה ולנטוורקינג; יעד למידה שנתי; תוכנית ב' לפני שצריך אותה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אני "מתכופף/ת" או פועל/ת?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421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 בחירת המנגנון: פרואקטיביות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5000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822960" y="55778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35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מתחבר ל"שלושת סלי הכלים" מהקורס: רשת אנשים = תמיכה, זהות מקצועית = פחות איום איכותני, למידה = יכולת תעסוקה</a:t>
            </a:r>
            <a:endParaRPr lang="he-IL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6446520"/>
            <a:ext cx="5696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ניהול קריירה בארגונים | הקריה האקדמית אונו</a:t>
            </a:r>
            <a:endParaRPr lang="he-IL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he-IL" alt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he-IL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הפעלה (2 דקות בזוגות): קיבלתם תרחיש – מלאו את המפה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8074152" y="1371600"/>
            <a:ext cx="356616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302752" y="1600200"/>
            <a:ext cx="1463040" cy="457200"/>
          </a:xfrm>
          <a:prstGeom prst="roundRect">
            <a:avLst>
              <a:gd name="adj" fmla="val 2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302752" y="1600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תרחיש א</a:t>
            </a:r>
            <a:endParaRPr lang="he-IL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302752" y="224028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מייל מהמנכ"ל: "התייעלות של 15% ברבעון הקרוב". אין פרטים נוספים. מה תעשו השבוע?</a:t>
            </a:r>
            <a:endParaRPr lang="he-IL" sz="1350" dirty="0"/>
          </a:p>
        </p:txBody>
      </p:sp>
      <p:sp>
        <p:nvSpPr>
          <p:cNvPr id="7" name="Shape 5"/>
          <p:cNvSpPr/>
          <p:nvPr/>
        </p:nvSpPr>
        <p:spPr>
          <a:xfrm>
            <a:off x="4311396" y="1371600"/>
            <a:ext cx="356616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39996" y="1600200"/>
            <a:ext cx="1463040" cy="457200"/>
          </a:xfrm>
          <a:prstGeom prst="roundRect">
            <a:avLst>
              <a:gd name="adj" fmla="val 20000"/>
            </a:avLst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39996" y="1600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תרחיש ב</a:t>
            </a:r>
            <a:endParaRPr lang="he-IL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539996" y="224028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הארגון הודיע שמערכת AI תטפל ב-60% מהפניות. התפקיד נשאר – התוכן משתנה. איך תגיבו?</a:t>
            </a:r>
            <a:endParaRPr lang="he-IL" sz="1350" dirty="0"/>
          </a:p>
        </p:txBody>
      </p:sp>
      <p:sp>
        <p:nvSpPr>
          <p:cNvPr id="11" name="Shape 9"/>
          <p:cNvSpPr/>
          <p:nvPr/>
        </p:nvSpPr>
        <p:spPr>
          <a:xfrm>
            <a:off x="548640" y="1371600"/>
            <a:ext cx="356616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77240" y="1600200"/>
            <a:ext cx="1463040" cy="457200"/>
          </a:xfrm>
          <a:prstGeom prst="roundRect">
            <a:avLst>
              <a:gd name="adj" fmla="val 2000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1600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תרחיש ג</a:t>
            </a:r>
            <a:endParaRPr lang="he-IL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224028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עצמאיים. הלקוח הגדול (40% מההכנסה) מקפיא פרויקטים "עד שהמצב יתבהר". מה הצעד הראשון?</a:t>
            </a:r>
            <a:endParaRPr lang="he-IL" sz="1350" dirty="0"/>
          </a:p>
        </p:txBody>
      </p:sp>
      <p:sp>
        <p:nvSpPr>
          <p:cNvPr id="15" name="Shape 13"/>
          <p:cNvSpPr/>
          <p:nvPr/>
        </p:nvSpPr>
        <p:spPr>
          <a:xfrm>
            <a:off x="548640" y="3931920"/>
            <a:ext cx="11091672" cy="2331720"/>
          </a:xfrm>
          <a:prstGeom prst="roundRect">
            <a:avLst>
              <a:gd name="adj" fmla="val 4706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22960" y="402336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FCA3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 שאלות – 40 שניות לכל אחת:</a:t>
            </a:r>
            <a:endParaRPr lang="he-IL" sz="1700" dirty="0"/>
          </a:p>
        </p:txBody>
      </p:sp>
      <p:sp>
        <p:nvSpPr>
          <p:cNvPr id="17" name="Shape 15"/>
          <p:cNvSpPr/>
          <p:nvPr/>
        </p:nvSpPr>
        <p:spPr>
          <a:xfrm>
            <a:off x="10835640" y="4572000"/>
            <a:ext cx="411480" cy="41148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835640" y="45720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52628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האיום בפועל – כמותי או איכותני? ומה בשליטתי?</a:t>
            </a:r>
            <a:endParaRPr lang="he-IL" sz="1500" dirty="0"/>
          </a:p>
        </p:txBody>
      </p:sp>
      <p:sp>
        <p:nvSpPr>
          <p:cNvPr id="20" name="Shape 18"/>
          <p:cNvSpPr/>
          <p:nvPr/>
        </p:nvSpPr>
        <p:spPr>
          <a:xfrm>
            <a:off x="10835640" y="5120640"/>
            <a:ext cx="411480" cy="41148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835640" y="5120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507492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איזו פגיעוּת (כלכלית / פסיכולוגית) הכי מטרידה אותי?</a:t>
            </a:r>
            <a:endParaRPr lang="he-IL" sz="1500" dirty="0"/>
          </a:p>
        </p:txBody>
      </p:sp>
      <p:sp>
        <p:nvSpPr>
          <p:cNvPr id="23" name="Shape 21"/>
          <p:cNvSpPr/>
          <p:nvPr/>
        </p:nvSpPr>
        <p:spPr>
          <a:xfrm>
            <a:off x="10835640" y="5669280"/>
            <a:ext cx="411480" cy="41148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835640" y="5669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822960" y="562356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איזו פעולה פרואקטיבית אחת אעשה כבר השבוע?</a:t>
            </a:r>
            <a:endParaRPr lang="he-IL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0" y="6446520"/>
            <a:ext cx="5696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ניהול קריירה בארגונים | הקריה האקדמית אונו</a:t>
            </a:r>
            <a:endParaRPr lang="he-IL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he-IL" alt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he-IL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1645920"/>
            <a:ext cx="4114800" cy="4114800"/>
          </a:xfrm>
          <a:prstGeom prst="ellipse">
            <a:avLst/>
          </a:prstGeom>
          <a:solidFill>
            <a:srgbClr val="1D2E52"/>
          </a:solidFill>
          <a:ln w="12700">
            <a:solidFill>
              <a:srgbClr val="1D2E5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5486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dirty="0">
                <a:solidFill>
                  <a:srgbClr val="CAD3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המסר שלנו לכיתה</a:t>
            </a:r>
            <a:endParaRPr lang="he-IL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18872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 האיום לא תמיד אפשר למנוע.</a:t>
            </a:r>
            <a:endParaRPr lang="he-IL" sz="3400" dirty="0"/>
          </a:p>
          <a:p>
            <a:pPr rtl="1" algn="r" indent="0" marL="0">
              <a:buNone/>
            </a:pPr>
            <a:r>
              <a:rPr lang="he-IL" alt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 הכרית שתאפשר לנו לפעול – אפשר לבנות.</a:t>
            </a:r>
            <a:endParaRPr lang="he-IL" sz="3400" dirty="0"/>
          </a:p>
        </p:txBody>
      </p:sp>
      <p:sp>
        <p:nvSpPr>
          <p:cNvPr id="5" name="Shape 3"/>
          <p:cNvSpPr/>
          <p:nvPr/>
        </p:nvSpPr>
        <p:spPr>
          <a:xfrm>
            <a:off x="8028432" y="3246120"/>
            <a:ext cx="3429000" cy="2331720"/>
          </a:xfrm>
          <a:prstGeom prst="roundRect">
            <a:avLst>
              <a:gd name="adj" fmla="val 4706"/>
            </a:avLst>
          </a:prstGeom>
          <a:solidFill>
            <a:srgbClr val="1D2E52"/>
          </a:solidFill>
          <a:ln w="12700">
            <a:solidFill>
              <a:srgbClr val="1D2E52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680192" y="3520440"/>
            <a:ext cx="502920" cy="50292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680192" y="3520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57032" y="352044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FCA3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חוסר ביטחון = פרשנות</a:t>
            </a:r>
            <a:endParaRPr lang="he-IL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8257032" y="4160520"/>
            <a:ext cx="2971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איום נתפס, רב-ממדי. מידע במקום שמועות, וגם האיום האיכותני נחשב</a:t>
            </a:r>
            <a:endParaRPr lang="he-IL" sz="1350" dirty="0"/>
          </a:p>
        </p:txBody>
      </p:sp>
      <p:sp>
        <p:nvSpPr>
          <p:cNvPr id="10" name="Shape 8"/>
          <p:cNvSpPr/>
          <p:nvPr/>
        </p:nvSpPr>
        <p:spPr>
          <a:xfrm>
            <a:off x="4398264" y="3246120"/>
            <a:ext cx="3429000" cy="2331720"/>
          </a:xfrm>
          <a:prstGeom prst="roundRect">
            <a:avLst>
              <a:gd name="adj" fmla="val 4706"/>
            </a:avLst>
          </a:prstGeom>
          <a:solidFill>
            <a:srgbClr val="1D2E52"/>
          </a:solidFill>
          <a:ln w="12700">
            <a:solidFill>
              <a:srgbClr val="1D2E52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050024" y="3520440"/>
            <a:ext cx="502920" cy="50292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50024" y="3520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626864" y="352044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FCA3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מנגנונים, בחירה אחת</a:t>
            </a:r>
            <a:endParaRPr lang="he-IL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626864" y="4160520"/>
            <a:ext cx="2971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לחץ ושימור משרה שוחקים; פרואקטיביות דורשת משאבים – אז בונים אותם מראש</a:t>
            </a:r>
            <a:endParaRPr lang="he-IL" sz="1350" dirty="0"/>
          </a:p>
        </p:txBody>
      </p:sp>
      <p:sp>
        <p:nvSpPr>
          <p:cNvPr id="15" name="Shape 13"/>
          <p:cNvSpPr/>
          <p:nvPr/>
        </p:nvSpPr>
        <p:spPr>
          <a:xfrm>
            <a:off x="768096" y="3246120"/>
            <a:ext cx="3429000" cy="2331720"/>
          </a:xfrm>
          <a:prstGeom prst="roundRect">
            <a:avLst>
              <a:gd name="adj" fmla="val 4706"/>
            </a:avLst>
          </a:prstGeom>
          <a:solidFill>
            <a:srgbClr val="1D2E52"/>
          </a:solidFill>
          <a:ln w="12700">
            <a:solidFill>
              <a:srgbClr val="1D2E52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419856" y="3520440"/>
            <a:ext cx="502920" cy="50292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419856" y="3520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996696" y="352044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FCA3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הרגש הוא המנוף</a:t>
            </a:r>
            <a:endParaRPr lang="he-IL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996696" y="4160520"/>
            <a:ext cx="2971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הדאגה מתווכת את הנזק: תמיכה, מסגור מחדש וזהות שלא תלויה בתפקיד</a:t>
            </a:r>
            <a:endParaRPr lang="he-IL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580644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תודה! שאלות?</a:t>
            </a:r>
            <a:endParaRPr lang="he-IL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0" y="6446520"/>
            <a:ext cx="5696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A9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ניהול קריירה בארגונים | הקריה האקדמית אונו</a:t>
            </a:r>
            <a:endParaRPr lang="he-IL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he-IL" altLang="en-US" sz="1000" dirty="0">
                <a:solidFill>
                  <a:srgbClr val="A9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he-IL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רשימת מקורות (APA)</a:t>
            </a:r>
            <a:endParaRPr lang="he-IL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91672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Ashford, S. J., Lee, C., &amp; Bobko, P. (1989). Content, causes, and consequences of job insecurity: A theory-based measure and substantive test. Academy of Management Journal, 32(4), 803–829.</a:t>
            </a:r>
            <a:endParaRPr lang="en-US" sz="105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Hellgren, J., Sverke, M., &amp; Isaksson, K. (1999). A two-dimensional approach to job insecurity: Consequences for employee attitudes and well-being. European Journal of Work and Organizational Psychology, 8(2), 179–195.</a:t>
            </a:r>
            <a:endParaRPr lang="en-US" sz="105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Hobfoll, S. E. (1989). Conservation of resources: A new attempt at conceptualizing stress. American Psychologist, 44(3), 513–524.</a:t>
            </a:r>
            <a:endParaRPr lang="en-US" sz="105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Hone, L. (2019). 3 secrets of resilient people [Video]. TED Conferences. https://www.ted.com/talks/lucy_hone_the_three_secrets_of_resilient_people</a:t>
            </a:r>
            <a:endParaRPr lang="en-US" sz="105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Jiang, L., &amp; Lavaysse, L. M. (2018). Cognitive and affective job insecurity: A meta-analysis and a primary study. Journal of Management, 44(6), 2307–2342. https://doi.org/10.1177/0149206318773853</a:t>
            </a:r>
            <a:endParaRPr lang="en-US" sz="105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Lazarus, R. S., &amp; Folkman, S. (1984). Stress, appraisal, and coping. Springer.</a:t>
            </a:r>
            <a:endParaRPr lang="en-US" sz="105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Lee, C., Huang, G.-H., &amp; Ashford, S. J. (2018). Job insecurity and the changing workplace: Recent developments and the future trends in job insecurity research. Annual Review of Organizational Psychology and Organizational Behavior, 5, 335–359. https://doi.org/10.1146/annurev-orgpsych-032117-104651</a:t>
            </a:r>
            <a:endParaRPr lang="en-US" sz="105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Russo, M., Shteigman, A., &amp; Carmeli, A. (2016). Workplace and family support and work–life balance: Implications for individual psychological availability and energy at work. The Journal of Positive Psychology, 11(2), 173–188.</a:t>
            </a:r>
            <a:endParaRPr lang="en-US" sz="105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Schein, E. H. (1996). Career anchors revisited: Implications for career development in the 21st century. Academy of Management Executive, 10(4), 80–88.</a:t>
            </a:r>
            <a:endParaRPr lang="en-US" sz="105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Shoss, M. K. (2017). Job insecurity: An integrative review and agenda for future research. Journal of Management, 43(6), 1911–1939. https://doi.org/10.1177/0149206317691574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48640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500"/>
              </a:spcAft>
              <a:buNone/>
            </a:pPr>
            <a:r>
              <a:rPr lang="he-IL" alt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בנק ישראל (2025). ההשפעה הצפויה של בינה מלאכותית יוצרת על העובדים: השלכות על המדיניות בשוק העבודה (תיבה מתוך דוח בנק ישראל לשנת 2024). https://www.boi.org.il/publications/pressreleases/11-3-25/</a:t>
            </a:r>
            <a:endParaRPr lang="he-IL" sz="1050" dirty="0"/>
          </a:p>
          <a:p>
            <a:pPr algn="r" indent="0" marL="0">
              <a:buNone/>
            </a:pPr>
            <a:r>
              <a:rPr lang="he-IL" alt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TheMarker (2026, 21 ביוני). הקשיים של מנהלי הייטק ב-2026: גיוס עובדים מתאימים – והתייעלות AI.</a:t>
            </a:r>
            <a:endParaRPr lang="he-IL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6446520"/>
            <a:ext cx="5696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ניהול קריירה בארגונים | הקריה האקדמית אונו</a:t>
            </a:r>
            <a:endParaRPr lang="he-IL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he-IL" alt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he-IL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התמודדות עם חוסר ודאות תעסוקתי</dc:title>
  <dc:subject>PptxGenJS Presentation</dc:subject>
  <dc:creator>PptxGenJS</dc:creator>
  <cp:lastModifiedBy>PptxGenJS</cp:lastModifiedBy>
  <cp:revision>1</cp:revision>
  <dcterms:created xsi:type="dcterms:W3CDTF">2026-09-17T09:08:01Z</dcterms:created>
  <dcterms:modified xsi:type="dcterms:W3CDTF">2026-09-17T09:08:01Z</dcterms:modified>
</cp:coreProperties>
</file>