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מועסקים</c:v>
                </c:pt>
              </c:strCache>
            </c:strRef>
          </c:tx>
          <c:spPr>
            <a:solidFill>
              <a:schemeClr val="accent1"/>
            </a:solidFill>
            <a:ln w="9525" cap="flat">
              <a:solidFill>
                <a:srgbClr val="F9F9F9"/>
              </a:solidFill>
              <a:prstDash val="solid"/>
              <a:round/>
            </a:ln>
            <a:effectLst/>
          </c:spPr>
          <c:dPt>
            <c:idx val="0"/>
            <c:bubble3D val="0"/>
            <c:spPr>
              <a:solidFill>
                <a:srgbClr val="E76F51"/>
              </a:solidFill>
              <a:effectLst/>
            </c:spPr>
          </c:dPt>
          <c:dPt>
            <c:idx val="1"/>
            <c:bubble3D val="0"/>
            <c:spPr>
              <a:solidFill>
                <a:srgbClr val="CBD5E1"/>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מקצועות תחליפיים</c:v>
                </c:pt>
                <c:pt idx="1">
                  <c:v>שאר המקצועות</c:v>
                </c:pt>
              </c:strCache>
            </c:strRef>
          </c:cat>
          <c:val>
            <c:numRef>
              <c:f>Sheet1!$B$2:$B$3</c:f>
              <c:numCache>
                <c:ptCount val="2"/>
                <c:pt idx="0">
                  <c:v>20</c:v>
                </c:pt>
                <c:pt idx="1">
                  <c:v>80</c:v>
                </c:pt>
              </c:numCache>
            </c:numRef>
          </c:val>
        </c:ser>
        <c:firstSliceAng val="0"/>
        <c:holeSize val="55"/>
      </c:doughnutChart>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(30 שניות): שלום לכולם, אנחנו [שמות]. הנושא שלנו הוא התמודדות עם חוסר ודאות תעסוקתי. השאלה שנשאל היום: כשאנחנו מפחדים לאבד את העבודה, זה עושה אותנו טובים יותר או גרוע יותר בניהול הקריירה שלנו? מטא-אנליזה של 237 מחקרים נותנת תשובה.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מעבר מהיר על המבנה. להדגיש שיש סרטון והפעלה.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להריץ סקר מנטימטר (או הרמת ידיים). לצלם מסך של התוצאות. לומר: "שימו לב לפיזור. אותו שוק, אותה כיתה, תחושות שונות לגמרי".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כתבת עיתון: להציג את הכותרת של TheMarker (21.6.2026). נתון בנק ישראל: כחמישית מהמועסקים במקצועות תחליפיים. המסר: חוסר ביטחון הוא לא רק "האם אפוטר" אלא "האם התפקיד שלי ישתנה".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המאמר במשפט: זו לא סקירה של מחקר אחד אלא איחוד סטטיסטי של 237 מחקרים. מגנוס סברקה ויוהני הלגרן מאוניברסיטת סטוקהולם חוקרים את הנושא כבר 30 שנה. בהגשה בשלשה: להרחיב על המאמר של צ'ונג ואחרים בשקופית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שתי תחזיות מנוגדות. האינטואיציה של רוב האנשים היא תחזית א: "פחד מחדד". התיאוריה חוזה את ב. עכשיו נראה מה 237 מחקרים אומרים.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לקרוא: מימין, כל מה שקשור להתקדמות למעלה יורד עם חוסר הביטחון. משמאל, כל מה שקשור לבריחה והגנה עולה. לשים לב להסתרת ידע: תגובה רציונלית של עובד שחושב שהידע שלו הוא מה שמגן עליו, והרסנית לארגון.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מטא-אנליזה = מחקר שמאחד סטטיסטית מחקרים רבים. להסביר בקצרה חתך לעומת אורך: במחקר חתך מודדים הכול באותו רגע, ואז קשרים נראים חזקים יותר. זו כנות של המחברים שאהבנו.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המאמר הזה מסביר מאיפה מגיע חוסר הביטחון של 2026 ומה ממתן אותו. לחבר לסקר הפתיחה: מי שסימן 1 או 2, ייתכן שזו בדיוק המודעות לבינה מלאכותית. בהגשה בזוג אפשר לקצר שקופית זו לחצי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הלב של המסר. הממצאים מראים מעגל: איום, הגנה על משאבים, פחות השקעה בעצמי, ואז פחות משאבים לאיום הבא. הדרך היחידה לצאת היא לשבור את המעגל מראש.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להגיד את הביקורת בקול. ועדיין, זה המאמר שהכי שינה את הדרך שבה אנחנו חושבים על הקריירה שלנו.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להקרין כ-90 שניות (לבדוק את הטיים-קוד מראש). לחבר את העיקרון השלישי לממצא: הסתרת ידע וחיפוש עבודה בלבד הן תגובות ש"פוגעות בי" בטווח הארוך; פיתוח מיומנויות "עוזר לי".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הכלי שאנחנו משאירים לכיתה. שלב 2 הוא הלב: לשבור את המעגל על ידי השקעה בפיתוח מיומנויות לפני שהאיום מדלדל את היכולת לעשות זאת.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לחלק כרטיסים מודפסים (או להשאיר את השקופית). 2 דקות. אחר כך לשמוע 2 עד 3 זוגות. לחבר למאמר: "שימו לב כמה מכם קפצו ישר לחיפוש עבודה. זו בדיוק תגובת ה"הלאה" שהמטא-אנליזה מצאה. מי חשב על מה ללמוד?"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לחזור לתוצאות הסקר מהפתיחה: "מי שסימן 1 או 2: המאמר אומר שהתגובה הטבעית שלכם תהיה לברוח. עצרו רגע ותשאלו מה ללמוד. מי שסימן 5: יופי, זה הזמן להשקיע, כי עכשיו יש לכם משאבים". לסיים במסר ולפתוח לשאלות.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ted.com/talks/lucy_hone_the_three_secrets_of_resilient_people"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1371600" y="4206240"/>
            <a:ext cx="5029200" cy="5029200"/>
          </a:xfrm>
          <a:prstGeom prst="ellipse">
            <a:avLst/>
          </a:prstGeom>
          <a:solidFill>
            <a:srgbClr val="1D2E52"/>
          </a:solidFill>
          <a:ln w="12700">
            <a:solidFill>
              <a:srgbClr val="1D2E52"/>
            </a:solidFill>
            <a:prstDash val="solid"/>
          </a:ln>
        </p:spPr>
      </p:sp>
      <p:sp>
        <p:nvSpPr>
          <p:cNvPr id="3" name="Shape 1"/>
          <p:cNvSpPr/>
          <p:nvPr/>
        </p:nvSpPr>
        <p:spPr>
          <a:xfrm>
            <a:off x="10424160" y="-1920240"/>
            <a:ext cx="3291840" cy="3291840"/>
          </a:xfrm>
          <a:prstGeom prst="ellipse">
            <a:avLst/>
          </a:prstGeom>
          <a:solidFill>
            <a:srgbClr val="FCA311"/>
          </a:solidFill>
          <a:ln w="12700">
            <a:solidFill>
              <a:srgbClr val="FCA311"/>
            </a:solidFill>
            <a:prstDash val="solid"/>
          </a:ln>
        </p:spPr>
      </p:sp>
      <p:sp>
        <p:nvSpPr>
          <p:cNvPr id="4" name="Text 2"/>
          <p:cNvSpPr txBox="1"/>
          <p:nvPr/>
        </p:nvSpPr>
        <p:spPr>
          <a:xfrm>
            <a:off x="731520" y="1097280"/>
            <a:ext cx="8961120" cy="457200"/>
          </a:xfrm>
          <a:prstGeom prst="rect">
            <a:avLst/>
          </a:prstGeom>
          <a:noFill/>
          <a:ln/>
        </p:spPr>
        <p:txBody>
          <a:bodyPr wrap="square" lIns="0" tIns="0" rIns="0" bIns="0" rtlCol="0" anchor="t"/>
          <a:lstStyle/>
          <a:p>
            <a:pPr rtl="1" algn="r" indent="0" marL="0">
              <a:buNone/>
            </a:pPr>
            <a:r>
              <a:rPr lang="he-IL" altLang="en-US" sz="1800" dirty="0">
                <a:solidFill>
                  <a:srgbClr val="CAD3E5"/>
                </a:solidFill>
                <a:latin typeface="Arial" pitchFamily="34" charset="0"/>
                <a:ea typeface="Arial" pitchFamily="34" charset="-122"/>
                <a:cs typeface="Arial" pitchFamily="34" charset="-120"/>
              </a:rPr>
              <a:t>עבודה מסכמת בקורס ניהול קריירה בארגונים</a:t>
            </a:r>
            <a:endParaRPr lang="he-IL" sz="1800" dirty="0"/>
          </a:p>
        </p:txBody>
      </p:sp>
      <p:sp>
        <p:nvSpPr>
          <p:cNvPr id="5" name="Text 3"/>
          <p:cNvSpPr txBox="1"/>
          <p:nvPr/>
        </p:nvSpPr>
        <p:spPr>
          <a:xfrm>
            <a:off x="731520" y="1645920"/>
            <a:ext cx="10698480" cy="1188720"/>
          </a:xfrm>
          <a:prstGeom prst="rect">
            <a:avLst/>
          </a:prstGeom>
          <a:noFill/>
          <a:ln/>
        </p:spPr>
        <p:txBody>
          <a:bodyPr wrap="square" lIns="0" tIns="0" rIns="0" bIns="0" rtlCol="0" anchor="ctr"/>
          <a:lstStyle/>
          <a:p>
            <a:pPr rtl="1" algn="r" indent="0" marL="0">
              <a:buNone/>
            </a:pPr>
            <a:r>
              <a:rPr lang="he-IL" altLang="en-US" sz="4800" b="1" dirty="0">
                <a:solidFill>
                  <a:srgbClr val="FFFFFF"/>
                </a:solidFill>
                <a:latin typeface="Arial" pitchFamily="34" charset="0"/>
                <a:ea typeface="Arial" pitchFamily="34" charset="-122"/>
                <a:cs typeface="Arial" pitchFamily="34" charset="-120"/>
              </a:rPr>
              <a:t>התמודדות עם חוסר ודאות תעסוקתי</a:t>
            </a:r>
            <a:endParaRPr lang="he-IL" sz="4800" dirty="0"/>
          </a:p>
        </p:txBody>
      </p:sp>
      <p:sp>
        <p:nvSpPr>
          <p:cNvPr id="6" name="Text 4"/>
          <p:cNvSpPr txBox="1"/>
          <p:nvPr/>
        </p:nvSpPr>
        <p:spPr>
          <a:xfrm>
            <a:off x="731520" y="2834640"/>
            <a:ext cx="10698480" cy="548640"/>
          </a:xfrm>
          <a:prstGeom prst="rect">
            <a:avLst/>
          </a:prstGeom>
          <a:noFill/>
          <a:ln/>
        </p:spPr>
        <p:txBody>
          <a:bodyPr wrap="square" lIns="0" tIns="0" rIns="0" bIns="0" rtlCol="0" anchor="t"/>
          <a:lstStyle/>
          <a:p>
            <a:pPr rtl="1" algn="r" indent="0" marL="0">
              <a:buNone/>
            </a:pPr>
            <a:r>
              <a:rPr lang="he-IL" altLang="en-US" sz="2200" i="1" dirty="0">
                <a:solidFill>
                  <a:srgbClr val="FCA311"/>
                </a:solidFill>
                <a:latin typeface="Arial" pitchFamily="34" charset="0"/>
                <a:ea typeface="Arial" pitchFamily="34" charset="-122"/>
                <a:cs typeface="Arial" pitchFamily="34" charset="-120"/>
              </a:rPr>
              <a:t>הלאה או למעלה? מה חוסר ביטחון תעסוקתי עושה לקריירה שלנו</a:t>
            </a:r>
            <a:endParaRPr lang="he-IL" sz="2200" dirty="0"/>
          </a:p>
        </p:txBody>
      </p:sp>
      <p:sp>
        <p:nvSpPr>
          <p:cNvPr id="7" name="Text 5"/>
          <p:cNvSpPr txBox="1"/>
          <p:nvPr/>
        </p:nvSpPr>
        <p:spPr>
          <a:xfrm>
            <a:off x="731520" y="3474720"/>
            <a:ext cx="10698480" cy="731520"/>
          </a:xfrm>
          <a:prstGeom prst="rect">
            <a:avLst/>
          </a:prstGeom>
          <a:noFill/>
          <a:ln/>
        </p:spPr>
        <p:txBody>
          <a:bodyPr wrap="square" lIns="0" tIns="0" rIns="0" bIns="0" rtlCol="0" anchor="t"/>
          <a:lstStyle/>
          <a:p>
            <a:pPr algn="r" indent="0" marL="0">
              <a:buNone/>
            </a:pPr>
            <a:r>
              <a:rPr lang="en-US" sz="1200" dirty="0">
                <a:solidFill>
                  <a:srgbClr val="CAD3E5"/>
                </a:solidFill>
                <a:latin typeface="Arial" pitchFamily="34" charset="0"/>
                <a:ea typeface="Arial" pitchFamily="34" charset="-122"/>
                <a:cs typeface="Arial" pitchFamily="34" charset="-120"/>
              </a:rPr>
              <a:t>Låstad, L., Pienaar, J., Näswall, K., Richter, A., Hellgren, J., &amp; Sverke, M. (2025). Moving on up now? A meta-analysis of the associations between job insecurity and career-related outcomes. Scandinavian Journal of Work and Organizational Psychology, 10(1), Article 2.</a:t>
            </a:r>
            <a:endParaRPr lang="en-US" sz="1200" dirty="0"/>
          </a:p>
        </p:txBody>
      </p:sp>
      <p:sp>
        <p:nvSpPr>
          <p:cNvPr id="8" name="Shape 6"/>
          <p:cNvSpPr/>
          <p:nvPr/>
        </p:nvSpPr>
        <p:spPr>
          <a:xfrm>
            <a:off x="731520" y="4389120"/>
            <a:ext cx="5669280" cy="1600200"/>
          </a:xfrm>
          <a:prstGeom prst="roundRect">
            <a:avLst>
              <a:gd name="adj" fmla="val 6857"/>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9" name="Text 7"/>
          <p:cNvSpPr txBox="1"/>
          <p:nvPr/>
        </p:nvSpPr>
        <p:spPr>
          <a:xfrm>
            <a:off x="914400" y="4480560"/>
            <a:ext cx="5303520" cy="365760"/>
          </a:xfrm>
          <a:prstGeom prst="rect">
            <a:avLst/>
          </a:prstGeom>
          <a:noFill/>
          <a:ln/>
        </p:spPr>
        <p:txBody>
          <a:bodyPr wrap="square" lIns="0" tIns="0" rIns="0" bIns="0" rtlCol="0" anchor="t"/>
          <a:lstStyle/>
          <a:p>
            <a:pPr rtl="1" algn="r" indent="0" marL="0">
              <a:buNone/>
            </a:pPr>
            <a:r>
              <a:rPr lang="he-IL" altLang="en-US" sz="1400" b="1" dirty="0">
                <a:solidFill>
                  <a:srgbClr val="FCA311"/>
                </a:solidFill>
                <a:latin typeface="Arial" pitchFamily="34" charset="0"/>
                <a:ea typeface="Arial" pitchFamily="34" charset="-122"/>
                <a:cs typeface="Arial" pitchFamily="34" charset="-120"/>
              </a:rPr>
              <a:t>מגישים/ות</a:t>
            </a:r>
            <a:endParaRPr lang="he-IL" sz="1400" dirty="0"/>
          </a:p>
        </p:txBody>
      </p:sp>
      <p:sp>
        <p:nvSpPr>
          <p:cNvPr id="10" name="Text 8"/>
          <p:cNvSpPr txBox="1"/>
          <p:nvPr/>
        </p:nvSpPr>
        <p:spPr>
          <a:xfrm>
            <a:off x="914400" y="4846320"/>
            <a:ext cx="5303520" cy="1097280"/>
          </a:xfrm>
          <a:prstGeom prst="rect">
            <a:avLst/>
          </a:prstGeom>
          <a:noFill/>
          <a:ln/>
        </p:spPr>
        <p:txBody>
          <a:bodyPr wrap="square" lIns="0" tIns="0" rIns="0" bIns="0" rtlCol="0" anchor="t"/>
          <a:lstStyle/>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a:t>
            </a:r>
            <a:endParaRPr lang="he-IL" sz="1500" dirty="0"/>
          </a:p>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a:t>
            </a:r>
            <a:endParaRPr lang="he-IL" sz="1500" dirty="0"/>
          </a:p>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  (אם בשלשה)</a:t>
            </a:r>
            <a:endParaRPr lang="he-IL" sz="1500" dirty="0"/>
          </a:p>
        </p:txBody>
      </p:sp>
      <p:sp>
        <p:nvSpPr>
          <p:cNvPr id="11" name="Text 9"/>
          <p:cNvSpPr txBox="1"/>
          <p:nvPr/>
        </p:nvSpPr>
        <p:spPr>
          <a:xfrm>
            <a:off x="6675120" y="4480560"/>
            <a:ext cx="4754880" cy="1463040"/>
          </a:xfrm>
          <a:prstGeom prst="rect">
            <a:avLst/>
          </a:prstGeom>
          <a:noFill/>
          <a:ln/>
        </p:spPr>
        <p:txBody>
          <a:bodyPr wrap="square" lIns="0" tIns="0" rIns="0" bIns="0" rtlCol="0" anchor="t"/>
          <a:lstStyle/>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מרצה: גב' מורן דבדבני דקל</a:t>
            </a:r>
            <a:endParaRPr lang="he-IL" sz="1500" dirty="0"/>
          </a:p>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עוזר הוראה: מר פאר רועי</a:t>
            </a:r>
            <a:endParaRPr lang="he-IL" sz="1500" dirty="0"/>
          </a:p>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הפקולטה למנהל עסקים | תשפ"ו, סמסטר 3</a:t>
            </a:r>
            <a:endParaRPr lang="he-IL"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מה נעשה ב-10 הדקות הקרובות?</a:t>
            </a:r>
            <a:endParaRPr lang="he-IL" sz="3000" dirty="0"/>
          </a:p>
        </p:txBody>
      </p:sp>
      <p:sp>
        <p:nvSpPr>
          <p:cNvPr id="3" name="Shape 1"/>
          <p:cNvSpPr/>
          <p:nvPr/>
        </p:nvSpPr>
        <p:spPr>
          <a:xfrm>
            <a:off x="8119872"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4" name="Shape 2"/>
          <p:cNvSpPr/>
          <p:nvPr/>
        </p:nvSpPr>
        <p:spPr>
          <a:xfrm>
            <a:off x="10863072" y="1691640"/>
            <a:ext cx="502920" cy="502920"/>
          </a:xfrm>
          <a:prstGeom prst="ellipse">
            <a:avLst/>
          </a:prstGeom>
          <a:solidFill>
            <a:srgbClr val="FCA311"/>
          </a:solidFill>
          <a:ln w="12700">
            <a:solidFill>
              <a:srgbClr val="FCA311"/>
            </a:solidFill>
            <a:prstDash val="solid"/>
          </a:ln>
        </p:spPr>
      </p:sp>
      <p:sp>
        <p:nvSpPr>
          <p:cNvPr id="5" name="Text 3"/>
          <p:cNvSpPr txBox="1"/>
          <p:nvPr/>
        </p:nvSpPr>
        <p:spPr>
          <a:xfrm>
            <a:off x="10863072"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8394192"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סקר פתיחה</a:t>
            </a:r>
            <a:endParaRPr lang="he-IL" sz="1800" dirty="0"/>
          </a:p>
        </p:txBody>
      </p:sp>
      <p:sp>
        <p:nvSpPr>
          <p:cNvPr id="7" name="Text 5"/>
          <p:cNvSpPr txBox="1"/>
          <p:nvPr/>
        </p:nvSpPr>
        <p:spPr>
          <a:xfrm>
            <a:off x="8394192"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כמה בטוחים אתם בעצם?</a:t>
            </a:r>
            <a:endParaRPr lang="he-IL" sz="1500" dirty="0"/>
          </a:p>
        </p:txBody>
      </p:sp>
      <p:sp>
        <p:nvSpPr>
          <p:cNvPr id="8" name="Text 6"/>
          <p:cNvSpPr txBox="1"/>
          <p:nvPr/>
        </p:nvSpPr>
        <p:spPr>
          <a:xfrm>
            <a:off x="8394192"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 דק'</a:t>
            </a:r>
            <a:endParaRPr lang="he-IL" sz="1300" dirty="0"/>
          </a:p>
        </p:txBody>
      </p:sp>
      <p:sp>
        <p:nvSpPr>
          <p:cNvPr id="9" name="Shape 7"/>
          <p:cNvSpPr/>
          <p:nvPr/>
        </p:nvSpPr>
        <p:spPr>
          <a:xfrm>
            <a:off x="4334256"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10" name="Shape 8"/>
          <p:cNvSpPr/>
          <p:nvPr/>
        </p:nvSpPr>
        <p:spPr>
          <a:xfrm>
            <a:off x="7077456" y="1691640"/>
            <a:ext cx="502920" cy="502920"/>
          </a:xfrm>
          <a:prstGeom prst="ellipse">
            <a:avLst/>
          </a:prstGeom>
          <a:solidFill>
            <a:srgbClr val="FCA311"/>
          </a:solidFill>
          <a:ln w="12700">
            <a:solidFill>
              <a:srgbClr val="FCA311"/>
            </a:solidFill>
            <a:prstDash val="solid"/>
          </a:ln>
        </p:spPr>
      </p:sp>
      <p:sp>
        <p:nvSpPr>
          <p:cNvPr id="11" name="Text 9"/>
          <p:cNvSpPr txBox="1"/>
          <p:nvPr/>
        </p:nvSpPr>
        <p:spPr>
          <a:xfrm>
            <a:off x="7077456"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2</a:t>
            </a:r>
            <a:endParaRPr lang="en-US" sz="1800" dirty="0"/>
          </a:p>
        </p:txBody>
      </p:sp>
      <p:sp>
        <p:nvSpPr>
          <p:cNvPr id="12" name="Text 10"/>
          <p:cNvSpPr txBox="1"/>
          <p:nvPr/>
        </p:nvSpPr>
        <p:spPr>
          <a:xfrm>
            <a:off x="4608576"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למה עכשיו</a:t>
            </a:r>
            <a:endParaRPr lang="he-IL" sz="1800" dirty="0"/>
          </a:p>
        </p:txBody>
      </p:sp>
      <p:sp>
        <p:nvSpPr>
          <p:cNvPr id="13" name="Text 11"/>
          <p:cNvSpPr txBox="1"/>
          <p:nvPr/>
        </p:nvSpPr>
        <p:spPr>
          <a:xfrm>
            <a:off x="4608576"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בינה מלאכותית, הייטק, מילואים</a:t>
            </a:r>
            <a:endParaRPr lang="he-IL" sz="1500" dirty="0"/>
          </a:p>
        </p:txBody>
      </p:sp>
      <p:sp>
        <p:nvSpPr>
          <p:cNvPr id="14" name="Text 12"/>
          <p:cNvSpPr txBox="1"/>
          <p:nvPr/>
        </p:nvSpPr>
        <p:spPr>
          <a:xfrm>
            <a:off x="4608576"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1.5 דק'</a:t>
            </a:r>
            <a:endParaRPr lang="he-IL" sz="1300" dirty="0"/>
          </a:p>
        </p:txBody>
      </p:sp>
      <p:sp>
        <p:nvSpPr>
          <p:cNvPr id="15" name="Shape 13"/>
          <p:cNvSpPr/>
          <p:nvPr/>
        </p:nvSpPr>
        <p:spPr>
          <a:xfrm>
            <a:off x="548640"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16" name="Shape 14"/>
          <p:cNvSpPr/>
          <p:nvPr/>
        </p:nvSpPr>
        <p:spPr>
          <a:xfrm>
            <a:off x="3291840" y="1691640"/>
            <a:ext cx="502920" cy="502920"/>
          </a:xfrm>
          <a:prstGeom prst="ellipse">
            <a:avLst/>
          </a:prstGeom>
          <a:solidFill>
            <a:srgbClr val="FCA311"/>
          </a:solidFill>
          <a:ln w="12700">
            <a:solidFill>
              <a:srgbClr val="FCA311"/>
            </a:solidFill>
            <a:prstDash val="solid"/>
          </a:ln>
        </p:spPr>
      </p:sp>
      <p:sp>
        <p:nvSpPr>
          <p:cNvPr id="17" name="Text 15"/>
          <p:cNvSpPr txBox="1"/>
          <p:nvPr/>
        </p:nvSpPr>
        <p:spPr>
          <a:xfrm>
            <a:off x="3291840"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3</a:t>
            </a:r>
            <a:endParaRPr lang="en-US" sz="1800" dirty="0"/>
          </a:p>
        </p:txBody>
      </p:sp>
      <p:sp>
        <p:nvSpPr>
          <p:cNvPr id="18" name="Text 16"/>
          <p:cNvSpPr txBox="1"/>
          <p:nvPr/>
        </p:nvSpPr>
        <p:spPr>
          <a:xfrm>
            <a:off x="822960"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המאמר</a:t>
            </a:r>
            <a:endParaRPr lang="he-IL" sz="1800" dirty="0"/>
          </a:p>
        </p:txBody>
      </p:sp>
      <p:sp>
        <p:nvSpPr>
          <p:cNvPr id="19" name="Text 17"/>
          <p:cNvSpPr txBox="1"/>
          <p:nvPr/>
        </p:nvSpPr>
        <p:spPr>
          <a:xfrm>
            <a:off x="822960"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השאלה, השיטה, 8 התוצאות</a:t>
            </a:r>
            <a:endParaRPr lang="he-IL" sz="1500" dirty="0"/>
          </a:p>
        </p:txBody>
      </p:sp>
      <p:sp>
        <p:nvSpPr>
          <p:cNvPr id="20" name="Text 18"/>
          <p:cNvSpPr txBox="1"/>
          <p:nvPr/>
        </p:nvSpPr>
        <p:spPr>
          <a:xfrm>
            <a:off x="822960"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2.5 דק'</a:t>
            </a:r>
            <a:endParaRPr lang="he-IL" sz="1300" dirty="0"/>
          </a:p>
        </p:txBody>
      </p:sp>
      <p:sp>
        <p:nvSpPr>
          <p:cNvPr id="21" name="Shape 19"/>
          <p:cNvSpPr/>
          <p:nvPr/>
        </p:nvSpPr>
        <p:spPr>
          <a:xfrm>
            <a:off x="8119872"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22" name="Shape 20"/>
          <p:cNvSpPr/>
          <p:nvPr/>
        </p:nvSpPr>
        <p:spPr>
          <a:xfrm>
            <a:off x="10863072" y="4069080"/>
            <a:ext cx="502920" cy="502920"/>
          </a:xfrm>
          <a:prstGeom prst="ellipse">
            <a:avLst/>
          </a:prstGeom>
          <a:solidFill>
            <a:srgbClr val="FCA311"/>
          </a:solidFill>
          <a:ln w="12700">
            <a:solidFill>
              <a:srgbClr val="FCA311"/>
            </a:solidFill>
            <a:prstDash val="solid"/>
          </a:ln>
        </p:spPr>
      </p:sp>
      <p:sp>
        <p:nvSpPr>
          <p:cNvPr id="23" name="Text 21"/>
          <p:cNvSpPr txBox="1"/>
          <p:nvPr/>
        </p:nvSpPr>
        <p:spPr>
          <a:xfrm>
            <a:off x="10863072"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4</a:t>
            </a:r>
            <a:endParaRPr lang="en-US" sz="1800" dirty="0"/>
          </a:p>
        </p:txBody>
      </p:sp>
      <p:sp>
        <p:nvSpPr>
          <p:cNvPr id="24" name="Text 22"/>
          <p:cNvSpPr txBox="1"/>
          <p:nvPr/>
        </p:nvSpPr>
        <p:spPr>
          <a:xfrm>
            <a:off x="8394192"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מאמר משלים ותובנות</a:t>
            </a:r>
            <a:endParaRPr lang="he-IL" sz="1800" dirty="0"/>
          </a:p>
        </p:txBody>
      </p:sp>
      <p:sp>
        <p:nvSpPr>
          <p:cNvPr id="25" name="Text 23"/>
          <p:cNvSpPr txBox="1"/>
          <p:nvPr/>
        </p:nvSpPr>
        <p:spPr>
          <a:xfrm>
            <a:off x="8394192"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בינה מלאכותית וחוסן קריירה</a:t>
            </a:r>
            <a:endParaRPr lang="he-IL" sz="1500" dirty="0"/>
          </a:p>
        </p:txBody>
      </p:sp>
      <p:sp>
        <p:nvSpPr>
          <p:cNvPr id="26" name="Text 24"/>
          <p:cNvSpPr txBox="1"/>
          <p:nvPr/>
        </p:nvSpPr>
        <p:spPr>
          <a:xfrm>
            <a:off x="8394192"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 דק'</a:t>
            </a:r>
            <a:endParaRPr lang="he-IL" sz="1300" dirty="0"/>
          </a:p>
        </p:txBody>
      </p:sp>
      <p:sp>
        <p:nvSpPr>
          <p:cNvPr id="27" name="Shape 25"/>
          <p:cNvSpPr/>
          <p:nvPr/>
        </p:nvSpPr>
        <p:spPr>
          <a:xfrm>
            <a:off x="4334256"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28" name="Shape 26"/>
          <p:cNvSpPr/>
          <p:nvPr/>
        </p:nvSpPr>
        <p:spPr>
          <a:xfrm>
            <a:off x="7077456" y="4069080"/>
            <a:ext cx="502920" cy="502920"/>
          </a:xfrm>
          <a:prstGeom prst="ellipse">
            <a:avLst/>
          </a:prstGeom>
          <a:solidFill>
            <a:srgbClr val="FCA311"/>
          </a:solidFill>
          <a:ln w="12700">
            <a:solidFill>
              <a:srgbClr val="FCA311"/>
            </a:solidFill>
            <a:prstDash val="solid"/>
          </a:ln>
        </p:spPr>
      </p:sp>
      <p:sp>
        <p:nvSpPr>
          <p:cNvPr id="29" name="Text 27"/>
          <p:cNvSpPr txBox="1"/>
          <p:nvPr/>
        </p:nvSpPr>
        <p:spPr>
          <a:xfrm>
            <a:off x="7077456"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5</a:t>
            </a:r>
            <a:endParaRPr lang="en-US" sz="1800" dirty="0"/>
          </a:p>
        </p:txBody>
      </p:sp>
      <p:sp>
        <p:nvSpPr>
          <p:cNvPr id="30" name="Text 28"/>
          <p:cNvSpPr txBox="1"/>
          <p:nvPr/>
        </p:nvSpPr>
        <p:spPr>
          <a:xfrm>
            <a:off x="4608576"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סרטון + הפעלה</a:t>
            </a:r>
            <a:endParaRPr lang="he-IL" sz="1800" dirty="0"/>
          </a:p>
        </p:txBody>
      </p:sp>
      <p:sp>
        <p:nvSpPr>
          <p:cNvPr id="31" name="Text 29"/>
          <p:cNvSpPr txBox="1"/>
          <p:nvPr/>
        </p:nvSpPr>
        <p:spPr>
          <a:xfrm>
            <a:off x="4608576"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TED וכרטיסי תרחיש</a:t>
            </a:r>
            <a:endParaRPr lang="he-IL" sz="1500" dirty="0"/>
          </a:p>
        </p:txBody>
      </p:sp>
      <p:sp>
        <p:nvSpPr>
          <p:cNvPr id="32" name="Text 30"/>
          <p:cNvSpPr txBox="1"/>
          <p:nvPr/>
        </p:nvSpPr>
        <p:spPr>
          <a:xfrm>
            <a:off x="4608576"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3 דק'</a:t>
            </a:r>
            <a:endParaRPr lang="he-IL" sz="1300" dirty="0"/>
          </a:p>
        </p:txBody>
      </p:sp>
      <p:sp>
        <p:nvSpPr>
          <p:cNvPr id="33" name="Shape 31"/>
          <p:cNvSpPr/>
          <p:nvPr/>
        </p:nvSpPr>
        <p:spPr>
          <a:xfrm>
            <a:off x="548640"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34" name="Shape 32"/>
          <p:cNvSpPr/>
          <p:nvPr/>
        </p:nvSpPr>
        <p:spPr>
          <a:xfrm>
            <a:off x="3291840" y="4069080"/>
            <a:ext cx="502920" cy="502920"/>
          </a:xfrm>
          <a:prstGeom prst="ellipse">
            <a:avLst/>
          </a:prstGeom>
          <a:solidFill>
            <a:srgbClr val="FCA311"/>
          </a:solidFill>
          <a:ln w="12700">
            <a:solidFill>
              <a:srgbClr val="FCA311"/>
            </a:solidFill>
            <a:prstDash val="solid"/>
          </a:ln>
        </p:spPr>
      </p:sp>
      <p:sp>
        <p:nvSpPr>
          <p:cNvPr id="35" name="Text 33"/>
          <p:cNvSpPr txBox="1"/>
          <p:nvPr/>
        </p:nvSpPr>
        <p:spPr>
          <a:xfrm>
            <a:off x="3291840"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6</a:t>
            </a:r>
            <a:endParaRPr lang="en-US" sz="1800" dirty="0"/>
          </a:p>
        </p:txBody>
      </p:sp>
      <p:sp>
        <p:nvSpPr>
          <p:cNvPr id="36" name="Text 34"/>
          <p:cNvSpPr txBox="1"/>
          <p:nvPr/>
        </p:nvSpPr>
        <p:spPr>
          <a:xfrm>
            <a:off x="822960"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סיכום</a:t>
            </a:r>
            <a:endParaRPr lang="he-IL" sz="1800" dirty="0"/>
          </a:p>
        </p:txBody>
      </p:sp>
      <p:sp>
        <p:nvSpPr>
          <p:cNvPr id="37" name="Text 35"/>
          <p:cNvSpPr txBox="1"/>
          <p:nvPr/>
        </p:nvSpPr>
        <p:spPr>
          <a:xfrm>
            <a:off x="822960"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המסר שלנו לכיתה</a:t>
            </a:r>
            <a:endParaRPr lang="he-IL" sz="1500" dirty="0"/>
          </a:p>
        </p:txBody>
      </p:sp>
      <p:sp>
        <p:nvSpPr>
          <p:cNvPr id="38" name="Text 36"/>
          <p:cNvSpPr txBox="1"/>
          <p:nvPr/>
        </p:nvSpPr>
        <p:spPr>
          <a:xfrm>
            <a:off x="822960"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 דק'</a:t>
            </a:r>
            <a:endParaRPr lang="he-IL" sz="1300" dirty="0"/>
          </a:p>
        </p:txBody>
      </p:sp>
      <p:sp>
        <p:nvSpPr>
          <p:cNvPr id="39" name="Text 37"/>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40" name="Text 38"/>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2</a:t>
            </a:r>
            <a:endParaRPr lang="he-IL"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סקר פתיחה</a:t>
            </a:r>
            <a:endParaRPr lang="he-IL" sz="3000" dirty="0"/>
          </a:p>
        </p:txBody>
      </p:sp>
      <p:sp>
        <p:nvSpPr>
          <p:cNvPr id="3" name="Text 1"/>
          <p:cNvSpPr txBox="1"/>
          <p:nvPr/>
        </p:nvSpPr>
        <p:spPr>
          <a:xfrm>
            <a:off x="548640" y="1371600"/>
            <a:ext cx="11091672" cy="1005840"/>
          </a:xfrm>
          <a:prstGeom prst="rect">
            <a:avLst/>
          </a:prstGeom>
          <a:noFill/>
          <a:ln/>
        </p:spPr>
        <p:txBody>
          <a:bodyPr wrap="square" lIns="0" tIns="0" rIns="0" bIns="0" rtlCol="0" anchor="ctr"/>
          <a:lstStyle/>
          <a:p>
            <a:pPr rtl="1" algn="r" indent="0" marL="0">
              <a:buNone/>
            </a:pPr>
            <a:r>
              <a:rPr lang="he-IL" altLang="en-US" sz="2600" b="1" dirty="0">
                <a:solidFill>
                  <a:srgbClr val="14213D"/>
                </a:solidFill>
                <a:latin typeface="Arial" pitchFamily="34" charset="0"/>
                <a:ea typeface="Arial" pitchFamily="34" charset="-122"/>
                <a:cs typeface="Arial" pitchFamily="34" charset="-120"/>
              </a:rPr>
              <a:t>בסולם 1 עד 5: עד כמה אתם בטוחים שתהיו באותו תפקיד (או באותו מסלול) בעוד שנתיים?</a:t>
            </a:r>
            <a:endParaRPr lang="he-IL" sz="2600" dirty="0"/>
          </a:p>
        </p:txBody>
      </p:sp>
      <p:sp>
        <p:nvSpPr>
          <p:cNvPr id="4" name="Shape 2"/>
          <p:cNvSpPr/>
          <p:nvPr/>
        </p:nvSpPr>
        <p:spPr>
          <a:xfrm>
            <a:off x="9249156" y="2743200"/>
            <a:ext cx="1371600" cy="1371600"/>
          </a:xfrm>
          <a:prstGeom prst="ellipse">
            <a:avLst/>
          </a:prstGeom>
          <a:solidFill>
            <a:srgbClr val="E76F51"/>
          </a:solidFill>
          <a:ln w="12700">
            <a:solidFill>
              <a:srgbClr val="E76F51"/>
            </a:solidFill>
            <a:prstDash val="solid"/>
          </a:ln>
        </p:spPr>
      </p:sp>
      <p:sp>
        <p:nvSpPr>
          <p:cNvPr id="5" name="Text 3"/>
          <p:cNvSpPr txBox="1"/>
          <p:nvPr/>
        </p:nvSpPr>
        <p:spPr>
          <a:xfrm>
            <a:off x="9249156" y="2743200"/>
            <a:ext cx="1371600" cy="137160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1</a:t>
            </a:r>
            <a:endParaRPr lang="en-US" sz="4000" dirty="0"/>
          </a:p>
        </p:txBody>
      </p:sp>
      <p:sp>
        <p:nvSpPr>
          <p:cNvPr id="6" name="Text 4"/>
          <p:cNvSpPr txBox="1"/>
          <p:nvPr/>
        </p:nvSpPr>
        <p:spPr>
          <a:xfrm>
            <a:off x="8974836" y="4251960"/>
            <a:ext cx="1920240" cy="548640"/>
          </a:xfrm>
          <a:prstGeom prst="rect">
            <a:avLst/>
          </a:prstGeom>
          <a:noFill/>
          <a:ln/>
        </p:spPr>
        <p:txBody>
          <a:bodyPr wrap="square" lIns="0" tIns="0" rIns="0" bIns="0" rtlCol="0" anchor="t"/>
          <a:lstStyle/>
          <a:p>
            <a:pPr rtl="1" algn="ctr" indent="0" marL="0">
              <a:buNone/>
            </a:pPr>
            <a:r>
              <a:rPr lang="he-IL" altLang="en-US" sz="1400" dirty="0">
                <a:solidFill>
                  <a:srgbClr val="1F2937"/>
                </a:solidFill>
                <a:latin typeface="Arial" pitchFamily="34" charset="0"/>
                <a:ea typeface="Arial" pitchFamily="34" charset="-122"/>
                <a:cs typeface="Arial" pitchFamily="34" charset="-120"/>
              </a:rPr>
              <a:t>בכלל לא בטוח/ה</a:t>
            </a:r>
            <a:endParaRPr lang="he-IL" sz="1400" dirty="0"/>
          </a:p>
        </p:txBody>
      </p:sp>
      <p:sp>
        <p:nvSpPr>
          <p:cNvPr id="7" name="Shape 5"/>
          <p:cNvSpPr/>
          <p:nvPr/>
        </p:nvSpPr>
        <p:spPr>
          <a:xfrm>
            <a:off x="7328916" y="2743200"/>
            <a:ext cx="1371600" cy="1371600"/>
          </a:xfrm>
          <a:prstGeom prst="ellipse">
            <a:avLst/>
          </a:prstGeom>
          <a:solidFill>
            <a:srgbClr val="F4A261"/>
          </a:solidFill>
          <a:ln w="12700">
            <a:solidFill>
              <a:srgbClr val="F4A261"/>
            </a:solidFill>
            <a:prstDash val="solid"/>
          </a:ln>
        </p:spPr>
      </p:sp>
      <p:sp>
        <p:nvSpPr>
          <p:cNvPr id="8" name="Text 6"/>
          <p:cNvSpPr txBox="1"/>
          <p:nvPr/>
        </p:nvSpPr>
        <p:spPr>
          <a:xfrm>
            <a:off x="7328916" y="2743200"/>
            <a:ext cx="1371600" cy="137160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2</a:t>
            </a:r>
            <a:endParaRPr lang="en-US" sz="4000" dirty="0"/>
          </a:p>
        </p:txBody>
      </p:sp>
      <p:sp>
        <p:nvSpPr>
          <p:cNvPr id="9" name="Text 7"/>
          <p:cNvSpPr txBox="1"/>
          <p:nvPr/>
        </p:nvSpPr>
        <p:spPr>
          <a:xfrm>
            <a:off x="7054596" y="4251960"/>
            <a:ext cx="1920240" cy="548640"/>
          </a:xfrm>
          <a:prstGeom prst="rect">
            <a:avLst/>
          </a:prstGeom>
          <a:noFill/>
          <a:ln/>
        </p:spPr>
        <p:txBody>
          <a:bodyPr wrap="square" lIns="0" tIns="0" rIns="0" bIns="0" rtlCol="0" anchor="t"/>
          <a:lstStyle/>
          <a:p>
            <a:pPr rtl="1" algn="ctr" indent="0" marL="0">
              <a:buNone/>
            </a:pPr>
            <a:r>
              <a:rPr lang="he-IL" altLang="en-US" sz="1400" dirty="0">
                <a:solidFill>
                  <a:srgbClr val="1F2937"/>
                </a:solidFill>
                <a:latin typeface="Arial" pitchFamily="34" charset="0"/>
                <a:ea typeface="Arial" pitchFamily="34" charset="-122"/>
                <a:cs typeface="Arial" pitchFamily="34" charset="-120"/>
              </a:rPr>
              <a:t>לא כל כך</a:t>
            </a:r>
            <a:endParaRPr lang="he-IL" sz="1400" dirty="0"/>
          </a:p>
        </p:txBody>
      </p:sp>
      <p:sp>
        <p:nvSpPr>
          <p:cNvPr id="10" name="Shape 8"/>
          <p:cNvSpPr/>
          <p:nvPr/>
        </p:nvSpPr>
        <p:spPr>
          <a:xfrm>
            <a:off x="5408676" y="2743200"/>
            <a:ext cx="1371600" cy="1371600"/>
          </a:xfrm>
          <a:prstGeom prst="ellipse">
            <a:avLst/>
          </a:prstGeom>
          <a:solidFill>
            <a:srgbClr val="E9C46A"/>
          </a:solidFill>
          <a:ln w="12700">
            <a:solidFill>
              <a:srgbClr val="E9C46A"/>
            </a:solidFill>
            <a:prstDash val="solid"/>
          </a:ln>
        </p:spPr>
      </p:sp>
      <p:sp>
        <p:nvSpPr>
          <p:cNvPr id="11" name="Text 9"/>
          <p:cNvSpPr txBox="1"/>
          <p:nvPr/>
        </p:nvSpPr>
        <p:spPr>
          <a:xfrm>
            <a:off x="5408676" y="2743200"/>
            <a:ext cx="1371600" cy="137160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3</a:t>
            </a:r>
            <a:endParaRPr lang="en-US" sz="4000" dirty="0"/>
          </a:p>
        </p:txBody>
      </p:sp>
      <p:sp>
        <p:nvSpPr>
          <p:cNvPr id="12" name="Text 10"/>
          <p:cNvSpPr txBox="1"/>
          <p:nvPr/>
        </p:nvSpPr>
        <p:spPr>
          <a:xfrm>
            <a:off x="5134356" y="4251960"/>
            <a:ext cx="1920240" cy="548640"/>
          </a:xfrm>
          <a:prstGeom prst="rect">
            <a:avLst/>
          </a:prstGeom>
          <a:noFill/>
          <a:ln/>
        </p:spPr>
        <p:txBody>
          <a:bodyPr wrap="square" lIns="0" tIns="0" rIns="0" bIns="0" rtlCol="0" anchor="t"/>
          <a:lstStyle/>
          <a:p>
            <a:pPr rtl="1" algn="ctr" indent="0" marL="0">
              <a:buNone/>
            </a:pPr>
            <a:r>
              <a:rPr lang="he-IL" altLang="en-US" sz="1400" dirty="0">
                <a:solidFill>
                  <a:srgbClr val="1F2937"/>
                </a:solidFill>
                <a:latin typeface="Arial" pitchFamily="34" charset="0"/>
                <a:ea typeface="Arial" pitchFamily="34" charset="-122"/>
                <a:cs typeface="Arial" pitchFamily="34" charset="-120"/>
              </a:rPr>
              <a:t>ככה-ככה</a:t>
            </a:r>
            <a:endParaRPr lang="he-IL" sz="1400" dirty="0"/>
          </a:p>
        </p:txBody>
      </p:sp>
      <p:sp>
        <p:nvSpPr>
          <p:cNvPr id="13" name="Shape 11"/>
          <p:cNvSpPr/>
          <p:nvPr/>
        </p:nvSpPr>
        <p:spPr>
          <a:xfrm>
            <a:off x="3488436" y="2743200"/>
            <a:ext cx="1371600" cy="1371600"/>
          </a:xfrm>
          <a:prstGeom prst="ellipse">
            <a:avLst/>
          </a:prstGeom>
          <a:solidFill>
            <a:srgbClr val="8AB17D"/>
          </a:solidFill>
          <a:ln w="12700">
            <a:solidFill>
              <a:srgbClr val="8AB17D"/>
            </a:solidFill>
            <a:prstDash val="solid"/>
          </a:ln>
        </p:spPr>
      </p:sp>
      <p:sp>
        <p:nvSpPr>
          <p:cNvPr id="14" name="Text 12"/>
          <p:cNvSpPr txBox="1"/>
          <p:nvPr/>
        </p:nvSpPr>
        <p:spPr>
          <a:xfrm>
            <a:off x="3488436" y="2743200"/>
            <a:ext cx="1371600" cy="137160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4</a:t>
            </a:r>
            <a:endParaRPr lang="en-US" sz="4000" dirty="0"/>
          </a:p>
        </p:txBody>
      </p:sp>
      <p:sp>
        <p:nvSpPr>
          <p:cNvPr id="15" name="Text 13"/>
          <p:cNvSpPr txBox="1"/>
          <p:nvPr/>
        </p:nvSpPr>
        <p:spPr>
          <a:xfrm>
            <a:off x="3214116" y="4251960"/>
            <a:ext cx="1920240" cy="548640"/>
          </a:xfrm>
          <a:prstGeom prst="rect">
            <a:avLst/>
          </a:prstGeom>
          <a:noFill/>
          <a:ln/>
        </p:spPr>
        <p:txBody>
          <a:bodyPr wrap="square" lIns="0" tIns="0" rIns="0" bIns="0" rtlCol="0" anchor="t"/>
          <a:lstStyle/>
          <a:p>
            <a:pPr rtl="1" algn="ctr" indent="0" marL="0">
              <a:buNone/>
            </a:pPr>
            <a:r>
              <a:rPr lang="he-IL" altLang="en-US" sz="1400" dirty="0">
                <a:solidFill>
                  <a:srgbClr val="1F2937"/>
                </a:solidFill>
                <a:latin typeface="Arial" pitchFamily="34" charset="0"/>
                <a:ea typeface="Arial" pitchFamily="34" charset="-122"/>
                <a:cs typeface="Arial" pitchFamily="34" charset="-120"/>
              </a:rPr>
              <a:t>די בטוח/ה</a:t>
            </a:r>
            <a:endParaRPr lang="he-IL" sz="1400" dirty="0"/>
          </a:p>
        </p:txBody>
      </p:sp>
      <p:sp>
        <p:nvSpPr>
          <p:cNvPr id="16" name="Shape 14"/>
          <p:cNvSpPr/>
          <p:nvPr/>
        </p:nvSpPr>
        <p:spPr>
          <a:xfrm>
            <a:off x="1568196" y="2743200"/>
            <a:ext cx="1371600" cy="1371600"/>
          </a:xfrm>
          <a:prstGeom prst="ellipse">
            <a:avLst/>
          </a:prstGeom>
          <a:solidFill>
            <a:srgbClr val="2A9D8F"/>
          </a:solidFill>
          <a:ln w="12700">
            <a:solidFill>
              <a:srgbClr val="2A9D8F"/>
            </a:solidFill>
            <a:prstDash val="solid"/>
          </a:ln>
        </p:spPr>
      </p:sp>
      <p:sp>
        <p:nvSpPr>
          <p:cNvPr id="17" name="Text 15"/>
          <p:cNvSpPr txBox="1"/>
          <p:nvPr/>
        </p:nvSpPr>
        <p:spPr>
          <a:xfrm>
            <a:off x="1568196" y="2743200"/>
            <a:ext cx="1371600" cy="137160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5</a:t>
            </a:r>
            <a:endParaRPr lang="en-US" sz="4000" dirty="0"/>
          </a:p>
        </p:txBody>
      </p:sp>
      <p:sp>
        <p:nvSpPr>
          <p:cNvPr id="18" name="Text 16"/>
          <p:cNvSpPr txBox="1"/>
          <p:nvPr/>
        </p:nvSpPr>
        <p:spPr>
          <a:xfrm>
            <a:off x="1293876" y="4251960"/>
            <a:ext cx="1920240" cy="548640"/>
          </a:xfrm>
          <a:prstGeom prst="rect">
            <a:avLst/>
          </a:prstGeom>
          <a:noFill/>
          <a:ln/>
        </p:spPr>
        <p:txBody>
          <a:bodyPr wrap="square" lIns="0" tIns="0" rIns="0" bIns="0" rtlCol="0" anchor="t"/>
          <a:lstStyle/>
          <a:p>
            <a:pPr rtl="1" algn="ctr" indent="0" marL="0">
              <a:buNone/>
            </a:pPr>
            <a:r>
              <a:rPr lang="he-IL" altLang="en-US" sz="1400" dirty="0">
                <a:solidFill>
                  <a:srgbClr val="1F2937"/>
                </a:solidFill>
                <a:latin typeface="Arial" pitchFamily="34" charset="0"/>
                <a:ea typeface="Arial" pitchFamily="34" charset="-122"/>
                <a:cs typeface="Arial" pitchFamily="34" charset="-120"/>
              </a:rPr>
              <a:t>בטוח/ה מאוד</a:t>
            </a:r>
            <a:endParaRPr lang="he-IL" sz="1400" dirty="0"/>
          </a:p>
        </p:txBody>
      </p:sp>
      <p:sp>
        <p:nvSpPr>
          <p:cNvPr id="19" name="Shape 17"/>
          <p:cNvSpPr/>
          <p:nvPr/>
        </p:nvSpPr>
        <p:spPr>
          <a:xfrm>
            <a:off x="548640" y="5120640"/>
            <a:ext cx="11091672"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20" name="Text 18"/>
          <p:cNvSpPr txBox="1"/>
          <p:nvPr/>
        </p:nvSpPr>
        <p:spPr>
          <a:xfrm>
            <a:off x="822960" y="5257800"/>
            <a:ext cx="10515600" cy="822960"/>
          </a:xfrm>
          <a:prstGeom prst="rect">
            <a:avLst/>
          </a:prstGeom>
          <a:noFill/>
          <a:ln/>
        </p:spPr>
        <p:txBody>
          <a:bodyPr wrap="square" lIns="0" tIns="0" rIns="0" bIns="0" rtlCol="0" anchor="ctr"/>
          <a:lstStyle/>
          <a:p>
            <a:pPr rtl="1" algn="r" indent="0" marL="0">
              <a:buNone/>
            </a:pPr>
            <a:r>
              <a:rPr lang="he-IL" altLang="en-US" sz="1700" dirty="0">
                <a:solidFill>
                  <a:srgbClr val="1F2937"/>
                </a:solidFill>
                <a:latin typeface="Arial" pitchFamily="34" charset="0"/>
                <a:ea typeface="Arial" pitchFamily="34" charset="-122"/>
                <a:cs typeface="Arial" pitchFamily="34" charset="-120"/>
              </a:rPr>
              <a:t>הצבעה ב-Mentimeter או הרמת ידיים. התוצאות יוצגו על המסך ונחזור אליהן בסוף.</a:t>
            </a:r>
            <a:endParaRPr lang="he-IL" sz="1700" dirty="0"/>
          </a:p>
        </p:txBody>
      </p:sp>
      <p:sp>
        <p:nvSpPr>
          <p:cNvPr id="21" name="Text 1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2" name="Text 2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3</a:t>
            </a:r>
            <a:endParaRPr lang="he-IL"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למה דווקא עכשיו?</a:t>
            </a:r>
            <a:endParaRPr lang="he-IL" sz="3000" dirty="0"/>
          </a:p>
        </p:txBody>
      </p:sp>
      <p:sp>
        <p:nvSpPr>
          <p:cNvPr id="3" name="Shape 1"/>
          <p:cNvSpPr/>
          <p:nvPr/>
        </p:nvSpPr>
        <p:spPr>
          <a:xfrm>
            <a:off x="6492240" y="1325880"/>
            <a:ext cx="5148072" cy="4937760"/>
          </a:xfrm>
          <a:prstGeom prst="roundRect">
            <a:avLst>
              <a:gd name="adj" fmla="val 2222"/>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6675120" y="1463040"/>
            <a:ext cx="4754880" cy="914400"/>
          </a:xfrm>
          <a:prstGeom prst="rect">
            <a:avLst/>
          </a:prstGeom>
          <a:noFill/>
          <a:ln/>
        </p:spPr>
        <p:txBody>
          <a:bodyPr wrap="square" lIns="0" tIns="0" rIns="0" bIns="0" rtlCol="0" anchor="ctr"/>
          <a:lstStyle/>
          <a:p>
            <a:pPr rtl="1" algn="ctr" indent="0" marL="0">
              <a:buNone/>
            </a:pPr>
            <a:r>
              <a:rPr lang="he-IL" altLang="en-US" sz="6000" b="1" dirty="0">
                <a:solidFill>
                  <a:srgbClr val="E76F51"/>
                </a:solidFill>
                <a:latin typeface="Arial" pitchFamily="34" charset="0"/>
                <a:ea typeface="Arial" pitchFamily="34" charset="-122"/>
                <a:cs typeface="Arial" pitchFamily="34" charset="-120"/>
              </a:rPr>
              <a:t>1 מכל 5</a:t>
            </a:r>
            <a:endParaRPr lang="he-IL" sz="6000" dirty="0"/>
          </a:p>
        </p:txBody>
      </p:sp>
      <p:sp>
        <p:nvSpPr>
          <p:cNvPr id="5" name="Text 3"/>
          <p:cNvSpPr txBox="1"/>
          <p:nvPr/>
        </p:nvSpPr>
        <p:spPr>
          <a:xfrm>
            <a:off x="6766560" y="2423160"/>
            <a:ext cx="4572000" cy="1005840"/>
          </a:xfrm>
          <a:prstGeom prst="rect">
            <a:avLst/>
          </a:prstGeom>
          <a:noFill/>
          <a:ln/>
        </p:spPr>
        <p:txBody>
          <a:bodyPr wrap="square" lIns="0" tIns="0" rIns="0" bIns="0" rtlCol="0" anchor="t"/>
          <a:lstStyle/>
          <a:p>
            <a:pPr rtl="1" algn="ctr" indent="0" marL="0">
              <a:buNone/>
            </a:pPr>
            <a:r>
              <a:rPr lang="he-IL" altLang="en-US" sz="1400" dirty="0">
                <a:solidFill>
                  <a:srgbClr val="1F2937"/>
                </a:solidFill>
                <a:latin typeface="Arial" pitchFamily="34" charset="0"/>
                <a:ea typeface="Arial" pitchFamily="34" charset="-122"/>
                <a:cs typeface="Arial" pitchFamily="34" charset="-120"/>
              </a:rPr>
              <a:t>מהמועסקים בישראל עובדים במקצועות "תחליפיים" שבהם הביקוש צפוי לרדת משמעותית עם התרחבות הבינה המלאכותית (בנק ישראל, 2025)</a:t>
            </a:r>
            <a:endParaRPr lang="he-IL" sz="1400" dirty="0"/>
          </a:p>
        </p:txBody>
      </p:sp>
      <p:graphicFrame>
        <p:nvGraphicFramePr>
          <p:cNvPr id="6" name="Chart 0" descr=""/>
          <p:cNvGraphicFramePr/>
          <p:nvPr/>
        </p:nvGraphicFramePr>
        <p:xfrm>
          <a:off x="6949440" y="3474720"/>
          <a:ext cx="4206240"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1325880"/>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8" name="Shape 5"/>
          <p:cNvSpPr/>
          <p:nvPr/>
        </p:nvSpPr>
        <p:spPr>
          <a:xfrm>
            <a:off x="5486400" y="1600200"/>
            <a:ext cx="548640" cy="548640"/>
          </a:xfrm>
          <a:prstGeom prst="ellipse">
            <a:avLst/>
          </a:prstGeom>
          <a:solidFill>
            <a:srgbClr val="FCA311"/>
          </a:solidFill>
          <a:ln w="12700">
            <a:solidFill>
              <a:srgbClr val="FCA311"/>
            </a:solidFill>
            <a:prstDash val="solid"/>
          </a:ln>
        </p:spPr>
      </p:sp>
      <p:sp>
        <p:nvSpPr>
          <p:cNvPr id="9" name="Text 6"/>
          <p:cNvSpPr txBox="1"/>
          <p:nvPr/>
        </p:nvSpPr>
        <p:spPr>
          <a:xfrm>
            <a:off x="5486400" y="1600200"/>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10" name="Text 7"/>
          <p:cNvSpPr txBox="1"/>
          <p:nvPr/>
        </p:nvSpPr>
        <p:spPr>
          <a:xfrm>
            <a:off x="731520" y="1435608"/>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בינה מלאכותית</a:t>
            </a:r>
            <a:endParaRPr lang="he-IL" sz="1700" dirty="0"/>
          </a:p>
        </p:txBody>
      </p:sp>
      <p:sp>
        <p:nvSpPr>
          <p:cNvPr id="11" name="Text 8"/>
          <p:cNvSpPr txBox="1"/>
          <p:nvPr/>
        </p:nvSpPr>
        <p:spPr>
          <a:xfrm>
            <a:off x="731520" y="1828800"/>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משנה את תוכן התפקיד גם כשהמשרה נשמרת. עצם המודעות לה מייצרת חוסר ביטחון (Chung et al., 2025)</a:t>
            </a:r>
            <a:endParaRPr lang="he-IL" sz="1250" dirty="0"/>
          </a:p>
        </p:txBody>
      </p:sp>
      <p:sp>
        <p:nvSpPr>
          <p:cNvPr id="12" name="Shape 9"/>
          <p:cNvSpPr/>
          <p:nvPr/>
        </p:nvSpPr>
        <p:spPr>
          <a:xfrm>
            <a:off x="548640" y="2578608"/>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3" name="Shape 10"/>
          <p:cNvSpPr/>
          <p:nvPr/>
        </p:nvSpPr>
        <p:spPr>
          <a:xfrm>
            <a:off x="5486400" y="2852928"/>
            <a:ext cx="548640" cy="548640"/>
          </a:xfrm>
          <a:prstGeom prst="ellipse">
            <a:avLst/>
          </a:prstGeom>
          <a:solidFill>
            <a:srgbClr val="FCA311"/>
          </a:solidFill>
          <a:ln w="12700">
            <a:solidFill>
              <a:srgbClr val="FCA311"/>
            </a:solidFill>
            <a:prstDash val="solid"/>
          </a:ln>
        </p:spPr>
      </p:sp>
      <p:sp>
        <p:nvSpPr>
          <p:cNvPr id="14" name="Text 11"/>
          <p:cNvSpPr txBox="1"/>
          <p:nvPr/>
        </p:nvSpPr>
        <p:spPr>
          <a:xfrm>
            <a:off x="5486400" y="2852928"/>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15" name="Text 12"/>
          <p:cNvSpPr txBox="1"/>
          <p:nvPr/>
        </p:nvSpPr>
        <p:spPr>
          <a:xfrm>
            <a:off x="731520" y="2688336"/>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התייעלות בהייטק</a:t>
            </a:r>
            <a:endParaRPr lang="he-IL" sz="1700" dirty="0"/>
          </a:p>
        </p:txBody>
      </p:sp>
      <p:sp>
        <p:nvSpPr>
          <p:cNvPr id="16" name="Text 13"/>
          <p:cNvSpPr txBox="1"/>
          <p:nvPr/>
        </p:nvSpPr>
        <p:spPr>
          <a:xfrm>
            <a:off x="731520" y="3081528"/>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גלי פיטורים ו"התייעלות AI" בראש סדר היום של מנהלים ב-2026 ("הקשיים של מנהלי הייטק", 2026)</a:t>
            </a:r>
            <a:endParaRPr lang="he-IL" sz="1250" dirty="0"/>
          </a:p>
        </p:txBody>
      </p:sp>
      <p:sp>
        <p:nvSpPr>
          <p:cNvPr id="17" name="Shape 14"/>
          <p:cNvSpPr/>
          <p:nvPr/>
        </p:nvSpPr>
        <p:spPr>
          <a:xfrm>
            <a:off x="548640" y="3831336"/>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8" name="Shape 15"/>
          <p:cNvSpPr/>
          <p:nvPr/>
        </p:nvSpPr>
        <p:spPr>
          <a:xfrm>
            <a:off x="5486400" y="4105656"/>
            <a:ext cx="548640" cy="548640"/>
          </a:xfrm>
          <a:prstGeom prst="ellipse">
            <a:avLst/>
          </a:prstGeom>
          <a:solidFill>
            <a:srgbClr val="FCA311"/>
          </a:solidFill>
          <a:ln w="12700">
            <a:solidFill>
              <a:srgbClr val="FCA311"/>
            </a:solidFill>
            <a:prstDash val="solid"/>
          </a:ln>
        </p:spPr>
      </p:sp>
      <p:sp>
        <p:nvSpPr>
          <p:cNvPr id="19" name="Text 16"/>
          <p:cNvSpPr txBox="1"/>
          <p:nvPr/>
        </p:nvSpPr>
        <p:spPr>
          <a:xfrm>
            <a:off x="5486400" y="4105656"/>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731520" y="3941064"/>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מילואים ומלחמה</a:t>
            </a:r>
            <a:endParaRPr lang="he-IL" sz="1700" dirty="0"/>
          </a:p>
        </p:txBody>
      </p:sp>
      <p:sp>
        <p:nvSpPr>
          <p:cNvPr id="21" name="Text 18"/>
          <p:cNvSpPr txBox="1"/>
          <p:nvPr/>
        </p:nvSpPr>
        <p:spPr>
          <a:xfrm>
            <a:off x="731520" y="4334256"/>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חוסר ודאות שמקורו מחוץ לארגון. ממד ישראלי ייחודי</a:t>
            </a:r>
            <a:endParaRPr lang="he-IL" sz="1250" dirty="0"/>
          </a:p>
        </p:txBody>
      </p:sp>
      <p:sp>
        <p:nvSpPr>
          <p:cNvPr id="22" name="Shape 19"/>
          <p:cNvSpPr/>
          <p:nvPr/>
        </p:nvSpPr>
        <p:spPr>
          <a:xfrm>
            <a:off x="548640" y="5084064"/>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23" name="Shape 20"/>
          <p:cNvSpPr/>
          <p:nvPr/>
        </p:nvSpPr>
        <p:spPr>
          <a:xfrm>
            <a:off x="5486400" y="5358384"/>
            <a:ext cx="548640" cy="548640"/>
          </a:xfrm>
          <a:prstGeom prst="ellipse">
            <a:avLst/>
          </a:prstGeom>
          <a:solidFill>
            <a:srgbClr val="FCA311"/>
          </a:solidFill>
          <a:ln w="12700">
            <a:solidFill>
              <a:srgbClr val="FCA311"/>
            </a:solidFill>
            <a:prstDash val="solid"/>
          </a:ln>
        </p:spPr>
      </p:sp>
      <p:sp>
        <p:nvSpPr>
          <p:cNvPr id="24" name="Text 21"/>
          <p:cNvSpPr txBox="1"/>
          <p:nvPr/>
        </p:nvSpPr>
        <p:spPr>
          <a:xfrm>
            <a:off x="5486400" y="5358384"/>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731520" y="5193792"/>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צורות העסקה חדשות</a:t>
            </a:r>
            <a:endParaRPr lang="he-IL" sz="1700" dirty="0"/>
          </a:p>
        </p:txBody>
      </p:sp>
      <p:sp>
        <p:nvSpPr>
          <p:cNvPr id="26" name="Text 23"/>
          <p:cNvSpPr txBox="1"/>
          <p:nvPr/>
        </p:nvSpPr>
        <p:spPr>
          <a:xfrm>
            <a:off x="731520" y="5586984"/>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פרילנס, חוזים זמניים, גיג. חוסר ביטחון הופך ממצב חריג למצב כרוני</a:t>
            </a:r>
            <a:endParaRPr lang="he-IL" sz="1250" dirty="0"/>
          </a:p>
        </p:txBody>
      </p:sp>
      <p:sp>
        <p:nvSpPr>
          <p:cNvPr id="27" name="Text 2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8" name="Text 2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4</a:t>
            </a:r>
            <a:endParaRPr lang="he-IL"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המאמר שבחרנו</a:t>
            </a:r>
            <a:endParaRPr lang="he-IL" sz="3000" dirty="0"/>
          </a:p>
        </p:txBody>
      </p:sp>
      <p:sp>
        <p:nvSpPr>
          <p:cNvPr id="3" name="Shape 1"/>
          <p:cNvSpPr/>
          <p:nvPr/>
        </p:nvSpPr>
        <p:spPr>
          <a:xfrm>
            <a:off x="4846320" y="1325880"/>
            <a:ext cx="6793992" cy="3108960"/>
          </a:xfrm>
          <a:prstGeom prst="roundRect">
            <a:avLst>
              <a:gd name="adj" fmla="val 3529"/>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5074920" y="1463040"/>
            <a:ext cx="6355080" cy="914400"/>
          </a:xfrm>
          <a:prstGeom prst="rect">
            <a:avLst/>
          </a:prstGeom>
          <a:noFill/>
          <a:ln/>
        </p:spPr>
        <p:txBody>
          <a:bodyPr wrap="square" lIns="0" tIns="0" rIns="0" bIns="0" rtlCol="0" anchor="ctr"/>
          <a:lstStyle/>
          <a:p>
            <a:pPr algn="r" indent="0" marL="0">
              <a:buNone/>
            </a:pPr>
            <a:r>
              <a:rPr lang="en-US" sz="1900" b="1" dirty="0">
                <a:solidFill>
                  <a:srgbClr val="FFFFFF"/>
                </a:solidFill>
                <a:latin typeface="Arial" pitchFamily="34" charset="0"/>
                <a:ea typeface="Arial" pitchFamily="34" charset="-122"/>
                <a:cs typeface="Arial" pitchFamily="34" charset="-120"/>
              </a:rPr>
              <a:t>Moving on Up Now? A Meta-Analysis of the Associations Between Job Insecurity and Career-Related Outcomes</a:t>
            </a:r>
            <a:endParaRPr lang="en-US" sz="1900" dirty="0"/>
          </a:p>
        </p:txBody>
      </p:sp>
      <p:sp>
        <p:nvSpPr>
          <p:cNvPr id="5" name="Text 3"/>
          <p:cNvSpPr txBox="1"/>
          <p:nvPr/>
        </p:nvSpPr>
        <p:spPr>
          <a:xfrm>
            <a:off x="5074920" y="2423160"/>
            <a:ext cx="6355080" cy="457200"/>
          </a:xfrm>
          <a:prstGeom prst="rect">
            <a:avLst/>
          </a:prstGeom>
          <a:noFill/>
          <a:ln/>
        </p:spPr>
        <p:txBody>
          <a:bodyPr wrap="square" lIns="0" tIns="0" rIns="0" bIns="0" rtlCol="0" anchor="t"/>
          <a:lstStyle/>
          <a:p>
            <a:pPr algn="r" indent="0" marL="0">
              <a:buNone/>
            </a:pPr>
            <a:r>
              <a:rPr lang="en-US" sz="1200" dirty="0">
                <a:solidFill>
                  <a:srgbClr val="FCA311"/>
                </a:solidFill>
                <a:latin typeface="Arial" pitchFamily="34" charset="0"/>
                <a:ea typeface="Arial" pitchFamily="34" charset="-122"/>
                <a:cs typeface="Arial" pitchFamily="34" charset="-120"/>
              </a:rPr>
              <a:t>Låstad, Pienaar, Näswall, Richter, Hellgren &amp; Sverke  |  Scandinavian Journal of Work and Organizational Psychology, 10(1)  |  2025</a:t>
            </a:r>
            <a:endParaRPr lang="en-US" sz="1200" dirty="0"/>
          </a:p>
        </p:txBody>
      </p:sp>
      <p:sp>
        <p:nvSpPr>
          <p:cNvPr id="6" name="Text 4"/>
          <p:cNvSpPr txBox="1"/>
          <p:nvPr/>
        </p:nvSpPr>
        <p:spPr>
          <a:xfrm>
            <a:off x="5074920" y="2926080"/>
            <a:ext cx="6355080" cy="1463040"/>
          </a:xfrm>
          <a:prstGeom prst="rect">
            <a:avLst/>
          </a:prstGeom>
          <a:noFill/>
          <a:ln/>
        </p:spPr>
        <p:txBody>
          <a:bodyPr wrap="square" lIns="0" tIns="0" rIns="0" bIns="0" rtlCol="0" anchor="t"/>
          <a:lstStyle/>
          <a:p>
            <a:pPr algn="r" marL="342900" indent="-342900">
              <a:spcAft>
                <a:spcPts val="600"/>
              </a:spcAft>
              <a:buSzPct val="100000"/>
              <a:buChar char="•"/>
            </a:pPr>
            <a:r>
              <a:rPr lang="he-IL" altLang="en-US" sz="1300" dirty="0">
                <a:solidFill>
                  <a:srgbClr val="E5EAF3"/>
                </a:solidFill>
                <a:latin typeface="Arial" pitchFamily="34" charset="0"/>
                <a:ea typeface="Arial" pitchFamily="34" charset="-122"/>
                <a:cs typeface="Arial" pitchFamily="34" charset="-120"/>
              </a:rPr>
              <a:t>מטא-אנליזה: איחוד סטטיסטי של 237 מחקרים ראשוניים</a:t>
            </a:r>
            <a:endParaRPr lang="he-IL" sz="1300" dirty="0"/>
          </a:p>
          <a:p>
            <a:pPr algn="r" marL="342900" indent="-342900">
              <a:spcAft>
                <a:spcPts val="600"/>
              </a:spcAft>
              <a:buSzPct val="100000"/>
              <a:buChar char="•"/>
            </a:pPr>
            <a:r>
              <a:rPr lang="he-IL" altLang="en-US" sz="1300" dirty="0">
                <a:solidFill>
                  <a:srgbClr val="E5EAF3"/>
                </a:solidFill>
                <a:latin typeface="Arial" pitchFamily="34" charset="0"/>
                <a:ea typeface="Arial" pitchFamily="34" charset="-122"/>
                <a:cs typeface="Arial" pitchFamily="34" charset="-120"/>
              </a:rPr>
              <a:t>כתב עת שפיט, גישה פתוחה מלאה (Open Access), הוצאת אוניברסיטת סטוקהולם</a:t>
            </a:r>
            <a:endParaRPr lang="he-IL" sz="1300" dirty="0"/>
          </a:p>
          <a:p>
            <a:pPr algn="r" marL="342900" indent="-342900">
              <a:spcAft>
                <a:spcPts val="600"/>
              </a:spcAft>
              <a:buSzPct val="100000"/>
              <a:buChar char="•"/>
            </a:pPr>
            <a:r>
              <a:rPr lang="he-IL" altLang="en-US" sz="1300" dirty="0">
                <a:solidFill>
                  <a:srgbClr val="E5EAF3"/>
                </a:solidFill>
                <a:latin typeface="Arial" pitchFamily="34" charset="0"/>
                <a:ea typeface="Arial" pitchFamily="34" charset="-122"/>
                <a:cs typeface="Arial" pitchFamily="34" charset="-120"/>
              </a:rPr>
              <a:t>המחברים: קבוצת המחקר המובילה בעולם בנושא, שפרסמה את המטא-אנליזה הראשונה בתחום ב-2002</a:t>
            </a:r>
            <a:endParaRPr lang="he-IL" sz="1300" dirty="0"/>
          </a:p>
        </p:txBody>
      </p:sp>
      <p:sp>
        <p:nvSpPr>
          <p:cNvPr id="7" name="Shape 5"/>
          <p:cNvSpPr/>
          <p:nvPr/>
        </p:nvSpPr>
        <p:spPr>
          <a:xfrm>
            <a:off x="548640" y="1325880"/>
            <a:ext cx="4023360" cy="3108960"/>
          </a:xfrm>
          <a:prstGeom prst="roundRect">
            <a:avLst>
              <a:gd name="adj" fmla="val 3529"/>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8" name="Text 6"/>
          <p:cNvSpPr txBox="1"/>
          <p:nvPr/>
        </p:nvSpPr>
        <p:spPr>
          <a:xfrm>
            <a:off x="777240" y="1463040"/>
            <a:ext cx="3566160" cy="457200"/>
          </a:xfrm>
          <a:prstGeom prst="rect">
            <a:avLst/>
          </a:prstGeom>
          <a:noFill/>
          <a:ln/>
        </p:spPr>
        <p:txBody>
          <a:bodyPr wrap="square" lIns="0" tIns="0" rIns="0" bIns="0" rtlCol="0" anchor="t"/>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למה בחרנו בו?</a:t>
            </a:r>
            <a:endParaRPr lang="he-IL" sz="1800" dirty="0"/>
          </a:p>
        </p:txBody>
      </p:sp>
      <p:sp>
        <p:nvSpPr>
          <p:cNvPr id="9" name="Text 7"/>
          <p:cNvSpPr txBox="1"/>
          <p:nvPr/>
        </p:nvSpPr>
        <p:spPr>
          <a:xfrm>
            <a:off x="777240" y="1965960"/>
            <a:ext cx="3566160" cy="2377440"/>
          </a:xfrm>
          <a:prstGeom prst="rect">
            <a:avLst/>
          </a:prstGeom>
          <a:noFill/>
          <a:ln/>
        </p:spPr>
        <p:txBody>
          <a:bodyPr wrap="square" lIns="0" tIns="0" rIns="0" bIns="0" rtlCol="0" anchor="t"/>
          <a:lstStyle/>
          <a:p>
            <a:pPr algn="r" marL="342900" indent="-342900">
              <a:spcAft>
                <a:spcPts val="600"/>
              </a:spcAft>
              <a:buSzPct val="100000"/>
              <a:buChar char="•"/>
            </a:pPr>
            <a:r>
              <a:rPr lang="he-IL" altLang="en-US" sz="1300" dirty="0">
                <a:solidFill>
                  <a:srgbClr val="1F2937"/>
                </a:solidFill>
                <a:latin typeface="Arial" pitchFamily="34" charset="0"/>
                <a:ea typeface="Arial" pitchFamily="34" charset="-122"/>
                <a:cs typeface="Arial" pitchFamily="34" charset="-120"/>
              </a:rPr>
              <a:t>עונה על השאלה שכולנו שואלים: האם הפחד יעשה אותנו טובים יותר?</a:t>
            </a:r>
            <a:endParaRPr lang="he-IL" sz="1300" dirty="0"/>
          </a:p>
          <a:p>
            <a:pPr algn="r" marL="342900" indent="-342900">
              <a:spcAft>
                <a:spcPts val="600"/>
              </a:spcAft>
              <a:buSzPct val="100000"/>
              <a:buChar char="•"/>
            </a:pPr>
            <a:r>
              <a:rPr lang="he-IL" altLang="en-US" sz="1300" dirty="0">
                <a:solidFill>
                  <a:srgbClr val="1F2937"/>
                </a:solidFill>
                <a:latin typeface="Arial" pitchFamily="34" charset="0"/>
                <a:ea typeface="Arial" pitchFamily="34" charset="-122"/>
                <a:cs typeface="Arial" pitchFamily="34" charset="-120"/>
              </a:rPr>
              <a:t>הראשון שבודק מה חוסר ביטחון עושה לקריירה עצמה, לא רק לבריאות</a:t>
            </a:r>
            <a:endParaRPr lang="he-IL" sz="1300" dirty="0"/>
          </a:p>
          <a:p>
            <a:pPr algn="r" marL="342900" indent="-342900">
              <a:spcAft>
                <a:spcPts val="600"/>
              </a:spcAft>
              <a:buSzPct val="100000"/>
              <a:buChar char="•"/>
            </a:pPr>
            <a:r>
              <a:rPr lang="he-IL" altLang="en-US" sz="1300" dirty="0">
                <a:solidFill>
                  <a:srgbClr val="1F2937"/>
                </a:solidFill>
                <a:latin typeface="Arial" pitchFamily="34" charset="0"/>
                <a:ea typeface="Arial" pitchFamily="34" charset="-122"/>
                <a:cs typeface="Arial" pitchFamily="34" charset="-120"/>
              </a:rPr>
              <a:t>זמין לכולם בחינם. אפשר לשלוח לחבר שמפחד מפיטורים</a:t>
            </a:r>
            <a:endParaRPr lang="he-IL" sz="1300" dirty="0"/>
          </a:p>
        </p:txBody>
      </p:sp>
      <p:sp>
        <p:nvSpPr>
          <p:cNvPr id="10" name="Shape 8"/>
          <p:cNvSpPr/>
          <p:nvPr/>
        </p:nvSpPr>
        <p:spPr>
          <a:xfrm>
            <a:off x="548640" y="4663440"/>
            <a:ext cx="11091672" cy="1600200"/>
          </a:xfrm>
          <a:prstGeom prst="roundRect">
            <a:avLst>
              <a:gd name="adj" fmla="val 6857"/>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1" name="Text 9"/>
          <p:cNvSpPr txBox="1"/>
          <p:nvPr/>
        </p:nvSpPr>
        <p:spPr>
          <a:xfrm>
            <a:off x="777240" y="4754880"/>
            <a:ext cx="10607040" cy="411480"/>
          </a:xfrm>
          <a:prstGeom prst="rect">
            <a:avLst/>
          </a:prstGeom>
          <a:noFill/>
          <a:ln/>
        </p:spPr>
        <p:txBody>
          <a:bodyPr wrap="square" lIns="0" tIns="0" rIns="0" bIns="0" rtlCol="0" anchor="t"/>
          <a:lstStyle/>
          <a:p>
            <a:pPr rtl="1" algn="r" indent="0" marL="0">
              <a:buNone/>
            </a:pPr>
            <a:r>
              <a:rPr lang="he-IL" altLang="en-US" sz="1500" b="1" dirty="0">
                <a:solidFill>
                  <a:srgbClr val="2A9D8F"/>
                </a:solidFill>
                <a:latin typeface="Arial" pitchFamily="34" charset="0"/>
                <a:ea typeface="Arial" pitchFamily="34" charset="-122"/>
                <a:cs typeface="Arial" pitchFamily="34" charset="-120"/>
              </a:rPr>
              <a:t>מאמר משלים (גם הוא 2025, גישה פתוחה) והמסגרת התיאורטית</a:t>
            </a:r>
            <a:endParaRPr lang="he-IL" sz="1500" dirty="0"/>
          </a:p>
        </p:txBody>
      </p:sp>
      <p:sp>
        <p:nvSpPr>
          <p:cNvPr id="12" name="Text 10"/>
          <p:cNvSpPr txBox="1"/>
          <p:nvPr/>
        </p:nvSpPr>
        <p:spPr>
          <a:xfrm>
            <a:off x="777240" y="5166360"/>
            <a:ext cx="10607040" cy="1005840"/>
          </a:xfrm>
          <a:prstGeom prst="rect">
            <a:avLst/>
          </a:prstGeom>
          <a:noFill/>
          <a:ln/>
        </p:spPr>
        <p:txBody>
          <a:bodyPr wrap="square" lIns="0" tIns="0" rIns="0" bIns="0" rtlCol="0" anchor="t"/>
          <a:lstStyle/>
          <a:p>
            <a:pPr algn="r" indent="0" marL="0">
              <a:spcAft>
                <a:spcPts val="600"/>
              </a:spcAft>
              <a:buNone/>
            </a:pPr>
            <a:r>
              <a:rPr lang="en-US" sz="1200" dirty="0">
                <a:solidFill>
                  <a:srgbClr val="1F2937"/>
                </a:solidFill>
                <a:latin typeface="Arial" pitchFamily="34" charset="0"/>
                <a:ea typeface="Arial" pitchFamily="34" charset="-122"/>
                <a:cs typeface="Arial" pitchFamily="34" charset="-120"/>
              </a:rPr>
              <a:t>Chung, Y. W., Im, S., Kim, J. E., &amp; Yun, J. K. (2025). Artificial intelligence awareness, career resilience, job insecurity and behavioural outcomes. Australian Journal of Psychology, 77(1), Article 2559910.</a:t>
            </a:r>
            <a:endParaRPr lang="en-US" sz="1200" dirty="0"/>
          </a:p>
          <a:p>
            <a:pPr algn="r" indent="0" marL="0">
              <a:spcAft>
                <a:spcPts val="600"/>
              </a:spcAft>
              <a:buNone/>
            </a:pPr>
            <a:r>
              <a:rPr lang="en-US" sz="1200" dirty="0">
                <a:solidFill>
                  <a:srgbClr val="1F2937"/>
                </a:solidFill>
                <a:latin typeface="Arial" pitchFamily="34" charset="0"/>
                <a:ea typeface="Arial" pitchFamily="34" charset="-122"/>
                <a:cs typeface="Arial" pitchFamily="34" charset="-120"/>
              </a:rPr>
              <a:t>Shoss, M. K. (2017). Job insecurity: An integrative review and agenda for future research. Journal of Management, 43(6), 1911-1939.</a:t>
            </a:r>
            <a:endParaRPr lang="en-US" sz="1200" dirty="0"/>
          </a:p>
        </p:txBody>
      </p:sp>
      <p:sp>
        <p:nvSpPr>
          <p:cNvPr id="13" name="Text 11"/>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4" name="Text 12"/>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5</a:t>
            </a:r>
            <a:endParaRPr lang="he-IL"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השאלה: כשמפחדים לאבד את העבודה, מתקדמים למעלה או בורחים הלאה?</a:t>
            </a:r>
            <a:endParaRPr lang="he-IL" sz="3000" dirty="0"/>
          </a:p>
        </p:txBody>
      </p:sp>
      <p:sp>
        <p:nvSpPr>
          <p:cNvPr id="3" name="Shape 1"/>
          <p:cNvSpPr/>
          <p:nvPr/>
        </p:nvSpPr>
        <p:spPr>
          <a:xfrm>
            <a:off x="548640" y="1280160"/>
            <a:ext cx="11091672" cy="1097280"/>
          </a:xfrm>
          <a:prstGeom prst="roundRect">
            <a:avLst>
              <a:gd name="adj" fmla="val 10000"/>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22960" y="1371600"/>
            <a:ext cx="10515600" cy="914400"/>
          </a:xfrm>
          <a:prstGeom prst="rect">
            <a:avLst/>
          </a:prstGeom>
          <a:noFill/>
          <a:ln/>
        </p:spPr>
        <p:txBody>
          <a:bodyPr wrap="square" lIns="0" tIns="0" rIns="0" bIns="0" rtlCol="0" anchor="ctr"/>
          <a:lstStyle/>
          <a:p>
            <a:pPr rtl="1" algn="r" indent="0" marL="0">
              <a:buNone/>
            </a:pPr>
            <a:r>
              <a:rPr lang="he-IL" altLang="en-US" sz="1600" dirty="0">
                <a:solidFill>
                  <a:srgbClr val="FFFFFF"/>
                </a:solidFill>
                <a:latin typeface="Arial" pitchFamily="34" charset="0"/>
                <a:ea typeface="Arial" pitchFamily="34" charset="-122"/>
                <a:cs typeface="Arial" pitchFamily="34" charset="-120"/>
              </a:rPr>
              <a:t>חוסר ביטחון תעסוקתי = איום נתפס על ההמשכיות ועל היציבות של התעסוקה הנוכחית (Shoss, 2017). סובייקטיבי, מכוון לעתיד, כמותי או איכותני.</a:t>
            </a:r>
            <a:endParaRPr lang="he-IL" sz="1600" dirty="0"/>
          </a:p>
        </p:txBody>
      </p:sp>
      <p:sp>
        <p:nvSpPr>
          <p:cNvPr id="5" name="Shape 3"/>
          <p:cNvSpPr/>
          <p:nvPr/>
        </p:nvSpPr>
        <p:spPr>
          <a:xfrm>
            <a:off x="6245352" y="2651760"/>
            <a:ext cx="5394960" cy="2468880"/>
          </a:xfrm>
          <a:prstGeom prst="roundRect">
            <a:avLst>
              <a:gd name="adj" fmla="val 4444"/>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6" name="Shape 4"/>
          <p:cNvSpPr/>
          <p:nvPr/>
        </p:nvSpPr>
        <p:spPr>
          <a:xfrm>
            <a:off x="10725912" y="2926080"/>
            <a:ext cx="640080" cy="640080"/>
          </a:xfrm>
          <a:prstGeom prst="ellipse">
            <a:avLst/>
          </a:prstGeom>
          <a:solidFill>
            <a:srgbClr val="2A9D8F"/>
          </a:solidFill>
          <a:ln w="12700">
            <a:solidFill>
              <a:srgbClr val="2A9D8F"/>
            </a:solidFill>
            <a:prstDash val="solid"/>
          </a:ln>
        </p:spPr>
      </p:sp>
      <p:sp>
        <p:nvSpPr>
          <p:cNvPr id="7" name="Text 5"/>
          <p:cNvSpPr txBox="1"/>
          <p:nvPr/>
        </p:nvSpPr>
        <p:spPr>
          <a:xfrm>
            <a:off x="10725912" y="2926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8" name="Text 6"/>
          <p:cNvSpPr txBox="1"/>
          <p:nvPr/>
        </p:nvSpPr>
        <p:spPr>
          <a:xfrm>
            <a:off x="6519672" y="2926080"/>
            <a:ext cx="4023360" cy="640080"/>
          </a:xfrm>
          <a:prstGeom prst="rect">
            <a:avLst/>
          </a:prstGeom>
          <a:noFill/>
          <a:ln/>
        </p:spPr>
        <p:txBody>
          <a:bodyPr wrap="square" lIns="0" tIns="0" rIns="0" bIns="0" rtlCol="0" anchor="ctr"/>
          <a:lstStyle/>
          <a:p>
            <a:pPr rtl="1" algn="r" indent="0" marL="0">
              <a:buNone/>
            </a:pPr>
            <a:r>
              <a:rPr lang="he-IL" altLang="en-US" sz="1700" b="1" dirty="0">
                <a:solidFill>
                  <a:srgbClr val="2A9D8F"/>
                </a:solidFill>
                <a:latin typeface="Arial" pitchFamily="34" charset="0"/>
                <a:ea typeface="Arial" pitchFamily="34" charset="-122"/>
                <a:cs typeface="Arial" pitchFamily="34" charset="-120"/>
              </a:rPr>
              <a:t>תחזית א: "למעלה" (Moving Up)</a:t>
            </a:r>
            <a:endParaRPr lang="he-IL" sz="1700" dirty="0"/>
          </a:p>
        </p:txBody>
      </p:sp>
      <p:sp>
        <p:nvSpPr>
          <p:cNvPr id="9" name="Text 7"/>
          <p:cNvSpPr txBox="1"/>
          <p:nvPr/>
        </p:nvSpPr>
        <p:spPr>
          <a:xfrm>
            <a:off x="6519672" y="3703320"/>
            <a:ext cx="4846320" cy="1325880"/>
          </a:xfrm>
          <a:prstGeom prst="rect">
            <a:avLst/>
          </a:prstGeom>
          <a:noFill/>
          <a:ln/>
        </p:spPr>
        <p:txBody>
          <a:bodyPr wrap="square" lIns="0" tIns="0" rIns="0" bIns="0" rtlCol="0" anchor="t"/>
          <a:lstStyle/>
          <a:p>
            <a:pPr rtl="1" algn="r" indent="0" marL="0">
              <a:buNone/>
            </a:pPr>
            <a:r>
              <a:rPr lang="he-IL" altLang="en-US" sz="1350" dirty="0">
                <a:solidFill>
                  <a:srgbClr val="1F2937"/>
                </a:solidFill>
                <a:latin typeface="Arial" pitchFamily="34" charset="0"/>
                <a:ea typeface="Arial" pitchFamily="34" charset="-122"/>
                <a:cs typeface="Arial" pitchFamily="34" charset="-120"/>
              </a:rPr>
              <a:t>האיום מדרבן: לומדים מיומנויות חדשות, מחזקים יכולת תעסוקה, מנצלים הזדמנויות. זו ההתמודדות הפרואקטיבית במסגרת של Shoss (2017).</a:t>
            </a:r>
            <a:endParaRPr lang="he-IL" sz="1350" dirty="0"/>
          </a:p>
        </p:txBody>
      </p:sp>
      <p:sp>
        <p:nvSpPr>
          <p:cNvPr id="10" name="Shape 8"/>
          <p:cNvSpPr/>
          <p:nvPr/>
        </p:nvSpPr>
        <p:spPr>
          <a:xfrm>
            <a:off x="548640" y="2651760"/>
            <a:ext cx="5394960" cy="2468880"/>
          </a:xfrm>
          <a:prstGeom prst="roundRect">
            <a:avLst>
              <a:gd name="adj" fmla="val 4444"/>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1" name="Shape 9"/>
          <p:cNvSpPr/>
          <p:nvPr/>
        </p:nvSpPr>
        <p:spPr>
          <a:xfrm>
            <a:off x="5029200" y="2926080"/>
            <a:ext cx="640080" cy="640080"/>
          </a:xfrm>
          <a:prstGeom prst="ellipse">
            <a:avLst/>
          </a:prstGeom>
          <a:solidFill>
            <a:srgbClr val="E76F51"/>
          </a:solidFill>
          <a:ln w="12700">
            <a:solidFill>
              <a:srgbClr val="E76F51"/>
            </a:solidFill>
            <a:prstDash val="solid"/>
          </a:ln>
        </p:spPr>
      </p:sp>
      <p:sp>
        <p:nvSpPr>
          <p:cNvPr id="12" name="Text 10"/>
          <p:cNvSpPr txBox="1"/>
          <p:nvPr/>
        </p:nvSpPr>
        <p:spPr>
          <a:xfrm>
            <a:off x="5029200" y="2926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13" name="Text 11"/>
          <p:cNvSpPr txBox="1"/>
          <p:nvPr/>
        </p:nvSpPr>
        <p:spPr>
          <a:xfrm>
            <a:off x="822960" y="2926080"/>
            <a:ext cx="4023360" cy="640080"/>
          </a:xfrm>
          <a:prstGeom prst="rect">
            <a:avLst/>
          </a:prstGeom>
          <a:noFill/>
          <a:ln/>
        </p:spPr>
        <p:txBody>
          <a:bodyPr wrap="square" lIns="0" tIns="0" rIns="0" bIns="0" rtlCol="0" anchor="ctr"/>
          <a:lstStyle/>
          <a:p>
            <a:pPr rtl="1" algn="r" indent="0" marL="0">
              <a:buNone/>
            </a:pPr>
            <a:r>
              <a:rPr lang="he-IL" altLang="en-US" sz="1700" b="1" dirty="0">
                <a:solidFill>
                  <a:srgbClr val="E76F51"/>
                </a:solidFill>
                <a:latin typeface="Arial" pitchFamily="34" charset="0"/>
                <a:ea typeface="Arial" pitchFamily="34" charset="-122"/>
                <a:cs typeface="Arial" pitchFamily="34" charset="-120"/>
              </a:rPr>
              <a:t>תחזית ב: "הלאה" (Moving On)</a:t>
            </a:r>
            <a:endParaRPr lang="he-IL" sz="1700" dirty="0"/>
          </a:p>
        </p:txBody>
      </p:sp>
      <p:sp>
        <p:nvSpPr>
          <p:cNvPr id="14" name="Text 12"/>
          <p:cNvSpPr txBox="1"/>
          <p:nvPr/>
        </p:nvSpPr>
        <p:spPr>
          <a:xfrm>
            <a:off x="822960" y="3703320"/>
            <a:ext cx="4846320" cy="1325880"/>
          </a:xfrm>
          <a:prstGeom prst="rect">
            <a:avLst/>
          </a:prstGeom>
          <a:noFill/>
          <a:ln/>
        </p:spPr>
        <p:txBody>
          <a:bodyPr wrap="square" lIns="0" tIns="0" rIns="0" bIns="0" rtlCol="0" anchor="t"/>
          <a:lstStyle/>
          <a:p>
            <a:pPr rtl="1" algn="r" indent="0" marL="0">
              <a:buNone/>
            </a:pPr>
            <a:r>
              <a:rPr lang="he-IL" altLang="en-US" sz="1350" dirty="0">
                <a:solidFill>
                  <a:srgbClr val="1F2937"/>
                </a:solidFill>
                <a:latin typeface="Arial" pitchFamily="34" charset="0"/>
                <a:ea typeface="Arial" pitchFamily="34" charset="-122"/>
                <a:cs typeface="Arial" pitchFamily="34" charset="-120"/>
              </a:rPr>
              <a:t>האיום מדלדל משאבים: לפי תיאוריית שימור המשאבים (Hobfoll, 1989) מגנים על מה שנשאר במקום להשקיע. בורחים, מסתירים ידע, לא מתפתחים.</a:t>
            </a:r>
            <a:endParaRPr lang="he-IL" sz="1350" dirty="0"/>
          </a:p>
        </p:txBody>
      </p:sp>
      <p:sp>
        <p:nvSpPr>
          <p:cNvPr id="15" name="Shape 13"/>
          <p:cNvSpPr/>
          <p:nvPr/>
        </p:nvSpPr>
        <p:spPr>
          <a:xfrm>
            <a:off x="548640" y="5349240"/>
            <a:ext cx="11091672" cy="868680"/>
          </a:xfrm>
          <a:prstGeom prst="roundRect">
            <a:avLst>
              <a:gd name="adj" fmla="val 12632"/>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16" name="Text 14"/>
          <p:cNvSpPr txBox="1"/>
          <p:nvPr/>
        </p:nvSpPr>
        <p:spPr>
          <a:xfrm>
            <a:off x="822960" y="5394960"/>
            <a:ext cx="10515600" cy="777240"/>
          </a:xfrm>
          <a:prstGeom prst="rect">
            <a:avLst/>
          </a:prstGeom>
          <a:noFill/>
          <a:ln/>
        </p:spPr>
        <p:txBody>
          <a:bodyPr wrap="square" lIns="0" tIns="0" rIns="0" bIns="0" rtlCol="0" anchor="ctr"/>
          <a:lstStyle/>
          <a:p>
            <a:pPr rtl="1" algn="r" indent="0" marL="0">
              <a:buNone/>
            </a:pPr>
            <a:r>
              <a:rPr lang="he-IL" altLang="en-US" sz="1500" b="1" dirty="0">
                <a:solidFill>
                  <a:srgbClr val="14213D"/>
                </a:solidFill>
                <a:latin typeface="Arial" pitchFamily="34" charset="0"/>
                <a:ea typeface="Arial" pitchFamily="34" charset="-122"/>
                <a:cs typeface="Arial" pitchFamily="34" charset="-120"/>
              </a:rPr>
              <a:t>המטא-אנליזה נועדה להכריע: על בסיס כלל הראיות, איזו תגובה שכיחה יותר בפועל? (Låstad et al., 2025)</a:t>
            </a:r>
            <a:endParaRPr lang="he-IL" sz="1500" dirty="0"/>
          </a:p>
        </p:txBody>
      </p:sp>
      <p:sp>
        <p:nvSpPr>
          <p:cNvPr id="17" name="Text 15"/>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8" name="Text 16"/>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6</a:t>
            </a:r>
            <a:endParaRPr lang="he-IL"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הממצאים: 8 תוצאות קריירה, כיוון אחד ברור</a:t>
            </a:r>
            <a:endParaRPr lang="he-IL" sz="3000" dirty="0"/>
          </a:p>
        </p:txBody>
      </p:sp>
      <p:sp>
        <p:nvSpPr>
          <p:cNvPr id="3" name="Shape 1"/>
          <p:cNvSpPr/>
          <p:nvPr/>
        </p:nvSpPr>
        <p:spPr>
          <a:xfrm>
            <a:off x="4937760" y="2011680"/>
            <a:ext cx="2331720" cy="2011680"/>
          </a:xfrm>
          <a:prstGeom prst="ellipse">
            <a:avLst/>
          </a:prstGeom>
          <a:solidFill>
            <a:srgbClr val="14213D"/>
          </a:solidFill>
          <a:ln w="12700">
            <a:solidFill>
              <a:srgbClr val="14213D"/>
            </a:solidFill>
            <a:prstDash val="solid"/>
          </a:ln>
        </p:spPr>
      </p:sp>
      <p:sp>
        <p:nvSpPr>
          <p:cNvPr id="4" name="Text 2"/>
          <p:cNvSpPr txBox="1"/>
          <p:nvPr/>
        </p:nvSpPr>
        <p:spPr>
          <a:xfrm>
            <a:off x="5029200" y="2286000"/>
            <a:ext cx="2148840" cy="822960"/>
          </a:xfrm>
          <a:prstGeom prst="rect">
            <a:avLst/>
          </a:prstGeom>
          <a:noFill/>
          <a:ln/>
        </p:spPr>
        <p:txBody>
          <a:bodyPr wrap="square" lIns="0" tIns="0" rIns="0" bIns="0" rtlCol="0" anchor="ctr"/>
          <a:lstStyle/>
          <a:p>
            <a:pPr rtl="1" algn="ctr" indent="0" marL="0">
              <a:buNone/>
            </a:pPr>
            <a:r>
              <a:rPr lang="he-IL" altLang="en-US" sz="1700" b="1" dirty="0">
                <a:solidFill>
                  <a:srgbClr val="FFFFFF"/>
                </a:solidFill>
                <a:latin typeface="Arial" pitchFamily="34" charset="0"/>
                <a:ea typeface="Arial" pitchFamily="34" charset="-122"/>
                <a:cs typeface="Arial" pitchFamily="34" charset="-120"/>
              </a:rPr>
              <a:t>חוסר ביטחון תעסוקתי</a:t>
            </a:r>
            <a:endParaRPr lang="he-IL" sz="1700" dirty="0"/>
          </a:p>
        </p:txBody>
      </p:sp>
      <p:sp>
        <p:nvSpPr>
          <p:cNvPr id="5" name="Text 3"/>
          <p:cNvSpPr txBox="1"/>
          <p:nvPr/>
        </p:nvSpPr>
        <p:spPr>
          <a:xfrm>
            <a:off x="5029200" y="3108960"/>
            <a:ext cx="2148840" cy="457200"/>
          </a:xfrm>
          <a:prstGeom prst="rect">
            <a:avLst/>
          </a:prstGeom>
          <a:noFill/>
          <a:ln/>
        </p:spPr>
        <p:txBody>
          <a:bodyPr wrap="square" lIns="0" tIns="0" rIns="0" bIns="0" rtlCol="0" anchor="ctr"/>
          <a:lstStyle/>
          <a:p>
            <a:pPr rtl="1" algn="ctr" indent="0" marL="0">
              <a:buNone/>
            </a:pPr>
            <a:r>
              <a:rPr lang="he-IL" altLang="en-US" sz="1200" dirty="0">
                <a:solidFill>
                  <a:srgbClr val="FCA311"/>
                </a:solidFill>
                <a:latin typeface="Arial" pitchFamily="34" charset="0"/>
                <a:ea typeface="Arial" pitchFamily="34" charset="-122"/>
                <a:cs typeface="Arial" pitchFamily="34" charset="-120"/>
              </a:rPr>
              <a:t>237 מחקרים</a:t>
            </a:r>
            <a:endParaRPr lang="he-IL" sz="1200" dirty="0"/>
          </a:p>
        </p:txBody>
      </p:sp>
      <p:sp>
        <p:nvSpPr>
          <p:cNvPr id="6" name="Text 4"/>
          <p:cNvSpPr txBox="1"/>
          <p:nvPr/>
        </p:nvSpPr>
        <p:spPr>
          <a:xfrm>
            <a:off x="8138160" y="1234440"/>
            <a:ext cx="3502152" cy="411480"/>
          </a:xfrm>
          <a:prstGeom prst="rect">
            <a:avLst/>
          </a:prstGeom>
          <a:noFill/>
          <a:ln/>
        </p:spPr>
        <p:txBody>
          <a:bodyPr wrap="square" lIns="0" tIns="0" rIns="0" bIns="0" rtlCol="0" anchor="t"/>
          <a:lstStyle/>
          <a:p>
            <a:pPr rtl="1" algn="ctr" indent="0" marL="0">
              <a:buNone/>
            </a:pPr>
            <a:r>
              <a:rPr lang="he-IL" altLang="en-US" sz="1600" b="1" dirty="0">
                <a:solidFill>
                  <a:srgbClr val="E76F51"/>
                </a:solidFill>
                <a:latin typeface="Arial" pitchFamily="34" charset="0"/>
                <a:ea typeface="Arial" pitchFamily="34" charset="-122"/>
                <a:cs typeface="Arial" pitchFamily="34" charset="-120"/>
              </a:rPr>
              <a:t>"למעלה" יורד ⬇</a:t>
            </a:r>
            <a:endParaRPr lang="he-IL" sz="1600" dirty="0"/>
          </a:p>
        </p:txBody>
      </p:sp>
      <p:sp>
        <p:nvSpPr>
          <p:cNvPr id="7" name="Shape 5"/>
          <p:cNvSpPr/>
          <p:nvPr/>
        </p:nvSpPr>
        <p:spPr>
          <a:xfrm>
            <a:off x="8138160" y="1737360"/>
            <a:ext cx="3502152" cy="777240"/>
          </a:xfrm>
          <a:prstGeom prst="roundRect">
            <a:avLst>
              <a:gd name="adj" fmla="val 14118"/>
            </a:avLst>
          </a:prstGeom>
          <a:solidFill>
            <a:srgbClr val="FDECEA"/>
          </a:solidFill>
          <a:ln w="12700">
            <a:solidFill>
              <a:srgbClr val="FDECEA"/>
            </a:solidFill>
            <a:prstDash val="solid"/>
          </a:ln>
          <a:effectLst>
            <a:outerShdw sx="100000" sy="100000" kx="0" ky="0" algn="bl" rotWithShape="0" blurRad="50800" dist="25400" dir="5400000">
              <a:srgbClr val="000000">
                <a:alpha val="12000"/>
              </a:srgbClr>
            </a:outerShdw>
          </a:effectLst>
        </p:spPr>
      </p:sp>
      <p:sp>
        <p:nvSpPr>
          <p:cNvPr id="8" name="Text 6"/>
          <p:cNvSpPr txBox="1"/>
          <p:nvPr/>
        </p:nvSpPr>
        <p:spPr>
          <a:xfrm>
            <a:off x="10954512" y="1892808"/>
            <a:ext cx="457200" cy="457200"/>
          </a:xfrm>
          <a:prstGeom prst="rect">
            <a:avLst/>
          </a:prstGeom>
          <a:noFill/>
          <a:ln/>
        </p:spPr>
        <p:txBody>
          <a:bodyPr wrap="square" lIns="0" tIns="0" rIns="0" bIns="0" rtlCol="0" anchor="ctr"/>
          <a:lstStyle/>
          <a:p>
            <a:pPr algn="ctr" indent="0" marL="0">
              <a:buNone/>
            </a:pPr>
            <a:r>
              <a:rPr lang="en-US" sz="2400" b="1" dirty="0">
                <a:solidFill>
                  <a:srgbClr val="E76F51"/>
                </a:solidFill>
                <a:latin typeface="Arial" pitchFamily="34" charset="0"/>
                <a:ea typeface="Arial" pitchFamily="34" charset="-122"/>
                <a:cs typeface="Arial" pitchFamily="34" charset="-120"/>
              </a:rPr>
              <a:t>−</a:t>
            </a:r>
            <a:endParaRPr lang="en-US" sz="2400" dirty="0"/>
          </a:p>
        </p:txBody>
      </p:sp>
      <p:sp>
        <p:nvSpPr>
          <p:cNvPr id="9" name="Text 7"/>
          <p:cNvSpPr txBox="1"/>
          <p:nvPr/>
        </p:nvSpPr>
        <p:spPr>
          <a:xfrm>
            <a:off x="8321040" y="1828800"/>
            <a:ext cx="2587752" cy="594360"/>
          </a:xfrm>
          <a:prstGeom prst="rect">
            <a:avLst/>
          </a:prstGeom>
          <a:noFill/>
          <a:ln/>
        </p:spPr>
        <p:txBody>
          <a:bodyPr wrap="square" lIns="0" tIns="0" rIns="0" bIns="0" rtlCol="0" anchor="ctr"/>
          <a:lstStyle/>
          <a:p>
            <a:pPr rtl="1" algn="r" indent="0" marL="0">
              <a:buNone/>
            </a:pPr>
            <a:r>
              <a:rPr lang="he-IL" altLang="en-US" sz="1400" b="1" dirty="0">
                <a:solidFill>
                  <a:srgbClr val="14213D"/>
                </a:solidFill>
                <a:latin typeface="Arial" pitchFamily="34" charset="0"/>
                <a:ea typeface="Arial" pitchFamily="34" charset="-122"/>
                <a:cs typeface="Arial" pitchFamily="34" charset="-120"/>
              </a:rPr>
              <a:t>שביעות רצון מהקריירה</a:t>
            </a:r>
            <a:endParaRPr lang="he-IL" sz="1400" dirty="0"/>
          </a:p>
        </p:txBody>
      </p:sp>
      <p:sp>
        <p:nvSpPr>
          <p:cNvPr id="10" name="Shape 8"/>
          <p:cNvSpPr/>
          <p:nvPr/>
        </p:nvSpPr>
        <p:spPr>
          <a:xfrm>
            <a:off x="8138160" y="2670048"/>
            <a:ext cx="3502152" cy="777240"/>
          </a:xfrm>
          <a:prstGeom prst="roundRect">
            <a:avLst>
              <a:gd name="adj" fmla="val 14118"/>
            </a:avLst>
          </a:prstGeom>
          <a:solidFill>
            <a:srgbClr val="FDECEA"/>
          </a:solidFill>
          <a:ln w="12700">
            <a:solidFill>
              <a:srgbClr val="FDECEA"/>
            </a:solidFill>
            <a:prstDash val="solid"/>
          </a:ln>
          <a:effectLst>
            <a:outerShdw sx="100000" sy="100000" kx="0" ky="0" algn="bl" rotWithShape="0" blurRad="50800" dist="25400" dir="5400000">
              <a:srgbClr val="000000">
                <a:alpha val="12000"/>
              </a:srgbClr>
            </a:outerShdw>
          </a:effectLst>
        </p:spPr>
      </p:sp>
      <p:sp>
        <p:nvSpPr>
          <p:cNvPr id="11" name="Text 9"/>
          <p:cNvSpPr txBox="1"/>
          <p:nvPr/>
        </p:nvSpPr>
        <p:spPr>
          <a:xfrm>
            <a:off x="10954512" y="2825496"/>
            <a:ext cx="457200" cy="457200"/>
          </a:xfrm>
          <a:prstGeom prst="rect">
            <a:avLst/>
          </a:prstGeom>
          <a:noFill/>
          <a:ln/>
        </p:spPr>
        <p:txBody>
          <a:bodyPr wrap="square" lIns="0" tIns="0" rIns="0" bIns="0" rtlCol="0" anchor="ctr"/>
          <a:lstStyle/>
          <a:p>
            <a:pPr algn="ctr" indent="0" marL="0">
              <a:buNone/>
            </a:pPr>
            <a:r>
              <a:rPr lang="en-US" sz="2400" b="1" dirty="0">
                <a:solidFill>
                  <a:srgbClr val="E76F51"/>
                </a:solidFill>
                <a:latin typeface="Arial" pitchFamily="34" charset="0"/>
                <a:ea typeface="Arial" pitchFamily="34" charset="-122"/>
                <a:cs typeface="Arial" pitchFamily="34" charset="-120"/>
              </a:rPr>
              <a:t>−</a:t>
            </a:r>
            <a:endParaRPr lang="en-US" sz="2400" dirty="0"/>
          </a:p>
        </p:txBody>
      </p:sp>
      <p:sp>
        <p:nvSpPr>
          <p:cNvPr id="12" name="Text 10"/>
          <p:cNvSpPr txBox="1"/>
          <p:nvPr/>
        </p:nvSpPr>
        <p:spPr>
          <a:xfrm>
            <a:off x="8321040" y="2761488"/>
            <a:ext cx="2587752" cy="594360"/>
          </a:xfrm>
          <a:prstGeom prst="rect">
            <a:avLst/>
          </a:prstGeom>
          <a:noFill/>
          <a:ln/>
        </p:spPr>
        <p:txBody>
          <a:bodyPr wrap="square" lIns="0" tIns="0" rIns="0" bIns="0" rtlCol="0" anchor="ctr"/>
          <a:lstStyle/>
          <a:p>
            <a:pPr rtl="1" algn="r" indent="0" marL="0">
              <a:buNone/>
            </a:pPr>
            <a:r>
              <a:rPr lang="he-IL" altLang="en-US" sz="1400" b="1" dirty="0">
                <a:solidFill>
                  <a:srgbClr val="14213D"/>
                </a:solidFill>
                <a:latin typeface="Arial" pitchFamily="34" charset="0"/>
                <a:ea typeface="Arial" pitchFamily="34" charset="-122"/>
                <a:cs typeface="Arial" pitchFamily="34" charset="-120"/>
              </a:rPr>
              <a:t>הזדמנויות קריירה נתפסות</a:t>
            </a:r>
            <a:endParaRPr lang="he-IL" sz="1400" dirty="0"/>
          </a:p>
        </p:txBody>
      </p:sp>
      <p:sp>
        <p:nvSpPr>
          <p:cNvPr id="13" name="Shape 11"/>
          <p:cNvSpPr/>
          <p:nvPr/>
        </p:nvSpPr>
        <p:spPr>
          <a:xfrm>
            <a:off x="8138160" y="3602736"/>
            <a:ext cx="3502152" cy="777240"/>
          </a:xfrm>
          <a:prstGeom prst="roundRect">
            <a:avLst>
              <a:gd name="adj" fmla="val 14118"/>
            </a:avLst>
          </a:prstGeom>
          <a:solidFill>
            <a:srgbClr val="FDECEA"/>
          </a:solidFill>
          <a:ln w="12700">
            <a:solidFill>
              <a:srgbClr val="FDECEA"/>
            </a:solidFill>
            <a:prstDash val="solid"/>
          </a:ln>
          <a:effectLst>
            <a:outerShdw sx="100000" sy="100000" kx="0" ky="0" algn="bl" rotWithShape="0" blurRad="50800" dist="25400" dir="5400000">
              <a:srgbClr val="000000">
                <a:alpha val="12000"/>
              </a:srgbClr>
            </a:outerShdw>
          </a:effectLst>
        </p:spPr>
      </p:sp>
      <p:sp>
        <p:nvSpPr>
          <p:cNvPr id="14" name="Text 12"/>
          <p:cNvSpPr txBox="1"/>
          <p:nvPr/>
        </p:nvSpPr>
        <p:spPr>
          <a:xfrm>
            <a:off x="10954512" y="3758184"/>
            <a:ext cx="457200" cy="457200"/>
          </a:xfrm>
          <a:prstGeom prst="rect">
            <a:avLst/>
          </a:prstGeom>
          <a:noFill/>
          <a:ln/>
        </p:spPr>
        <p:txBody>
          <a:bodyPr wrap="square" lIns="0" tIns="0" rIns="0" bIns="0" rtlCol="0" anchor="ctr"/>
          <a:lstStyle/>
          <a:p>
            <a:pPr algn="ctr" indent="0" marL="0">
              <a:buNone/>
            </a:pPr>
            <a:r>
              <a:rPr lang="en-US" sz="2400" b="1" dirty="0">
                <a:solidFill>
                  <a:srgbClr val="E76F51"/>
                </a:solidFill>
                <a:latin typeface="Arial" pitchFamily="34" charset="0"/>
                <a:ea typeface="Arial" pitchFamily="34" charset="-122"/>
                <a:cs typeface="Arial" pitchFamily="34" charset="-120"/>
              </a:rPr>
              <a:t>−</a:t>
            </a:r>
            <a:endParaRPr lang="en-US" sz="2400" dirty="0"/>
          </a:p>
        </p:txBody>
      </p:sp>
      <p:sp>
        <p:nvSpPr>
          <p:cNvPr id="15" name="Text 13"/>
          <p:cNvSpPr txBox="1"/>
          <p:nvPr/>
        </p:nvSpPr>
        <p:spPr>
          <a:xfrm>
            <a:off x="8321040" y="3694176"/>
            <a:ext cx="2587752" cy="594360"/>
          </a:xfrm>
          <a:prstGeom prst="rect">
            <a:avLst/>
          </a:prstGeom>
          <a:noFill/>
          <a:ln/>
        </p:spPr>
        <p:txBody>
          <a:bodyPr wrap="square" lIns="0" tIns="0" rIns="0" bIns="0" rtlCol="0" anchor="ctr"/>
          <a:lstStyle/>
          <a:p>
            <a:pPr rtl="1" algn="r" indent="0" marL="0">
              <a:buNone/>
            </a:pPr>
            <a:r>
              <a:rPr lang="he-IL" altLang="en-US" sz="1400" b="1" dirty="0">
                <a:solidFill>
                  <a:srgbClr val="14213D"/>
                </a:solidFill>
                <a:latin typeface="Arial" pitchFamily="34" charset="0"/>
                <a:ea typeface="Arial" pitchFamily="34" charset="-122"/>
                <a:cs typeface="Arial" pitchFamily="34" charset="-120"/>
              </a:rPr>
              <a:t>יכולת תעסוקה נתפסת</a:t>
            </a:r>
            <a:endParaRPr lang="he-IL" sz="1400" dirty="0"/>
          </a:p>
        </p:txBody>
      </p:sp>
      <p:sp>
        <p:nvSpPr>
          <p:cNvPr id="16" name="Shape 14"/>
          <p:cNvSpPr/>
          <p:nvPr/>
        </p:nvSpPr>
        <p:spPr>
          <a:xfrm>
            <a:off x="8138160" y="4535424"/>
            <a:ext cx="3502152" cy="777240"/>
          </a:xfrm>
          <a:prstGeom prst="roundRect">
            <a:avLst>
              <a:gd name="adj" fmla="val 14118"/>
            </a:avLst>
          </a:prstGeom>
          <a:solidFill>
            <a:srgbClr val="FDECEA"/>
          </a:solidFill>
          <a:ln w="12700">
            <a:solidFill>
              <a:srgbClr val="FDECEA"/>
            </a:solidFill>
            <a:prstDash val="solid"/>
          </a:ln>
          <a:effectLst>
            <a:outerShdw sx="100000" sy="100000" kx="0" ky="0" algn="bl" rotWithShape="0" blurRad="50800" dist="25400" dir="5400000">
              <a:srgbClr val="000000">
                <a:alpha val="12000"/>
              </a:srgbClr>
            </a:outerShdw>
          </a:effectLst>
        </p:spPr>
      </p:sp>
      <p:sp>
        <p:nvSpPr>
          <p:cNvPr id="17" name="Text 15"/>
          <p:cNvSpPr txBox="1"/>
          <p:nvPr/>
        </p:nvSpPr>
        <p:spPr>
          <a:xfrm>
            <a:off x="10954512" y="4690872"/>
            <a:ext cx="457200" cy="457200"/>
          </a:xfrm>
          <a:prstGeom prst="rect">
            <a:avLst/>
          </a:prstGeom>
          <a:noFill/>
          <a:ln/>
        </p:spPr>
        <p:txBody>
          <a:bodyPr wrap="square" lIns="0" tIns="0" rIns="0" bIns="0" rtlCol="0" anchor="ctr"/>
          <a:lstStyle/>
          <a:p>
            <a:pPr algn="ctr" indent="0" marL="0">
              <a:buNone/>
            </a:pPr>
            <a:r>
              <a:rPr lang="en-US" sz="2400" b="1" dirty="0">
                <a:solidFill>
                  <a:srgbClr val="E76F51"/>
                </a:solidFill>
                <a:latin typeface="Arial" pitchFamily="34" charset="0"/>
                <a:ea typeface="Arial" pitchFamily="34" charset="-122"/>
                <a:cs typeface="Arial" pitchFamily="34" charset="-120"/>
              </a:rPr>
              <a:t>−</a:t>
            </a:r>
            <a:endParaRPr lang="en-US" sz="2400" dirty="0"/>
          </a:p>
        </p:txBody>
      </p:sp>
      <p:sp>
        <p:nvSpPr>
          <p:cNvPr id="18" name="Text 16"/>
          <p:cNvSpPr txBox="1"/>
          <p:nvPr/>
        </p:nvSpPr>
        <p:spPr>
          <a:xfrm>
            <a:off x="8321040" y="4626864"/>
            <a:ext cx="2587752" cy="594360"/>
          </a:xfrm>
          <a:prstGeom prst="rect">
            <a:avLst/>
          </a:prstGeom>
          <a:noFill/>
          <a:ln/>
        </p:spPr>
        <p:txBody>
          <a:bodyPr wrap="square" lIns="0" tIns="0" rIns="0" bIns="0" rtlCol="0" anchor="ctr"/>
          <a:lstStyle/>
          <a:p>
            <a:pPr rtl="1" algn="r" indent="0" marL="0">
              <a:buNone/>
            </a:pPr>
            <a:r>
              <a:rPr lang="he-IL" altLang="en-US" sz="1400" b="1" dirty="0">
                <a:solidFill>
                  <a:srgbClr val="14213D"/>
                </a:solidFill>
                <a:latin typeface="Arial" pitchFamily="34" charset="0"/>
                <a:ea typeface="Arial" pitchFamily="34" charset="-122"/>
                <a:cs typeface="Arial" pitchFamily="34" charset="-120"/>
              </a:rPr>
              <a:t>פיתוח מיומנויות פרואקטיבי</a:t>
            </a:r>
            <a:endParaRPr lang="he-IL" sz="1400" dirty="0"/>
          </a:p>
        </p:txBody>
      </p:sp>
      <p:sp>
        <p:nvSpPr>
          <p:cNvPr id="19" name="Shape 17"/>
          <p:cNvSpPr/>
          <p:nvPr/>
        </p:nvSpPr>
        <p:spPr>
          <a:xfrm>
            <a:off x="7315200" y="2743200"/>
            <a:ext cx="777240" cy="548640"/>
          </a:xfrm>
          <a:prstGeom prst="rightArrow">
            <a:avLst/>
          </a:prstGeom>
          <a:solidFill>
            <a:srgbClr val="E76F51"/>
          </a:solidFill>
          <a:ln w="12700">
            <a:solidFill>
              <a:srgbClr val="E76F51"/>
            </a:solidFill>
            <a:prstDash val="solid"/>
          </a:ln>
        </p:spPr>
      </p:sp>
      <p:sp>
        <p:nvSpPr>
          <p:cNvPr id="20" name="Text 18"/>
          <p:cNvSpPr txBox="1"/>
          <p:nvPr/>
        </p:nvSpPr>
        <p:spPr>
          <a:xfrm>
            <a:off x="548640" y="1234440"/>
            <a:ext cx="3502152" cy="411480"/>
          </a:xfrm>
          <a:prstGeom prst="rect">
            <a:avLst/>
          </a:prstGeom>
          <a:noFill/>
          <a:ln/>
        </p:spPr>
        <p:txBody>
          <a:bodyPr wrap="square" lIns="0" tIns="0" rIns="0" bIns="0" rtlCol="0" anchor="t"/>
          <a:lstStyle/>
          <a:p>
            <a:pPr rtl="1" algn="ctr" indent="0" marL="0">
              <a:buNone/>
            </a:pPr>
            <a:r>
              <a:rPr lang="he-IL" altLang="en-US" sz="1600" b="1" dirty="0">
                <a:solidFill>
                  <a:srgbClr val="D9822B"/>
                </a:solidFill>
                <a:latin typeface="Arial" pitchFamily="34" charset="0"/>
                <a:ea typeface="Arial" pitchFamily="34" charset="-122"/>
                <a:cs typeface="Arial" pitchFamily="34" charset="-120"/>
              </a:rPr>
              <a:t>"הלאה" עולה ⬆</a:t>
            </a:r>
            <a:endParaRPr lang="he-IL" sz="1600" dirty="0"/>
          </a:p>
        </p:txBody>
      </p:sp>
      <p:sp>
        <p:nvSpPr>
          <p:cNvPr id="21" name="Shape 19"/>
          <p:cNvSpPr/>
          <p:nvPr/>
        </p:nvSpPr>
        <p:spPr>
          <a:xfrm>
            <a:off x="548640" y="1737360"/>
            <a:ext cx="3502152" cy="777240"/>
          </a:xfrm>
          <a:prstGeom prst="roundRect">
            <a:avLst>
              <a:gd name="adj" fmla="val 14118"/>
            </a:avLst>
          </a:prstGeom>
          <a:solidFill>
            <a:srgbClr val="FFF1D6"/>
          </a:solidFill>
          <a:ln w="12700">
            <a:solidFill>
              <a:srgbClr val="FFF1D6"/>
            </a:solidFill>
            <a:prstDash val="solid"/>
          </a:ln>
          <a:effectLst>
            <a:outerShdw sx="100000" sy="100000" kx="0" ky="0" algn="bl" rotWithShape="0" blurRad="50800" dist="25400" dir="5400000">
              <a:srgbClr val="000000">
                <a:alpha val="12000"/>
              </a:srgbClr>
            </a:outerShdw>
          </a:effectLst>
        </p:spPr>
      </p:sp>
      <p:sp>
        <p:nvSpPr>
          <p:cNvPr id="22" name="Text 20"/>
          <p:cNvSpPr txBox="1"/>
          <p:nvPr/>
        </p:nvSpPr>
        <p:spPr>
          <a:xfrm>
            <a:off x="3364992" y="1892808"/>
            <a:ext cx="457200" cy="457200"/>
          </a:xfrm>
          <a:prstGeom prst="rect">
            <a:avLst/>
          </a:prstGeom>
          <a:noFill/>
          <a:ln/>
        </p:spPr>
        <p:txBody>
          <a:bodyPr wrap="square" lIns="0" tIns="0" rIns="0" bIns="0" rtlCol="0" anchor="ctr"/>
          <a:lstStyle/>
          <a:p>
            <a:pPr algn="ctr" indent="0" marL="0">
              <a:buNone/>
            </a:pPr>
            <a:r>
              <a:rPr lang="en-US" sz="2400" b="1" dirty="0">
                <a:solidFill>
                  <a:srgbClr val="D9822B"/>
                </a:solidFill>
                <a:latin typeface="Arial" pitchFamily="34" charset="0"/>
                <a:ea typeface="Arial" pitchFamily="34" charset="-122"/>
                <a:cs typeface="Arial" pitchFamily="34" charset="-120"/>
              </a:rPr>
              <a:t>+</a:t>
            </a:r>
            <a:endParaRPr lang="en-US" sz="2400" dirty="0"/>
          </a:p>
        </p:txBody>
      </p:sp>
      <p:sp>
        <p:nvSpPr>
          <p:cNvPr id="23" name="Text 21"/>
          <p:cNvSpPr txBox="1"/>
          <p:nvPr/>
        </p:nvSpPr>
        <p:spPr>
          <a:xfrm>
            <a:off x="731520" y="1828800"/>
            <a:ext cx="2587752" cy="594360"/>
          </a:xfrm>
          <a:prstGeom prst="rect">
            <a:avLst/>
          </a:prstGeom>
          <a:noFill/>
          <a:ln/>
        </p:spPr>
        <p:txBody>
          <a:bodyPr wrap="square" lIns="0" tIns="0" rIns="0" bIns="0" rtlCol="0" anchor="ctr"/>
          <a:lstStyle/>
          <a:p>
            <a:pPr rtl="1" algn="r" indent="0" marL="0">
              <a:buNone/>
            </a:pPr>
            <a:r>
              <a:rPr lang="he-IL" altLang="en-US" sz="1400" b="1" dirty="0">
                <a:solidFill>
                  <a:srgbClr val="14213D"/>
                </a:solidFill>
                <a:latin typeface="Arial" pitchFamily="34" charset="0"/>
                <a:ea typeface="Arial" pitchFamily="34" charset="-122"/>
                <a:cs typeface="Arial" pitchFamily="34" charset="-120"/>
              </a:rPr>
              <a:t>כוונת עזיבה של הארגון</a:t>
            </a:r>
            <a:endParaRPr lang="he-IL" sz="1400" dirty="0"/>
          </a:p>
        </p:txBody>
      </p:sp>
      <p:sp>
        <p:nvSpPr>
          <p:cNvPr id="24" name="Shape 22"/>
          <p:cNvSpPr/>
          <p:nvPr/>
        </p:nvSpPr>
        <p:spPr>
          <a:xfrm>
            <a:off x="548640" y="2670048"/>
            <a:ext cx="3502152" cy="777240"/>
          </a:xfrm>
          <a:prstGeom prst="roundRect">
            <a:avLst>
              <a:gd name="adj" fmla="val 14118"/>
            </a:avLst>
          </a:prstGeom>
          <a:solidFill>
            <a:srgbClr val="FFF1D6"/>
          </a:solidFill>
          <a:ln w="12700">
            <a:solidFill>
              <a:srgbClr val="FFF1D6"/>
            </a:solidFill>
            <a:prstDash val="solid"/>
          </a:ln>
          <a:effectLst>
            <a:outerShdw sx="100000" sy="100000" kx="0" ky="0" algn="bl" rotWithShape="0" blurRad="50800" dist="25400" dir="5400000">
              <a:srgbClr val="000000">
                <a:alpha val="12000"/>
              </a:srgbClr>
            </a:outerShdw>
          </a:effectLst>
        </p:spPr>
      </p:sp>
      <p:sp>
        <p:nvSpPr>
          <p:cNvPr id="25" name="Text 23"/>
          <p:cNvSpPr txBox="1"/>
          <p:nvPr/>
        </p:nvSpPr>
        <p:spPr>
          <a:xfrm>
            <a:off x="3364992" y="2825496"/>
            <a:ext cx="457200" cy="457200"/>
          </a:xfrm>
          <a:prstGeom prst="rect">
            <a:avLst/>
          </a:prstGeom>
          <a:noFill/>
          <a:ln/>
        </p:spPr>
        <p:txBody>
          <a:bodyPr wrap="square" lIns="0" tIns="0" rIns="0" bIns="0" rtlCol="0" anchor="ctr"/>
          <a:lstStyle/>
          <a:p>
            <a:pPr algn="ctr" indent="0" marL="0">
              <a:buNone/>
            </a:pPr>
            <a:r>
              <a:rPr lang="en-US" sz="2400" b="1" dirty="0">
                <a:solidFill>
                  <a:srgbClr val="D9822B"/>
                </a:solidFill>
                <a:latin typeface="Arial" pitchFamily="34" charset="0"/>
                <a:ea typeface="Arial" pitchFamily="34" charset="-122"/>
                <a:cs typeface="Arial" pitchFamily="34" charset="-120"/>
              </a:rPr>
              <a:t>+</a:t>
            </a:r>
            <a:endParaRPr lang="en-US" sz="2400" dirty="0"/>
          </a:p>
        </p:txBody>
      </p:sp>
      <p:sp>
        <p:nvSpPr>
          <p:cNvPr id="26" name="Text 24"/>
          <p:cNvSpPr txBox="1"/>
          <p:nvPr/>
        </p:nvSpPr>
        <p:spPr>
          <a:xfrm>
            <a:off x="731520" y="2761488"/>
            <a:ext cx="2587752" cy="594360"/>
          </a:xfrm>
          <a:prstGeom prst="rect">
            <a:avLst/>
          </a:prstGeom>
          <a:noFill/>
          <a:ln/>
        </p:spPr>
        <p:txBody>
          <a:bodyPr wrap="square" lIns="0" tIns="0" rIns="0" bIns="0" rtlCol="0" anchor="ctr"/>
          <a:lstStyle/>
          <a:p>
            <a:pPr rtl="1" algn="r" indent="0" marL="0">
              <a:buNone/>
            </a:pPr>
            <a:r>
              <a:rPr lang="he-IL" altLang="en-US" sz="1400" b="1" dirty="0">
                <a:solidFill>
                  <a:srgbClr val="14213D"/>
                </a:solidFill>
                <a:latin typeface="Arial" pitchFamily="34" charset="0"/>
                <a:ea typeface="Arial" pitchFamily="34" charset="-122"/>
                <a:cs typeface="Arial" pitchFamily="34" charset="-120"/>
              </a:rPr>
              <a:t>כוונת עזיבה של המקצוע</a:t>
            </a:r>
            <a:endParaRPr lang="he-IL" sz="1400" dirty="0"/>
          </a:p>
        </p:txBody>
      </p:sp>
      <p:sp>
        <p:nvSpPr>
          <p:cNvPr id="27" name="Shape 25"/>
          <p:cNvSpPr/>
          <p:nvPr/>
        </p:nvSpPr>
        <p:spPr>
          <a:xfrm>
            <a:off x="548640" y="3602736"/>
            <a:ext cx="3502152" cy="777240"/>
          </a:xfrm>
          <a:prstGeom prst="roundRect">
            <a:avLst>
              <a:gd name="adj" fmla="val 14118"/>
            </a:avLst>
          </a:prstGeom>
          <a:solidFill>
            <a:srgbClr val="FFF1D6"/>
          </a:solidFill>
          <a:ln w="12700">
            <a:solidFill>
              <a:srgbClr val="FFF1D6"/>
            </a:solidFill>
            <a:prstDash val="solid"/>
          </a:ln>
          <a:effectLst>
            <a:outerShdw sx="100000" sy="100000" kx="0" ky="0" algn="bl" rotWithShape="0" blurRad="50800" dist="25400" dir="5400000">
              <a:srgbClr val="000000">
                <a:alpha val="12000"/>
              </a:srgbClr>
            </a:outerShdw>
          </a:effectLst>
        </p:spPr>
      </p:sp>
      <p:sp>
        <p:nvSpPr>
          <p:cNvPr id="28" name="Text 26"/>
          <p:cNvSpPr txBox="1"/>
          <p:nvPr/>
        </p:nvSpPr>
        <p:spPr>
          <a:xfrm>
            <a:off x="3364992" y="3758184"/>
            <a:ext cx="457200" cy="457200"/>
          </a:xfrm>
          <a:prstGeom prst="rect">
            <a:avLst/>
          </a:prstGeom>
          <a:noFill/>
          <a:ln/>
        </p:spPr>
        <p:txBody>
          <a:bodyPr wrap="square" lIns="0" tIns="0" rIns="0" bIns="0" rtlCol="0" anchor="ctr"/>
          <a:lstStyle/>
          <a:p>
            <a:pPr algn="ctr" indent="0" marL="0">
              <a:buNone/>
            </a:pPr>
            <a:r>
              <a:rPr lang="en-US" sz="2400" b="1" dirty="0">
                <a:solidFill>
                  <a:srgbClr val="D9822B"/>
                </a:solidFill>
                <a:latin typeface="Arial" pitchFamily="34" charset="0"/>
                <a:ea typeface="Arial" pitchFamily="34" charset="-122"/>
                <a:cs typeface="Arial" pitchFamily="34" charset="-120"/>
              </a:rPr>
              <a:t>+</a:t>
            </a:r>
            <a:endParaRPr lang="en-US" sz="2400" dirty="0"/>
          </a:p>
        </p:txBody>
      </p:sp>
      <p:sp>
        <p:nvSpPr>
          <p:cNvPr id="29" name="Text 27"/>
          <p:cNvSpPr txBox="1"/>
          <p:nvPr/>
        </p:nvSpPr>
        <p:spPr>
          <a:xfrm>
            <a:off x="731520" y="3694176"/>
            <a:ext cx="2587752" cy="594360"/>
          </a:xfrm>
          <a:prstGeom prst="rect">
            <a:avLst/>
          </a:prstGeom>
          <a:noFill/>
          <a:ln/>
        </p:spPr>
        <p:txBody>
          <a:bodyPr wrap="square" lIns="0" tIns="0" rIns="0" bIns="0" rtlCol="0" anchor="ctr"/>
          <a:lstStyle/>
          <a:p>
            <a:pPr rtl="1" algn="r" indent="0" marL="0">
              <a:buNone/>
            </a:pPr>
            <a:r>
              <a:rPr lang="he-IL" altLang="en-US" sz="1400" b="1" dirty="0">
                <a:solidFill>
                  <a:srgbClr val="14213D"/>
                </a:solidFill>
                <a:latin typeface="Arial" pitchFamily="34" charset="0"/>
                <a:ea typeface="Arial" pitchFamily="34" charset="-122"/>
                <a:cs typeface="Arial" pitchFamily="34" charset="-120"/>
              </a:rPr>
              <a:t>חיפוש עבודה</a:t>
            </a:r>
            <a:endParaRPr lang="he-IL" sz="1400" dirty="0"/>
          </a:p>
        </p:txBody>
      </p:sp>
      <p:sp>
        <p:nvSpPr>
          <p:cNvPr id="30" name="Shape 28"/>
          <p:cNvSpPr/>
          <p:nvPr/>
        </p:nvSpPr>
        <p:spPr>
          <a:xfrm>
            <a:off x="548640" y="4535424"/>
            <a:ext cx="3502152" cy="777240"/>
          </a:xfrm>
          <a:prstGeom prst="roundRect">
            <a:avLst>
              <a:gd name="adj" fmla="val 14118"/>
            </a:avLst>
          </a:prstGeom>
          <a:solidFill>
            <a:srgbClr val="FFF1D6"/>
          </a:solidFill>
          <a:ln w="12700">
            <a:solidFill>
              <a:srgbClr val="FFF1D6"/>
            </a:solidFill>
            <a:prstDash val="solid"/>
          </a:ln>
          <a:effectLst>
            <a:outerShdw sx="100000" sy="100000" kx="0" ky="0" algn="bl" rotWithShape="0" blurRad="50800" dist="25400" dir="5400000">
              <a:srgbClr val="000000">
                <a:alpha val="12000"/>
              </a:srgbClr>
            </a:outerShdw>
          </a:effectLst>
        </p:spPr>
      </p:sp>
      <p:sp>
        <p:nvSpPr>
          <p:cNvPr id="31" name="Text 29"/>
          <p:cNvSpPr txBox="1"/>
          <p:nvPr/>
        </p:nvSpPr>
        <p:spPr>
          <a:xfrm>
            <a:off x="3364992" y="4690872"/>
            <a:ext cx="457200" cy="457200"/>
          </a:xfrm>
          <a:prstGeom prst="rect">
            <a:avLst/>
          </a:prstGeom>
          <a:noFill/>
          <a:ln/>
        </p:spPr>
        <p:txBody>
          <a:bodyPr wrap="square" lIns="0" tIns="0" rIns="0" bIns="0" rtlCol="0" anchor="ctr"/>
          <a:lstStyle/>
          <a:p>
            <a:pPr algn="ctr" indent="0" marL="0">
              <a:buNone/>
            </a:pPr>
            <a:r>
              <a:rPr lang="en-US" sz="2400" b="1" dirty="0">
                <a:solidFill>
                  <a:srgbClr val="D9822B"/>
                </a:solidFill>
                <a:latin typeface="Arial" pitchFamily="34" charset="0"/>
                <a:ea typeface="Arial" pitchFamily="34" charset="-122"/>
                <a:cs typeface="Arial" pitchFamily="34" charset="-120"/>
              </a:rPr>
              <a:t>+</a:t>
            </a:r>
            <a:endParaRPr lang="en-US" sz="2400" dirty="0"/>
          </a:p>
        </p:txBody>
      </p:sp>
      <p:sp>
        <p:nvSpPr>
          <p:cNvPr id="32" name="Text 30"/>
          <p:cNvSpPr txBox="1"/>
          <p:nvPr/>
        </p:nvSpPr>
        <p:spPr>
          <a:xfrm>
            <a:off x="731520" y="4626864"/>
            <a:ext cx="2587752" cy="594360"/>
          </a:xfrm>
          <a:prstGeom prst="rect">
            <a:avLst/>
          </a:prstGeom>
          <a:noFill/>
          <a:ln/>
        </p:spPr>
        <p:txBody>
          <a:bodyPr wrap="square" lIns="0" tIns="0" rIns="0" bIns="0" rtlCol="0" anchor="ctr"/>
          <a:lstStyle/>
          <a:p>
            <a:pPr rtl="1" algn="r" indent="0" marL="0">
              <a:buNone/>
            </a:pPr>
            <a:r>
              <a:rPr lang="he-IL" altLang="en-US" sz="1400" b="1" dirty="0">
                <a:solidFill>
                  <a:srgbClr val="14213D"/>
                </a:solidFill>
                <a:latin typeface="Arial" pitchFamily="34" charset="0"/>
                <a:ea typeface="Arial" pitchFamily="34" charset="-122"/>
                <a:cs typeface="Arial" pitchFamily="34" charset="-120"/>
              </a:rPr>
              <a:t>הסתרת ידע מעמיתים</a:t>
            </a:r>
            <a:endParaRPr lang="he-IL" sz="1400" dirty="0"/>
          </a:p>
        </p:txBody>
      </p:sp>
      <p:sp>
        <p:nvSpPr>
          <p:cNvPr id="33" name="Shape 31"/>
          <p:cNvSpPr/>
          <p:nvPr/>
        </p:nvSpPr>
        <p:spPr>
          <a:xfrm>
            <a:off x="4114800" y="2743200"/>
            <a:ext cx="777240" cy="548640"/>
          </a:xfrm>
          <a:prstGeom prst="leftArrow">
            <a:avLst/>
          </a:prstGeom>
          <a:solidFill>
            <a:srgbClr val="D9822B"/>
          </a:solidFill>
          <a:ln w="12700">
            <a:solidFill>
              <a:srgbClr val="D9822B"/>
            </a:solidFill>
            <a:prstDash val="solid"/>
          </a:ln>
        </p:spPr>
      </p:sp>
      <p:sp>
        <p:nvSpPr>
          <p:cNvPr id="34" name="Shape 32"/>
          <p:cNvSpPr/>
          <p:nvPr/>
        </p:nvSpPr>
        <p:spPr>
          <a:xfrm>
            <a:off x="548640" y="5532120"/>
            <a:ext cx="11091672" cy="731520"/>
          </a:xfrm>
          <a:prstGeom prst="roundRect">
            <a:avLst>
              <a:gd name="adj" fmla="val 15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35" name="Text 33"/>
          <p:cNvSpPr txBox="1"/>
          <p:nvPr/>
        </p:nvSpPr>
        <p:spPr>
          <a:xfrm>
            <a:off x="822960" y="5577840"/>
            <a:ext cx="10515600" cy="640080"/>
          </a:xfrm>
          <a:prstGeom prst="rect">
            <a:avLst/>
          </a:prstGeom>
          <a:noFill/>
          <a:ln/>
        </p:spPr>
        <p:txBody>
          <a:bodyPr wrap="square" lIns="0" tIns="0" rIns="0" bIns="0" rtlCol="0" anchor="ctr"/>
          <a:lstStyle/>
          <a:p>
            <a:pPr rtl="1" algn="r" indent="0" marL="0">
              <a:buNone/>
            </a:pPr>
            <a:r>
              <a:rPr lang="he-IL" altLang="en-US" sz="1500" b="1" dirty="0">
                <a:solidFill>
                  <a:srgbClr val="14213D"/>
                </a:solidFill>
                <a:latin typeface="Arial" pitchFamily="34" charset="0"/>
                <a:ea typeface="Arial" pitchFamily="34" charset="-122"/>
                <a:cs typeface="Arial" pitchFamily="34" charset="-120"/>
              </a:rPr>
              <a:t>התשובה: הלאה, לא למעלה. הפחד גורם לברוח ולהסתיר, לא להתפתח (Låstad et al., 2025)</a:t>
            </a:r>
            <a:endParaRPr lang="he-IL" sz="1500" dirty="0"/>
          </a:p>
        </p:txBody>
      </p:sp>
      <p:sp>
        <p:nvSpPr>
          <p:cNvPr id="36" name="Text 3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37" name="Text 3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7</a:t>
            </a:r>
            <a:endParaRPr lang="he-IL"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איך בדקו? ומה משנה את עוצמת הקשר?</a:t>
            </a:r>
            <a:endParaRPr lang="he-IL" sz="3000" dirty="0"/>
          </a:p>
        </p:txBody>
      </p:sp>
      <p:sp>
        <p:nvSpPr>
          <p:cNvPr id="3" name="Shape 1"/>
          <p:cNvSpPr/>
          <p:nvPr/>
        </p:nvSpPr>
        <p:spPr>
          <a:xfrm>
            <a:off x="8074152" y="1371600"/>
            <a:ext cx="3566160" cy="2103120"/>
          </a:xfrm>
          <a:prstGeom prst="roundRect">
            <a:avLst>
              <a:gd name="adj" fmla="val 5217"/>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257032" y="1554480"/>
            <a:ext cx="3200400" cy="914400"/>
          </a:xfrm>
          <a:prstGeom prst="rect">
            <a:avLst/>
          </a:prstGeom>
          <a:noFill/>
          <a:ln/>
        </p:spPr>
        <p:txBody>
          <a:bodyPr wrap="square" lIns="0" tIns="0" rIns="0" bIns="0" rtlCol="0" anchor="ctr"/>
          <a:lstStyle/>
          <a:p>
            <a:pPr rtl="1" algn="ctr" indent="0" marL="0">
              <a:buNone/>
            </a:pPr>
            <a:r>
              <a:rPr lang="he-IL" altLang="en-US" sz="4800" b="1" dirty="0">
                <a:solidFill>
                  <a:srgbClr val="E76F51"/>
                </a:solidFill>
                <a:latin typeface="Arial" pitchFamily="34" charset="0"/>
                <a:ea typeface="Arial" pitchFamily="34" charset="-122"/>
                <a:cs typeface="Arial" pitchFamily="34" charset="-120"/>
              </a:rPr>
              <a:t>237</a:t>
            </a:r>
            <a:endParaRPr lang="he-IL" sz="4800" dirty="0"/>
          </a:p>
        </p:txBody>
      </p:sp>
      <p:sp>
        <p:nvSpPr>
          <p:cNvPr id="5" name="Text 3"/>
          <p:cNvSpPr txBox="1"/>
          <p:nvPr/>
        </p:nvSpPr>
        <p:spPr>
          <a:xfrm>
            <a:off x="8348472" y="2514600"/>
            <a:ext cx="3017520" cy="868680"/>
          </a:xfrm>
          <a:prstGeom prst="rect">
            <a:avLst/>
          </a:prstGeom>
          <a:noFill/>
          <a:ln/>
        </p:spPr>
        <p:txBody>
          <a:bodyPr wrap="square" lIns="0" tIns="0" rIns="0" bIns="0" rtlCol="0" anchor="t"/>
          <a:lstStyle/>
          <a:p>
            <a:pPr rtl="1" algn="ctr" indent="0" marL="0">
              <a:buNone/>
            </a:pPr>
            <a:r>
              <a:rPr lang="he-IL" altLang="en-US" sz="1400" dirty="0">
                <a:solidFill>
                  <a:srgbClr val="1F2937"/>
                </a:solidFill>
                <a:latin typeface="Arial" pitchFamily="34" charset="0"/>
                <a:ea typeface="Arial" pitchFamily="34" charset="-122"/>
                <a:cs typeface="Arial" pitchFamily="34" charset="-120"/>
              </a:rPr>
              <a:t>מחקרים ראשוניים קודדו ואוחדו סטטיסטית</a:t>
            </a:r>
            <a:endParaRPr lang="he-IL" sz="1400" dirty="0"/>
          </a:p>
        </p:txBody>
      </p:sp>
      <p:sp>
        <p:nvSpPr>
          <p:cNvPr id="6" name="Shape 4"/>
          <p:cNvSpPr/>
          <p:nvPr/>
        </p:nvSpPr>
        <p:spPr>
          <a:xfrm>
            <a:off x="4311396" y="1371600"/>
            <a:ext cx="3566160" cy="2103120"/>
          </a:xfrm>
          <a:prstGeom prst="roundRect">
            <a:avLst>
              <a:gd name="adj" fmla="val 5217"/>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4494276" y="1554480"/>
            <a:ext cx="3200400" cy="914400"/>
          </a:xfrm>
          <a:prstGeom prst="rect">
            <a:avLst/>
          </a:prstGeom>
          <a:noFill/>
          <a:ln/>
        </p:spPr>
        <p:txBody>
          <a:bodyPr wrap="square" lIns="0" tIns="0" rIns="0" bIns="0" rtlCol="0" anchor="ctr"/>
          <a:lstStyle/>
          <a:p>
            <a:pPr rtl="1" algn="ctr" indent="0" marL="0">
              <a:buNone/>
            </a:pPr>
            <a:r>
              <a:rPr lang="he-IL" altLang="en-US" sz="4800" b="1" dirty="0">
                <a:solidFill>
                  <a:srgbClr val="E76F51"/>
                </a:solidFill>
                <a:latin typeface="Arial" pitchFamily="34" charset="0"/>
                <a:ea typeface="Arial" pitchFamily="34" charset="-122"/>
                <a:cs typeface="Arial" pitchFamily="34" charset="-120"/>
              </a:rPr>
              <a:t>8</a:t>
            </a:r>
            <a:endParaRPr lang="he-IL" sz="4800" dirty="0"/>
          </a:p>
        </p:txBody>
      </p:sp>
      <p:sp>
        <p:nvSpPr>
          <p:cNvPr id="8" name="Text 6"/>
          <p:cNvSpPr txBox="1"/>
          <p:nvPr/>
        </p:nvSpPr>
        <p:spPr>
          <a:xfrm>
            <a:off x="4585716" y="2514600"/>
            <a:ext cx="3017520" cy="868680"/>
          </a:xfrm>
          <a:prstGeom prst="rect">
            <a:avLst/>
          </a:prstGeom>
          <a:noFill/>
          <a:ln/>
        </p:spPr>
        <p:txBody>
          <a:bodyPr wrap="square" lIns="0" tIns="0" rIns="0" bIns="0" rtlCol="0" anchor="t"/>
          <a:lstStyle/>
          <a:p>
            <a:pPr rtl="1" algn="ctr" indent="0" marL="0">
              <a:buNone/>
            </a:pPr>
            <a:r>
              <a:rPr lang="he-IL" altLang="en-US" sz="1400" dirty="0">
                <a:solidFill>
                  <a:srgbClr val="1F2937"/>
                </a:solidFill>
                <a:latin typeface="Arial" pitchFamily="34" charset="0"/>
                <a:ea typeface="Arial" pitchFamily="34" charset="-122"/>
                <a:cs typeface="Arial" pitchFamily="34" charset="-120"/>
              </a:rPr>
              <a:t>תוצאות קריירה בשלוש קבוצות: עמדות, התנהגויות, כוונות</a:t>
            </a:r>
            <a:endParaRPr lang="he-IL" sz="1400" dirty="0"/>
          </a:p>
        </p:txBody>
      </p:sp>
      <p:sp>
        <p:nvSpPr>
          <p:cNvPr id="9" name="Shape 7"/>
          <p:cNvSpPr/>
          <p:nvPr/>
        </p:nvSpPr>
        <p:spPr>
          <a:xfrm>
            <a:off x="548640" y="1371600"/>
            <a:ext cx="3566160" cy="2103120"/>
          </a:xfrm>
          <a:prstGeom prst="roundRect">
            <a:avLst>
              <a:gd name="adj" fmla="val 5217"/>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731520" y="1554480"/>
            <a:ext cx="3200400" cy="914400"/>
          </a:xfrm>
          <a:prstGeom prst="rect">
            <a:avLst/>
          </a:prstGeom>
          <a:noFill/>
          <a:ln/>
        </p:spPr>
        <p:txBody>
          <a:bodyPr wrap="square" lIns="0" tIns="0" rIns="0" bIns="0" rtlCol="0" anchor="ctr"/>
          <a:lstStyle/>
          <a:p>
            <a:pPr rtl="1" algn="ctr" indent="0" marL="0">
              <a:buNone/>
            </a:pPr>
            <a:r>
              <a:rPr lang="he-IL" altLang="en-US" sz="4800" b="1" dirty="0">
                <a:solidFill>
                  <a:srgbClr val="E76F51"/>
                </a:solidFill>
                <a:latin typeface="Arial" pitchFamily="34" charset="0"/>
                <a:ea typeface="Arial" pitchFamily="34" charset="-122"/>
                <a:cs typeface="Arial" pitchFamily="34" charset="-120"/>
              </a:rPr>
              <a:t>2</a:t>
            </a:r>
            <a:endParaRPr lang="he-IL" sz="4800" dirty="0"/>
          </a:p>
        </p:txBody>
      </p:sp>
      <p:sp>
        <p:nvSpPr>
          <p:cNvPr id="11" name="Text 9"/>
          <p:cNvSpPr txBox="1"/>
          <p:nvPr/>
        </p:nvSpPr>
        <p:spPr>
          <a:xfrm>
            <a:off x="822960" y="2514600"/>
            <a:ext cx="3017520" cy="868680"/>
          </a:xfrm>
          <a:prstGeom prst="rect">
            <a:avLst/>
          </a:prstGeom>
          <a:noFill/>
          <a:ln/>
        </p:spPr>
        <p:txBody>
          <a:bodyPr wrap="square" lIns="0" tIns="0" rIns="0" bIns="0" rtlCol="0" anchor="t"/>
          <a:lstStyle/>
          <a:p>
            <a:pPr rtl="1" algn="ctr" indent="0" marL="0">
              <a:buNone/>
            </a:pPr>
            <a:r>
              <a:rPr lang="he-IL" altLang="en-US" sz="1400" dirty="0">
                <a:solidFill>
                  <a:srgbClr val="1F2937"/>
                </a:solidFill>
                <a:latin typeface="Arial" pitchFamily="34" charset="0"/>
                <a:ea typeface="Arial" pitchFamily="34" charset="-122"/>
                <a:cs typeface="Arial" pitchFamily="34" charset="-120"/>
              </a:rPr>
              <a:t>ממתנים מתודולוגיים: מערך המחקר וסוג המדד</a:t>
            </a:r>
            <a:endParaRPr lang="he-IL" sz="1400" dirty="0"/>
          </a:p>
        </p:txBody>
      </p:sp>
      <p:sp>
        <p:nvSpPr>
          <p:cNvPr id="12" name="Shape 10"/>
          <p:cNvSpPr/>
          <p:nvPr/>
        </p:nvSpPr>
        <p:spPr>
          <a:xfrm>
            <a:off x="6199632" y="3749040"/>
            <a:ext cx="5440680" cy="1600200"/>
          </a:xfrm>
          <a:prstGeom prst="roundRect">
            <a:avLst>
              <a:gd name="adj" fmla="val 6857"/>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3" name="Shape 11"/>
          <p:cNvSpPr/>
          <p:nvPr/>
        </p:nvSpPr>
        <p:spPr>
          <a:xfrm>
            <a:off x="11000232" y="3977640"/>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73952" y="3931920"/>
            <a:ext cx="4343400" cy="457200"/>
          </a:xfrm>
          <a:prstGeom prst="rect">
            <a:avLst/>
          </a:prstGeom>
          <a:noFill/>
          <a:ln/>
        </p:spPr>
        <p:txBody>
          <a:bodyPr wrap="square" lIns="0" tIns="0" rIns="0" bIns="0" rtlCol="0" anchor="ctr"/>
          <a:lstStyle/>
          <a:p>
            <a:pPr rtl="1" algn="r" indent="0" marL="0">
              <a:buNone/>
            </a:pPr>
            <a:r>
              <a:rPr lang="he-IL" altLang="en-US" sz="1600" b="1" dirty="0">
                <a:solidFill>
                  <a:srgbClr val="14213D"/>
                </a:solidFill>
                <a:latin typeface="Arial" pitchFamily="34" charset="0"/>
                <a:ea typeface="Arial" pitchFamily="34" charset="-122"/>
                <a:cs typeface="Arial" pitchFamily="34" charset="-120"/>
              </a:rPr>
              <a:t>מערך המחקר</a:t>
            </a:r>
            <a:endParaRPr lang="he-IL" sz="1600" dirty="0"/>
          </a:p>
        </p:txBody>
      </p:sp>
      <p:sp>
        <p:nvSpPr>
          <p:cNvPr id="15" name="Text 13"/>
          <p:cNvSpPr txBox="1"/>
          <p:nvPr/>
        </p:nvSpPr>
        <p:spPr>
          <a:xfrm>
            <a:off x="6473952" y="4434840"/>
            <a:ext cx="4892040" cy="86868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הקשרים חזקים יותר במחקרי חתך מאשר במחקרי אורך. כלומר: הקשר אמיתי, אבל כנראה קטן יותר ממה שמחקר בודד מראה.</a:t>
            </a:r>
            <a:endParaRPr lang="he-IL" sz="1300" dirty="0"/>
          </a:p>
        </p:txBody>
      </p:sp>
      <p:sp>
        <p:nvSpPr>
          <p:cNvPr id="16" name="Shape 14"/>
          <p:cNvSpPr/>
          <p:nvPr/>
        </p:nvSpPr>
        <p:spPr>
          <a:xfrm>
            <a:off x="548640" y="3749040"/>
            <a:ext cx="5440680" cy="1600200"/>
          </a:xfrm>
          <a:prstGeom prst="roundRect">
            <a:avLst>
              <a:gd name="adj" fmla="val 6857"/>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7" name="Shape 15"/>
          <p:cNvSpPr/>
          <p:nvPr/>
        </p:nvSpPr>
        <p:spPr>
          <a:xfrm>
            <a:off x="5349240" y="3977640"/>
            <a:ext cx="365760" cy="365760"/>
          </a:xfrm>
          <a:prstGeom prst="ellipse">
            <a:avLst/>
          </a:prstGeom>
          <a:solidFill>
            <a:srgbClr val="D9822B"/>
          </a:solidFill>
          <a:ln w="12700">
            <a:solidFill>
              <a:srgbClr val="D9822B"/>
            </a:solidFill>
            <a:prstDash val="solid"/>
          </a:ln>
        </p:spPr>
      </p:sp>
      <p:sp>
        <p:nvSpPr>
          <p:cNvPr id="18" name="Text 16"/>
          <p:cNvSpPr txBox="1"/>
          <p:nvPr/>
        </p:nvSpPr>
        <p:spPr>
          <a:xfrm>
            <a:off x="822960" y="3931920"/>
            <a:ext cx="4343400" cy="457200"/>
          </a:xfrm>
          <a:prstGeom prst="rect">
            <a:avLst/>
          </a:prstGeom>
          <a:noFill/>
          <a:ln/>
        </p:spPr>
        <p:txBody>
          <a:bodyPr wrap="square" lIns="0" tIns="0" rIns="0" bIns="0" rtlCol="0" anchor="ctr"/>
          <a:lstStyle/>
          <a:p>
            <a:pPr rtl="1" algn="r" indent="0" marL="0">
              <a:buNone/>
            </a:pPr>
            <a:r>
              <a:rPr lang="he-IL" altLang="en-US" sz="1600" b="1" dirty="0">
                <a:solidFill>
                  <a:srgbClr val="14213D"/>
                </a:solidFill>
                <a:latin typeface="Arial" pitchFamily="34" charset="0"/>
                <a:ea typeface="Arial" pitchFamily="34" charset="-122"/>
                <a:cs typeface="Arial" pitchFamily="34" charset="-120"/>
              </a:rPr>
              <a:t>סוג המדד</a:t>
            </a:r>
            <a:endParaRPr lang="he-IL" sz="1600" dirty="0"/>
          </a:p>
        </p:txBody>
      </p:sp>
      <p:sp>
        <p:nvSpPr>
          <p:cNvPr id="19" name="Text 17"/>
          <p:cNvSpPr txBox="1"/>
          <p:nvPr/>
        </p:nvSpPr>
        <p:spPr>
          <a:xfrm>
            <a:off x="822960" y="4434840"/>
            <a:ext cx="4892040" cy="86868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קוגניטיבי ("כמה זה סביר"), רגשי ("כמה זה מדאיג") או משולב: השפעה מעורבת, לא אחידה בין התוצאות.</a:t>
            </a:r>
            <a:endParaRPr lang="he-IL" sz="1300" dirty="0"/>
          </a:p>
        </p:txBody>
      </p:sp>
      <p:sp>
        <p:nvSpPr>
          <p:cNvPr id="20" name="Shape 18"/>
          <p:cNvSpPr/>
          <p:nvPr/>
        </p:nvSpPr>
        <p:spPr>
          <a:xfrm>
            <a:off x="548640" y="5532120"/>
            <a:ext cx="11091672" cy="731520"/>
          </a:xfrm>
          <a:prstGeom prst="roundRect">
            <a:avLst>
              <a:gd name="adj" fmla="val 15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21" name="Text 19"/>
          <p:cNvSpPr txBox="1"/>
          <p:nvPr/>
        </p:nvSpPr>
        <p:spPr>
          <a:xfrm>
            <a:off x="822960" y="5577840"/>
            <a:ext cx="10515600" cy="640080"/>
          </a:xfrm>
          <a:prstGeom prst="rect">
            <a:avLst/>
          </a:prstGeom>
          <a:noFill/>
          <a:ln/>
        </p:spPr>
        <p:txBody>
          <a:bodyPr wrap="square" lIns="0" tIns="0" rIns="0" bIns="0" rtlCol="0" anchor="ctr"/>
          <a:lstStyle/>
          <a:p>
            <a:pPr rtl="1" algn="r" indent="0" marL="0">
              <a:buNone/>
            </a:pPr>
            <a:r>
              <a:rPr lang="he-IL" altLang="en-US" sz="1300" dirty="0">
                <a:solidFill>
                  <a:srgbClr val="1F2937"/>
                </a:solidFill>
                <a:latin typeface="Arial" pitchFamily="34" charset="0"/>
                <a:ea typeface="Arial" pitchFamily="34" charset="-122"/>
                <a:cs typeface="Arial" pitchFamily="34" charset="-120"/>
              </a:rPr>
              <a:t>מגבלות שהמחברים עצמם מציינים: מתאמים ולא סיבתיות, דיווח עצמי, הטיית פרסום אפשרית, מדגמים בעיקר מערביים ואסייתיים</a:t>
            </a:r>
            <a:endParaRPr lang="he-IL" sz="1300" dirty="0"/>
          </a:p>
        </p:txBody>
      </p:sp>
      <p:sp>
        <p:nvSpPr>
          <p:cNvPr id="22" name="Text 20"/>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3" name="Text 21"/>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8</a:t>
            </a:r>
            <a:endParaRPr lang="he-IL"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המאמר המשלים: הבינה המלאכותית, חוסר הביטחון וחוסן הקריירה</a:t>
            </a:r>
            <a:endParaRPr lang="he-IL" sz="3000" dirty="0"/>
          </a:p>
        </p:txBody>
      </p:sp>
      <p:sp>
        <p:nvSpPr>
          <p:cNvPr id="3" name="Text 1"/>
          <p:cNvSpPr txBox="1"/>
          <p:nvPr/>
        </p:nvSpPr>
        <p:spPr>
          <a:xfrm>
            <a:off x="548640" y="1143000"/>
            <a:ext cx="11091672" cy="365760"/>
          </a:xfrm>
          <a:prstGeom prst="rect">
            <a:avLst/>
          </a:prstGeom>
          <a:noFill/>
          <a:ln/>
        </p:spPr>
        <p:txBody>
          <a:bodyPr wrap="square" lIns="0" tIns="0" rIns="0" bIns="0" rtlCol="0" anchor="t"/>
          <a:lstStyle/>
          <a:p>
            <a:pPr algn="r" indent="0" marL="0">
              <a:buNone/>
            </a:pPr>
            <a:r>
              <a:rPr lang="en-US" sz="1300" i="1" dirty="0">
                <a:solidFill>
                  <a:srgbClr val="6B7280"/>
                </a:solidFill>
                <a:latin typeface="Arial" pitchFamily="34" charset="0"/>
                <a:ea typeface="Arial" pitchFamily="34" charset="-122"/>
                <a:cs typeface="Arial" pitchFamily="34" charset="-120"/>
              </a:rPr>
              <a:t>Chung, Im, Kim &amp; Yun (2025), Australian Journal of Psychology, Open Access</a:t>
            </a:r>
            <a:endParaRPr lang="en-US" sz="1300" dirty="0"/>
          </a:p>
        </p:txBody>
      </p:sp>
      <p:sp>
        <p:nvSpPr>
          <p:cNvPr id="4" name="Shape 2"/>
          <p:cNvSpPr/>
          <p:nvPr/>
        </p:nvSpPr>
        <p:spPr>
          <a:xfrm>
            <a:off x="8531352" y="1783080"/>
            <a:ext cx="3108960" cy="1463040"/>
          </a:xfrm>
          <a:prstGeom prst="roundRect">
            <a:avLst>
              <a:gd name="adj" fmla="val 7500"/>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5" name="Text 3"/>
          <p:cNvSpPr txBox="1"/>
          <p:nvPr/>
        </p:nvSpPr>
        <p:spPr>
          <a:xfrm>
            <a:off x="871423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מודעות לבינה מלאכותית</a:t>
            </a:r>
            <a:endParaRPr lang="he-IL" sz="1600" dirty="0"/>
          </a:p>
        </p:txBody>
      </p:sp>
      <p:sp>
        <p:nvSpPr>
          <p:cNvPr id="6" name="Text 4"/>
          <p:cNvSpPr txBox="1"/>
          <p:nvPr/>
        </p:nvSpPr>
        <p:spPr>
          <a:xfrm>
            <a:off x="871423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"הטכנולוגיה עלולה להחליף אותי או לשנות את התפקיד"</a:t>
            </a:r>
            <a:endParaRPr lang="he-IL" sz="1200" dirty="0"/>
          </a:p>
        </p:txBody>
      </p:sp>
      <p:sp>
        <p:nvSpPr>
          <p:cNvPr id="7" name="Shape 5"/>
          <p:cNvSpPr/>
          <p:nvPr/>
        </p:nvSpPr>
        <p:spPr>
          <a:xfrm>
            <a:off x="7772400" y="2240280"/>
            <a:ext cx="640080" cy="548640"/>
          </a:xfrm>
          <a:prstGeom prst="leftArrow">
            <a:avLst/>
          </a:prstGeom>
          <a:solidFill>
            <a:srgbClr val="FCA311"/>
          </a:solidFill>
          <a:ln w="12700">
            <a:solidFill>
              <a:srgbClr val="FCA311"/>
            </a:solidFill>
            <a:prstDash val="solid"/>
          </a:ln>
        </p:spPr>
      </p:sp>
      <p:sp>
        <p:nvSpPr>
          <p:cNvPr id="8" name="Shape 6"/>
          <p:cNvSpPr/>
          <p:nvPr/>
        </p:nvSpPr>
        <p:spPr>
          <a:xfrm>
            <a:off x="4553712" y="1783080"/>
            <a:ext cx="3108960" cy="1463040"/>
          </a:xfrm>
          <a:prstGeom prst="roundRect">
            <a:avLst>
              <a:gd name="adj" fmla="val 7500"/>
            </a:avLst>
          </a:prstGeom>
          <a:solidFill>
            <a:srgbClr val="E76F51"/>
          </a:solidFill>
          <a:ln w="12700">
            <a:solidFill>
              <a:srgbClr val="E76F51"/>
            </a:solidFill>
            <a:prstDash val="solid"/>
          </a:ln>
          <a:effectLst>
            <a:outerShdw sx="100000" sy="100000" kx="0" ky="0" algn="bl" rotWithShape="0" blurRad="50800" dist="25400" dir="5400000">
              <a:srgbClr val="000000">
                <a:alpha val="12000"/>
              </a:srgbClr>
            </a:outerShdw>
          </a:effectLst>
        </p:spPr>
      </p:sp>
      <p:sp>
        <p:nvSpPr>
          <p:cNvPr id="9" name="Text 7"/>
          <p:cNvSpPr txBox="1"/>
          <p:nvPr/>
        </p:nvSpPr>
        <p:spPr>
          <a:xfrm>
            <a:off x="473659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חוסר ביטחון תעסוקתי</a:t>
            </a:r>
            <a:endParaRPr lang="he-IL" sz="1600" dirty="0"/>
          </a:p>
        </p:txBody>
      </p:sp>
      <p:sp>
        <p:nvSpPr>
          <p:cNvPr id="10" name="Text 8"/>
          <p:cNvSpPr txBox="1"/>
          <p:nvPr/>
        </p:nvSpPr>
        <p:spPr>
          <a:xfrm>
            <a:off x="473659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המתווך</a:t>
            </a:r>
            <a:endParaRPr lang="he-IL" sz="1200" dirty="0"/>
          </a:p>
        </p:txBody>
      </p:sp>
      <p:sp>
        <p:nvSpPr>
          <p:cNvPr id="11" name="Shape 9"/>
          <p:cNvSpPr/>
          <p:nvPr/>
        </p:nvSpPr>
        <p:spPr>
          <a:xfrm>
            <a:off x="3794760" y="2240280"/>
            <a:ext cx="640080" cy="548640"/>
          </a:xfrm>
          <a:prstGeom prst="leftArrow">
            <a:avLst/>
          </a:prstGeom>
          <a:solidFill>
            <a:srgbClr val="FCA311"/>
          </a:solidFill>
          <a:ln w="12700">
            <a:solidFill>
              <a:srgbClr val="FCA311"/>
            </a:solidFill>
            <a:prstDash val="solid"/>
          </a:ln>
        </p:spPr>
      </p:sp>
      <p:sp>
        <p:nvSpPr>
          <p:cNvPr id="12" name="Shape 10"/>
          <p:cNvSpPr/>
          <p:nvPr/>
        </p:nvSpPr>
        <p:spPr>
          <a:xfrm>
            <a:off x="576072" y="1783080"/>
            <a:ext cx="3108960" cy="1463040"/>
          </a:xfrm>
          <a:prstGeom prst="roundRect">
            <a:avLst>
              <a:gd name="adj" fmla="val 7500"/>
            </a:avLst>
          </a:prstGeom>
          <a:solidFill>
            <a:srgbClr val="D9822B"/>
          </a:solidFill>
          <a:ln w="12700">
            <a:solidFill>
              <a:srgbClr val="D9822B"/>
            </a:solidFill>
            <a:prstDash val="solid"/>
          </a:ln>
          <a:effectLst>
            <a:outerShdw sx="100000" sy="100000" kx="0" ky="0" algn="bl" rotWithShape="0" blurRad="50800" dist="25400" dir="5400000">
              <a:srgbClr val="000000">
                <a:alpha val="12000"/>
              </a:srgbClr>
            </a:outerShdw>
          </a:effectLst>
        </p:spPr>
      </p:sp>
      <p:sp>
        <p:nvSpPr>
          <p:cNvPr id="13" name="Text 11"/>
          <p:cNvSpPr txBox="1"/>
          <p:nvPr/>
        </p:nvSpPr>
        <p:spPr>
          <a:xfrm>
            <a:off x="75895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תוצאות</a:t>
            </a:r>
            <a:endParaRPr lang="he-IL" sz="1600" dirty="0"/>
          </a:p>
        </p:txBody>
      </p:sp>
      <p:sp>
        <p:nvSpPr>
          <p:cNvPr id="14" name="Text 12"/>
          <p:cNvSpPr txBox="1"/>
          <p:nvPr/>
        </p:nvSpPr>
        <p:spPr>
          <a:xfrm>
            <a:off x="75895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ירידה בביצועי משימה, עלייה בהתנהגות סוטה</a:t>
            </a:r>
            <a:endParaRPr lang="he-IL" sz="1200" dirty="0"/>
          </a:p>
        </p:txBody>
      </p:sp>
      <p:sp>
        <p:nvSpPr>
          <p:cNvPr id="15" name="Shape 13"/>
          <p:cNvSpPr/>
          <p:nvPr/>
        </p:nvSpPr>
        <p:spPr>
          <a:xfrm>
            <a:off x="6400800" y="3703320"/>
            <a:ext cx="3840480" cy="868680"/>
          </a:xfrm>
          <a:prstGeom prst="roundRect">
            <a:avLst>
              <a:gd name="adj" fmla="val 10526"/>
            </a:avLst>
          </a:prstGeom>
          <a:solidFill>
            <a:srgbClr val="2A9D8F"/>
          </a:solidFill>
          <a:ln w="12700">
            <a:solidFill>
              <a:srgbClr val="2A9D8F"/>
            </a:solidFill>
            <a:prstDash val="solid"/>
          </a:ln>
        </p:spPr>
      </p:sp>
      <p:sp>
        <p:nvSpPr>
          <p:cNvPr id="16" name="Text 14"/>
          <p:cNvSpPr txBox="1"/>
          <p:nvPr/>
        </p:nvSpPr>
        <p:spPr>
          <a:xfrm>
            <a:off x="6492240" y="3703320"/>
            <a:ext cx="3657600" cy="86868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חוסן קריירה: מחליש את הקשר</a:t>
            </a:r>
            <a:endParaRPr lang="he-IL" sz="1600" dirty="0"/>
          </a:p>
        </p:txBody>
      </p:sp>
      <p:sp>
        <p:nvSpPr>
          <p:cNvPr id="17" name="Shape 15"/>
          <p:cNvSpPr/>
          <p:nvPr/>
        </p:nvSpPr>
        <p:spPr>
          <a:xfrm>
            <a:off x="8092440" y="3291840"/>
            <a:ext cx="457200" cy="411480"/>
          </a:xfrm>
          <a:prstGeom prst="upArrow">
            <a:avLst/>
          </a:prstGeom>
          <a:solidFill>
            <a:srgbClr val="2A9D8F"/>
          </a:solidFill>
          <a:ln w="12700">
            <a:solidFill>
              <a:srgbClr val="2A9D8F"/>
            </a:solidFill>
            <a:prstDash val="solid"/>
          </a:ln>
        </p:spPr>
      </p:sp>
      <p:sp>
        <p:nvSpPr>
          <p:cNvPr id="18" name="Shape 16"/>
          <p:cNvSpPr/>
          <p:nvPr/>
        </p:nvSpPr>
        <p:spPr>
          <a:xfrm>
            <a:off x="548640" y="4800600"/>
            <a:ext cx="11091672" cy="1463040"/>
          </a:xfrm>
          <a:prstGeom prst="roundRect">
            <a:avLst>
              <a:gd name="adj" fmla="val 7500"/>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9" name="Text 17"/>
          <p:cNvSpPr txBox="1"/>
          <p:nvPr/>
        </p:nvSpPr>
        <p:spPr>
          <a:xfrm>
            <a:off x="822960" y="4892040"/>
            <a:ext cx="10515600" cy="1325880"/>
          </a:xfrm>
          <a:prstGeom prst="rect">
            <a:avLst/>
          </a:prstGeom>
          <a:noFill/>
          <a:ln/>
        </p:spPr>
        <p:txBody>
          <a:bodyPr wrap="square" lIns="0" tIns="0" rIns="0" bIns="0" rtlCol="0" anchor="t"/>
          <a:lstStyle/>
          <a:p>
            <a:pPr algn="r" marL="342900" indent="-342900">
              <a:spcAft>
                <a:spcPts val="400"/>
              </a:spcAft>
              <a:buSzPct val="100000"/>
              <a:buChar char="•"/>
            </a:pPr>
            <a:r>
              <a:rPr lang="he-IL" altLang="en-US" sz="1350" dirty="0">
                <a:solidFill>
                  <a:srgbClr val="1F2937"/>
                </a:solidFill>
                <a:latin typeface="Arial" pitchFamily="34" charset="0"/>
                <a:ea typeface="Arial" pitchFamily="34" charset="-122"/>
                <a:cs typeface="Arial" pitchFamily="34" charset="-120"/>
              </a:rPr>
              <a:t>מחקר אורך בשלוש נקודות זמן בקרב עובדי משרד במשרה מלאה בדרום קוריאה</a:t>
            </a:r>
            <a:endParaRPr lang="he-IL" sz="1350" dirty="0"/>
          </a:p>
          <a:p>
            <a:pPr algn="r" marL="342900" indent="-342900">
              <a:spcAft>
                <a:spcPts val="400"/>
              </a:spcAft>
              <a:buSzPct val="100000"/>
              <a:buChar char="•"/>
            </a:pPr>
            <a:r>
              <a:rPr lang="he-IL" altLang="en-US" sz="1350" dirty="0">
                <a:solidFill>
                  <a:srgbClr val="1F2937"/>
                </a:solidFill>
                <a:latin typeface="Arial" pitchFamily="34" charset="0"/>
                <a:ea typeface="Arial" pitchFamily="34" charset="-122"/>
                <a:cs typeface="Arial" pitchFamily="34" charset="-120"/>
              </a:rPr>
              <a:t>עצם המודעות לבינה מלאכותית, עוד לפני שינוי בפועל, מספיקה כדי לייצר חוסר ביטחון</a:t>
            </a:r>
            <a:endParaRPr lang="he-IL" sz="1350" dirty="0"/>
          </a:p>
          <a:p>
            <a:pPr algn="r" marL="342900" indent="-342900">
              <a:spcAft>
                <a:spcPts val="400"/>
              </a:spcAft>
              <a:buSzPct val="100000"/>
              <a:buChar char="•"/>
            </a:pPr>
            <a:r>
              <a:rPr lang="he-IL" altLang="en-US" sz="1350" dirty="0">
                <a:solidFill>
                  <a:srgbClr val="1F2937"/>
                </a:solidFill>
                <a:latin typeface="Arial" pitchFamily="34" charset="0"/>
                <a:ea typeface="Arial" pitchFamily="34" charset="-122"/>
                <a:cs typeface="Arial" pitchFamily="34" charset="-120"/>
              </a:rPr>
              <a:t>החדשות הטובות: אצל בעלי חוסן קריירה גבוה הקשר חלש יותר. חוסן אפשר לבנות</a:t>
            </a:r>
            <a:endParaRPr lang="he-IL" sz="1350" dirty="0"/>
          </a:p>
        </p:txBody>
      </p:sp>
      <p:sp>
        <p:nvSpPr>
          <p:cNvPr id="20" name="Text 18"/>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1" name="Text 19"/>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9</a:t>
            </a:r>
            <a:endParaRPr lang="he-IL"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התובנה המרכזית: מעגל קסמים</a:t>
            </a:r>
            <a:endParaRPr lang="he-IL" sz="3000" dirty="0"/>
          </a:p>
        </p:txBody>
      </p:sp>
      <p:sp>
        <p:nvSpPr>
          <p:cNvPr id="3" name="Shape 1"/>
          <p:cNvSpPr/>
          <p:nvPr/>
        </p:nvSpPr>
        <p:spPr>
          <a:xfrm>
            <a:off x="8595360" y="1463040"/>
            <a:ext cx="3063240" cy="1417320"/>
          </a:xfrm>
          <a:prstGeom prst="roundRect">
            <a:avLst>
              <a:gd name="adj" fmla="val 7742"/>
            </a:avLst>
          </a:prstGeom>
          <a:solidFill>
            <a:srgbClr val="E76F51"/>
          </a:solidFill>
          <a:ln w="12700">
            <a:solidFill>
              <a:srgbClr val="E76F51"/>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778240" y="157276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חוסר ביטחון תעסוקתי</a:t>
            </a:r>
            <a:endParaRPr lang="he-IL" sz="1450" dirty="0"/>
          </a:p>
        </p:txBody>
      </p:sp>
      <p:sp>
        <p:nvSpPr>
          <p:cNvPr id="5" name="Text 3"/>
          <p:cNvSpPr txBox="1"/>
          <p:nvPr/>
        </p:nvSpPr>
        <p:spPr>
          <a:xfrm>
            <a:off x="8778240" y="230428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האיום על המשרה</a:t>
            </a:r>
            <a:endParaRPr lang="he-IL" sz="1150" dirty="0"/>
          </a:p>
        </p:txBody>
      </p:sp>
      <p:sp>
        <p:nvSpPr>
          <p:cNvPr id="6" name="Shape 4"/>
          <p:cNvSpPr/>
          <p:nvPr/>
        </p:nvSpPr>
        <p:spPr>
          <a:xfrm>
            <a:off x="4572000" y="3246120"/>
            <a:ext cx="3063240" cy="1417320"/>
          </a:xfrm>
          <a:prstGeom prst="roundRect">
            <a:avLst>
              <a:gd name="adj" fmla="val 7742"/>
            </a:avLst>
          </a:prstGeom>
          <a:solidFill>
            <a:srgbClr val="D9822B"/>
          </a:solidFill>
          <a:ln w="12700">
            <a:solidFill>
              <a:srgbClr val="D9822B"/>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4754880" y="335584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פחות פיתוח מיומנויות, פחות יכולת תעסוקה</a:t>
            </a:r>
            <a:endParaRPr lang="he-IL" sz="1450" dirty="0"/>
          </a:p>
        </p:txBody>
      </p:sp>
      <p:sp>
        <p:nvSpPr>
          <p:cNvPr id="8" name="Text 6"/>
          <p:cNvSpPr txBox="1"/>
          <p:nvPr/>
        </p:nvSpPr>
        <p:spPr>
          <a:xfrm>
            <a:off x="4754880" y="408736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מגנים על מה שנשאר במקום להשקיע</a:t>
            </a:r>
            <a:endParaRPr lang="he-IL" sz="1150" dirty="0"/>
          </a:p>
        </p:txBody>
      </p:sp>
      <p:sp>
        <p:nvSpPr>
          <p:cNvPr id="9" name="Shape 7"/>
          <p:cNvSpPr/>
          <p:nvPr/>
        </p:nvSpPr>
        <p:spPr>
          <a:xfrm>
            <a:off x="548640" y="1463040"/>
            <a:ext cx="3063240" cy="1417320"/>
          </a:xfrm>
          <a:prstGeom prst="roundRect">
            <a:avLst>
              <a:gd name="adj" fmla="val 7742"/>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731520" y="157276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פחות משאבים להתמודד עם האיום הבא</a:t>
            </a:r>
            <a:endParaRPr lang="he-IL" sz="1450" dirty="0"/>
          </a:p>
        </p:txBody>
      </p:sp>
      <p:sp>
        <p:nvSpPr>
          <p:cNvPr id="11" name="Text 9"/>
          <p:cNvSpPr txBox="1"/>
          <p:nvPr/>
        </p:nvSpPr>
        <p:spPr>
          <a:xfrm>
            <a:off x="731520" y="230428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ספירלת אובדן (Hobfoll, 1989)</a:t>
            </a:r>
            <a:endParaRPr lang="he-IL" sz="1150" dirty="0"/>
          </a:p>
        </p:txBody>
      </p:sp>
      <p:sp>
        <p:nvSpPr>
          <p:cNvPr id="12" name="Shape 10"/>
          <p:cNvSpPr/>
          <p:nvPr/>
        </p:nvSpPr>
        <p:spPr>
          <a:xfrm rot="1800000">
            <a:off x="7726680" y="2697480"/>
            <a:ext cx="777240" cy="548640"/>
          </a:xfrm>
          <a:prstGeom prst="leftArrow">
            <a:avLst/>
          </a:prstGeom>
          <a:solidFill>
            <a:srgbClr val="FCA311"/>
          </a:solidFill>
          <a:ln w="12700">
            <a:solidFill>
              <a:srgbClr val="FCA311"/>
            </a:solidFill>
            <a:prstDash val="solid"/>
          </a:ln>
        </p:spPr>
      </p:sp>
      <p:sp>
        <p:nvSpPr>
          <p:cNvPr id="13" name="Shape 11"/>
          <p:cNvSpPr/>
          <p:nvPr/>
        </p:nvSpPr>
        <p:spPr>
          <a:xfrm rot="-1800000">
            <a:off x="3657600" y="2697480"/>
            <a:ext cx="777240" cy="548640"/>
          </a:xfrm>
          <a:prstGeom prst="leftArrow">
            <a:avLst/>
          </a:prstGeom>
          <a:solidFill>
            <a:srgbClr val="FCA311"/>
          </a:solidFill>
          <a:ln w="12700">
            <a:solidFill>
              <a:srgbClr val="FCA311"/>
            </a:solidFill>
            <a:prstDash val="solid"/>
          </a:ln>
        </p:spPr>
      </p:sp>
      <p:sp>
        <p:nvSpPr>
          <p:cNvPr id="14" name="Shape 12"/>
          <p:cNvSpPr/>
          <p:nvPr/>
        </p:nvSpPr>
        <p:spPr>
          <a:xfrm>
            <a:off x="5669280" y="1783080"/>
            <a:ext cx="868680" cy="548640"/>
          </a:xfrm>
          <a:prstGeom prst="rightArrow">
            <a:avLst/>
          </a:prstGeom>
          <a:solidFill>
            <a:srgbClr val="FCA311"/>
          </a:solidFill>
          <a:ln w="12700">
            <a:solidFill>
              <a:srgbClr val="FCA311"/>
            </a:solidFill>
            <a:prstDash val="solid"/>
          </a:ln>
        </p:spPr>
      </p:sp>
      <p:sp>
        <p:nvSpPr>
          <p:cNvPr id="15" name="Text 13"/>
          <p:cNvSpPr txBox="1"/>
          <p:nvPr/>
        </p:nvSpPr>
        <p:spPr>
          <a:xfrm>
            <a:off x="3931920" y="1234440"/>
            <a:ext cx="4297680" cy="457200"/>
          </a:xfrm>
          <a:prstGeom prst="rect">
            <a:avLst/>
          </a:prstGeom>
          <a:noFill/>
          <a:ln/>
        </p:spPr>
        <p:txBody>
          <a:bodyPr wrap="square" lIns="0" tIns="0" rIns="0" bIns="0" rtlCol="0" anchor="t"/>
          <a:lstStyle/>
          <a:p>
            <a:pPr rtl="1" algn="ctr" indent="0" marL="0">
              <a:buNone/>
            </a:pPr>
            <a:r>
              <a:rPr lang="he-IL" altLang="en-US" sz="1200" dirty="0">
                <a:solidFill>
                  <a:srgbClr val="6B7280"/>
                </a:solidFill>
                <a:latin typeface="Arial" pitchFamily="34" charset="0"/>
                <a:ea typeface="Arial" pitchFamily="34" charset="-122"/>
                <a:cs typeface="Arial" pitchFamily="34" charset="-120"/>
              </a:rPr>
              <a:t>חוזר להתחלה</a:t>
            </a:r>
            <a:endParaRPr lang="he-IL" sz="1200" dirty="0"/>
          </a:p>
        </p:txBody>
      </p:sp>
      <p:sp>
        <p:nvSpPr>
          <p:cNvPr id="16" name="Shape 14"/>
          <p:cNvSpPr/>
          <p:nvPr/>
        </p:nvSpPr>
        <p:spPr>
          <a:xfrm>
            <a:off x="548640" y="4892040"/>
            <a:ext cx="11091672" cy="1371600"/>
          </a:xfrm>
          <a:prstGeom prst="roundRect">
            <a:avLst>
              <a:gd name="adj" fmla="val 8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17" name="Text 15"/>
          <p:cNvSpPr txBox="1"/>
          <p:nvPr/>
        </p:nvSpPr>
        <p:spPr>
          <a:xfrm>
            <a:off x="822960" y="4983480"/>
            <a:ext cx="10515600" cy="1188720"/>
          </a:xfrm>
          <a:prstGeom prst="rect">
            <a:avLst/>
          </a:prstGeom>
          <a:noFill/>
          <a:ln/>
        </p:spPr>
        <p:txBody>
          <a:bodyPr wrap="square" lIns="0" tIns="0" rIns="0" bIns="0" rtlCol="0" anchor="ctr"/>
          <a:lstStyle/>
          <a:p>
            <a:pPr rtl="1" algn="r" indent="0" marL="0">
              <a:buNone/>
            </a:pPr>
            <a:r>
              <a:rPr lang="he-IL" altLang="en-US" sz="1500" b="1" dirty="0">
                <a:solidFill>
                  <a:srgbClr val="14213D"/>
                </a:solidFill>
                <a:latin typeface="Arial" pitchFamily="34" charset="0"/>
                <a:ea typeface="Arial" pitchFamily="34" charset="-122"/>
                <a:cs typeface="Arial" pitchFamily="34" charset="-120"/>
              </a:rPr>
              <a:t>חוסר ביטחון מקטין בדיוק את המשאבים שמגנים מפניו (Låstad et al., 2025). לכן ההשקעה בעצמי צריכה לקרות דווקא כשהיא נראית הכי פחות דחופה: בתקופות של יציבות, לפני שהאיום מגיע.</a:t>
            </a:r>
            <a:endParaRPr lang="he-IL" sz="1500" dirty="0"/>
          </a:p>
        </p:txBody>
      </p:sp>
      <p:sp>
        <p:nvSpPr>
          <p:cNvPr id="18" name="Text 16"/>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9" name="Text 17"/>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10</a:t>
            </a:r>
            <a:endParaRPr lang="he-IL"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תובנות, ביקורת ודעה אישית</a:t>
            </a:r>
            <a:endParaRPr lang="he-IL" sz="3000" dirty="0"/>
          </a:p>
        </p:txBody>
      </p:sp>
      <p:sp>
        <p:nvSpPr>
          <p:cNvPr id="3" name="Shape 1"/>
          <p:cNvSpPr/>
          <p:nvPr/>
        </p:nvSpPr>
        <p:spPr>
          <a:xfrm>
            <a:off x="6263640" y="1325880"/>
            <a:ext cx="5376672" cy="2926080"/>
          </a:xfrm>
          <a:prstGeom prst="roundRect">
            <a:avLst>
              <a:gd name="adj" fmla="val 3750"/>
            </a:avLst>
          </a:prstGeom>
          <a:solidFill>
            <a:srgbClr val="E8F5F1"/>
          </a:solidFill>
          <a:ln w="12700">
            <a:solidFill>
              <a:srgbClr val="E8F5F1"/>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6492240" y="1417320"/>
            <a:ext cx="4937760" cy="457200"/>
          </a:xfrm>
          <a:prstGeom prst="rect">
            <a:avLst/>
          </a:prstGeom>
          <a:noFill/>
          <a:ln/>
        </p:spPr>
        <p:txBody>
          <a:bodyPr wrap="square" lIns="0" tIns="0" rIns="0" bIns="0" rtlCol="0" anchor="t"/>
          <a:lstStyle/>
          <a:p>
            <a:pPr rtl="1" algn="r" indent="0" marL="0">
              <a:buNone/>
            </a:pPr>
            <a:r>
              <a:rPr lang="he-IL" altLang="en-US" sz="1800" b="1" dirty="0">
                <a:solidFill>
                  <a:srgbClr val="2A9D8F"/>
                </a:solidFill>
                <a:latin typeface="Arial" pitchFamily="34" charset="0"/>
                <a:ea typeface="Arial" pitchFamily="34" charset="-122"/>
                <a:cs typeface="Arial" pitchFamily="34" charset="-120"/>
              </a:rPr>
              <a:t>👍 מה אהבנו</a:t>
            </a:r>
            <a:endParaRPr lang="he-IL" sz="1800" dirty="0"/>
          </a:p>
        </p:txBody>
      </p:sp>
      <p:sp>
        <p:nvSpPr>
          <p:cNvPr id="5" name="Text 3"/>
          <p:cNvSpPr txBox="1"/>
          <p:nvPr/>
        </p:nvSpPr>
        <p:spPr>
          <a:xfrm>
            <a:off x="6492240" y="1920240"/>
            <a:ext cx="4937760" cy="2194560"/>
          </a:xfrm>
          <a:prstGeom prst="rect">
            <a:avLst/>
          </a:prstGeom>
          <a:noFill/>
          <a:ln/>
        </p:spPr>
        <p:txBody>
          <a:bodyPr wrap="square" lIns="0" tIns="0" rIns="0" bIns="0" rtlCol="0" anchor="t"/>
          <a:lstStyle/>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תשובה מבוססת 237 מחקרים לשאלה שכולנו שואלים: האם הפחד מחדד? לא.</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הכותרת מכניסה את כל המאמר לשלוש מילים</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כנות לגבי המגבלות של מחקרי חתך</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זמין לכולם בחינם, אפשר לשלוח לחבר</a:t>
            </a:r>
            <a:endParaRPr lang="he-IL" sz="1300" dirty="0"/>
          </a:p>
        </p:txBody>
      </p:sp>
      <p:sp>
        <p:nvSpPr>
          <p:cNvPr id="6" name="Shape 4"/>
          <p:cNvSpPr/>
          <p:nvPr/>
        </p:nvSpPr>
        <p:spPr>
          <a:xfrm>
            <a:off x="548640" y="1325880"/>
            <a:ext cx="5376672" cy="2926080"/>
          </a:xfrm>
          <a:prstGeom prst="roundRect">
            <a:avLst>
              <a:gd name="adj" fmla="val 3750"/>
            </a:avLst>
          </a:prstGeom>
          <a:solidFill>
            <a:srgbClr val="FDECEA"/>
          </a:solidFill>
          <a:ln w="12700">
            <a:solidFill>
              <a:srgbClr val="FDECEA"/>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777240" y="1417320"/>
            <a:ext cx="4937760" cy="457200"/>
          </a:xfrm>
          <a:prstGeom prst="rect">
            <a:avLst/>
          </a:prstGeom>
          <a:noFill/>
          <a:ln/>
        </p:spPr>
        <p:txBody>
          <a:bodyPr wrap="square" lIns="0" tIns="0" rIns="0" bIns="0" rtlCol="0" anchor="t"/>
          <a:lstStyle/>
          <a:p>
            <a:pPr rtl="1" algn="r" indent="0" marL="0">
              <a:buNone/>
            </a:pPr>
            <a:r>
              <a:rPr lang="he-IL" altLang="en-US" sz="1800" b="1" dirty="0">
                <a:solidFill>
                  <a:srgbClr val="E76F51"/>
                </a:solidFill>
                <a:latin typeface="Arial" pitchFamily="34" charset="0"/>
                <a:ea typeface="Arial" pitchFamily="34" charset="-122"/>
                <a:cs typeface="Arial" pitchFamily="34" charset="-120"/>
              </a:rPr>
              <a:t>🤔 מה חסר לנו</a:t>
            </a:r>
            <a:endParaRPr lang="he-IL" sz="1800" dirty="0"/>
          </a:p>
        </p:txBody>
      </p:sp>
      <p:sp>
        <p:nvSpPr>
          <p:cNvPr id="8" name="Text 6"/>
          <p:cNvSpPr txBox="1"/>
          <p:nvPr/>
        </p:nvSpPr>
        <p:spPr>
          <a:xfrm>
            <a:off x="777240" y="1920240"/>
            <a:ext cx="4937760" cy="2194560"/>
          </a:xfrm>
          <a:prstGeom prst="rect">
            <a:avLst/>
          </a:prstGeom>
          <a:noFill/>
          <a:ln/>
        </p:spPr>
        <p:txBody>
          <a:bodyPr wrap="square" lIns="0" tIns="0" rIns="0" bIns="0" rtlCol="0" anchor="t"/>
          <a:lstStyle/>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מכמת אבל לא אומר מה לעשות. את "מפת החוסן" בנינו לבד</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לא מבחין בין איום כמותי לאיכותני, וזו ההבחנה של עידן הבינה המלאכותית</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אין הקשר כמו הישראלי: מלחמה ומילואים, לא רק הארגון</a:t>
            </a:r>
            <a:endParaRPr lang="he-IL" sz="1300" dirty="0"/>
          </a:p>
        </p:txBody>
      </p:sp>
      <p:sp>
        <p:nvSpPr>
          <p:cNvPr id="9" name="Shape 7"/>
          <p:cNvSpPr/>
          <p:nvPr/>
        </p:nvSpPr>
        <p:spPr>
          <a:xfrm>
            <a:off x="548640" y="4480560"/>
            <a:ext cx="11091672" cy="1783080"/>
          </a:xfrm>
          <a:prstGeom prst="roundRect">
            <a:avLst>
              <a:gd name="adj" fmla="val 6154"/>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822960" y="4572000"/>
            <a:ext cx="10515600" cy="411480"/>
          </a:xfrm>
          <a:prstGeom prst="rect">
            <a:avLst/>
          </a:prstGeom>
          <a:noFill/>
          <a:ln/>
        </p:spPr>
        <p:txBody>
          <a:bodyPr wrap="square" lIns="0" tIns="0" rIns="0" bIns="0" rtlCol="0" anchor="t"/>
          <a:lstStyle/>
          <a:p>
            <a:pPr rtl="1" algn="r" indent="0" marL="0">
              <a:buNone/>
            </a:pPr>
            <a:r>
              <a:rPr lang="he-IL" altLang="en-US" sz="1700" b="1" dirty="0">
                <a:solidFill>
                  <a:srgbClr val="FCA311"/>
                </a:solidFill>
                <a:latin typeface="Arial" pitchFamily="34" charset="0"/>
                <a:ea typeface="Arial" pitchFamily="34" charset="-122"/>
                <a:cs typeface="Arial" pitchFamily="34" charset="-120"/>
              </a:rPr>
              <a:t>העמדה שלנו</a:t>
            </a:r>
            <a:endParaRPr lang="he-IL" sz="1700" dirty="0"/>
          </a:p>
        </p:txBody>
      </p:sp>
      <p:sp>
        <p:nvSpPr>
          <p:cNvPr id="11" name="Text 9"/>
          <p:cNvSpPr txBox="1"/>
          <p:nvPr/>
        </p:nvSpPr>
        <p:spPr>
          <a:xfrm>
            <a:off x="822960" y="4983480"/>
            <a:ext cx="10515600" cy="1234440"/>
          </a:xfrm>
          <a:prstGeom prst="rect">
            <a:avLst/>
          </a:prstGeom>
          <a:noFill/>
          <a:ln/>
        </p:spPr>
        <p:txBody>
          <a:bodyPr wrap="square" lIns="0" tIns="0" rIns="0" bIns="0" rtlCol="0" anchor="t"/>
          <a:lstStyle/>
          <a:p>
            <a:pPr rtl="1" algn="r" indent="0" marL="0">
              <a:buNone/>
            </a:pPr>
            <a:r>
              <a:rPr lang="he-IL" altLang="en-US" sz="1450" dirty="0">
                <a:solidFill>
                  <a:srgbClr val="FFFFFF"/>
                </a:solidFill>
                <a:latin typeface="Arial" pitchFamily="34" charset="0"/>
                <a:ea typeface="Arial" pitchFamily="34" charset="-122"/>
                <a:cs typeface="Arial" pitchFamily="34" charset="-120"/>
              </a:rPr>
              <a:t>הממצאים מאתגרים את "ממשבר להזדמנות" (דבדבני דקל, 2026ב) ובה בעת מחדדים אותו: משבר הופך להזדמנות רק אצל מי שיש לו משאבים לנצל אותה. בלי משאבים, האיום מייצר בריחה והסתרה. לכן המסר שלנו הוא לא "אל תפחדו", אלא "בנו את הכרית לפני שתצטרכו אותה".</a:t>
            </a:r>
            <a:endParaRPr lang="he-IL" sz="1450" dirty="0"/>
          </a:p>
        </p:txBody>
      </p:sp>
      <p:sp>
        <p:nvSpPr>
          <p:cNvPr id="12" name="Text 10"/>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3" name="Text 11"/>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11</a:t>
            </a:r>
            <a:endParaRPr lang="he-IL"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FFFFFF"/>
                </a:solidFill>
                <a:latin typeface="Arial" pitchFamily="34" charset="0"/>
                <a:ea typeface="Arial" pitchFamily="34" charset="-122"/>
                <a:cs typeface="Arial" pitchFamily="34" charset="-120"/>
              </a:rPr>
              <a:t>סרטון: "3 הסודות של אנשים חסינים", Lucy Hone, TED</a:t>
            </a:r>
            <a:endParaRPr lang="he-IL" sz="3000" dirty="0"/>
          </a:p>
        </p:txBody>
      </p:sp>
      <p:sp>
        <p:nvSpPr>
          <p:cNvPr id="3" name="Shape 1"/>
          <p:cNvSpPr/>
          <p:nvPr/>
        </p:nvSpPr>
        <p:spPr>
          <a:xfrm>
            <a:off x="6309360" y="1463040"/>
            <a:ext cx="5330952" cy="3017520"/>
          </a:xfrm>
          <a:prstGeom prst="roundRect">
            <a:avLst>
              <a:gd name="adj" fmla="val 3636"/>
            </a:avLst>
          </a:prstGeom>
          <a:solidFill>
            <a:srgbClr val="0B1530"/>
          </a:solidFill>
          <a:ln w="12700">
            <a:solidFill>
              <a:srgbClr val="0B1530"/>
            </a:solidFill>
            <a:prstDash val="solid"/>
          </a:ln>
        </p:spPr>
      </p:sp>
      <p:sp>
        <p:nvSpPr>
          <p:cNvPr id="4" name="Shape 2"/>
          <p:cNvSpPr/>
          <p:nvPr/>
        </p:nvSpPr>
        <p:spPr>
          <a:xfrm>
            <a:off x="8412480" y="2377440"/>
            <a:ext cx="1143000" cy="1143000"/>
          </a:xfrm>
          <a:prstGeom prst="ellipse">
            <a:avLst/>
          </a:prstGeom>
          <a:solidFill>
            <a:srgbClr val="FCA311"/>
          </a:solidFill>
          <a:ln w="12700">
            <a:solidFill>
              <a:srgbClr val="FCA311"/>
            </a:solidFill>
            <a:prstDash val="solid"/>
          </a:ln>
        </p:spPr>
      </p:sp>
      <p:sp>
        <p:nvSpPr>
          <p:cNvPr id="5" name="Text 3"/>
          <p:cNvSpPr txBox="1"/>
          <p:nvPr/>
        </p:nvSpPr>
        <p:spPr>
          <a:xfrm>
            <a:off x="8412480" y="2377440"/>
            <a:ext cx="1143000" cy="1143000"/>
          </a:xfrm>
          <a:prstGeom prst="rect">
            <a:avLst/>
          </a:prstGeom>
          <a:noFill/>
          <a:ln/>
        </p:spPr>
        <p:txBody>
          <a:bodyPr wrap="square" lIns="0" tIns="0" rIns="0" bIns="0" rtlCol="0" anchor="ctr"/>
          <a:lstStyle/>
          <a:p>
            <a:pPr algn="ctr" indent="0" marL="0">
              <a:buNone/>
            </a:pPr>
            <a:r>
              <a:rPr lang="en-US" sz="3000" b="1" dirty="0">
                <a:solidFill>
                  <a:srgbClr val="14213D"/>
                </a:solidFill>
                <a:latin typeface="Arial" pitchFamily="34" charset="0"/>
                <a:ea typeface="Arial" pitchFamily="34" charset="-122"/>
                <a:cs typeface="Arial" pitchFamily="34" charset="-120"/>
              </a:rPr>
              <a:t>▶</a:t>
            </a:r>
            <a:endParaRPr lang="en-US" sz="3000" dirty="0"/>
          </a:p>
        </p:txBody>
      </p:sp>
      <p:sp>
        <p:nvSpPr>
          <p:cNvPr id="6" name="Text 4">
            <a:hlinkClick r:id="rId1" tooltip=""/>
          </p:cNvPr>
          <p:cNvSpPr txBox="1"/>
          <p:nvPr/>
        </p:nvSpPr>
        <p:spPr>
          <a:xfrm>
            <a:off x="6492240" y="3977640"/>
            <a:ext cx="4937760" cy="365760"/>
          </a:xfrm>
          <a:prstGeom prst="rect">
            <a:avLst/>
          </a:prstGeom>
          <a:noFill/>
          <a:ln/>
        </p:spPr>
        <p:txBody>
          <a:bodyPr wrap="square" lIns="0" tIns="0" rIns="0" bIns="0" rtlCol="0" anchor="ctr"/>
          <a:lstStyle/>
          <a:p>
            <a:pPr algn="ctr" indent="0" marL="0">
              <a:buNone/>
            </a:pPr>
            <a:r>
              <a:rPr lang="en-US" sz="1100" u="sng" dirty="0">
                <a:solidFill>
                  <a:srgbClr val="CAD3E5"/>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ted.com/talks/lucy_hone_the_three_secrets_of_resilient_people</a:t>
            </a:r>
            <a:endParaRPr lang="en-US" sz="1100" dirty="0"/>
          </a:p>
        </p:txBody>
      </p:sp>
      <p:sp>
        <p:nvSpPr>
          <p:cNvPr id="7" name="Text 5"/>
          <p:cNvSpPr txBox="1"/>
          <p:nvPr/>
        </p:nvSpPr>
        <p:spPr>
          <a:xfrm>
            <a:off x="731520" y="1463040"/>
            <a:ext cx="5212080" cy="457200"/>
          </a:xfrm>
          <a:prstGeom prst="rect">
            <a:avLst/>
          </a:prstGeom>
          <a:noFill/>
          <a:ln/>
        </p:spPr>
        <p:txBody>
          <a:bodyPr wrap="square" lIns="0" tIns="0" rIns="0" bIns="0" rtlCol="0" anchor="t"/>
          <a:lstStyle/>
          <a:p>
            <a:pPr rtl="1" algn="r" indent="0" marL="0">
              <a:buNone/>
            </a:pPr>
            <a:r>
              <a:rPr lang="he-IL" altLang="en-US" sz="1800" b="1" dirty="0">
                <a:solidFill>
                  <a:srgbClr val="FCA311"/>
                </a:solidFill>
                <a:latin typeface="Arial" pitchFamily="34" charset="0"/>
                <a:ea typeface="Arial" pitchFamily="34" charset="-122"/>
                <a:cs typeface="Arial" pitchFamily="34" charset="-120"/>
              </a:rPr>
              <a:t>מה לחפש בקטע (90 שניות):</a:t>
            </a:r>
            <a:endParaRPr lang="he-IL" sz="1800" dirty="0"/>
          </a:p>
        </p:txBody>
      </p:sp>
      <p:sp>
        <p:nvSpPr>
          <p:cNvPr id="8" name="Text 6"/>
          <p:cNvSpPr txBox="1"/>
          <p:nvPr/>
        </p:nvSpPr>
        <p:spPr>
          <a:xfrm>
            <a:off x="731520" y="1965960"/>
            <a:ext cx="5212080" cy="2560320"/>
          </a:xfrm>
          <a:prstGeom prst="rect">
            <a:avLst/>
          </a:prstGeom>
          <a:noFill/>
          <a:ln/>
        </p:spPr>
        <p:txBody>
          <a:bodyPr wrap="square" lIns="0" tIns="0" rIns="0" bIns="0" rtlCol="0" anchor="t"/>
          <a:lstStyle/>
          <a:p>
            <a:pPr algn="r" marL="342900" indent="-342900">
              <a:spcAft>
                <a:spcPts val="800"/>
              </a:spcAft>
              <a:buSzPct val="100000"/>
              <a:buChar char="•"/>
            </a:pPr>
            <a:r>
              <a:rPr lang="he-IL" altLang="en-US" sz="1450" dirty="0">
                <a:solidFill>
                  <a:srgbClr val="FFFFFF"/>
                </a:solidFill>
                <a:latin typeface="Arial" pitchFamily="34" charset="0"/>
                <a:ea typeface="Arial" pitchFamily="34" charset="-122"/>
                <a:cs typeface="Arial" pitchFamily="34" charset="-120"/>
              </a:rPr>
              <a:t>"דברים רעים קורים": קבלת חוסר הוודאות כחלק מהחיים</a:t>
            </a:r>
            <a:endParaRPr lang="he-IL" sz="1450" dirty="0"/>
          </a:p>
          <a:p>
            <a:pPr algn="r" marL="342900" indent="-342900">
              <a:spcAft>
                <a:spcPts val="800"/>
              </a:spcAft>
              <a:buSzPct val="100000"/>
              <a:buChar char="•"/>
            </a:pPr>
            <a:r>
              <a:rPr lang="he-IL" altLang="en-US" sz="1450" dirty="0">
                <a:solidFill>
                  <a:srgbClr val="FFFFFF"/>
                </a:solidFill>
                <a:latin typeface="Arial" pitchFamily="34" charset="0"/>
                <a:ea typeface="Arial" pitchFamily="34" charset="-122"/>
                <a:cs typeface="Arial" pitchFamily="34" charset="-120"/>
              </a:rPr>
              <a:t>לבחור במה להתמקד: מה בשליטתי</a:t>
            </a:r>
            <a:endParaRPr lang="he-IL" sz="1450" dirty="0"/>
          </a:p>
          <a:p>
            <a:pPr algn="r" marL="342900" indent="-342900">
              <a:spcAft>
                <a:spcPts val="800"/>
              </a:spcAft>
              <a:buSzPct val="100000"/>
              <a:buChar char="•"/>
            </a:pPr>
            <a:r>
              <a:rPr lang="he-IL" altLang="en-US" sz="1450" dirty="0">
                <a:solidFill>
                  <a:srgbClr val="FFFFFF"/>
                </a:solidFill>
                <a:latin typeface="Arial" pitchFamily="34" charset="0"/>
                <a:ea typeface="Arial" pitchFamily="34" charset="-122"/>
                <a:cs typeface="Arial" pitchFamily="34" charset="-120"/>
              </a:rPr>
              <a:t>"האם זה עוזר לי או פוגע בי?": האם התגובה שלי היא בריחה והסתרה, או התפתחות</a:t>
            </a:r>
            <a:endParaRPr lang="he-IL" sz="1450" dirty="0"/>
          </a:p>
        </p:txBody>
      </p:sp>
      <p:sp>
        <p:nvSpPr>
          <p:cNvPr id="9" name="Shape 7"/>
          <p:cNvSpPr/>
          <p:nvPr/>
        </p:nvSpPr>
        <p:spPr>
          <a:xfrm>
            <a:off x="731520" y="4800600"/>
            <a:ext cx="10908792" cy="1371600"/>
          </a:xfrm>
          <a:prstGeom prst="roundRect">
            <a:avLst>
              <a:gd name="adj" fmla="val 8000"/>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960120" y="4892040"/>
            <a:ext cx="10424160" cy="1188720"/>
          </a:xfrm>
          <a:prstGeom prst="rect">
            <a:avLst/>
          </a:prstGeom>
          <a:noFill/>
          <a:ln/>
        </p:spPr>
        <p:txBody>
          <a:bodyPr wrap="square" lIns="0" tIns="0" rIns="0" bIns="0" rtlCol="0" anchor="ctr"/>
          <a:lstStyle/>
          <a:p>
            <a:pPr rtl="1" algn="r" indent="0" marL="0">
              <a:buNone/>
            </a:pPr>
            <a:r>
              <a:rPr lang="he-IL" altLang="en-US" sz="1600" dirty="0">
                <a:solidFill>
                  <a:srgbClr val="FFFFFF"/>
                </a:solidFill>
                <a:latin typeface="Arial" pitchFamily="34" charset="0"/>
                <a:ea typeface="Arial" pitchFamily="34" charset="-122"/>
                <a:cs typeface="Arial" pitchFamily="34" charset="-120"/>
              </a:rPr>
              <a:t>שאלה לכיתה אחרי הסרטון: איזה מהשלושה הכי קשה לכם ליישם בהקשר של הקריירה? (הרמת ידיים)</a:t>
            </a:r>
            <a:endParaRPr lang="he-IL" sz="1600" dirty="0"/>
          </a:p>
        </p:txBody>
      </p:sp>
      <p:sp>
        <p:nvSpPr>
          <p:cNvPr id="11" name="Text 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A9B4C8"/>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2" name="Text 1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A9B4C8"/>
                </a:solidFill>
                <a:latin typeface="Arial" pitchFamily="34" charset="0"/>
                <a:ea typeface="Arial" pitchFamily="34" charset="-122"/>
                <a:cs typeface="Arial" pitchFamily="34" charset="-120"/>
              </a:rPr>
              <a:t>12</a:t>
            </a:r>
            <a:endParaRPr lang="he-IL"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יישום: "מפת החוסן התעסוקתי", הכלי שבנינו מהמאמרים</a:t>
            </a:r>
            <a:endParaRPr lang="he-IL"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5120640"/>
                <a:gridCol w="3291840"/>
                <a:gridCol w="2679192"/>
              </a:tblGrid>
              <a:tr h="457200">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פעולות מומלצות</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שאלות מנחות</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שלב</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להחליף שמועות במידע: שיחה עם המנהל, מעקב אחר החברה והענף; למפות אילו חלקים בתפקיד הבינה המלאכותית משנה</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מה ההסתברות? האיום כמותי (המשרה) או איכותני (התוכן)? מה בשליטתי?</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E76F51"/>
                          </a:solidFill>
                          <a:latin typeface="Arial" pitchFamily="34" charset="0"/>
                          <a:ea typeface="Arial" pitchFamily="34" charset="-122"/>
                          <a:cs typeface="Arial" pitchFamily="34" charset="-120"/>
                        </a:rPr>
                        <a:t>1. הערכת האיום</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יעד למידה שנתי אחד וזמן שבועי קבוע; מיומנויות AI בתחום העיסוק; קו"ח ופרופיל מעודכנים כל חצי שנה</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מה למדתי בשנה האחרונה? אילו מיומנויות מבוקשות חסרות לי?</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D9822B"/>
                          </a:solidFill>
                          <a:latin typeface="Arial" pitchFamily="34" charset="0"/>
                          <a:ea typeface="Arial" pitchFamily="34" charset="-122"/>
                          <a:cs typeface="Arial" pitchFamily="34" charset="-120"/>
                        </a:rPr>
                        <a:t>2. שבירת המעגל: פיתוח מיומנויות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זהות מקצועית שלא תלויה בארגון; קרן חירום 3 עד 6 חודשים; רשת תמיכה ומנטור</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עד כמה הזהות שלי = התפקיד? כמה זמן אחזיק מעמד? למי אפנה?</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2A9D8F"/>
                          </a:solidFill>
                          <a:latin typeface="Arial" pitchFamily="34" charset="0"/>
                          <a:ea typeface="Arial" pitchFamily="34" charset="-122"/>
                          <a:cs typeface="Arial" pitchFamily="34" charset="-120"/>
                        </a:rPr>
                        <a:t>3. בניית חוסן קריירה</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לשתף ידע במקום להסתיר (בונה מוניטין ורשת); לחפש עבודה רק אחרי שמיפיתי מה אני רוצה לפתח, לא רק ממה אני בורח</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אני בורח (חיפוש בלבד), מסתיר (שומר ידע) או מתפתח?</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14213D"/>
                          </a:solidFill>
                          <a:latin typeface="Arial" pitchFamily="34" charset="0"/>
                          <a:ea typeface="Arial" pitchFamily="34" charset="-122"/>
                          <a:cs typeface="Arial" pitchFamily="34" charset="-120"/>
                        </a:rPr>
                        <a:t>4. בחירת התגובה</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5532120"/>
            <a:ext cx="11091672" cy="731520"/>
          </a:xfrm>
          <a:prstGeom prst="roundRect">
            <a:avLst>
              <a:gd name="adj" fmla="val 15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5" name="Text 2"/>
          <p:cNvSpPr txBox="1"/>
          <p:nvPr/>
        </p:nvSpPr>
        <p:spPr>
          <a:xfrm>
            <a:off x="822960" y="5577840"/>
            <a:ext cx="10515600" cy="640080"/>
          </a:xfrm>
          <a:prstGeom prst="rect">
            <a:avLst/>
          </a:prstGeom>
          <a:noFill/>
          <a:ln/>
        </p:spPr>
        <p:txBody>
          <a:bodyPr wrap="square" lIns="0" tIns="0" rIns="0" bIns="0" rtlCol="0" anchor="ctr"/>
          <a:lstStyle/>
          <a:p>
            <a:pPr rtl="1" algn="r" indent="0" marL="0">
              <a:buNone/>
            </a:pPr>
            <a:r>
              <a:rPr lang="he-IL" altLang="en-US" sz="1350" b="1" dirty="0">
                <a:solidFill>
                  <a:srgbClr val="14213D"/>
                </a:solidFill>
                <a:latin typeface="Arial" pitchFamily="34" charset="0"/>
                <a:ea typeface="Arial" pitchFamily="34" charset="-122"/>
                <a:cs typeface="Arial" pitchFamily="34" charset="-120"/>
              </a:rPr>
              <a:t>מתחבר ל"שלושת סלי הכלים" מהקורס (דבדבני דקל, 2026א): התפתחות = שלב 2, זהות מקצועית ורשת אנשים = שלב 3</a:t>
            </a:r>
            <a:endParaRPr lang="he-IL" sz="1350" dirty="0"/>
          </a:p>
        </p:txBody>
      </p:sp>
      <p:sp>
        <p:nvSpPr>
          <p:cNvPr id="6" name="Text 3"/>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7" name="Text 4"/>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13</a:t>
            </a:r>
            <a:endParaRPr lang="he-IL"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A"/>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הפעלה (2 דקות בזוגות): קיבלתם תרחיש, מלאו את המפה</a:t>
            </a:r>
            <a:endParaRPr lang="he-IL" sz="3000" dirty="0"/>
          </a:p>
        </p:txBody>
      </p:sp>
      <p:sp>
        <p:nvSpPr>
          <p:cNvPr id="3" name="Shape 1"/>
          <p:cNvSpPr/>
          <p:nvPr/>
        </p:nvSpPr>
        <p:spPr>
          <a:xfrm>
            <a:off x="8074152" y="1371600"/>
            <a:ext cx="3566160" cy="2331720"/>
          </a:xfrm>
          <a:prstGeom prst="roundRect">
            <a:avLst>
              <a:gd name="adj" fmla="val 4706"/>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4" name="Shape 2"/>
          <p:cNvSpPr/>
          <p:nvPr/>
        </p:nvSpPr>
        <p:spPr>
          <a:xfrm>
            <a:off x="8302752" y="1600200"/>
            <a:ext cx="1463040" cy="457200"/>
          </a:xfrm>
          <a:prstGeom prst="roundRect">
            <a:avLst>
              <a:gd name="adj" fmla="val 20000"/>
            </a:avLst>
          </a:prstGeom>
          <a:solidFill>
            <a:srgbClr val="E76F51"/>
          </a:solidFill>
          <a:ln w="12700">
            <a:solidFill>
              <a:srgbClr val="E76F51"/>
            </a:solidFill>
            <a:prstDash val="solid"/>
          </a:ln>
        </p:spPr>
      </p:sp>
      <p:sp>
        <p:nvSpPr>
          <p:cNvPr id="5" name="Text 3"/>
          <p:cNvSpPr txBox="1"/>
          <p:nvPr/>
        </p:nvSpPr>
        <p:spPr>
          <a:xfrm>
            <a:off x="8302752" y="1600200"/>
            <a:ext cx="1463040" cy="457200"/>
          </a:xfrm>
          <a:prstGeom prst="rect">
            <a:avLst/>
          </a:prstGeom>
          <a:noFill/>
          <a:ln/>
        </p:spPr>
        <p:txBody>
          <a:bodyPr wrap="square" lIns="0" tIns="0" rIns="0" bIns="0" rtlCol="0" anchor="ctr"/>
          <a:lstStyle/>
          <a:p>
            <a:pPr rtl="1" algn="ctr" indent="0" marL="0">
              <a:buNone/>
            </a:pPr>
            <a:r>
              <a:rPr lang="he-IL" altLang="en-US" sz="1400" b="1" dirty="0">
                <a:solidFill>
                  <a:srgbClr val="FFFFFF"/>
                </a:solidFill>
                <a:latin typeface="Arial" pitchFamily="34" charset="0"/>
                <a:ea typeface="Arial" pitchFamily="34" charset="-122"/>
                <a:cs typeface="Arial" pitchFamily="34" charset="-120"/>
              </a:rPr>
              <a:t>תרחיש א</a:t>
            </a:r>
            <a:endParaRPr lang="he-IL" sz="1400" dirty="0"/>
          </a:p>
        </p:txBody>
      </p:sp>
      <p:sp>
        <p:nvSpPr>
          <p:cNvPr id="6" name="Text 4"/>
          <p:cNvSpPr txBox="1"/>
          <p:nvPr/>
        </p:nvSpPr>
        <p:spPr>
          <a:xfrm>
            <a:off x="8302752" y="2240280"/>
            <a:ext cx="3108960" cy="1371600"/>
          </a:xfrm>
          <a:prstGeom prst="rect">
            <a:avLst/>
          </a:prstGeom>
          <a:noFill/>
          <a:ln/>
        </p:spPr>
        <p:txBody>
          <a:bodyPr wrap="square" lIns="0" tIns="0" rIns="0" bIns="0" rtlCol="0" anchor="t"/>
          <a:lstStyle/>
          <a:p>
            <a:pPr rtl="1" algn="r" indent="0" marL="0">
              <a:buNone/>
            </a:pPr>
            <a:r>
              <a:rPr lang="he-IL" altLang="en-US" sz="1350" dirty="0">
                <a:solidFill>
                  <a:srgbClr val="1F2937"/>
                </a:solidFill>
                <a:latin typeface="Arial" pitchFamily="34" charset="0"/>
                <a:ea typeface="Arial" pitchFamily="34" charset="-122"/>
                <a:cs typeface="Arial" pitchFamily="34" charset="-120"/>
              </a:rPr>
              <a:t>מייל מהמנכ"ל: "התייעלות של 15% ברבעון הקרוב". אין פרטים נוספים. מה תעשו השבוע?</a:t>
            </a:r>
            <a:endParaRPr lang="he-IL" sz="1350" dirty="0"/>
          </a:p>
        </p:txBody>
      </p:sp>
      <p:sp>
        <p:nvSpPr>
          <p:cNvPr id="7" name="Shape 5"/>
          <p:cNvSpPr/>
          <p:nvPr/>
        </p:nvSpPr>
        <p:spPr>
          <a:xfrm>
            <a:off x="4311396" y="1371600"/>
            <a:ext cx="3566160" cy="2331720"/>
          </a:xfrm>
          <a:prstGeom prst="roundRect">
            <a:avLst>
              <a:gd name="adj" fmla="val 4706"/>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8" name="Shape 6"/>
          <p:cNvSpPr/>
          <p:nvPr/>
        </p:nvSpPr>
        <p:spPr>
          <a:xfrm>
            <a:off x="4539996" y="1600200"/>
            <a:ext cx="1463040" cy="457200"/>
          </a:xfrm>
          <a:prstGeom prst="roundRect">
            <a:avLst>
              <a:gd name="adj" fmla="val 20000"/>
            </a:avLst>
          </a:prstGeom>
          <a:solidFill>
            <a:srgbClr val="D9822B"/>
          </a:solidFill>
          <a:ln w="12700">
            <a:solidFill>
              <a:srgbClr val="D9822B"/>
            </a:solidFill>
            <a:prstDash val="solid"/>
          </a:ln>
        </p:spPr>
      </p:sp>
      <p:sp>
        <p:nvSpPr>
          <p:cNvPr id="9" name="Text 7"/>
          <p:cNvSpPr txBox="1"/>
          <p:nvPr/>
        </p:nvSpPr>
        <p:spPr>
          <a:xfrm>
            <a:off x="4539996" y="1600200"/>
            <a:ext cx="1463040" cy="457200"/>
          </a:xfrm>
          <a:prstGeom prst="rect">
            <a:avLst/>
          </a:prstGeom>
          <a:noFill/>
          <a:ln/>
        </p:spPr>
        <p:txBody>
          <a:bodyPr wrap="square" lIns="0" tIns="0" rIns="0" bIns="0" rtlCol="0" anchor="ctr"/>
          <a:lstStyle/>
          <a:p>
            <a:pPr rtl="1" algn="ctr" indent="0" marL="0">
              <a:buNone/>
            </a:pPr>
            <a:r>
              <a:rPr lang="he-IL" altLang="en-US" sz="1400" b="1" dirty="0">
                <a:solidFill>
                  <a:srgbClr val="FFFFFF"/>
                </a:solidFill>
                <a:latin typeface="Arial" pitchFamily="34" charset="0"/>
                <a:ea typeface="Arial" pitchFamily="34" charset="-122"/>
                <a:cs typeface="Arial" pitchFamily="34" charset="-120"/>
              </a:rPr>
              <a:t>תרחיש ב</a:t>
            </a:r>
            <a:endParaRPr lang="he-IL" sz="1400" dirty="0"/>
          </a:p>
        </p:txBody>
      </p:sp>
      <p:sp>
        <p:nvSpPr>
          <p:cNvPr id="10" name="Text 8"/>
          <p:cNvSpPr txBox="1"/>
          <p:nvPr/>
        </p:nvSpPr>
        <p:spPr>
          <a:xfrm>
            <a:off x="4539996" y="2240280"/>
            <a:ext cx="3108960" cy="1371600"/>
          </a:xfrm>
          <a:prstGeom prst="rect">
            <a:avLst/>
          </a:prstGeom>
          <a:noFill/>
          <a:ln/>
        </p:spPr>
        <p:txBody>
          <a:bodyPr wrap="square" lIns="0" tIns="0" rIns="0" bIns="0" rtlCol="0" anchor="t"/>
          <a:lstStyle/>
          <a:p>
            <a:pPr rtl="1" algn="r" indent="0" marL="0">
              <a:buNone/>
            </a:pPr>
            <a:r>
              <a:rPr lang="he-IL" altLang="en-US" sz="1350" dirty="0">
                <a:solidFill>
                  <a:srgbClr val="1F2937"/>
                </a:solidFill>
                <a:latin typeface="Arial" pitchFamily="34" charset="0"/>
                <a:ea typeface="Arial" pitchFamily="34" charset="-122"/>
                <a:cs typeface="Arial" pitchFamily="34" charset="-120"/>
              </a:rPr>
              <a:t>הארגון הודיע שמערכת AI תטפל ב-60% מהפניות. התפקיד נשאר, התוכן משתנה. איך תגיבו?</a:t>
            </a:r>
            <a:endParaRPr lang="he-IL" sz="1350" dirty="0"/>
          </a:p>
        </p:txBody>
      </p:sp>
      <p:sp>
        <p:nvSpPr>
          <p:cNvPr id="11" name="Shape 9"/>
          <p:cNvSpPr/>
          <p:nvPr/>
        </p:nvSpPr>
        <p:spPr>
          <a:xfrm>
            <a:off x="548640" y="1371600"/>
            <a:ext cx="3566160" cy="2331720"/>
          </a:xfrm>
          <a:prstGeom prst="roundRect">
            <a:avLst>
              <a:gd name="adj" fmla="val 4706"/>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2" name="Shape 10"/>
          <p:cNvSpPr/>
          <p:nvPr/>
        </p:nvSpPr>
        <p:spPr>
          <a:xfrm>
            <a:off x="777240" y="1600200"/>
            <a:ext cx="1463040" cy="457200"/>
          </a:xfrm>
          <a:prstGeom prst="roundRect">
            <a:avLst>
              <a:gd name="adj" fmla="val 20000"/>
            </a:avLst>
          </a:prstGeom>
          <a:solidFill>
            <a:srgbClr val="2A9D8F"/>
          </a:solidFill>
          <a:ln w="12700">
            <a:solidFill>
              <a:srgbClr val="2A9D8F"/>
            </a:solidFill>
            <a:prstDash val="solid"/>
          </a:ln>
        </p:spPr>
      </p:sp>
      <p:sp>
        <p:nvSpPr>
          <p:cNvPr id="13" name="Text 11"/>
          <p:cNvSpPr txBox="1"/>
          <p:nvPr/>
        </p:nvSpPr>
        <p:spPr>
          <a:xfrm>
            <a:off x="777240" y="1600200"/>
            <a:ext cx="1463040" cy="457200"/>
          </a:xfrm>
          <a:prstGeom prst="rect">
            <a:avLst/>
          </a:prstGeom>
          <a:noFill/>
          <a:ln/>
        </p:spPr>
        <p:txBody>
          <a:bodyPr wrap="square" lIns="0" tIns="0" rIns="0" bIns="0" rtlCol="0" anchor="ctr"/>
          <a:lstStyle/>
          <a:p>
            <a:pPr rtl="1" algn="ctr" indent="0" marL="0">
              <a:buNone/>
            </a:pPr>
            <a:r>
              <a:rPr lang="he-IL" altLang="en-US" sz="1400" b="1" dirty="0">
                <a:solidFill>
                  <a:srgbClr val="FFFFFF"/>
                </a:solidFill>
                <a:latin typeface="Arial" pitchFamily="34" charset="0"/>
                <a:ea typeface="Arial" pitchFamily="34" charset="-122"/>
                <a:cs typeface="Arial" pitchFamily="34" charset="-120"/>
              </a:rPr>
              <a:t>תרחיש ג</a:t>
            </a:r>
            <a:endParaRPr lang="he-IL" sz="1400" dirty="0"/>
          </a:p>
        </p:txBody>
      </p:sp>
      <p:sp>
        <p:nvSpPr>
          <p:cNvPr id="14" name="Text 12"/>
          <p:cNvSpPr txBox="1"/>
          <p:nvPr/>
        </p:nvSpPr>
        <p:spPr>
          <a:xfrm>
            <a:off x="777240" y="2240280"/>
            <a:ext cx="3108960" cy="1371600"/>
          </a:xfrm>
          <a:prstGeom prst="rect">
            <a:avLst/>
          </a:prstGeom>
          <a:noFill/>
          <a:ln/>
        </p:spPr>
        <p:txBody>
          <a:bodyPr wrap="square" lIns="0" tIns="0" rIns="0" bIns="0" rtlCol="0" anchor="t"/>
          <a:lstStyle/>
          <a:p>
            <a:pPr rtl="1" algn="r" indent="0" marL="0">
              <a:buNone/>
            </a:pPr>
            <a:r>
              <a:rPr lang="he-IL" altLang="en-US" sz="1350" dirty="0">
                <a:solidFill>
                  <a:srgbClr val="1F2937"/>
                </a:solidFill>
                <a:latin typeface="Arial" pitchFamily="34" charset="0"/>
                <a:ea typeface="Arial" pitchFamily="34" charset="-122"/>
                <a:cs typeface="Arial" pitchFamily="34" charset="-120"/>
              </a:rPr>
              <a:t>אתם עצמאיים. הלקוח הגדול (40% מההכנסה) מקפיא פרויקטים "עד שהמצב יתבהר". מה הצעד הראשון?</a:t>
            </a:r>
            <a:endParaRPr lang="he-IL" sz="1350" dirty="0"/>
          </a:p>
        </p:txBody>
      </p:sp>
      <p:sp>
        <p:nvSpPr>
          <p:cNvPr id="15" name="Shape 13"/>
          <p:cNvSpPr/>
          <p:nvPr/>
        </p:nvSpPr>
        <p:spPr>
          <a:xfrm>
            <a:off x="548640" y="3931920"/>
            <a:ext cx="11091672" cy="2331720"/>
          </a:xfrm>
          <a:prstGeom prst="roundRect">
            <a:avLst>
              <a:gd name="adj" fmla="val 4706"/>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16" name="Text 14"/>
          <p:cNvSpPr txBox="1"/>
          <p:nvPr/>
        </p:nvSpPr>
        <p:spPr>
          <a:xfrm>
            <a:off x="822960" y="4023360"/>
            <a:ext cx="10515600" cy="411480"/>
          </a:xfrm>
          <a:prstGeom prst="rect">
            <a:avLst/>
          </a:prstGeom>
          <a:noFill/>
          <a:ln/>
        </p:spPr>
        <p:txBody>
          <a:bodyPr wrap="square" lIns="0" tIns="0" rIns="0" bIns="0" rtlCol="0" anchor="t"/>
          <a:lstStyle/>
          <a:p>
            <a:pPr rtl="1" algn="r" indent="0" marL="0">
              <a:buNone/>
            </a:pPr>
            <a:r>
              <a:rPr lang="he-IL" altLang="en-US" sz="1700" b="1" dirty="0">
                <a:solidFill>
                  <a:srgbClr val="FCA311"/>
                </a:solidFill>
                <a:latin typeface="Arial" pitchFamily="34" charset="0"/>
                <a:ea typeface="Arial" pitchFamily="34" charset="-122"/>
                <a:cs typeface="Arial" pitchFamily="34" charset="-120"/>
              </a:rPr>
              <a:t>שלוש שאלות, 40 שניות לכל אחת:</a:t>
            </a:r>
            <a:endParaRPr lang="he-IL" sz="1700" dirty="0"/>
          </a:p>
        </p:txBody>
      </p:sp>
      <p:sp>
        <p:nvSpPr>
          <p:cNvPr id="17" name="Shape 15"/>
          <p:cNvSpPr/>
          <p:nvPr/>
        </p:nvSpPr>
        <p:spPr>
          <a:xfrm>
            <a:off x="10835640" y="4572000"/>
            <a:ext cx="411480" cy="411480"/>
          </a:xfrm>
          <a:prstGeom prst="ellipse">
            <a:avLst/>
          </a:prstGeom>
          <a:solidFill>
            <a:srgbClr val="FCA311"/>
          </a:solidFill>
          <a:ln w="12700">
            <a:solidFill>
              <a:srgbClr val="FCA311"/>
            </a:solidFill>
            <a:prstDash val="solid"/>
          </a:ln>
        </p:spPr>
      </p:sp>
      <p:sp>
        <p:nvSpPr>
          <p:cNvPr id="18" name="Text 16"/>
          <p:cNvSpPr txBox="1"/>
          <p:nvPr/>
        </p:nvSpPr>
        <p:spPr>
          <a:xfrm>
            <a:off x="10835640" y="457200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1</a:t>
            </a:r>
            <a:endParaRPr lang="en-US" sz="1400" dirty="0"/>
          </a:p>
        </p:txBody>
      </p:sp>
      <p:sp>
        <p:nvSpPr>
          <p:cNvPr id="19" name="Text 17"/>
          <p:cNvSpPr txBox="1"/>
          <p:nvPr/>
        </p:nvSpPr>
        <p:spPr>
          <a:xfrm>
            <a:off x="822960" y="452628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מה האיום בפועל, כמותי או איכותני? ומה בשליטתי?</a:t>
            </a:r>
            <a:endParaRPr lang="he-IL" sz="1500" dirty="0"/>
          </a:p>
        </p:txBody>
      </p:sp>
      <p:sp>
        <p:nvSpPr>
          <p:cNvPr id="20" name="Shape 18"/>
          <p:cNvSpPr/>
          <p:nvPr/>
        </p:nvSpPr>
        <p:spPr>
          <a:xfrm>
            <a:off x="10835640" y="5120640"/>
            <a:ext cx="411480" cy="411480"/>
          </a:xfrm>
          <a:prstGeom prst="ellipse">
            <a:avLst/>
          </a:prstGeom>
          <a:solidFill>
            <a:srgbClr val="FCA311"/>
          </a:solidFill>
          <a:ln w="12700">
            <a:solidFill>
              <a:srgbClr val="FCA311"/>
            </a:solidFill>
            <a:prstDash val="solid"/>
          </a:ln>
        </p:spPr>
      </p:sp>
      <p:sp>
        <p:nvSpPr>
          <p:cNvPr id="21" name="Text 19"/>
          <p:cNvSpPr txBox="1"/>
          <p:nvPr/>
        </p:nvSpPr>
        <p:spPr>
          <a:xfrm>
            <a:off x="10835640" y="512064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2</a:t>
            </a:r>
            <a:endParaRPr lang="en-US" sz="1400" dirty="0"/>
          </a:p>
        </p:txBody>
      </p:sp>
      <p:sp>
        <p:nvSpPr>
          <p:cNvPr id="22" name="Text 20"/>
          <p:cNvSpPr txBox="1"/>
          <p:nvPr/>
        </p:nvSpPr>
        <p:spPr>
          <a:xfrm>
            <a:off x="822960" y="507492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התגובה הראשונה שלי: בריחה, הסתרה או התפתחות?</a:t>
            </a:r>
            <a:endParaRPr lang="he-IL" sz="1500" dirty="0"/>
          </a:p>
        </p:txBody>
      </p:sp>
      <p:sp>
        <p:nvSpPr>
          <p:cNvPr id="23" name="Shape 21"/>
          <p:cNvSpPr/>
          <p:nvPr/>
        </p:nvSpPr>
        <p:spPr>
          <a:xfrm>
            <a:off x="10835640" y="5669280"/>
            <a:ext cx="411480" cy="411480"/>
          </a:xfrm>
          <a:prstGeom prst="ellipse">
            <a:avLst/>
          </a:prstGeom>
          <a:solidFill>
            <a:srgbClr val="FCA311"/>
          </a:solidFill>
          <a:ln w="12700">
            <a:solidFill>
              <a:srgbClr val="FCA311"/>
            </a:solidFill>
            <a:prstDash val="solid"/>
          </a:ln>
        </p:spPr>
      </p:sp>
      <p:sp>
        <p:nvSpPr>
          <p:cNvPr id="24" name="Text 22"/>
          <p:cNvSpPr txBox="1"/>
          <p:nvPr/>
        </p:nvSpPr>
        <p:spPr>
          <a:xfrm>
            <a:off x="10835640" y="566928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3</a:t>
            </a:r>
            <a:endParaRPr lang="en-US" sz="1400" dirty="0"/>
          </a:p>
        </p:txBody>
      </p:sp>
      <p:sp>
        <p:nvSpPr>
          <p:cNvPr id="25" name="Text 23"/>
          <p:cNvSpPr txBox="1"/>
          <p:nvPr/>
        </p:nvSpPr>
        <p:spPr>
          <a:xfrm>
            <a:off x="822960" y="562356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איזו פעולה אחת של פיתוח מיומנויות אעשה כבר השבוע?</a:t>
            </a:r>
            <a:endParaRPr lang="he-IL" sz="1500" dirty="0"/>
          </a:p>
        </p:txBody>
      </p:sp>
      <p:sp>
        <p:nvSpPr>
          <p:cNvPr id="26" name="Text 2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7" name="Text 2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14</a:t>
            </a:r>
            <a:endParaRPr lang="he-IL"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1645920" y="-1645920"/>
            <a:ext cx="4114800" cy="4114800"/>
          </a:xfrm>
          <a:prstGeom prst="ellipse">
            <a:avLst/>
          </a:prstGeom>
          <a:solidFill>
            <a:srgbClr val="1D2E52"/>
          </a:solidFill>
          <a:ln w="12700">
            <a:solidFill>
              <a:srgbClr val="1D2E52"/>
            </a:solidFill>
            <a:prstDash val="solid"/>
          </a:ln>
        </p:spPr>
      </p:sp>
      <p:sp>
        <p:nvSpPr>
          <p:cNvPr id="3" name="Text 1"/>
          <p:cNvSpPr txBox="1"/>
          <p:nvPr/>
        </p:nvSpPr>
        <p:spPr>
          <a:xfrm>
            <a:off x="731520" y="548640"/>
            <a:ext cx="10698480" cy="640080"/>
          </a:xfrm>
          <a:prstGeom prst="rect">
            <a:avLst/>
          </a:prstGeom>
          <a:noFill/>
          <a:ln/>
        </p:spPr>
        <p:txBody>
          <a:bodyPr wrap="square" lIns="0" tIns="0" rIns="0" bIns="0" rtlCol="0" anchor="t"/>
          <a:lstStyle/>
          <a:p>
            <a:pPr rtl="1" algn="r" indent="0" marL="0">
              <a:buNone/>
            </a:pPr>
            <a:r>
              <a:rPr lang="he-IL" altLang="en-US" sz="2000" dirty="0">
                <a:solidFill>
                  <a:srgbClr val="CAD3E5"/>
                </a:solidFill>
                <a:latin typeface="Arial" pitchFamily="34" charset="0"/>
                <a:ea typeface="Arial" pitchFamily="34" charset="-122"/>
                <a:cs typeface="Arial" pitchFamily="34" charset="-120"/>
              </a:rPr>
              <a:t>המסר שלנו לכיתה</a:t>
            </a:r>
            <a:endParaRPr lang="he-IL" sz="2000" dirty="0"/>
          </a:p>
        </p:txBody>
      </p:sp>
      <p:sp>
        <p:nvSpPr>
          <p:cNvPr id="4" name="Text 2"/>
          <p:cNvSpPr txBox="1"/>
          <p:nvPr/>
        </p:nvSpPr>
        <p:spPr>
          <a:xfrm>
            <a:off x="731520" y="1188720"/>
            <a:ext cx="10698480" cy="1737360"/>
          </a:xfrm>
          <a:prstGeom prst="rect">
            <a:avLst/>
          </a:prstGeom>
          <a:noFill/>
          <a:ln/>
        </p:spPr>
        <p:txBody>
          <a:bodyPr wrap="square" lIns="0" tIns="0" rIns="0" bIns="0" rtlCol="0" anchor="ctr"/>
          <a:lstStyle/>
          <a:p>
            <a:pPr rtl="1" algn="r" indent="0" marL="0">
              <a:buNone/>
            </a:pPr>
            <a:r>
              <a:rPr lang="he-IL" altLang="en-US" sz="3200" b="1" dirty="0">
                <a:solidFill>
                  <a:srgbClr val="FFFFFF"/>
                </a:solidFill>
                <a:latin typeface="Arial" pitchFamily="34" charset="0"/>
                <a:ea typeface="Arial" pitchFamily="34" charset="-122"/>
                <a:cs typeface="Arial" pitchFamily="34" charset="-120"/>
              </a:rPr>
              <a:t>הפחד לא יעשה אותנו טובים יותר.</a:t>
            </a:r>
            <a:endParaRPr lang="he-IL" sz="3200" dirty="0"/>
          </a:p>
          <a:p>
            <a:pPr rtl="1" algn="r" indent="0" marL="0">
              <a:buNone/>
            </a:pPr>
            <a:r>
              <a:rPr lang="he-IL" altLang="en-US" sz="3200" b="1" dirty="0">
                <a:solidFill>
                  <a:srgbClr val="FFFFFF"/>
                </a:solidFill>
                <a:latin typeface="Arial" pitchFamily="34" charset="0"/>
                <a:ea typeface="Arial" pitchFamily="34" charset="-122"/>
                <a:cs typeface="Arial" pitchFamily="34" charset="-120"/>
              </a:rPr>
              <a:t>את הכרית שמאפשרת להתפתח תחת איום בונים לפני שצריכים אותה.</a:t>
            </a:r>
            <a:endParaRPr lang="he-IL" sz="3200" dirty="0"/>
          </a:p>
        </p:txBody>
      </p:sp>
      <p:sp>
        <p:nvSpPr>
          <p:cNvPr id="5" name="Shape 3"/>
          <p:cNvSpPr/>
          <p:nvPr/>
        </p:nvSpPr>
        <p:spPr>
          <a:xfrm>
            <a:off x="8028432"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6" name="Shape 4"/>
          <p:cNvSpPr/>
          <p:nvPr/>
        </p:nvSpPr>
        <p:spPr>
          <a:xfrm>
            <a:off x="10680192" y="3520440"/>
            <a:ext cx="502920" cy="502920"/>
          </a:xfrm>
          <a:prstGeom prst="ellipse">
            <a:avLst/>
          </a:prstGeom>
          <a:solidFill>
            <a:srgbClr val="FCA311"/>
          </a:solidFill>
          <a:ln w="12700">
            <a:solidFill>
              <a:srgbClr val="FCA311"/>
            </a:solidFill>
            <a:prstDash val="solid"/>
          </a:ln>
        </p:spPr>
      </p:sp>
      <p:sp>
        <p:nvSpPr>
          <p:cNvPr id="7" name="Text 5"/>
          <p:cNvSpPr txBox="1"/>
          <p:nvPr/>
        </p:nvSpPr>
        <p:spPr>
          <a:xfrm>
            <a:off x="10680192"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8257032" y="3520440"/>
            <a:ext cx="2331720" cy="502920"/>
          </a:xfrm>
          <a:prstGeom prst="rect">
            <a:avLst/>
          </a:prstGeom>
          <a:noFill/>
          <a:ln/>
        </p:spPr>
        <p:txBody>
          <a:bodyPr wrap="square" lIns="0" tIns="0" rIns="0" bIns="0" rtlCol="0" anchor="ctr"/>
          <a:lstStyle/>
          <a:p>
            <a:pPr rtl="1" algn="r" indent="0" marL="0">
              <a:buNone/>
            </a:pPr>
            <a:r>
              <a:rPr lang="he-IL" altLang="en-US" sz="1700" b="1" dirty="0">
                <a:solidFill>
                  <a:srgbClr val="FCA311"/>
                </a:solidFill>
                <a:latin typeface="Arial" pitchFamily="34" charset="0"/>
                <a:ea typeface="Arial" pitchFamily="34" charset="-122"/>
                <a:cs typeface="Arial" pitchFamily="34" charset="-120"/>
              </a:rPr>
              <a:t>הלאה, לא למעלה</a:t>
            </a:r>
            <a:endParaRPr lang="he-IL" sz="1700" dirty="0"/>
          </a:p>
        </p:txBody>
      </p:sp>
      <p:sp>
        <p:nvSpPr>
          <p:cNvPr id="9" name="Text 7"/>
          <p:cNvSpPr txBox="1"/>
          <p:nvPr/>
        </p:nvSpPr>
        <p:spPr>
          <a:xfrm>
            <a:off x="8257032"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237 מחקרים: חוסר ביטחון מגביר בריחה והסתרת ידע, ומקטין פיתוח מיומנויות ויכולת תעסוקה</a:t>
            </a:r>
            <a:endParaRPr lang="he-IL" sz="1300" dirty="0"/>
          </a:p>
        </p:txBody>
      </p:sp>
      <p:sp>
        <p:nvSpPr>
          <p:cNvPr id="10" name="Shape 8"/>
          <p:cNvSpPr/>
          <p:nvPr/>
        </p:nvSpPr>
        <p:spPr>
          <a:xfrm>
            <a:off x="4398264"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1" name="Shape 9"/>
          <p:cNvSpPr/>
          <p:nvPr/>
        </p:nvSpPr>
        <p:spPr>
          <a:xfrm>
            <a:off x="7050024" y="3520440"/>
            <a:ext cx="502920" cy="502920"/>
          </a:xfrm>
          <a:prstGeom prst="ellipse">
            <a:avLst/>
          </a:prstGeom>
          <a:solidFill>
            <a:srgbClr val="FCA311"/>
          </a:solidFill>
          <a:ln w="12700">
            <a:solidFill>
              <a:srgbClr val="FCA311"/>
            </a:solidFill>
            <a:prstDash val="solid"/>
          </a:ln>
        </p:spPr>
      </p:sp>
      <p:sp>
        <p:nvSpPr>
          <p:cNvPr id="12" name="Text 10"/>
          <p:cNvSpPr txBox="1"/>
          <p:nvPr/>
        </p:nvSpPr>
        <p:spPr>
          <a:xfrm>
            <a:off x="7050024"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2</a:t>
            </a:r>
            <a:endParaRPr lang="en-US" sz="1800" dirty="0"/>
          </a:p>
        </p:txBody>
      </p:sp>
      <p:sp>
        <p:nvSpPr>
          <p:cNvPr id="13" name="Text 11"/>
          <p:cNvSpPr txBox="1"/>
          <p:nvPr/>
        </p:nvSpPr>
        <p:spPr>
          <a:xfrm>
            <a:off x="4626864" y="3520440"/>
            <a:ext cx="2331720" cy="502920"/>
          </a:xfrm>
          <a:prstGeom prst="rect">
            <a:avLst/>
          </a:prstGeom>
          <a:noFill/>
          <a:ln/>
        </p:spPr>
        <p:txBody>
          <a:bodyPr wrap="square" lIns="0" tIns="0" rIns="0" bIns="0" rtlCol="0" anchor="ctr"/>
          <a:lstStyle/>
          <a:p>
            <a:pPr rtl="1" algn="r" indent="0" marL="0">
              <a:buNone/>
            </a:pPr>
            <a:r>
              <a:rPr lang="he-IL" altLang="en-US" sz="1700" b="1" dirty="0">
                <a:solidFill>
                  <a:srgbClr val="FCA311"/>
                </a:solidFill>
                <a:latin typeface="Arial" pitchFamily="34" charset="0"/>
                <a:ea typeface="Arial" pitchFamily="34" charset="-122"/>
                <a:cs typeface="Arial" pitchFamily="34" charset="-120"/>
              </a:rPr>
              <a:t>מעגל קסמים</a:t>
            </a:r>
            <a:endParaRPr lang="he-IL" sz="1700" dirty="0"/>
          </a:p>
        </p:txBody>
      </p:sp>
      <p:sp>
        <p:nvSpPr>
          <p:cNvPr id="14" name="Text 12"/>
          <p:cNvSpPr txBox="1"/>
          <p:nvPr/>
        </p:nvSpPr>
        <p:spPr>
          <a:xfrm>
            <a:off x="4626864"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האיום מדלדל בדיוק את המשאבים שמגנים מפניו. שוברים אותו מראש: יעד למידה שנתי, מיומנויות AI, קרן חירום</a:t>
            </a:r>
            <a:endParaRPr lang="he-IL" sz="1300" dirty="0"/>
          </a:p>
        </p:txBody>
      </p:sp>
      <p:sp>
        <p:nvSpPr>
          <p:cNvPr id="15" name="Shape 13"/>
          <p:cNvSpPr/>
          <p:nvPr/>
        </p:nvSpPr>
        <p:spPr>
          <a:xfrm>
            <a:off x="768096"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6" name="Shape 14"/>
          <p:cNvSpPr/>
          <p:nvPr/>
        </p:nvSpPr>
        <p:spPr>
          <a:xfrm>
            <a:off x="3419856" y="3520440"/>
            <a:ext cx="502920" cy="502920"/>
          </a:xfrm>
          <a:prstGeom prst="ellipse">
            <a:avLst/>
          </a:prstGeom>
          <a:solidFill>
            <a:srgbClr val="FCA311"/>
          </a:solidFill>
          <a:ln w="12700">
            <a:solidFill>
              <a:srgbClr val="FCA311"/>
            </a:solidFill>
            <a:prstDash val="solid"/>
          </a:ln>
        </p:spPr>
      </p:sp>
      <p:sp>
        <p:nvSpPr>
          <p:cNvPr id="17" name="Text 15"/>
          <p:cNvSpPr txBox="1"/>
          <p:nvPr/>
        </p:nvSpPr>
        <p:spPr>
          <a:xfrm>
            <a:off x="3419856"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3</a:t>
            </a:r>
            <a:endParaRPr lang="en-US" sz="1800" dirty="0"/>
          </a:p>
        </p:txBody>
      </p:sp>
      <p:sp>
        <p:nvSpPr>
          <p:cNvPr id="18" name="Text 16"/>
          <p:cNvSpPr txBox="1"/>
          <p:nvPr/>
        </p:nvSpPr>
        <p:spPr>
          <a:xfrm>
            <a:off x="996696" y="3520440"/>
            <a:ext cx="2331720" cy="502920"/>
          </a:xfrm>
          <a:prstGeom prst="rect">
            <a:avLst/>
          </a:prstGeom>
          <a:noFill/>
          <a:ln/>
        </p:spPr>
        <p:txBody>
          <a:bodyPr wrap="square" lIns="0" tIns="0" rIns="0" bIns="0" rtlCol="0" anchor="ctr"/>
          <a:lstStyle/>
          <a:p>
            <a:pPr rtl="1" algn="r" indent="0" marL="0">
              <a:buNone/>
            </a:pPr>
            <a:r>
              <a:rPr lang="he-IL" altLang="en-US" sz="1700" b="1" dirty="0">
                <a:solidFill>
                  <a:srgbClr val="FCA311"/>
                </a:solidFill>
                <a:latin typeface="Arial" pitchFamily="34" charset="0"/>
                <a:ea typeface="Arial" pitchFamily="34" charset="-122"/>
                <a:cs typeface="Arial" pitchFamily="34" charset="-120"/>
              </a:rPr>
              <a:t>חוסן קריירה</a:t>
            </a:r>
            <a:endParaRPr lang="he-IL" sz="1700" dirty="0"/>
          </a:p>
        </p:txBody>
      </p:sp>
      <p:sp>
        <p:nvSpPr>
          <p:cNvPr id="19" name="Text 17"/>
          <p:cNvSpPr txBox="1"/>
          <p:nvPr/>
        </p:nvSpPr>
        <p:spPr>
          <a:xfrm>
            <a:off x="996696"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זהות מקצועית שלא תלויה בארגון, רשת תמיכה ושיתוף ידע מחלישים את הקשר בין האיום לחוסר הביטחון</a:t>
            </a:r>
            <a:endParaRPr lang="he-IL" sz="1300" dirty="0"/>
          </a:p>
        </p:txBody>
      </p:sp>
      <p:sp>
        <p:nvSpPr>
          <p:cNvPr id="20" name="Text 18"/>
          <p:cNvSpPr txBox="1"/>
          <p:nvPr/>
        </p:nvSpPr>
        <p:spPr>
          <a:xfrm>
            <a:off x="731520" y="5806440"/>
            <a:ext cx="10698480" cy="548640"/>
          </a:xfrm>
          <a:prstGeom prst="rect">
            <a:avLst/>
          </a:prstGeom>
          <a:noFill/>
          <a:ln/>
        </p:spPr>
        <p:txBody>
          <a:bodyPr wrap="square" lIns="0" tIns="0" rIns="0" bIns="0" rtlCol="0" anchor="t"/>
          <a:lstStyle/>
          <a:p>
            <a:pPr rtl="1" algn="r" indent="0" marL="0">
              <a:buNone/>
            </a:pPr>
            <a:r>
              <a:rPr lang="he-IL" altLang="en-US" sz="2200" b="1" dirty="0">
                <a:solidFill>
                  <a:srgbClr val="FFFFFF"/>
                </a:solidFill>
                <a:latin typeface="Arial" pitchFamily="34" charset="0"/>
                <a:ea typeface="Arial" pitchFamily="34" charset="-122"/>
                <a:cs typeface="Arial" pitchFamily="34" charset="-120"/>
              </a:rPr>
              <a:t>תודה! שאלות?</a:t>
            </a:r>
            <a:endParaRPr lang="he-IL" sz="2200" dirty="0"/>
          </a:p>
        </p:txBody>
      </p:sp>
      <p:sp>
        <p:nvSpPr>
          <p:cNvPr id="21" name="Text 1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A9B4C8"/>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2" name="Text 2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A9B4C8"/>
                </a:solidFill>
                <a:latin typeface="Arial" pitchFamily="34" charset="0"/>
                <a:ea typeface="Arial" pitchFamily="34" charset="-122"/>
                <a:cs typeface="Arial" pitchFamily="34" charset="-120"/>
              </a:rPr>
              <a:t>15</a:t>
            </a:r>
            <a:endParaRPr lang="he-IL"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רשימת מקורות (APA)</a:t>
            </a:r>
            <a:endParaRPr lang="he-IL" sz="3000" dirty="0"/>
          </a:p>
        </p:txBody>
      </p:sp>
      <p:sp>
        <p:nvSpPr>
          <p:cNvPr id="3" name="Text 1"/>
          <p:cNvSpPr txBox="1"/>
          <p:nvPr/>
        </p:nvSpPr>
        <p:spPr>
          <a:xfrm>
            <a:off x="548640" y="1188720"/>
            <a:ext cx="11091672" cy="3108960"/>
          </a:xfrm>
          <a:prstGeom prst="rect">
            <a:avLst/>
          </a:prstGeom>
          <a:noFill/>
          <a:ln/>
        </p:spPr>
        <p:txBody>
          <a:bodyPr wrap="square" lIns="0" tIns="0" rIns="0" bIns="0" rtlCol="0" anchor="t"/>
          <a:lstStyle/>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Hobfoll, S. E. (1989). Conservation of resources: A new attempt at conceptualizing stress. American Psychologist, 44(3), 513-524.</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Hone, L. (2019). 3 secrets of resilient people [Video]. TED Conferences. https://www.ted.com/talks/lucy_hone_the_three_secrets_of_resilient_people</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Låstad, L., Pienaar, J., Näswall, K., Richter, A., Hellgren, J., &amp; Sverke, M. (2025). Moving on up now? A meta-analysis of the associations between job insecurity and career-related outcomes. Scandinavian Journal of Work and Organizational Psychology, 10(1), Article 2. https://doi.org/10.16993/sjwop.275</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Shoss, M. K. (2017). Job insecurity: An integrative review and agenda for future research. Journal of Management, 43(6), 1911-1939. https://doi.org/10.1177/0149206317691574</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Sverke, M., Hellgren, J., &amp; Näswall, K. (2002). No security: A meta-analysis and review of job insecurity and its consequences. Journal of Occupational Health Psychology, 7(3), 242-264.</a:t>
            </a:r>
            <a:endParaRPr lang="en-US" sz="1100" dirty="0"/>
          </a:p>
        </p:txBody>
      </p:sp>
      <p:sp>
        <p:nvSpPr>
          <p:cNvPr id="4" name="Text 2"/>
          <p:cNvSpPr txBox="1"/>
          <p:nvPr/>
        </p:nvSpPr>
        <p:spPr>
          <a:xfrm>
            <a:off x="548640" y="4480560"/>
            <a:ext cx="11091672" cy="1828800"/>
          </a:xfrm>
          <a:prstGeom prst="rect">
            <a:avLst/>
          </a:prstGeom>
          <a:noFill/>
          <a:ln/>
        </p:spPr>
        <p:txBody>
          <a:bodyPr wrap="square" lIns="0" tIns="0" rIns="0" bIns="0" rtlCol="0" anchor="t"/>
          <a:lstStyle/>
          <a:p>
            <a:pPr algn="r" indent="0" marL="0">
              <a:spcAft>
                <a:spcPts val="500"/>
              </a:spcAft>
              <a:buNone/>
            </a:pPr>
            <a:r>
              <a:rPr lang="he-IL" altLang="en-US" sz="1100" dirty="0">
                <a:solidFill>
                  <a:srgbClr val="1F2937"/>
                </a:solidFill>
                <a:latin typeface="Arial" pitchFamily="34" charset="0"/>
                <a:ea typeface="Arial" pitchFamily="34" charset="-122"/>
                <a:cs typeface="Arial" pitchFamily="34" charset="-120"/>
              </a:rPr>
              <a:t>בנק ישראל. (2025, 11 במרץ). ההשפעה הצפויה של בינה מלאכותית יוצרת על העובדים: השלכות על המדיניות בשוק העבודה [תיבה מתוך דוח בנק ישראל לשנת 2024]. https://www.boi.org.il/publications/pressreleases/11-3-25/</a:t>
            </a:r>
            <a:endParaRPr lang="he-IL" sz="1100" dirty="0"/>
          </a:p>
          <a:p>
            <a:pPr algn="r" indent="0" marL="0">
              <a:spcAft>
                <a:spcPts val="500"/>
              </a:spcAft>
              <a:buNone/>
            </a:pPr>
            <a:r>
              <a:rPr lang="he-IL" altLang="en-US" sz="1100" dirty="0">
                <a:solidFill>
                  <a:srgbClr val="1F2937"/>
                </a:solidFill>
                <a:latin typeface="Arial" pitchFamily="34" charset="0"/>
                <a:ea typeface="Arial" pitchFamily="34" charset="-122"/>
                <a:cs typeface="Arial" pitchFamily="34" charset="-120"/>
              </a:rPr>
              <a:t>דבדבני דקל, מ' (2026א). מחזון ורעיון למציאות ממשית [מצגת הרצאה]. ניהול קריירה בארגונים, הקריה האקדמית אונו.</a:t>
            </a:r>
            <a:endParaRPr lang="he-IL" sz="1100" dirty="0"/>
          </a:p>
          <a:p>
            <a:pPr algn="r" indent="0" marL="0">
              <a:spcAft>
                <a:spcPts val="500"/>
              </a:spcAft>
              <a:buNone/>
            </a:pPr>
            <a:r>
              <a:rPr lang="he-IL" altLang="en-US" sz="1100" dirty="0">
                <a:solidFill>
                  <a:srgbClr val="1F2937"/>
                </a:solidFill>
                <a:latin typeface="Arial" pitchFamily="34" charset="0"/>
                <a:ea typeface="Arial" pitchFamily="34" charset="-122"/>
                <a:cs typeface="Arial" pitchFamily="34" charset="-120"/>
              </a:rPr>
              <a:t>דבדבני דקל, מ' (2026ב). עסקים בצל הקורונה: ממשבר להזדמנות, איך עושים את זה? [מצגת הרצאה]. ניהול קריירה בארגונים, הקריה האקדמית אונו.</a:t>
            </a:r>
            <a:endParaRPr lang="he-IL" sz="1100" dirty="0"/>
          </a:p>
          <a:p>
            <a:pPr algn="r" indent="0" marL="0">
              <a:buNone/>
            </a:pPr>
            <a:r>
              <a:rPr lang="he-IL" altLang="en-US" sz="1100" dirty="0">
                <a:solidFill>
                  <a:srgbClr val="1F2937"/>
                </a:solidFill>
                <a:latin typeface="Arial" pitchFamily="34" charset="0"/>
                <a:ea typeface="Arial" pitchFamily="34" charset="-122"/>
                <a:cs typeface="Arial" pitchFamily="34" charset="-120"/>
              </a:rPr>
              <a:t>הקשיים של מנהלי הייטק ב-2026: גיוס עובדים מתאימים והתייעלות AI. (2026, 21 ביוני). TheMarker.</a:t>
            </a:r>
            <a:endParaRPr lang="he-IL" sz="1100" dirty="0"/>
          </a:p>
        </p:txBody>
      </p:sp>
      <p:sp>
        <p:nvSpPr>
          <p:cNvPr id="5" name="Text 3"/>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6" name="Text 4"/>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16</a:t>
            </a:r>
            <a:endParaRPr lang="he-IL"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התמודדות עם חוסר ודאות תעסוקתי</dc:title>
  <dc:subject>PptxGenJS Presentation</dc:subject>
  <dc:creator>PptxGenJS</dc:creator>
  <cp:lastModifiedBy>PptxGenJS</cp:lastModifiedBy>
  <cp:revision>1</cp:revision>
  <dcterms:created xsi:type="dcterms:W3CDTF">2026-09-17T09:44:12Z</dcterms:created>
  <dcterms:modified xsi:type="dcterms:W3CDTF">2026-09-17T09:44:12Z</dcterms:modified>
</cp:coreProperties>
</file>