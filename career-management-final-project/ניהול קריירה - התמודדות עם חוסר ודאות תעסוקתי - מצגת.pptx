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מועסקים</c:v>
                </c:pt>
              </c:strCache>
            </c:strRef>
          </c:tx>
          <c:spPr>
            <a:solidFill>
              <a:schemeClr val="accent1"/>
            </a:solidFill>
            <a:ln w="9525" cap="flat">
              <a:solidFill>
                <a:srgbClr val="F9F9F9"/>
              </a:solidFill>
              <a:prstDash val="solid"/>
              <a:round/>
            </a:ln>
            <a:effectLst/>
          </c:spPr>
          <c:dPt>
            <c:idx val="0"/>
            <c:bubble3D val="0"/>
            <c:spPr>
              <a:solidFill>
                <a:srgbClr val="E76F51"/>
              </a:solidFill>
              <a:effectLst/>
            </c:spPr>
          </c:dPt>
          <c:dPt>
            <c:idx val="1"/>
            <c:bubble3D val="0"/>
            <c:spPr>
              <a:solidFill>
                <a:srgbClr val="CBD5E1"/>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מקצועות תחליפיים</c:v>
                </c:pt>
                <c:pt idx="1">
                  <c:v>שאר המקצועות</c:v>
                </c:pt>
              </c:strCache>
            </c:strRef>
          </c:cat>
          <c:val>
            <c:numRef>
              <c:f>Sheet1!$B$2:$B$3</c:f>
              <c:numCache>
                <c:ptCount val="2"/>
                <c:pt idx="0">
                  <c:v>20</c:v>
                </c:pt>
                <c:pt idx="1">
                  <c:v>80</c:v>
                </c:pt>
              </c:numCache>
            </c:numRef>
          </c:val>
        </c:ser>
        <c:firstSliceAng val="0"/>
        <c:holeSize val="55"/>
      </c:doughnutChart>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Arial"/>
              </a:defRPr>
            </a:pPr>
            <a:r>
              <a:rPr sz="1200" b="0" i="0" u="none" strike="noStrike">
                <a:solidFill>
                  <a:srgbClr val="14213D"/>
                </a:solidFill>
                <a:latin typeface="Arial"/>
              </a:rPr>
              <a:t>מקדם ניבוי מתוקנן (β) של רכיבי תחושת הקוהרנטיות בגל 2</a:t>
            </a:r>
          </a:p>
        </c:rich>
      </c:tx>
      <c:layout/>
      <c:overlay val="0"/>
    </c:title>
    <c:autoTitleDeleted val="0"/>
    <c:plotArea>
      <c:layout/>
      <c:barChart>
        <c:barDir val="col"/>
        <c:grouping val="clustered"/>
        <c:varyColors val="0"/>
        <c:ser>
          <c:idx val="0"/>
          <c:order val="0"/>
          <c:tx>
            <c:strRef>
              <c:f>Sheet1!$B$1</c:f>
              <c:strCache>
                <c:ptCount val="1"/>
                <c:pt idx="0">
                  <c:v>עיצוב לצרכי התקרבות</c:v>
                </c:pt>
              </c:strCache>
            </c:strRef>
          </c:tx>
          <c:spPr>
            <a:solidFill>
              <a:srgbClr val="2A9D8F"/>
            </a:solidFill>
            <a:effectLst/>
          </c:spPr>
          <c:invertIfNegative val="0"/>
          <c:dLbls>
            <c:numFmt formatCode="0.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Sheet1!$B$2:$B$4</c:f>
              <c:numCache>
                <c:formatCode>General</c:formatCode>
                <c:ptCount val="3"/>
                <c:pt idx="0">
                  <c:v>0.142</c:v>
                </c:pt>
                <c:pt idx="1">
                  <c:v>0.137</c:v>
                </c:pt>
                <c:pt idx="2">
                  <c:v>0.166</c:v>
                </c:pt>
              </c:numCache>
            </c:numRef>
          </c:val>
        </c:ser>
        <c:ser>
          <c:idx val="1"/>
          <c:order val="1"/>
          <c:tx>
            <c:strRef>
              <c:f>Sheet1!$C$1</c:f>
              <c:strCache>
                <c:ptCount val="1"/>
                <c:pt idx="0">
                  <c:v>עיצוב לצרכי הימנעות</c:v>
                </c:pt>
              </c:strCache>
            </c:strRef>
          </c:tx>
          <c:spPr>
            <a:solidFill>
              <a:srgbClr val="B0B7C3"/>
            </a:solidFill>
            <a:effectLst/>
          </c:spPr>
          <c:invertIfNegative val="0"/>
          <c:dLbls>
            <c:numFmt formatCode="0.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Sheet1!$C$2:$C$4</c:f>
              <c:numCache>
                <c:formatCode>General</c:formatCode>
                <c:ptCount val="3"/>
                <c:pt idx="0">
                  <c:v>0.077</c:v>
                </c:pt>
                <c:pt idx="1">
                  <c:v>0.09</c:v>
                </c:pt>
                <c:pt idx="2">
                  <c:v>0.027</c:v>
                </c:pt>
              </c:numCache>
            </c:numRef>
          </c:val>
        </c:ser>
        <c:dLbls>
          <c:numFmt formatCode="0.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(30 שניות): שלום לכולם, אנחנו [שמות]. הנושא שלנו הוא התמודדות עם חוסר ודאות תעסוקתי. במקום לשאול מה אי-הוודאות עושה לנו, נשאל מה אנחנו יכולים לעשות לה: מחקר אורך מ-2026 על 924 עובדים נותן תשובה מפתיעה בפשטותה.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מעבר מהיר על המבנה. להדגיש שיש סרטון והפעלה.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להריץ סקר מנטימטר או הרמת ידיים לכל שאלה. לא להסביר עדיין את המושג, רק לומר שנחזור לזה. לצלם מסך של התוצאות.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כתבת עיתון: להציג את הכותרת של TheMarker (21.6.2026). נתון בנק ישראל: כחמישית מהמועסקים במקצועות תחליפיים. המסר: הארגון לא יכול להבטיח ודאות. השאלה היא מה נשאר בידיים שלנו.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המאמר במשפט: מחקר שעקב אחרי כמעט אלף עובדים במשך חצי שנה ובדק אם מה שהם עושים בתפקיד משנה את איך שהם תופסים אותו. בהגשה בשלשה: להרחיב על צ'ונג ואחרים בשקופית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מושגים, ואז השאלה: האם הימני (מה שהעובד עושה) משנה את השמאלי (איך העבודה נתפסת)? להזכיר שאנטונובסקי פעל באוניברסיטת בן-גוריון, ושחוסר ודאות הוא במונחים שלו פגיעה במובנות.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לקרוא מימין לשמאל: מי שעיצב את התפקיד סביב אוטונומיה, מיומנות, משמעות ושייכות, תפס את העבודה חצי שנה אחר כך כברורה יותר, בשליטה יותר ומשמעותית יותר, מעבר ליציבות של המדדים עצמם. מי שרק התנתק ונח: שום שינוי בתפיסה. והקו למטה: המשאבים מזינים את היוזמה.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הגרף: שלוש עמודות ירוקות (התקרבות) מול שלוש אפורות (הימנעות). מקדם 0.14 עד 0.17 נשמע קטן, אבל המדדים האלה יציבים מאוד, ולכן כל שינוי שנשאר אחרי חצי שנה משמעותי. להזכיר בכנות: מתאמים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המשלים = האבחנה: מאיפה מגיע חוסר הביטחון של 2026 ומה ממתן אותו. המרכזי = הטיפול: איך בונים את המשאב. בהגשה בזוג אפשר לקצר שקופית זו לחצי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הלב של המסר. הספירלה עובדת לשני הכיוונים: משאבים מולידים יוזמה שמולידה משאבים. אבל בלי משאבים, האיום משתק. לכן העצה "תעצבו את התפקיד" נכונה, אבל צריך לתת אותה לפני שהאיום מגיע.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שקופית קצרה: להראות שהמאמר לא מחליף את הקורס אלא נותן לו ראיות. לעצור על שורה אחת בטבלה, למשל הרצברג: המניעים = התקרבות, ההיגייניים = הימנעות.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להגיד את הביקורת בקול. ועדיין, זה המאמר שנתן לנו הכי הרבה מה לעשות מחר בבוקר.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להקרין כ-90 שניות (לבדוק את הטיים-קוד מראש). לחבר: "לבחור במה להתמקד" זה בדיוק לעצב את התפקיד סביב מה שבשליטתי.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הכלי שאנחנו משאירים לכיתה. ארבעה צרכים, שאלה אחת לכל צורך, ופעולות שאפשר לעשות גם במשרה סטודנטיאלית. ניתוק והרפיה חשובים להתאוששות, אבל לפי המאמר לא משנים את תפיסת העבודה.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לחלק כרטיסיות מודפסות או להשאיר את השקופית. אחרי השיתוף לחבר לממצא: "פעולות כאלה, לפי המאמר, מנבאות עלייה בבהירות, בשליטה ובמשמעות חצי שנה מאוחר יותר. ושימו לב: אף אחד לא בחר 'לנוח יותר'. זה נכון, וזה גם מה שהמאמר 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לחזור לתוצאות הסקר מהפתיחה: "מי שסימן נמוך בשאלה 1 או 2: המאמר אומר שזה לא גזירת גורל, ושהפעולה שכתבתם עכשיו היא בדיוק הדרך לשנות את זה". לסיים במסר ולפתוח לשאלות.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www.ted.com/talks/lucy_hone_the_three_secrets_of_resilient_people"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371600" y="4206240"/>
            <a:ext cx="5029200" cy="5029200"/>
          </a:xfrm>
          <a:prstGeom prst="ellipse">
            <a:avLst/>
          </a:prstGeom>
          <a:solidFill>
            <a:srgbClr val="1D2E52"/>
          </a:solidFill>
          <a:ln w="12700">
            <a:solidFill>
              <a:srgbClr val="1D2E52"/>
            </a:solidFill>
            <a:prstDash val="solid"/>
          </a:ln>
        </p:spPr>
      </p:sp>
      <p:sp>
        <p:nvSpPr>
          <p:cNvPr id="3" name="Shape 1"/>
          <p:cNvSpPr/>
          <p:nvPr/>
        </p:nvSpPr>
        <p:spPr>
          <a:xfrm>
            <a:off x="9966960" y="320040"/>
            <a:ext cx="1691640" cy="1691640"/>
          </a:xfrm>
          <a:prstGeom prst="roundRect">
            <a:avLst>
              <a:gd name="adj" fmla="val 8108"/>
            </a:avLst>
          </a:prstGeom>
          <a:solidFill>
            <a:srgbClr val="FFFFFF"/>
          </a:solidFill>
          <a:ln w="12700">
            <a:solidFill>
              <a:srgbClr val="FFFFFF"/>
            </a:solidFill>
            <a:prstDash val="solid"/>
          </a:ln>
        </p:spPr>
      </p:sp>
      <p:pic>
        <p:nvPicPr>
          <p:cNvPr id="4" name="Image 0" descr="/tmp/claude-0/-home-user-clickwriting-landing/d2627f80-c93a-5206-ba5d-647532b375c9/scratchpad/ono-logo.jpg">    </p:cNvPr>
          <p:cNvPicPr>
            <a:picLocks noChangeAspect="1"/>
          </p:cNvPicPr>
          <p:nvPr/>
        </p:nvPicPr>
        <p:blipFill>
          <a:blip r:embed="rId1"/>
          <a:stretch>
            <a:fillRect/>
          </a:stretch>
        </p:blipFill>
        <p:spPr>
          <a:xfrm>
            <a:off x="10058400" y="411480"/>
            <a:ext cx="1508760" cy="1508760"/>
          </a:xfrm>
          <a:prstGeom prst="rect">
            <a:avLst/>
          </a:prstGeom>
        </p:spPr>
      </p:pic>
      <p:sp>
        <p:nvSpPr>
          <p:cNvPr id="5" name="Text 2"/>
          <p:cNvSpPr txBox="1"/>
          <p:nvPr/>
        </p:nvSpPr>
        <p:spPr>
          <a:xfrm>
            <a:off x="731520" y="1097280"/>
            <a:ext cx="8961120" cy="457200"/>
          </a:xfrm>
          <a:prstGeom prst="rect">
            <a:avLst/>
          </a:prstGeom>
          <a:noFill/>
          <a:ln/>
        </p:spPr>
        <p:txBody>
          <a:bodyPr wrap="square" lIns="0" tIns="0" rIns="0" bIns="0" rtlCol="0" anchor="t"/>
          <a:lstStyle/>
          <a:p>
            <a:pPr rtl="1" algn="r" indent="0" marL="0">
              <a:buNone/>
            </a:pPr>
            <a:r>
              <a:rPr lang="he-IL" altLang="en-US" sz="1800" dirty="0">
                <a:solidFill>
                  <a:srgbClr val="CAD3E5"/>
                </a:solidFill>
                <a:latin typeface="Arial" pitchFamily="34" charset="0"/>
                <a:ea typeface="Arial" pitchFamily="34" charset="-122"/>
                <a:cs typeface="Arial" pitchFamily="34" charset="-120"/>
              </a:rPr>
              <a:t>עבודה מסכמת בקורס ניהול קריירה בארגונים</a:t>
            </a:r>
            <a:endParaRPr lang="he-IL" sz="1800" dirty="0"/>
          </a:p>
        </p:txBody>
      </p:sp>
      <p:sp>
        <p:nvSpPr>
          <p:cNvPr id="6" name="Text 3"/>
          <p:cNvSpPr txBox="1"/>
          <p:nvPr/>
        </p:nvSpPr>
        <p:spPr>
          <a:xfrm>
            <a:off x="731520" y="1645920"/>
            <a:ext cx="10698480" cy="1188720"/>
          </a:xfrm>
          <a:prstGeom prst="rect">
            <a:avLst/>
          </a:prstGeom>
          <a:noFill/>
          <a:ln/>
        </p:spPr>
        <p:txBody>
          <a:bodyPr wrap="square" lIns="0" tIns="0" rIns="0" bIns="0" rtlCol="0" anchor="ctr"/>
          <a:lstStyle/>
          <a:p>
            <a:pPr rtl="1" algn="r" indent="0" marL="0">
              <a:buNone/>
            </a:pPr>
            <a:r>
              <a:rPr lang="he-IL" altLang="en-US" sz="4800" b="1" dirty="0">
                <a:solidFill>
                  <a:srgbClr val="FFFFFF"/>
                </a:solidFill>
                <a:latin typeface="Arial" pitchFamily="34" charset="0"/>
                <a:ea typeface="Arial" pitchFamily="34" charset="-122"/>
                <a:cs typeface="Arial" pitchFamily="34" charset="-120"/>
              </a:rPr>
              <a:t>התמודדות עם חוסר ודאות תעסוקתי</a:t>
            </a:r>
            <a:endParaRPr lang="he-IL" sz="4800" dirty="0"/>
          </a:p>
        </p:txBody>
      </p:sp>
      <p:sp>
        <p:nvSpPr>
          <p:cNvPr id="7" name="Text 4"/>
          <p:cNvSpPr txBox="1"/>
          <p:nvPr/>
        </p:nvSpPr>
        <p:spPr>
          <a:xfrm>
            <a:off x="731520" y="2834640"/>
            <a:ext cx="10698480" cy="548640"/>
          </a:xfrm>
          <a:prstGeom prst="rect">
            <a:avLst/>
          </a:prstGeom>
          <a:noFill/>
          <a:ln/>
        </p:spPr>
        <p:txBody>
          <a:bodyPr wrap="square" lIns="0" tIns="0" rIns="0" bIns="0" rtlCol="0" anchor="t"/>
          <a:lstStyle/>
          <a:p>
            <a:pPr rtl="1" algn="r" indent="0" marL="0">
              <a:buNone/>
            </a:pPr>
            <a:r>
              <a:rPr lang="he-IL" altLang="en-US" sz="2200" i="1" dirty="0">
                <a:solidFill>
                  <a:srgbClr val="FCA311"/>
                </a:solidFill>
                <a:latin typeface="Arial" pitchFamily="34" charset="0"/>
                <a:ea typeface="Arial" pitchFamily="34" charset="-122"/>
                <a:cs typeface="Arial" pitchFamily="34" charset="-120"/>
              </a:rPr>
              <a:t>איך בונים בהירות, שליטה ומשמעות בעבודה כשהסביבה לא יציבה?</a:t>
            </a:r>
            <a:endParaRPr lang="he-IL" sz="2200" dirty="0"/>
          </a:p>
        </p:txBody>
      </p:sp>
      <p:sp>
        <p:nvSpPr>
          <p:cNvPr id="8" name="Text 5"/>
          <p:cNvSpPr txBox="1"/>
          <p:nvPr/>
        </p:nvSpPr>
        <p:spPr>
          <a:xfrm>
            <a:off x="731520" y="3474720"/>
            <a:ext cx="10698480" cy="731520"/>
          </a:xfrm>
          <a:prstGeom prst="rect">
            <a:avLst/>
          </a:prstGeom>
          <a:noFill/>
          <a:ln/>
        </p:spPr>
        <p:txBody>
          <a:bodyPr wrap="square" lIns="0" tIns="0" rIns="0" bIns="0" rtlCol="0" anchor="t"/>
          <a:lstStyle/>
          <a:p>
            <a:pPr algn="r" indent="0" marL="0">
              <a:buNone/>
            </a:pPr>
            <a:r>
              <a:rPr lang="en-US" sz="1200" dirty="0">
                <a:solidFill>
                  <a:srgbClr val="CAD3E5"/>
                </a:solidFill>
                <a:latin typeface="Arial" pitchFamily="34" charset="0"/>
                <a:ea typeface="Arial" pitchFamily="34" charset="-122"/>
                <a:cs typeface="Arial" pitchFamily="34" charset="-120"/>
              </a:rPr>
              <a:t>Cetkovská, K., Bauer, G. F., &amp; Tušl, M. (2026). The role of needs-based job crafting in strengthening work-related sense of coherence: A two-wave panel study. Scandinavian Journal of Work and Organizational Psychology, 11(1), Article 14.</a:t>
            </a:r>
            <a:endParaRPr lang="en-US" sz="1200" dirty="0"/>
          </a:p>
        </p:txBody>
      </p:sp>
      <p:sp>
        <p:nvSpPr>
          <p:cNvPr id="9" name="Shape 6"/>
          <p:cNvSpPr/>
          <p:nvPr/>
        </p:nvSpPr>
        <p:spPr>
          <a:xfrm>
            <a:off x="731520" y="4389120"/>
            <a:ext cx="5669280" cy="1600200"/>
          </a:xfrm>
          <a:prstGeom prst="roundRect">
            <a:avLst>
              <a:gd name="adj" fmla="val 6857"/>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0" name="Text 7"/>
          <p:cNvSpPr txBox="1"/>
          <p:nvPr/>
        </p:nvSpPr>
        <p:spPr>
          <a:xfrm>
            <a:off x="914400" y="4480560"/>
            <a:ext cx="5303520" cy="365760"/>
          </a:xfrm>
          <a:prstGeom prst="rect">
            <a:avLst/>
          </a:prstGeom>
          <a:noFill/>
          <a:ln/>
        </p:spPr>
        <p:txBody>
          <a:bodyPr wrap="square" lIns="0" tIns="0" rIns="0" bIns="0" rtlCol="0" anchor="t"/>
          <a:lstStyle/>
          <a:p>
            <a:pPr rtl="1" algn="r" indent="0" marL="0">
              <a:buNone/>
            </a:pPr>
            <a:r>
              <a:rPr lang="he-IL" altLang="en-US" sz="1400" b="1" dirty="0">
                <a:solidFill>
                  <a:srgbClr val="FCA311"/>
                </a:solidFill>
                <a:latin typeface="Arial" pitchFamily="34" charset="0"/>
                <a:ea typeface="Arial" pitchFamily="34" charset="-122"/>
                <a:cs typeface="Arial" pitchFamily="34" charset="-120"/>
              </a:rPr>
              <a:t>מגישים/ות</a:t>
            </a:r>
            <a:endParaRPr lang="he-IL" sz="1400" dirty="0"/>
          </a:p>
        </p:txBody>
      </p:sp>
      <p:sp>
        <p:nvSpPr>
          <p:cNvPr id="11" name="Text 8"/>
          <p:cNvSpPr txBox="1"/>
          <p:nvPr/>
        </p:nvSpPr>
        <p:spPr>
          <a:xfrm>
            <a:off x="914400" y="4846320"/>
            <a:ext cx="5303520" cy="1097280"/>
          </a:xfrm>
          <a:prstGeom prst="rect">
            <a:avLst/>
          </a:prstGeom>
          <a:noFill/>
          <a:ln/>
        </p:spPr>
        <p:txBody>
          <a:bodyPr wrap="square" lIns="0" tIns="0" rIns="0" bIns="0" rtlCol="0" anchor="t"/>
          <a:lstStyle/>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a:t>
            </a:r>
            <a:endParaRPr lang="he-IL" sz="1500" dirty="0"/>
          </a:p>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a:t>
            </a:r>
            <a:endParaRPr lang="he-IL" sz="1500" dirty="0"/>
          </a:p>
          <a:p>
            <a:pPr algn="r" indent="0" marL="0">
              <a:spcAft>
                <a:spcPts val="400"/>
              </a:spcAft>
              <a:buNone/>
            </a:pPr>
            <a:r>
              <a:rPr lang="he-IL" altLang="en-US" sz="1500" dirty="0">
                <a:solidFill>
                  <a:srgbClr val="FFFFFF"/>
                </a:solidFill>
                <a:latin typeface="Arial" pitchFamily="34" charset="0"/>
                <a:ea typeface="Arial" pitchFamily="34" charset="-122"/>
                <a:cs typeface="Arial" pitchFamily="34" charset="-120"/>
              </a:rPr>
              <a:t>[שם מלא]  |  ת.ז. [_________]  (אם בשלשה)</a:t>
            </a:r>
            <a:endParaRPr lang="he-IL" sz="1500" dirty="0"/>
          </a:p>
        </p:txBody>
      </p:sp>
      <p:sp>
        <p:nvSpPr>
          <p:cNvPr id="12" name="Text 9"/>
          <p:cNvSpPr txBox="1"/>
          <p:nvPr/>
        </p:nvSpPr>
        <p:spPr>
          <a:xfrm>
            <a:off x="6675120" y="4480560"/>
            <a:ext cx="4754880" cy="1463040"/>
          </a:xfrm>
          <a:prstGeom prst="rect">
            <a:avLst/>
          </a:prstGeom>
          <a:noFill/>
          <a:ln/>
        </p:spPr>
        <p:txBody>
          <a:bodyPr wrap="square" lIns="0" tIns="0" rIns="0" bIns="0" rtlCol="0" anchor="t"/>
          <a:lstStyle/>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מרצה: גב' מורן דבדבני דקל</a:t>
            </a:r>
            <a:endParaRPr lang="he-IL" sz="1500" dirty="0"/>
          </a:p>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עוזר הוראה: מר פאר רועי</a:t>
            </a:r>
            <a:endParaRPr lang="he-IL" sz="1500" dirty="0"/>
          </a:p>
          <a:p>
            <a:pPr algn="r" indent="0" marL="0">
              <a:spcAft>
                <a:spcPts val="400"/>
              </a:spcAft>
              <a:buNone/>
            </a:pPr>
            <a:r>
              <a:rPr lang="he-IL" altLang="en-US" sz="1500" dirty="0">
                <a:solidFill>
                  <a:srgbClr val="CAD3E5"/>
                </a:solidFill>
                <a:latin typeface="Arial" pitchFamily="34" charset="0"/>
                <a:ea typeface="Arial" pitchFamily="34" charset="-122"/>
                <a:cs typeface="Arial" pitchFamily="34" charset="-120"/>
              </a:rPr>
              <a:t>הפקולטה למנהל עסקים | תשפ"ו, סמסטר 3</a:t>
            </a:r>
            <a:endParaRPr lang="he-IL"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מה נעשה ב-10 הדקות הקרובות?</a:t>
            </a:r>
            <a:endParaRPr lang="he-IL" sz="3000" dirty="0"/>
          </a:p>
        </p:txBody>
      </p:sp>
      <p:sp>
        <p:nvSpPr>
          <p:cNvPr id="3" name="Shape 1"/>
          <p:cNvSpPr/>
          <p:nvPr/>
        </p:nvSpPr>
        <p:spPr>
          <a:xfrm>
            <a:off x="8119872"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4" name="Shape 2"/>
          <p:cNvSpPr/>
          <p:nvPr/>
        </p:nvSpPr>
        <p:spPr>
          <a:xfrm>
            <a:off x="10863072" y="1691640"/>
            <a:ext cx="502920" cy="502920"/>
          </a:xfrm>
          <a:prstGeom prst="ellipse">
            <a:avLst/>
          </a:prstGeom>
          <a:solidFill>
            <a:srgbClr val="FCA311"/>
          </a:solidFill>
          <a:ln w="12700">
            <a:solidFill>
              <a:srgbClr val="FCA311"/>
            </a:solidFill>
            <a:prstDash val="solid"/>
          </a:ln>
        </p:spPr>
      </p:sp>
      <p:sp>
        <p:nvSpPr>
          <p:cNvPr id="5" name="Text 3"/>
          <p:cNvSpPr txBox="1"/>
          <p:nvPr/>
        </p:nvSpPr>
        <p:spPr>
          <a:xfrm>
            <a:off x="10863072"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8394192"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סקר פתיחה</a:t>
            </a:r>
            <a:endParaRPr lang="he-IL" sz="1800" dirty="0"/>
          </a:p>
        </p:txBody>
      </p:sp>
      <p:sp>
        <p:nvSpPr>
          <p:cNvPr id="7" name="Text 5"/>
          <p:cNvSpPr txBox="1"/>
          <p:nvPr/>
        </p:nvSpPr>
        <p:spPr>
          <a:xfrm>
            <a:off x="8394192"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ברור? בשליטה? משמעותי?</a:t>
            </a:r>
            <a:endParaRPr lang="he-IL" sz="1500" dirty="0"/>
          </a:p>
        </p:txBody>
      </p:sp>
      <p:sp>
        <p:nvSpPr>
          <p:cNvPr id="8" name="Text 6"/>
          <p:cNvSpPr txBox="1"/>
          <p:nvPr/>
        </p:nvSpPr>
        <p:spPr>
          <a:xfrm>
            <a:off x="8394192"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9" name="Shape 7"/>
          <p:cNvSpPr/>
          <p:nvPr/>
        </p:nvSpPr>
        <p:spPr>
          <a:xfrm>
            <a:off x="4334256"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10" name="Shape 8"/>
          <p:cNvSpPr/>
          <p:nvPr/>
        </p:nvSpPr>
        <p:spPr>
          <a:xfrm>
            <a:off x="7077456" y="1691640"/>
            <a:ext cx="502920" cy="502920"/>
          </a:xfrm>
          <a:prstGeom prst="ellipse">
            <a:avLst/>
          </a:prstGeom>
          <a:solidFill>
            <a:srgbClr val="FCA311"/>
          </a:solidFill>
          <a:ln w="12700">
            <a:solidFill>
              <a:srgbClr val="FCA311"/>
            </a:solidFill>
            <a:prstDash val="solid"/>
          </a:ln>
        </p:spPr>
      </p:sp>
      <p:sp>
        <p:nvSpPr>
          <p:cNvPr id="11" name="Text 9"/>
          <p:cNvSpPr txBox="1"/>
          <p:nvPr/>
        </p:nvSpPr>
        <p:spPr>
          <a:xfrm>
            <a:off x="7077456"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2</a:t>
            </a:r>
            <a:endParaRPr lang="en-US" sz="1800" dirty="0"/>
          </a:p>
        </p:txBody>
      </p:sp>
      <p:sp>
        <p:nvSpPr>
          <p:cNvPr id="12" name="Text 10"/>
          <p:cNvSpPr txBox="1"/>
          <p:nvPr/>
        </p:nvSpPr>
        <p:spPr>
          <a:xfrm>
            <a:off x="4608576"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למה עכשיו</a:t>
            </a:r>
            <a:endParaRPr lang="he-IL" sz="1800" dirty="0"/>
          </a:p>
        </p:txBody>
      </p:sp>
      <p:sp>
        <p:nvSpPr>
          <p:cNvPr id="13" name="Text 11"/>
          <p:cNvSpPr txBox="1"/>
          <p:nvPr/>
        </p:nvSpPr>
        <p:spPr>
          <a:xfrm>
            <a:off x="4608576"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בינה מלאכותית, הייטק, מילואים</a:t>
            </a:r>
            <a:endParaRPr lang="he-IL" sz="1500" dirty="0"/>
          </a:p>
        </p:txBody>
      </p:sp>
      <p:sp>
        <p:nvSpPr>
          <p:cNvPr id="14" name="Text 12"/>
          <p:cNvSpPr txBox="1"/>
          <p:nvPr/>
        </p:nvSpPr>
        <p:spPr>
          <a:xfrm>
            <a:off x="4608576"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1.5 דק'</a:t>
            </a:r>
            <a:endParaRPr lang="he-IL" sz="1300" dirty="0"/>
          </a:p>
        </p:txBody>
      </p:sp>
      <p:sp>
        <p:nvSpPr>
          <p:cNvPr id="15" name="Shape 13"/>
          <p:cNvSpPr/>
          <p:nvPr/>
        </p:nvSpPr>
        <p:spPr>
          <a:xfrm>
            <a:off x="548640" y="141732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3291840" y="1691640"/>
            <a:ext cx="502920" cy="502920"/>
          </a:xfrm>
          <a:prstGeom prst="ellipse">
            <a:avLst/>
          </a:prstGeom>
          <a:solidFill>
            <a:srgbClr val="FCA311"/>
          </a:solidFill>
          <a:ln w="12700">
            <a:solidFill>
              <a:srgbClr val="FCA311"/>
            </a:solidFill>
            <a:prstDash val="solid"/>
          </a:ln>
        </p:spPr>
      </p:sp>
      <p:sp>
        <p:nvSpPr>
          <p:cNvPr id="17" name="Text 15"/>
          <p:cNvSpPr txBox="1"/>
          <p:nvPr/>
        </p:nvSpPr>
        <p:spPr>
          <a:xfrm>
            <a:off x="3291840" y="16916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3</a:t>
            </a:r>
            <a:endParaRPr lang="en-US" sz="1800" dirty="0"/>
          </a:p>
        </p:txBody>
      </p:sp>
      <p:sp>
        <p:nvSpPr>
          <p:cNvPr id="18" name="Text 16"/>
          <p:cNvSpPr txBox="1"/>
          <p:nvPr/>
        </p:nvSpPr>
        <p:spPr>
          <a:xfrm>
            <a:off x="822960" y="169164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המאמר</a:t>
            </a:r>
            <a:endParaRPr lang="he-IL" sz="1800" dirty="0"/>
          </a:p>
        </p:txBody>
      </p:sp>
      <p:sp>
        <p:nvSpPr>
          <p:cNvPr id="19" name="Text 17"/>
          <p:cNvSpPr txBox="1"/>
          <p:nvPr/>
        </p:nvSpPr>
        <p:spPr>
          <a:xfrm>
            <a:off x="822960" y="233172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סלוטוגנזה, 6 צרכים, 924 עובדים</a:t>
            </a:r>
            <a:endParaRPr lang="he-IL" sz="1500" dirty="0"/>
          </a:p>
        </p:txBody>
      </p:sp>
      <p:sp>
        <p:nvSpPr>
          <p:cNvPr id="20" name="Text 18"/>
          <p:cNvSpPr txBox="1"/>
          <p:nvPr/>
        </p:nvSpPr>
        <p:spPr>
          <a:xfrm>
            <a:off x="822960" y="301752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2.5 דק'</a:t>
            </a:r>
            <a:endParaRPr lang="he-IL" sz="1300" dirty="0"/>
          </a:p>
        </p:txBody>
      </p:sp>
      <p:sp>
        <p:nvSpPr>
          <p:cNvPr id="21" name="Shape 19"/>
          <p:cNvSpPr/>
          <p:nvPr/>
        </p:nvSpPr>
        <p:spPr>
          <a:xfrm>
            <a:off x="8119872"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22" name="Shape 20"/>
          <p:cNvSpPr/>
          <p:nvPr/>
        </p:nvSpPr>
        <p:spPr>
          <a:xfrm>
            <a:off x="10863072" y="4069080"/>
            <a:ext cx="502920" cy="502920"/>
          </a:xfrm>
          <a:prstGeom prst="ellipse">
            <a:avLst/>
          </a:prstGeom>
          <a:solidFill>
            <a:srgbClr val="FCA311"/>
          </a:solidFill>
          <a:ln w="12700">
            <a:solidFill>
              <a:srgbClr val="FCA311"/>
            </a:solidFill>
            <a:prstDash val="solid"/>
          </a:ln>
        </p:spPr>
      </p:sp>
      <p:sp>
        <p:nvSpPr>
          <p:cNvPr id="23" name="Text 21"/>
          <p:cNvSpPr txBox="1"/>
          <p:nvPr/>
        </p:nvSpPr>
        <p:spPr>
          <a:xfrm>
            <a:off x="10863072"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4</a:t>
            </a:r>
            <a:endParaRPr lang="en-US" sz="1800" dirty="0"/>
          </a:p>
        </p:txBody>
      </p:sp>
      <p:sp>
        <p:nvSpPr>
          <p:cNvPr id="24" name="Text 22"/>
          <p:cNvSpPr txBox="1"/>
          <p:nvPr/>
        </p:nvSpPr>
        <p:spPr>
          <a:xfrm>
            <a:off x="8394192"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מאמר משלים, חומר הקורס ותובנות</a:t>
            </a:r>
            <a:endParaRPr lang="he-IL" sz="1800" dirty="0"/>
          </a:p>
        </p:txBody>
      </p:sp>
      <p:sp>
        <p:nvSpPr>
          <p:cNvPr id="25" name="Text 23"/>
          <p:cNvSpPr txBox="1"/>
          <p:nvPr/>
        </p:nvSpPr>
        <p:spPr>
          <a:xfrm>
            <a:off x="8394192"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בינה מלאכותית, סלי הכלים, הרצברג</a:t>
            </a:r>
            <a:endParaRPr lang="he-IL" sz="1500" dirty="0"/>
          </a:p>
        </p:txBody>
      </p:sp>
      <p:sp>
        <p:nvSpPr>
          <p:cNvPr id="26" name="Text 24"/>
          <p:cNvSpPr txBox="1"/>
          <p:nvPr/>
        </p:nvSpPr>
        <p:spPr>
          <a:xfrm>
            <a:off x="8394192"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1.5 דק'</a:t>
            </a:r>
            <a:endParaRPr lang="he-IL" sz="1300" dirty="0"/>
          </a:p>
        </p:txBody>
      </p:sp>
      <p:sp>
        <p:nvSpPr>
          <p:cNvPr id="27" name="Shape 25"/>
          <p:cNvSpPr/>
          <p:nvPr/>
        </p:nvSpPr>
        <p:spPr>
          <a:xfrm>
            <a:off x="4334256"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28" name="Shape 26"/>
          <p:cNvSpPr/>
          <p:nvPr/>
        </p:nvSpPr>
        <p:spPr>
          <a:xfrm>
            <a:off x="7077456" y="4069080"/>
            <a:ext cx="502920" cy="502920"/>
          </a:xfrm>
          <a:prstGeom prst="ellipse">
            <a:avLst/>
          </a:prstGeom>
          <a:solidFill>
            <a:srgbClr val="FCA311"/>
          </a:solidFill>
          <a:ln w="12700">
            <a:solidFill>
              <a:srgbClr val="FCA311"/>
            </a:solidFill>
            <a:prstDash val="solid"/>
          </a:ln>
        </p:spPr>
      </p:sp>
      <p:sp>
        <p:nvSpPr>
          <p:cNvPr id="29" name="Text 27"/>
          <p:cNvSpPr txBox="1"/>
          <p:nvPr/>
        </p:nvSpPr>
        <p:spPr>
          <a:xfrm>
            <a:off x="7077456"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5</a:t>
            </a:r>
            <a:endParaRPr lang="en-US" sz="1800" dirty="0"/>
          </a:p>
        </p:txBody>
      </p:sp>
      <p:sp>
        <p:nvSpPr>
          <p:cNvPr id="30" name="Text 28"/>
          <p:cNvSpPr txBox="1"/>
          <p:nvPr/>
        </p:nvSpPr>
        <p:spPr>
          <a:xfrm>
            <a:off x="4608576"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סרטון + הפעלה</a:t>
            </a:r>
            <a:endParaRPr lang="he-IL" sz="1800" dirty="0"/>
          </a:p>
        </p:txBody>
      </p:sp>
      <p:sp>
        <p:nvSpPr>
          <p:cNvPr id="31" name="Text 29"/>
          <p:cNvSpPr txBox="1"/>
          <p:nvPr/>
        </p:nvSpPr>
        <p:spPr>
          <a:xfrm>
            <a:off x="4608576"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TED וצורך אחד, פעולה אחת</a:t>
            </a:r>
            <a:endParaRPr lang="he-IL" sz="1500" dirty="0"/>
          </a:p>
        </p:txBody>
      </p:sp>
      <p:sp>
        <p:nvSpPr>
          <p:cNvPr id="32" name="Text 30"/>
          <p:cNvSpPr txBox="1"/>
          <p:nvPr/>
        </p:nvSpPr>
        <p:spPr>
          <a:xfrm>
            <a:off x="4608576"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2.5 דק'</a:t>
            </a:r>
            <a:endParaRPr lang="he-IL" sz="1300" dirty="0"/>
          </a:p>
        </p:txBody>
      </p:sp>
      <p:sp>
        <p:nvSpPr>
          <p:cNvPr id="33" name="Shape 31"/>
          <p:cNvSpPr/>
          <p:nvPr/>
        </p:nvSpPr>
        <p:spPr>
          <a:xfrm>
            <a:off x="548640" y="3794760"/>
            <a:ext cx="3520440" cy="2103120"/>
          </a:xfrm>
          <a:prstGeom prst="roundRect">
            <a:avLst>
              <a:gd name="adj" fmla="val 5217"/>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34" name="Shape 32"/>
          <p:cNvSpPr/>
          <p:nvPr/>
        </p:nvSpPr>
        <p:spPr>
          <a:xfrm>
            <a:off x="3291840" y="4069080"/>
            <a:ext cx="502920" cy="502920"/>
          </a:xfrm>
          <a:prstGeom prst="ellipse">
            <a:avLst/>
          </a:prstGeom>
          <a:solidFill>
            <a:srgbClr val="FCA311"/>
          </a:solidFill>
          <a:ln w="12700">
            <a:solidFill>
              <a:srgbClr val="FCA311"/>
            </a:solidFill>
            <a:prstDash val="solid"/>
          </a:ln>
        </p:spPr>
      </p:sp>
      <p:sp>
        <p:nvSpPr>
          <p:cNvPr id="35" name="Text 33"/>
          <p:cNvSpPr txBox="1"/>
          <p:nvPr/>
        </p:nvSpPr>
        <p:spPr>
          <a:xfrm>
            <a:off x="3291840" y="406908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6</a:t>
            </a:r>
            <a:endParaRPr lang="en-US" sz="1800" dirty="0"/>
          </a:p>
        </p:txBody>
      </p:sp>
      <p:sp>
        <p:nvSpPr>
          <p:cNvPr id="36" name="Text 34"/>
          <p:cNvSpPr txBox="1"/>
          <p:nvPr/>
        </p:nvSpPr>
        <p:spPr>
          <a:xfrm>
            <a:off x="822960" y="4069080"/>
            <a:ext cx="2331720" cy="502920"/>
          </a:xfrm>
          <a:prstGeom prst="rect">
            <a:avLst/>
          </a:prstGeom>
          <a:noFill/>
          <a:ln/>
        </p:spPr>
        <p:txBody>
          <a:bodyPr wrap="square" lIns="0" tIns="0" rIns="0" bIns="0" rtlCol="0" anchor="ctr"/>
          <a:lstStyle/>
          <a:p>
            <a:pPr rtl="1" algn="r" indent="0" marL="0">
              <a:buNone/>
            </a:pPr>
            <a:r>
              <a:rPr lang="he-IL" altLang="en-US" sz="1800" b="1" dirty="0">
                <a:solidFill>
                  <a:srgbClr val="14213D"/>
                </a:solidFill>
                <a:latin typeface="Arial" pitchFamily="34" charset="0"/>
                <a:ea typeface="Arial" pitchFamily="34" charset="-122"/>
                <a:cs typeface="Arial" pitchFamily="34" charset="-120"/>
              </a:rPr>
              <a:t>סיכום</a:t>
            </a:r>
            <a:endParaRPr lang="he-IL" sz="1800" dirty="0"/>
          </a:p>
        </p:txBody>
      </p:sp>
      <p:sp>
        <p:nvSpPr>
          <p:cNvPr id="37" name="Text 35"/>
          <p:cNvSpPr txBox="1"/>
          <p:nvPr/>
        </p:nvSpPr>
        <p:spPr>
          <a:xfrm>
            <a:off x="822960" y="4709160"/>
            <a:ext cx="2971800" cy="640080"/>
          </a:xfrm>
          <a:prstGeom prst="rect">
            <a:avLst/>
          </a:prstGeom>
          <a:noFill/>
          <a:ln/>
        </p:spPr>
        <p:txBody>
          <a:bodyPr wrap="square" lIns="0" tIns="0" rIns="0" bIns="0" rtlCol="0" anchor="t"/>
          <a:lstStyle/>
          <a:p>
            <a:pPr rtl="1" algn="r" indent="0" marL="0">
              <a:buNone/>
            </a:pPr>
            <a:r>
              <a:rPr lang="he-IL" altLang="en-US" sz="1500" dirty="0">
                <a:solidFill>
                  <a:srgbClr val="1F2937"/>
                </a:solidFill>
                <a:latin typeface="Arial" pitchFamily="34" charset="0"/>
                <a:ea typeface="Arial" pitchFamily="34" charset="-122"/>
                <a:cs typeface="Arial" pitchFamily="34" charset="-120"/>
              </a:rPr>
              <a:t>המסר שלנו לכיתה</a:t>
            </a:r>
            <a:endParaRPr lang="he-IL" sz="1500" dirty="0"/>
          </a:p>
        </p:txBody>
      </p:sp>
      <p:sp>
        <p:nvSpPr>
          <p:cNvPr id="38" name="Text 36"/>
          <p:cNvSpPr txBox="1"/>
          <p:nvPr/>
        </p:nvSpPr>
        <p:spPr>
          <a:xfrm>
            <a:off x="822960" y="5394960"/>
            <a:ext cx="297180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1 דק'</a:t>
            </a:r>
            <a:endParaRPr lang="he-IL" sz="1300" dirty="0"/>
          </a:p>
        </p:txBody>
      </p:sp>
      <p:sp>
        <p:nvSpPr>
          <p:cNvPr id="39" name="Text 37"/>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40" name="Text 38"/>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2</a:t>
            </a:r>
            <a:endParaRPr lang="he-IL"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סקר פתיחה: איך מרגישה לכם העבודה (או הלימודים) עכשיו?</a:t>
            </a:r>
            <a:endParaRPr lang="he-IL" sz="3000" dirty="0"/>
          </a:p>
        </p:txBody>
      </p:sp>
      <p:sp>
        <p:nvSpPr>
          <p:cNvPr id="3" name="Text 1"/>
          <p:cNvSpPr txBox="1"/>
          <p:nvPr/>
        </p:nvSpPr>
        <p:spPr>
          <a:xfrm>
            <a:off x="548640" y="1234440"/>
            <a:ext cx="11091672" cy="457200"/>
          </a:xfrm>
          <a:prstGeom prst="rect">
            <a:avLst/>
          </a:prstGeom>
          <a:noFill/>
          <a:ln/>
        </p:spPr>
        <p:txBody>
          <a:bodyPr wrap="square" lIns="0" tIns="0" rIns="0" bIns="0" rtlCol="0" anchor="t"/>
          <a:lstStyle/>
          <a:p>
            <a:pPr rtl="1" algn="r" indent="0" marL="0">
              <a:buNone/>
            </a:pPr>
            <a:r>
              <a:rPr lang="he-IL" altLang="en-US" sz="1800" dirty="0">
                <a:solidFill>
                  <a:srgbClr val="6B7280"/>
                </a:solidFill>
                <a:latin typeface="Arial" pitchFamily="34" charset="0"/>
                <a:ea typeface="Arial" pitchFamily="34" charset="-122"/>
                <a:cs typeface="Arial" pitchFamily="34" charset="-120"/>
              </a:rPr>
              <a:t>בסולם 1 עד 5, שלוש שאלות:</a:t>
            </a:r>
            <a:endParaRPr lang="he-IL" sz="1800" dirty="0"/>
          </a:p>
        </p:txBody>
      </p:sp>
      <p:sp>
        <p:nvSpPr>
          <p:cNvPr id="4" name="Shape 2"/>
          <p:cNvSpPr/>
          <p:nvPr/>
        </p:nvSpPr>
        <p:spPr>
          <a:xfrm>
            <a:off x="8074152" y="1828800"/>
            <a:ext cx="3566160" cy="2926080"/>
          </a:xfrm>
          <a:prstGeom prst="roundRect">
            <a:avLst>
              <a:gd name="adj" fmla="val 375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5" name="Shape 3"/>
          <p:cNvSpPr/>
          <p:nvPr/>
        </p:nvSpPr>
        <p:spPr>
          <a:xfrm>
            <a:off x="9354312" y="2103120"/>
            <a:ext cx="1005840" cy="1005840"/>
          </a:xfrm>
          <a:prstGeom prst="ellipse">
            <a:avLst/>
          </a:prstGeom>
          <a:solidFill>
            <a:srgbClr val="2A9D8F"/>
          </a:solidFill>
          <a:ln w="12700">
            <a:solidFill>
              <a:srgbClr val="2A9D8F"/>
            </a:solidFill>
            <a:prstDash val="solid"/>
          </a:ln>
        </p:spPr>
      </p:sp>
      <p:sp>
        <p:nvSpPr>
          <p:cNvPr id="6" name="Text 4"/>
          <p:cNvSpPr txBox="1"/>
          <p:nvPr/>
        </p:nvSpPr>
        <p:spPr>
          <a:xfrm>
            <a:off x="9354312" y="2103120"/>
            <a:ext cx="1005840"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1</a:t>
            </a:r>
            <a:endParaRPr lang="en-US" sz="3600" dirty="0"/>
          </a:p>
        </p:txBody>
      </p:sp>
      <p:sp>
        <p:nvSpPr>
          <p:cNvPr id="7" name="Text 5"/>
          <p:cNvSpPr txBox="1"/>
          <p:nvPr/>
        </p:nvSpPr>
        <p:spPr>
          <a:xfrm>
            <a:off x="8348472" y="3291840"/>
            <a:ext cx="3017520" cy="822960"/>
          </a:xfrm>
          <a:prstGeom prst="rect">
            <a:avLst/>
          </a:prstGeom>
          <a:noFill/>
          <a:ln/>
        </p:spPr>
        <p:txBody>
          <a:bodyPr wrap="square" lIns="0" tIns="0" rIns="0" bIns="0" rtlCol="0" anchor="ctr"/>
          <a:lstStyle/>
          <a:p>
            <a:pPr rtl="1" algn="ctr" indent="0" marL="0">
              <a:buNone/>
            </a:pPr>
            <a:r>
              <a:rPr lang="he-IL" altLang="en-US" sz="2000" b="1" dirty="0">
                <a:solidFill>
                  <a:srgbClr val="14213D"/>
                </a:solidFill>
                <a:latin typeface="Arial" pitchFamily="34" charset="0"/>
                <a:ea typeface="Arial" pitchFamily="34" charset="-122"/>
                <a:cs typeface="Arial" pitchFamily="34" charset="-120"/>
              </a:rPr>
              <a:t>ברור וצפוי?</a:t>
            </a:r>
            <a:endParaRPr lang="he-IL" sz="2000" dirty="0"/>
          </a:p>
        </p:txBody>
      </p:sp>
      <p:sp>
        <p:nvSpPr>
          <p:cNvPr id="8" name="Text 6"/>
          <p:cNvSpPr txBox="1"/>
          <p:nvPr/>
        </p:nvSpPr>
        <p:spPr>
          <a:xfrm>
            <a:off x="8348472" y="4160520"/>
            <a:ext cx="3017520" cy="411480"/>
          </a:xfrm>
          <a:prstGeom prst="rect">
            <a:avLst/>
          </a:prstGeom>
          <a:noFill/>
          <a:ln/>
        </p:spPr>
        <p:txBody>
          <a:bodyPr wrap="square" lIns="0" tIns="0" rIns="0" bIns="0" rtlCol="0" anchor="t"/>
          <a:lstStyle/>
          <a:p>
            <a:pPr rtl="1" algn="ctr" indent="0" marL="0">
              <a:buNone/>
            </a:pPr>
            <a:r>
              <a:rPr lang="he-IL" altLang="en-US" sz="1400" b="1" dirty="0">
                <a:solidFill>
                  <a:srgbClr val="2A9D8F"/>
                </a:solidFill>
                <a:latin typeface="Arial" pitchFamily="34" charset="0"/>
                <a:ea typeface="Arial" pitchFamily="34" charset="-122"/>
                <a:cs typeface="Arial" pitchFamily="34" charset="-120"/>
              </a:rPr>
              <a:t>מובנות</a:t>
            </a:r>
            <a:endParaRPr lang="he-IL" sz="1400" dirty="0"/>
          </a:p>
        </p:txBody>
      </p:sp>
      <p:sp>
        <p:nvSpPr>
          <p:cNvPr id="9" name="Shape 7"/>
          <p:cNvSpPr/>
          <p:nvPr/>
        </p:nvSpPr>
        <p:spPr>
          <a:xfrm>
            <a:off x="4311396" y="1828800"/>
            <a:ext cx="3566160" cy="2926080"/>
          </a:xfrm>
          <a:prstGeom prst="roundRect">
            <a:avLst>
              <a:gd name="adj" fmla="val 375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0" name="Shape 8"/>
          <p:cNvSpPr/>
          <p:nvPr/>
        </p:nvSpPr>
        <p:spPr>
          <a:xfrm>
            <a:off x="5591556" y="2103120"/>
            <a:ext cx="1005840" cy="1005840"/>
          </a:xfrm>
          <a:prstGeom prst="ellipse">
            <a:avLst/>
          </a:prstGeom>
          <a:solidFill>
            <a:srgbClr val="FCA311"/>
          </a:solidFill>
          <a:ln w="12700">
            <a:solidFill>
              <a:srgbClr val="FCA311"/>
            </a:solidFill>
            <a:prstDash val="solid"/>
          </a:ln>
        </p:spPr>
      </p:sp>
      <p:sp>
        <p:nvSpPr>
          <p:cNvPr id="11" name="Text 9"/>
          <p:cNvSpPr txBox="1"/>
          <p:nvPr/>
        </p:nvSpPr>
        <p:spPr>
          <a:xfrm>
            <a:off x="5591556" y="2103120"/>
            <a:ext cx="1005840"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2</a:t>
            </a:r>
            <a:endParaRPr lang="en-US" sz="3600" dirty="0"/>
          </a:p>
        </p:txBody>
      </p:sp>
      <p:sp>
        <p:nvSpPr>
          <p:cNvPr id="12" name="Text 10"/>
          <p:cNvSpPr txBox="1"/>
          <p:nvPr/>
        </p:nvSpPr>
        <p:spPr>
          <a:xfrm>
            <a:off x="4585716" y="3291840"/>
            <a:ext cx="3017520" cy="822960"/>
          </a:xfrm>
          <a:prstGeom prst="rect">
            <a:avLst/>
          </a:prstGeom>
          <a:noFill/>
          <a:ln/>
        </p:spPr>
        <p:txBody>
          <a:bodyPr wrap="square" lIns="0" tIns="0" rIns="0" bIns="0" rtlCol="0" anchor="ctr"/>
          <a:lstStyle/>
          <a:p>
            <a:pPr rtl="1" algn="ctr" indent="0" marL="0">
              <a:buNone/>
            </a:pPr>
            <a:r>
              <a:rPr lang="he-IL" altLang="en-US" sz="2000" b="1" dirty="0">
                <a:solidFill>
                  <a:srgbClr val="14213D"/>
                </a:solidFill>
                <a:latin typeface="Arial" pitchFamily="34" charset="0"/>
                <a:ea typeface="Arial" pitchFamily="34" charset="-122"/>
                <a:cs typeface="Arial" pitchFamily="34" charset="-120"/>
              </a:rPr>
              <a:t>יש לי מספיק זמן, כלים ותמיכה?</a:t>
            </a:r>
            <a:endParaRPr lang="he-IL" sz="2000" dirty="0"/>
          </a:p>
        </p:txBody>
      </p:sp>
      <p:sp>
        <p:nvSpPr>
          <p:cNvPr id="13" name="Text 11"/>
          <p:cNvSpPr txBox="1"/>
          <p:nvPr/>
        </p:nvSpPr>
        <p:spPr>
          <a:xfrm>
            <a:off x="4585716" y="4160520"/>
            <a:ext cx="3017520" cy="411480"/>
          </a:xfrm>
          <a:prstGeom prst="rect">
            <a:avLst/>
          </a:prstGeom>
          <a:noFill/>
          <a:ln/>
        </p:spPr>
        <p:txBody>
          <a:bodyPr wrap="square" lIns="0" tIns="0" rIns="0" bIns="0" rtlCol="0" anchor="t"/>
          <a:lstStyle/>
          <a:p>
            <a:pPr rtl="1" algn="ctr" indent="0" marL="0">
              <a:buNone/>
            </a:pPr>
            <a:r>
              <a:rPr lang="he-IL" altLang="en-US" sz="1400" b="1" dirty="0">
                <a:solidFill>
                  <a:srgbClr val="FCA311"/>
                </a:solidFill>
                <a:latin typeface="Arial" pitchFamily="34" charset="0"/>
                <a:ea typeface="Arial" pitchFamily="34" charset="-122"/>
                <a:cs typeface="Arial" pitchFamily="34" charset="-120"/>
              </a:rPr>
              <a:t>ניהוליות</a:t>
            </a:r>
            <a:endParaRPr lang="he-IL" sz="1400" dirty="0"/>
          </a:p>
        </p:txBody>
      </p:sp>
      <p:sp>
        <p:nvSpPr>
          <p:cNvPr id="14" name="Shape 12"/>
          <p:cNvSpPr/>
          <p:nvPr/>
        </p:nvSpPr>
        <p:spPr>
          <a:xfrm>
            <a:off x="548640" y="1828800"/>
            <a:ext cx="3566160" cy="2926080"/>
          </a:xfrm>
          <a:prstGeom prst="roundRect">
            <a:avLst>
              <a:gd name="adj" fmla="val 375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5" name="Shape 13"/>
          <p:cNvSpPr/>
          <p:nvPr/>
        </p:nvSpPr>
        <p:spPr>
          <a:xfrm>
            <a:off x="1828800" y="2103120"/>
            <a:ext cx="1005840" cy="1005840"/>
          </a:xfrm>
          <a:prstGeom prst="ellipse">
            <a:avLst/>
          </a:prstGeom>
          <a:solidFill>
            <a:srgbClr val="E76F51"/>
          </a:solidFill>
          <a:ln w="12700">
            <a:solidFill>
              <a:srgbClr val="E76F51"/>
            </a:solidFill>
            <a:prstDash val="solid"/>
          </a:ln>
        </p:spPr>
      </p:sp>
      <p:sp>
        <p:nvSpPr>
          <p:cNvPr id="16" name="Text 14"/>
          <p:cNvSpPr txBox="1"/>
          <p:nvPr/>
        </p:nvSpPr>
        <p:spPr>
          <a:xfrm>
            <a:off x="1828800" y="2103120"/>
            <a:ext cx="1005840"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Arial" pitchFamily="34" charset="0"/>
                <a:ea typeface="Arial" pitchFamily="34" charset="-122"/>
                <a:cs typeface="Arial" pitchFamily="34" charset="-120"/>
              </a:rPr>
              <a:t>3</a:t>
            </a:r>
            <a:endParaRPr lang="en-US" sz="3600" dirty="0"/>
          </a:p>
        </p:txBody>
      </p:sp>
      <p:sp>
        <p:nvSpPr>
          <p:cNvPr id="17" name="Text 15"/>
          <p:cNvSpPr txBox="1"/>
          <p:nvPr/>
        </p:nvSpPr>
        <p:spPr>
          <a:xfrm>
            <a:off x="822960" y="3291840"/>
            <a:ext cx="3017520" cy="822960"/>
          </a:xfrm>
          <a:prstGeom prst="rect">
            <a:avLst/>
          </a:prstGeom>
          <a:noFill/>
          <a:ln/>
        </p:spPr>
        <p:txBody>
          <a:bodyPr wrap="square" lIns="0" tIns="0" rIns="0" bIns="0" rtlCol="0" anchor="ctr"/>
          <a:lstStyle/>
          <a:p>
            <a:pPr rtl="1" algn="ctr" indent="0" marL="0">
              <a:buNone/>
            </a:pPr>
            <a:r>
              <a:rPr lang="he-IL" altLang="en-US" sz="2000" b="1" dirty="0">
                <a:solidFill>
                  <a:srgbClr val="14213D"/>
                </a:solidFill>
                <a:latin typeface="Arial" pitchFamily="34" charset="0"/>
                <a:ea typeface="Arial" pitchFamily="34" charset="-122"/>
                <a:cs typeface="Arial" pitchFamily="34" charset="-120"/>
              </a:rPr>
              <a:t>שווה את המאמץ?</a:t>
            </a:r>
            <a:endParaRPr lang="he-IL" sz="2000" dirty="0"/>
          </a:p>
        </p:txBody>
      </p:sp>
      <p:sp>
        <p:nvSpPr>
          <p:cNvPr id="18" name="Text 16"/>
          <p:cNvSpPr txBox="1"/>
          <p:nvPr/>
        </p:nvSpPr>
        <p:spPr>
          <a:xfrm>
            <a:off x="822960" y="4160520"/>
            <a:ext cx="3017520" cy="411480"/>
          </a:xfrm>
          <a:prstGeom prst="rect">
            <a:avLst/>
          </a:prstGeom>
          <a:noFill/>
          <a:ln/>
        </p:spPr>
        <p:txBody>
          <a:bodyPr wrap="square" lIns="0" tIns="0" rIns="0" bIns="0" rtlCol="0" anchor="t"/>
          <a:lstStyle/>
          <a:p>
            <a:pPr rtl="1" algn="ctr" indent="0" marL="0">
              <a:buNone/>
            </a:pPr>
            <a:r>
              <a:rPr lang="he-IL" altLang="en-US" sz="1400" b="1" dirty="0">
                <a:solidFill>
                  <a:srgbClr val="E76F51"/>
                </a:solidFill>
                <a:latin typeface="Arial" pitchFamily="34" charset="0"/>
                <a:ea typeface="Arial" pitchFamily="34" charset="-122"/>
                <a:cs typeface="Arial" pitchFamily="34" charset="-120"/>
              </a:rPr>
              <a:t>משמעותיות</a:t>
            </a:r>
            <a:endParaRPr lang="he-IL" sz="1400" dirty="0"/>
          </a:p>
        </p:txBody>
      </p:sp>
      <p:sp>
        <p:nvSpPr>
          <p:cNvPr id="19" name="Shape 17"/>
          <p:cNvSpPr/>
          <p:nvPr/>
        </p:nvSpPr>
        <p:spPr>
          <a:xfrm>
            <a:off x="548640" y="5120640"/>
            <a:ext cx="11091672"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20" name="Text 18"/>
          <p:cNvSpPr txBox="1"/>
          <p:nvPr/>
        </p:nvSpPr>
        <p:spPr>
          <a:xfrm>
            <a:off x="822960" y="5257800"/>
            <a:ext cx="10515600" cy="822960"/>
          </a:xfrm>
          <a:prstGeom prst="rect">
            <a:avLst/>
          </a:prstGeom>
          <a:noFill/>
          <a:ln/>
        </p:spPr>
        <p:txBody>
          <a:bodyPr wrap="square" lIns="0" tIns="0" rIns="0" bIns="0" rtlCol="0" anchor="ctr"/>
          <a:lstStyle/>
          <a:p>
            <a:pPr rtl="1" algn="r" indent="0" marL="0">
              <a:buNone/>
            </a:pPr>
            <a:r>
              <a:rPr lang="he-IL" altLang="en-US" sz="1700" dirty="0">
                <a:solidFill>
                  <a:srgbClr val="1F2937"/>
                </a:solidFill>
                <a:latin typeface="Arial" pitchFamily="34" charset="0"/>
                <a:ea typeface="Arial" pitchFamily="34" charset="-122"/>
                <a:cs typeface="Arial" pitchFamily="34" charset="-120"/>
              </a:rPr>
              <a:t>הצבעה ב-Mentimeter או הרמת ידיים. אלה שלושת הרכיבים של "תחושת קוהרנטיות בעבודה". נחזור אליהם בסוף.</a:t>
            </a:r>
            <a:endParaRPr lang="he-IL" sz="1700" dirty="0"/>
          </a:p>
        </p:txBody>
      </p:sp>
      <p:sp>
        <p:nvSpPr>
          <p:cNvPr id="21" name="Text 1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2" name="Text 2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3</a:t>
            </a:r>
            <a:endParaRPr lang="he-IL"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למה דווקא עכשיו?</a:t>
            </a:r>
            <a:endParaRPr lang="he-IL" sz="3000" dirty="0"/>
          </a:p>
        </p:txBody>
      </p:sp>
      <p:sp>
        <p:nvSpPr>
          <p:cNvPr id="3" name="Shape 1"/>
          <p:cNvSpPr/>
          <p:nvPr/>
        </p:nvSpPr>
        <p:spPr>
          <a:xfrm>
            <a:off x="6492240" y="1325880"/>
            <a:ext cx="5148072" cy="4937760"/>
          </a:xfrm>
          <a:prstGeom prst="roundRect">
            <a:avLst>
              <a:gd name="adj" fmla="val 2222"/>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675120" y="1463040"/>
            <a:ext cx="4754880" cy="914400"/>
          </a:xfrm>
          <a:prstGeom prst="rect">
            <a:avLst/>
          </a:prstGeom>
          <a:noFill/>
          <a:ln/>
        </p:spPr>
        <p:txBody>
          <a:bodyPr wrap="square" lIns="0" tIns="0" rIns="0" bIns="0" rtlCol="0" anchor="ctr"/>
          <a:lstStyle/>
          <a:p>
            <a:pPr rtl="1" algn="ctr" indent="0" marL="0">
              <a:buNone/>
            </a:pPr>
            <a:r>
              <a:rPr lang="he-IL" altLang="en-US" sz="6000" b="1" dirty="0">
                <a:solidFill>
                  <a:srgbClr val="E76F51"/>
                </a:solidFill>
                <a:latin typeface="Arial" pitchFamily="34" charset="0"/>
                <a:ea typeface="Arial" pitchFamily="34" charset="-122"/>
                <a:cs typeface="Arial" pitchFamily="34" charset="-120"/>
              </a:rPr>
              <a:t>1 מכל 5</a:t>
            </a:r>
            <a:endParaRPr lang="he-IL" sz="6000" dirty="0"/>
          </a:p>
        </p:txBody>
      </p:sp>
      <p:sp>
        <p:nvSpPr>
          <p:cNvPr id="5" name="Text 3"/>
          <p:cNvSpPr txBox="1"/>
          <p:nvPr/>
        </p:nvSpPr>
        <p:spPr>
          <a:xfrm>
            <a:off x="6766560" y="2423160"/>
            <a:ext cx="4572000" cy="1005840"/>
          </a:xfrm>
          <a:prstGeom prst="rect">
            <a:avLst/>
          </a:prstGeom>
          <a:noFill/>
          <a:ln/>
        </p:spPr>
        <p:txBody>
          <a:bodyPr wrap="square" lIns="0" tIns="0" rIns="0" bIns="0" rtlCol="0" anchor="t"/>
          <a:lstStyle/>
          <a:p>
            <a:pPr rtl="1" algn="ctr" indent="0" marL="0">
              <a:buNone/>
            </a:pPr>
            <a:r>
              <a:rPr lang="he-IL" altLang="en-US" sz="1400" dirty="0">
                <a:solidFill>
                  <a:srgbClr val="1F2937"/>
                </a:solidFill>
                <a:latin typeface="Arial" pitchFamily="34" charset="0"/>
                <a:ea typeface="Arial" pitchFamily="34" charset="-122"/>
                <a:cs typeface="Arial" pitchFamily="34" charset="-120"/>
              </a:rPr>
              <a:t>מהמועסקים בישראל עובדים במקצועות "תחליפיים" שבהם הביקוש צפוי לרדת משמעותית עם התרחבות הבינה המלאכותית (בנק ישראל, 2025)</a:t>
            </a:r>
            <a:endParaRPr lang="he-IL" sz="1400" dirty="0"/>
          </a:p>
        </p:txBody>
      </p:sp>
      <p:graphicFrame>
        <p:nvGraphicFramePr>
          <p:cNvPr id="6" name="Chart 0" descr=""/>
          <p:cNvGraphicFramePr/>
          <p:nvPr/>
        </p:nvGraphicFramePr>
        <p:xfrm>
          <a:off x="6949440" y="3474720"/>
          <a:ext cx="4206240"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1325880"/>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8" name="Shape 5"/>
          <p:cNvSpPr/>
          <p:nvPr/>
        </p:nvSpPr>
        <p:spPr>
          <a:xfrm>
            <a:off x="5486400" y="1600200"/>
            <a:ext cx="548640" cy="548640"/>
          </a:xfrm>
          <a:prstGeom prst="ellipse">
            <a:avLst/>
          </a:prstGeom>
          <a:solidFill>
            <a:srgbClr val="FCA311"/>
          </a:solidFill>
          <a:ln w="12700">
            <a:solidFill>
              <a:srgbClr val="FCA311"/>
            </a:solidFill>
            <a:prstDash val="solid"/>
          </a:ln>
        </p:spPr>
      </p:sp>
      <p:sp>
        <p:nvSpPr>
          <p:cNvPr id="9" name="Text 6"/>
          <p:cNvSpPr txBox="1"/>
          <p:nvPr/>
        </p:nvSpPr>
        <p:spPr>
          <a:xfrm>
            <a:off x="5486400" y="1600200"/>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10" name="Text 7"/>
          <p:cNvSpPr txBox="1"/>
          <p:nvPr/>
        </p:nvSpPr>
        <p:spPr>
          <a:xfrm>
            <a:off x="731520" y="1435608"/>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בינה מלאכותית</a:t>
            </a:r>
            <a:endParaRPr lang="he-IL" sz="1700" dirty="0"/>
          </a:p>
        </p:txBody>
      </p:sp>
      <p:sp>
        <p:nvSpPr>
          <p:cNvPr id="11" name="Text 8"/>
          <p:cNvSpPr txBox="1"/>
          <p:nvPr/>
        </p:nvSpPr>
        <p:spPr>
          <a:xfrm>
            <a:off x="731520" y="1828800"/>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משנה את תוכן התפקיד גם כשהמשרה נשמרת. עצם המודעות לה מייצרת חוסר ביטחון (Chung et al., 2025)</a:t>
            </a:r>
            <a:endParaRPr lang="he-IL" sz="1250" dirty="0"/>
          </a:p>
        </p:txBody>
      </p:sp>
      <p:sp>
        <p:nvSpPr>
          <p:cNvPr id="12" name="Shape 9"/>
          <p:cNvSpPr/>
          <p:nvPr/>
        </p:nvSpPr>
        <p:spPr>
          <a:xfrm>
            <a:off x="548640" y="2578608"/>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3" name="Shape 10"/>
          <p:cNvSpPr/>
          <p:nvPr/>
        </p:nvSpPr>
        <p:spPr>
          <a:xfrm>
            <a:off x="5486400" y="2852928"/>
            <a:ext cx="548640" cy="548640"/>
          </a:xfrm>
          <a:prstGeom prst="ellipse">
            <a:avLst/>
          </a:prstGeom>
          <a:solidFill>
            <a:srgbClr val="FCA311"/>
          </a:solidFill>
          <a:ln w="12700">
            <a:solidFill>
              <a:srgbClr val="FCA311"/>
            </a:solidFill>
            <a:prstDash val="solid"/>
          </a:ln>
        </p:spPr>
      </p:sp>
      <p:sp>
        <p:nvSpPr>
          <p:cNvPr id="14" name="Text 11"/>
          <p:cNvSpPr txBox="1"/>
          <p:nvPr/>
        </p:nvSpPr>
        <p:spPr>
          <a:xfrm>
            <a:off x="5486400" y="2852928"/>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15" name="Text 12"/>
          <p:cNvSpPr txBox="1"/>
          <p:nvPr/>
        </p:nvSpPr>
        <p:spPr>
          <a:xfrm>
            <a:off x="731520" y="2688336"/>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התייעלות בהייטק</a:t>
            </a:r>
            <a:endParaRPr lang="he-IL" sz="1700" dirty="0"/>
          </a:p>
        </p:txBody>
      </p:sp>
      <p:sp>
        <p:nvSpPr>
          <p:cNvPr id="16" name="Text 13"/>
          <p:cNvSpPr txBox="1"/>
          <p:nvPr/>
        </p:nvSpPr>
        <p:spPr>
          <a:xfrm>
            <a:off x="731520" y="3081528"/>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גלי פיטורים ו"התייעלות AI" בראש סדר היום של מנהלים ב-2026 ("הקשיים של מנהלי הייטק", 2026)</a:t>
            </a:r>
            <a:endParaRPr lang="he-IL" sz="1250" dirty="0"/>
          </a:p>
        </p:txBody>
      </p:sp>
      <p:sp>
        <p:nvSpPr>
          <p:cNvPr id="17" name="Shape 14"/>
          <p:cNvSpPr/>
          <p:nvPr/>
        </p:nvSpPr>
        <p:spPr>
          <a:xfrm>
            <a:off x="548640" y="3831336"/>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8" name="Shape 15"/>
          <p:cNvSpPr/>
          <p:nvPr/>
        </p:nvSpPr>
        <p:spPr>
          <a:xfrm>
            <a:off x="5486400" y="4105656"/>
            <a:ext cx="548640" cy="548640"/>
          </a:xfrm>
          <a:prstGeom prst="ellipse">
            <a:avLst/>
          </a:prstGeom>
          <a:solidFill>
            <a:srgbClr val="FCA311"/>
          </a:solidFill>
          <a:ln w="12700">
            <a:solidFill>
              <a:srgbClr val="FCA311"/>
            </a:solidFill>
            <a:prstDash val="solid"/>
          </a:ln>
        </p:spPr>
      </p:sp>
      <p:sp>
        <p:nvSpPr>
          <p:cNvPr id="19" name="Text 16"/>
          <p:cNvSpPr txBox="1"/>
          <p:nvPr/>
        </p:nvSpPr>
        <p:spPr>
          <a:xfrm>
            <a:off x="5486400" y="4105656"/>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731520" y="3941064"/>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מילואים ומלחמה</a:t>
            </a:r>
            <a:endParaRPr lang="he-IL" sz="1700" dirty="0"/>
          </a:p>
        </p:txBody>
      </p:sp>
      <p:sp>
        <p:nvSpPr>
          <p:cNvPr id="21" name="Text 18"/>
          <p:cNvSpPr txBox="1"/>
          <p:nvPr/>
        </p:nvSpPr>
        <p:spPr>
          <a:xfrm>
            <a:off x="731520" y="4334256"/>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חוסר ודאות שמקורו מחוץ לארגון. ממד ישראלי ייחודי</a:t>
            </a:r>
            <a:endParaRPr lang="he-IL" sz="1250" dirty="0"/>
          </a:p>
        </p:txBody>
      </p:sp>
      <p:sp>
        <p:nvSpPr>
          <p:cNvPr id="22" name="Shape 19"/>
          <p:cNvSpPr/>
          <p:nvPr/>
        </p:nvSpPr>
        <p:spPr>
          <a:xfrm>
            <a:off x="548640" y="5084064"/>
            <a:ext cx="566928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23" name="Shape 20"/>
          <p:cNvSpPr/>
          <p:nvPr/>
        </p:nvSpPr>
        <p:spPr>
          <a:xfrm>
            <a:off x="5486400" y="5358384"/>
            <a:ext cx="548640" cy="548640"/>
          </a:xfrm>
          <a:prstGeom prst="ellipse">
            <a:avLst/>
          </a:prstGeom>
          <a:solidFill>
            <a:srgbClr val="FCA311"/>
          </a:solidFill>
          <a:ln w="12700">
            <a:solidFill>
              <a:srgbClr val="FCA311"/>
            </a:solidFill>
            <a:prstDash val="solid"/>
          </a:ln>
        </p:spPr>
      </p:sp>
      <p:sp>
        <p:nvSpPr>
          <p:cNvPr id="24" name="Text 21"/>
          <p:cNvSpPr txBox="1"/>
          <p:nvPr/>
        </p:nvSpPr>
        <p:spPr>
          <a:xfrm>
            <a:off x="5486400" y="5358384"/>
            <a:ext cx="548640" cy="54864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731520" y="5193792"/>
            <a:ext cx="4572000" cy="41148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דרישות חדשות</a:t>
            </a:r>
            <a:endParaRPr lang="he-IL" sz="1700" dirty="0"/>
          </a:p>
        </p:txBody>
      </p:sp>
      <p:sp>
        <p:nvSpPr>
          <p:cNvPr id="26" name="Text 23"/>
          <p:cNvSpPr txBox="1"/>
          <p:nvPr/>
        </p:nvSpPr>
        <p:spPr>
          <a:xfrm>
            <a:off x="731520" y="5586984"/>
            <a:ext cx="4572000" cy="5486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ניהול עצמי, הסתגלות ויוזמה אישית: מה שעולם העבודה הגמיש דורש (Cetkovská et al., 2026)</a:t>
            </a:r>
            <a:endParaRPr lang="he-IL" sz="1250" dirty="0"/>
          </a:p>
        </p:txBody>
      </p:sp>
      <p:sp>
        <p:nvSpPr>
          <p:cNvPr id="27" name="Text 2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8" name="Text 2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4</a:t>
            </a:r>
            <a:endParaRPr lang="he-IL"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המאמר שבחרנו</a:t>
            </a:r>
            <a:endParaRPr lang="he-IL" sz="3000" dirty="0"/>
          </a:p>
        </p:txBody>
      </p:sp>
      <p:sp>
        <p:nvSpPr>
          <p:cNvPr id="3" name="Shape 1"/>
          <p:cNvSpPr/>
          <p:nvPr/>
        </p:nvSpPr>
        <p:spPr>
          <a:xfrm>
            <a:off x="4846320" y="1325880"/>
            <a:ext cx="6793992" cy="3246120"/>
          </a:xfrm>
          <a:prstGeom prst="roundRect">
            <a:avLst>
              <a:gd name="adj" fmla="val 3380"/>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5074920" y="1463040"/>
            <a:ext cx="6355080" cy="868680"/>
          </a:xfrm>
          <a:prstGeom prst="rect">
            <a:avLst/>
          </a:prstGeom>
          <a:noFill/>
          <a:ln/>
        </p:spPr>
        <p:txBody>
          <a:bodyPr wrap="square" lIns="0" tIns="0" rIns="0" bIns="0" rtlCol="0" anchor="ctr"/>
          <a:lstStyle/>
          <a:p>
            <a:pPr algn="r" indent="0" marL="0">
              <a:buNone/>
            </a:pPr>
            <a:r>
              <a:rPr lang="en-US" sz="1700" b="1" dirty="0">
                <a:solidFill>
                  <a:srgbClr val="FFFFFF"/>
                </a:solidFill>
                <a:latin typeface="Arial" pitchFamily="34" charset="0"/>
                <a:ea typeface="Arial" pitchFamily="34" charset="-122"/>
                <a:cs typeface="Arial" pitchFamily="34" charset="-120"/>
              </a:rPr>
              <a:t>The Role of Needs-Based Job Crafting in Strengthening Work-Related Sense of Coherence: A Two-Wave Panel Study</a:t>
            </a:r>
            <a:endParaRPr lang="en-US" sz="1700" dirty="0"/>
          </a:p>
        </p:txBody>
      </p:sp>
      <p:sp>
        <p:nvSpPr>
          <p:cNvPr id="5" name="Text 3"/>
          <p:cNvSpPr txBox="1"/>
          <p:nvPr/>
        </p:nvSpPr>
        <p:spPr>
          <a:xfrm>
            <a:off x="5074920" y="2331720"/>
            <a:ext cx="6355080" cy="411480"/>
          </a:xfrm>
          <a:prstGeom prst="rect">
            <a:avLst/>
          </a:prstGeom>
          <a:noFill/>
          <a:ln/>
        </p:spPr>
        <p:txBody>
          <a:bodyPr wrap="square" lIns="0" tIns="0" rIns="0" bIns="0" rtlCol="0" anchor="t"/>
          <a:lstStyle/>
          <a:p>
            <a:pPr algn="r" indent="0" marL="0">
              <a:buNone/>
            </a:pPr>
            <a:r>
              <a:rPr lang="en-US" sz="1150" dirty="0">
                <a:solidFill>
                  <a:srgbClr val="FCA311"/>
                </a:solidFill>
                <a:latin typeface="Arial" pitchFamily="34" charset="0"/>
                <a:ea typeface="Arial" pitchFamily="34" charset="-122"/>
                <a:cs typeface="Arial" pitchFamily="34" charset="-120"/>
              </a:rPr>
              <a:t>Cetkovská, Bauer &amp; Tušl  |  Scandinavian Journal of Work and Organizational Psychology, 11(1)  |  2026</a:t>
            </a:r>
            <a:endParaRPr lang="en-US" sz="1150" dirty="0"/>
          </a:p>
        </p:txBody>
      </p:sp>
      <p:sp>
        <p:nvSpPr>
          <p:cNvPr id="6" name="Text 4"/>
          <p:cNvSpPr txBox="1"/>
          <p:nvPr/>
        </p:nvSpPr>
        <p:spPr>
          <a:xfrm>
            <a:off x="5074920" y="2788920"/>
            <a:ext cx="6355080" cy="1737360"/>
          </a:xfrm>
          <a:prstGeom prst="rect">
            <a:avLst/>
          </a:prstGeom>
          <a:noFill/>
          <a:ln/>
        </p:spPr>
        <p:txBody>
          <a:bodyPr wrap="square" lIns="0" tIns="0" rIns="0" bIns="0" rtlCol="0" anchor="t"/>
          <a:lstStyle/>
          <a:p>
            <a:pPr rtl="1" algn="r" indent="0" marL="0">
              <a:buNone/>
            </a:pPr>
            <a:r>
              <a:rPr lang="he-IL" altLang="en-US" sz="1250" dirty="0">
                <a:solidFill>
                  <a:srgbClr val="E5EAF3"/>
                </a:solidFill>
                <a:latin typeface="Arial" pitchFamily="34" charset="0"/>
                <a:ea typeface="Arial" pitchFamily="34" charset="-122"/>
                <a:cs typeface="Arial" pitchFamily="34" charset="-120"/>
              </a:rPr>
              <a:t>המאמר הוא מחקר אורך שעקב אחר 924 עובדים בגרמניה ובשווייץ בשתי מדידות בהפרש של חצי שנה, ובחן האם עיצוב תפקיד מבוסס צרכים מחזק את תחושת הקוהרנטיות בעבודה. הוא פורסם בכתב עת שפיט בגישה פתוחה מלאה בהוצאת אוניברסיטת סטוקהולם, על ידי חוקרים מאוניברסיטת קארל בפראג ומהמרכז לסלוטוגנזה באוניברסיטת ציריך, במימון הקרן הלאומית השווייצרית למדע (Cetkovská et al., 2026).</a:t>
            </a:r>
            <a:endParaRPr lang="he-IL" sz="1250" dirty="0"/>
          </a:p>
        </p:txBody>
      </p:sp>
      <p:sp>
        <p:nvSpPr>
          <p:cNvPr id="7" name="Shape 5"/>
          <p:cNvSpPr/>
          <p:nvPr/>
        </p:nvSpPr>
        <p:spPr>
          <a:xfrm>
            <a:off x="548640" y="1325880"/>
            <a:ext cx="4023360" cy="3246120"/>
          </a:xfrm>
          <a:prstGeom prst="roundRect">
            <a:avLst>
              <a:gd name="adj" fmla="val 3380"/>
            </a:avLst>
          </a:prstGeom>
          <a:solidFill>
            <a:srgbClr val="EEF2F8"/>
          </a:solidFill>
          <a:ln w="12700">
            <a:solidFill>
              <a:srgbClr val="EEF2F8"/>
            </a:solidFill>
            <a:prstDash val="solid"/>
          </a:ln>
          <a:effectLst>
            <a:outerShdw sx="100000" sy="100000" kx="0" ky="0" algn="bl" rotWithShape="0" blurRad="50800" dist="25400" dir="5400000">
              <a:srgbClr val="000000">
                <a:alpha val="12000"/>
              </a:srgbClr>
            </a:outerShdw>
          </a:effectLst>
        </p:spPr>
      </p:sp>
      <p:sp>
        <p:nvSpPr>
          <p:cNvPr id="8" name="Text 6"/>
          <p:cNvSpPr txBox="1"/>
          <p:nvPr/>
        </p:nvSpPr>
        <p:spPr>
          <a:xfrm>
            <a:off x="777240" y="1463040"/>
            <a:ext cx="3566160" cy="45720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למה בחרנו בו?</a:t>
            </a:r>
            <a:endParaRPr lang="he-IL" sz="1700" dirty="0"/>
          </a:p>
        </p:txBody>
      </p:sp>
      <p:sp>
        <p:nvSpPr>
          <p:cNvPr id="9" name="Text 7"/>
          <p:cNvSpPr txBox="1"/>
          <p:nvPr/>
        </p:nvSpPr>
        <p:spPr>
          <a:xfrm>
            <a:off x="777240" y="1920240"/>
            <a:ext cx="3566160" cy="256032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בחרנו במאמר משום שהוא שואל מה עוזר לעובדים ולא רק מה מזיק להם, ומשום שהוא מציע כלי שנמצא בשליטת העובד עצמו ואינו תלוי בארגון. הוא נשען על רעיון שפיתח אהרן אנטונובסקי, שפעל באוניברסיטת בן-גוריון בנגב, ולכן מתחבר גם להקשר הישראלי של הכיתה.</a:t>
            </a:r>
            <a:endParaRPr lang="he-IL" sz="1250" dirty="0"/>
          </a:p>
        </p:txBody>
      </p:sp>
      <p:sp>
        <p:nvSpPr>
          <p:cNvPr id="10" name="Shape 8"/>
          <p:cNvSpPr/>
          <p:nvPr/>
        </p:nvSpPr>
        <p:spPr>
          <a:xfrm>
            <a:off x="548640" y="4754880"/>
            <a:ext cx="11091672" cy="1508760"/>
          </a:xfrm>
          <a:prstGeom prst="roundRect">
            <a:avLst>
              <a:gd name="adj" fmla="val 7273"/>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1" name="Text 9"/>
          <p:cNvSpPr txBox="1"/>
          <p:nvPr/>
        </p:nvSpPr>
        <p:spPr>
          <a:xfrm>
            <a:off x="777240" y="4828032"/>
            <a:ext cx="10607040" cy="365760"/>
          </a:xfrm>
          <a:prstGeom prst="rect">
            <a:avLst/>
          </a:prstGeom>
          <a:noFill/>
          <a:ln/>
        </p:spPr>
        <p:txBody>
          <a:bodyPr wrap="square" lIns="0" tIns="0" rIns="0" bIns="0" rtlCol="0" anchor="t"/>
          <a:lstStyle/>
          <a:p>
            <a:pPr rtl="1" algn="r" indent="0" marL="0">
              <a:buNone/>
            </a:pPr>
            <a:r>
              <a:rPr lang="he-IL" altLang="en-US" sz="1400" b="1" dirty="0">
                <a:solidFill>
                  <a:srgbClr val="2A9D8F"/>
                </a:solidFill>
                <a:latin typeface="Arial" pitchFamily="34" charset="0"/>
                <a:ea typeface="Arial" pitchFamily="34" charset="-122"/>
                <a:cs typeface="Arial" pitchFamily="34" charset="-120"/>
              </a:rPr>
              <a:t>מאמר משלים (2025, גישה פתוחה)</a:t>
            </a:r>
            <a:endParaRPr lang="he-IL" sz="1400" dirty="0"/>
          </a:p>
        </p:txBody>
      </p:sp>
      <p:sp>
        <p:nvSpPr>
          <p:cNvPr id="12" name="Text 10"/>
          <p:cNvSpPr txBox="1"/>
          <p:nvPr/>
        </p:nvSpPr>
        <p:spPr>
          <a:xfrm>
            <a:off x="777240" y="5193792"/>
            <a:ext cx="10607040" cy="100584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לצורך הצגת שני מאמרים נבחר מחקר אורך שבחן כיצד המודעות לבינה מלאכותית מייצרת חוסר ביטחון תעסוקתי וכיצד חוסן קריירה ממתן אותו (Chung, Im, Kim &amp; Yun, 2025, Australian Journal of Psychology, 77(1), Article 2559910). המאמר המשלים מספק את האבחנה, והמאמר המרכזי את הטיפול.</a:t>
            </a:r>
            <a:endParaRPr lang="he-IL" sz="1250" dirty="0"/>
          </a:p>
        </p:txBody>
      </p:sp>
      <p:sp>
        <p:nvSpPr>
          <p:cNvPr id="13" name="Text 11"/>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4" name="Text 12"/>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5</a:t>
            </a:r>
            <a:endParaRPr lang="he-IL"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שני מושגים: תחושת קוהרנטיות בעבודה ועיצוב תפקיד מבוסס צרכים</a:t>
            </a:r>
            <a:endParaRPr lang="he-IL" sz="3000" dirty="0"/>
          </a:p>
        </p:txBody>
      </p:sp>
      <p:sp>
        <p:nvSpPr>
          <p:cNvPr id="3" name="Shape 1"/>
          <p:cNvSpPr/>
          <p:nvPr/>
        </p:nvSpPr>
        <p:spPr>
          <a:xfrm>
            <a:off x="6263640" y="1280160"/>
            <a:ext cx="5376672"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492240" y="1371600"/>
            <a:ext cx="4937760" cy="45720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תחושת קוהרנטיות בעבודה (Work-SOC)</a:t>
            </a:r>
            <a:endParaRPr lang="he-IL" sz="1700" dirty="0"/>
          </a:p>
        </p:txBody>
      </p:sp>
      <p:sp>
        <p:nvSpPr>
          <p:cNvPr id="5" name="Text 3"/>
          <p:cNvSpPr txBox="1"/>
          <p:nvPr/>
        </p:nvSpPr>
        <p:spPr>
          <a:xfrm>
            <a:off x="6492240" y="1828800"/>
            <a:ext cx="4937760" cy="640080"/>
          </a:xfrm>
          <a:prstGeom prst="rect">
            <a:avLst/>
          </a:prstGeom>
          <a:noFill/>
          <a:ln/>
        </p:spPr>
        <p:txBody>
          <a:bodyPr wrap="square" lIns="0" tIns="0" rIns="0" bIns="0" rtlCol="0" anchor="t"/>
          <a:lstStyle/>
          <a:p>
            <a:pPr rtl="1" algn="r" indent="0" marL="0">
              <a:buNone/>
            </a:pPr>
            <a:r>
              <a:rPr lang="he-IL" altLang="en-US" sz="1250" dirty="0">
                <a:solidFill>
                  <a:srgbClr val="6B7280"/>
                </a:solidFill>
                <a:latin typeface="Arial" pitchFamily="34" charset="0"/>
                <a:ea typeface="Arial" pitchFamily="34" charset="-122"/>
                <a:cs typeface="Arial" pitchFamily="34" charset="-120"/>
              </a:rPr>
              <a:t>מהגישה הסלוטוגנית של אנטונובסקי, כפי שמובאת במאמר: לא "למה חולים" אלא "איך נשארים בריאים למרות הלחץ"</a:t>
            </a:r>
            <a:endParaRPr lang="he-IL" sz="1250" dirty="0"/>
          </a:p>
        </p:txBody>
      </p:sp>
      <p:sp>
        <p:nvSpPr>
          <p:cNvPr id="6" name="Shape 4"/>
          <p:cNvSpPr/>
          <p:nvPr/>
        </p:nvSpPr>
        <p:spPr>
          <a:xfrm>
            <a:off x="6492240" y="2606040"/>
            <a:ext cx="4937760" cy="1005840"/>
          </a:xfrm>
          <a:prstGeom prst="roundRect">
            <a:avLst>
              <a:gd name="adj" fmla="val 10909"/>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7" name="Shape 5"/>
          <p:cNvSpPr/>
          <p:nvPr/>
        </p:nvSpPr>
        <p:spPr>
          <a:xfrm>
            <a:off x="10835640" y="2880360"/>
            <a:ext cx="457200" cy="457200"/>
          </a:xfrm>
          <a:prstGeom prst="ellipse">
            <a:avLst/>
          </a:prstGeom>
          <a:solidFill>
            <a:srgbClr val="2A9D8F"/>
          </a:solidFill>
          <a:ln w="12700">
            <a:solidFill>
              <a:srgbClr val="2A9D8F"/>
            </a:solidFill>
            <a:prstDash val="solid"/>
          </a:ln>
        </p:spPr>
      </p:sp>
      <p:sp>
        <p:nvSpPr>
          <p:cNvPr id="8" name="Text 6"/>
          <p:cNvSpPr txBox="1"/>
          <p:nvPr/>
        </p:nvSpPr>
        <p:spPr>
          <a:xfrm>
            <a:off x="6675120" y="2697480"/>
            <a:ext cx="4023360" cy="411480"/>
          </a:xfrm>
          <a:prstGeom prst="rect">
            <a:avLst/>
          </a:prstGeom>
          <a:noFill/>
          <a:ln/>
        </p:spPr>
        <p:txBody>
          <a:bodyPr wrap="square" lIns="0" tIns="0" rIns="0" bIns="0" rtlCol="0" anchor="t"/>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מובנות</a:t>
            </a:r>
            <a:endParaRPr lang="he-IL" sz="1600" dirty="0"/>
          </a:p>
        </p:txBody>
      </p:sp>
      <p:sp>
        <p:nvSpPr>
          <p:cNvPr id="9" name="Text 7"/>
          <p:cNvSpPr txBox="1"/>
          <p:nvPr/>
        </p:nvSpPr>
        <p:spPr>
          <a:xfrm>
            <a:off x="6675120" y="3108960"/>
            <a:ext cx="4023360" cy="457200"/>
          </a:xfrm>
          <a:prstGeom prst="rect">
            <a:avLst/>
          </a:prstGeom>
          <a:noFill/>
          <a:ln/>
        </p:spPr>
        <p:txBody>
          <a:bodyPr wrap="square" lIns="0" tIns="0" rIns="0" bIns="0" rtlCol="0" anchor="t"/>
          <a:lstStyle/>
          <a:p>
            <a:pPr rtl="1" algn="r" indent="0" marL="0">
              <a:buNone/>
            </a:pPr>
            <a:r>
              <a:rPr lang="he-IL" altLang="en-US" sz="1200" dirty="0">
                <a:solidFill>
                  <a:srgbClr val="1F2937"/>
                </a:solidFill>
                <a:latin typeface="Arial" pitchFamily="34" charset="0"/>
                <a:ea typeface="Arial" pitchFamily="34" charset="-122"/>
                <a:cs typeface="Arial" pitchFamily="34" charset="-120"/>
              </a:rPr>
              <a:t>העבודה מובנית, עקבית וברורה (קוגניטיבי)</a:t>
            </a:r>
            <a:endParaRPr lang="he-IL" sz="1200" dirty="0"/>
          </a:p>
        </p:txBody>
      </p:sp>
      <p:sp>
        <p:nvSpPr>
          <p:cNvPr id="10" name="Shape 8"/>
          <p:cNvSpPr/>
          <p:nvPr/>
        </p:nvSpPr>
        <p:spPr>
          <a:xfrm>
            <a:off x="6492240" y="3794760"/>
            <a:ext cx="4937760" cy="1005840"/>
          </a:xfrm>
          <a:prstGeom prst="roundRect">
            <a:avLst>
              <a:gd name="adj" fmla="val 10909"/>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1" name="Shape 9"/>
          <p:cNvSpPr/>
          <p:nvPr/>
        </p:nvSpPr>
        <p:spPr>
          <a:xfrm>
            <a:off x="10835640" y="4069080"/>
            <a:ext cx="457200" cy="457200"/>
          </a:xfrm>
          <a:prstGeom prst="ellipse">
            <a:avLst/>
          </a:prstGeom>
          <a:solidFill>
            <a:srgbClr val="FCA311"/>
          </a:solidFill>
          <a:ln w="12700">
            <a:solidFill>
              <a:srgbClr val="FCA311"/>
            </a:solidFill>
            <a:prstDash val="solid"/>
          </a:ln>
        </p:spPr>
      </p:sp>
      <p:sp>
        <p:nvSpPr>
          <p:cNvPr id="12" name="Text 10"/>
          <p:cNvSpPr txBox="1"/>
          <p:nvPr/>
        </p:nvSpPr>
        <p:spPr>
          <a:xfrm>
            <a:off x="6675120" y="3886200"/>
            <a:ext cx="4023360" cy="411480"/>
          </a:xfrm>
          <a:prstGeom prst="rect">
            <a:avLst/>
          </a:prstGeom>
          <a:noFill/>
          <a:ln/>
        </p:spPr>
        <p:txBody>
          <a:bodyPr wrap="square" lIns="0" tIns="0" rIns="0" bIns="0" rtlCol="0" anchor="t"/>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ניהוליות</a:t>
            </a:r>
            <a:endParaRPr lang="he-IL" sz="1600" dirty="0"/>
          </a:p>
        </p:txBody>
      </p:sp>
      <p:sp>
        <p:nvSpPr>
          <p:cNvPr id="13" name="Text 11"/>
          <p:cNvSpPr txBox="1"/>
          <p:nvPr/>
        </p:nvSpPr>
        <p:spPr>
          <a:xfrm>
            <a:off x="6675120" y="4297680"/>
            <a:ext cx="4023360" cy="457200"/>
          </a:xfrm>
          <a:prstGeom prst="rect">
            <a:avLst/>
          </a:prstGeom>
          <a:noFill/>
          <a:ln/>
        </p:spPr>
        <p:txBody>
          <a:bodyPr wrap="square" lIns="0" tIns="0" rIns="0" bIns="0" rtlCol="0" anchor="t"/>
          <a:lstStyle/>
          <a:p>
            <a:pPr rtl="1" algn="r" indent="0" marL="0">
              <a:buNone/>
            </a:pPr>
            <a:r>
              <a:rPr lang="he-IL" altLang="en-US" sz="1200" dirty="0">
                <a:solidFill>
                  <a:srgbClr val="1F2937"/>
                </a:solidFill>
                <a:latin typeface="Arial" pitchFamily="34" charset="0"/>
                <a:ea typeface="Arial" pitchFamily="34" charset="-122"/>
                <a:cs typeface="Arial" pitchFamily="34" charset="-120"/>
              </a:rPr>
              <a:t>יש לי משאבים מספיקים לדרישות (התנהגותי)</a:t>
            </a:r>
            <a:endParaRPr lang="he-IL" sz="1200" dirty="0"/>
          </a:p>
        </p:txBody>
      </p:sp>
      <p:sp>
        <p:nvSpPr>
          <p:cNvPr id="14" name="Shape 12"/>
          <p:cNvSpPr/>
          <p:nvPr/>
        </p:nvSpPr>
        <p:spPr>
          <a:xfrm>
            <a:off x="6492240" y="4983480"/>
            <a:ext cx="4937760" cy="1005840"/>
          </a:xfrm>
          <a:prstGeom prst="roundRect">
            <a:avLst>
              <a:gd name="adj" fmla="val 10909"/>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5" name="Shape 13"/>
          <p:cNvSpPr/>
          <p:nvPr/>
        </p:nvSpPr>
        <p:spPr>
          <a:xfrm>
            <a:off x="10835640" y="5257800"/>
            <a:ext cx="457200" cy="457200"/>
          </a:xfrm>
          <a:prstGeom prst="ellipse">
            <a:avLst/>
          </a:prstGeom>
          <a:solidFill>
            <a:srgbClr val="E76F51"/>
          </a:solidFill>
          <a:ln w="12700">
            <a:solidFill>
              <a:srgbClr val="E76F51"/>
            </a:solidFill>
            <a:prstDash val="solid"/>
          </a:ln>
        </p:spPr>
      </p:sp>
      <p:sp>
        <p:nvSpPr>
          <p:cNvPr id="16" name="Text 14"/>
          <p:cNvSpPr txBox="1"/>
          <p:nvPr/>
        </p:nvSpPr>
        <p:spPr>
          <a:xfrm>
            <a:off x="6675120" y="5074920"/>
            <a:ext cx="4023360" cy="411480"/>
          </a:xfrm>
          <a:prstGeom prst="rect">
            <a:avLst/>
          </a:prstGeom>
          <a:noFill/>
          <a:ln/>
        </p:spPr>
        <p:txBody>
          <a:bodyPr wrap="square" lIns="0" tIns="0" rIns="0" bIns="0" rtlCol="0" anchor="t"/>
          <a:lstStyle/>
          <a:p>
            <a:pPr rtl="1" algn="r" indent="0" marL="0">
              <a:buNone/>
            </a:pPr>
            <a:r>
              <a:rPr lang="he-IL" altLang="en-US" sz="1600" b="1" dirty="0">
                <a:solidFill>
                  <a:srgbClr val="14213D"/>
                </a:solidFill>
                <a:latin typeface="Arial" pitchFamily="34" charset="0"/>
                <a:ea typeface="Arial" pitchFamily="34" charset="-122"/>
                <a:cs typeface="Arial" pitchFamily="34" charset="-120"/>
              </a:rPr>
              <a:t>משמעותיות</a:t>
            </a:r>
            <a:endParaRPr lang="he-IL" sz="1600" dirty="0"/>
          </a:p>
        </p:txBody>
      </p:sp>
      <p:sp>
        <p:nvSpPr>
          <p:cNvPr id="17" name="Text 15"/>
          <p:cNvSpPr txBox="1"/>
          <p:nvPr/>
        </p:nvSpPr>
        <p:spPr>
          <a:xfrm>
            <a:off x="6675120" y="5486400"/>
            <a:ext cx="4023360" cy="457200"/>
          </a:xfrm>
          <a:prstGeom prst="rect">
            <a:avLst/>
          </a:prstGeom>
          <a:noFill/>
          <a:ln/>
        </p:spPr>
        <p:txBody>
          <a:bodyPr wrap="square" lIns="0" tIns="0" rIns="0" bIns="0" rtlCol="0" anchor="t"/>
          <a:lstStyle/>
          <a:p>
            <a:pPr rtl="1" algn="r" indent="0" marL="0">
              <a:buNone/>
            </a:pPr>
            <a:r>
              <a:rPr lang="he-IL" altLang="en-US" sz="1200" dirty="0">
                <a:solidFill>
                  <a:srgbClr val="1F2937"/>
                </a:solidFill>
                <a:latin typeface="Arial" pitchFamily="34" charset="0"/>
                <a:ea typeface="Arial" pitchFamily="34" charset="-122"/>
                <a:cs typeface="Arial" pitchFamily="34" charset="-120"/>
              </a:rPr>
              <a:t>העבודה ראויה למחויבות ולמעורבות (מוטיבציוני)</a:t>
            </a:r>
            <a:endParaRPr lang="he-IL" sz="1200" dirty="0"/>
          </a:p>
        </p:txBody>
      </p:sp>
      <p:sp>
        <p:nvSpPr>
          <p:cNvPr id="18" name="Shape 16"/>
          <p:cNvSpPr/>
          <p:nvPr/>
        </p:nvSpPr>
        <p:spPr>
          <a:xfrm>
            <a:off x="548640" y="1280160"/>
            <a:ext cx="5376672"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9" name="Text 17"/>
          <p:cNvSpPr txBox="1"/>
          <p:nvPr/>
        </p:nvSpPr>
        <p:spPr>
          <a:xfrm>
            <a:off x="777240" y="1371600"/>
            <a:ext cx="4937760" cy="457200"/>
          </a:xfrm>
          <a:prstGeom prst="rect">
            <a:avLst/>
          </a:prstGeom>
          <a:noFill/>
          <a:ln/>
        </p:spPr>
        <p:txBody>
          <a:bodyPr wrap="square" lIns="0" tIns="0" rIns="0" bIns="0" rtlCol="0" anchor="t"/>
          <a:lstStyle/>
          <a:p>
            <a:pPr rtl="1" algn="r" indent="0" marL="0">
              <a:buNone/>
            </a:pPr>
            <a:r>
              <a:rPr lang="he-IL" altLang="en-US" sz="1700" b="1" dirty="0">
                <a:solidFill>
                  <a:srgbClr val="14213D"/>
                </a:solidFill>
                <a:latin typeface="Arial" pitchFamily="34" charset="0"/>
                <a:ea typeface="Arial" pitchFamily="34" charset="-122"/>
                <a:cs typeface="Arial" pitchFamily="34" charset="-120"/>
              </a:rPr>
              <a:t>עיצוב תפקיד מבוסס צרכים (NJC)</a:t>
            </a:r>
            <a:endParaRPr lang="he-IL" sz="1700" dirty="0"/>
          </a:p>
        </p:txBody>
      </p:sp>
      <p:sp>
        <p:nvSpPr>
          <p:cNvPr id="20" name="Text 18"/>
          <p:cNvSpPr txBox="1"/>
          <p:nvPr/>
        </p:nvSpPr>
        <p:spPr>
          <a:xfrm>
            <a:off x="777240" y="1828800"/>
            <a:ext cx="4937760" cy="640080"/>
          </a:xfrm>
          <a:prstGeom prst="rect">
            <a:avLst/>
          </a:prstGeom>
          <a:noFill/>
          <a:ln/>
        </p:spPr>
        <p:txBody>
          <a:bodyPr wrap="square" lIns="0" tIns="0" rIns="0" bIns="0" rtlCol="0" anchor="t"/>
          <a:lstStyle/>
          <a:p>
            <a:pPr rtl="1" algn="r" indent="0" marL="0">
              <a:buNone/>
            </a:pPr>
            <a:r>
              <a:rPr lang="he-IL" altLang="en-US" sz="1250" dirty="0">
                <a:solidFill>
                  <a:srgbClr val="6B7280"/>
                </a:solidFill>
                <a:latin typeface="Arial" pitchFamily="34" charset="0"/>
                <a:ea typeface="Arial" pitchFamily="34" charset="-122"/>
                <a:cs typeface="Arial" pitchFamily="34" charset="-120"/>
              </a:rPr>
              <a:t>מאמצים יזומים של העובד לספק שישה צרכים פסיכולוגיים בעבודה (DRAMMA)</a:t>
            </a:r>
            <a:endParaRPr lang="he-IL" sz="1250" dirty="0"/>
          </a:p>
        </p:txBody>
      </p:sp>
      <p:sp>
        <p:nvSpPr>
          <p:cNvPr id="21" name="Text 19"/>
          <p:cNvSpPr txBox="1"/>
          <p:nvPr/>
        </p:nvSpPr>
        <p:spPr>
          <a:xfrm>
            <a:off x="777240" y="2606040"/>
            <a:ext cx="4937760" cy="365760"/>
          </a:xfrm>
          <a:prstGeom prst="rect">
            <a:avLst/>
          </a:prstGeom>
          <a:noFill/>
          <a:ln/>
        </p:spPr>
        <p:txBody>
          <a:bodyPr wrap="square" lIns="0" tIns="0" rIns="0" bIns="0" rtlCol="0" anchor="t"/>
          <a:lstStyle/>
          <a:p>
            <a:pPr rtl="1" algn="r" indent="0" marL="0">
              <a:buNone/>
            </a:pPr>
            <a:r>
              <a:rPr lang="he-IL" altLang="en-US" sz="1300" b="1" dirty="0">
                <a:solidFill>
                  <a:srgbClr val="2A9D8F"/>
                </a:solidFill>
                <a:latin typeface="Arial" pitchFamily="34" charset="0"/>
                <a:ea typeface="Arial" pitchFamily="34" charset="-122"/>
                <a:cs typeface="Arial" pitchFamily="34" charset="-120"/>
              </a:rPr>
              <a:t>צרכי התקרבות: לייצר מצבים חיוביים וצמיחה</a:t>
            </a:r>
            <a:endParaRPr lang="he-IL" sz="1300" dirty="0"/>
          </a:p>
        </p:txBody>
      </p:sp>
      <p:sp>
        <p:nvSpPr>
          <p:cNvPr id="22" name="Shape 20"/>
          <p:cNvSpPr/>
          <p:nvPr/>
        </p:nvSpPr>
        <p:spPr>
          <a:xfrm>
            <a:off x="4507992" y="3017520"/>
            <a:ext cx="1115568" cy="548640"/>
          </a:xfrm>
          <a:prstGeom prst="roundRect">
            <a:avLst>
              <a:gd name="adj" fmla="val 16667"/>
            </a:avLst>
          </a:prstGeom>
          <a:solidFill>
            <a:srgbClr val="2A9D8F"/>
          </a:solidFill>
          <a:ln w="12700">
            <a:solidFill>
              <a:srgbClr val="2A9D8F"/>
            </a:solidFill>
            <a:prstDash val="solid"/>
          </a:ln>
        </p:spPr>
      </p:sp>
      <p:sp>
        <p:nvSpPr>
          <p:cNvPr id="23" name="Text 21"/>
          <p:cNvSpPr txBox="1"/>
          <p:nvPr/>
        </p:nvSpPr>
        <p:spPr>
          <a:xfrm>
            <a:off x="4507992"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אוטונומיה</a:t>
            </a:r>
            <a:endParaRPr lang="he-IL" sz="1300" dirty="0"/>
          </a:p>
        </p:txBody>
      </p:sp>
      <p:sp>
        <p:nvSpPr>
          <p:cNvPr id="24" name="Shape 22"/>
          <p:cNvSpPr/>
          <p:nvPr/>
        </p:nvSpPr>
        <p:spPr>
          <a:xfrm>
            <a:off x="3300984" y="3017520"/>
            <a:ext cx="1115568" cy="548640"/>
          </a:xfrm>
          <a:prstGeom prst="roundRect">
            <a:avLst>
              <a:gd name="adj" fmla="val 16667"/>
            </a:avLst>
          </a:prstGeom>
          <a:solidFill>
            <a:srgbClr val="2A9D8F"/>
          </a:solidFill>
          <a:ln w="12700">
            <a:solidFill>
              <a:srgbClr val="2A9D8F"/>
            </a:solidFill>
            <a:prstDash val="solid"/>
          </a:ln>
        </p:spPr>
      </p:sp>
      <p:sp>
        <p:nvSpPr>
          <p:cNvPr id="25" name="Text 23"/>
          <p:cNvSpPr txBox="1"/>
          <p:nvPr/>
        </p:nvSpPr>
        <p:spPr>
          <a:xfrm>
            <a:off x="3300984"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מיומנות</a:t>
            </a:r>
            <a:endParaRPr lang="he-IL" sz="1300" dirty="0"/>
          </a:p>
        </p:txBody>
      </p:sp>
      <p:sp>
        <p:nvSpPr>
          <p:cNvPr id="26" name="Shape 24"/>
          <p:cNvSpPr/>
          <p:nvPr/>
        </p:nvSpPr>
        <p:spPr>
          <a:xfrm>
            <a:off x="2093976" y="3017520"/>
            <a:ext cx="1115568" cy="548640"/>
          </a:xfrm>
          <a:prstGeom prst="roundRect">
            <a:avLst>
              <a:gd name="adj" fmla="val 16667"/>
            </a:avLst>
          </a:prstGeom>
          <a:solidFill>
            <a:srgbClr val="2A9D8F"/>
          </a:solidFill>
          <a:ln w="12700">
            <a:solidFill>
              <a:srgbClr val="2A9D8F"/>
            </a:solidFill>
            <a:prstDash val="solid"/>
          </a:ln>
        </p:spPr>
      </p:sp>
      <p:sp>
        <p:nvSpPr>
          <p:cNvPr id="27" name="Text 25"/>
          <p:cNvSpPr txBox="1"/>
          <p:nvPr/>
        </p:nvSpPr>
        <p:spPr>
          <a:xfrm>
            <a:off x="2093976"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משמעות</a:t>
            </a:r>
            <a:endParaRPr lang="he-IL" sz="1300" dirty="0"/>
          </a:p>
        </p:txBody>
      </p:sp>
      <p:sp>
        <p:nvSpPr>
          <p:cNvPr id="28" name="Shape 26"/>
          <p:cNvSpPr/>
          <p:nvPr/>
        </p:nvSpPr>
        <p:spPr>
          <a:xfrm>
            <a:off x="886968" y="3017520"/>
            <a:ext cx="1115568" cy="548640"/>
          </a:xfrm>
          <a:prstGeom prst="roundRect">
            <a:avLst>
              <a:gd name="adj" fmla="val 16667"/>
            </a:avLst>
          </a:prstGeom>
          <a:solidFill>
            <a:srgbClr val="2A9D8F"/>
          </a:solidFill>
          <a:ln w="12700">
            <a:solidFill>
              <a:srgbClr val="2A9D8F"/>
            </a:solidFill>
            <a:prstDash val="solid"/>
          </a:ln>
        </p:spPr>
      </p:sp>
      <p:sp>
        <p:nvSpPr>
          <p:cNvPr id="29" name="Text 27"/>
          <p:cNvSpPr txBox="1"/>
          <p:nvPr/>
        </p:nvSpPr>
        <p:spPr>
          <a:xfrm>
            <a:off x="886968" y="301752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שייכות</a:t>
            </a:r>
            <a:endParaRPr lang="he-IL" sz="1300" dirty="0"/>
          </a:p>
        </p:txBody>
      </p:sp>
      <p:sp>
        <p:nvSpPr>
          <p:cNvPr id="30" name="Text 28"/>
          <p:cNvSpPr txBox="1"/>
          <p:nvPr/>
        </p:nvSpPr>
        <p:spPr>
          <a:xfrm>
            <a:off x="777240" y="3840480"/>
            <a:ext cx="4937760" cy="365760"/>
          </a:xfrm>
          <a:prstGeom prst="rect">
            <a:avLst/>
          </a:prstGeom>
          <a:noFill/>
          <a:ln/>
        </p:spPr>
        <p:txBody>
          <a:bodyPr wrap="square" lIns="0" tIns="0" rIns="0" bIns="0" rtlCol="0" anchor="t"/>
          <a:lstStyle/>
          <a:p>
            <a:pPr rtl="1" algn="r" indent="0" marL="0">
              <a:buNone/>
            </a:pPr>
            <a:r>
              <a:rPr lang="he-IL" altLang="en-US" sz="1300" b="1" dirty="0">
                <a:solidFill>
                  <a:srgbClr val="D9822B"/>
                </a:solidFill>
                <a:latin typeface="Arial" pitchFamily="34" charset="0"/>
                <a:ea typeface="Arial" pitchFamily="34" charset="-122"/>
                <a:cs typeface="Arial" pitchFamily="34" charset="-120"/>
              </a:rPr>
              <a:t>צרכי הימנעות: להפחית מאמץ ולהשיב אנרגיה</a:t>
            </a:r>
            <a:endParaRPr lang="he-IL" sz="1300" dirty="0"/>
          </a:p>
        </p:txBody>
      </p:sp>
      <p:sp>
        <p:nvSpPr>
          <p:cNvPr id="31" name="Shape 29"/>
          <p:cNvSpPr/>
          <p:nvPr/>
        </p:nvSpPr>
        <p:spPr>
          <a:xfrm>
            <a:off x="4507992" y="4251960"/>
            <a:ext cx="1115568" cy="548640"/>
          </a:xfrm>
          <a:prstGeom prst="roundRect">
            <a:avLst>
              <a:gd name="adj" fmla="val 16667"/>
            </a:avLst>
          </a:prstGeom>
          <a:solidFill>
            <a:srgbClr val="D9822B"/>
          </a:solidFill>
          <a:ln w="12700">
            <a:solidFill>
              <a:srgbClr val="D9822B"/>
            </a:solidFill>
            <a:prstDash val="solid"/>
          </a:ln>
        </p:spPr>
      </p:sp>
      <p:sp>
        <p:nvSpPr>
          <p:cNvPr id="32" name="Text 30"/>
          <p:cNvSpPr txBox="1"/>
          <p:nvPr/>
        </p:nvSpPr>
        <p:spPr>
          <a:xfrm>
            <a:off x="4507992" y="425196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ניתוק</a:t>
            </a:r>
            <a:endParaRPr lang="he-IL" sz="1300" dirty="0"/>
          </a:p>
        </p:txBody>
      </p:sp>
      <p:sp>
        <p:nvSpPr>
          <p:cNvPr id="33" name="Shape 31"/>
          <p:cNvSpPr/>
          <p:nvPr/>
        </p:nvSpPr>
        <p:spPr>
          <a:xfrm>
            <a:off x="3300984" y="4251960"/>
            <a:ext cx="1115568" cy="548640"/>
          </a:xfrm>
          <a:prstGeom prst="roundRect">
            <a:avLst>
              <a:gd name="adj" fmla="val 16667"/>
            </a:avLst>
          </a:prstGeom>
          <a:solidFill>
            <a:srgbClr val="D9822B"/>
          </a:solidFill>
          <a:ln w="12700">
            <a:solidFill>
              <a:srgbClr val="D9822B"/>
            </a:solidFill>
            <a:prstDash val="solid"/>
          </a:ln>
        </p:spPr>
      </p:sp>
      <p:sp>
        <p:nvSpPr>
          <p:cNvPr id="34" name="Text 32"/>
          <p:cNvSpPr txBox="1"/>
          <p:nvPr/>
        </p:nvSpPr>
        <p:spPr>
          <a:xfrm>
            <a:off x="3300984" y="4251960"/>
            <a:ext cx="1115568" cy="548640"/>
          </a:xfrm>
          <a:prstGeom prst="rect">
            <a:avLst/>
          </a:prstGeom>
          <a:noFill/>
          <a:ln/>
        </p:spPr>
        <p:txBody>
          <a:bodyPr wrap="square" lIns="0" tIns="0" rIns="0" bIns="0" rtlCol="0" anchor="ctr"/>
          <a:lstStyle/>
          <a:p>
            <a:pPr rtl="1" algn="ctr" indent="0" marL="0">
              <a:buNone/>
            </a:pPr>
            <a:r>
              <a:rPr lang="he-IL" altLang="en-US" sz="1300" b="1" dirty="0">
                <a:solidFill>
                  <a:srgbClr val="FFFFFF"/>
                </a:solidFill>
                <a:latin typeface="Arial" pitchFamily="34" charset="0"/>
                <a:ea typeface="Arial" pitchFamily="34" charset="-122"/>
                <a:cs typeface="Arial" pitchFamily="34" charset="-120"/>
              </a:rPr>
              <a:t>הרפיה</a:t>
            </a:r>
            <a:endParaRPr lang="he-IL" sz="1300" dirty="0"/>
          </a:p>
        </p:txBody>
      </p:sp>
      <p:sp>
        <p:nvSpPr>
          <p:cNvPr id="35" name="Text 33"/>
          <p:cNvSpPr txBox="1"/>
          <p:nvPr/>
        </p:nvSpPr>
        <p:spPr>
          <a:xfrm>
            <a:off x="777240" y="5029200"/>
            <a:ext cx="4937760" cy="1097280"/>
          </a:xfrm>
          <a:prstGeom prst="rect">
            <a:avLst/>
          </a:prstGeom>
          <a:noFill/>
          <a:ln/>
        </p:spPr>
        <p:txBody>
          <a:bodyPr wrap="square" lIns="0" tIns="0" rIns="0" bIns="0" rtlCol="0" anchor="t"/>
          <a:lstStyle/>
          <a:p>
            <a:pPr rtl="1" algn="r" indent="0" marL="0">
              <a:buNone/>
            </a:pPr>
            <a:r>
              <a:rPr lang="he-IL" altLang="en-US" sz="1200" i="1" dirty="0">
                <a:solidFill>
                  <a:srgbClr val="1F2937"/>
                </a:solidFill>
                <a:latin typeface="Arial" pitchFamily="34" charset="0"/>
                <a:ea typeface="Arial" pitchFamily="34" charset="-122"/>
                <a:cs typeface="Arial" pitchFamily="34" charset="-120"/>
              </a:rPr>
              <a:t>דוגמה לפריט: "תכננתי את עבודתי כך שאחווה שליטה"; "ארגנתי את עבודתי כך שאשיג תחושת תכלית במה שאני עושה"</a:t>
            </a:r>
            <a:endParaRPr lang="he-IL" sz="1200" dirty="0"/>
          </a:p>
        </p:txBody>
      </p:sp>
      <p:sp>
        <p:nvSpPr>
          <p:cNvPr id="36" name="Text 3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37" name="Text 3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6</a:t>
            </a:r>
            <a:endParaRPr lang="he-IL"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הממצא: מה שאתם עושים בתפקיד משנה איך הוא נתפס חצי שנה אחר כך</a:t>
            </a:r>
            <a:endParaRPr lang="he-IL" sz="3000" dirty="0"/>
          </a:p>
        </p:txBody>
      </p:sp>
      <p:sp>
        <p:nvSpPr>
          <p:cNvPr id="3" name="Shape 1"/>
          <p:cNvSpPr/>
          <p:nvPr/>
        </p:nvSpPr>
        <p:spPr>
          <a:xfrm>
            <a:off x="8503920" y="2743200"/>
            <a:ext cx="3136392" cy="1371600"/>
          </a:xfrm>
          <a:prstGeom prst="roundRect">
            <a:avLst>
              <a:gd name="adj" fmla="val 8000"/>
            </a:avLst>
          </a:prstGeom>
          <a:solidFill>
            <a:srgbClr val="2A9D8F"/>
          </a:solidFill>
          <a:ln w="12700">
            <a:solidFill>
              <a:srgbClr val="2A9D8F"/>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641080" y="2788920"/>
            <a:ext cx="2880360" cy="7315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עיצוב תפקיד לצרכי התקרבות</a:t>
            </a:r>
            <a:endParaRPr lang="he-IL" sz="1500" dirty="0"/>
          </a:p>
        </p:txBody>
      </p:sp>
      <p:sp>
        <p:nvSpPr>
          <p:cNvPr id="5" name="Text 3"/>
          <p:cNvSpPr txBox="1"/>
          <p:nvPr/>
        </p:nvSpPr>
        <p:spPr>
          <a:xfrm>
            <a:off x="8641080" y="3474720"/>
            <a:ext cx="2880360" cy="548640"/>
          </a:xfrm>
          <a:prstGeom prst="rect">
            <a:avLst/>
          </a:prstGeom>
          <a:noFill/>
          <a:ln/>
        </p:spPr>
        <p:txBody>
          <a:bodyPr wrap="square" lIns="0" tIns="0" rIns="0" bIns="0" rtlCol="0" anchor="t"/>
          <a:lstStyle/>
          <a:p>
            <a:pPr rtl="1" algn="ctr" indent="0" marL="0">
              <a:buNone/>
            </a:pPr>
            <a:r>
              <a:rPr lang="he-IL" altLang="en-US" sz="1100" dirty="0">
                <a:solidFill>
                  <a:srgbClr val="E5F4F1"/>
                </a:solidFill>
                <a:latin typeface="Arial" pitchFamily="34" charset="0"/>
                <a:ea typeface="Arial" pitchFamily="34" charset="-122"/>
                <a:cs typeface="Arial" pitchFamily="34" charset="-120"/>
              </a:rPr>
              <a:t>אוטונומיה, מיומנות, משמעות, שייכות</a:t>
            </a:r>
            <a:endParaRPr lang="he-IL" sz="1100" dirty="0"/>
          </a:p>
        </p:txBody>
      </p:sp>
      <p:sp>
        <p:nvSpPr>
          <p:cNvPr id="6" name="Shape 4"/>
          <p:cNvSpPr/>
          <p:nvPr/>
        </p:nvSpPr>
        <p:spPr>
          <a:xfrm>
            <a:off x="8366760" y="1965960"/>
            <a:ext cx="0" cy="2926080"/>
          </a:xfrm>
          <a:prstGeom prst="line">
            <a:avLst/>
          </a:prstGeom>
          <a:noFill/>
          <a:ln w="38100">
            <a:solidFill>
              <a:srgbClr val="2A9D8F"/>
            </a:solidFill>
            <a:prstDash val="solid"/>
          </a:ln>
        </p:spPr>
      </p:sp>
      <p:sp>
        <p:nvSpPr>
          <p:cNvPr id="7" name="Shape 5"/>
          <p:cNvSpPr/>
          <p:nvPr/>
        </p:nvSpPr>
        <p:spPr>
          <a:xfrm>
            <a:off x="8366760" y="3429000"/>
            <a:ext cx="137160" cy="0"/>
          </a:xfrm>
          <a:prstGeom prst="line">
            <a:avLst/>
          </a:prstGeom>
          <a:noFill/>
          <a:ln w="38100">
            <a:solidFill>
              <a:srgbClr val="2A9D8F"/>
            </a:solidFill>
            <a:prstDash val="solid"/>
          </a:ln>
        </p:spPr>
      </p:sp>
      <p:sp>
        <p:nvSpPr>
          <p:cNvPr id="8" name="Shape 6"/>
          <p:cNvSpPr/>
          <p:nvPr/>
        </p:nvSpPr>
        <p:spPr>
          <a:xfrm>
            <a:off x="548640" y="1371600"/>
            <a:ext cx="3108960" cy="1188720"/>
          </a:xfrm>
          <a:prstGeom prst="roundRect">
            <a:avLst>
              <a:gd name="adj" fmla="val 9231"/>
            </a:avLst>
          </a:prstGeom>
          <a:solidFill>
            <a:srgbClr val="2A9D8F"/>
          </a:solidFill>
          <a:ln w="12700">
            <a:solidFill>
              <a:srgbClr val="2A9D8F"/>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a:off x="685800" y="1463040"/>
            <a:ext cx="2834640" cy="548640"/>
          </a:xfrm>
          <a:prstGeom prst="rect">
            <a:avLst/>
          </a:prstGeom>
          <a:noFill/>
          <a:ln/>
        </p:spPr>
        <p:txBody>
          <a:bodyPr wrap="square" lIns="0" tIns="0" rIns="0" bIns="0" rtlCol="0" anchor="ctr"/>
          <a:lstStyle/>
          <a:p>
            <a:pPr rtl="1" algn="ctr" indent="0" marL="0">
              <a:buNone/>
            </a:pPr>
            <a:r>
              <a:rPr lang="he-IL" altLang="en-US" sz="1700" b="1" dirty="0">
                <a:solidFill>
                  <a:srgbClr val="FFFFFF"/>
                </a:solidFill>
                <a:latin typeface="Arial" pitchFamily="34" charset="0"/>
                <a:ea typeface="Arial" pitchFamily="34" charset="-122"/>
                <a:cs typeface="Arial" pitchFamily="34" charset="-120"/>
              </a:rPr>
              <a:t>מובנות</a:t>
            </a:r>
            <a:endParaRPr lang="he-IL" sz="1700" dirty="0"/>
          </a:p>
        </p:txBody>
      </p:sp>
      <p:sp>
        <p:nvSpPr>
          <p:cNvPr id="10" name="Text 8"/>
          <p:cNvSpPr txBox="1"/>
          <p:nvPr/>
        </p:nvSpPr>
        <p:spPr>
          <a:xfrm>
            <a:off x="685800" y="2011680"/>
            <a:ext cx="283464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β = 0.142</a:t>
            </a:r>
            <a:endParaRPr lang="en-US" sz="1400" dirty="0"/>
          </a:p>
        </p:txBody>
      </p:sp>
      <p:sp>
        <p:nvSpPr>
          <p:cNvPr id="11" name="Shape 9"/>
          <p:cNvSpPr/>
          <p:nvPr/>
        </p:nvSpPr>
        <p:spPr>
          <a:xfrm>
            <a:off x="3840480" y="1737360"/>
            <a:ext cx="4526280" cy="457200"/>
          </a:xfrm>
          <a:prstGeom prst="leftArrow">
            <a:avLst/>
          </a:prstGeom>
          <a:solidFill>
            <a:srgbClr val="2A9D8F"/>
          </a:solidFill>
          <a:ln w="12700">
            <a:solidFill>
              <a:srgbClr val="2A9D8F"/>
            </a:solidFill>
            <a:prstDash val="solid"/>
          </a:ln>
        </p:spPr>
      </p:sp>
      <p:sp>
        <p:nvSpPr>
          <p:cNvPr id="12" name="Shape 10"/>
          <p:cNvSpPr/>
          <p:nvPr/>
        </p:nvSpPr>
        <p:spPr>
          <a:xfrm>
            <a:off x="548640" y="2834640"/>
            <a:ext cx="3108960" cy="1188720"/>
          </a:xfrm>
          <a:prstGeom prst="roundRect">
            <a:avLst>
              <a:gd name="adj" fmla="val 9231"/>
            </a:avLst>
          </a:prstGeom>
          <a:solidFill>
            <a:srgbClr val="FCA311"/>
          </a:solidFill>
          <a:ln w="12700">
            <a:solidFill>
              <a:srgbClr val="FCA311"/>
            </a:solidFill>
            <a:prstDash val="solid"/>
          </a:ln>
          <a:effectLst>
            <a:outerShdw sx="100000" sy="100000" kx="0" ky="0" algn="bl" rotWithShape="0" blurRad="50800" dist="25400" dir="5400000">
              <a:srgbClr val="000000">
                <a:alpha val="12000"/>
              </a:srgbClr>
            </a:outerShdw>
          </a:effectLst>
        </p:spPr>
      </p:sp>
      <p:sp>
        <p:nvSpPr>
          <p:cNvPr id="13" name="Text 11"/>
          <p:cNvSpPr txBox="1"/>
          <p:nvPr/>
        </p:nvSpPr>
        <p:spPr>
          <a:xfrm>
            <a:off x="685800" y="2926080"/>
            <a:ext cx="2834640" cy="548640"/>
          </a:xfrm>
          <a:prstGeom prst="rect">
            <a:avLst/>
          </a:prstGeom>
          <a:noFill/>
          <a:ln/>
        </p:spPr>
        <p:txBody>
          <a:bodyPr wrap="square" lIns="0" tIns="0" rIns="0" bIns="0" rtlCol="0" anchor="ctr"/>
          <a:lstStyle/>
          <a:p>
            <a:pPr rtl="1" algn="ctr" indent="0" marL="0">
              <a:buNone/>
            </a:pPr>
            <a:r>
              <a:rPr lang="he-IL" altLang="en-US" sz="1700" b="1" dirty="0">
                <a:solidFill>
                  <a:srgbClr val="FFFFFF"/>
                </a:solidFill>
                <a:latin typeface="Arial" pitchFamily="34" charset="0"/>
                <a:ea typeface="Arial" pitchFamily="34" charset="-122"/>
                <a:cs typeface="Arial" pitchFamily="34" charset="-120"/>
              </a:rPr>
              <a:t>ניהוליות</a:t>
            </a:r>
            <a:endParaRPr lang="he-IL" sz="1700" dirty="0"/>
          </a:p>
        </p:txBody>
      </p:sp>
      <p:sp>
        <p:nvSpPr>
          <p:cNvPr id="14" name="Text 12"/>
          <p:cNvSpPr txBox="1"/>
          <p:nvPr/>
        </p:nvSpPr>
        <p:spPr>
          <a:xfrm>
            <a:off x="685800" y="3474720"/>
            <a:ext cx="283464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β = 0.137</a:t>
            </a:r>
            <a:endParaRPr lang="en-US" sz="1400" dirty="0"/>
          </a:p>
        </p:txBody>
      </p:sp>
      <p:sp>
        <p:nvSpPr>
          <p:cNvPr id="15" name="Shape 13"/>
          <p:cNvSpPr/>
          <p:nvPr/>
        </p:nvSpPr>
        <p:spPr>
          <a:xfrm>
            <a:off x="3840480" y="3200400"/>
            <a:ext cx="4526280" cy="457200"/>
          </a:xfrm>
          <a:prstGeom prst="leftArrow">
            <a:avLst/>
          </a:prstGeom>
          <a:solidFill>
            <a:srgbClr val="FCA311"/>
          </a:solidFill>
          <a:ln w="12700">
            <a:solidFill>
              <a:srgbClr val="FCA311"/>
            </a:solidFill>
            <a:prstDash val="solid"/>
          </a:ln>
        </p:spPr>
      </p:sp>
      <p:sp>
        <p:nvSpPr>
          <p:cNvPr id="16" name="Shape 14"/>
          <p:cNvSpPr/>
          <p:nvPr/>
        </p:nvSpPr>
        <p:spPr>
          <a:xfrm>
            <a:off x="548640" y="4297680"/>
            <a:ext cx="3108960" cy="1188720"/>
          </a:xfrm>
          <a:prstGeom prst="roundRect">
            <a:avLst>
              <a:gd name="adj" fmla="val 9231"/>
            </a:avLst>
          </a:prstGeom>
          <a:solidFill>
            <a:srgbClr val="E76F51"/>
          </a:solidFill>
          <a:ln w="12700">
            <a:solidFill>
              <a:srgbClr val="E76F51"/>
            </a:solidFill>
            <a:prstDash val="solid"/>
          </a:ln>
          <a:effectLst>
            <a:outerShdw sx="100000" sy="100000" kx="0" ky="0" algn="bl" rotWithShape="0" blurRad="50800" dist="25400" dir="5400000">
              <a:srgbClr val="000000">
                <a:alpha val="12000"/>
              </a:srgbClr>
            </a:outerShdw>
          </a:effectLst>
        </p:spPr>
      </p:sp>
      <p:sp>
        <p:nvSpPr>
          <p:cNvPr id="17" name="Text 15"/>
          <p:cNvSpPr txBox="1"/>
          <p:nvPr/>
        </p:nvSpPr>
        <p:spPr>
          <a:xfrm>
            <a:off x="685800" y="4389120"/>
            <a:ext cx="2834640" cy="548640"/>
          </a:xfrm>
          <a:prstGeom prst="rect">
            <a:avLst/>
          </a:prstGeom>
          <a:noFill/>
          <a:ln/>
        </p:spPr>
        <p:txBody>
          <a:bodyPr wrap="square" lIns="0" tIns="0" rIns="0" bIns="0" rtlCol="0" anchor="ctr"/>
          <a:lstStyle/>
          <a:p>
            <a:pPr rtl="1" algn="ctr" indent="0" marL="0">
              <a:buNone/>
            </a:pPr>
            <a:r>
              <a:rPr lang="he-IL" altLang="en-US" sz="1700" b="1" dirty="0">
                <a:solidFill>
                  <a:srgbClr val="FFFFFF"/>
                </a:solidFill>
                <a:latin typeface="Arial" pitchFamily="34" charset="0"/>
                <a:ea typeface="Arial" pitchFamily="34" charset="-122"/>
                <a:cs typeface="Arial" pitchFamily="34" charset="-120"/>
              </a:rPr>
              <a:t>משמעותיות</a:t>
            </a:r>
            <a:endParaRPr lang="he-IL" sz="1700" dirty="0"/>
          </a:p>
        </p:txBody>
      </p:sp>
      <p:sp>
        <p:nvSpPr>
          <p:cNvPr id="18" name="Text 16"/>
          <p:cNvSpPr txBox="1"/>
          <p:nvPr/>
        </p:nvSpPr>
        <p:spPr>
          <a:xfrm>
            <a:off x="685800" y="4937760"/>
            <a:ext cx="2834640" cy="45720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β = 0.166</a:t>
            </a:r>
            <a:endParaRPr lang="en-US" sz="1400" dirty="0"/>
          </a:p>
        </p:txBody>
      </p:sp>
      <p:sp>
        <p:nvSpPr>
          <p:cNvPr id="19" name="Shape 17"/>
          <p:cNvSpPr/>
          <p:nvPr/>
        </p:nvSpPr>
        <p:spPr>
          <a:xfrm>
            <a:off x="3840480" y="4663440"/>
            <a:ext cx="4526280" cy="457200"/>
          </a:xfrm>
          <a:prstGeom prst="leftArrow">
            <a:avLst/>
          </a:prstGeom>
          <a:solidFill>
            <a:srgbClr val="E76F51"/>
          </a:solidFill>
          <a:ln w="12700">
            <a:solidFill>
              <a:srgbClr val="E76F51"/>
            </a:solidFill>
            <a:prstDash val="solid"/>
          </a:ln>
        </p:spPr>
      </p:sp>
      <p:sp>
        <p:nvSpPr>
          <p:cNvPr id="20" name="Text 18"/>
          <p:cNvSpPr txBox="1"/>
          <p:nvPr/>
        </p:nvSpPr>
        <p:spPr>
          <a:xfrm>
            <a:off x="3840480" y="5074920"/>
            <a:ext cx="4526280" cy="365760"/>
          </a:xfrm>
          <a:prstGeom prst="rect">
            <a:avLst/>
          </a:prstGeom>
          <a:noFill/>
          <a:ln/>
        </p:spPr>
        <p:txBody>
          <a:bodyPr wrap="square" lIns="0" tIns="0" rIns="0" bIns="0" rtlCol="0" anchor="t"/>
          <a:lstStyle/>
          <a:p>
            <a:pPr algn="ctr" indent="0" marL="0">
              <a:buNone/>
            </a:pPr>
            <a:r>
              <a:rPr lang="en-US" sz="1100" i="1" dirty="0">
                <a:solidFill>
                  <a:srgbClr val="6B7280"/>
                </a:solidFill>
                <a:latin typeface="Arial" pitchFamily="34" charset="0"/>
                <a:ea typeface="Arial" pitchFamily="34" charset="-122"/>
                <a:cs typeface="Arial" pitchFamily="34" charset="-120"/>
              </a:rPr>
              <a:t>p &lt; .01 בכל שלושת הנתיבים, מעבר ליציבות של 0.61 עד 0.70 של המדדים עצמם</a:t>
            </a:r>
            <a:endParaRPr lang="en-US" sz="1100" dirty="0"/>
          </a:p>
        </p:txBody>
      </p:sp>
      <p:sp>
        <p:nvSpPr>
          <p:cNvPr id="21" name="Shape 19"/>
          <p:cNvSpPr/>
          <p:nvPr/>
        </p:nvSpPr>
        <p:spPr>
          <a:xfrm>
            <a:off x="548640" y="5532120"/>
            <a:ext cx="11091672" cy="731520"/>
          </a:xfrm>
          <a:prstGeom prst="roundRect">
            <a:avLst>
              <a:gd name="adj" fmla="val 15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22" name="Text 20"/>
          <p:cNvSpPr txBox="1"/>
          <p:nvPr/>
        </p:nvSpPr>
        <p:spPr>
          <a:xfrm>
            <a:off x="822960" y="5577840"/>
            <a:ext cx="10515600" cy="640080"/>
          </a:xfrm>
          <a:prstGeom prst="rect">
            <a:avLst/>
          </a:prstGeom>
          <a:noFill/>
          <a:ln/>
        </p:spPr>
        <p:txBody>
          <a:bodyPr wrap="square" lIns="0" tIns="0" rIns="0" bIns="0" rtlCol="0" anchor="ctr"/>
          <a:lstStyle/>
          <a:p>
            <a:pPr rtl="1" algn="r" indent="0" marL="0">
              <a:buNone/>
            </a:pPr>
            <a:r>
              <a:rPr lang="he-IL" altLang="en-US" sz="1300" b="1" dirty="0">
                <a:solidFill>
                  <a:srgbClr val="14213D"/>
                </a:solidFill>
                <a:latin typeface="Arial" pitchFamily="34" charset="0"/>
                <a:ea typeface="Arial" pitchFamily="34" charset="-122"/>
                <a:cs typeface="Arial" pitchFamily="34" charset="-120"/>
              </a:rPr>
              <a:t>עיצוב לצרכי הימנעות (ניתוק, הרפיה): ללא קשר מובהק לאף רכיב. ובכיוון ההפוך: ניהוליות היום מנבאת עיצוב תפקיד בעוד חצי שנה (β = 0.431). ספירלת רווח (Cetkovská et al., 2026)</a:t>
            </a:r>
            <a:endParaRPr lang="he-IL" sz="1300" dirty="0"/>
          </a:p>
        </p:txBody>
      </p:sp>
      <p:sp>
        <p:nvSpPr>
          <p:cNvPr id="23" name="Text 21"/>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4" name="Text 22"/>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7</a:t>
            </a:r>
            <a:endParaRPr lang="he-IL"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איך בדקו? ומה גודל האפקט?</a:t>
            </a:r>
            <a:endParaRPr lang="he-IL" sz="3000" dirty="0"/>
          </a:p>
        </p:txBody>
      </p:sp>
      <p:sp>
        <p:nvSpPr>
          <p:cNvPr id="3" name="Shape 1"/>
          <p:cNvSpPr/>
          <p:nvPr/>
        </p:nvSpPr>
        <p:spPr>
          <a:xfrm>
            <a:off x="8074152" y="1280160"/>
            <a:ext cx="3566160"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257032" y="1417320"/>
            <a:ext cx="3200400" cy="822960"/>
          </a:xfrm>
          <a:prstGeom prst="rect">
            <a:avLst/>
          </a:prstGeom>
          <a:noFill/>
          <a:ln/>
        </p:spPr>
        <p:txBody>
          <a:bodyPr wrap="square" lIns="0" tIns="0" rIns="0" bIns="0" rtlCol="0" anchor="ctr"/>
          <a:lstStyle/>
          <a:p>
            <a:pPr rtl="1" algn="ctr" indent="0" marL="0">
              <a:buNone/>
            </a:pPr>
            <a:r>
              <a:rPr lang="he-IL" altLang="en-US" sz="4000" b="1" dirty="0">
                <a:solidFill>
                  <a:srgbClr val="E76F51"/>
                </a:solidFill>
                <a:latin typeface="Arial" pitchFamily="34" charset="0"/>
                <a:ea typeface="Arial" pitchFamily="34" charset="-122"/>
                <a:cs typeface="Arial" pitchFamily="34" charset="-120"/>
              </a:rPr>
              <a:t>924</a:t>
            </a:r>
            <a:endParaRPr lang="he-IL" sz="4000" dirty="0"/>
          </a:p>
        </p:txBody>
      </p:sp>
      <p:sp>
        <p:nvSpPr>
          <p:cNvPr id="5" name="Text 3"/>
          <p:cNvSpPr txBox="1"/>
          <p:nvPr/>
        </p:nvSpPr>
        <p:spPr>
          <a:xfrm>
            <a:off x="8348472" y="2286000"/>
            <a:ext cx="3017520" cy="868680"/>
          </a:xfrm>
          <a:prstGeom prst="rect">
            <a:avLst/>
          </a:prstGeom>
          <a:noFill/>
          <a:ln/>
        </p:spPr>
        <p:txBody>
          <a:bodyPr wrap="square" lIns="0" tIns="0" rIns="0" bIns="0" rtlCol="0" anchor="t"/>
          <a:lstStyle/>
          <a:p>
            <a:pPr rtl="1" algn="ctr" indent="0" marL="0">
              <a:buNone/>
            </a:pPr>
            <a:r>
              <a:rPr lang="he-IL" altLang="en-US" sz="1250" dirty="0">
                <a:solidFill>
                  <a:srgbClr val="1F2937"/>
                </a:solidFill>
                <a:latin typeface="Arial" pitchFamily="34" charset="0"/>
                <a:ea typeface="Arial" pitchFamily="34" charset="-122"/>
                <a:cs typeface="Arial" pitchFamily="34" charset="-120"/>
              </a:rPr>
              <a:t>עובדים בגרמניה ובשווייץ, גיל ממוצע 49, מדגם מכסות של האוכלוסייה העובדת</a:t>
            </a:r>
            <a:endParaRPr lang="he-IL" sz="1250" dirty="0"/>
          </a:p>
        </p:txBody>
      </p:sp>
      <p:sp>
        <p:nvSpPr>
          <p:cNvPr id="6" name="Shape 4"/>
          <p:cNvSpPr/>
          <p:nvPr/>
        </p:nvSpPr>
        <p:spPr>
          <a:xfrm>
            <a:off x="4311396" y="1280160"/>
            <a:ext cx="3566160"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4494276" y="1417320"/>
            <a:ext cx="3200400" cy="822960"/>
          </a:xfrm>
          <a:prstGeom prst="rect">
            <a:avLst/>
          </a:prstGeom>
          <a:noFill/>
          <a:ln/>
        </p:spPr>
        <p:txBody>
          <a:bodyPr wrap="square" lIns="0" tIns="0" rIns="0" bIns="0" rtlCol="0" anchor="ctr"/>
          <a:lstStyle/>
          <a:p>
            <a:pPr rtl="1" algn="ctr" indent="0" marL="0">
              <a:buNone/>
            </a:pPr>
            <a:r>
              <a:rPr lang="he-IL" altLang="en-US" sz="4000" b="1" dirty="0">
                <a:solidFill>
                  <a:srgbClr val="E76F51"/>
                </a:solidFill>
                <a:latin typeface="Arial" pitchFamily="34" charset="0"/>
                <a:ea typeface="Arial" pitchFamily="34" charset="-122"/>
                <a:cs typeface="Arial" pitchFamily="34" charset="-120"/>
              </a:rPr>
              <a:t>2 × 6</a:t>
            </a:r>
            <a:endParaRPr lang="he-IL" sz="4000" dirty="0"/>
          </a:p>
        </p:txBody>
      </p:sp>
      <p:sp>
        <p:nvSpPr>
          <p:cNvPr id="8" name="Text 6"/>
          <p:cNvSpPr txBox="1"/>
          <p:nvPr/>
        </p:nvSpPr>
        <p:spPr>
          <a:xfrm>
            <a:off x="4585716" y="2286000"/>
            <a:ext cx="3017520" cy="868680"/>
          </a:xfrm>
          <a:prstGeom prst="rect">
            <a:avLst/>
          </a:prstGeom>
          <a:noFill/>
          <a:ln/>
        </p:spPr>
        <p:txBody>
          <a:bodyPr wrap="square" lIns="0" tIns="0" rIns="0" bIns="0" rtlCol="0" anchor="t"/>
          <a:lstStyle/>
          <a:p>
            <a:pPr rtl="1" algn="ctr" indent="0" marL="0">
              <a:buNone/>
            </a:pPr>
            <a:r>
              <a:rPr lang="he-IL" altLang="en-US" sz="1250" dirty="0">
                <a:solidFill>
                  <a:srgbClr val="1F2937"/>
                </a:solidFill>
                <a:latin typeface="Arial" pitchFamily="34" charset="0"/>
                <a:ea typeface="Arial" pitchFamily="34" charset="-122"/>
                <a:cs typeface="Arial" pitchFamily="34" charset="-120"/>
              </a:rPr>
              <a:t>שני גלי מדידה בהפרש של שישה חודשים, 80% השלימו את שניהם</a:t>
            </a:r>
            <a:endParaRPr lang="he-IL" sz="1250" dirty="0"/>
          </a:p>
        </p:txBody>
      </p:sp>
      <p:sp>
        <p:nvSpPr>
          <p:cNvPr id="9" name="Shape 7"/>
          <p:cNvSpPr/>
          <p:nvPr/>
        </p:nvSpPr>
        <p:spPr>
          <a:xfrm>
            <a:off x="548640" y="1280160"/>
            <a:ext cx="3566160" cy="1920240"/>
          </a:xfrm>
          <a:prstGeom prst="roundRect">
            <a:avLst>
              <a:gd name="adj" fmla="val 5714"/>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731520" y="1417320"/>
            <a:ext cx="3200400" cy="822960"/>
          </a:xfrm>
          <a:prstGeom prst="rect">
            <a:avLst/>
          </a:prstGeom>
          <a:noFill/>
          <a:ln/>
        </p:spPr>
        <p:txBody>
          <a:bodyPr wrap="square" lIns="0" tIns="0" rIns="0" bIns="0" rtlCol="0" anchor="ctr"/>
          <a:lstStyle/>
          <a:p>
            <a:pPr rtl="1" algn="ctr" indent="0" marL="0">
              <a:buNone/>
            </a:pPr>
            <a:r>
              <a:rPr lang="he-IL" altLang="en-US" sz="4000" b="1" dirty="0">
                <a:solidFill>
                  <a:srgbClr val="E76F51"/>
                </a:solidFill>
                <a:latin typeface="Arial" pitchFamily="34" charset="0"/>
                <a:ea typeface="Arial" pitchFamily="34" charset="-122"/>
                <a:cs typeface="Arial" pitchFamily="34" charset="-120"/>
              </a:rPr>
              <a:t>9 + 18</a:t>
            </a:r>
            <a:endParaRPr lang="he-IL" sz="4000" dirty="0"/>
          </a:p>
        </p:txBody>
      </p:sp>
      <p:sp>
        <p:nvSpPr>
          <p:cNvPr id="11" name="Text 9"/>
          <p:cNvSpPr txBox="1"/>
          <p:nvPr/>
        </p:nvSpPr>
        <p:spPr>
          <a:xfrm>
            <a:off x="822960" y="2286000"/>
            <a:ext cx="3017520" cy="868680"/>
          </a:xfrm>
          <a:prstGeom prst="rect">
            <a:avLst/>
          </a:prstGeom>
          <a:noFill/>
          <a:ln/>
        </p:spPr>
        <p:txBody>
          <a:bodyPr wrap="square" lIns="0" tIns="0" rIns="0" bIns="0" rtlCol="0" anchor="t"/>
          <a:lstStyle/>
          <a:p>
            <a:pPr rtl="1" algn="ctr" indent="0" marL="0">
              <a:buNone/>
            </a:pPr>
            <a:r>
              <a:rPr lang="he-IL" altLang="en-US" sz="1250" dirty="0">
                <a:solidFill>
                  <a:srgbClr val="1F2937"/>
                </a:solidFill>
                <a:latin typeface="Arial" pitchFamily="34" charset="0"/>
                <a:ea typeface="Arial" pitchFamily="34" charset="-122"/>
                <a:cs typeface="Arial" pitchFamily="34" charset="-120"/>
              </a:rPr>
              <a:t>פריטים: סולם תחושת קוהרנטיות בעבודה וסולם עיצוב תפקיד מבוסס צרכים</a:t>
            </a:r>
            <a:endParaRPr lang="he-IL" sz="1250" dirty="0"/>
          </a:p>
        </p:txBody>
      </p:sp>
      <p:sp>
        <p:nvSpPr>
          <p:cNvPr id="12" name="Shape 10"/>
          <p:cNvSpPr/>
          <p:nvPr/>
        </p:nvSpPr>
        <p:spPr>
          <a:xfrm>
            <a:off x="548640" y="3383280"/>
            <a:ext cx="6949440" cy="2880360"/>
          </a:xfrm>
          <a:prstGeom prst="roundRect">
            <a:avLst>
              <a:gd name="adj" fmla="val 3810"/>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graphicFrame>
        <p:nvGraphicFramePr>
          <p:cNvPr id="13" name="Chart 0" descr=""/>
          <p:cNvGraphicFramePr/>
          <p:nvPr/>
        </p:nvGraphicFramePr>
        <p:xfrm>
          <a:off x="731520" y="3474720"/>
          <a:ext cx="6583680" cy="2697480"/>
        </p:xfrm>
        <a:graphic xmlns:a="http://schemas.openxmlformats.org/drawingml/2006/main">
          <a:graphicData uri="http://schemas.openxmlformats.org/drawingml/2006/chart">
            <c:chart xmlns:c="http://schemas.openxmlformats.org/drawingml/2006/chart" r:id="rId1"/>
          </a:graphicData>
        </a:graphic>
      </p:graphicFrame>
      <p:sp>
        <p:nvSpPr>
          <p:cNvPr id="14" name="Shape 11"/>
          <p:cNvSpPr/>
          <p:nvPr/>
        </p:nvSpPr>
        <p:spPr>
          <a:xfrm>
            <a:off x="7680960" y="3383280"/>
            <a:ext cx="3959352" cy="2880360"/>
          </a:xfrm>
          <a:prstGeom prst="roundRect">
            <a:avLst>
              <a:gd name="adj" fmla="val 3810"/>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5" name="Text 12"/>
          <p:cNvSpPr txBox="1"/>
          <p:nvPr/>
        </p:nvSpPr>
        <p:spPr>
          <a:xfrm>
            <a:off x="7863840" y="3474720"/>
            <a:ext cx="3611880" cy="411480"/>
          </a:xfrm>
          <a:prstGeom prst="rect">
            <a:avLst/>
          </a:prstGeom>
          <a:noFill/>
          <a:ln/>
        </p:spPr>
        <p:txBody>
          <a:bodyPr wrap="square" lIns="0" tIns="0" rIns="0" bIns="0" rtlCol="0" anchor="t"/>
          <a:lstStyle/>
          <a:p>
            <a:pPr rtl="1" algn="r" indent="0" marL="0">
              <a:buNone/>
            </a:pPr>
            <a:r>
              <a:rPr lang="he-IL" altLang="en-US" sz="1500" b="1" dirty="0">
                <a:solidFill>
                  <a:srgbClr val="2A9D8F"/>
                </a:solidFill>
                <a:latin typeface="Arial" pitchFamily="34" charset="0"/>
                <a:ea typeface="Arial" pitchFamily="34" charset="-122"/>
                <a:cs typeface="Arial" pitchFamily="34" charset="-120"/>
              </a:rPr>
              <a:t>מה זה אומר?</a:t>
            </a:r>
            <a:endParaRPr lang="he-IL" sz="1500" dirty="0"/>
          </a:p>
        </p:txBody>
      </p:sp>
      <p:sp>
        <p:nvSpPr>
          <p:cNvPr id="16" name="Text 13"/>
          <p:cNvSpPr txBox="1"/>
          <p:nvPr/>
        </p:nvSpPr>
        <p:spPr>
          <a:xfrm>
            <a:off x="7863840" y="3931920"/>
            <a:ext cx="3611880" cy="2286000"/>
          </a:xfrm>
          <a:prstGeom prst="rect">
            <a:avLst/>
          </a:prstGeom>
          <a:noFill/>
          <a:ln/>
        </p:spPr>
        <p:txBody>
          <a:bodyPr wrap="square" lIns="0" tIns="0" rIns="0" bIns="0" rtlCol="0" anchor="t"/>
          <a:lstStyle/>
          <a:p>
            <a:pPr rtl="1" algn="r" indent="0" marL="0">
              <a:buNone/>
            </a:pPr>
            <a:r>
              <a:rPr lang="he-IL" altLang="en-US" sz="1200" dirty="0">
                <a:solidFill>
                  <a:srgbClr val="1F2937"/>
                </a:solidFill>
                <a:latin typeface="Arial" pitchFamily="34" charset="0"/>
                <a:ea typeface="Arial" pitchFamily="34" charset="-122"/>
                <a:cs typeface="Arial" pitchFamily="34" charset="-120"/>
              </a:rPr>
              <a:t>רק עיצוב התפקיד לצרכי התקרבות (בירוק) ניבא באופן מובהק את שלושת הרכיבים. האפקטים בינוניים, אך הם מתקבלים מעבר ליציבות גבוהה (0.61 עד 0.70) של המדדים עצמם, ולכן כל שינוי שנשמר אחרי חצי שנה משמעותי. מדובר בקשרים בזמן ולא בהוכחת סיבתיות (Cetkovská et al., 2026).</a:t>
            </a:r>
            <a:endParaRPr lang="he-IL" sz="1200" dirty="0"/>
          </a:p>
        </p:txBody>
      </p:sp>
      <p:sp>
        <p:nvSpPr>
          <p:cNvPr id="17" name="Text 14"/>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8" name="Text 15"/>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8</a:t>
            </a:r>
            <a:endParaRPr lang="he-IL"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המאמר המשלים: הבינה המלאכותית, חוסר הביטחון וחוסן הקריירה</a:t>
            </a:r>
            <a:endParaRPr lang="he-IL" sz="3000" dirty="0"/>
          </a:p>
        </p:txBody>
      </p:sp>
      <p:sp>
        <p:nvSpPr>
          <p:cNvPr id="3" name="Text 1"/>
          <p:cNvSpPr txBox="1"/>
          <p:nvPr/>
        </p:nvSpPr>
        <p:spPr>
          <a:xfrm>
            <a:off x="548640" y="1143000"/>
            <a:ext cx="11091672" cy="365760"/>
          </a:xfrm>
          <a:prstGeom prst="rect">
            <a:avLst/>
          </a:prstGeom>
          <a:noFill/>
          <a:ln/>
        </p:spPr>
        <p:txBody>
          <a:bodyPr wrap="square" lIns="0" tIns="0" rIns="0" bIns="0" rtlCol="0" anchor="t"/>
          <a:lstStyle/>
          <a:p>
            <a:pPr algn="r" indent="0" marL="0">
              <a:buNone/>
            </a:pPr>
            <a:r>
              <a:rPr lang="en-US" sz="1300" i="1" dirty="0">
                <a:solidFill>
                  <a:srgbClr val="6B7280"/>
                </a:solidFill>
                <a:latin typeface="Arial" pitchFamily="34" charset="0"/>
                <a:ea typeface="Arial" pitchFamily="34" charset="-122"/>
                <a:cs typeface="Arial" pitchFamily="34" charset="-120"/>
              </a:rPr>
              <a:t>Chung, Im, Kim &amp; Yun (2025), Australian Journal of Psychology, Open Access</a:t>
            </a:r>
            <a:endParaRPr lang="en-US" sz="1300" dirty="0"/>
          </a:p>
        </p:txBody>
      </p:sp>
      <p:sp>
        <p:nvSpPr>
          <p:cNvPr id="4" name="Shape 2"/>
          <p:cNvSpPr/>
          <p:nvPr/>
        </p:nvSpPr>
        <p:spPr>
          <a:xfrm>
            <a:off x="8531352" y="1783080"/>
            <a:ext cx="3108960" cy="1463040"/>
          </a:xfrm>
          <a:prstGeom prst="roundRect">
            <a:avLst>
              <a:gd name="adj" fmla="val 7500"/>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5" name="Text 3"/>
          <p:cNvSpPr txBox="1"/>
          <p:nvPr/>
        </p:nvSpPr>
        <p:spPr>
          <a:xfrm>
            <a:off x="871423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מודעות לבינה מלאכותית</a:t>
            </a:r>
            <a:endParaRPr lang="he-IL" sz="1600" dirty="0"/>
          </a:p>
        </p:txBody>
      </p:sp>
      <p:sp>
        <p:nvSpPr>
          <p:cNvPr id="6" name="Text 4"/>
          <p:cNvSpPr txBox="1"/>
          <p:nvPr/>
        </p:nvSpPr>
        <p:spPr>
          <a:xfrm>
            <a:off x="871423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"הטכנולוגיה עלולה להחליף אותי או לשנות את התפקיד"</a:t>
            </a:r>
            <a:endParaRPr lang="he-IL" sz="1200" dirty="0"/>
          </a:p>
        </p:txBody>
      </p:sp>
      <p:sp>
        <p:nvSpPr>
          <p:cNvPr id="7" name="Shape 5"/>
          <p:cNvSpPr/>
          <p:nvPr/>
        </p:nvSpPr>
        <p:spPr>
          <a:xfrm>
            <a:off x="7772400" y="2240280"/>
            <a:ext cx="640080" cy="548640"/>
          </a:xfrm>
          <a:prstGeom prst="leftArrow">
            <a:avLst/>
          </a:prstGeom>
          <a:solidFill>
            <a:srgbClr val="FCA311"/>
          </a:solidFill>
          <a:ln w="12700">
            <a:solidFill>
              <a:srgbClr val="FCA311"/>
            </a:solidFill>
            <a:prstDash val="solid"/>
          </a:ln>
        </p:spPr>
      </p:sp>
      <p:sp>
        <p:nvSpPr>
          <p:cNvPr id="8" name="Shape 6"/>
          <p:cNvSpPr/>
          <p:nvPr/>
        </p:nvSpPr>
        <p:spPr>
          <a:xfrm>
            <a:off x="4553712" y="1783080"/>
            <a:ext cx="3108960" cy="1463040"/>
          </a:xfrm>
          <a:prstGeom prst="roundRect">
            <a:avLst>
              <a:gd name="adj" fmla="val 7500"/>
            </a:avLst>
          </a:prstGeom>
          <a:solidFill>
            <a:srgbClr val="E76F51"/>
          </a:solidFill>
          <a:ln w="12700">
            <a:solidFill>
              <a:srgbClr val="E76F51"/>
            </a:solidFill>
            <a:prstDash val="solid"/>
          </a:ln>
          <a:effectLst>
            <a:outerShdw sx="100000" sy="100000" kx="0" ky="0" algn="bl" rotWithShape="0" blurRad="50800" dist="25400" dir="5400000">
              <a:srgbClr val="000000">
                <a:alpha val="12000"/>
              </a:srgbClr>
            </a:outerShdw>
          </a:effectLst>
        </p:spPr>
      </p:sp>
      <p:sp>
        <p:nvSpPr>
          <p:cNvPr id="9" name="Text 7"/>
          <p:cNvSpPr txBox="1"/>
          <p:nvPr/>
        </p:nvSpPr>
        <p:spPr>
          <a:xfrm>
            <a:off x="473659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חוסר ביטחון תעסוקתי</a:t>
            </a:r>
            <a:endParaRPr lang="he-IL" sz="1600" dirty="0"/>
          </a:p>
        </p:txBody>
      </p:sp>
      <p:sp>
        <p:nvSpPr>
          <p:cNvPr id="10" name="Text 8"/>
          <p:cNvSpPr txBox="1"/>
          <p:nvPr/>
        </p:nvSpPr>
        <p:spPr>
          <a:xfrm>
            <a:off x="473659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המתווך</a:t>
            </a:r>
            <a:endParaRPr lang="he-IL" sz="1200" dirty="0"/>
          </a:p>
        </p:txBody>
      </p:sp>
      <p:sp>
        <p:nvSpPr>
          <p:cNvPr id="11" name="Shape 9"/>
          <p:cNvSpPr/>
          <p:nvPr/>
        </p:nvSpPr>
        <p:spPr>
          <a:xfrm>
            <a:off x="3794760" y="2240280"/>
            <a:ext cx="640080" cy="548640"/>
          </a:xfrm>
          <a:prstGeom prst="leftArrow">
            <a:avLst/>
          </a:prstGeom>
          <a:solidFill>
            <a:srgbClr val="FCA311"/>
          </a:solidFill>
          <a:ln w="12700">
            <a:solidFill>
              <a:srgbClr val="FCA311"/>
            </a:solidFill>
            <a:prstDash val="solid"/>
          </a:ln>
        </p:spPr>
      </p:sp>
      <p:sp>
        <p:nvSpPr>
          <p:cNvPr id="12" name="Shape 10"/>
          <p:cNvSpPr/>
          <p:nvPr/>
        </p:nvSpPr>
        <p:spPr>
          <a:xfrm>
            <a:off x="576072" y="1783080"/>
            <a:ext cx="3108960" cy="1463040"/>
          </a:xfrm>
          <a:prstGeom prst="roundRect">
            <a:avLst>
              <a:gd name="adj" fmla="val 7500"/>
            </a:avLst>
          </a:prstGeom>
          <a:solidFill>
            <a:srgbClr val="D9822B"/>
          </a:solidFill>
          <a:ln w="12700">
            <a:solidFill>
              <a:srgbClr val="D9822B"/>
            </a:solidFill>
            <a:prstDash val="solid"/>
          </a:ln>
          <a:effectLst>
            <a:outerShdw sx="100000" sy="100000" kx="0" ky="0" algn="bl" rotWithShape="0" blurRad="50800" dist="25400" dir="5400000">
              <a:srgbClr val="000000">
                <a:alpha val="12000"/>
              </a:srgbClr>
            </a:outerShdw>
          </a:effectLst>
        </p:spPr>
      </p:sp>
      <p:sp>
        <p:nvSpPr>
          <p:cNvPr id="13" name="Text 11"/>
          <p:cNvSpPr txBox="1"/>
          <p:nvPr/>
        </p:nvSpPr>
        <p:spPr>
          <a:xfrm>
            <a:off x="758952" y="1920240"/>
            <a:ext cx="2743200" cy="54864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תוצאות</a:t>
            </a:r>
            <a:endParaRPr lang="he-IL" sz="1600" dirty="0"/>
          </a:p>
        </p:txBody>
      </p:sp>
      <p:sp>
        <p:nvSpPr>
          <p:cNvPr id="14" name="Text 12"/>
          <p:cNvSpPr txBox="1"/>
          <p:nvPr/>
        </p:nvSpPr>
        <p:spPr>
          <a:xfrm>
            <a:off x="758952" y="2514600"/>
            <a:ext cx="2743200" cy="640080"/>
          </a:xfrm>
          <a:prstGeom prst="rect">
            <a:avLst/>
          </a:prstGeom>
          <a:noFill/>
          <a:ln/>
        </p:spPr>
        <p:txBody>
          <a:bodyPr wrap="square" lIns="0" tIns="0" rIns="0" bIns="0" rtlCol="0" anchor="t"/>
          <a:lstStyle/>
          <a:p>
            <a:pPr rtl="1" algn="ctr" indent="0" marL="0">
              <a:buNone/>
            </a:pPr>
            <a:r>
              <a:rPr lang="he-IL" altLang="en-US" sz="1200" dirty="0">
                <a:solidFill>
                  <a:srgbClr val="F3F4F6"/>
                </a:solidFill>
                <a:latin typeface="Arial" pitchFamily="34" charset="0"/>
                <a:ea typeface="Arial" pitchFamily="34" charset="-122"/>
                <a:cs typeface="Arial" pitchFamily="34" charset="-120"/>
              </a:rPr>
              <a:t>ירידה בביצועי משימה, עלייה בהתנהגות סוטה</a:t>
            </a:r>
            <a:endParaRPr lang="he-IL" sz="1200" dirty="0"/>
          </a:p>
        </p:txBody>
      </p:sp>
      <p:sp>
        <p:nvSpPr>
          <p:cNvPr id="15" name="Shape 13"/>
          <p:cNvSpPr/>
          <p:nvPr/>
        </p:nvSpPr>
        <p:spPr>
          <a:xfrm>
            <a:off x="6400800" y="3703320"/>
            <a:ext cx="3840480" cy="868680"/>
          </a:xfrm>
          <a:prstGeom prst="roundRect">
            <a:avLst>
              <a:gd name="adj" fmla="val 10526"/>
            </a:avLst>
          </a:prstGeom>
          <a:solidFill>
            <a:srgbClr val="2A9D8F"/>
          </a:solidFill>
          <a:ln w="12700">
            <a:solidFill>
              <a:srgbClr val="2A9D8F"/>
            </a:solidFill>
            <a:prstDash val="solid"/>
          </a:ln>
        </p:spPr>
      </p:sp>
      <p:sp>
        <p:nvSpPr>
          <p:cNvPr id="16" name="Text 14"/>
          <p:cNvSpPr txBox="1"/>
          <p:nvPr/>
        </p:nvSpPr>
        <p:spPr>
          <a:xfrm>
            <a:off x="6492240" y="3703320"/>
            <a:ext cx="3657600" cy="86868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Arial" pitchFamily="34" charset="0"/>
                <a:ea typeface="Arial" pitchFamily="34" charset="-122"/>
                <a:cs typeface="Arial" pitchFamily="34" charset="-120"/>
              </a:rPr>
              <a:t>חוסן קריירה: מחליש את הקשר</a:t>
            </a:r>
            <a:endParaRPr lang="he-IL" sz="1600" dirty="0"/>
          </a:p>
        </p:txBody>
      </p:sp>
      <p:sp>
        <p:nvSpPr>
          <p:cNvPr id="17" name="Shape 15"/>
          <p:cNvSpPr/>
          <p:nvPr/>
        </p:nvSpPr>
        <p:spPr>
          <a:xfrm>
            <a:off x="8092440" y="3291840"/>
            <a:ext cx="457200" cy="411480"/>
          </a:xfrm>
          <a:prstGeom prst="upArrow">
            <a:avLst/>
          </a:prstGeom>
          <a:solidFill>
            <a:srgbClr val="2A9D8F"/>
          </a:solidFill>
          <a:ln w="12700">
            <a:solidFill>
              <a:srgbClr val="2A9D8F"/>
            </a:solidFill>
            <a:prstDash val="solid"/>
          </a:ln>
        </p:spPr>
      </p:sp>
      <p:sp>
        <p:nvSpPr>
          <p:cNvPr id="18" name="Shape 16"/>
          <p:cNvSpPr/>
          <p:nvPr/>
        </p:nvSpPr>
        <p:spPr>
          <a:xfrm>
            <a:off x="548640" y="4800600"/>
            <a:ext cx="11091672" cy="1463040"/>
          </a:xfrm>
          <a:prstGeom prst="roundRect">
            <a:avLst>
              <a:gd name="adj" fmla="val 7500"/>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19" name="Text 17"/>
          <p:cNvSpPr txBox="1"/>
          <p:nvPr/>
        </p:nvSpPr>
        <p:spPr>
          <a:xfrm>
            <a:off x="822960" y="4892040"/>
            <a:ext cx="10515600" cy="132588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במחקר אורך בשלוש נקודות זמן בקרב עובדי משרד במשרה מלאה בדרום קוריאה נמצא שעצם המודעות לבינה מלאכותית, עוד לפני שינוי בפועל, מגבירה חוסר ביטחון תעסוקתי, ושחוסר הביטחון מתווך את הפגיעה בביצועים. חוסן קריירה החליש את הקשר (Chung et al., 2025). המאמר המשלים מספק אפוא את האבחנה, והמאמר המרכזי את הדרך לבנות את המשאב שממתן את האיום.</a:t>
            </a:r>
            <a:endParaRPr lang="he-IL" sz="1300" dirty="0"/>
          </a:p>
        </p:txBody>
      </p:sp>
      <p:sp>
        <p:nvSpPr>
          <p:cNvPr id="20" name="Text 18"/>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1" name="Text 19"/>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9</a:t>
            </a:r>
            <a:endParaRPr lang="he-IL"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התובנה המרכזית: המשאבים קודמים ליוזמה</a:t>
            </a:r>
            <a:endParaRPr lang="he-IL" sz="3000" dirty="0"/>
          </a:p>
        </p:txBody>
      </p:sp>
      <p:sp>
        <p:nvSpPr>
          <p:cNvPr id="3" name="Shape 1"/>
          <p:cNvSpPr/>
          <p:nvPr/>
        </p:nvSpPr>
        <p:spPr>
          <a:xfrm>
            <a:off x="8595360" y="1463040"/>
            <a:ext cx="3063240" cy="1417320"/>
          </a:xfrm>
          <a:prstGeom prst="roundRect">
            <a:avLst>
              <a:gd name="adj" fmla="val 7742"/>
            </a:avLst>
          </a:prstGeom>
          <a:solidFill>
            <a:srgbClr val="FCA311"/>
          </a:solidFill>
          <a:ln w="12700">
            <a:solidFill>
              <a:srgbClr val="FCA311"/>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8778240" y="157276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תחושת ניהוליות</a:t>
            </a:r>
            <a:endParaRPr lang="he-IL" sz="1450" dirty="0"/>
          </a:p>
        </p:txBody>
      </p:sp>
      <p:sp>
        <p:nvSpPr>
          <p:cNvPr id="5" name="Text 3"/>
          <p:cNvSpPr txBox="1"/>
          <p:nvPr/>
        </p:nvSpPr>
        <p:spPr>
          <a:xfrm>
            <a:off x="8778240" y="230428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"יש לי מספיק משאבים"</a:t>
            </a:r>
            <a:endParaRPr lang="he-IL" sz="1150" dirty="0"/>
          </a:p>
        </p:txBody>
      </p:sp>
      <p:sp>
        <p:nvSpPr>
          <p:cNvPr id="6" name="Shape 4"/>
          <p:cNvSpPr/>
          <p:nvPr/>
        </p:nvSpPr>
        <p:spPr>
          <a:xfrm>
            <a:off x="4572000" y="3246120"/>
            <a:ext cx="3063240" cy="1417320"/>
          </a:xfrm>
          <a:prstGeom prst="roundRect">
            <a:avLst>
              <a:gd name="adj" fmla="val 7742"/>
            </a:avLst>
          </a:prstGeom>
          <a:solidFill>
            <a:srgbClr val="2A9D8F"/>
          </a:solidFill>
          <a:ln w="12700">
            <a:solidFill>
              <a:srgbClr val="2A9D8F"/>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4754880" y="335584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עיצוב תפקיד לצרכי התקרבות</a:t>
            </a:r>
            <a:endParaRPr lang="he-IL" sz="1450" dirty="0"/>
          </a:p>
        </p:txBody>
      </p:sp>
      <p:sp>
        <p:nvSpPr>
          <p:cNvPr id="8" name="Text 6"/>
          <p:cNvSpPr txBox="1"/>
          <p:nvPr/>
        </p:nvSpPr>
        <p:spPr>
          <a:xfrm>
            <a:off x="4754880" y="408736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β = 0.431: המנבא החזק ביותר במודל</a:t>
            </a:r>
            <a:endParaRPr lang="he-IL" sz="1150" dirty="0"/>
          </a:p>
        </p:txBody>
      </p:sp>
      <p:sp>
        <p:nvSpPr>
          <p:cNvPr id="9" name="Shape 7"/>
          <p:cNvSpPr/>
          <p:nvPr/>
        </p:nvSpPr>
        <p:spPr>
          <a:xfrm>
            <a:off x="548640" y="1463040"/>
            <a:ext cx="3063240" cy="1417320"/>
          </a:xfrm>
          <a:prstGeom prst="roundRect">
            <a:avLst>
              <a:gd name="adj" fmla="val 7742"/>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731520" y="1572768"/>
            <a:ext cx="2697480" cy="731520"/>
          </a:xfrm>
          <a:prstGeom prst="rect">
            <a:avLst/>
          </a:prstGeom>
          <a:noFill/>
          <a:ln/>
        </p:spPr>
        <p:txBody>
          <a:bodyPr wrap="square" lIns="0" tIns="0" rIns="0" bIns="0" rtlCol="0" anchor="ctr"/>
          <a:lstStyle/>
          <a:p>
            <a:pPr rtl="1" algn="ctr" indent="0" marL="0">
              <a:buNone/>
            </a:pPr>
            <a:r>
              <a:rPr lang="he-IL" altLang="en-US" sz="1450" b="1" dirty="0">
                <a:solidFill>
                  <a:srgbClr val="FFFFFF"/>
                </a:solidFill>
                <a:latin typeface="Arial" pitchFamily="34" charset="0"/>
                <a:ea typeface="Arial" pitchFamily="34" charset="-122"/>
                <a:cs typeface="Arial" pitchFamily="34" charset="-120"/>
              </a:rPr>
              <a:t>בהירות, שליטה ומשמעות</a:t>
            </a:r>
            <a:endParaRPr lang="he-IL" sz="1450" dirty="0"/>
          </a:p>
        </p:txBody>
      </p:sp>
      <p:sp>
        <p:nvSpPr>
          <p:cNvPr id="11" name="Text 9"/>
          <p:cNvSpPr txBox="1"/>
          <p:nvPr/>
        </p:nvSpPr>
        <p:spPr>
          <a:xfrm>
            <a:off x="731520" y="2304288"/>
            <a:ext cx="2697480" cy="502920"/>
          </a:xfrm>
          <a:prstGeom prst="rect">
            <a:avLst/>
          </a:prstGeom>
          <a:noFill/>
          <a:ln/>
        </p:spPr>
        <p:txBody>
          <a:bodyPr wrap="square" lIns="0" tIns="0" rIns="0" bIns="0" rtlCol="0" anchor="t"/>
          <a:lstStyle/>
          <a:p>
            <a:pPr rtl="1" algn="ctr" indent="0" marL="0">
              <a:buNone/>
            </a:pPr>
            <a:r>
              <a:rPr lang="he-IL" altLang="en-US" sz="1150" dirty="0">
                <a:solidFill>
                  <a:srgbClr val="F3F4F6"/>
                </a:solidFill>
                <a:latin typeface="Arial" pitchFamily="34" charset="0"/>
                <a:ea typeface="Arial" pitchFamily="34" charset="-122"/>
                <a:cs typeface="Arial" pitchFamily="34" charset="-120"/>
              </a:rPr>
              <a:t>חצי שנה אחר כך</a:t>
            </a:r>
            <a:endParaRPr lang="he-IL" sz="1150" dirty="0"/>
          </a:p>
        </p:txBody>
      </p:sp>
      <p:sp>
        <p:nvSpPr>
          <p:cNvPr id="12" name="Shape 10"/>
          <p:cNvSpPr/>
          <p:nvPr/>
        </p:nvSpPr>
        <p:spPr>
          <a:xfrm rot="1800000">
            <a:off x="7726680" y="2697480"/>
            <a:ext cx="777240" cy="548640"/>
          </a:xfrm>
          <a:prstGeom prst="leftArrow">
            <a:avLst/>
          </a:prstGeom>
          <a:solidFill>
            <a:srgbClr val="FCA311"/>
          </a:solidFill>
          <a:ln w="12700">
            <a:solidFill>
              <a:srgbClr val="FCA311"/>
            </a:solidFill>
            <a:prstDash val="solid"/>
          </a:ln>
        </p:spPr>
      </p:sp>
      <p:sp>
        <p:nvSpPr>
          <p:cNvPr id="13" name="Shape 11"/>
          <p:cNvSpPr/>
          <p:nvPr/>
        </p:nvSpPr>
        <p:spPr>
          <a:xfrm rot="-1800000">
            <a:off x="3657600" y="2697480"/>
            <a:ext cx="777240" cy="548640"/>
          </a:xfrm>
          <a:prstGeom prst="leftArrow">
            <a:avLst/>
          </a:prstGeom>
          <a:solidFill>
            <a:srgbClr val="FCA311"/>
          </a:solidFill>
          <a:ln w="12700">
            <a:solidFill>
              <a:srgbClr val="FCA311"/>
            </a:solidFill>
            <a:prstDash val="solid"/>
          </a:ln>
        </p:spPr>
      </p:sp>
      <p:sp>
        <p:nvSpPr>
          <p:cNvPr id="14" name="Shape 12"/>
          <p:cNvSpPr/>
          <p:nvPr/>
        </p:nvSpPr>
        <p:spPr>
          <a:xfrm>
            <a:off x="5669280" y="1783080"/>
            <a:ext cx="868680" cy="548640"/>
          </a:xfrm>
          <a:prstGeom prst="rightArrow">
            <a:avLst/>
          </a:prstGeom>
          <a:solidFill>
            <a:srgbClr val="FCA311"/>
          </a:solidFill>
          <a:ln w="12700">
            <a:solidFill>
              <a:srgbClr val="FCA311"/>
            </a:solidFill>
            <a:prstDash val="solid"/>
          </a:ln>
        </p:spPr>
      </p:sp>
      <p:sp>
        <p:nvSpPr>
          <p:cNvPr id="15" name="Text 13"/>
          <p:cNvSpPr txBox="1"/>
          <p:nvPr/>
        </p:nvSpPr>
        <p:spPr>
          <a:xfrm>
            <a:off x="3931920" y="1234440"/>
            <a:ext cx="4297680" cy="457200"/>
          </a:xfrm>
          <a:prstGeom prst="rect">
            <a:avLst/>
          </a:prstGeom>
          <a:noFill/>
          <a:ln/>
        </p:spPr>
        <p:txBody>
          <a:bodyPr wrap="square" lIns="0" tIns="0" rIns="0" bIns="0" rtlCol="0" anchor="t"/>
          <a:lstStyle/>
          <a:p>
            <a:pPr rtl="1" algn="ctr" indent="0" marL="0">
              <a:buNone/>
            </a:pPr>
            <a:r>
              <a:rPr lang="he-IL" altLang="en-US" sz="1200" dirty="0">
                <a:solidFill>
                  <a:srgbClr val="6B7280"/>
                </a:solidFill>
                <a:latin typeface="Arial" pitchFamily="34" charset="0"/>
                <a:ea typeface="Arial" pitchFamily="34" charset="-122"/>
                <a:cs typeface="Arial" pitchFamily="34" charset="-120"/>
              </a:rPr>
              <a:t>ספירלת רווח: חוזר להתחלה</a:t>
            </a:r>
            <a:endParaRPr lang="he-IL" sz="1200" dirty="0"/>
          </a:p>
        </p:txBody>
      </p:sp>
      <p:sp>
        <p:nvSpPr>
          <p:cNvPr id="16" name="Shape 14"/>
          <p:cNvSpPr/>
          <p:nvPr/>
        </p:nvSpPr>
        <p:spPr>
          <a:xfrm>
            <a:off x="548640" y="4892040"/>
            <a:ext cx="11091672" cy="1371600"/>
          </a:xfrm>
          <a:prstGeom prst="roundRect">
            <a:avLst>
              <a:gd name="adj" fmla="val 8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17" name="Text 15"/>
          <p:cNvSpPr txBox="1"/>
          <p:nvPr/>
        </p:nvSpPr>
        <p:spPr>
          <a:xfrm>
            <a:off x="822960" y="4983480"/>
            <a:ext cx="10515600" cy="1188720"/>
          </a:xfrm>
          <a:prstGeom prst="rect">
            <a:avLst/>
          </a:prstGeom>
          <a:noFill/>
          <a:ln/>
        </p:spPr>
        <p:txBody>
          <a:bodyPr wrap="square" lIns="0" tIns="0" rIns="0" bIns="0" rtlCol="0" anchor="ctr"/>
          <a:lstStyle/>
          <a:p>
            <a:pPr rtl="1" algn="r" indent="0" marL="0">
              <a:buNone/>
            </a:pPr>
            <a:r>
              <a:rPr lang="he-IL" altLang="en-US" sz="1400" b="1" dirty="0">
                <a:solidFill>
                  <a:srgbClr val="14213D"/>
                </a:solidFill>
                <a:latin typeface="Arial" pitchFamily="34" charset="0"/>
                <a:ea typeface="Arial" pitchFamily="34" charset="-122"/>
                <a:cs typeface="Arial" pitchFamily="34" charset="-120"/>
              </a:rPr>
              <a:t>ההיפוך: מי שמרגיש שאין לו מספיק משאבים לא מעצב את תפקידו, אלא מגן על מה שנשאר. והמאמר המשלים מראה שהאיום הטכנולוגי פוגע בביצועים דרך חוסר הביטחון (Chung et al., 2025). לכן בונים ניהוליות בתקופות של יציבות, לא מחכים לאיום.</a:t>
            </a:r>
            <a:endParaRPr lang="he-IL" sz="1400" dirty="0"/>
          </a:p>
        </p:txBody>
      </p:sp>
      <p:sp>
        <p:nvSpPr>
          <p:cNvPr id="18" name="Text 16"/>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9" name="Text 17"/>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10</a:t>
            </a:r>
            <a:endParaRPr lang="he-IL"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חיבור לחומר הנלמד בקורס</a:t>
            </a:r>
            <a:endParaRPr lang="he-IL"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943600" y="1280160"/>
          <a:ext cx="5696712" cy="914400"/>
        </p:xfrm>
        <a:graphic>
          <a:graphicData uri="http://schemas.openxmlformats.org/drawingml/2006/table">
            <a:tbl>
              <a:tblPr/>
              <a:tblGrid>
                <a:gridCol w="2926080"/>
                <a:gridCol w="2770632"/>
              </a:tblGrid>
              <a:tr h="411480">
                <a:tc>
                  <a:txBody>
                    <a:bodyPr/>
                    <a:lstStyle/>
                    <a:p>
                      <a:pPr rtl="1" algn="r" indent="0" marL="0">
                        <a:buNone/>
                      </a:pPr>
                      <a:r>
                        <a:rPr lang="en-US" sz="1300" b="1" dirty="0">
                          <a:solidFill>
                            <a:srgbClr val="FFFFFF"/>
                          </a:solidFill>
                          <a:latin typeface="Arial" pitchFamily="34" charset="0"/>
                          <a:ea typeface="Arial" pitchFamily="34" charset="-122"/>
                          <a:cs typeface="Arial" pitchFamily="34" charset="-120"/>
                        </a:rPr>
                        <a:t>המקבילה במאמר</a:t>
                      </a:r>
                      <a:endParaRPr lang="en-US" sz="130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rtl="1" algn="r" indent="0" marL="0">
                        <a:buNone/>
                      </a:pPr>
                      <a:r>
                        <a:rPr lang="en-US" sz="1300" b="1" dirty="0">
                          <a:solidFill>
                            <a:srgbClr val="FFFFFF"/>
                          </a:solidFill>
                          <a:latin typeface="Arial" pitchFamily="34" charset="0"/>
                          <a:ea typeface="Arial" pitchFamily="34" charset="-122"/>
                          <a:cs typeface="Arial" pitchFamily="34" charset="-120"/>
                        </a:rPr>
                        <a:t>מושג מהקורס</a:t>
                      </a:r>
                      <a:endParaRPr lang="en-US" sz="130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r>
              <a:tr h="685800">
                <a:tc>
                  <a:txBody>
                    <a:bodyPr/>
                    <a:lstStyle/>
                    <a:p>
                      <a:pPr rtl="1" algn="r" indent="0" marL="0">
                        <a:buNone/>
                      </a:pPr>
                      <a:r>
                        <a:rPr lang="en-US" sz="1150" dirty="0">
                          <a:solidFill>
                            <a:srgbClr val="1F2937"/>
                          </a:solidFill>
                          <a:latin typeface="Arial" pitchFamily="34" charset="0"/>
                          <a:ea typeface="Arial" pitchFamily="34" charset="-122"/>
                          <a:cs typeface="Arial" pitchFamily="34" charset="-120"/>
                        </a:rPr>
                        <a:t>שייכות, משמעות, מיומנות: צרכי ההתקרבות שבונים תחושת קוהרנטיות</a:t>
                      </a:r>
                      <a:endParaRPr lang="en-US" sz="115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150" b="1" dirty="0">
                          <a:solidFill>
                            <a:srgbClr val="1F2937"/>
                          </a:solidFill>
                          <a:latin typeface="Arial" pitchFamily="34" charset="0"/>
                          <a:ea typeface="Arial" pitchFamily="34" charset="-122"/>
                          <a:cs typeface="Arial" pitchFamily="34" charset="-120"/>
                        </a:rPr>
                        <a:t>שלושת סלי הכלים: רשת אנשים, זהות מקצועית, התפתחות</a:t>
                      </a:r>
                      <a:endParaRPr lang="en-US" sz="115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685800">
                <a:tc>
                  <a:txBody>
                    <a:bodyPr/>
                    <a:lstStyle/>
                    <a:p>
                      <a:pPr rtl="1" algn="r" indent="0" marL="0">
                        <a:buNone/>
                      </a:pPr>
                      <a:r>
                        <a:rPr lang="en-US" sz="1150" dirty="0">
                          <a:solidFill>
                            <a:srgbClr val="1F2937"/>
                          </a:solidFill>
                          <a:latin typeface="Arial" pitchFamily="34" charset="0"/>
                          <a:ea typeface="Arial" pitchFamily="34" charset="-122"/>
                          <a:cs typeface="Arial" pitchFamily="34" charset="-120"/>
                        </a:rPr>
                        <a:t>צורך המשמעות</a:t>
                      </a:r>
                      <a:endParaRPr lang="en-US" sz="115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150" b="1" dirty="0">
                          <a:solidFill>
                            <a:srgbClr val="1F2937"/>
                          </a:solidFill>
                          <a:latin typeface="Arial" pitchFamily="34" charset="0"/>
                          <a:ea typeface="Arial" pitchFamily="34" charset="-122"/>
                          <a:cs typeface="Arial" pitchFamily="34" charset="-120"/>
                        </a:rPr>
                        <a:t>חמש השאלות של הזהות המקצועית: איזה ערך אני מביא, למי הוא נחוץ</a:t>
                      </a:r>
                      <a:endParaRPr lang="en-US" sz="115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685800">
                <a:tc>
                  <a:txBody>
                    <a:bodyPr/>
                    <a:lstStyle/>
                    <a:p>
                      <a:pPr rtl="1" algn="r" indent="0" marL="0">
                        <a:buNone/>
                      </a:pPr>
                      <a:r>
                        <a:rPr lang="en-US" sz="1150" dirty="0">
                          <a:solidFill>
                            <a:srgbClr val="1F2937"/>
                          </a:solidFill>
                          <a:latin typeface="Arial" pitchFamily="34" charset="0"/>
                          <a:ea typeface="Arial" pitchFamily="34" charset="-122"/>
                          <a:cs typeface="Arial" pitchFamily="34" charset="-120"/>
                        </a:rPr>
                        <a:t>ספירלת הרווח: כל צעד של עיצוב תפקיד מאפשר את הבא</a:t>
                      </a:r>
                      <a:endParaRPr lang="en-US" sz="115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150" b="1" dirty="0">
                          <a:solidFill>
                            <a:srgbClr val="1F2937"/>
                          </a:solidFill>
                          <a:latin typeface="Arial" pitchFamily="34" charset="0"/>
                          <a:ea typeface="Arial" pitchFamily="34" charset="-122"/>
                          <a:cs typeface="Arial" pitchFamily="34" charset="-120"/>
                        </a:rPr>
                        <a:t>קריירה רבודה וקיר הטיפוס</a:t>
                      </a:r>
                      <a:endParaRPr lang="en-US" sz="115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685800">
                <a:tc>
                  <a:txBody>
                    <a:bodyPr/>
                    <a:lstStyle/>
                    <a:p>
                      <a:pPr rtl="1" algn="r" indent="0" marL="0">
                        <a:buNone/>
                      </a:pPr>
                      <a:r>
                        <a:rPr lang="en-US" sz="1150" dirty="0">
                          <a:solidFill>
                            <a:srgbClr val="1F2937"/>
                          </a:solidFill>
                          <a:latin typeface="Arial" pitchFamily="34" charset="0"/>
                          <a:ea typeface="Arial" pitchFamily="34" charset="-122"/>
                          <a:cs typeface="Arial" pitchFamily="34" charset="-120"/>
                        </a:rPr>
                        <a:t>משמעותיות ומיומנות (מניעים) לעומת צרכי הימנעות (היגייניים)</a:t>
                      </a:r>
                      <a:endParaRPr lang="en-US" sz="115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150" b="1" dirty="0">
                          <a:solidFill>
                            <a:srgbClr val="1F2937"/>
                          </a:solidFill>
                          <a:latin typeface="Arial" pitchFamily="34" charset="0"/>
                          <a:ea typeface="Arial" pitchFamily="34" charset="-122"/>
                          <a:cs typeface="Arial" pitchFamily="34" charset="-120"/>
                        </a:rPr>
                        <a:t>הגורמים המניעים וההיגייניים של הרצברג</a:t>
                      </a:r>
                      <a:endParaRPr lang="en-US" sz="115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685800">
                <a:tc>
                  <a:txBody>
                    <a:bodyPr/>
                    <a:lstStyle/>
                    <a:p>
                      <a:pPr rtl="1" algn="r" indent="0" marL="0">
                        <a:buNone/>
                      </a:pPr>
                      <a:r>
                        <a:rPr lang="en-US" sz="1150" dirty="0">
                          <a:solidFill>
                            <a:srgbClr val="1F2937"/>
                          </a:solidFill>
                          <a:latin typeface="Arial" pitchFamily="34" charset="0"/>
                          <a:ea typeface="Arial" pitchFamily="34" charset="-122"/>
                          <a:cs typeface="Arial" pitchFamily="34" charset="-120"/>
                        </a:rPr>
                        <a:t>צורך האוטונומיה ורכיב המובנות</a:t>
                      </a:r>
                      <a:endParaRPr lang="en-US" sz="115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150" b="1" dirty="0">
                          <a:solidFill>
                            <a:srgbClr val="1F2937"/>
                          </a:solidFill>
                          <a:latin typeface="Arial" pitchFamily="34" charset="0"/>
                          <a:ea typeface="Arial" pitchFamily="34" charset="-122"/>
                          <a:cs typeface="Arial" pitchFamily="34" charset="-120"/>
                        </a:rPr>
                        <a:t>עוגני קריירה: אוטונומיה לעומת ביטחון ויציבות</a:t>
                      </a:r>
                      <a:endParaRPr lang="en-US" sz="115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685800">
                <a:tc>
                  <a:txBody>
                    <a:bodyPr/>
                    <a:lstStyle/>
                    <a:p>
                      <a:pPr rtl="1" algn="r" indent="0" marL="0">
                        <a:buNone/>
                      </a:pPr>
                      <a:r>
                        <a:rPr lang="en-US" sz="1150" dirty="0">
                          <a:solidFill>
                            <a:srgbClr val="1F2937"/>
                          </a:solidFill>
                          <a:latin typeface="Arial" pitchFamily="34" charset="0"/>
                          <a:ea typeface="Arial" pitchFamily="34" charset="-122"/>
                          <a:cs typeface="Arial" pitchFamily="34" charset="-120"/>
                        </a:rPr>
                        <a:t>ניהוליות: "יש לי מספיק משאבים", המנוע ליוזמה</a:t>
                      </a:r>
                      <a:endParaRPr lang="en-US" sz="115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150" b="1" dirty="0">
                          <a:solidFill>
                            <a:srgbClr val="1F2937"/>
                          </a:solidFill>
                          <a:latin typeface="Arial" pitchFamily="34" charset="0"/>
                          <a:ea typeface="Arial" pitchFamily="34" charset="-122"/>
                          <a:cs typeface="Arial" pitchFamily="34" charset="-120"/>
                        </a:rPr>
                        <a:t>תמיכה בעבודה ובמשפחה וזמינות פסיכולוגית (Russo et al., 2016)</a:t>
                      </a:r>
                      <a:endParaRPr lang="en-US" sz="1150" dirty="0">
                        <a:latin typeface="Arial" charset="0"/>
                        <a:ea typeface="Arial" charset="0"/>
                        <a:cs typeface="Arial" charset="0"/>
                      </a:endParaRPr>
                    </a:p>
                  </a:txBody>
                  <a:tcPr marL="54864" marR="54864" marT="54864" marB="54864"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1280160"/>
            <a:ext cx="5120640" cy="4983480"/>
          </a:xfrm>
          <a:prstGeom prst="roundRect">
            <a:avLst>
              <a:gd name="adj" fmla="val 2202"/>
            </a:avLst>
          </a:prstGeom>
          <a:solidFill>
            <a:srgbClr val="F4F6FA"/>
          </a:solidFill>
          <a:ln w="12700">
            <a:solidFill>
              <a:srgbClr val="F4F6FA"/>
            </a:solidFill>
            <a:prstDash val="solid"/>
          </a:ln>
          <a:effectLst>
            <a:outerShdw sx="100000" sy="100000" kx="0" ky="0" algn="bl" rotWithShape="0" blurRad="50800" dist="25400" dir="5400000">
              <a:srgbClr val="000000">
                <a:alpha val="12000"/>
              </a:srgbClr>
            </a:outerShdw>
          </a:effectLst>
        </p:spPr>
      </p:sp>
      <p:sp>
        <p:nvSpPr>
          <p:cNvPr id="5" name="Text 2"/>
          <p:cNvSpPr txBox="1"/>
          <p:nvPr/>
        </p:nvSpPr>
        <p:spPr>
          <a:xfrm>
            <a:off x="777240" y="1463040"/>
            <a:ext cx="4663440" cy="4663440"/>
          </a:xfrm>
          <a:prstGeom prst="rect">
            <a:avLst/>
          </a:prstGeom>
          <a:noFill/>
          <a:ln/>
        </p:spPr>
        <p:txBody>
          <a:bodyPr wrap="square" lIns="0" tIns="0" rIns="0" bIns="0" rtlCol="0" anchor="t"/>
          <a:lstStyle/>
          <a:p>
            <a:pPr rtl="1" algn="r" indent="0" marL="0">
              <a:buNone/>
            </a:pPr>
            <a:r>
              <a:rPr lang="he-IL" altLang="en-US" sz="1350" dirty="0">
                <a:solidFill>
                  <a:srgbClr val="1F2937"/>
                </a:solidFill>
                <a:latin typeface="Arial" pitchFamily="34" charset="0"/>
                <a:ea typeface="Arial" pitchFamily="34" charset="-122"/>
                <a:cs typeface="Arial" pitchFamily="34" charset="-120"/>
              </a:rPr>
              <a:t>המאמר אינו זר לחומר הקורס אלא מעניק לו בסיס אמפירי. שלושת סלי הכלים שנלמדו בקורס מקבילים כמעט אחד לאחד לצרכי ההתקרבות שנמצאו כבונים תחושת קוהרנטיות, והרעיון של קריירה רבודה, שבה כל שלב נבנה על קודמו, הוא בדיוק ספירלת הרווח שהמחקר מתעד. הגורמים המניעים של הרצברג ועוגני הקריירה מסבירים מדוע צרכים שונים חשובים לעובדים שונים, ומאמר החובה של Russo ואחרים (2016) מראה שתמיכה מהסביבה מזינה את הזמינות הפסיכולוגית, כלומר את תחושת הניהוליות שהמחקר מזהה כמנוע ליוזמה (Cetkovská et al., 2026).</a:t>
            </a:r>
            <a:endParaRPr lang="he-IL" sz="1350" dirty="0"/>
          </a:p>
        </p:txBody>
      </p:sp>
      <p:sp>
        <p:nvSpPr>
          <p:cNvPr id="6" name="Text 3"/>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7" name="Text 4"/>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11</a:t>
            </a:r>
            <a:endParaRPr lang="he-IL"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תובנות, ביקורת ודעה אישית</a:t>
            </a:r>
            <a:endParaRPr lang="he-IL" sz="3000" dirty="0"/>
          </a:p>
        </p:txBody>
      </p:sp>
      <p:sp>
        <p:nvSpPr>
          <p:cNvPr id="3" name="Shape 1"/>
          <p:cNvSpPr/>
          <p:nvPr/>
        </p:nvSpPr>
        <p:spPr>
          <a:xfrm>
            <a:off x="6263640" y="1325880"/>
            <a:ext cx="5376672" cy="2926080"/>
          </a:xfrm>
          <a:prstGeom prst="roundRect">
            <a:avLst>
              <a:gd name="adj" fmla="val 3750"/>
            </a:avLst>
          </a:prstGeom>
          <a:solidFill>
            <a:srgbClr val="E8F5F1"/>
          </a:solidFill>
          <a:ln w="12700">
            <a:solidFill>
              <a:srgbClr val="E8F5F1"/>
            </a:solidFill>
            <a:prstDash val="solid"/>
          </a:ln>
          <a:effectLst>
            <a:outerShdw sx="100000" sy="100000" kx="0" ky="0" algn="bl" rotWithShape="0" blurRad="50800" dist="25400" dir="5400000">
              <a:srgbClr val="000000">
                <a:alpha val="12000"/>
              </a:srgbClr>
            </a:outerShdw>
          </a:effectLst>
        </p:spPr>
      </p:sp>
      <p:sp>
        <p:nvSpPr>
          <p:cNvPr id="4" name="Text 2"/>
          <p:cNvSpPr txBox="1"/>
          <p:nvPr/>
        </p:nvSpPr>
        <p:spPr>
          <a:xfrm>
            <a:off x="6492240" y="1417320"/>
            <a:ext cx="4937760" cy="457200"/>
          </a:xfrm>
          <a:prstGeom prst="rect">
            <a:avLst/>
          </a:prstGeom>
          <a:noFill/>
          <a:ln/>
        </p:spPr>
        <p:txBody>
          <a:bodyPr wrap="square" lIns="0" tIns="0" rIns="0" bIns="0" rtlCol="0" anchor="t"/>
          <a:lstStyle/>
          <a:p>
            <a:pPr rtl="1" algn="r" indent="0" marL="0">
              <a:buNone/>
            </a:pPr>
            <a:r>
              <a:rPr lang="he-IL" altLang="en-US" sz="1800" b="1" dirty="0">
                <a:solidFill>
                  <a:srgbClr val="2A9D8F"/>
                </a:solidFill>
                <a:latin typeface="Arial" pitchFamily="34" charset="0"/>
                <a:ea typeface="Arial" pitchFamily="34" charset="-122"/>
                <a:cs typeface="Arial" pitchFamily="34" charset="-120"/>
              </a:rPr>
              <a:t>מה אהבנו</a:t>
            </a:r>
            <a:endParaRPr lang="he-IL" sz="1800" dirty="0"/>
          </a:p>
        </p:txBody>
      </p:sp>
      <p:sp>
        <p:nvSpPr>
          <p:cNvPr id="5" name="Text 3"/>
          <p:cNvSpPr txBox="1"/>
          <p:nvPr/>
        </p:nvSpPr>
        <p:spPr>
          <a:xfrm>
            <a:off x="6492240" y="1920240"/>
            <a:ext cx="4937760" cy="224028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אהבנו את נקודת המבט של המאמר, ששואל מה עוזר לעובדים ולא רק מה מזיק להם, ואת הפרקטיות שלו: שישה צרכים, שאלות פשוטות ופעולות שאפשר לבצע בשבועיים. הערכנו את הכנות של המחברים, שמקדישים כמעט עמוד שלם למגבלות, כולל ממצא שקשה להם להסביר, ואת העובדה שהמאמר זמין לכולם בחינם (Cetkovská et al., 2026).</a:t>
            </a:r>
            <a:endParaRPr lang="he-IL" sz="1250" dirty="0"/>
          </a:p>
        </p:txBody>
      </p:sp>
      <p:sp>
        <p:nvSpPr>
          <p:cNvPr id="6" name="Shape 4"/>
          <p:cNvSpPr/>
          <p:nvPr/>
        </p:nvSpPr>
        <p:spPr>
          <a:xfrm>
            <a:off x="548640" y="1325880"/>
            <a:ext cx="5376672" cy="2926080"/>
          </a:xfrm>
          <a:prstGeom prst="roundRect">
            <a:avLst>
              <a:gd name="adj" fmla="val 3750"/>
            </a:avLst>
          </a:prstGeom>
          <a:solidFill>
            <a:srgbClr val="FDECEA"/>
          </a:solidFill>
          <a:ln w="12700">
            <a:solidFill>
              <a:srgbClr val="FDECEA"/>
            </a:solidFill>
            <a:prstDash val="solid"/>
          </a:ln>
          <a:effectLst>
            <a:outerShdw sx="100000" sy="100000" kx="0" ky="0" algn="bl" rotWithShape="0" blurRad="50800" dist="25400" dir="5400000">
              <a:srgbClr val="000000">
                <a:alpha val="12000"/>
              </a:srgbClr>
            </a:outerShdw>
          </a:effectLst>
        </p:spPr>
      </p:sp>
      <p:sp>
        <p:nvSpPr>
          <p:cNvPr id="7" name="Text 5"/>
          <p:cNvSpPr txBox="1"/>
          <p:nvPr/>
        </p:nvSpPr>
        <p:spPr>
          <a:xfrm>
            <a:off x="777240" y="1417320"/>
            <a:ext cx="4937760" cy="457200"/>
          </a:xfrm>
          <a:prstGeom prst="rect">
            <a:avLst/>
          </a:prstGeom>
          <a:noFill/>
          <a:ln/>
        </p:spPr>
        <p:txBody>
          <a:bodyPr wrap="square" lIns="0" tIns="0" rIns="0" bIns="0" rtlCol="0" anchor="t"/>
          <a:lstStyle/>
          <a:p>
            <a:pPr rtl="1" algn="r" indent="0" marL="0">
              <a:buNone/>
            </a:pPr>
            <a:r>
              <a:rPr lang="he-IL" altLang="en-US" sz="1800" b="1" dirty="0">
                <a:solidFill>
                  <a:srgbClr val="E76F51"/>
                </a:solidFill>
                <a:latin typeface="Arial" pitchFamily="34" charset="0"/>
                <a:ea typeface="Arial" pitchFamily="34" charset="-122"/>
                <a:cs typeface="Arial" pitchFamily="34" charset="-120"/>
              </a:rPr>
              <a:t>מה חסר לנו</a:t>
            </a:r>
            <a:endParaRPr lang="he-IL" sz="1800" dirty="0"/>
          </a:p>
        </p:txBody>
      </p:sp>
      <p:sp>
        <p:nvSpPr>
          <p:cNvPr id="8" name="Text 6"/>
          <p:cNvSpPr txBox="1"/>
          <p:nvPr/>
        </p:nvSpPr>
        <p:spPr>
          <a:xfrm>
            <a:off x="777240" y="1920240"/>
            <a:ext cx="4937760" cy="2240280"/>
          </a:xfrm>
          <a:prstGeom prst="rect">
            <a:avLst/>
          </a:prstGeom>
          <a:noFill/>
          <a:ln/>
        </p:spPr>
        <p:txBody>
          <a:bodyPr wrap="square" lIns="0" tIns="0" rIns="0" bIns="0" rtlCol="0" anchor="t"/>
          <a:lstStyle/>
          <a:p>
            <a:pPr rtl="1" algn="r" indent="0" marL="0">
              <a:buNone/>
            </a:pPr>
            <a:r>
              <a:rPr lang="he-IL" altLang="en-US" sz="1250" dirty="0">
                <a:solidFill>
                  <a:srgbClr val="1F2937"/>
                </a:solidFill>
                <a:latin typeface="Arial" pitchFamily="34" charset="0"/>
                <a:ea typeface="Arial" pitchFamily="34" charset="-122"/>
                <a:cs typeface="Arial" pitchFamily="34" charset="-120"/>
              </a:rPr>
              <a:t>המאמר אינו מודד חוסר ביטחון תעסוקתי במישרין, ואת החיבור לנושא בנינו בעצמנו דרך המאמר המשלים. המדגם גרמני ושווייצרי, בגיל ממוצע של כמעט 49, מתרבות עבודה עם ביטחון סוציאלי גבוה, ולא ברור שהמרחב לעצב תפקיד קיים גם אצל סטודנטים ישראלים בתחילת הדרך. המחקר עוסק בשכירים בתפקיד קיים בלבד, ולא במחפשי עבודה או בעצמאים.</a:t>
            </a:r>
            <a:endParaRPr lang="he-IL" sz="1250" dirty="0"/>
          </a:p>
        </p:txBody>
      </p:sp>
      <p:sp>
        <p:nvSpPr>
          <p:cNvPr id="9" name="Shape 7"/>
          <p:cNvSpPr/>
          <p:nvPr/>
        </p:nvSpPr>
        <p:spPr>
          <a:xfrm>
            <a:off x="548640" y="4480560"/>
            <a:ext cx="11091672" cy="1783080"/>
          </a:xfrm>
          <a:prstGeom prst="roundRect">
            <a:avLst>
              <a:gd name="adj" fmla="val 6154"/>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822960" y="4572000"/>
            <a:ext cx="10515600" cy="411480"/>
          </a:xfrm>
          <a:prstGeom prst="rect">
            <a:avLst/>
          </a:prstGeom>
          <a:noFill/>
          <a:ln/>
        </p:spPr>
        <p:txBody>
          <a:bodyPr wrap="square" lIns="0" tIns="0" rIns="0" bIns="0" rtlCol="0" anchor="t"/>
          <a:lstStyle/>
          <a:p>
            <a:pPr rtl="1" algn="r" indent="0" marL="0">
              <a:buNone/>
            </a:pPr>
            <a:r>
              <a:rPr lang="he-IL" altLang="en-US" sz="1700" b="1" dirty="0">
                <a:solidFill>
                  <a:srgbClr val="FCA311"/>
                </a:solidFill>
                <a:latin typeface="Arial" pitchFamily="34" charset="0"/>
                <a:ea typeface="Arial" pitchFamily="34" charset="-122"/>
                <a:cs typeface="Arial" pitchFamily="34" charset="-120"/>
              </a:rPr>
              <a:t>העמדה שלנו</a:t>
            </a:r>
            <a:endParaRPr lang="he-IL" sz="1700" dirty="0"/>
          </a:p>
        </p:txBody>
      </p:sp>
      <p:sp>
        <p:nvSpPr>
          <p:cNvPr id="11" name="Text 9"/>
          <p:cNvSpPr txBox="1"/>
          <p:nvPr/>
        </p:nvSpPr>
        <p:spPr>
          <a:xfrm>
            <a:off x="822960" y="4983480"/>
            <a:ext cx="10515600" cy="1234440"/>
          </a:xfrm>
          <a:prstGeom prst="rect">
            <a:avLst/>
          </a:prstGeom>
          <a:noFill/>
          <a:ln/>
        </p:spPr>
        <p:txBody>
          <a:bodyPr wrap="square" lIns="0" tIns="0" rIns="0" bIns="0" rtlCol="0" anchor="t"/>
          <a:lstStyle/>
          <a:p>
            <a:pPr rtl="1" algn="r" indent="0" marL="0">
              <a:buNone/>
            </a:pPr>
            <a:r>
              <a:rPr lang="he-IL" altLang="en-US" sz="1450" dirty="0">
                <a:solidFill>
                  <a:srgbClr val="FFFFFF"/>
                </a:solidFill>
                <a:latin typeface="Arial" pitchFamily="34" charset="0"/>
                <a:ea typeface="Arial" pitchFamily="34" charset="-122"/>
                <a:cs typeface="Arial" pitchFamily="34" charset="-120"/>
              </a:rPr>
              <a:t>המאמר משלים את "ממשבר להזדמנות": משבר לא הופך להזדמנות מעצמו, אלא כשמישהו מעצב אותו כך. אבל המסר צריך להיות כפול: לעצב את התפקיד עכשיו, כשעוד יש משאבים, ולזכור שמי שמרגיש שאין לו משאבים צריך קודם תמיכה ולא עצות.</a:t>
            </a:r>
            <a:endParaRPr lang="he-IL" sz="1450" dirty="0"/>
          </a:p>
        </p:txBody>
      </p:sp>
      <p:sp>
        <p:nvSpPr>
          <p:cNvPr id="12" name="Text 10"/>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3" name="Text 11"/>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12</a:t>
            </a:r>
            <a:endParaRPr lang="he-IL"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FFFFFF"/>
                </a:solidFill>
                <a:latin typeface="Arial" pitchFamily="34" charset="0"/>
                <a:ea typeface="Arial" pitchFamily="34" charset="-122"/>
                <a:cs typeface="Arial" pitchFamily="34" charset="-120"/>
              </a:rPr>
              <a:t>סרטון: "3 הסודות של אנשים חסינים", Lucy Hone, TED</a:t>
            </a:r>
            <a:endParaRPr lang="he-IL" sz="3000" dirty="0"/>
          </a:p>
        </p:txBody>
      </p:sp>
      <p:sp>
        <p:nvSpPr>
          <p:cNvPr id="3" name="Shape 1"/>
          <p:cNvSpPr/>
          <p:nvPr/>
        </p:nvSpPr>
        <p:spPr>
          <a:xfrm>
            <a:off x="6309360" y="1463040"/>
            <a:ext cx="5330952" cy="3017520"/>
          </a:xfrm>
          <a:prstGeom prst="roundRect">
            <a:avLst>
              <a:gd name="adj" fmla="val 3636"/>
            </a:avLst>
          </a:prstGeom>
          <a:solidFill>
            <a:srgbClr val="0B1530"/>
          </a:solidFill>
          <a:ln w="12700">
            <a:solidFill>
              <a:srgbClr val="0B1530"/>
            </a:solidFill>
            <a:prstDash val="solid"/>
          </a:ln>
        </p:spPr>
      </p:sp>
      <p:sp>
        <p:nvSpPr>
          <p:cNvPr id="4" name="Shape 2"/>
          <p:cNvSpPr/>
          <p:nvPr/>
        </p:nvSpPr>
        <p:spPr>
          <a:xfrm>
            <a:off x="8412480" y="2377440"/>
            <a:ext cx="1143000" cy="1143000"/>
          </a:xfrm>
          <a:prstGeom prst="ellipse">
            <a:avLst/>
          </a:prstGeom>
          <a:solidFill>
            <a:srgbClr val="FCA311"/>
          </a:solidFill>
          <a:ln w="12700">
            <a:solidFill>
              <a:srgbClr val="FCA311"/>
            </a:solidFill>
            <a:prstDash val="solid"/>
          </a:ln>
        </p:spPr>
      </p:sp>
      <p:sp>
        <p:nvSpPr>
          <p:cNvPr id="5" name="Text 3"/>
          <p:cNvSpPr txBox="1"/>
          <p:nvPr/>
        </p:nvSpPr>
        <p:spPr>
          <a:xfrm>
            <a:off x="8412480" y="2377440"/>
            <a:ext cx="1143000" cy="1143000"/>
          </a:xfrm>
          <a:prstGeom prst="rect">
            <a:avLst/>
          </a:prstGeom>
          <a:noFill/>
          <a:ln/>
        </p:spPr>
        <p:txBody>
          <a:bodyPr wrap="square" lIns="0" tIns="0" rIns="0" bIns="0" rtlCol="0" anchor="ctr"/>
          <a:lstStyle/>
          <a:p>
            <a:pPr algn="ctr" indent="0" marL="0">
              <a:buNone/>
            </a:pPr>
            <a:r>
              <a:rPr lang="en-US" sz="3000" b="1" dirty="0">
                <a:solidFill>
                  <a:srgbClr val="14213D"/>
                </a:solidFill>
                <a:latin typeface="Arial" pitchFamily="34" charset="0"/>
                <a:ea typeface="Arial" pitchFamily="34" charset="-122"/>
                <a:cs typeface="Arial" pitchFamily="34" charset="-120"/>
              </a:rPr>
              <a:t>▶</a:t>
            </a:r>
            <a:endParaRPr lang="en-US" sz="3000" dirty="0"/>
          </a:p>
        </p:txBody>
      </p:sp>
      <p:sp>
        <p:nvSpPr>
          <p:cNvPr id="6" name="Text 4">
            <a:hlinkClick r:id="rId1" tooltip=""/>
          </p:cNvPr>
          <p:cNvSpPr txBox="1"/>
          <p:nvPr/>
        </p:nvSpPr>
        <p:spPr>
          <a:xfrm>
            <a:off x="6492240" y="3977640"/>
            <a:ext cx="4937760" cy="365760"/>
          </a:xfrm>
          <a:prstGeom prst="rect">
            <a:avLst/>
          </a:prstGeom>
          <a:noFill/>
          <a:ln/>
        </p:spPr>
        <p:txBody>
          <a:bodyPr wrap="square" lIns="0" tIns="0" rIns="0" bIns="0" rtlCol="0" anchor="ctr"/>
          <a:lstStyle/>
          <a:p>
            <a:pPr algn="ctr" indent="0" marL="0">
              <a:buNone/>
            </a:pPr>
            <a:r>
              <a:rPr lang="en-US" sz="1100" u="sng" dirty="0">
                <a:solidFill>
                  <a:srgbClr val="CAD3E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ted.com/talks/lucy_hone_the_three_secrets_of_resilient_people</a:t>
            </a:r>
            <a:endParaRPr lang="en-US" sz="1100" dirty="0"/>
          </a:p>
        </p:txBody>
      </p:sp>
      <p:sp>
        <p:nvSpPr>
          <p:cNvPr id="7" name="Text 5"/>
          <p:cNvSpPr txBox="1"/>
          <p:nvPr/>
        </p:nvSpPr>
        <p:spPr>
          <a:xfrm>
            <a:off x="731520" y="1463040"/>
            <a:ext cx="5212080" cy="457200"/>
          </a:xfrm>
          <a:prstGeom prst="rect">
            <a:avLst/>
          </a:prstGeom>
          <a:noFill/>
          <a:ln/>
        </p:spPr>
        <p:txBody>
          <a:bodyPr wrap="square" lIns="0" tIns="0" rIns="0" bIns="0" rtlCol="0" anchor="t"/>
          <a:lstStyle/>
          <a:p>
            <a:pPr rtl="1" algn="r" indent="0" marL="0">
              <a:buNone/>
            </a:pPr>
            <a:r>
              <a:rPr lang="he-IL" altLang="en-US" sz="1800" b="1" dirty="0">
                <a:solidFill>
                  <a:srgbClr val="FCA311"/>
                </a:solidFill>
                <a:latin typeface="Arial" pitchFamily="34" charset="0"/>
                <a:ea typeface="Arial" pitchFamily="34" charset="-122"/>
                <a:cs typeface="Arial" pitchFamily="34" charset="-120"/>
              </a:rPr>
              <a:t>מה לחפש בקטע (90 שניות):</a:t>
            </a:r>
            <a:endParaRPr lang="he-IL" sz="1800" dirty="0"/>
          </a:p>
        </p:txBody>
      </p:sp>
      <p:sp>
        <p:nvSpPr>
          <p:cNvPr id="8" name="Text 6"/>
          <p:cNvSpPr txBox="1"/>
          <p:nvPr/>
        </p:nvSpPr>
        <p:spPr>
          <a:xfrm>
            <a:off x="731520" y="1965960"/>
            <a:ext cx="5212080" cy="2651760"/>
          </a:xfrm>
          <a:prstGeom prst="rect">
            <a:avLst/>
          </a:prstGeom>
          <a:noFill/>
          <a:ln/>
        </p:spPr>
        <p:txBody>
          <a:bodyPr wrap="square" lIns="0" tIns="0" rIns="0" bIns="0" rtlCol="0" anchor="t"/>
          <a:lstStyle/>
          <a:p>
            <a:pPr rtl="1" algn="r" indent="0" marL="0">
              <a:buNone/>
            </a:pPr>
            <a:r>
              <a:rPr lang="he-IL" altLang="en-US" sz="1350" dirty="0">
                <a:solidFill>
                  <a:srgbClr val="FFFFFF"/>
                </a:solidFill>
                <a:latin typeface="Arial" pitchFamily="34" charset="0"/>
                <a:ea typeface="Arial" pitchFamily="34" charset="-122"/>
                <a:cs typeface="Arial" pitchFamily="34" charset="-120"/>
              </a:rPr>
              <a:t>חוקרת החוסן לוסי הון מציעה שלושה עקרונות: לקבל שדברים רעים קורים כחלק מהחיים, לבחור במה להתמקד ולהפנות את הקשב למה שבשליטתנו, ולשאול על כל פעולה האם היא עוזרת או פוגעת (Hone, 2019). שני העקרונות האחרונים הם, במונחי המאמר, חיזוק המובנות והניהוליות והבחירה לעצב את המצב במקום רק לשרוד אותו.</a:t>
            </a:r>
            <a:endParaRPr lang="he-IL" sz="1350" dirty="0"/>
          </a:p>
        </p:txBody>
      </p:sp>
      <p:sp>
        <p:nvSpPr>
          <p:cNvPr id="9" name="Shape 7"/>
          <p:cNvSpPr/>
          <p:nvPr/>
        </p:nvSpPr>
        <p:spPr>
          <a:xfrm>
            <a:off x="731520" y="4800600"/>
            <a:ext cx="10908792" cy="1371600"/>
          </a:xfrm>
          <a:prstGeom prst="roundRect">
            <a:avLst>
              <a:gd name="adj" fmla="val 8000"/>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0" name="Text 8"/>
          <p:cNvSpPr txBox="1"/>
          <p:nvPr/>
        </p:nvSpPr>
        <p:spPr>
          <a:xfrm>
            <a:off x="960120" y="4892040"/>
            <a:ext cx="10424160" cy="1188720"/>
          </a:xfrm>
          <a:prstGeom prst="rect">
            <a:avLst/>
          </a:prstGeom>
          <a:noFill/>
          <a:ln/>
        </p:spPr>
        <p:txBody>
          <a:bodyPr wrap="square" lIns="0" tIns="0" rIns="0" bIns="0" rtlCol="0" anchor="ctr"/>
          <a:lstStyle/>
          <a:p>
            <a:pPr rtl="1" algn="r" indent="0" marL="0">
              <a:buNone/>
            </a:pPr>
            <a:r>
              <a:rPr lang="he-IL" altLang="en-US" sz="1600" dirty="0">
                <a:solidFill>
                  <a:srgbClr val="FFFFFF"/>
                </a:solidFill>
                <a:latin typeface="Arial" pitchFamily="34" charset="0"/>
                <a:ea typeface="Arial" pitchFamily="34" charset="-122"/>
                <a:cs typeface="Arial" pitchFamily="34" charset="-120"/>
              </a:rPr>
              <a:t>שאלה לכיתה אחרי הסרטון: איזה מהשלושה הכי קשה לכם ליישם בהקשר של הקריירה? (הרמת ידיים)</a:t>
            </a:r>
            <a:endParaRPr lang="he-IL" sz="1600" dirty="0"/>
          </a:p>
        </p:txBody>
      </p:sp>
      <p:sp>
        <p:nvSpPr>
          <p:cNvPr id="11" name="Text 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A9B4C8"/>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12" name="Text 1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A9B4C8"/>
                </a:solidFill>
                <a:latin typeface="Arial" pitchFamily="34" charset="0"/>
                <a:ea typeface="Arial" pitchFamily="34" charset="-122"/>
                <a:cs typeface="Arial" pitchFamily="34" charset="-120"/>
              </a:rPr>
              <a:t>13</a:t>
            </a:r>
            <a:endParaRPr lang="he-IL"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יישום: תוכנית עיצוב תפקיד אישית לפי ארבעת צרכי ההתקרבות</a:t>
            </a:r>
            <a:endParaRPr lang="he-IL"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5394960"/>
                <a:gridCol w="3566160"/>
                <a:gridCol w="2130552"/>
              </a:tblGrid>
              <a:tr h="457200">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דוגמאות לפעולה בשבועיים הקרובים</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שאלה מנחה</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rtl="1" algn="r" indent="0" marL="0">
                        <a:buNone/>
                      </a:pPr>
                      <a:r>
                        <a:rPr lang="en-US" sz="1400" b="1" dirty="0">
                          <a:solidFill>
                            <a:srgbClr val="FFFFFF"/>
                          </a:solidFill>
                          <a:latin typeface="Arial" pitchFamily="34" charset="0"/>
                          <a:ea typeface="Arial" pitchFamily="34" charset="-122"/>
                          <a:cs typeface="Arial" pitchFamily="34" charset="-120"/>
                        </a:rPr>
                        <a:t>הצורך</a:t>
                      </a:r>
                      <a:endParaRPr lang="en-US" sz="14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לקבוע את סדר המשימות של הבוקר; להציע דרך משלי למשימה חוזרת; שעה קבועה ללא הפרעות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באילו החלטות קטנות אני יכול לבחור בעצמי?</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2A9D8F"/>
                          </a:solidFill>
                          <a:latin typeface="Arial" pitchFamily="34" charset="0"/>
                          <a:ea typeface="Arial" pitchFamily="34" charset="-122"/>
                          <a:cs typeface="Arial" pitchFamily="34" charset="-120"/>
                        </a:rPr>
                        <a:t>אוטונומיה</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משימה אחת מעט מעבר ליכולת; כלי בינה מלאכותית אחד בתחום; לתעד בסוף השבוע דבר אחד שלמדתי</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איזה אתגר בגובה הנכון יגרום לי להרגיש שאני מתקדם?</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FCA311"/>
                          </a:solidFill>
                          <a:latin typeface="Arial" pitchFamily="34" charset="0"/>
                          <a:ea typeface="Arial" pitchFamily="34" charset="-122"/>
                          <a:cs typeface="Arial" pitchFamily="34" charset="-120"/>
                        </a:rPr>
                        <a:t>מיומנות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לזהות למי העבודה שלי עוזרת ולדבר איתו; לנסח במשפט למה התפקיד חשוב; להתנדב למשימה שמתחברת לערכים</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איזה חלק בעבודה מתחבר למה שחשוב לי, ואיך מגדילים אותו?</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E76F51"/>
                          </a:solidFill>
                          <a:latin typeface="Arial" pitchFamily="34" charset="0"/>
                          <a:ea typeface="Arial" pitchFamily="34" charset="-122"/>
                          <a:cs typeface="Arial" pitchFamily="34" charset="-120"/>
                        </a:rPr>
                        <a:t>משמעות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868680">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הפסקת קפה קבועה עם עמית; להציע עזרה לפני שמבקשים; להצטרף לפרויקט חוצה מחלקות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dirty="0">
                          <a:solidFill>
                            <a:srgbClr val="1F2937"/>
                          </a:solidFill>
                          <a:latin typeface="Arial" pitchFamily="34" charset="0"/>
                          <a:ea typeface="Arial" pitchFamily="34" charset="-122"/>
                          <a:cs typeface="Arial" pitchFamily="34" charset="-120"/>
                        </a:rPr>
                        <a:t>עם מי בעבודה אני רוצה קשר אמיתי יותר?</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rtl="1" algn="r" indent="0" marL="0">
                        <a:buNone/>
                      </a:pPr>
                      <a:r>
                        <a:rPr lang="en-US" sz="1200" b="1" dirty="0">
                          <a:solidFill>
                            <a:srgbClr val="14213D"/>
                          </a:solidFill>
                          <a:latin typeface="Arial" pitchFamily="34" charset="0"/>
                          <a:ea typeface="Arial" pitchFamily="34" charset="-122"/>
                          <a:cs typeface="Arial" pitchFamily="34" charset="-120"/>
                        </a:rPr>
                        <a:t>שייכות</a:t>
                      </a:r>
                      <a:endParaRPr lang="en-US" sz="1200" dirty="0">
                        <a:latin typeface="Arial" charset="0"/>
                        <a:ea typeface="Arial" charset="0"/>
                        <a:cs typeface="Arial" charset="0"/>
                      </a:endParaRPr>
                    </a:p>
                  </a:txBody>
                  <a:tcPr marL="73152" marR="73152" marT="73152" marB="73152"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5532120"/>
            <a:ext cx="11091672" cy="731520"/>
          </a:xfrm>
          <a:prstGeom prst="roundRect">
            <a:avLst>
              <a:gd name="adj" fmla="val 15000"/>
            </a:avLst>
          </a:prstGeom>
          <a:solidFill>
            <a:srgbClr val="FFF4DE"/>
          </a:solidFill>
          <a:ln w="12700">
            <a:solidFill>
              <a:srgbClr val="FFF4DE"/>
            </a:solidFill>
            <a:prstDash val="solid"/>
          </a:ln>
          <a:effectLst>
            <a:outerShdw sx="100000" sy="100000" kx="0" ky="0" algn="bl" rotWithShape="0" blurRad="50800" dist="25400" dir="5400000">
              <a:srgbClr val="000000">
                <a:alpha val="12000"/>
              </a:srgbClr>
            </a:outerShdw>
          </a:effectLst>
        </p:spPr>
      </p:sp>
      <p:sp>
        <p:nvSpPr>
          <p:cNvPr id="5" name="Text 2"/>
          <p:cNvSpPr txBox="1"/>
          <p:nvPr/>
        </p:nvSpPr>
        <p:spPr>
          <a:xfrm>
            <a:off x="822960" y="5577840"/>
            <a:ext cx="10515600" cy="640080"/>
          </a:xfrm>
          <a:prstGeom prst="rect">
            <a:avLst/>
          </a:prstGeom>
          <a:noFill/>
          <a:ln/>
        </p:spPr>
        <p:txBody>
          <a:bodyPr wrap="square" lIns="0" tIns="0" rIns="0" bIns="0" rtlCol="0" anchor="ctr"/>
          <a:lstStyle/>
          <a:p>
            <a:pPr rtl="1" algn="r" indent="0" marL="0">
              <a:buNone/>
            </a:pPr>
            <a:r>
              <a:rPr lang="he-IL" altLang="en-US" sz="1300" b="1" dirty="0">
                <a:solidFill>
                  <a:srgbClr val="14213D"/>
                </a:solidFill>
                <a:latin typeface="Arial" pitchFamily="34" charset="0"/>
                <a:ea typeface="Arial" pitchFamily="34" charset="-122"/>
                <a:cs typeface="Arial" pitchFamily="34" charset="-120"/>
              </a:rPr>
              <a:t>מתחבר ל"שלושת סלי הכלים" מהקורס: רשת אנשים = שייכות, התפתחות = מיומנות, זהות מקצועית = משמעות. המאמר מוסיף אוטונומיה וראיה אמפירית</a:t>
            </a:r>
            <a:endParaRPr lang="he-IL" sz="1300" dirty="0"/>
          </a:p>
        </p:txBody>
      </p:sp>
      <p:sp>
        <p:nvSpPr>
          <p:cNvPr id="6" name="Text 3"/>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7" name="Text 4"/>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14</a:t>
            </a:r>
            <a:endParaRPr lang="he-IL"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A"/>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הפעלה (2 דקות): צורך אחד, פעולה אחת, מועד אחד</a:t>
            </a:r>
            <a:endParaRPr lang="he-IL" sz="3000" dirty="0"/>
          </a:p>
        </p:txBody>
      </p:sp>
      <p:sp>
        <p:nvSpPr>
          <p:cNvPr id="3" name="Shape 1"/>
          <p:cNvSpPr/>
          <p:nvPr/>
        </p:nvSpPr>
        <p:spPr>
          <a:xfrm>
            <a:off x="8988552"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4" name="Shape 2"/>
          <p:cNvSpPr/>
          <p:nvPr/>
        </p:nvSpPr>
        <p:spPr>
          <a:xfrm>
            <a:off x="9217152" y="1600200"/>
            <a:ext cx="2194560" cy="502920"/>
          </a:xfrm>
          <a:prstGeom prst="roundRect">
            <a:avLst>
              <a:gd name="adj" fmla="val 18182"/>
            </a:avLst>
          </a:prstGeom>
          <a:solidFill>
            <a:srgbClr val="2A9D8F"/>
          </a:solidFill>
          <a:ln w="12700">
            <a:solidFill>
              <a:srgbClr val="2A9D8F"/>
            </a:solidFill>
            <a:prstDash val="solid"/>
          </a:ln>
        </p:spPr>
      </p:sp>
      <p:sp>
        <p:nvSpPr>
          <p:cNvPr id="5" name="Text 3"/>
          <p:cNvSpPr txBox="1"/>
          <p:nvPr/>
        </p:nvSpPr>
        <p:spPr>
          <a:xfrm>
            <a:off x="9217152"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אוטונומיה</a:t>
            </a:r>
            <a:endParaRPr lang="he-IL" sz="1500" dirty="0"/>
          </a:p>
        </p:txBody>
      </p:sp>
      <p:sp>
        <p:nvSpPr>
          <p:cNvPr id="6" name="Text 4"/>
          <p:cNvSpPr txBox="1"/>
          <p:nvPr/>
        </p:nvSpPr>
        <p:spPr>
          <a:xfrm>
            <a:off x="9217152"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איזו החלטה קטנה בעבודה או בלימודים אני לוקח לידיים כבר השבוע?</a:t>
            </a:r>
            <a:endParaRPr lang="he-IL" sz="1300" dirty="0"/>
          </a:p>
        </p:txBody>
      </p:sp>
      <p:sp>
        <p:nvSpPr>
          <p:cNvPr id="7" name="Shape 5"/>
          <p:cNvSpPr/>
          <p:nvPr/>
        </p:nvSpPr>
        <p:spPr>
          <a:xfrm>
            <a:off x="6172200"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8" name="Shape 6"/>
          <p:cNvSpPr/>
          <p:nvPr/>
        </p:nvSpPr>
        <p:spPr>
          <a:xfrm>
            <a:off x="6400800" y="1600200"/>
            <a:ext cx="2194560" cy="502920"/>
          </a:xfrm>
          <a:prstGeom prst="roundRect">
            <a:avLst>
              <a:gd name="adj" fmla="val 18182"/>
            </a:avLst>
          </a:prstGeom>
          <a:solidFill>
            <a:srgbClr val="FCA311"/>
          </a:solidFill>
          <a:ln w="12700">
            <a:solidFill>
              <a:srgbClr val="FCA311"/>
            </a:solidFill>
            <a:prstDash val="solid"/>
          </a:ln>
        </p:spPr>
      </p:sp>
      <p:sp>
        <p:nvSpPr>
          <p:cNvPr id="9" name="Text 7"/>
          <p:cNvSpPr txBox="1"/>
          <p:nvPr/>
        </p:nvSpPr>
        <p:spPr>
          <a:xfrm>
            <a:off x="6400800"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מיומנות</a:t>
            </a:r>
            <a:endParaRPr lang="he-IL" sz="1500" dirty="0"/>
          </a:p>
        </p:txBody>
      </p:sp>
      <p:sp>
        <p:nvSpPr>
          <p:cNvPr id="10" name="Text 8"/>
          <p:cNvSpPr txBox="1"/>
          <p:nvPr/>
        </p:nvSpPr>
        <p:spPr>
          <a:xfrm>
            <a:off x="6400800"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איזה אתגר אחד, מעט מעבר ליכולת הנוכחית, אני לוקח על עצמי בשבועיים הקרובים?</a:t>
            </a:r>
            <a:endParaRPr lang="he-IL" sz="1300" dirty="0"/>
          </a:p>
        </p:txBody>
      </p:sp>
      <p:sp>
        <p:nvSpPr>
          <p:cNvPr id="11" name="Shape 9"/>
          <p:cNvSpPr/>
          <p:nvPr/>
        </p:nvSpPr>
        <p:spPr>
          <a:xfrm>
            <a:off x="3355848"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2" name="Shape 10"/>
          <p:cNvSpPr/>
          <p:nvPr/>
        </p:nvSpPr>
        <p:spPr>
          <a:xfrm>
            <a:off x="3584448" y="1600200"/>
            <a:ext cx="2194560" cy="502920"/>
          </a:xfrm>
          <a:prstGeom prst="roundRect">
            <a:avLst>
              <a:gd name="adj" fmla="val 18182"/>
            </a:avLst>
          </a:prstGeom>
          <a:solidFill>
            <a:srgbClr val="E76F51"/>
          </a:solidFill>
          <a:ln w="12700">
            <a:solidFill>
              <a:srgbClr val="E76F51"/>
            </a:solidFill>
            <a:prstDash val="solid"/>
          </a:ln>
        </p:spPr>
      </p:sp>
      <p:sp>
        <p:nvSpPr>
          <p:cNvPr id="13" name="Text 11"/>
          <p:cNvSpPr txBox="1"/>
          <p:nvPr/>
        </p:nvSpPr>
        <p:spPr>
          <a:xfrm>
            <a:off x="3584448"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משמעות</a:t>
            </a:r>
            <a:endParaRPr lang="he-IL" sz="1500" dirty="0"/>
          </a:p>
        </p:txBody>
      </p:sp>
      <p:sp>
        <p:nvSpPr>
          <p:cNvPr id="14" name="Text 12"/>
          <p:cNvSpPr txBox="1"/>
          <p:nvPr/>
        </p:nvSpPr>
        <p:spPr>
          <a:xfrm>
            <a:off x="3584448"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למי העבודה שלי עוזרת, ומתי בפעם האחרונה דיברתי איתו?</a:t>
            </a:r>
            <a:endParaRPr lang="he-IL" sz="1300" dirty="0"/>
          </a:p>
        </p:txBody>
      </p:sp>
      <p:sp>
        <p:nvSpPr>
          <p:cNvPr id="15" name="Shape 13"/>
          <p:cNvSpPr/>
          <p:nvPr/>
        </p:nvSpPr>
        <p:spPr>
          <a:xfrm>
            <a:off x="539496" y="1371600"/>
            <a:ext cx="265176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768096" y="1600200"/>
            <a:ext cx="2194560" cy="502920"/>
          </a:xfrm>
          <a:prstGeom prst="roundRect">
            <a:avLst>
              <a:gd name="adj" fmla="val 18182"/>
            </a:avLst>
          </a:prstGeom>
          <a:solidFill>
            <a:srgbClr val="14213D"/>
          </a:solidFill>
          <a:ln w="12700">
            <a:solidFill>
              <a:srgbClr val="14213D"/>
            </a:solidFill>
            <a:prstDash val="solid"/>
          </a:ln>
        </p:spPr>
      </p:sp>
      <p:sp>
        <p:nvSpPr>
          <p:cNvPr id="17" name="Text 15"/>
          <p:cNvSpPr txBox="1"/>
          <p:nvPr/>
        </p:nvSpPr>
        <p:spPr>
          <a:xfrm>
            <a:off x="768096" y="1600200"/>
            <a:ext cx="2194560" cy="502920"/>
          </a:xfrm>
          <a:prstGeom prst="rect">
            <a:avLst/>
          </a:prstGeom>
          <a:noFill/>
          <a:ln/>
        </p:spPr>
        <p:txBody>
          <a:bodyPr wrap="square" lIns="0" tIns="0" rIns="0" bIns="0" rtlCol="0" anchor="ctr"/>
          <a:lstStyle/>
          <a:p>
            <a:pPr rtl="1" algn="ctr" indent="0" marL="0">
              <a:buNone/>
            </a:pPr>
            <a:r>
              <a:rPr lang="he-IL" altLang="en-US" sz="1500" b="1" dirty="0">
                <a:solidFill>
                  <a:srgbClr val="FFFFFF"/>
                </a:solidFill>
                <a:latin typeface="Arial" pitchFamily="34" charset="0"/>
                <a:ea typeface="Arial" pitchFamily="34" charset="-122"/>
                <a:cs typeface="Arial" pitchFamily="34" charset="-120"/>
              </a:rPr>
              <a:t>שייכות</a:t>
            </a:r>
            <a:endParaRPr lang="he-IL" sz="1500" dirty="0"/>
          </a:p>
        </p:txBody>
      </p:sp>
      <p:sp>
        <p:nvSpPr>
          <p:cNvPr id="18" name="Text 16"/>
          <p:cNvSpPr txBox="1"/>
          <p:nvPr/>
        </p:nvSpPr>
        <p:spPr>
          <a:xfrm>
            <a:off x="768096" y="2286000"/>
            <a:ext cx="2194560" cy="1371600"/>
          </a:xfrm>
          <a:prstGeom prst="rect">
            <a:avLst/>
          </a:prstGeom>
          <a:noFill/>
          <a:ln/>
        </p:spPr>
        <p:txBody>
          <a:bodyPr wrap="square" lIns="0" tIns="0" rIns="0" bIns="0" rtlCol="0" anchor="t"/>
          <a:lstStyle/>
          <a:p>
            <a:pPr rtl="1" algn="r" indent="0" marL="0">
              <a:buNone/>
            </a:pPr>
            <a:r>
              <a:rPr lang="he-IL" altLang="en-US" sz="1300" dirty="0">
                <a:solidFill>
                  <a:srgbClr val="1F2937"/>
                </a:solidFill>
                <a:latin typeface="Arial" pitchFamily="34" charset="0"/>
                <a:ea typeface="Arial" pitchFamily="34" charset="-122"/>
                <a:cs typeface="Arial" pitchFamily="34" charset="-120"/>
              </a:rPr>
              <a:t>עם מי בעבודה אני רוצה קשר אמיתי יותר, ומה הצעד הראשון?</a:t>
            </a:r>
            <a:endParaRPr lang="he-IL" sz="1300" dirty="0"/>
          </a:p>
        </p:txBody>
      </p:sp>
      <p:sp>
        <p:nvSpPr>
          <p:cNvPr id="19" name="Shape 17"/>
          <p:cNvSpPr/>
          <p:nvPr/>
        </p:nvSpPr>
        <p:spPr>
          <a:xfrm>
            <a:off x="548640" y="3977640"/>
            <a:ext cx="11091672" cy="2286000"/>
          </a:xfrm>
          <a:prstGeom prst="roundRect">
            <a:avLst>
              <a:gd name="adj" fmla="val 4800"/>
            </a:avLst>
          </a:prstGeom>
          <a:solidFill>
            <a:srgbClr val="14213D"/>
          </a:solidFill>
          <a:ln w="12700">
            <a:solidFill>
              <a:srgbClr val="14213D"/>
            </a:solidFill>
            <a:prstDash val="solid"/>
          </a:ln>
          <a:effectLst>
            <a:outerShdw sx="100000" sy="100000" kx="0" ky="0" algn="bl" rotWithShape="0" blurRad="50800" dist="25400" dir="5400000">
              <a:srgbClr val="000000">
                <a:alpha val="12000"/>
              </a:srgbClr>
            </a:outerShdw>
          </a:effectLst>
        </p:spPr>
      </p:sp>
      <p:sp>
        <p:nvSpPr>
          <p:cNvPr id="20" name="Text 18"/>
          <p:cNvSpPr txBox="1"/>
          <p:nvPr/>
        </p:nvSpPr>
        <p:spPr>
          <a:xfrm>
            <a:off x="822960" y="4069080"/>
            <a:ext cx="10515600" cy="411480"/>
          </a:xfrm>
          <a:prstGeom prst="rect">
            <a:avLst/>
          </a:prstGeom>
          <a:noFill/>
          <a:ln/>
        </p:spPr>
        <p:txBody>
          <a:bodyPr wrap="square" lIns="0" tIns="0" rIns="0" bIns="0" rtlCol="0" anchor="t"/>
          <a:lstStyle/>
          <a:p>
            <a:pPr rtl="1" algn="r" indent="0" marL="0">
              <a:buNone/>
            </a:pPr>
            <a:r>
              <a:rPr lang="he-IL" altLang="en-US" sz="1700" b="1" dirty="0">
                <a:solidFill>
                  <a:srgbClr val="FCA311"/>
                </a:solidFill>
                <a:latin typeface="Arial" pitchFamily="34" charset="0"/>
                <a:ea typeface="Arial" pitchFamily="34" charset="-122"/>
                <a:cs typeface="Arial" pitchFamily="34" charset="-120"/>
              </a:rPr>
              <a:t>שלושה שלבים:</a:t>
            </a:r>
            <a:endParaRPr lang="he-IL" sz="1700" dirty="0"/>
          </a:p>
        </p:txBody>
      </p:sp>
      <p:sp>
        <p:nvSpPr>
          <p:cNvPr id="21" name="Shape 19"/>
          <p:cNvSpPr/>
          <p:nvPr/>
        </p:nvSpPr>
        <p:spPr>
          <a:xfrm>
            <a:off x="10835640" y="4617720"/>
            <a:ext cx="411480" cy="411480"/>
          </a:xfrm>
          <a:prstGeom prst="ellipse">
            <a:avLst/>
          </a:prstGeom>
          <a:solidFill>
            <a:srgbClr val="FCA311"/>
          </a:solidFill>
          <a:ln w="12700">
            <a:solidFill>
              <a:srgbClr val="FCA311"/>
            </a:solidFill>
            <a:prstDash val="solid"/>
          </a:ln>
        </p:spPr>
      </p:sp>
      <p:sp>
        <p:nvSpPr>
          <p:cNvPr id="22" name="Text 20"/>
          <p:cNvSpPr txBox="1"/>
          <p:nvPr/>
        </p:nvSpPr>
        <p:spPr>
          <a:xfrm>
            <a:off x="10835640" y="461772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1</a:t>
            </a:r>
            <a:endParaRPr lang="en-US" sz="1400" dirty="0"/>
          </a:p>
        </p:txBody>
      </p:sp>
      <p:sp>
        <p:nvSpPr>
          <p:cNvPr id="23" name="Text 21"/>
          <p:cNvSpPr txBox="1"/>
          <p:nvPr/>
        </p:nvSpPr>
        <p:spPr>
          <a:xfrm>
            <a:off x="822960" y="457200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בוחרים כרטיסייה אחת (30 שניות)</a:t>
            </a:r>
            <a:endParaRPr lang="he-IL" sz="1500" dirty="0"/>
          </a:p>
        </p:txBody>
      </p:sp>
      <p:sp>
        <p:nvSpPr>
          <p:cNvPr id="24" name="Shape 22"/>
          <p:cNvSpPr/>
          <p:nvPr/>
        </p:nvSpPr>
        <p:spPr>
          <a:xfrm>
            <a:off x="10835640" y="5166360"/>
            <a:ext cx="411480" cy="411480"/>
          </a:xfrm>
          <a:prstGeom prst="ellipse">
            <a:avLst/>
          </a:prstGeom>
          <a:solidFill>
            <a:srgbClr val="FCA311"/>
          </a:solidFill>
          <a:ln w="12700">
            <a:solidFill>
              <a:srgbClr val="FCA311"/>
            </a:solidFill>
            <a:prstDash val="solid"/>
          </a:ln>
        </p:spPr>
      </p:sp>
      <p:sp>
        <p:nvSpPr>
          <p:cNvPr id="25" name="Text 23"/>
          <p:cNvSpPr txBox="1"/>
          <p:nvPr/>
        </p:nvSpPr>
        <p:spPr>
          <a:xfrm>
            <a:off x="10835640" y="516636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2</a:t>
            </a:r>
            <a:endParaRPr lang="en-US" sz="1400" dirty="0"/>
          </a:p>
        </p:txBody>
      </p:sp>
      <p:sp>
        <p:nvSpPr>
          <p:cNvPr id="26" name="Text 24"/>
          <p:cNvSpPr txBox="1"/>
          <p:nvPr/>
        </p:nvSpPr>
        <p:spPr>
          <a:xfrm>
            <a:off x="822960" y="512064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כותבים פעולה אחת קונקרטית ומועד לביצועה (60 שניות)</a:t>
            </a:r>
            <a:endParaRPr lang="he-IL" sz="1500" dirty="0"/>
          </a:p>
        </p:txBody>
      </p:sp>
      <p:sp>
        <p:nvSpPr>
          <p:cNvPr id="27" name="Shape 25"/>
          <p:cNvSpPr/>
          <p:nvPr/>
        </p:nvSpPr>
        <p:spPr>
          <a:xfrm>
            <a:off x="10835640" y="5715000"/>
            <a:ext cx="411480" cy="411480"/>
          </a:xfrm>
          <a:prstGeom prst="ellipse">
            <a:avLst/>
          </a:prstGeom>
          <a:solidFill>
            <a:srgbClr val="FCA311"/>
          </a:solidFill>
          <a:ln w="12700">
            <a:solidFill>
              <a:srgbClr val="FCA311"/>
            </a:solidFill>
            <a:prstDash val="solid"/>
          </a:ln>
        </p:spPr>
      </p:sp>
      <p:sp>
        <p:nvSpPr>
          <p:cNvPr id="28" name="Text 26"/>
          <p:cNvSpPr txBox="1"/>
          <p:nvPr/>
        </p:nvSpPr>
        <p:spPr>
          <a:xfrm>
            <a:off x="10835640" y="5715000"/>
            <a:ext cx="411480" cy="411480"/>
          </a:xfrm>
          <a:prstGeom prst="rect">
            <a:avLst/>
          </a:prstGeom>
          <a:noFill/>
          <a:ln/>
        </p:spPr>
        <p:txBody>
          <a:bodyPr wrap="square" lIns="0" tIns="0" rIns="0" bIns="0" rtlCol="0" anchor="ctr"/>
          <a:lstStyle/>
          <a:p>
            <a:pPr algn="ctr" indent="0" marL="0">
              <a:buNone/>
            </a:pPr>
            <a:r>
              <a:rPr lang="en-US" sz="1400" b="1" dirty="0">
                <a:solidFill>
                  <a:srgbClr val="14213D"/>
                </a:solidFill>
                <a:latin typeface="Arial" pitchFamily="34" charset="0"/>
                <a:ea typeface="Arial" pitchFamily="34" charset="-122"/>
                <a:cs typeface="Arial" pitchFamily="34" charset="-120"/>
              </a:rPr>
              <a:t>3</a:t>
            </a:r>
            <a:endParaRPr lang="en-US" sz="1400" dirty="0"/>
          </a:p>
        </p:txBody>
      </p:sp>
      <p:sp>
        <p:nvSpPr>
          <p:cNvPr id="29" name="Text 27"/>
          <p:cNvSpPr txBox="1"/>
          <p:nvPr/>
        </p:nvSpPr>
        <p:spPr>
          <a:xfrm>
            <a:off x="822960" y="5669280"/>
            <a:ext cx="9875520" cy="502920"/>
          </a:xfrm>
          <a:prstGeom prst="rect">
            <a:avLst/>
          </a:prstGeom>
          <a:noFill/>
          <a:ln/>
        </p:spPr>
        <p:txBody>
          <a:bodyPr wrap="square" lIns="0" tIns="0" rIns="0" bIns="0" rtlCol="0" anchor="ctr"/>
          <a:lstStyle/>
          <a:p>
            <a:pPr rtl="1" algn="r" indent="0" marL="0">
              <a:buNone/>
            </a:pPr>
            <a:r>
              <a:rPr lang="he-IL" altLang="en-US" sz="1500" dirty="0">
                <a:solidFill>
                  <a:srgbClr val="FFFFFF"/>
                </a:solidFill>
                <a:latin typeface="Arial" pitchFamily="34" charset="0"/>
                <a:ea typeface="Arial" pitchFamily="34" charset="-122"/>
                <a:cs typeface="Arial" pitchFamily="34" charset="-120"/>
              </a:rPr>
              <a:t>משתפים את השכן במשפט אחד (30 שניות). נשמע 2 עד 3 דוגמאות מהכיתה</a:t>
            </a:r>
            <a:endParaRPr lang="he-IL" sz="1500" dirty="0"/>
          </a:p>
        </p:txBody>
      </p:sp>
      <p:sp>
        <p:nvSpPr>
          <p:cNvPr id="30" name="Text 28"/>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31" name="Text 29"/>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15</a:t>
            </a:r>
            <a:endParaRPr lang="he-IL"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645920" y="-1645920"/>
            <a:ext cx="4114800" cy="4114800"/>
          </a:xfrm>
          <a:prstGeom prst="ellipse">
            <a:avLst/>
          </a:prstGeom>
          <a:solidFill>
            <a:srgbClr val="1D2E52"/>
          </a:solidFill>
          <a:ln w="12700">
            <a:solidFill>
              <a:srgbClr val="1D2E52"/>
            </a:solidFill>
            <a:prstDash val="solid"/>
          </a:ln>
        </p:spPr>
      </p:sp>
      <p:sp>
        <p:nvSpPr>
          <p:cNvPr id="3" name="Text 1"/>
          <p:cNvSpPr txBox="1"/>
          <p:nvPr/>
        </p:nvSpPr>
        <p:spPr>
          <a:xfrm>
            <a:off x="731520" y="548640"/>
            <a:ext cx="10698480" cy="640080"/>
          </a:xfrm>
          <a:prstGeom prst="rect">
            <a:avLst/>
          </a:prstGeom>
          <a:noFill/>
          <a:ln/>
        </p:spPr>
        <p:txBody>
          <a:bodyPr wrap="square" lIns="0" tIns="0" rIns="0" bIns="0" rtlCol="0" anchor="t"/>
          <a:lstStyle/>
          <a:p>
            <a:pPr rtl="1" algn="r" indent="0" marL="0">
              <a:buNone/>
            </a:pPr>
            <a:r>
              <a:rPr lang="he-IL" altLang="en-US" sz="2000" dirty="0">
                <a:solidFill>
                  <a:srgbClr val="CAD3E5"/>
                </a:solidFill>
                <a:latin typeface="Arial" pitchFamily="34" charset="0"/>
                <a:ea typeface="Arial" pitchFamily="34" charset="-122"/>
                <a:cs typeface="Arial" pitchFamily="34" charset="-120"/>
              </a:rPr>
              <a:t>המסר שלנו לכיתה</a:t>
            </a:r>
            <a:endParaRPr lang="he-IL" sz="2000" dirty="0"/>
          </a:p>
        </p:txBody>
      </p:sp>
      <p:sp>
        <p:nvSpPr>
          <p:cNvPr id="4" name="Text 2"/>
          <p:cNvSpPr txBox="1"/>
          <p:nvPr/>
        </p:nvSpPr>
        <p:spPr>
          <a:xfrm>
            <a:off x="731520" y="1188720"/>
            <a:ext cx="10698480" cy="1737360"/>
          </a:xfrm>
          <a:prstGeom prst="rect">
            <a:avLst/>
          </a:prstGeom>
          <a:noFill/>
          <a:ln/>
        </p:spPr>
        <p:txBody>
          <a:bodyPr wrap="square" lIns="0" tIns="0" rIns="0" bIns="0" rtlCol="0" anchor="ctr"/>
          <a:lstStyle/>
          <a:p>
            <a:pPr rtl="1" algn="r" indent="0" marL="0">
              <a:buNone/>
            </a:pPr>
            <a:r>
              <a:rPr lang="he-IL" altLang="en-US" sz="3200" b="1" dirty="0">
                <a:solidFill>
                  <a:srgbClr val="FFFFFF"/>
                </a:solidFill>
                <a:latin typeface="Arial" pitchFamily="34" charset="0"/>
                <a:ea typeface="Arial" pitchFamily="34" charset="-122"/>
                <a:cs typeface="Arial" pitchFamily="34" charset="-120"/>
              </a:rPr>
              <a:t>את חוסר הוודאות לא תמיד אפשר למנוע.</a:t>
            </a:r>
            <a:endParaRPr lang="he-IL" sz="3200" dirty="0"/>
          </a:p>
          <a:p>
            <a:pPr rtl="1" algn="r" indent="0" marL="0">
              <a:buNone/>
            </a:pPr>
            <a:r>
              <a:rPr lang="he-IL" altLang="en-US" sz="3200" b="1" dirty="0">
                <a:solidFill>
                  <a:srgbClr val="FFFFFF"/>
                </a:solidFill>
                <a:latin typeface="Arial" pitchFamily="34" charset="0"/>
                <a:ea typeface="Arial" pitchFamily="34" charset="-122"/>
                <a:cs typeface="Arial" pitchFamily="34" charset="-120"/>
              </a:rPr>
              <a:t>את הבהירות, השליטה והמשמעות בתוך התפקיד אפשר לבנות.</a:t>
            </a:r>
            <a:endParaRPr lang="he-IL" sz="3200" dirty="0"/>
          </a:p>
        </p:txBody>
      </p:sp>
      <p:sp>
        <p:nvSpPr>
          <p:cNvPr id="5" name="Shape 3"/>
          <p:cNvSpPr/>
          <p:nvPr/>
        </p:nvSpPr>
        <p:spPr>
          <a:xfrm>
            <a:off x="8028432"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6" name="Shape 4"/>
          <p:cNvSpPr/>
          <p:nvPr/>
        </p:nvSpPr>
        <p:spPr>
          <a:xfrm>
            <a:off x="10680192" y="3520440"/>
            <a:ext cx="502920" cy="502920"/>
          </a:xfrm>
          <a:prstGeom prst="ellipse">
            <a:avLst/>
          </a:prstGeom>
          <a:solidFill>
            <a:srgbClr val="FCA311"/>
          </a:solidFill>
          <a:ln w="12700">
            <a:solidFill>
              <a:srgbClr val="FCA311"/>
            </a:solidFill>
            <a:prstDash val="solid"/>
          </a:ln>
        </p:spPr>
      </p:sp>
      <p:sp>
        <p:nvSpPr>
          <p:cNvPr id="7" name="Text 5"/>
          <p:cNvSpPr txBox="1"/>
          <p:nvPr/>
        </p:nvSpPr>
        <p:spPr>
          <a:xfrm>
            <a:off x="10680192"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8257032" y="3520440"/>
            <a:ext cx="2331720" cy="502920"/>
          </a:xfrm>
          <a:prstGeom prst="rect">
            <a:avLst/>
          </a:prstGeom>
          <a:noFill/>
          <a:ln/>
        </p:spPr>
        <p:txBody>
          <a:bodyPr wrap="square" lIns="0" tIns="0" rIns="0" bIns="0" rtlCol="0" anchor="ctr"/>
          <a:lstStyle/>
          <a:p>
            <a:pPr rtl="1" algn="r" indent="0" marL="0">
              <a:buNone/>
            </a:pPr>
            <a:r>
              <a:rPr lang="he-IL" altLang="en-US" sz="1600" b="1" dirty="0">
                <a:solidFill>
                  <a:srgbClr val="FCA311"/>
                </a:solidFill>
                <a:latin typeface="Arial" pitchFamily="34" charset="0"/>
                <a:ea typeface="Arial" pitchFamily="34" charset="-122"/>
                <a:cs typeface="Arial" pitchFamily="34" charset="-120"/>
              </a:rPr>
              <a:t>מה שעושים משנה</a:t>
            </a:r>
            <a:endParaRPr lang="he-IL" sz="1600" dirty="0"/>
          </a:p>
        </p:txBody>
      </p:sp>
      <p:sp>
        <p:nvSpPr>
          <p:cNvPr id="9" name="Text 7"/>
          <p:cNvSpPr txBox="1"/>
          <p:nvPr/>
        </p:nvSpPr>
        <p:spPr>
          <a:xfrm>
            <a:off x="8257032"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924 עובדים: עיצוב תפקיד לצרכי התקרבות ניבא עבודה מובנת, בשליטה ומשמעותית יותר חצי שנה אחר כך</a:t>
            </a:r>
            <a:endParaRPr lang="he-IL" sz="1300" dirty="0"/>
          </a:p>
        </p:txBody>
      </p:sp>
      <p:sp>
        <p:nvSpPr>
          <p:cNvPr id="10" name="Shape 8"/>
          <p:cNvSpPr/>
          <p:nvPr/>
        </p:nvSpPr>
        <p:spPr>
          <a:xfrm>
            <a:off x="4398264"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1" name="Shape 9"/>
          <p:cNvSpPr/>
          <p:nvPr/>
        </p:nvSpPr>
        <p:spPr>
          <a:xfrm>
            <a:off x="7050024" y="3520440"/>
            <a:ext cx="502920" cy="502920"/>
          </a:xfrm>
          <a:prstGeom prst="ellipse">
            <a:avLst/>
          </a:prstGeom>
          <a:solidFill>
            <a:srgbClr val="FCA311"/>
          </a:solidFill>
          <a:ln w="12700">
            <a:solidFill>
              <a:srgbClr val="FCA311"/>
            </a:solidFill>
            <a:prstDash val="solid"/>
          </a:ln>
        </p:spPr>
      </p:sp>
      <p:sp>
        <p:nvSpPr>
          <p:cNvPr id="12" name="Text 10"/>
          <p:cNvSpPr txBox="1"/>
          <p:nvPr/>
        </p:nvSpPr>
        <p:spPr>
          <a:xfrm>
            <a:off x="7050024"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2</a:t>
            </a:r>
            <a:endParaRPr lang="en-US" sz="1800" dirty="0"/>
          </a:p>
        </p:txBody>
      </p:sp>
      <p:sp>
        <p:nvSpPr>
          <p:cNvPr id="13" name="Text 11"/>
          <p:cNvSpPr txBox="1"/>
          <p:nvPr/>
        </p:nvSpPr>
        <p:spPr>
          <a:xfrm>
            <a:off x="4626864" y="3520440"/>
            <a:ext cx="2331720" cy="502920"/>
          </a:xfrm>
          <a:prstGeom prst="rect">
            <a:avLst/>
          </a:prstGeom>
          <a:noFill/>
          <a:ln/>
        </p:spPr>
        <p:txBody>
          <a:bodyPr wrap="square" lIns="0" tIns="0" rIns="0" bIns="0" rtlCol="0" anchor="ctr"/>
          <a:lstStyle/>
          <a:p>
            <a:pPr rtl="1" algn="r" indent="0" marL="0">
              <a:buNone/>
            </a:pPr>
            <a:r>
              <a:rPr lang="he-IL" altLang="en-US" sz="1600" b="1" dirty="0">
                <a:solidFill>
                  <a:srgbClr val="FCA311"/>
                </a:solidFill>
                <a:latin typeface="Arial" pitchFamily="34" charset="0"/>
                <a:ea typeface="Arial" pitchFamily="34" charset="-122"/>
                <a:cs typeface="Arial" pitchFamily="34" charset="-120"/>
              </a:rPr>
              <a:t>להתקרב, לא רק להימנע</a:t>
            </a:r>
            <a:endParaRPr lang="he-IL" sz="1600" dirty="0"/>
          </a:p>
        </p:txBody>
      </p:sp>
      <p:sp>
        <p:nvSpPr>
          <p:cNvPr id="14" name="Text 12"/>
          <p:cNvSpPr txBox="1"/>
          <p:nvPr/>
        </p:nvSpPr>
        <p:spPr>
          <a:xfrm>
            <a:off x="4626864"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לנוח ולהתנתק חשוב להתאוששות, אבל לא משנה איך העבודה נתפסת</a:t>
            </a:r>
            <a:endParaRPr lang="he-IL" sz="1300" dirty="0"/>
          </a:p>
        </p:txBody>
      </p:sp>
      <p:sp>
        <p:nvSpPr>
          <p:cNvPr id="15" name="Shape 13"/>
          <p:cNvSpPr/>
          <p:nvPr/>
        </p:nvSpPr>
        <p:spPr>
          <a:xfrm>
            <a:off x="768096" y="3246120"/>
            <a:ext cx="3429000" cy="2331720"/>
          </a:xfrm>
          <a:prstGeom prst="roundRect">
            <a:avLst>
              <a:gd name="adj" fmla="val 4706"/>
            </a:avLst>
          </a:prstGeom>
          <a:solidFill>
            <a:srgbClr val="1D2E52"/>
          </a:solidFill>
          <a:ln w="12700">
            <a:solidFill>
              <a:srgbClr val="1D2E52"/>
            </a:solidFill>
            <a:prstDash val="solid"/>
          </a:ln>
          <a:effectLst>
            <a:outerShdw sx="100000" sy="100000" kx="0" ky="0" algn="bl" rotWithShape="0" blurRad="50800" dist="25400" dir="5400000">
              <a:srgbClr val="000000">
                <a:alpha val="12000"/>
              </a:srgbClr>
            </a:outerShdw>
          </a:effectLst>
        </p:spPr>
      </p:sp>
      <p:sp>
        <p:nvSpPr>
          <p:cNvPr id="16" name="Shape 14"/>
          <p:cNvSpPr/>
          <p:nvPr/>
        </p:nvSpPr>
        <p:spPr>
          <a:xfrm>
            <a:off x="3419856" y="3520440"/>
            <a:ext cx="502920" cy="502920"/>
          </a:xfrm>
          <a:prstGeom prst="ellipse">
            <a:avLst/>
          </a:prstGeom>
          <a:solidFill>
            <a:srgbClr val="FCA311"/>
          </a:solidFill>
          <a:ln w="12700">
            <a:solidFill>
              <a:srgbClr val="FCA311"/>
            </a:solidFill>
            <a:prstDash val="solid"/>
          </a:ln>
        </p:spPr>
      </p:sp>
      <p:sp>
        <p:nvSpPr>
          <p:cNvPr id="17" name="Text 15"/>
          <p:cNvSpPr txBox="1"/>
          <p:nvPr/>
        </p:nvSpPr>
        <p:spPr>
          <a:xfrm>
            <a:off x="3419856" y="3520440"/>
            <a:ext cx="502920" cy="502920"/>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3</a:t>
            </a:r>
            <a:endParaRPr lang="en-US" sz="1800" dirty="0"/>
          </a:p>
        </p:txBody>
      </p:sp>
      <p:sp>
        <p:nvSpPr>
          <p:cNvPr id="18" name="Text 16"/>
          <p:cNvSpPr txBox="1"/>
          <p:nvPr/>
        </p:nvSpPr>
        <p:spPr>
          <a:xfrm>
            <a:off x="996696" y="3520440"/>
            <a:ext cx="2331720" cy="502920"/>
          </a:xfrm>
          <a:prstGeom prst="rect">
            <a:avLst/>
          </a:prstGeom>
          <a:noFill/>
          <a:ln/>
        </p:spPr>
        <p:txBody>
          <a:bodyPr wrap="square" lIns="0" tIns="0" rIns="0" bIns="0" rtlCol="0" anchor="ctr"/>
          <a:lstStyle/>
          <a:p>
            <a:pPr rtl="1" algn="r" indent="0" marL="0">
              <a:buNone/>
            </a:pPr>
            <a:r>
              <a:rPr lang="he-IL" altLang="en-US" sz="1600" b="1" dirty="0">
                <a:solidFill>
                  <a:srgbClr val="FCA311"/>
                </a:solidFill>
                <a:latin typeface="Arial" pitchFamily="34" charset="0"/>
                <a:ea typeface="Arial" pitchFamily="34" charset="-122"/>
                <a:cs typeface="Arial" pitchFamily="34" charset="-120"/>
              </a:rPr>
              <a:t>המשאבים קודמים ליוזמה</a:t>
            </a:r>
            <a:endParaRPr lang="he-IL" sz="1600" dirty="0"/>
          </a:p>
        </p:txBody>
      </p:sp>
      <p:sp>
        <p:nvSpPr>
          <p:cNvPr id="19" name="Text 17"/>
          <p:cNvSpPr txBox="1"/>
          <p:nvPr/>
        </p:nvSpPr>
        <p:spPr>
          <a:xfrm>
            <a:off x="996696" y="4160520"/>
            <a:ext cx="2971800" cy="1325880"/>
          </a:xfrm>
          <a:prstGeom prst="rect">
            <a:avLst/>
          </a:prstGeom>
          <a:noFill/>
          <a:ln/>
        </p:spPr>
        <p:txBody>
          <a:bodyPr wrap="square" lIns="0" tIns="0" rIns="0" bIns="0" rtlCol="0" anchor="t"/>
          <a:lstStyle/>
          <a:p>
            <a:pPr rtl="1" algn="r" indent="0" marL="0">
              <a:buNone/>
            </a:pPr>
            <a:r>
              <a:rPr lang="he-IL" altLang="en-US" sz="1300" dirty="0">
                <a:solidFill>
                  <a:srgbClr val="FFFFFF"/>
                </a:solidFill>
                <a:latin typeface="Arial" pitchFamily="34" charset="0"/>
                <a:ea typeface="Arial" pitchFamily="34" charset="-122"/>
                <a:cs typeface="Arial" pitchFamily="34" charset="-120"/>
              </a:rPr>
              <a:t>ניהוליות מנבאת עיצוב תפקיד. בונים אותה עכשיו, לפני שהאיום מדלדל אותה</a:t>
            </a:r>
            <a:endParaRPr lang="he-IL" sz="1300" dirty="0"/>
          </a:p>
        </p:txBody>
      </p:sp>
      <p:sp>
        <p:nvSpPr>
          <p:cNvPr id="20" name="Text 18"/>
          <p:cNvSpPr txBox="1"/>
          <p:nvPr/>
        </p:nvSpPr>
        <p:spPr>
          <a:xfrm>
            <a:off x="731520" y="5806440"/>
            <a:ext cx="10698480" cy="548640"/>
          </a:xfrm>
          <a:prstGeom prst="rect">
            <a:avLst/>
          </a:prstGeom>
          <a:noFill/>
          <a:ln/>
        </p:spPr>
        <p:txBody>
          <a:bodyPr wrap="square" lIns="0" tIns="0" rIns="0" bIns="0" rtlCol="0" anchor="t"/>
          <a:lstStyle/>
          <a:p>
            <a:pPr rtl="1" algn="r" indent="0" marL="0">
              <a:buNone/>
            </a:pPr>
            <a:r>
              <a:rPr lang="he-IL" altLang="en-US" sz="2200" b="1" dirty="0">
                <a:solidFill>
                  <a:srgbClr val="FFFFFF"/>
                </a:solidFill>
                <a:latin typeface="Arial" pitchFamily="34" charset="0"/>
                <a:ea typeface="Arial" pitchFamily="34" charset="-122"/>
                <a:cs typeface="Arial" pitchFamily="34" charset="-120"/>
              </a:rPr>
              <a:t>תודה! שאלות?</a:t>
            </a:r>
            <a:endParaRPr lang="he-IL" sz="2200" dirty="0"/>
          </a:p>
        </p:txBody>
      </p:sp>
      <p:sp>
        <p:nvSpPr>
          <p:cNvPr id="21" name="Text 19"/>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A9B4C8"/>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22" name="Text 20"/>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A9B4C8"/>
                </a:solidFill>
                <a:latin typeface="Arial" pitchFamily="34" charset="0"/>
                <a:ea typeface="Arial" pitchFamily="34" charset="-122"/>
                <a:cs typeface="Arial" pitchFamily="34" charset="-120"/>
              </a:rPr>
              <a:t>16</a:t>
            </a:r>
            <a:endParaRPr lang="he-IL"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822960"/>
          </a:xfrm>
          <a:prstGeom prst="rect">
            <a:avLst/>
          </a:prstGeom>
          <a:noFill/>
          <a:ln/>
        </p:spPr>
        <p:txBody>
          <a:bodyPr wrap="square" lIns="0" tIns="0" rIns="0" bIns="0" rtlCol="0" anchor="ctr"/>
          <a:lstStyle/>
          <a:p>
            <a:pPr rtl="1" algn="r" indent="0" marL="0">
              <a:buNone/>
            </a:pPr>
            <a:r>
              <a:rPr lang="he-IL" altLang="en-US" sz="3000" b="1" dirty="0">
                <a:solidFill>
                  <a:srgbClr val="14213D"/>
                </a:solidFill>
                <a:latin typeface="Arial" pitchFamily="34" charset="0"/>
                <a:ea typeface="Arial" pitchFamily="34" charset="-122"/>
                <a:cs typeface="Arial" pitchFamily="34" charset="-120"/>
              </a:rPr>
              <a:t>רשימת מקורות (APA)</a:t>
            </a:r>
            <a:endParaRPr lang="he-IL" sz="3000" dirty="0"/>
          </a:p>
        </p:txBody>
      </p:sp>
      <p:pic>
        <p:nvPicPr>
          <p:cNvPr id="3" name="Image 0" descr="/tmp/claude-0/-home-user-clickwriting-landing/d2627f80-c93a-5206-ba5d-647532b375c9/scratchpad/ono-logo.jpg">    </p:cNvPr>
          <p:cNvPicPr>
            <a:picLocks noChangeAspect="1"/>
          </p:cNvPicPr>
          <p:nvPr/>
        </p:nvPicPr>
        <p:blipFill>
          <a:blip r:embed="rId1"/>
          <a:stretch>
            <a:fillRect/>
          </a:stretch>
        </p:blipFill>
        <p:spPr>
          <a:xfrm>
            <a:off x="548640" y="5394960"/>
            <a:ext cx="914400" cy="914400"/>
          </a:xfrm>
          <a:prstGeom prst="rect">
            <a:avLst/>
          </a:prstGeom>
        </p:spPr>
      </p:pic>
      <p:sp>
        <p:nvSpPr>
          <p:cNvPr id="4" name="Text 1"/>
          <p:cNvSpPr txBox="1"/>
          <p:nvPr/>
        </p:nvSpPr>
        <p:spPr>
          <a:xfrm>
            <a:off x="548640" y="1188720"/>
            <a:ext cx="11091672" cy="2926080"/>
          </a:xfrm>
          <a:prstGeom prst="rect">
            <a:avLst/>
          </a:prstGeom>
          <a:noFill/>
          <a:ln/>
        </p:spPr>
        <p:txBody>
          <a:bodyPr wrap="square" lIns="0" tIns="0" rIns="0" bIns="0" rtlCol="0" anchor="t"/>
          <a:lstStyle/>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Hone, L. (2019). 3 secrets of resilient people [Video]. TED Conferences. https://www.ted.com/talks/lucy_hone_the_three_secrets_of_resilient_people</a:t>
            </a:r>
            <a:endParaRPr lang="en-US" sz="1100" dirty="0"/>
          </a:p>
          <a:p>
            <a:pPr algn="l" indent="0" marL="0">
              <a:spcAft>
                <a:spcPts val="600"/>
              </a:spcAft>
              <a:buNone/>
            </a:pPr>
            <a:r>
              <a:rPr lang="en-US" sz="1100" dirty="0">
                <a:solidFill>
                  <a:srgbClr val="1F2937"/>
                </a:solidFill>
                <a:latin typeface="Arial" pitchFamily="34" charset="0"/>
                <a:ea typeface="Arial" pitchFamily="34" charset="-122"/>
                <a:cs typeface="Arial" pitchFamily="34" charset="-120"/>
              </a:rPr>
              <a:t>Russo, M., Shteigman, A., &amp; Carmeli, A. (2016). Workplace and family support and work-life balance: Implications for individual psychological availability and energy at work. The Journal of Positive Psychology, 11(2), 173-188. https://doi.org/10.1080/17439760.2015.1025424</a:t>
            </a:r>
            <a:endParaRPr lang="en-US" sz="1100" dirty="0"/>
          </a:p>
        </p:txBody>
      </p:sp>
      <p:sp>
        <p:nvSpPr>
          <p:cNvPr id="5" name="Text 2"/>
          <p:cNvSpPr txBox="1"/>
          <p:nvPr/>
        </p:nvSpPr>
        <p:spPr>
          <a:xfrm>
            <a:off x="548640" y="4297680"/>
            <a:ext cx="11091672" cy="2011680"/>
          </a:xfrm>
          <a:prstGeom prst="rect">
            <a:avLst/>
          </a:prstGeom>
          <a:noFill/>
          <a:ln/>
        </p:spPr>
        <p:txBody>
          <a:bodyPr wrap="square" lIns="0" tIns="0" rIns="0" bIns="0" rtlCol="0" anchor="t"/>
          <a:lstStyle/>
          <a:p>
            <a:pPr algn="r" indent="0" marL="0">
              <a:spcAft>
                <a:spcPts val="500"/>
              </a:spcAft>
              <a:buNone/>
            </a:pPr>
            <a:r>
              <a:rPr lang="he-IL" altLang="en-US" sz="1100" dirty="0">
                <a:solidFill>
                  <a:srgbClr val="1F2937"/>
                </a:solidFill>
                <a:latin typeface="Arial" pitchFamily="34" charset="0"/>
                <a:ea typeface="Arial" pitchFamily="34" charset="-122"/>
                <a:cs typeface="Arial" pitchFamily="34" charset="-120"/>
              </a:rPr>
              <a:t>בנק ישראל. (2025, 11 במרץ). ההשפעה הצפויה של בינה מלאכותית יוצרת על העובדים: השלכות על המדיניות בשוק העבודה [תיבה מתוך דוח בנק ישראל לשנת 2024]. https://www.boi.org.il/publications/pressreleases/11-3-25/</a:t>
            </a:r>
            <a:endParaRPr lang="he-IL" sz="1100" dirty="0"/>
          </a:p>
          <a:p>
            <a:pPr algn="r" indent="0" marL="0">
              <a:buNone/>
            </a:pPr>
            <a:r>
              <a:rPr lang="he-IL" altLang="en-US" sz="1100" dirty="0">
                <a:solidFill>
                  <a:srgbClr val="1F2937"/>
                </a:solidFill>
                <a:latin typeface="Arial" pitchFamily="34" charset="0"/>
                <a:ea typeface="Arial" pitchFamily="34" charset="-122"/>
                <a:cs typeface="Arial" pitchFamily="34" charset="-120"/>
              </a:rPr>
              <a:t>הקשיים של מנהלי הייטק ב-2026: גיוס עובדים מתאימים והתייעלות AI. (2026, 21 ביוני). TheMarker.</a:t>
            </a:r>
            <a:endParaRPr lang="he-IL" sz="1100" dirty="0"/>
          </a:p>
        </p:txBody>
      </p:sp>
      <p:sp>
        <p:nvSpPr>
          <p:cNvPr id="6" name="Text 3"/>
          <p:cNvSpPr txBox="1"/>
          <p:nvPr/>
        </p:nvSpPr>
        <p:spPr>
          <a:xfrm>
            <a:off x="5943600" y="6446520"/>
            <a:ext cx="5696712" cy="274320"/>
          </a:xfrm>
          <a:prstGeom prst="rect">
            <a:avLst/>
          </a:prstGeom>
          <a:noFill/>
          <a:ln/>
        </p:spPr>
        <p:txBody>
          <a:bodyPr wrap="square" lIns="0" tIns="0" rIns="0" bIns="0" rtlCol="0" anchor="ctr"/>
          <a:lstStyle/>
          <a:p>
            <a:pPr rtl="1" algn="r" indent="0" marL="0">
              <a:buNone/>
            </a:pPr>
            <a:r>
              <a:rPr lang="he-IL" altLang="en-US" sz="1000" dirty="0">
                <a:solidFill>
                  <a:srgbClr val="6B7280"/>
                </a:solidFill>
                <a:latin typeface="Arial" pitchFamily="34" charset="0"/>
                <a:ea typeface="Arial" pitchFamily="34" charset="-122"/>
                <a:cs typeface="Arial" pitchFamily="34" charset="-120"/>
              </a:rPr>
              <a:t>ניהול קריירה בארגונים | הקריה האקדמית אונו</a:t>
            </a:r>
            <a:endParaRPr lang="he-IL" sz="1000" dirty="0"/>
          </a:p>
        </p:txBody>
      </p:sp>
      <p:sp>
        <p:nvSpPr>
          <p:cNvPr id="7" name="Text 4"/>
          <p:cNvSpPr txBox="1"/>
          <p:nvPr/>
        </p:nvSpPr>
        <p:spPr>
          <a:xfrm>
            <a:off x="548640" y="6446520"/>
            <a:ext cx="914400" cy="274320"/>
          </a:xfrm>
          <a:prstGeom prst="rect">
            <a:avLst/>
          </a:prstGeom>
          <a:noFill/>
          <a:ln/>
        </p:spPr>
        <p:txBody>
          <a:bodyPr wrap="square" lIns="0" tIns="0" rIns="0" bIns="0" rtlCol="0" anchor="ctr"/>
          <a:lstStyle/>
          <a:p>
            <a:pPr rtl="1" algn="l" indent="0" marL="0">
              <a:buNone/>
            </a:pPr>
            <a:r>
              <a:rPr lang="he-IL" altLang="en-US" sz="1000" dirty="0">
                <a:solidFill>
                  <a:srgbClr val="6B7280"/>
                </a:solidFill>
                <a:latin typeface="Arial" pitchFamily="34" charset="0"/>
                <a:ea typeface="Arial" pitchFamily="34" charset="-122"/>
                <a:cs typeface="Arial" pitchFamily="34" charset="-120"/>
              </a:rPr>
              <a:t>17</a:t>
            </a:r>
            <a:endParaRPr lang="he-IL"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התמודדות עם חוסר ודאות תעסוקתי</dc:title>
  <dc:subject>PptxGenJS Presentation</dc:subject>
  <dc:creator>PptxGenJS</dc:creator>
  <cp:lastModifiedBy>PptxGenJS</cp:lastModifiedBy>
  <cp:revision>1</cp:revision>
  <dcterms:created xsi:type="dcterms:W3CDTF">2026-09-17T20:31:42Z</dcterms:created>
  <dcterms:modified xsi:type="dcterms:W3CDTF">2026-09-17T20:31:42Z</dcterms:modified>
</cp:coreProperties>
</file>