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עיצוב לצרכי התקרבות</c:v>
                </c:pt>
              </c:strCache>
            </c:strRef>
          </c:tx>
          <c:spPr>
            <a:solidFill>
              <a:srgbClr val="9DC3E6"/>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F8CBAD"/>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כחולות (התקרבות) מול כתומות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שהערכתי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דוגמה אחת,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לי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שאני משאיר/ה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clickwriting-landing/d2627f80-c93a-5206-ba5d-647532b375c9/scratchpad/ono-logo.jpg">    </p:cNvPr>
          <p:cNvPicPr>
            <a:picLocks noChangeAspect="1"/>
          </p:cNvPicPr>
          <p:nvPr/>
        </p:nvPicPr>
        <p:blipFill>
          <a:blip r:embed="rId1"/>
          <a:stretch>
            <a:fillRect/>
          </a:stretch>
        </p:blipFill>
        <p:spPr>
          <a:xfrm>
            <a:off x="5413248" y="320040"/>
            <a:ext cx="1371600" cy="1371600"/>
          </a:xfrm>
          <a:prstGeom prst="rect">
            <a:avLst/>
          </a:prstGeom>
        </p:spPr>
      </p:pic>
      <p:sp>
        <p:nvSpPr>
          <p:cNvPr id="3" name="Text 0"/>
          <p:cNvSpPr txBox="1"/>
          <p:nvPr/>
        </p:nvSpPr>
        <p:spPr>
          <a:xfrm>
            <a:off x="640080" y="178308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הקריה האקדמית אונו, הפקולטה למנהל עסקים</a:t>
            </a:r>
            <a:endParaRPr lang="he-IL" sz="1800" dirty="0"/>
          </a:p>
        </p:txBody>
      </p:sp>
      <p:sp>
        <p:nvSpPr>
          <p:cNvPr id="4" name="Text 1"/>
          <p:cNvSpPr txBox="1"/>
          <p:nvPr/>
        </p:nvSpPr>
        <p:spPr>
          <a:xfrm>
            <a:off x="640080" y="219456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עבודה מסכמת בקורס ניהול קריירה בארגונים</a:t>
            </a:r>
            <a:endParaRPr lang="he-IL" sz="1800" dirty="0"/>
          </a:p>
        </p:txBody>
      </p:sp>
      <p:sp>
        <p:nvSpPr>
          <p:cNvPr id="5" name="Text 2"/>
          <p:cNvSpPr txBox="1"/>
          <p:nvPr/>
        </p:nvSpPr>
        <p:spPr>
          <a:xfrm>
            <a:off x="640080" y="2743200"/>
            <a:ext cx="10908792" cy="822960"/>
          </a:xfrm>
          <a:prstGeom prst="rect">
            <a:avLst/>
          </a:prstGeom>
          <a:noFill/>
          <a:ln/>
        </p:spPr>
        <p:txBody>
          <a:bodyPr wrap="square" lIns="0" tIns="0" rIns="0" bIns="0" rtlCol="0" anchor="ctr"/>
          <a:lstStyle/>
          <a:p>
            <a:pPr rtl="1" algn="ctr" indent="0" marL="0">
              <a:buNone/>
            </a:pPr>
            <a:r>
              <a:rPr lang="he-IL" altLang="en-US" sz="3600" b="1" dirty="0">
                <a:solidFill>
                  <a:srgbClr val="000000"/>
                </a:solidFill>
                <a:latin typeface="David" pitchFamily="34" charset="0"/>
                <a:ea typeface="David" pitchFamily="34" charset="-122"/>
                <a:cs typeface="David" pitchFamily="34" charset="-120"/>
              </a:rPr>
              <a:t>התמודדות עם חוסר ודאות תעסוקתי</a:t>
            </a:r>
            <a:endParaRPr lang="he-IL" sz="3600" dirty="0"/>
          </a:p>
        </p:txBody>
      </p:sp>
      <p:sp>
        <p:nvSpPr>
          <p:cNvPr id="6" name="Text 3"/>
          <p:cNvSpPr txBox="1"/>
          <p:nvPr/>
        </p:nvSpPr>
        <p:spPr>
          <a:xfrm>
            <a:off x="640080" y="3566160"/>
            <a:ext cx="10908792" cy="45720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7" name="Text 4"/>
          <p:cNvSpPr txBox="1"/>
          <p:nvPr/>
        </p:nvSpPr>
        <p:spPr>
          <a:xfrm>
            <a:off x="1097280" y="4114800"/>
            <a:ext cx="9994392" cy="640080"/>
          </a:xfrm>
          <a:prstGeom prst="rect">
            <a:avLst/>
          </a:prstGeom>
          <a:noFill/>
          <a:ln/>
        </p:spPr>
        <p:txBody>
          <a:bodyPr wrap="square" lIns="0" tIns="0" rIns="0" bIns="0" rtlCol="0" anchor="t"/>
          <a:lstStyle/>
          <a:p>
            <a:pPr algn="ctr" indent="0" marL="0">
              <a:buNone/>
            </a:pPr>
            <a:r>
              <a:rPr lang="en-US" sz="1200" i="1"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Text 5"/>
          <p:cNvSpPr txBox="1"/>
          <p:nvPr/>
        </p:nvSpPr>
        <p:spPr>
          <a:xfrm>
            <a:off x="640080" y="4937760"/>
            <a:ext cx="10908792" cy="411480"/>
          </a:xfrm>
          <a:prstGeom prst="rect">
            <a:avLst/>
          </a:prstGeom>
          <a:noFill/>
          <a:ln/>
        </p:spPr>
        <p:txBody>
          <a:bodyPr wrap="square" lIns="0" tIns="0" rIns="0" bIns="0" rtlCol="0" anchor="t"/>
          <a:lstStyle/>
          <a:p>
            <a:pPr rtl="1" algn="ctr" indent="0" marL="0">
              <a:buNone/>
            </a:pPr>
            <a:r>
              <a:rPr lang="he-IL" altLang="en-US" sz="1800" b="1" dirty="0">
                <a:solidFill>
                  <a:srgbClr val="000000"/>
                </a:solidFill>
                <a:latin typeface="David" pitchFamily="34" charset="0"/>
                <a:ea typeface="David" pitchFamily="34" charset="-122"/>
                <a:cs typeface="David" pitchFamily="34" charset="-120"/>
              </a:rPr>
              <a:t>מגיש/ה: דוחה עמאש, מספר תעודת זהות 208121137</a:t>
            </a:r>
            <a:endParaRPr lang="he-IL" sz="1800" dirty="0"/>
          </a:p>
        </p:txBody>
      </p:sp>
      <p:sp>
        <p:nvSpPr>
          <p:cNvPr id="9" name="Text 6"/>
          <p:cNvSpPr txBox="1"/>
          <p:nvPr/>
        </p:nvSpPr>
        <p:spPr>
          <a:xfrm>
            <a:off x="640080" y="5440680"/>
            <a:ext cx="10908792" cy="411480"/>
          </a:xfrm>
          <a:prstGeom prst="rect">
            <a:avLst/>
          </a:prstGeom>
          <a:noFill/>
          <a:ln/>
        </p:spPr>
        <p:txBody>
          <a:bodyPr wrap="square" lIns="0" tIns="0" rIns="0" bIns="0" rtlCol="0" anchor="t"/>
          <a:lstStyle/>
          <a:p>
            <a:pPr rtl="1" algn="ctr" indent="0" marL="0">
              <a:buNone/>
            </a:pPr>
            <a:r>
              <a:rPr lang="he-IL" altLang="en-US" sz="1500" dirty="0">
                <a:solidFill>
                  <a:srgbClr val="000000"/>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0" name="Text 7"/>
          <p:cNvSpPr txBox="1"/>
          <p:nvPr/>
        </p:nvSpPr>
        <p:spPr>
          <a:xfrm>
            <a:off x="640080" y="5852160"/>
            <a:ext cx="10908792" cy="411480"/>
          </a:xfrm>
          <a:prstGeom prst="rect">
            <a:avLst/>
          </a:prstGeom>
          <a:noFill/>
          <a:ln/>
        </p:spPr>
        <p:txBody>
          <a:bodyPr wrap="square" lIns="0" tIns="0" rIns="0" bIns="0" rtlCol="0" anchor="t"/>
          <a:lstStyle/>
          <a:p>
            <a:pPr rtl="1" algn="ctr" indent="0" marL="0">
              <a:buNone/>
            </a:pPr>
            <a:r>
              <a:rPr lang="he-IL" altLang="en-US" sz="1400" dirty="0">
                <a:solidFill>
                  <a:srgbClr val="595959"/>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מבוא: הצגת הנושא</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30175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5" name="Text 3"/>
          <p:cNvSpPr txBox="1"/>
          <p:nvPr/>
        </p:nvSpPr>
        <p:spPr>
          <a:xfrm>
            <a:off x="640080" y="443484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מבוא: הצגת המאמר</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280160"/>
            <a:ext cx="10908792" cy="685800"/>
          </a:xfrm>
          <a:prstGeom prst="rect">
            <a:avLst/>
          </a:prstGeom>
          <a:noFill/>
          <a:ln/>
        </p:spPr>
        <p:txBody>
          <a:bodyPr wrap="square" lIns="0" tIns="0" rIns="0" bIns="0" rtlCol="0" anchor="t"/>
          <a:lstStyle/>
          <a:p>
            <a:pPr algn="r" indent="0" marL="0">
              <a:buNone/>
            </a:pPr>
            <a:r>
              <a:rPr lang="en-US" sz="1300" i="1"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p:txBody>
      </p:sp>
      <p:sp>
        <p:nvSpPr>
          <p:cNvPr id="5" name="Text 3"/>
          <p:cNvSpPr txBox="1"/>
          <p:nvPr/>
        </p:nvSpPr>
        <p:spPr>
          <a:xfrm>
            <a:off x="640080" y="210312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בשנת 2026 בכתב העת השפיט Scandinavian Journal of Work and Organizational Psychology, היוצא לאור בהוצאת אוניברסיטת סטוקהולם, בגישה פתוחה מלאה. מחבריו הם קריסטינה צטקובסקה מאוניברסיטת קארל בפראג, וגאורג באואר ומרטין טושל מהמרכז לסלוטוגנזה באוניברסיטת ציריך, והמחקר מומן על ידי הקרן הלאומית השווייצרית למדע (Cetkovská et al., 2026).</a:t>
            </a:r>
            <a:endParaRPr lang="he-IL" sz="1600" dirty="0"/>
          </a:p>
        </p:txBody>
      </p:sp>
      <p:sp>
        <p:nvSpPr>
          <p:cNvPr id="6" name="Text 4"/>
          <p:cNvSpPr txBox="1"/>
          <p:nvPr/>
        </p:nvSpPr>
        <p:spPr>
          <a:xfrm>
            <a:off x="640080" y="393192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מדובר במחקר פאנל בשני גלי מדידה בהפרש של שישה חודשים, שבו השתתפו 924 עובדים מגרמניה ומשווייץ. המאמר נבחר משום שהוא שואל מה עוזר לעובדים ולא רק מה מזיק להם, משום שהוא מציע כלי שאינו תלוי בארגון, ומשום שהוא עומד בדרישות המטלה: מאמר שפיט מחמש השנים האחרונות, מקיף ומהימן, הזמין במלואו לכל קורא (Cetkovská et al., 2026).</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תמצית המאמר: הרקע התיאורטי</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240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sp>
        <p:nvSpPr>
          <p:cNvPr id="5" name="Shape 3"/>
          <p:cNvSpPr/>
          <p:nvPr/>
        </p:nvSpPr>
        <p:spPr>
          <a:xfrm>
            <a:off x="8074152" y="3703320"/>
            <a:ext cx="3474720" cy="1600200"/>
          </a:xfrm>
          <a:prstGeom prst="roundRect">
            <a:avLst>
              <a:gd name="adj" fmla="val 4571"/>
            </a:avLst>
          </a:prstGeom>
          <a:solidFill>
            <a:srgbClr val="F3F8FD"/>
          </a:solidFill>
          <a:ln w="12700">
            <a:solidFill>
              <a:srgbClr val="BDD7EE"/>
            </a:solidFill>
            <a:prstDash val="solid"/>
          </a:ln>
        </p:spPr>
      </p:sp>
      <p:sp>
        <p:nvSpPr>
          <p:cNvPr id="6" name="Text 4"/>
          <p:cNvSpPr txBox="1"/>
          <p:nvPr/>
        </p:nvSpPr>
        <p:spPr>
          <a:xfrm>
            <a:off x="8211312" y="3813048"/>
            <a:ext cx="3200400"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מובנות (רכיב קוגניטיבי)</a:t>
            </a:r>
            <a:endParaRPr lang="he-IL" sz="1600" dirty="0"/>
          </a:p>
        </p:txBody>
      </p:sp>
      <p:sp>
        <p:nvSpPr>
          <p:cNvPr id="7" name="Text 5"/>
          <p:cNvSpPr txBox="1"/>
          <p:nvPr/>
        </p:nvSpPr>
        <p:spPr>
          <a:xfrm>
            <a:off x="8211312" y="425196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כמובנה, עקבי וברור. חוסר ודאות פוגע ברכיב זה ראשון: העתיד אינו צפוי.</a:t>
            </a:r>
            <a:endParaRPr lang="he-IL" sz="1300" dirty="0"/>
          </a:p>
        </p:txBody>
      </p:sp>
      <p:sp>
        <p:nvSpPr>
          <p:cNvPr id="8" name="Shape 6"/>
          <p:cNvSpPr/>
          <p:nvPr/>
        </p:nvSpPr>
        <p:spPr>
          <a:xfrm>
            <a:off x="4357116" y="3703320"/>
            <a:ext cx="3474720" cy="1600200"/>
          </a:xfrm>
          <a:prstGeom prst="roundRect">
            <a:avLst>
              <a:gd name="adj" fmla="val 4571"/>
            </a:avLst>
          </a:prstGeom>
          <a:solidFill>
            <a:srgbClr val="F3F8FD"/>
          </a:solidFill>
          <a:ln w="12700">
            <a:solidFill>
              <a:srgbClr val="BDD7EE"/>
            </a:solidFill>
            <a:prstDash val="solid"/>
          </a:ln>
        </p:spPr>
      </p:sp>
      <p:sp>
        <p:nvSpPr>
          <p:cNvPr id="9" name="Text 7"/>
          <p:cNvSpPr txBox="1"/>
          <p:nvPr/>
        </p:nvSpPr>
        <p:spPr>
          <a:xfrm>
            <a:off x="4494276" y="3813048"/>
            <a:ext cx="3200400"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ניהוליות (רכיב התנהגותי)</a:t>
            </a:r>
            <a:endParaRPr lang="he-IL" sz="1600" dirty="0"/>
          </a:p>
        </p:txBody>
      </p:sp>
      <p:sp>
        <p:nvSpPr>
          <p:cNvPr id="10" name="Text 8"/>
          <p:cNvSpPr txBox="1"/>
          <p:nvPr/>
        </p:nvSpPr>
        <p:spPr>
          <a:xfrm>
            <a:off x="4494276" y="425196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לעובד יש משאבים מספיקים להתמודד עם הדרישות. בתקופת אי-ודאות המשאבים נראים בלתי מספיקים.</a:t>
            </a:r>
            <a:endParaRPr lang="he-IL" sz="1300" dirty="0"/>
          </a:p>
        </p:txBody>
      </p:sp>
      <p:sp>
        <p:nvSpPr>
          <p:cNvPr id="11" name="Shape 9"/>
          <p:cNvSpPr/>
          <p:nvPr/>
        </p:nvSpPr>
        <p:spPr>
          <a:xfrm>
            <a:off x="640080" y="3703320"/>
            <a:ext cx="3474720" cy="1600200"/>
          </a:xfrm>
          <a:prstGeom prst="roundRect">
            <a:avLst>
              <a:gd name="adj" fmla="val 4571"/>
            </a:avLst>
          </a:prstGeom>
          <a:solidFill>
            <a:srgbClr val="F3F8FD"/>
          </a:solidFill>
          <a:ln w="12700">
            <a:solidFill>
              <a:srgbClr val="BDD7EE"/>
            </a:solidFill>
            <a:prstDash val="solid"/>
          </a:ln>
        </p:spPr>
      </p:sp>
      <p:sp>
        <p:nvSpPr>
          <p:cNvPr id="12" name="Text 10"/>
          <p:cNvSpPr txBox="1"/>
          <p:nvPr/>
        </p:nvSpPr>
        <p:spPr>
          <a:xfrm>
            <a:off x="777240" y="3813048"/>
            <a:ext cx="3200400"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משמעותיות (רכיב מוטיבציוני)</a:t>
            </a:r>
            <a:endParaRPr lang="he-IL" sz="1600" dirty="0"/>
          </a:p>
        </p:txBody>
      </p:sp>
      <p:sp>
        <p:nvSpPr>
          <p:cNvPr id="13" name="Text 11"/>
          <p:cNvSpPr txBox="1"/>
          <p:nvPr/>
        </p:nvSpPr>
        <p:spPr>
          <a:xfrm>
            <a:off x="777240" y="425196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כראוי למחויבות ולמעורבות. קשה להתחייב למה שעלול להיעלם.</a:t>
            </a:r>
            <a:endParaRPr lang="he-IL" sz="1300" dirty="0"/>
          </a:p>
        </p:txBody>
      </p:sp>
      <p:sp>
        <p:nvSpPr>
          <p:cNvPr id="14" name="Text 12"/>
          <p:cNvSpPr txBox="1"/>
          <p:nvPr/>
        </p:nvSpPr>
        <p:spPr>
          <a:xfrm>
            <a:off x="640080" y="5440680"/>
            <a:ext cx="10908792" cy="320040"/>
          </a:xfrm>
          <a:prstGeom prst="rect">
            <a:avLst/>
          </a:prstGeom>
          <a:noFill/>
          <a:ln/>
        </p:spPr>
        <p:txBody>
          <a:bodyPr wrap="square" lIns="0" tIns="0" rIns="0" bIns="0" rtlCol="0" anchor="t"/>
          <a:lstStyle/>
          <a:p>
            <a:pPr rtl="1" algn="r" indent="0" marL="0">
              <a:buNone/>
            </a:pPr>
            <a:r>
              <a:rPr lang="he-IL" altLang="en-US" sz="1100" dirty="0">
                <a:solidFill>
                  <a:srgbClr val="595959"/>
                </a:solidFill>
                <a:latin typeface="David" pitchFamily="34" charset="0"/>
                <a:ea typeface="David" pitchFamily="34" charset="-122"/>
                <a:cs typeface="David" pitchFamily="34" charset="-120"/>
              </a:rPr>
              <a:t>איור 1: שלושת רכיבי תחושת הקוהרנטיות בעבודה ופגיעתו של חוסר הוודאות בכל אחד מהם (על פי Cetkovská et al., 2026)</a:t>
            </a:r>
            <a:endParaRPr lang="he-IL" sz="1100" dirty="0"/>
          </a:p>
        </p:txBody>
      </p:sp>
      <p:sp>
        <p:nvSpPr>
          <p:cNvPr id="15" name="Text 1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6" name="Text 1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תמצית המאמר: עיצוב תפקיד מבוסס צרכים והשערות המחקר</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5" name="Text 3"/>
          <p:cNvSpPr txBox="1"/>
          <p:nvPr/>
        </p:nvSpPr>
        <p:spPr>
          <a:xfrm>
            <a:off x="640080" y="379476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תמצית המאמר: שיטת המחקר</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בגל הראשון השתתפו 924 עובדים, לאחר סינון 53 משיבים רשלניים, ו-740 מהם השלימו את הגל השני, שיעור השתתפות של 80%. במדגם 56% גברים, הגיל הממוצע 48.9, ממוצע שעות העבודה השבועיות 38.1, ו-35% מהמשתתפים בעלי תואר אקדמי (Cetkovská et al., 2026).</a:t>
            </a:r>
            <a:endParaRPr lang="he-IL" sz="1600" dirty="0"/>
          </a:p>
        </p:txBody>
      </p:sp>
      <p:sp>
        <p:nvSpPr>
          <p:cNvPr id="5" name="Text 3"/>
          <p:cNvSpPr txBox="1"/>
          <p:nvPr/>
        </p:nvSpPr>
        <p:spPr>
          <a:xfrm>
            <a:off x="640080" y="370332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תחושת קוהרנטיות בעבודה נמדדה בסולם של תשעה פריטים, שלושה לכל רכיב, בדיפרנציאל סמנטי בן שבע דרגות, למשל צפוי לעומת בלתי צפוי. עיצוב תפקיד מבוסס צרכים נמדד בסולם של 18 פריטים, שלושה לכל אחד משישה הצרכים, בסולם של חמש דרגות ביחס לשבועיים האחרונים.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תמצית המאמר: הממצאים המרכזיים</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1488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מובנות (β = 0.142, p = .002), ניהוליות (β = 0.137, p = .003) ומשמעותיות (β = 0.166, p &lt; .001). עיצוב תפקיד לצרכי הימנעות לא ניבא אף אחד מהם (β בין 0.03 ל-0.09, לא מובהק). בכיוון ההפוך, ניהוליות (β = 0.431, p &lt; .001)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5" name="Chart 0" descr=""/>
          <p:cNvGraphicFramePr/>
          <p:nvPr/>
        </p:nvGraphicFramePr>
        <p:xfrm>
          <a:off x="2926080" y="3520440"/>
          <a:ext cx="6309360" cy="25146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6035040"/>
            <a:ext cx="10908792" cy="320040"/>
          </a:xfrm>
          <a:prstGeom prst="rect">
            <a:avLst/>
          </a:prstGeom>
          <a:noFill/>
          <a:ln/>
        </p:spPr>
        <p:txBody>
          <a:bodyPr wrap="square" lIns="0" tIns="0" rIns="0" bIns="0" rtlCol="0" anchor="t"/>
          <a:lstStyle/>
          <a:p>
            <a:pPr rtl="1" algn="ctr" indent="0" marL="0">
              <a:buNone/>
            </a:pPr>
            <a:r>
              <a:rPr lang="he-IL" altLang="en-US" sz="1100" dirty="0">
                <a:solidFill>
                  <a:srgbClr val="595959"/>
                </a:solidFill>
                <a:latin typeface="David" pitchFamily="34" charset="0"/>
                <a:ea typeface="David" pitchFamily="34" charset="-122"/>
                <a:cs typeface="David" pitchFamily="34" charset="-120"/>
              </a:rPr>
              <a:t>תרשים 1: מקדמי ניבוי מתוקננים (β) של שלושת רכיבי תחושת הקוהרנטיות בגל 2 לפי סוג עיצוב התפקיד בגל 1 (Cetkovská et al., 2026, טבלה 4)</a:t>
            </a:r>
            <a:endParaRPr lang="he-IL" sz="1100" dirty="0"/>
          </a:p>
        </p:txBody>
      </p:sp>
      <p:sp>
        <p:nvSpPr>
          <p:cNvPr id="7"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תמצית המאמר: מסקנות המחברים, חוזקות ומגבלות</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5" name="Text 3"/>
          <p:cNvSpPr txBox="1"/>
          <p:nvPr/>
        </p:nvSpPr>
        <p:spPr>
          <a:xfrm>
            <a:off x="640080" y="370332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280160"/>
            <a:ext cx="10908792" cy="640080"/>
          </a:xfrm>
          <a:prstGeom prst="rect">
            <a:avLst/>
          </a:prstGeom>
          <a:noFill/>
          <a:ln/>
        </p:spPr>
        <p:txBody>
          <a:bodyPr wrap="square" lIns="0" tIns="0" rIns="0" bIns="0" rtlCol="0" anchor="t"/>
          <a:lstStyle/>
          <a:p>
            <a:pPr algn="r" indent="0" marL="0">
              <a:buNone/>
            </a:pPr>
            <a:r>
              <a:rPr lang="en-US" sz="1200" i="1"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5" name="Text 3"/>
          <p:cNvSpPr txBox="1"/>
          <p:nvPr/>
        </p:nvSpPr>
        <p:spPr>
          <a:xfrm>
            <a:off x="640080" y="201168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לחיזוק הקשר בין המאמר המרכזי לבין נושא העבודה נבחר מחקר אורך נוסף,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6" name="Text 4"/>
          <p:cNvSpPr txBox="1"/>
          <p:nvPr/>
        </p:nvSpPr>
        <p:spPr>
          <a:xfrm>
            <a:off x="640080" y="3794760"/>
            <a:ext cx="10908792" cy="25146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חיבור לחומר הנלמד בקורס</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רשת האנשים היא צורך השייכות, חמש השאלות של הזהות המקצועית הן עיצוב תפקיד לצורך המשמעות, וההתפתחות היא צורך המיומנות. הרעיון של קריירה רבודה וקיר הטיפוס, שבהם כל שלב נבנה על קודמו, הוא בדיוק ספירלת הרווח שהמחקר מתעד, שבה כל צעד של עיצוב תפקיד מגדיל את המשאבים לצעד הבא (Cetkovská et al., 2026).</a:t>
            </a:r>
            <a:endParaRPr lang="he-IL" sz="1600" dirty="0"/>
          </a:p>
        </p:txBody>
      </p:sp>
      <p:sp>
        <p:nvSpPr>
          <p:cNvPr id="5" name="Text 3"/>
          <p:cNvSpPr txBox="1"/>
          <p:nvPr/>
        </p:nvSpPr>
        <p:spPr>
          <a:xfrm>
            <a:off x="640080" y="3794760"/>
            <a:ext cx="10908792" cy="25146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הגורמים המניעים של הרצברג, הישג, הכרה ומשמעות, מקבילים לצרכי ההתקרבות, ואילו הגורמים ההיגייניים מקבילים לצרכי ההימנעות, מה שמסביר מדוע רק הראשונים שינו את תפיסת העבודה. עוגני הקריירה של שיין מסבירים מדוע צרכים שונים חשובים לעובדים שונים: מי שעוגנו הוא אוטונומיה יעצב את תפקידו סביב חופש הפעולה, ומי שעוגנו הוא ביטחון ויציבות יחפש קודם כול מובנות. מאמר החובה בקורס מראה שתמיכה במקום העבודה ובמשפחה משפרת את הזמינות הפסיכולוגית של העובד (Russo et al., 2016), כלומר את תחושת הניהוליות שהמחקר מזהה כמנוע החזק ביותר ליוזמה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תובנות ומסקנות</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5" name="Text 3"/>
          <p:cNvSpPr txBox="1"/>
          <p:nvPr/>
        </p:nvSpPr>
        <p:spPr>
          <a:xfrm>
            <a:off x="640080" y="425196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דעה אישית על המאמר</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מה שאהבתי במאמר הוא נקודת המבט, ששואלת מה עוזר לעובדים ולא רק מה מזיק להם, והעובדה שהיא נשענת על רעיון של חוקר שפעל בישראל. אהבתי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בעיניי (Cetkovská et al., 2026).</a:t>
            </a:r>
            <a:endParaRPr lang="he-IL" sz="1600" dirty="0"/>
          </a:p>
        </p:txBody>
      </p:sp>
      <p:sp>
        <p:nvSpPr>
          <p:cNvPr id="5" name="Text 3"/>
          <p:cNvSpPr txBox="1"/>
          <p:nvPr/>
        </p:nvSpPr>
        <p:spPr>
          <a:xfrm>
            <a:off x="640080" y="3474720"/>
            <a:ext cx="10908792" cy="27432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לי שלושה דברים. המאמר אינו מודד חוסר ביטחון תעסוקתי במישרין, ואת החיבור לנושא בניתי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עמדתי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12344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sp>
        <p:nvSpPr>
          <p:cNvPr id="5" name="Shape 3"/>
          <p:cNvSpPr/>
          <p:nvPr/>
        </p:nvSpPr>
        <p:spPr>
          <a:xfrm>
            <a:off x="8951976" y="2697480"/>
            <a:ext cx="2587752" cy="3017520"/>
          </a:xfrm>
          <a:prstGeom prst="roundRect">
            <a:avLst>
              <a:gd name="adj" fmla="val 2827"/>
            </a:avLst>
          </a:prstGeom>
          <a:solidFill>
            <a:srgbClr val="F3F8FD"/>
          </a:solidFill>
          <a:ln w="12700">
            <a:solidFill>
              <a:srgbClr val="BDD7EE"/>
            </a:solidFill>
            <a:prstDash val="solid"/>
          </a:ln>
        </p:spPr>
      </p:sp>
      <p:sp>
        <p:nvSpPr>
          <p:cNvPr id="6" name="Text 4"/>
          <p:cNvSpPr txBox="1"/>
          <p:nvPr/>
        </p:nvSpPr>
        <p:spPr>
          <a:xfrm>
            <a:off x="9089136" y="2807208"/>
            <a:ext cx="2313432"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אוטונומיה</a:t>
            </a:r>
            <a:endParaRPr lang="he-IL" sz="1600" dirty="0"/>
          </a:p>
        </p:txBody>
      </p:sp>
      <p:sp>
        <p:nvSpPr>
          <p:cNvPr id="7" name="Text 5"/>
          <p:cNvSpPr txBox="1"/>
          <p:nvPr/>
        </p:nvSpPr>
        <p:spPr>
          <a:xfrm>
            <a:off x="9089136" y="3246120"/>
            <a:ext cx="2313432" cy="237744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באילו החלטות קטנות אני יכול/ה לבחור בעצמי?</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לקבוע את סדר המשימות של הבוקר; להציע דרך משלי למשימה חוזרת; שעה קבועה ללא הפרעות.</a:t>
            </a:r>
            <a:endParaRPr lang="he-IL" sz="1250" dirty="0"/>
          </a:p>
        </p:txBody>
      </p:sp>
      <p:sp>
        <p:nvSpPr>
          <p:cNvPr id="8" name="Shape 6"/>
          <p:cNvSpPr/>
          <p:nvPr/>
        </p:nvSpPr>
        <p:spPr>
          <a:xfrm>
            <a:off x="6181344" y="2697480"/>
            <a:ext cx="2587752" cy="3017520"/>
          </a:xfrm>
          <a:prstGeom prst="roundRect">
            <a:avLst>
              <a:gd name="adj" fmla="val 2827"/>
            </a:avLst>
          </a:prstGeom>
          <a:solidFill>
            <a:srgbClr val="F3F8FD"/>
          </a:solidFill>
          <a:ln w="12700">
            <a:solidFill>
              <a:srgbClr val="BDD7EE"/>
            </a:solidFill>
            <a:prstDash val="solid"/>
          </a:ln>
        </p:spPr>
      </p:sp>
      <p:sp>
        <p:nvSpPr>
          <p:cNvPr id="9" name="Text 7"/>
          <p:cNvSpPr txBox="1"/>
          <p:nvPr/>
        </p:nvSpPr>
        <p:spPr>
          <a:xfrm>
            <a:off x="6318504" y="2807208"/>
            <a:ext cx="2313432"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מיומנות</a:t>
            </a:r>
            <a:endParaRPr lang="he-IL" sz="1600" dirty="0"/>
          </a:p>
        </p:txBody>
      </p:sp>
      <p:sp>
        <p:nvSpPr>
          <p:cNvPr id="10" name="Text 8"/>
          <p:cNvSpPr txBox="1"/>
          <p:nvPr/>
        </p:nvSpPr>
        <p:spPr>
          <a:xfrm>
            <a:off x="6318504" y="3246120"/>
            <a:ext cx="2313432" cy="237744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אתגר בגובה הנכון יגרום לי להרגיש שאני מתקדם/ת?</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משימה אחת מעט מעבר ליכולת; כלי בינה מלאכותית אחד בתחום; לתעד בסוף השבוע דבר אחד שלמדתי.</a:t>
            </a:r>
            <a:endParaRPr lang="he-IL" sz="1250" dirty="0"/>
          </a:p>
        </p:txBody>
      </p:sp>
      <p:sp>
        <p:nvSpPr>
          <p:cNvPr id="11" name="Shape 9"/>
          <p:cNvSpPr/>
          <p:nvPr/>
        </p:nvSpPr>
        <p:spPr>
          <a:xfrm>
            <a:off x="3410712" y="2697480"/>
            <a:ext cx="2587752" cy="3017520"/>
          </a:xfrm>
          <a:prstGeom prst="roundRect">
            <a:avLst>
              <a:gd name="adj" fmla="val 2827"/>
            </a:avLst>
          </a:prstGeom>
          <a:solidFill>
            <a:srgbClr val="F3F8FD"/>
          </a:solidFill>
          <a:ln w="12700">
            <a:solidFill>
              <a:srgbClr val="BDD7EE"/>
            </a:solidFill>
            <a:prstDash val="solid"/>
          </a:ln>
        </p:spPr>
      </p:sp>
      <p:sp>
        <p:nvSpPr>
          <p:cNvPr id="12" name="Text 10"/>
          <p:cNvSpPr txBox="1"/>
          <p:nvPr/>
        </p:nvSpPr>
        <p:spPr>
          <a:xfrm>
            <a:off x="3547872" y="2807208"/>
            <a:ext cx="2313432"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משמעות</a:t>
            </a:r>
            <a:endParaRPr lang="he-IL" sz="1600" dirty="0"/>
          </a:p>
        </p:txBody>
      </p:sp>
      <p:sp>
        <p:nvSpPr>
          <p:cNvPr id="13" name="Text 11"/>
          <p:cNvSpPr txBox="1"/>
          <p:nvPr/>
        </p:nvSpPr>
        <p:spPr>
          <a:xfrm>
            <a:off x="3547872" y="3246120"/>
            <a:ext cx="2313432" cy="237744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חלק בעבודה מתחבר למה שחשוב לי, ואיך מגדילים אותו?</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לזהות למי העבודה שלי עוזרת ולדבר איתו; לנסח במשפט למה התפקיד חשוב; להתנדב למשימה שמתחברת לערכים.</a:t>
            </a:r>
            <a:endParaRPr lang="he-IL" sz="1250" dirty="0"/>
          </a:p>
        </p:txBody>
      </p:sp>
      <p:sp>
        <p:nvSpPr>
          <p:cNvPr id="14" name="Shape 12"/>
          <p:cNvSpPr/>
          <p:nvPr/>
        </p:nvSpPr>
        <p:spPr>
          <a:xfrm>
            <a:off x="640080" y="2697480"/>
            <a:ext cx="2587752" cy="3017520"/>
          </a:xfrm>
          <a:prstGeom prst="roundRect">
            <a:avLst>
              <a:gd name="adj" fmla="val 2827"/>
            </a:avLst>
          </a:prstGeom>
          <a:solidFill>
            <a:srgbClr val="F3F8FD"/>
          </a:solidFill>
          <a:ln w="12700">
            <a:solidFill>
              <a:srgbClr val="BDD7EE"/>
            </a:solidFill>
            <a:prstDash val="solid"/>
          </a:ln>
        </p:spPr>
      </p:sp>
      <p:sp>
        <p:nvSpPr>
          <p:cNvPr id="15" name="Text 13"/>
          <p:cNvSpPr txBox="1"/>
          <p:nvPr/>
        </p:nvSpPr>
        <p:spPr>
          <a:xfrm>
            <a:off x="777240" y="2807208"/>
            <a:ext cx="2313432" cy="411480"/>
          </a:xfrm>
          <a:prstGeom prst="rect">
            <a:avLst/>
          </a:prstGeom>
          <a:noFill/>
          <a:ln/>
        </p:spPr>
        <p:txBody>
          <a:bodyPr wrap="square" lIns="0" tIns="0" rIns="0" bIns="0" rtlCol="0" anchor="ctr"/>
          <a:lstStyle/>
          <a:p>
            <a:pPr rtl="1" algn="ctr" indent="0" marL="0">
              <a:buNone/>
            </a:pPr>
            <a:r>
              <a:rPr lang="he-IL" altLang="en-US" sz="1600" b="1" dirty="0">
                <a:solidFill>
                  <a:srgbClr val="000000"/>
                </a:solidFill>
                <a:latin typeface="David" pitchFamily="34" charset="0"/>
                <a:ea typeface="David" pitchFamily="34" charset="-122"/>
                <a:cs typeface="David" pitchFamily="34" charset="-120"/>
              </a:rPr>
              <a:t>שייכות</a:t>
            </a:r>
            <a:endParaRPr lang="he-IL" sz="1600" dirty="0"/>
          </a:p>
        </p:txBody>
      </p:sp>
      <p:sp>
        <p:nvSpPr>
          <p:cNvPr id="16" name="Text 14"/>
          <p:cNvSpPr txBox="1"/>
          <p:nvPr/>
        </p:nvSpPr>
        <p:spPr>
          <a:xfrm>
            <a:off x="777240" y="3246120"/>
            <a:ext cx="2313432" cy="237744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עם מי בעבודה אני רוצה קשר אמיתי יותר?</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הפסקת קפה קבועה עם עמית; להציע עזרה לפני שמבקשים; להצטרף לפרויקט חוצה מחלקות.</a:t>
            </a:r>
            <a:endParaRPr lang="he-IL" sz="1250" dirty="0"/>
          </a:p>
        </p:txBody>
      </p:sp>
      <p:sp>
        <p:nvSpPr>
          <p:cNvPr id="17" name="Text 15"/>
          <p:cNvSpPr txBox="1"/>
          <p:nvPr/>
        </p:nvSpPr>
        <p:spPr>
          <a:xfrm>
            <a:off x="640080" y="5852160"/>
            <a:ext cx="10908792" cy="320040"/>
          </a:xfrm>
          <a:prstGeom prst="rect">
            <a:avLst/>
          </a:prstGeom>
          <a:noFill/>
          <a:ln/>
        </p:spPr>
        <p:txBody>
          <a:bodyPr wrap="square" lIns="0" tIns="0" rIns="0" bIns="0" rtlCol="0" anchor="t"/>
          <a:lstStyle/>
          <a:p>
            <a:pPr rtl="1" algn="r" indent="0" marL="0">
              <a:buNone/>
            </a:pPr>
            <a:r>
              <a:rPr lang="he-IL" altLang="en-US" sz="1100" dirty="0">
                <a:solidFill>
                  <a:srgbClr val="595959"/>
                </a:solidFill>
                <a:latin typeface="David" pitchFamily="34" charset="0"/>
                <a:ea typeface="David" pitchFamily="34" charset="-122"/>
                <a:cs typeface="David" pitchFamily="34" charset="-120"/>
              </a:rPr>
              <a:t>איור 2: תוכנית עיצוב תפקיד אישית לפי ארבעת צרכי ההתקרבות. פיתוח על פי Cetkovská et al. (2026)</a:t>
            </a:r>
            <a:endParaRPr lang="he-IL" sz="1100" dirty="0"/>
          </a:p>
        </p:txBody>
      </p:sp>
      <p:sp>
        <p:nvSpPr>
          <p:cNvPr id="18" name="Text 1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9" name="Text 1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אמצעי עזר להמחשה ולהפעלה</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1417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כתבת עיתון וסקר פתיחה. ההצגה נפתחת בכותרת מהעיתונות הכלכלית על התייעלות באמצעות בינה מלאכותית בענף ההייטק ("הקשיים של מנהלי הייטק", 2026), ולאחריה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5" name="Text 3"/>
          <p:cNvSpPr txBox="1"/>
          <p:nvPr/>
        </p:nvSpPr>
        <p:spPr>
          <a:xfrm>
            <a:off x="640080" y="2788920"/>
            <a:ext cx="10908792" cy="14630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6" name="Text 4">
            <a:hlinkClick r:id="rId1" tooltip=""/>
          </p:cNvPr>
          <p:cNvSpPr txBox="1"/>
          <p:nvPr/>
        </p:nvSpPr>
        <p:spPr>
          <a:xfrm>
            <a:off x="640080" y="425196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7" name="Text 5"/>
          <p:cNvSpPr txBox="1"/>
          <p:nvPr/>
        </p:nvSpPr>
        <p:spPr>
          <a:xfrm>
            <a:off x="640080" y="4663440"/>
            <a:ext cx="10908792" cy="16002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שבאיור 2, כותב פעולה אחת קונקרטית ומועד לביצועה, ומשתף את השכן במשפט אחד. לאחר מכן נאספות שתיים או שלוש דוגמאות מהכיתה ומחוברות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סיכום</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5" name="Text 3"/>
          <p:cNvSpPr txBox="1"/>
          <p:nvPr/>
        </p:nvSpPr>
        <p:spPr>
          <a:xfrm>
            <a:off x="640080" y="3703320"/>
            <a:ext cx="10908792" cy="21945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6" name="Text 4"/>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000000"/>
                </a:solidFill>
                <a:latin typeface="David" pitchFamily="34" charset="0"/>
                <a:ea typeface="David" pitchFamily="34" charset="-122"/>
                <a:cs typeface="David" pitchFamily="34" charset="-120"/>
              </a:rPr>
              <a:t>תודה. אשמח לשאלות.</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000000"/>
                </a:solidFill>
                <a:latin typeface="David" pitchFamily="34" charset="0"/>
                <a:ea typeface="David" pitchFamily="34" charset="-122"/>
                <a:cs typeface="David" pitchFamily="34" charset="-120"/>
              </a:rPr>
              <a:t>רשימת מקורות</a:t>
            </a:r>
            <a:endParaRPr lang="he-IL" sz="2800" dirty="0"/>
          </a:p>
        </p:txBody>
      </p:sp>
      <p:sp>
        <p:nvSpPr>
          <p:cNvPr id="3" name="Shape 1"/>
          <p:cNvSpPr/>
          <p:nvPr/>
        </p:nvSpPr>
        <p:spPr>
          <a:xfrm>
            <a:off x="640080" y="1115568"/>
            <a:ext cx="10908792" cy="0"/>
          </a:xfrm>
          <a:prstGeom prst="line">
            <a:avLst/>
          </a:prstGeom>
          <a:noFill/>
          <a:ln w="19050">
            <a:solidFill>
              <a:srgbClr val="BDD7EE"/>
            </a:solidFill>
            <a:prstDash val="solid"/>
          </a:ln>
        </p:spPr>
      </p:sp>
      <p:sp>
        <p:nvSpPr>
          <p:cNvPr id="4" name="Text 2"/>
          <p:cNvSpPr txBox="1"/>
          <p:nvPr/>
        </p:nvSpPr>
        <p:spPr>
          <a:xfrm>
            <a:off x="640080" y="132588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5" name="Text 3"/>
          <p:cNvSpPr txBox="1"/>
          <p:nvPr/>
        </p:nvSpPr>
        <p:spPr>
          <a:xfrm>
            <a:off x="640080" y="283464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59595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2026-09-21T19:06:52Z</dcterms:created>
  <dcterms:modified xsi:type="dcterms:W3CDTF">2026-09-21T19:06:52Z</dcterms:modified>
</cp:coreProperties>
</file>