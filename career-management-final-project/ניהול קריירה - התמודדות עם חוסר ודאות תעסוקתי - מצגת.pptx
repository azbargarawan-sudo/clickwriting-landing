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מועסקים</c:v>
                </c:pt>
              </c:strCache>
            </c:strRef>
          </c:tx>
          <c:spPr>
            <a:solidFill>
              <a:schemeClr val="accent1"/>
            </a:solidFill>
            <a:ln w="9525" cap="flat">
              <a:solidFill>
                <a:srgbClr val="F9F9F9"/>
              </a:solidFill>
              <a:prstDash val="solid"/>
              <a:round/>
            </a:ln>
            <a:effectLst/>
          </c:spPr>
          <c:dPt>
            <c:idx val="0"/>
            <c:bubble3D val="0"/>
            <c:spPr>
              <a:solidFill>
                <a:srgbClr val="E76F51"/>
              </a:solidFill>
              <a:effectLst/>
            </c:spPr>
          </c:dPt>
          <c:dPt>
            <c:idx val="1"/>
            <c:bubble3D val="0"/>
            <c:spPr>
              <a:solidFill>
                <a:srgbClr val="CBD5E1"/>
              </a:solidFill>
              <a:effectLst/>
            </c:spPr>
          </c:dPt>
          <c:dLbls>
            <c:dLbl>
              <c:idx val="0"/>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מקצועות תחליפיים</c:v>
                </c:pt>
                <c:pt idx="1">
                  <c:v>שאר המקצועות</c:v>
                </c:pt>
              </c:strCache>
            </c:strRef>
          </c:cat>
          <c:val>
            <c:numRef>
              <c:f>Sheet1!$B$2:$B$3</c:f>
              <c:numCache>
                <c:ptCount val="2"/>
                <c:pt idx="0">
                  <c:v>20</c:v>
                </c:pt>
                <c:pt idx="1">
                  <c:v>80</c:v>
                </c:pt>
              </c:numCache>
            </c:numRef>
          </c:val>
        </c:ser>
        <c:firstSliceAng val="0"/>
        <c:holeSize val="55"/>
      </c:doughnutChart>
      <c:spPr>
        <a:noFill/>
        <a:ln>
          <a:noFill/>
        </a:ln>
        <a:effectLst/>
      </c:spPr>
    </c:plotArea>
    <c:legend>
      <c:legendPos val="b"/>
      <c:overlay val="0"/>
      <c:txPr>
        <a:bodyPr/>
        <a:lstStyle/>
        <a:p>
          <a:pPr>
            <a:defRPr sz="12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213D"/>
                </a:solidFill>
                <a:latin typeface="Arial"/>
              </a:defRPr>
            </a:pPr>
            <a:r>
              <a:rPr sz="1200" b="0" i="0" u="none" strike="noStrike">
                <a:solidFill>
                  <a:srgbClr val="14213D"/>
                </a:solidFill>
                <a:latin typeface="Arial"/>
              </a:rPr>
              <a:t>מקדם ניבוי מתוקנן (β) של רכיבי תחושת הקוהרנטיות בגל 2</a:t>
            </a:r>
          </a:p>
        </c:rich>
      </c:tx>
      <c:layout/>
      <c:overlay val="0"/>
    </c:title>
    <c:autoTitleDeleted val="0"/>
    <c:plotArea>
      <c:layout/>
      <c:barChart>
        <c:barDir val="col"/>
        <c:grouping val="clustered"/>
        <c:varyColors val="0"/>
        <c:ser>
          <c:idx val="0"/>
          <c:order val="0"/>
          <c:tx>
            <c:strRef>
              <c:f>Sheet1!$B$1</c:f>
              <c:strCache>
                <c:ptCount val="1"/>
                <c:pt idx="0">
                  <c:v>עיצוב לצרכי התקרבות</c:v>
                </c:pt>
              </c:strCache>
            </c:strRef>
          </c:tx>
          <c:spPr>
            <a:solidFill>
              <a:srgbClr val="2A9D8F"/>
            </a:solidFill>
            <a:effectLst/>
          </c:spPr>
          <c:invertIfNegative val="0"/>
          <c:dLbls>
            <c:numFmt formatCode="0.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מובנות</c:v>
                  </c:pt>
                  <c:pt idx="1">
                    <c:v>ניהוליות</c:v>
                  </c:pt>
                  <c:pt idx="2">
                    <c:v>משמעותיות</c:v>
                  </c:pt>
                </c:lvl>
              </c:multiLvlStrCache>
            </c:multiLvlStrRef>
          </c:cat>
          <c:val>
            <c:numRef>
              <c:f>Sheet1!$B$2:$B$4</c:f>
              <c:numCache>
                <c:formatCode>General</c:formatCode>
                <c:ptCount val="3"/>
                <c:pt idx="0">
                  <c:v>0.142</c:v>
                </c:pt>
                <c:pt idx="1">
                  <c:v>0.137</c:v>
                </c:pt>
                <c:pt idx="2">
                  <c:v>0.166</c:v>
                </c:pt>
              </c:numCache>
            </c:numRef>
          </c:val>
        </c:ser>
        <c:ser>
          <c:idx val="1"/>
          <c:order val="1"/>
          <c:tx>
            <c:strRef>
              <c:f>Sheet1!$C$1</c:f>
              <c:strCache>
                <c:ptCount val="1"/>
                <c:pt idx="0">
                  <c:v>עיצוב לצרכי הימנעות</c:v>
                </c:pt>
              </c:strCache>
            </c:strRef>
          </c:tx>
          <c:spPr>
            <a:solidFill>
              <a:srgbClr val="B0B7C3"/>
            </a:solidFill>
            <a:effectLst/>
          </c:spPr>
          <c:invertIfNegative val="0"/>
          <c:dLbls>
            <c:numFmt formatCode="0.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מובנות</c:v>
                  </c:pt>
                  <c:pt idx="1">
                    <c:v>ניהוליות</c:v>
                  </c:pt>
                  <c:pt idx="2">
                    <c:v>משמעותיות</c:v>
                  </c:pt>
                </c:lvl>
              </c:multiLvlStrCache>
            </c:multiLvlStrRef>
          </c:cat>
          <c:val>
            <c:numRef>
              <c:f>Sheet1!$C$2:$C$4</c:f>
              <c:numCache>
                <c:formatCode>General</c:formatCode>
                <c:ptCount val="3"/>
                <c:pt idx="0">
                  <c:v>0.077</c:v>
                </c:pt>
                <c:pt idx="1">
                  <c:v>0.09</c:v>
                </c:pt>
                <c:pt idx="2">
                  <c:v>0.027</c:v>
                </c:pt>
              </c:numCache>
            </c:numRef>
          </c:val>
        </c:ser>
        <c:dLbls>
          <c:numFmt formatCode="0.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max val="0.2"/>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פתיחה (30 שניות): שלום לכולם, אנחנו [שמות]. הנושא שלנו הוא התמודדות עם חוסר ודאות תעסוקתי. במקום לשאול מה אי-הוודאות עושה לנו, נשאל מה אנחנו יכולים לעשות לה: מחקר אורך מ-2026 על 924 עובדים נותן תשובה מפתיעה בפשטותה.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מעבר מהיר על המבנה. להדגיש שיש סרטון והפעלה.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להריץ סקר מנטימטר או הרמת ידיים לכל שאלה. לא להסביר עדיין את המושג, רק לומר שנחזור לזה. לצלם מסך של התוצאות.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כתבת עיתון: להציג את הכותרת של TheMarker (21.6.2026). נתון בנק ישראל: כחמישית מהמועסקים במקצועות תחליפיים. המסר: הארגון לא יכול להבטיח ודאות. השאלה היא מה נשאר בידיים שלנו.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המאמר במשפט: מחקר שעקב אחרי כמעט אלף עובדים במשך חצי שנה ובדק אם מה שהם עושים בתפקיד משנה את איך שהם תופסים אותו. בהגשה בשלשה: להרחיב על צ'ונג ואחרים בשקופית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שני מושגים, ואז השאלה: האם הימני (מה שהעובד עושה) משנה את השמאלי (איך העבודה נתפסת)? להזכיר שאנטונובסקי פעל באוניברסיטת בן-גוריון, ושחוסר ודאות הוא במונחים שלו פגיעה במובנות.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לקרוא מימין לשמאל: מי שעיצב את התפקיד סביב אוטונומיה, מיומנות, משמעות ושייכות, תפס את העבודה חצי שנה אחר כך כברורה יותר, בשליטה יותר ומשמעותית יותר, מעבר ליציבות של המדדים עצמם. מי שרק התנתק ונח: שום שינוי בתפיסה. והקו למטה: המשאבים מזינים את היוזמה.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הגרף: שלוש עמודות ירוקות (התקרבות) מול שלוש אפורות (הימנעות). מקדם 0.14 עד 0.17 נשמע קטן, אבל המדדים האלה יציבים מאוד, ולכן כל שינוי שנשאר אחרי חצי שנה משמעותי. להזכיר בכנות: מתאמים בזמן, לא סיבתיות.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המשלים = האבחנה: מאיפה מגיע חוסר הביטחון של 2026 ומה ממתן אותו. המרכזי = הטיפול: איך בונים את המשאב. בהגשה בזוג אפשר לקצר שקופית זו לחצי דקה.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הלב של המסר. הספירלה עובדת לשני הכיוונים: משאבים מולידים יוזמה שמולידה משאבים. אבל בלי משאבים, האיום משתק. לכן העצה "תעצבו את התפקיד" נכונה, אבל צריך לתת אותה לפני שהאיום מגיע.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להגיד את הביקורת בקול. ועדיין, זה המאמר שנתן לנו הכי הרבה מה לעשות מחר בבוקר.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להקרין כ-90 שניות (לבדוק את הטיים-קוד מראש). לחבר: "לבחור במה להתמקד" זה בדיוק לעצב את התפקיד סביב מה שבשליטתי.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הכלי שאנחנו משאירים לכיתה. ארבעה צרכים, שאלה אחת לכל צורך, ופעולות שאפשר לעשות גם במשרה סטודנטיאלית. ניתוק והרפיה חשובים להתאוששות, אבל לפי המאמר לא משנים את תפיסת העבודה.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לחלק כרטיסיות מודפסות או להשאיר את השקופית. אחרי השיתוף לחבר לממצא: "פעולות כאלה, לפי המאמר, מנבאות עלייה בבהירות, בשליטה ובמשמעות חצי שנה מאוחר יותר. ושימו לב: אף אחד לא בחר 'לנוח יותר'. זה נכון, וזה גם מה שהמאמר מצא".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לחזור לתוצאות הסקר מהפתיחה: "מי שסימן נמוך בשאלה 1 או 2: המאמר אומר שזה לא גזירת גורל, ושהפעולה שכתבתם עכשיו היא בדיוק הדרך לשנות את זה". לסיים במסר ולפתוח לשאלות.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www.ted.com/talks/lucy_hone_the_three_secrets_of_resilient_people"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1371600" y="4206240"/>
            <a:ext cx="5029200" cy="5029200"/>
          </a:xfrm>
          <a:prstGeom prst="ellipse">
            <a:avLst/>
          </a:prstGeom>
          <a:solidFill>
            <a:srgbClr val="1D2E52"/>
          </a:solidFill>
          <a:ln w="12700">
            <a:solidFill>
              <a:srgbClr val="1D2E52"/>
            </a:solidFill>
            <a:prstDash val="solid"/>
          </a:ln>
        </p:spPr>
      </p:sp>
      <p:sp>
        <p:nvSpPr>
          <p:cNvPr id="3" name="Shape 1"/>
          <p:cNvSpPr/>
          <p:nvPr/>
        </p:nvSpPr>
        <p:spPr>
          <a:xfrm>
            <a:off x="10424160" y="-1920240"/>
            <a:ext cx="3291840" cy="3291840"/>
          </a:xfrm>
          <a:prstGeom prst="ellipse">
            <a:avLst/>
          </a:prstGeom>
          <a:solidFill>
            <a:srgbClr val="FCA311"/>
          </a:solidFill>
          <a:ln w="12700">
            <a:solidFill>
              <a:srgbClr val="FCA311"/>
            </a:solidFill>
            <a:prstDash val="solid"/>
          </a:ln>
        </p:spPr>
      </p:sp>
      <p:sp>
        <p:nvSpPr>
          <p:cNvPr id="4" name="Text 2"/>
          <p:cNvSpPr txBox="1"/>
          <p:nvPr/>
        </p:nvSpPr>
        <p:spPr>
          <a:xfrm>
            <a:off x="731520" y="1097280"/>
            <a:ext cx="8961120" cy="457200"/>
          </a:xfrm>
          <a:prstGeom prst="rect">
            <a:avLst/>
          </a:prstGeom>
          <a:noFill/>
          <a:ln/>
        </p:spPr>
        <p:txBody>
          <a:bodyPr wrap="square" lIns="0" tIns="0" rIns="0" bIns="0" rtlCol="0" anchor="t"/>
          <a:lstStyle/>
          <a:p>
            <a:pPr rtl="1" algn="r" indent="0" marL="0">
              <a:buNone/>
            </a:pPr>
            <a:r>
              <a:rPr lang="he-IL" altLang="en-US" sz="1800" dirty="0">
                <a:solidFill>
                  <a:srgbClr val="CAD3E5"/>
                </a:solidFill>
                <a:latin typeface="Arial" pitchFamily="34" charset="0"/>
                <a:ea typeface="Arial" pitchFamily="34" charset="-122"/>
                <a:cs typeface="Arial" pitchFamily="34" charset="-120"/>
              </a:rPr>
              <a:t>עבודה מסכמת בקורס ניהול קריירה בארגונים</a:t>
            </a:r>
            <a:endParaRPr lang="he-IL" sz="1800" dirty="0"/>
          </a:p>
        </p:txBody>
      </p:sp>
      <p:sp>
        <p:nvSpPr>
          <p:cNvPr id="5" name="Text 3"/>
          <p:cNvSpPr txBox="1"/>
          <p:nvPr/>
        </p:nvSpPr>
        <p:spPr>
          <a:xfrm>
            <a:off x="731520" y="1645920"/>
            <a:ext cx="10698480" cy="1188720"/>
          </a:xfrm>
          <a:prstGeom prst="rect">
            <a:avLst/>
          </a:prstGeom>
          <a:noFill/>
          <a:ln/>
        </p:spPr>
        <p:txBody>
          <a:bodyPr wrap="square" lIns="0" tIns="0" rIns="0" bIns="0" rtlCol="0" anchor="ctr"/>
          <a:lstStyle/>
          <a:p>
            <a:pPr rtl="1" algn="r" indent="0" marL="0">
              <a:buNone/>
            </a:pPr>
            <a:r>
              <a:rPr lang="he-IL" altLang="en-US" sz="4800" b="1" dirty="0">
                <a:solidFill>
                  <a:srgbClr val="FFFFFF"/>
                </a:solidFill>
                <a:latin typeface="Arial" pitchFamily="34" charset="0"/>
                <a:ea typeface="Arial" pitchFamily="34" charset="-122"/>
                <a:cs typeface="Arial" pitchFamily="34" charset="-120"/>
              </a:rPr>
              <a:t>התמודדות עם חוסר ודאות תעסוקתי</a:t>
            </a:r>
            <a:endParaRPr lang="he-IL" sz="4800" dirty="0"/>
          </a:p>
        </p:txBody>
      </p:sp>
      <p:sp>
        <p:nvSpPr>
          <p:cNvPr id="6" name="Text 4"/>
          <p:cNvSpPr txBox="1"/>
          <p:nvPr/>
        </p:nvSpPr>
        <p:spPr>
          <a:xfrm>
            <a:off x="731520" y="2834640"/>
            <a:ext cx="10698480" cy="548640"/>
          </a:xfrm>
          <a:prstGeom prst="rect">
            <a:avLst/>
          </a:prstGeom>
          <a:noFill/>
          <a:ln/>
        </p:spPr>
        <p:txBody>
          <a:bodyPr wrap="square" lIns="0" tIns="0" rIns="0" bIns="0" rtlCol="0" anchor="t"/>
          <a:lstStyle/>
          <a:p>
            <a:pPr rtl="1" algn="r" indent="0" marL="0">
              <a:buNone/>
            </a:pPr>
            <a:r>
              <a:rPr lang="he-IL" altLang="en-US" sz="2200" i="1" dirty="0">
                <a:solidFill>
                  <a:srgbClr val="FCA311"/>
                </a:solidFill>
                <a:latin typeface="Arial" pitchFamily="34" charset="0"/>
                <a:ea typeface="Arial" pitchFamily="34" charset="-122"/>
                <a:cs typeface="Arial" pitchFamily="34" charset="-120"/>
              </a:rPr>
              <a:t>איך בונים בהירות, שליטה ומשמעות בעבודה כשהסביבה לא יציבה?</a:t>
            </a:r>
            <a:endParaRPr lang="he-IL" sz="2200" dirty="0"/>
          </a:p>
        </p:txBody>
      </p:sp>
      <p:sp>
        <p:nvSpPr>
          <p:cNvPr id="7" name="Text 5"/>
          <p:cNvSpPr txBox="1"/>
          <p:nvPr/>
        </p:nvSpPr>
        <p:spPr>
          <a:xfrm>
            <a:off x="731520" y="3474720"/>
            <a:ext cx="10698480" cy="731520"/>
          </a:xfrm>
          <a:prstGeom prst="rect">
            <a:avLst/>
          </a:prstGeom>
          <a:noFill/>
          <a:ln/>
        </p:spPr>
        <p:txBody>
          <a:bodyPr wrap="square" lIns="0" tIns="0" rIns="0" bIns="0" rtlCol="0" anchor="t"/>
          <a:lstStyle/>
          <a:p>
            <a:pPr algn="r" indent="0" marL="0">
              <a:buNone/>
            </a:pPr>
            <a:r>
              <a:rPr lang="en-US" sz="1200" dirty="0">
                <a:solidFill>
                  <a:srgbClr val="CAD3E5"/>
                </a:solidFill>
                <a:latin typeface="Arial" pitchFamily="34" charset="0"/>
                <a:ea typeface="Arial" pitchFamily="34" charset="-122"/>
                <a:cs typeface="Arial" pitchFamily="34" charset="-120"/>
              </a:rPr>
              <a:t>Cetkovská, K., Bauer, G. F., &amp; Tušl, M. (2026). The role of needs-based job crafting in strengthening work-related sense of coherence: A two-wave panel study. Scandinavian Journal of Work and Organizational Psychology, 11(1), Article 14.</a:t>
            </a:r>
            <a:endParaRPr lang="en-US" sz="1200" dirty="0"/>
          </a:p>
        </p:txBody>
      </p:sp>
      <p:sp>
        <p:nvSpPr>
          <p:cNvPr id="8" name="Shape 6"/>
          <p:cNvSpPr/>
          <p:nvPr/>
        </p:nvSpPr>
        <p:spPr>
          <a:xfrm>
            <a:off x="731520" y="4389120"/>
            <a:ext cx="5669280" cy="1600200"/>
          </a:xfrm>
          <a:prstGeom prst="roundRect">
            <a:avLst>
              <a:gd name="adj" fmla="val 6857"/>
            </a:avLst>
          </a:prstGeom>
          <a:solidFill>
            <a:srgbClr val="1D2E52"/>
          </a:solidFill>
          <a:ln w="12700">
            <a:solidFill>
              <a:srgbClr val="1D2E52"/>
            </a:solidFill>
            <a:prstDash val="solid"/>
          </a:ln>
          <a:effectLst>
            <a:outerShdw sx="100000" sy="100000" kx="0" ky="0" algn="bl" rotWithShape="0" blurRad="50800" dist="25400" dir="5400000">
              <a:srgbClr val="000000">
                <a:alpha val="12000"/>
              </a:srgbClr>
            </a:outerShdw>
          </a:effectLst>
        </p:spPr>
      </p:sp>
      <p:sp>
        <p:nvSpPr>
          <p:cNvPr id="9" name="Text 7"/>
          <p:cNvSpPr txBox="1"/>
          <p:nvPr/>
        </p:nvSpPr>
        <p:spPr>
          <a:xfrm>
            <a:off x="914400" y="4480560"/>
            <a:ext cx="5303520" cy="365760"/>
          </a:xfrm>
          <a:prstGeom prst="rect">
            <a:avLst/>
          </a:prstGeom>
          <a:noFill/>
          <a:ln/>
        </p:spPr>
        <p:txBody>
          <a:bodyPr wrap="square" lIns="0" tIns="0" rIns="0" bIns="0" rtlCol="0" anchor="t"/>
          <a:lstStyle/>
          <a:p>
            <a:pPr rtl="1" algn="r" indent="0" marL="0">
              <a:buNone/>
            </a:pPr>
            <a:r>
              <a:rPr lang="he-IL" altLang="en-US" sz="1400" b="1" dirty="0">
                <a:solidFill>
                  <a:srgbClr val="FCA311"/>
                </a:solidFill>
                <a:latin typeface="Arial" pitchFamily="34" charset="0"/>
                <a:ea typeface="Arial" pitchFamily="34" charset="-122"/>
                <a:cs typeface="Arial" pitchFamily="34" charset="-120"/>
              </a:rPr>
              <a:t>מגישים/ות</a:t>
            </a:r>
            <a:endParaRPr lang="he-IL" sz="1400" dirty="0"/>
          </a:p>
        </p:txBody>
      </p:sp>
      <p:sp>
        <p:nvSpPr>
          <p:cNvPr id="10" name="Text 8"/>
          <p:cNvSpPr txBox="1"/>
          <p:nvPr/>
        </p:nvSpPr>
        <p:spPr>
          <a:xfrm>
            <a:off x="914400" y="4846320"/>
            <a:ext cx="5303520" cy="1097280"/>
          </a:xfrm>
          <a:prstGeom prst="rect">
            <a:avLst/>
          </a:prstGeom>
          <a:noFill/>
          <a:ln/>
        </p:spPr>
        <p:txBody>
          <a:bodyPr wrap="square" lIns="0" tIns="0" rIns="0" bIns="0" rtlCol="0" anchor="t"/>
          <a:lstStyle/>
          <a:p>
            <a:pPr algn="r" indent="0" marL="0">
              <a:spcAft>
                <a:spcPts val="400"/>
              </a:spcAft>
              <a:buNone/>
            </a:pPr>
            <a:r>
              <a:rPr lang="he-IL" altLang="en-US" sz="1500" dirty="0">
                <a:solidFill>
                  <a:srgbClr val="FFFFFF"/>
                </a:solidFill>
                <a:latin typeface="Arial" pitchFamily="34" charset="0"/>
                <a:ea typeface="Arial" pitchFamily="34" charset="-122"/>
                <a:cs typeface="Arial" pitchFamily="34" charset="-120"/>
              </a:rPr>
              <a:t>[שם מלא]  |  ת.ז. [_________]</a:t>
            </a:r>
            <a:endParaRPr lang="he-IL" sz="1500" dirty="0"/>
          </a:p>
          <a:p>
            <a:pPr algn="r" indent="0" marL="0">
              <a:spcAft>
                <a:spcPts val="400"/>
              </a:spcAft>
              <a:buNone/>
            </a:pPr>
            <a:r>
              <a:rPr lang="he-IL" altLang="en-US" sz="1500" dirty="0">
                <a:solidFill>
                  <a:srgbClr val="FFFFFF"/>
                </a:solidFill>
                <a:latin typeface="Arial" pitchFamily="34" charset="0"/>
                <a:ea typeface="Arial" pitchFamily="34" charset="-122"/>
                <a:cs typeface="Arial" pitchFamily="34" charset="-120"/>
              </a:rPr>
              <a:t>[שם מלא]  |  ת.ז. [_________]</a:t>
            </a:r>
            <a:endParaRPr lang="he-IL" sz="1500" dirty="0"/>
          </a:p>
          <a:p>
            <a:pPr algn="r" indent="0" marL="0">
              <a:spcAft>
                <a:spcPts val="400"/>
              </a:spcAft>
              <a:buNone/>
            </a:pPr>
            <a:r>
              <a:rPr lang="he-IL" altLang="en-US" sz="1500" dirty="0">
                <a:solidFill>
                  <a:srgbClr val="FFFFFF"/>
                </a:solidFill>
                <a:latin typeface="Arial" pitchFamily="34" charset="0"/>
                <a:ea typeface="Arial" pitchFamily="34" charset="-122"/>
                <a:cs typeface="Arial" pitchFamily="34" charset="-120"/>
              </a:rPr>
              <a:t>[שם מלא]  |  ת.ז. [_________]  (אם בשלשה)</a:t>
            </a:r>
            <a:endParaRPr lang="he-IL" sz="1500" dirty="0"/>
          </a:p>
        </p:txBody>
      </p:sp>
      <p:sp>
        <p:nvSpPr>
          <p:cNvPr id="11" name="Text 9"/>
          <p:cNvSpPr txBox="1"/>
          <p:nvPr/>
        </p:nvSpPr>
        <p:spPr>
          <a:xfrm>
            <a:off x="6675120" y="4480560"/>
            <a:ext cx="4754880" cy="1463040"/>
          </a:xfrm>
          <a:prstGeom prst="rect">
            <a:avLst/>
          </a:prstGeom>
          <a:noFill/>
          <a:ln/>
        </p:spPr>
        <p:txBody>
          <a:bodyPr wrap="square" lIns="0" tIns="0" rIns="0" bIns="0" rtlCol="0" anchor="t"/>
          <a:lstStyle/>
          <a:p>
            <a:pPr algn="r" indent="0" marL="0">
              <a:spcAft>
                <a:spcPts val="400"/>
              </a:spcAft>
              <a:buNone/>
            </a:pPr>
            <a:r>
              <a:rPr lang="he-IL" altLang="en-US" sz="1500" dirty="0">
                <a:solidFill>
                  <a:srgbClr val="CAD3E5"/>
                </a:solidFill>
                <a:latin typeface="Arial" pitchFamily="34" charset="0"/>
                <a:ea typeface="Arial" pitchFamily="34" charset="-122"/>
                <a:cs typeface="Arial" pitchFamily="34" charset="-120"/>
              </a:rPr>
              <a:t>מרצה: גב' מורן דבדבני דקל</a:t>
            </a:r>
            <a:endParaRPr lang="he-IL" sz="1500" dirty="0"/>
          </a:p>
          <a:p>
            <a:pPr algn="r" indent="0" marL="0">
              <a:spcAft>
                <a:spcPts val="400"/>
              </a:spcAft>
              <a:buNone/>
            </a:pPr>
            <a:r>
              <a:rPr lang="he-IL" altLang="en-US" sz="1500" dirty="0">
                <a:solidFill>
                  <a:srgbClr val="CAD3E5"/>
                </a:solidFill>
                <a:latin typeface="Arial" pitchFamily="34" charset="0"/>
                <a:ea typeface="Arial" pitchFamily="34" charset="-122"/>
                <a:cs typeface="Arial" pitchFamily="34" charset="-120"/>
              </a:rPr>
              <a:t>עוזר הוראה: מר פאר רועי</a:t>
            </a:r>
            <a:endParaRPr lang="he-IL" sz="1500" dirty="0"/>
          </a:p>
          <a:p>
            <a:pPr algn="r" indent="0" marL="0">
              <a:spcAft>
                <a:spcPts val="400"/>
              </a:spcAft>
              <a:buNone/>
            </a:pPr>
            <a:r>
              <a:rPr lang="he-IL" altLang="en-US" sz="1500" dirty="0">
                <a:solidFill>
                  <a:srgbClr val="CAD3E5"/>
                </a:solidFill>
                <a:latin typeface="Arial" pitchFamily="34" charset="0"/>
                <a:ea typeface="Arial" pitchFamily="34" charset="-122"/>
                <a:cs typeface="Arial" pitchFamily="34" charset="-120"/>
              </a:rPr>
              <a:t>הפקולטה למנהל עסקים | תשפ"ו, סמסטר 3</a:t>
            </a:r>
            <a:endParaRPr lang="he-IL"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מה נעשה ב-10 הדקות הקרובות?</a:t>
            </a:r>
            <a:endParaRPr lang="he-IL" sz="3000" dirty="0"/>
          </a:p>
        </p:txBody>
      </p:sp>
      <p:sp>
        <p:nvSpPr>
          <p:cNvPr id="3" name="Shape 1"/>
          <p:cNvSpPr/>
          <p:nvPr/>
        </p:nvSpPr>
        <p:spPr>
          <a:xfrm>
            <a:off x="8119872" y="141732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4" name="Shape 2"/>
          <p:cNvSpPr/>
          <p:nvPr/>
        </p:nvSpPr>
        <p:spPr>
          <a:xfrm>
            <a:off x="10863072" y="1691640"/>
            <a:ext cx="502920" cy="502920"/>
          </a:xfrm>
          <a:prstGeom prst="ellipse">
            <a:avLst/>
          </a:prstGeom>
          <a:solidFill>
            <a:srgbClr val="FCA311"/>
          </a:solidFill>
          <a:ln w="12700">
            <a:solidFill>
              <a:srgbClr val="FCA311"/>
            </a:solidFill>
            <a:prstDash val="solid"/>
          </a:ln>
        </p:spPr>
      </p:sp>
      <p:sp>
        <p:nvSpPr>
          <p:cNvPr id="5" name="Text 3"/>
          <p:cNvSpPr txBox="1"/>
          <p:nvPr/>
        </p:nvSpPr>
        <p:spPr>
          <a:xfrm>
            <a:off x="10863072" y="16916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8394192" y="169164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סקר פתיחה</a:t>
            </a:r>
            <a:endParaRPr lang="he-IL" sz="1800" dirty="0"/>
          </a:p>
        </p:txBody>
      </p:sp>
      <p:sp>
        <p:nvSpPr>
          <p:cNvPr id="7" name="Text 5"/>
          <p:cNvSpPr txBox="1"/>
          <p:nvPr/>
        </p:nvSpPr>
        <p:spPr>
          <a:xfrm>
            <a:off x="8394192" y="233172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ברור? בשליטה? משמעותי?</a:t>
            </a:r>
            <a:endParaRPr lang="he-IL" sz="1500" dirty="0"/>
          </a:p>
        </p:txBody>
      </p:sp>
      <p:sp>
        <p:nvSpPr>
          <p:cNvPr id="8" name="Text 6"/>
          <p:cNvSpPr txBox="1"/>
          <p:nvPr/>
        </p:nvSpPr>
        <p:spPr>
          <a:xfrm>
            <a:off x="8394192" y="301752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1 דק'</a:t>
            </a:r>
            <a:endParaRPr lang="he-IL" sz="1300" dirty="0"/>
          </a:p>
        </p:txBody>
      </p:sp>
      <p:sp>
        <p:nvSpPr>
          <p:cNvPr id="9" name="Shape 7"/>
          <p:cNvSpPr/>
          <p:nvPr/>
        </p:nvSpPr>
        <p:spPr>
          <a:xfrm>
            <a:off x="4334256" y="141732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10" name="Shape 8"/>
          <p:cNvSpPr/>
          <p:nvPr/>
        </p:nvSpPr>
        <p:spPr>
          <a:xfrm>
            <a:off x="7077456" y="1691640"/>
            <a:ext cx="502920" cy="502920"/>
          </a:xfrm>
          <a:prstGeom prst="ellipse">
            <a:avLst/>
          </a:prstGeom>
          <a:solidFill>
            <a:srgbClr val="FCA311"/>
          </a:solidFill>
          <a:ln w="12700">
            <a:solidFill>
              <a:srgbClr val="FCA311"/>
            </a:solidFill>
            <a:prstDash val="solid"/>
          </a:ln>
        </p:spPr>
      </p:sp>
      <p:sp>
        <p:nvSpPr>
          <p:cNvPr id="11" name="Text 9"/>
          <p:cNvSpPr txBox="1"/>
          <p:nvPr/>
        </p:nvSpPr>
        <p:spPr>
          <a:xfrm>
            <a:off x="7077456" y="16916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2</a:t>
            </a:r>
            <a:endParaRPr lang="en-US" sz="1800" dirty="0"/>
          </a:p>
        </p:txBody>
      </p:sp>
      <p:sp>
        <p:nvSpPr>
          <p:cNvPr id="12" name="Text 10"/>
          <p:cNvSpPr txBox="1"/>
          <p:nvPr/>
        </p:nvSpPr>
        <p:spPr>
          <a:xfrm>
            <a:off x="4608576" y="169164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למה עכשיו</a:t>
            </a:r>
            <a:endParaRPr lang="he-IL" sz="1800" dirty="0"/>
          </a:p>
        </p:txBody>
      </p:sp>
      <p:sp>
        <p:nvSpPr>
          <p:cNvPr id="13" name="Text 11"/>
          <p:cNvSpPr txBox="1"/>
          <p:nvPr/>
        </p:nvSpPr>
        <p:spPr>
          <a:xfrm>
            <a:off x="4608576" y="233172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בינה מלאכותית, הייטק, מילואים</a:t>
            </a:r>
            <a:endParaRPr lang="he-IL" sz="1500" dirty="0"/>
          </a:p>
        </p:txBody>
      </p:sp>
      <p:sp>
        <p:nvSpPr>
          <p:cNvPr id="14" name="Text 12"/>
          <p:cNvSpPr txBox="1"/>
          <p:nvPr/>
        </p:nvSpPr>
        <p:spPr>
          <a:xfrm>
            <a:off x="4608576" y="301752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1.5 דק'</a:t>
            </a:r>
            <a:endParaRPr lang="he-IL" sz="1300" dirty="0"/>
          </a:p>
        </p:txBody>
      </p:sp>
      <p:sp>
        <p:nvSpPr>
          <p:cNvPr id="15" name="Shape 13"/>
          <p:cNvSpPr/>
          <p:nvPr/>
        </p:nvSpPr>
        <p:spPr>
          <a:xfrm>
            <a:off x="548640" y="141732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16" name="Shape 14"/>
          <p:cNvSpPr/>
          <p:nvPr/>
        </p:nvSpPr>
        <p:spPr>
          <a:xfrm>
            <a:off x="3291840" y="1691640"/>
            <a:ext cx="502920" cy="502920"/>
          </a:xfrm>
          <a:prstGeom prst="ellipse">
            <a:avLst/>
          </a:prstGeom>
          <a:solidFill>
            <a:srgbClr val="FCA311"/>
          </a:solidFill>
          <a:ln w="12700">
            <a:solidFill>
              <a:srgbClr val="FCA311"/>
            </a:solidFill>
            <a:prstDash val="solid"/>
          </a:ln>
        </p:spPr>
      </p:sp>
      <p:sp>
        <p:nvSpPr>
          <p:cNvPr id="17" name="Text 15"/>
          <p:cNvSpPr txBox="1"/>
          <p:nvPr/>
        </p:nvSpPr>
        <p:spPr>
          <a:xfrm>
            <a:off x="3291840" y="16916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3</a:t>
            </a:r>
            <a:endParaRPr lang="en-US" sz="1800" dirty="0"/>
          </a:p>
        </p:txBody>
      </p:sp>
      <p:sp>
        <p:nvSpPr>
          <p:cNvPr id="18" name="Text 16"/>
          <p:cNvSpPr txBox="1"/>
          <p:nvPr/>
        </p:nvSpPr>
        <p:spPr>
          <a:xfrm>
            <a:off x="822960" y="169164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המאמר</a:t>
            </a:r>
            <a:endParaRPr lang="he-IL" sz="1800" dirty="0"/>
          </a:p>
        </p:txBody>
      </p:sp>
      <p:sp>
        <p:nvSpPr>
          <p:cNvPr id="19" name="Text 17"/>
          <p:cNvSpPr txBox="1"/>
          <p:nvPr/>
        </p:nvSpPr>
        <p:spPr>
          <a:xfrm>
            <a:off x="822960" y="233172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סלוטוגנזה, 6 צרכים, 924 עובדים</a:t>
            </a:r>
            <a:endParaRPr lang="he-IL" sz="1500" dirty="0"/>
          </a:p>
        </p:txBody>
      </p:sp>
      <p:sp>
        <p:nvSpPr>
          <p:cNvPr id="20" name="Text 18"/>
          <p:cNvSpPr txBox="1"/>
          <p:nvPr/>
        </p:nvSpPr>
        <p:spPr>
          <a:xfrm>
            <a:off x="822960" y="301752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2.5 דק'</a:t>
            </a:r>
            <a:endParaRPr lang="he-IL" sz="1300" dirty="0"/>
          </a:p>
        </p:txBody>
      </p:sp>
      <p:sp>
        <p:nvSpPr>
          <p:cNvPr id="21" name="Shape 19"/>
          <p:cNvSpPr/>
          <p:nvPr/>
        </p:nvSpPr>
        <p:spPr>
          <a:xfrm>
            <a:off x="8119872" y="379476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22" name="Shape 20"/>
          <p:cNvSpPr/>
          <p:nvPr/>
        </p:nvSpPr>
        <p:spPr>
          <a:xfrm>
            <a:off x="10863072" y="4069080"/>
            <a:ext cx="502920" cy="502920"/>
          </a:xfrm>
          <a:prstGeom prst="ellipse">
            <a:avLst/>
          </a:prstGeom>
          <a:solidFill>
            <a:srgbClr val="FCA311"/>
          </a:solidFill>
          <a:ln w="12700">
            <a:solidFill>
              <a:srgbClr val="FCA311"/>
            </a:solidFill>
            <a:prstDash val="solid"/>
          </a:ln>
        </p:spPr>
      </p:sp>
      <p:sp>
        <p:nvSpPr>
          <p:cNvPr id="23" name="Text 21"/>
          <p:cNvSpPr txBox="1"/>
          <p:nvPr/>
        </p:nvSpPr>
        <p:spPr>
          <a:xfrm>
            <a:off x="10863072" y="406908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4</a:t>
            </a:r>
            <a:endParaRPr lang="en-US" sz="1800" dirty="0"/>
          </a:p>
        </p:txBody>
      </p:sp>
      <p:sp>
        <p:nvSpPr>
          <p:cNvPr id="24" name="Text 22"/>
          <p:cNvSpPr txBox="1"/>
          <p:nvPr/>
        </p:nvSpPr>
        <p:spPr>
          <a:xfrm>
            <a:off x="8394192" y="406908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מאמר משלים ותובנות</a:t>
            </a:r>
            <a:endParaRPr lang="he-IL" sz="1800" dirty="0"/>
          </a:p>
        </p:txBody>
      </p:sp>
      <p:sp>
        <p:nvSpPr>
          <p:cNvPr id="25" name="Text 23"/>
          <p:cNvSpPr txBox="1"/>
          <p:nvPr/>
        </p:nvSpPr>
        <p:spPr>
          <a:xfrm>
            <a:off x="8394192" y="470916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בינה מלאכותית וחוסן קריירה</a:t>
            </a:r>
            <a:endParaRPr lang="he-IL" sz="1500" dirty="0"/>
          </a:p>
        </p:txBody>
      </p:sp>
      <p:sp>
        <p:nvSpPr>
          <p:cNvPr id="26" name="Text 24"/>
          <p:cNvSpPr txBox="1"/>
          <p:nvPr/>
        </p:nvSpPr>
        <p:spPr>
          <a:xfrm>
            <a:off x="8394192" y="539496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1 דק'</a:t>
            </a:r>
            <a:endParaRPr lang="he-IL" sz="1300" dirty="0"/>
          </a:p>
        </p:txBody>
      </p:sp>
      <p:sp>
        <p:nvSpPr>
          <p:cNvPr id="27" name="Shape 25"/>
          <p:cNvSpPr/>
          <p:nvPr/>
        </p:nvSpPr>
        <p:spPr>
          <a:xfrm>
            <a:off x="4334256" y="379476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28" name="Shape 26"/>
          <p:cNvSpPr/>
          <p:nvPr/>
        </p:nvSpPr>
        <p:spPr>
          <a:xfrm>
            <a:off x="7077456" y="4069080"/>
            <a:ext cx="502920" cy="502920"/>
          </a:xfrm>
          <a:prstGeom prst="ellipse">
            <a:avLst/>
          </a:prstGeom>
          <a:solidFill>
            <a:srgbClr val="FCA311"/>
          </a:solidFill>
          <a:ln w="12700">
            <a:solidFill>
              <a:srgbClr val="FCA311"/>
            </a:solidFill>
            <a:prstDash val="solid"/>
          </a:ln>
        </p:spPr>
      </p:sp>
      <p:sp>
        <p:nvSpPr>
          <p:cNvPr id="29" name="Text 27"/>
          <p:cNvSpPr txBox="1"/>
          <p:nvPr/>
        </p:nvSpPr>
        <p:spPr>
          <a:xfrm>
            <a:off x="7077456" y="406908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5</a:t>
            </a:r>
            <a:endParaRPr lang="en-US" sz="1800" dirty="0"/>
          </a:p>
        </p:txBody>
      </p:sp>
      <p:sp>
        <p:nvSpPr>
          <p:cNvPr id="30" name="Text 28"/>
          <p:cNvSpPr txBox="1"/>
          <p:nvPr/>
        </p:nvSpPr>
        <p:spPr>
          <a:xfrm>
            <a:off x="4608576" y="406908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סרטון + הפעלה</a:t>
            </a:r>
            <a:endParaRPr lang="he-IL" sz="1800" dirty="0"/>
          </a:p>
        </p:txBody>
      </p:sp>
      <p:sp>
        <p:nvSpPr>
          <p:cNvPr id="31" name="Text 29"/>
          <p:cNvSpPr txBox="1"/>
          <p:nvPr/>
        </p:nvSpPr>
        <p:spPr>
          <a:xfrm>
            <a:off x="4608576" y="470916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TED וצורך אחד, פעולה אחת</a:t>
            </a:r>
            <a:endParaRPr lang="he-IL" sz="1500" dirty="0"/>
          </a:p>
        </p:txBody>
      </p:sp>
      <p:sp>
        <p:nvSpPr>
          <p:cNvPr id="32" name="Text 30"/>
          <p:cNvSpPr txBox="1"/>
          <p:nvPr/>
        </p:nvSpPr>
        <p:spPr>
          <a:xfrm>
            <a:off x="4608576" y="539496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3 דק'</a:t>
            </a:r>
            <a:endParaRPr lang="he-IL" sz="1300" dirty="0"/>
          </a:p>
        </p:txBody>
      </p:sp>
      <p:sp>
        <p:nvSpPr>
          <p:cNvPr id="33" name="Shape 31"/>
          <p:cNvSpPr/>
          <p:nvPr/>
        </p:nvSpPr>
        <p:spPr>
          <a:xfrm>
            <a:off x="548640" y="379476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34" name="Shape 32"/>
          <p:cNvSpPr/>
          <p:nvPr/>
        </p:nvSpPr>
        <p:spPr>
          <a:xfrm>
            <a:off x="3291840" y="4069080"/>
            <a:ext cx="502920" cy="502920"/>
          </a:xfrm>
          <a:prstGeom prst="ellipse">
            <a:avLst/>
          </a:prstGeom>
          <a:solidFill>
            <a:srgbClr val="FCA311"/>
          </a:solidFill>
          <a:ln w="12700">
            <a:solidFill>
              <a:srgbClr val="FCA311"/>
            </a:solidFill>
            <a:prstDash val="solid"/>
          </a:ln>
        </p:spPr>
      </p:sp>
      <p:sp>
        <p:nvSpPr>
          <p:cNvPr id="35" name="Text 33"/>
          <p:cNvSpPr txBox="1"/>
          <p:nvPr/>
        </p:nvSpPr>
        <p:spPr>
          <a:xfrm>
            <a:off x="3291840" y="406908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6</a:t>
            </a:r>
            <a:endParaRPr lang="en-US" sz="1800" dirty="0"/>
          </a:p>
        </p:txBody>
      </p:sp>
      <p:sp>
        <p:nvSpPr>
          <p:cNvPr id="36" name="Text 34"/>
          <p:cNvSpPr txBox="1"/>
          <p:nvPr/>
        </p:nvSpPr>
        <p:spPr>
          <a:xfrm>
            <a:off x="822960" y="406908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סיכום</a:t>
            </a:r>
            <a:endParaRPr lang="he-IL" sz="1800" dirty="0"/>
          </a:p>
        </p:txBody>
      </p:sp>
      <p:sp>
        <p:nvSpPr>
          <p:cNvPr id="37" name="Text 35"/>
          <p:cNvSpPr txBox="1"/>
          <p:nvPr/>
        </p:nvSpPr>
        <p:spPr>
          <a:xfrm>
            <a:off x="822960" y="470916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המסר שלנו לכיתה</a:t>
            </a:r>
            <a:endParaRPr lang="he-IL" sz="1500" dirty="0"/>
          </a:p>
        </p:txBody>
      </p:sp>
      <p:sp>
        <p:nvSpPr>
          <p:cNvPr id="38" name="Text 36"/>
          <p:cNvSpPr txBox="1"/>
          <p:nvPr/>
        </p:nvSpPr>
        <p:spPr>
          <a:xfrm>
            <a:off x="822960" y="539496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1 דק'</a:t>
            </a:r>
            <a:endParaRPr lang="he-IL" sz="1300" dirty="0"/>
          </a:p>
        </p:txBody>
      </p:sp>
      <p:sp>
        <p:nvSpPr>
          <p:cNvPr id="39" name="Text 37"/>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40" name="Text 38"/>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2</a:t>
            </a:r>
            <a:endParaRPr lang="he-IL"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A"/>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סקר פתיחה: איך מרגישה לכם העבודה (או הלימודים) עכשיו?</a:t>
            </a:r>
            <a:endParaRPr lang="he-IL" sz="3000" dirty="0"/>
          </a:p>
        </p:txBody>
      </p:sp>
      <p:sp>
        <p:nvSpPr>
          <p:cNvPr id="3" name="Text 1"/>
          <p:cNvSpPr txBox="1"/>
          <p:nvPr/>
        </p:nvSpPr>
        <p:spPr>
          <a:xfrm>
            <a:off x="548640" y="1234440"/>
            <a:ext cx="11091672" cy="457200"/>
          </a:xfrm>
          <a:prstGeom prst="rect">
            <a:avLst/>
          </a:prstGeom>
          <a:noFill/>
          <a:ln/>
        </p:spPr>
        <p:txBody>
          <a:bodyPr wrap="square" lIns="0" tIns="0" rIns="0" bIns="0" rtlCol="0" anchor="t"/>
          <a:lstStyle/>
          <a:p>
            <a:pPr rtl="1" algn="r" indent="0" marL="0">
              <a:buNone/>
            </a:pPr>
            <a:r>
              <a:rPr lang="he-IL" altLang="en-US" sz="1800" dirty="0">
                <a:solidFill>
                  <a:srgbClr val="6B7280"/>
                </a:solidFill>
                <a:latin typeface="Arial" pitchFamily="34" charset="0"/>
                <a:ea typeface="Arial" pitchFamily="34" charset="-122"/>
                <a:cs typeface="Arial" pitchFamily="34" charset="-120"/>
              </a:rPr>
              <a:t>בסולם 1 עד 5, שלוש שאלות:</a:t>
            </a:r>
            <a:endParaRPr lang="he-IL" sz="1800" dirty="0"/>
          </a:p>
        </p:txBody>
      </p:sp>
      <p:sp>
        <p:nvSpPr>
          <p:cNvPr id="4" name="Shape 2"/>
          <p:cNvSpPr/>
          <p:nvPr/>
        </p:nvSpPr>
        <p:spPr>
          <a:xfrm>
            <a:off x="8074152" y="1828800"/>
            <a:ext cx="3566160" cy="2926080"/>
          </a:xfrm>
          <a:prstGeom prst="roundRect">
            <a:avLst>
              <a:gd name="adj" fmla="val 375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5" name="Shape 3"/>
          <p:cNvSpPr/>
          <p:nvPr/>
        </p:nvSpPr>
        <p:spPr>
          <a:xfrm>
            <a:off x="9354312" y="2103120"/>
            <a:ext cx="1005840" cy="1005840"/>
          </a:xfrm>
          <a:prstGeom prst="ellipse">
            <a:avLst/>
          </a:prstGeom>
          <a:solidFill>
            <a:srgbClr val="2A9D8F"/>
          </a:solidFill>
          <a:ln w="12700">
            <a:solidFill>
              <a:srgbClr val="2A9D8F"/>
            </a:solidFill>
            <a:prstDash val="solid"/>
          </a:ln>
        </p:spPr>
      </p:sp>
      <p:sp>
        <p:nvSpPr>
          <p:cNvPr id="6" name="Text 4"/>
          <p:cNvSpPr txBox="1"/>
          <p:nvPr/>
        </p:nvSpPr>
        <p:spPr>
          <a:xfrm>
            <a:off x="9354312" y="2103120"/>
            <a:ext cx="1005840" cy="100584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1</a:t>
            </a:r>
            <a:endParaRPr lang="en-US" sz="3600" dirty="0"/>
          </a:p>
        </p:txBody>
      </p:sp>
      <p:sp>
        <p:nvSpPr>
          <p:cNvPr id="7" name="Text 5"/>
          <p:cNvSpPr txBox="1"/>
          <p:nvPr/>
        </p:nvSpPr>
        <p:spPr>
          <a:xfrm>
            <a:off x="8348472" y="3291840"/>
            <a:ext cx="3017520" cy="822960"/>
          </a:xfrm>
          <a:prstGeom prst="rect">
            <a:avLst/>
          </a:prstGeom>
          <a:noFill/>
          <a:ln/>
        </p:spPr>
        <p:txBody>
          <a:bodyPr wrap="square" lIns="0" tIns="0" rIns="0" bIns="0" rtlCol="0" anchor="ctr"/>
          <a:lstStyle/>
          <a:p>
            <a:pPr rtl="1" algn="ctr" indent="0" marL="0">
              <a:buNone/>
            </a:pPr>
            <a:r>
              <a:rPr lang="he-IL" altLang="en-US" sz="2000" b="1" dirty="0">
                <a:solidFill>
                  <a:srgbClr val="14213D"/>
                </a:solidFill>
                <a:latin typeface="Arial" pitchFamily="34" charset="0"/>
                <a:ea typeface="Arial" pitchFamily="34" charset="-122"/>
                <a:cs typeface="Arial" pitchFamily="34" charset="-120"/>
              </a:rPr>
              <a:t>ברור וצפוי?</a:t>
            </a:r>
            <a:endParaRPr lang="he-IL" sz="2000" dirty="0"/>
          </a:p>
        </p:txBody>
      </p:sp>
      <p:sp>
        <p:nvSpPr>
          <p:cNvPr id="8" name="Text 6"/>
          <p:cNvSpPr txBox="1"/>
          <p:nvPr/>
        </p:nvSpPr>
        <p:spPr>
          <a:xfrm>
            <a:off x="8348472" y="4160520"/>
            <a:ext cx="3017520" cy="411480"/>
          </a:xfrm>
          <a:prstGeom prst="rect">
            <a:avLst/>
          </a:prstGeom>
          <a:noFill/>
          <a:ln/>
        </p:spPr>
        <p:txBody>
          <a:bodyPr wrap="square" lIns="0" tIns="0" rIns="0" bIns="0" rtlCol="0" anchor="t"/>
          <a:lstStyle/>
          <a:p>
            <a:pPr rtl="1" algn="ctr" indent="0" marL="0">
              <a:buNone/>
            </a:pPr>
            <a:r>
              <a:rPr lang="he-IL" altLang="en-US" sz="1400" b="1" dirty="0">
                <a:solidFill>
                  <a:srgbClr val="2A9D8F"/>
                </a:solidFill>
                <a:latin typeface="Arial" pitchFamily="34" charset="0"/>
                <a:ea typeface="Arial" pitchFamily="34" charset="-122"/>
                <a:cs typeface="Arial" pitchFamily="34" charset="-120"/>
              </a:rPr>
              <a:t>מובנות</a:t>
            </a:r>
            <a:endParaRPr lang="he-IL" sz="1400" dirty="0"/>
          </a:p>
        </p:txBody>
      </p:sp>
      <p:sp>
        <p:nvSpPr>
          <p:cNvPr id="9" name="Shape 7"/>
          <p:cNvSpPr/>
          <p:nvPr/>
        </p:nvSpPr>
        <p:spPr>
          <a:xfrm>
            <a:off x="4311396" y="1828800"/>
            <a:ext cx="3566160" cy="2926080"/>
          </a:xfrm>
          <a:prstGeom prst="roundRect">
            <a:avLst>
              <a:gd name="adj" fmla="val 375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0" name="Shape 8"/>
          <p:cNvSpPr/>
          <p:nvPr/>
        </p:nvSpPr>
        <p:spPr>
          <a:xfrm>
            <a:off x="5591556" y="2103120"/>
            <a:ext cx="1005840" cy="1005840"/>
          </a:xfrm>
          <a:prstGeom prst="ellipse">
            <a:avLst/>
          </a:prstGeom>
          <a:solidFill>
            <a:srgbClr val="FCA311"/>
          </a:solidFill>
          <a:ln w="12700">
            <a:solidFill>
              <a:srgbClr val="FCA311"/>
            </a:solidFill>
            <a:prstDash val="solid"/>
          </a:ln>
        </p:spPr>
      </p:sp>
      <p:sp>
        <p:nvSpPr>
          <p:cNvPr id="11" name="Text 9"/>
          <p:cNvSpPr txBox="1"/>
          <p:nvPr/>
        </p:nvSpPr>
        <p:spPr>
          <a:xfrm>
            <a:off x="5591556" y="2103120"/>
            <a:ext cx="1005840" cy="100584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2</a:t>
            </a:r>
            <a:endParaRPr lang="en-US" sz="3600" dirty="0"/>
          </a:p>
        </p:txBody>
      </p:sp>
      <p:sp>
        <p:nvSpPr>
          <p:cNvPr id="12" name="Text 10"/>
          <p:cNvSpPr txBox="1"/>
          <p:nvPr/>
        </p:nvSpPr>
        <p:spPr>
          <a:xfrm>
            <a:off x="4585716" y="3291840"/>
            <a:ext cx="3017520" cy="822960"/>
          </a:xfrm>
          <a:prstGeom prst="rect">
            <a:avLst/>
          </a:prstGeom>
          <a:noFill/>
          <a:ln/>
        </p:spPr>
        <p:txBody>
          <a:bodyPr wrap="square" lIns="0" tIns="0" rIns="0" bIns="0" rtlCol="0" anchor="ctr"/>
          <a:lstStyle/>
          <a:p>
            <a:pPr rtl="1" algn="ctr" indent="0" marL="0">
              <a:buNone/>
            </a:pPr>
            <a:r>
              <a:rPr lang="he-IL" altLang="en-US" sz="2000" b="1" dirty="0">
                <a:solidFill>
                  <a:srgbClr val="14213D"/>
                </a:solidFill>
                <a:latin typeface="Arial" pitchFamily="34" charset="0"/>
                <a:ea typeface="Arial" pitchFamily="34" charset="-122"/>
                <a:cs typeface="Arial" pitchFamily="34" charset="-120"/>
              </a:rPr>
              <a:t>יש לי מספיק זמן, כלים ותמיכה?</a:t>
            </a:r>
            <a:endParaRPr lang="he-IL" sz="2000" dirty="0"/>
          </a:p>
        </p:txBody>
      </p:sp>
      <p:sp>
        <p:nvSpPr>
          <p:cNvPr id="13" name="Text 11"/>
          <p:cNvSpPr txBox="1"/>
          <p:nvPr/>
        </p:nvSpPr>
        <p:spPr>
          <a:xfrm>
            <a:off x="4585716" y="4160520"/>
            <a:ext cx="3017520" cy="411480"/>
          </a:xfrm>
          <a:prstGeom prst="rect">
            <a:avLst/>
          </a:prstGeom>
          <a:noFill/>
          <a:ln/>
        </p:spPr>
        <p:txBody>
          <a:bodyPr wrap="square" lIns="0" tIns="0" rIns="0" bIns="0" rtlCol="0" anchor="t"/>
          <a:lstStyle/>
          <a:p>
            <a:pPr rtl="1" algn="ctr" indent="0" marL="0">
              <a:buNone/>
            </a:pPr>
            <a:r>
              <a:rPr lang="he-IL" altLang="en-US" sz="1400" b="1" dirty="0">
                <a:solidFill>
                  <a:srgbClr val="FCA311"/>
                </a:solidFill>
                <a:latin typeface="Arial" pitchFamily="34" charset="0"/>
                <a:ea typeface="Arial" pitchFamily="34" charset="-122"/>
                <a:cs typeface="Arial" pitchFamily="34" charset="-120"/>
              </a:rPr>
              <a:t>ניהוליות</a:t>
            </a:r>
            <a:endParaRPr lang="he-IL" sz="1400" dirty="0"/>
          </a:p>
        </p:txBody>
      </p:sp>
      <p:sp>
        <p:nvSpPr>
          <p:cNvPr id="14" name="Shape 12"/>
          <p:cNvSpPr/>
          <p:nvPr/>
        </p:nvSpPr>
        <p:spPr>
          <a:xfrm>
            <a:off x="548640" y="1828800"/>
            <a:ext cx="3566160" cy="2926080"/>
          </a:xfrm>
          <a:prstGeom prst="roundRect">
            <a:avLst>
              <a:gd name="adj" fmla="val 375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5" name="Shape 13"/>
          <p:cNvSpPr/>
          <p:nvPr/>
        </p:nvSpPr>
        <p:spPr>
          <a:xfrm>
            <a:off x="1828800" y="2103120"/>
            <a:ext cx="1005840" cy="1005840"/>
          </a:xfrm>
          <a:prstGeom prst="ellipse">
            <a:avLst/>
          </a:prstGeom>
          <a:solidFill>
            <a:srgbClr val="E76F51"/>
          </a:solidFill>
          <a:ln w="12700">
            <a:solidFill>
              <a:srgbClr val="E76F51"/>
            </a:solidFill>
            <a:prstDash val="solid"/>
          </a:ln>
        </p:spPr>
      </p:sp>
      <p:sp>
        <p:nvSpPr>
          <p:cNvPr id="16" name="Text 14"/>
          <p:cNvSpPr txBox="1"/>
          <p:nvPr/>
        </p:nvSpPr>
        <p:spPr>
          <a:xfrm>
            <a:off x="1828800" y="2103120"/>
            <a:ext cx="1005840" cy="100584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3</a:t>
            </a:r>
            <a:endParaRPr lang="en-US" sz="3600" dirty="0"/>
          </a:p>
        </p:txBody>
      </p:sp>
      <p:sp>
        <p:nvSpPr>
          <p:cNvPr id="17" name="Text 15"/>
          <p:cNvSpPr txBox="1"/>
          <p:nvPr/>
        </p:nvSpPr>
        <p:spPr>
          <a:xfrm>
            <a:off x="822960" y="3291840"/>
            <a:ext cx="3017520" cy="822960"/>
          </a:xfrm>
          <a:prstGeom prst="rect">
            <a:avLst/>
          </a:prstGeom>
          <a:noFill/>
          <a:ln/>
        </p:spPr>
        <p:txBody>
          <a:bodyPr wrap="square" lIns="0" tIns="0" rIns="0" bIns="0" rtlCol="0" anchor="ctr"/>
          <a:lstStyle/>
          <a:p>
            <a:pPr rtl="1" algn="ctr" indent="0" marL="0">
              <a:buNone/>
            </a:pPr>
            <a:r>
              <a:rPr lang="he-IL" altLang="en-US" sz="2000" b="1" dirty="0">
                <a:solidFill>
                  <a:srgbClr val="14213D"/>
                </a:solidFill>
                <a:latin typeface="Arial" pitchFamily="34" charset="0"/>
                <a:ea typeface="Arial" pitchFamily="34" charset="-122"/>
                <a:cs typeface="Arial" pitchFamily="34" charset="-120"/>
              </a:rPr>
              <a:t>שווה את המאמץ?</a:t>
            </a:r>
            <a:endParaRPr lang="he-IL" sz="2000" dirty="0"/>
          </a:p>
        </p:txBody>
      </p:sp>
      <p:sp>
        <p:nvSpPr>
          <p:cNvPr id="18" name="Text 16"/>
          <p:cNvSpPr txBox="1"/>
          <p:nvPr/>
        </p:nvSpPr>
        <p:spPr>
          <a:xfrm>
            <a:off x="822960" y="4160520"/>
            <a:ext cx="3017520" cy="411480"/>
          </a:xfrm>
          <a:prstGeom prst="rect">
            <a:avLst/>
          </a:prstGeom>
          <a:noFill/>
          <a:ln/>
        </p:spPr>
        <p:txBody>
          <a:bodyPr wrap="square" lIns="0" tIns="0" rIns="0" bIns="0" rtlCol="0" anchor="t"/>
          <a:lstStyle/>
          <a:p>
            <a:pPr rtl="1" algn="ctr" indent="0" marL="0">
              <a:buNone/>
            </a:pPr>
            <a:r>
              <a:rPr lang="he-IL" altLang="en-US" sz="1400" b="1" dirty="0">
                <a:solidFill>
                  <a:srgbClr val="E76F51"/>
                </a:solidFill>
                <a:latin typeface="Arial" pitchFamily="34" charset="0"/>
                <a:ea typeface="Arial" pitchFamily="34" charset="-122"/>
                <a:cs typeface="Arial" pitchFamily="34" charset="-120"/>
              </a:rPr>
              <a:t>משמעותיות</a:t>
            </a:r>
            <a:endParaRPr lang="he-IL" sz="1400" dirty="0"/>
          </a:p>
        </p:txBody>
      </p:sp>
      <p:sp>
        <p:nvSpPr>
          <p:cNvPr id="19" name="Shape 17"/>
          <p:cNvSpPr/>
          <p:nvPr/>
        </p:nvSpPr>
        <p:spPr>
          <a:xfrm>
            <a:off x="548640" y="5120640"/>
            <a:ext cx="11091672"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20" name="Text 18"/>
          <p:cNvSpPr txBox="1"/>
          <p:nvPr/>
        </p:nvSpPr>
        <p:spPr>
          <a:xfrm>
            <a:off x="822960" y="5257800"/>
            <a:ext cx="10515600" cy="822960"/>
          </a:xfrm>
          <a:prstGeom prst="rect">
            <a:avLst/>
          </a:prstGeom>
          <a:noFill/>
          <a:ln/>
        </p:spPr>
        <p:txBody>
          <a:bodyPr wrap="square" lIns="0" tIns="0" rIns="0" bIns="0" rtlCol="0" anchor="ctr"/>
          <a:lstStyle/>
          <a:p>
            <a:pPr rtl="1" algn="r" indent="0" marL="0">
              <a:buNone/>
            </a:pPr>
            <a:r>
              <a:rPr lang="he-IL" altLang="en-US" sz="1700" dirty="0">
                <a:solidFill>
                  <a:srgbClr val="1F2937"/>
                </a:solidFill>
                <a:latin typeface="Arial" pitchFamily="34" charset="0"/>
                <a:ea typeface="Arial" pitchFamily="34" charset="-122"/>
                <a:cs typeface="Arial" pitchFamily="34" charset="-120"/>
              </a:rPr>
              <a:t>הצבעה ב-Mentimeter או הרמת ידיים. אלה שלושת הרכיבים של "תחושת קוהרנטיות בעבודה". נחזור אליהם בסוף.</a:t>
            </a:r>
            <a:endParaRPr lang="he-IL" sz="1700" dirty="0"/>
          </a:p>
        </p:txBody>
      </p:sp>
      <p:sp>
        <p:nvSpPr>
          <p:cNvPr id="21" name="Text 19"/>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22" name="Text 20"/>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3</a:t>
            </a:r>
            <a:endParaRPr lang="he-IL"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למה דווקא עכשיו?</a:t>
            </a:r>
            <a:endParaRPr lang="he-IL" sz="3000" dirty="0"/>
          </a:p>
        </p:txBody>
      </p:sp>
      <p:sp>
        <p:nvSpPr>
          <p:cNvPr id="3" name="Shape 1"/>
          <p:cNvSpPr/>
          <p:nvPr/>
        </p:nvSpPr>
        <p:spPr>
          <a:xfrm>
            <a:off x="6492240" y="1325880"/>
            <a:ext cx="5148072" cy="4937760"/>
          </a:xfrm>
          <a:prstGeom prst="roundRect">
            <a:avLst>
              <a:gd name="adj" fmla="val 2222"/>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6675120" y="1463040"/>
            <a:ext cx="4754880" cy="914400"/>
          </a:xfrm>
          <a:prstGeom prst="rect">
            <a:avLst/>
          </a:prstGeom>
          <a:noFill/>
          <a:ln/>
        </p:spPr>
        <p:txBody>
          <a:bodyPr wrap="square" lIns="0" tIns="0" rIns="0" bIns="0" rtlCol="0" anchor="ctr"/>
          <a:lstStyle/>
          <a:p>
            <a:pPr rtl="1" algn="ctr" indent="0" marL="0">
              <a:buNone/>
            </a:pPr>
            <a:r>
              <a:rPr lang="he-IL" altLang="en-US" sz="6000" b="1" dirty="0">
                <a:solidFill>
                  <a:srgbClr val="E76F51"/>
                </a:solidFill>
                <a:latin typeface="Arial" pitchFamily="34" charset="0"/>
                <a:ea typeface="Arial" pitchFamily="34" charset="-122"/>
                <a:cs typeface="Arial" pitchFamily="34" charset="-120"/>
              </a:rPr>
              <a:t>1 מכל 5</a:t>
            </a:r>
            <a:endParaRPr lang="he-IL" sz="6000" dirty="0"/>
          </a:p>
        </p:txBody>
      </p:sp>
      <p:sp>
        <p:nvSpPr>
          <p:cNvPr id="5" name="Text 3"/>
          <p:cNvSpPr txBox="1"/>
          <p:nvPr/>
        </p:nvSpPr>
        <p:spPr>
          <a:xfrm>
            <a:off x="6766560" y="2423160"/>
            <a:ext cx="4572000" cy="1005840"/>
          </a:xfrm>
          <a:prstGeom prst="rect">
            <a:avLst/>
          </a:prstGeom>
          <a:noFill/>
          <a:ln/>
        </p:spPr>
        <p:txBody>
          <a:bodyPr wrap="square" lIns="0" tIns="0" rIns="0" bIns="0" rtlCol="0" anchor="t"/>
          <a:lstStyle/>
          <a:p>
            <a:pPr rtl="1" algn="ctr" indent="0" marL="0">
              <a:buNone/>
            </a:pPr>
            <a:r>
              <a:rPr lang="he-IL" altLang="en-US" sz="1400" dirty="0">
                <a:solidFill>
                  <a:srgbClr val="1F2937"/>
                </a:solidFill>
                <a:latin typeface="Arial" pitchFamily="34" charset="0"/>
                <a:ea typeface="Arial" pitchFamily="34" charset="-122"/>
                <a:cs typeface="Arial" pitchFamily="34" charset="-120"/>
              </a:rPr>
              <a:t>מהמועסקים בישראל עובדים במקצועות "תחליפיים" שבהם הביקוש צפוי לרדת משמעותית עם התרחבות הבינה המלאכותית (בנק ישראל, 2025)</a:t>
            </a:r>
            <a:endParaRPr lang="he-IL" sz="1400" dirty="0"/>
          </a:p>
        </p:txBody>
      </p:sp>
      <p:graphicFrame>
        <p:nvGraphicFramePr>
          <p:cNvPr id="6" name="Chart 0" descr=""/>
          <p:cNvGraphicFramePr/>
          <p:nvPr/>
        </p:nvGraphicFramePr>
        <p:xfrm>
          <a:off x="6949440" y="3474720"/>
          <a:ext cx="4206240" cy="26974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48640" y="1325880"/>
            <a:ext cx="5669280"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8" name="Shape 5"/>
          <p:cNvSpPr/>
          <p:nvPr/>
        </p:nvSpPr>
        <p:spPr>
          <a:xfrm>
            <a:off x="5486400" y="1600200"/>
            <a:ext cx="548640" cy="548640"/>
          </a:xfrm>
          <a:prstGeom prst="ellipse">
            <a:avLst/>
          </a:prstGeom>
          <a:solidFill>
            <a:srgbClr val="FCA311"/>
          </a:solidFill>
          <a:ln w="12700">
            <a:solidFill>
              <a:srgbClr val="FCA311"/>
            </a:solidFill>
            <a:prstDash val="solid"/>
          </a:ln>
        </p:spPr>
      </p:sp>
      <p:sp>
        <p:nvSpPr>
          <p:cNvPr id="9" name="Text 6"/>
          <p:cNvSpPr txBox="1"/>
          <p:nvPr/>
        </p:nvSpPr>
        <p:spPr>
          <a:xfrm>
            <a:off x="5486400" y="1600200"/>
            <a:ext cx="548640" cy="54864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a:t>
            </a:r>
            <a:endParaRPr lang="en-US" sz="1800" dirty="0"/>
          </a:p>
        </p:txBody>
      </p:sp>
      <p:sp>
        <p:nvSpPr>
          <p:cNvPr id="10" name="Text 7"/>
          <p:cNvSpPr txBox="1"/>
          <p:nvPr/>
        </p:nvSpPr>
        <p:spPr>
          <a:xfrm>
            <a:off x="731520" y="1435608"/>
            <a:ext cx="4572000" cy="41148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בינה מלאכותית</a:t>
            </a:r>
            <a:endParaRPr lang="he-IL" sz="1700" dirty="0"/>
          </a:p>
        </p:txBody>
      </p:sp>
      <p:sp>
        <p:nvSpPr>
          <p:cNvPr id="11" name="Text 8"/>
          <p:cNvSpPr txBox="1"/>
          <p:nvPr/>
        </p:nvSpPr>
        <p:spPr>
          <a:xfrm>
            <a:off x="731520" y="1828800"/>
            <a:ext cx="4572000" cy="548640"/>
          </a:xfrm>
          <a:prstGeom prst="rect">
            <a:avLst/>
          </a:prstGeom>
          <a:noFill/>
          <a:ln/>
        </p:spPr>
        <p:txBody>
          <a:bodyPr wrap="square" lIns="0" tIns="0" rIns="0" bIns="0" rtlCol="0" anchor="t"/>
          <a:lstStyle/>
          <a:p>
            <a:pPr rtl="1" algn="r" indent="0" marL="0">
              <a:buNone/>
            </a:pPr>
            <a:r>
              <a:rPr lang="he-IL" altLang="en-US" sz="1250" dirty="0">
                <a:solidFill>
                  <a:srgbClr val="1F2937"/>
                </a:solidFill>
                <a:latin typeface="Arial" pitchFamily="34" charset="0"/>
                <a:ea typeface="Arial" pitchFamily="34" charset="-122"/>
                <a:cs typeface="Arial" pitchFamily="34" charset="-120"/>
              </a:rPr>
              <a:t>משנה את תוכן התפקיד גם כשהמשרה נשמרת. עצם המודעות לה מייצרת חוסר ביטחון (Chung et al., 2025)</a:t>
            </a:r>
            <a:endParaRPr lang="he-IL" sz="1250" dirty="0"/>
          </a:p>
        </p:txBody>
      </p:sp>
      <p:sp>
        <p:nvSpPr>
          <p:cNvPr id="12" name="Shape 9"/>
          <p:cNvSpPr/>
          <p:nvPr/>
        </p:nvSpPr>
        <p:spPr>
          <a:xfrm>
            <a:off x="548640" y="2578608"/>
            <a:ext cx="5669280"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3" name="Shape 10"/>
          <p:cNvSpPr/>
          <p:nvPr/>
        </p:nvSpPr>
        <p:spPr>
          <a:xfrm>
            <a:off x="5486400" y="2852928"/>
            <a:ext cx="548640" cy="548640"/>
          </a:xfrm>
          <a:prstGeom prst="ellipse">
            <a:avLst/>
          </a:prstGeom>
          <a:solidFill>
            <a:srgbClr val="FCA311"/>
          </a:solidFill>
          <a:ln w="12700">
            <a:solidFill>
              <a:srgbClr val="FCA311"/>
            </a:solidFill>
            <a:prstDash val="solid"/>
          </a:ln>
        </p:spPr>
      </p:sp>
      <p:sp>
        <p:nvSpPr>
          <p:cNvPr id="14" name="Text 11"/>
          <p:cNvSpPr txBox="1"/>
          <p:nvPr/>
        </p:nvSpPr>
        <p:spPr>
          <a:xfrm>
            <a:off x="5486400" y="2852928"/>
            <a:ext cx="548640" cy="54864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a:t>
            </a:r>
            <a:endParaRPr lang="en-US" sz="1800" dirty="0"/>
          </a:p>
        </p:txBody>
      </p:sp>
      <p:sp>
        <p:nvSpPr>
          <p:cNvPr id="15" name="Text 12"/>
          <p:cNvSpPr txBox="1"/>
          <p:nvPr/>
        </p:nvSpPr>
        <p:spPr>
          <a:xfrm>
            <a:off x="731520" y="2688336"/>
            <a:ext cx="4572000" cy="41148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התייעלות בהייטק</a:t>
            </a:r>
            <a:endParaRPr lang="he-IL" sz="1700" dirty="0"/>
          </a:p>
        </p:txBody>
      </p:sp>
      <p:sp>
        <p:nvSpPr>
          <p:cNvPr id="16" name="Text 13"/>
          <p:cNvSpPr txBox="1"/>
          <p:nvPr/>
        </p:nvSpPr>
        <p:spPr>
          <a:xfrm>
            <a:off x="731520" y="3081528"/>
            <a:ext cx="4572000" cy="548640"/>
          </a:xfrm>
          <a:prstGeom prst="rect">
            <a:avLst/>
          </a:prstGeom>
          <a:noFill/>
          <a:ln/>
        </p:spPr>
        <p:txBody>
          <a:bodyPr wrap="square" lIns="0" tIns="0" rIns="0" bIns="0" rtlCol="0" anchor="t"/>
          <a:lstStyle/>
          <a:p>
            <a:pPr rtl="1" algn="r" indent="0" marL="0">
              <a:buNone/>
            </a:pPr>
            <a:r>
              <a:rPr lang="he-IL" altLang="en-US" sz="1250" dirty="0">
                <a:solidFill>
                  <a:srgbClr val="1F2937"/>
                </a:solidFill>
                <a:latin typeface="Arial" pitchFamily="34" charset="0"/>
                <a:ea typeface="Arial" pitchFamily="34" charset="-122"/>
                <a:cs typeface="Arial" pitchFamily="34" charset="-120"/>
              </a:rPr>
              <a:t>גלי פיטורים ו"התייעלות AI" בראש סדר היום של מנהלים ב-2026 ("הקשיים של מנהלי הייטק", 2026)</a:t>
            </a:r>
            <a:endParaRPr lang="he-IL" sz="1250" dirty="0"/>
          </a:p>
        </p:txBody>
      </p:sp>
      <p:sp>
        <p:nvSpPr>
          <p:cNvPr id="17" name="Shape 14"/>
          <p:cNvSpPr/>
          <p:nvPr/>
        </p:nvSpPr>
        <p:spPr>
          <a:xfrm>
            <a:off x="548640" y="3831336"/>
            <a:ext cx="5669280"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8" name="Shape 15"/>
          <p:cNvSpPr/>
          <p:nvPr/>
        </p:nvSpPr>
        <p:spPr>
          <a:xfrm>
            <a:off x="5486400" y="4105656"/>
            <a:ext cx="548640" cy="548640"/>
          </a:xfrm>
          <a:prstGeom prst="ellipse">
            <a:avLst/>
          </a:prstGeom>
          <a:solidFill>
            <a:srgbClr val="FCA311"/>
          </a:solidFill>
          <a:ln w="12700">
            <a:solidFill>
              <a:srgbClr val="FCA311"/>
            </a:solidFill>
            <a:prstDash val="solid"/>
          </a:ln>
        </p:spPr>
      </p:sp>
      <p:sp>
        <p:nvSpPr>
          <p:cNvPr id="19" name="Text 16"/>
          <p:cNvSpPr txBox="1"/>
          <p:nvPr/>
        </p:nvSpPr>
        <p:spPr>
          <a:xfrm>
            <a:off x="5486400" y="4105656"/>
            <a:ext cx="548640" cy="54864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731520" y="3941064"/>
            <a:ext cx="4572000" cy="41148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מילואים ומלחמה</a:t>
            </a:r>
            <a:endParaRPr lang="he-IL" sz="1700" dirty="0"/>
          </a:p>
        </p:txBody>
      </p:sp>
      <p:sp>
        <p:nvSpPr>
          <p:cNvPr id="21" name="Text 18"/>
          <p:cNvSpPr txBox="1"/>
          <p:nvPr/>
        </p:nvSpPr>
        <p:spPr>
          <a:xfrm>
            <a:off x="731520" y="4334256"/>
            <a:ext cx="4572000" cy="548640"/>
          </a:xfrm>
          <a:prstGeom prst="rect">
            <a:avLst/>
          </a:prstGeom>
          <a:noFill/>
          <a:ln/>
        </p:spPr>
        <p:txBody>
          <a:bodyPr wrap="square" lIns="0" tIns="0" rIns="0" bIns="0" rtlCol="0" anchor="t"/>
          <a:lstStyle/>
          <a:p>
            <a:pPr rtl="1" algn="r" indent="0" marL="0">
              <a:buNone/>
            </a:pPr>
            <a:r>
              <a:rPr lang="he-IL" altLang="en-US" sz="1250" dirty="0">
                <a:solidFill>
                  <a:srgbClr val="1F2937"/>
                </a:solidFill>
                <a:latin typeface="Arial" pitchFamily="34" charset="0"/>
                <a:ea typeface="Arial" pitchFamily="34" charset="-122"/>
                <a:cs typeface="Arial" pitchFamily="34" charset="-120"/>
              </a:rPr>
              <a:t>חוסר ודאות שמקורו מחוץ לארגון. ממד ישראלי ייחודי</a:t>
            </a:r>
            <a:endParaRPr lang="he-IL" sz="1250" dirty="0"/>
          </a:p>
        </p:txBody>
      </p:sp>
      <p:sp>
        <p:nvSpPr>
          <p:cNvPr id="22" name="Shape 19"/>
          <p:cNvSpPr/>
          <p:nvPr/>
        </p:nvSpPr>
        <p:spPr>
          <a:xfrm>
            <a:off x="548640" y="5084064"/>
            <a:ext cx="5669280"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23" name="Shape 20"/>
          <p:cNvSpPr/>
          <p:nvPr/>
        </p:nvSpPr>
        <p:spPr>
          <a:xfrm>
            <a:off x="5486400" y="5358384"/>
            <a:ext cx="548640" cy="548640"/>
          </a:xfrm>
          <a:prstGeom prst="ellipse">
            <a:avLst/>
          </a:prstGeom>
          <a:solidFill>
            <a:srgbClr val="FCA311"/>
          </a:solidFill>
          <a:ln w="12700">
            <a:solidFill>
              <a:srgbClr val="FCA311"/>
            </a:solidFill>
            <a:prstDash val="solid"/>
          </a:ln>
        </p:spPr>
      </p:sp>
      <p:sp>
        <p:nvSpPr>
          <p:cNvPr id="24" name="Text 21"/>
          <p:cNvSpPr txBox="1"/>
          <p:nvPr/>
        </p:nvSpPr>
        <p:spPr>
          <a:xfrm>
            <a:off x="5486400" y="5358384"/>
            <a:ext cx="548640" cy="54864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731520" y="5193792"/>
            <a:ext cx="4572000" cy="41148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דרישות חדשות</a:t>
            </a:r>
            <a:endParaRPr lang="he-IL" sz="1700" dirty="0"/>
          </a:p>
        </p:txBody>
      </p:sp>
      <p:sp>
        <p:nvSpPr>
          <p:cNvPr id="26" name="Text 23"/>
          <p:cNvSpPr txBox="1"/>
          <p:nvPr/>
        </p:nvSpPr>
        <p:spPr>
          <a:xfrm>
            <a:off x="731520" y="5586984"/>
            <a:ext cx="4572000" cy="548640"/>
          </a:xfrm>
          <a:prstGeom prst="rect">
            <a:avLst/>
          </a:prstGeom>
          <a:noFill/>
          <a:ln/>
        </p:spPr>
        <p:txBody>
          <a:bodyPr wrap="square" lIns="0" tIns="0" rIns="0" bIns="0" rtlCol="0" anchor="t"/>
          <a:lstStyle/>
          <a:p>
            <a:pPr rtl="1" algn="r" indent="0" marL="0">
              <a:buNone/>
            </a:pPr>
            <a:r>
              <a:rPr lang="he-IL" altLang="en-US" sz="1250" dirty="0">
                <a:solidFill>
                  <a:srgbClr val="1F2937"/>
                </a:solidFill>
                <a:latin typeface="Arial" pitchFamily="34" charset="0"/>
                <a:ea typeface="Arial" pitchFamily="34" charset="-122"/>
                <a:cs typeface="Arial" pitchFamily="34" charset="-120"/>
              </a:rPr>
              <a:t>ניהול עצמי, הסתגלות ויוזמה אישית: מה שעולם העבודה הגמיש דורש (Cetkovská et al., 2026)</a:t>
            </a:r>
            <a:endParaRPr lang="he-IL" sz="1250" dirty="0"/>
          </a:p>
        </p:txBody>
      </p:sp>
      <p:sp>
        <p:nvSpPr>
          <p:cNvPr id="27" name="Text 24"/>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28" name="Text 25"/>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4</a:t>
            </a:r>
            <a:endParaRPr lang="he-IL"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המאמר שבחרנו</a:t>
            </a:r>
            <a:endParaRPr lang="he-IL" sz="3000" dirty="0"/>
          </a:p>
        </p:txBody>
      </p:sp>
      <p:sp>
        <p:nvSpPr>
          <p:cNvPr id="3" name="Shape 1"/>
          <p:cNvSpPr/>
          <p:nvPr/>
        </p:nvSpPr>
        <p:spPr>
          <a:xfrm>
            <a:off x="4846320" y="1325880"/>
            <a:ext cx="6793992" cy="3108960"/>
          </a:xfrm>
          <a:prstGeom prst="roundRect">
            <a:avLst>
              <a:gd name="adj" fmla="val 3529"/>
            </a:avLst>
          </a:prstGeom>
          <a:solidFill>
            <a:srgbClr val="14213D"/>
          </a:solidFill>
          <a:ln w="12700">
            <a:solidFill>
              <a:srgbClr val="14213D"/>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5074920" y="1463040"/>
            <a:ext cx="6355080" cy="914400"/>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The Role of Needs-Based Job Crafting in Strengthening Work-Related Sense of Coherence: A Two-Wave Panel Study</a:t>
            </a:r>
            <a:endParaRPr lang="en-US" sz="1800" dirty="0"/>
          </a:p>
        </p:txBody>
      </p:sp>
      <p:sp>
        <p:nvSpPr>
          <p:cNvPr id="5" name="Text 3"/>
          <p:cNvSpPr txBox="1"/>
          <p:nvPr/>
        </p:nvSpPr>
        <p:spPr>
          <a:xfrm>
            <a:off x="5074920" y="2423160"/>
            <a:ext cx="6355080" cy="457200"/>
          </a:xfrm>
          <a:prstGeom prst="rect">
            <a:avLst/>
          </a:prstGeom>
          <a:noFill/>
          <a:ln/>
        </p:spPr>
        <p:txBody>
          <a:bodyPr wrap="square" lIns="0" tIns="0" rIns="0" bIns="0" rtlCol="0" anchor="t"/>
          <a:lstStyle/>
          <a:p>
            <a:pPr algn="r" indent="0" marL="0">
              <a:buNone/>
            </a:pPr>
            <a:r>
              <a:rPr lang="en-US" sz="1200" dirty="0">
                <a:solidFill>
                  <a:srgbClr val="FCA311"/>
                </a:solidFill>
                <a:latin typeface="Arial" pitchFamily="34" charset="0"/>
                <a:ea typeface="Arial" pitchFamily="34" charset="-122"/>
                <a:cs typeface="Arial" pitchFamily="34" charset="-120"/>
              </a:rPr>
              <a:t>Cetkovská, Bauer &amp; Tušl  |  Scandinavian Journal of Work and Organizational Psychology, 11(1)  |  2026</a:t>
            </a:r>
            <a:endParaRPr lang="en-US" sz="1200" dirty="0"/>
          </a:p>
        </p:txBody>
      </p:sp>
      <p:sp>
        <p:nvSpPr>
          <p:cNvPr id="6" name="Text 4"/>
          <p:cNvSpPr txBox="1"/>
          <p:nvPr/>
        </p:nvSpPr>
        <p:spPr>
          <a:xfrm>
            <a:off x="5074920" y="2926080"/>
            <a:ext cx="6355080" cy="1463040"/>
          </a:xfrm>
          <a:prstGeom prst="rect">
            <a:avLst/>
          </a:prstGeom>
          <a:noFill/>
          <a:ln/>
        </p:spPr>
        <p:txBody>
          <a:bodyPr wrap="square" lIns="0" tIns="0" rIns="0" bIns="0" rtlCol="0" anchor="t"/>
          <a:lstStyle/>
          <a:p>
            <a:pPr algn="r" marL="342900" indent="-342900">
              <a:spcAft>
                <a:spcPts val="600"/>
              </a:spcAft>
              <a:buSzPct val="100000"/>
              <a:buChar char="•"/>
            </a:pPr>
            <a:r>
              <a:rPr lang="he-IL" altLang="en-US" sz="1300" dirty="0">
                <a:solidFill>
                  <a:srgbClr val="E5EAF3"/>
                </a:solidFill>
                <a:latin typeface="Arial" pitchFamily="34" charset="0"/>
                <a:ea typeface="Arial" pitchFamily="34" charset="-122"/>
                <a:cs typeface="Arial" pitchFamily="34" charset="-120"/>
              </a:rPr>
              <a:t>מחקר אורך: 924 עובדים בגרמניה ובשווייץ, שתי מדידות בהפרש של חצי שנה</a:t>
            </a:r>
            <a:endParaRPr lang="he-IL" sz="1300" dirty="0"/>
          </a:p>
          <a:p>
            <a:pPr algn="r" marL="342900" indent="-342900">
              <a:spcAft>
                <a:spcPts val="600"/>
              </a:spcAft>
              <a:buSzPct val="100000"/>
              <a:buChar char="•"/>
            </a:pPr>
            <a:r>
              <a:rPr lang="he-IL" altLang="en-US" sz="1300" dirty="0">
                <a:solidFill>
                  <a:srgbClr val="E5EAF3"/>
                </a:solidFill>
                <a:latin typeface="Arial" pitchFamily="34" charset="0"/>
                <a:ea typeface="Arial" pitchFamily="34" charset="-122"/>
                <a:cs typeface="Arial" pitchFamily="34" charset="-120"/>
              </a:rPr>
              <a:t>כתב עת שפיט, גישה פתוחה מלאה (Open Access), הוצאת אוניברסיטת סטוקהולם</a:t>
            </a:r>
            <a:endParaRPr lang="he-IL" sz="1300" dirty="0"/>
          </a:p>
          <a:p>
            <a:pPr algn="r" marL="342900" indent="-342900">
              <a:spcAft>
                <a:spcPts val="600"/>
              </a:spcAft>
              <a:buSzPct val="100000"/>
              <a:buChar char="•"/>
            </a:pPr>
            <a:r>
              <a:rPr lang="he-IL" altLang="en-US" sz="1300" dirty="0">
                <a:solidFill>
                  <a:srgbClr val="E5EAF3"/>
                </a:solidFill>
                <a:latin typeface="Arial" pitchFamily="34" charset="0"/>
                <a:ea typeface="Arial" pitchFamily="34" charset="-122"/>
                <a:cs typeface="Arial" pitchFamily="34" charset="-120"/>
              </a:rPr>
              <a:t>המחברים: אוניברסיטת קארל בפראג והמרכז לסלוטוגנזה באוניברסיטת ציריך. מימון: הקרן הלאומית השווייצרית למדע</a:t>
            </a:r>
            <a:endParaRPr lang="he-IL" sz="1300" dirty="0"/>
          </a:p>
        </p:txBody>
      </p:sp>
      <p:sp>
        <p:nvSpPr>
          <p:cNvPr id="7" name="Shape 5"/>
          <p:cNvSpPr/>
          <p:nvPr/>
        </p:nvSpPr>
        <p:spPr>
          <a:xfrm>
            <a:off x="548640" y="1325880"/>
            <a:ext cx="4023360" cy="3108960"/>
          </a:xfrm>
          <a:prstGeom prst="roundRect">
            <a:avLst>
              <a:gd name="adj" fmla="val 3529"/>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8" name="Text 6"/>
          <p:cNvSpPr txBox="1"/>
          <p:nvPr/>
        </p:nvSpPr>
        <p:spPr>
          <a:xfrm>
            <a:off x="777240" y="1463040"/>
            <a:ext cx="3566160" cy="457200"/>
          </a:xfrm>
          <a:prstGeom prst="rect">
            <a:avLst/>
          </a:prstGeom>
          <a:noFill/>
          <a:ln/>
        </p:spPr>
        <p:txBody>
          <a:bodyPr wrap="square" lIns="0" tIns="0" rIns="0" bIns="0" rtlCol="0" anchor="t"/>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למה בחרנו בו?</a:t>
            </a:r>
            <a:endParaRPr lang="he-IL" sz="1800" dirty="0"/>
          </a:p>
        </p:txBody>
      </p:sp>
      <p:sp>
        <p:nvSpPr>
          <p:cNvPr id="9" name="Text 7"/>
          <p:cNvSpPr txBox="1"/>
          <p:nvPr/>
        </p:nvSpPr>
        <p:spPr>
          <a:xfrm>
            <a:off x="777240" y="1965960"/>
            <a:ext cx="3566160" cy="2377440"/>
          </a:xfrm>
          <a:prstGeom prst="rect">
            <a:avLst/>
          </a:prstGeom>
          <a:noFill/>
          <a:ln/>
        </p:spPr>
        <p:txBody>
          <a:bodyPr wrap="square" lIns="0" tIns="0" rIns="0" bIns="0" rtlCol="0" anchor="t"/>
          <a:lstStyle/>
          <a:p>
            <a:pPr algn="r" marL="342900" indent="-342900">
              <a:spcAft>
                <a:spcPts val="600"/>
              </a:spcAft>
              <a:buSzPct val="100000"/>
              <a:buChar char="•"/>
            </a:pPr>
            <a:r>
              <a:rPr lang="he-IL" altLang="en-US" sz="1300" dirty="0">
                <a:solidFill>
                  <a:srgbClr val="1F2937"/>
                </a:solidFill>
                <a:latin typeface="Arial" pitchFamily="34" charset="0"/>
                <a:ea typeface="Arial" pitchFamily="34" charset="-122"/>
                <a:cs typeface="Arial" pitchFamily="34" charset="-120"/>
              </a:rPr>
              <a:t>שואל מה עוזר, לא רק מה מזיק</a:t>
            </a:r>
            <a:endParaRPr lang="he-IL" sz="1300" dirty="0"/>
          </a:p>
          <a:p>
            <a:pPr algn="r" marL="342900" indent="-342900">
              <a:spcAft>
                <a:spcPts val="600"/>
              </a:spcAft>
              <a:buSzPct val="100000"/>
              <a:buChar char="•"/>
            </a:pPr>
            <a:r>
              <a:rPr lang="he-IL" altLang="en-US" sz="1300" dirty="0">
                <a:solidFill>
                  <a:srgbClr val="1F2937"/>
                </a:solidFill>
                <a:latin typeface="Arial" pitchFamily="34" charset="0"/>
                <a:ea typeface="Arial" pitchFamily="34" charset="-122"/>
                <a:cs typeface="Arial" pitchFamily="34" charset="-120"/>
              </a:rPr>
              <a:t>נותן כלי שבשליטת העובד, בלי לחכות לארגון</a:t>
            </a:r>
            <a:endParaRPr lang="he-IL" sz="1300" dirty="0"/>
          </a:p>
          <a:p>
            <a:pPr algn="r" marL="342900" indent="-342900">
              <a:spcAft>
                <a:spcPts val="600"/>
              </a:spcAft>
              <a:buSzPct val="100000"/>
              <a:buChar char="•"/>
            </a:pPr>
            <a:r>
              <a:rPr lang="he-IL" altLang="en-US" sz="1300" dirty="0">
                <a:solidFill>
                  <a:srgbClr val="1F2937"/>
                </a:solidFill>
                <a:latin typeface="Arial" pitchFamily="34" charset="0"/>
                <a:ea typeface="Arial" pitchFamily="34" charset="-122"/>
                <a:cs typeface="Arial" pitchFamily="34" charset="-120"/>
              </a:rPr>
              <a:t>מבוסס על רעיון של חוקר שפעל בישראל: אהרן אנטונובסקי מאוניברסיטת בן-גוריון</a:t>
            </a:r>
            <a:endParaRPr lang="he-IL" sz="1300" dirty="0"/>
          </a:p>
        </p:txBody>
      </p:sp>
      <p:sp>
        <p:nvSpPr>
          <p:cNvPr id="10" name="Shape 8"/>
          <p:cNvSpPr/>
          <p:nvPr/>
        </p:nvSpPr>
        <p:spPr>
          <a:xfrm>
            <a:off x="548640" y="4663440"/>
            <a:ext cx="11091672" cy="1600200"/>
          </a:xfrm>
          <a:prstGeom prst="roundRect">
            <a:avLst>
              <a:gd name="adj" fmla="val 6857"/>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11" name="Text 9"/>
          <p:cNvSpPr txBox="1"/>
          <p:nvPr/>
        </p:nvSpPr>
        <p:spPr>
          <a:xfrm>
            <a:off x="777240" y="4754880"/>
            <a:ext cx="10607040" cy="411480"/>
          </a:xfrm>
          <a:prstGeom prst="rect">
            <a:avLst/>
          </a:prstGeom>
          <a:noFill/>
          <a:ln/>
        </p:spPr>
        <p:txBody>
          <a:bodyPr wrap="square" lIns="0" tIns="0" rIns="0" bIns="0" rtlCol="0" anchor="t"/>
          <a:lstStyle/>
          <a:p>
            <a:pPr rtl="1" algn="r" indent="0" marL="0">
              <a:buNone/>
            </a:pPr>
            <a:r>
              <a:rPr lang="he-IL" altLang="en-US" sz="1500" b="1" dirty="0">
                <a:solidFill>
                  <a:srgbClr val="2A9D8F"/>
                </a:solidFill>
                <a:latin typeface="Arial" pitchFamily="34" charset="0"/>
                <a:ea typeface="Arial" pitchFamily="34" charset="-122"/>
                <a:cs typeface="Arial" pitchFamily="34" charset="-120"/>
              </a:rPr>
              <a:t>מאמר משלים (2025, גישה פתוחה)</a:t>
            </a:r>
            <a:endParaRPr lang="he-IL" sz="1500" dirty="0"/>
          </a:p>
        </p:txBody>
      </p:sp>
      <p:sp>
        <p:nvSpPr>
          <p:cNvPr id="12" name="Text 10"/>
          <p:cNvSpPr txBox="1"/>
          <p:nvPr/>
        </p:nvSpPr>
        <p:spPr>
          <a:xfrm>
            <a:off x="777240" y="5166360"/>
            <a:ext cx="10607040" cy="1005840"/>
          </a:xfrm>
          <a:prstGeom prst="rect">
            <a:avLst/>
          </a:prstGeom>
          <a:noFill/>
          <a:ln/>
        </p:spPr>
        <p:txBody>
          <a:bodyPr wrap="square" lIns="0" tIns="0" rIns="0" bIns="0" rtlCol="0" anchor="t"/>
          <a:lstStyle/>
          <a:p>
            <a:pPr algn="r" indent="0" marL="0">
              <a:spcAft>
                <a:spcPts val="600"/>
              </a:spcAft>
              <a:buNone/>
            </a:pPr>
            <a:r>
              <a:rPr lang="en-US" sz="1200" dirty="0">
                <a:solidFill>
                  <a:srgbClr val="1F2937"/>
                </a:solidFill>
                <a:latin typeface="Arial" pitchFamily="34" charset="0"/>
                <a:ea typeface="Arial" pitchFamily="34" charset="-122"/>
                <a:cs typeface="Arial" pitchFamily="34" charset="-120"/>
              </a:rPr>
              <a:t>Chung, Y. W., Im, S., Kim, J. E., &amp; Yun, J. K. (2025). Artificial intelligence awareness, career resilience, job insecurity and behavioural outcomes. Australian Journal of Psychology, 77(1), Article 2559910.</a:t>
            </a:r>
            <a:endParaRPr lang="en-US" sz="1200" dirty="0"/>
          </a:p>
        </p:txBody>
      </p:sp>
      <p:sp>
        <p:nvSpPr>
          <p:cNvPr id="13" name="Text 11"/>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14" name="Text 12"/>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5</a:t>
            </a:r>
            <a:endParaRPr lang="he-IL"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שני מושגים: תחושת קוהרנטיות בעבודה ועיצוב תפקיד מבוסס צרכים</a:t>
            </a:r>
            <a:endParaRPr lang="he-IL" sz="3000" dirty="0"/>
          </a:p>
        </p:txBody>
      </p:sp>
      <p:sp>
        <p:nvSpPr>
          <p:cNvPr id="3" name="Shape 1"/>
          <p:cNvSpPr/>
          <p:nvPr/>
        </p:nvSpPr>
        <p:spPr>
          <a:xfrm>
            <a:off x="6263640" y="1280160"/>
            <a:ext cx="5376672"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6492240" y="1371600"/>
            <a:ext cx="4937760" cy="45720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תחושת קוהרנטיות בעבודה (Work-SOC)</a:t>
            </a:r>
            <a:endParaRPr lang="he-IL" sz="1700" dirty="0"/>
          </a:p>
        </p:txBody>
      </p:sp>
      <p:sp>
        <p:nvSpPr>
          <p:cNvPr id="5" name="Text 3"/>
          <p:cNvSpPr txBox="1"/>
          <p:nvPr/>
        </p:nvSpPr>
        <p:spPr>
          <a:xfrm>
            <a:off x="6492240" y="1828800"/>
            <a:ext cx="4937760" cy="640080"/>
          </a:xfrm>
          <a:prstGeom prst="rect">
            <a:avLst/>
          </a:prstGeom>
          <a:noFill/>
          <a:ln/>
        </p:spPr>
        <p:txBody>
          <a:bodyPr wrap="square" lIns="0" tIns="0" rIns="0" bIns="0" rtlCol="0" anchor="t"/>
          <a:lstStyle/>
          <a:p>
            <a:pPr rtl="1" algn="r" indent="0" marL="0">
              <a:buNone/>
            </a:pPr>
            <a:r>
              <a:rPr lang="he-IL" altLang="en-US" sz="1250" dirty="0">
                <a:solidFill>
                  <a:srgbClr val="6B7280"/>
                </a:solidFill>
                <a:latin typeface="Arial" pitchFamily="34" charset="0"/>
                <a:ea typeface="Arial" pitchFamily="34" charset="-122"/>
                <a:cs typeface="Arial" pitchFamily="34" charset="-120"/>
              </a:rPr>
              <a:t>מהגישה הסלוטוגנית של אנטונובסקי, כפי שמובאת במאמר: לא "למה חולים" אלא "איך נשארים בריאים למרות הלחץ"</a:t>
            </a:r>
            <a:endParaRPr lang="he-IL" sz="1250" dirty="0"/>
          </a:p>
        </p:txBody>
      </p:sp>
      <p:sp>
        <p:nvSpPr>
          <p:cNvPr id="6" name="Shape 4"/>
          <p:cNvSpPr/>
          <p:nvPr/>
        </p:nvSpPr>
        <p:spPr>
          <a:xfrm>
            <a:off x="6492240" y="2606040"/>
            <a:ext cx="4937760" cy="1005840"/>
          </a:xfrm>
          <a:prstGeom prst="roundRect">
            <a:avLst>
              <a:gd name="adj" fmla="val 10909"/>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7" name="Shape 5"/>
          <p:cNvSpPr/>
          <p:nvPr/>
        </p:nvSpPr>
        <p:spPr>
          <a:xfrm>
            <a:off x="10835640" y="2880360"/>
            <a:ext cx="457200" cy="457200"/>
          </a:xfrm>
          <a:prstGeom prst="ellipse">
            <a:avLst/>
          </a:prstGeom>
          <a:solidFill>
            <a:srgbClr val="2A9D8F"/>
          </a:solidFill>
          <a:ln w="12700">
            <a:solidFill>
              <a:srgbClr val="2A9D8F"/>
            </a:solidFill>
            <a:prstDash val="solid"/>
          </a:ln>
        </p:spPr>
      </p:sp>
      <p:sp>
        <p:nvSpPr>
          <p:cNvPr id="8" name="Text 6"/>
          <p:cNvSpPr txBox="1"/>
          <p:nvPr/>
        </p:nvSpPr>
        <p:spPr>
          <a:xfrm>
            <a:off x="6675120" y="2697480"/>
            <a:ext cx="4023360" cy="411480"/>
          </a:xfrm>
          <a:prstGeom prst="rect">
            <a:avLst/>
          </a:prstGeom>
          <a:noFill/>
          <a:ln/>
        </p:spPr>
        <p:txBody>
          <a:bodyPr wrap="square" lIns="0" tIns="0" rIns="0" bIns="0" rtlCol="0" anchor="t"/>
          <a:lstStyle/>
          <a:p>
            <a:pPr rtl="1" algn="r" indent="0" marL="0">
              <a:buNone/>
            </a:pPr>
            <a:r>
              <a:rPr lang="he-IL" altLang="en-US" sz="1600" b="1" dirty="0">
                <a:solidFill>
                  <a:srgbClr val="14213D"/>
                </a:solidFill>
                <a:latin typeface="Arial" pitchFamily="34" charset="0"/>
                <a:ea typeface="Arial" pitchFamily="34" charset="-122"/>
                <a:cs typeface="Arial" pitchFamily="34" charset="-120"/>
              </a:rPr>
              <a:t>מובנות</a:t>
            </a:r>
            <a:endParaRPr lang="he-IL" sz="1600" dirty="0"/>
          </a:p>
        </p:txBody>
      </p:sp>
      <p:sp>
        <p:nvSpPr>
          <p:cNvPr id="9" name="Text 7"/>
          <p:cNvSpPr txBox="1"/>
          <p:nvPr/>
        </p:nvSpPr>
        <p:spPr>
          <a:xfrm>
            <a:off x="6675120" y="3108960"/>
            <a:ext cx="4023360" cy="457200"/>
          </a:xfrm>
          <a:prstGeom prst="rect">
            <a:avLst/>
          </a:prstGeom>
          <a:noFill/>
          <a:ln/>
        </p:spPr>
        <p:txBody>
          <a:bodyPr wrap="square" lIns="0" tIns="0" rIns="0" bIns="0" rtlCol="0" anchor="t"/>
          <a:lstStyle/>
          <a:p>
            <a:pPr rtl="1" algn="r" indent="0" marL="0">
              <a:buNone/>
            </a:pPr>
            <a:r>
              <a:rPr lang="he-IL" altLang="en-US" sz="1200" dirty="0">
                <a:solidFill>
                  <a:srgbClr val="1F2937"/>
                </a:solidFill>
                <a:latin typeface="Arial" pitchFamily="34" charset="0"/>
                <a:ea typeface="Arial" pitchFamily="34" charset="-122"/>
                <a:cs typeface="Arial" pitchFamily="34" charset="-120"/>
              </a:rPr>
              <a:t>העבודה מובנית, עקבית וברורה (קוגניטיבי)</a:t>
            </a:r>
            <a:endParaRPr lang="he-IL" sz="1200" dirty="0"/>
          </a:p>
        </p:txBody>
      </p:sp>
      <p:sp>
        <p:nvSpPr>
          <p:cNvPr id="10" name="Shape 8"/>
          <p:cNvSpPr/>
          <p:nvPr/>
        </p:nvSpPr>
        <p:spPr>
          <a:xfrm>
            <a:off x="6492240" y="3794760"/>
            <a:ext cx="4937760" cy="1005840"/>
          </a:xfrm>
          <a:prstGeom prst="roundRect">
            <a:avLst>
              <a:gd name="adj" fmla="val 10909"/>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11" name="Shape 9"/>
          <p:cNvSpPr/>
          <p:nvPr/>
        </p:nvSpPr>
        <p:spPr>
          <a:xfrm>
            <a:off x="10835640" y="4069080"/>
            <a:ext cx="457200" cy="457200"/>
          </a:xfrm>
          <a:prstGeom prst="ellipse">
            <a:avLst/>
          </a:prstGeom>
          <a:solidFill>
            <a:srgbClr val="FCA311"/>
          </a:solidFill>
          <a:ln w="12700">
            <a:solidFill>
              <a:srgbClr val="FCA311"/>
            </a:solidFill>
            <a:prstDash val="solid"/>
          </a:ln>
        </p:spPr>
      </p:sp>
      <p:sp>
        <p:nvSpPr>
          <p:cNvPr id="12" name="Text 10"/>
          <p:cNvSpPr txBox="1"/>
          <p:nvPr/>
        </p:nvSpPr>
        <p:spPr>
          <a:xfrm>
            <a:off x="6675120" y="3886200"/>
            <a:ext cx="4023360" cy="411480"/>
          </a:xfrm>
          <a:prstGeom prst="rect">
            <a:avLst/>
          </a:prstGeom>
          <a:noFill/>
          <a:ln/>
        </p:spPr>
        <p:txBody>
          <a:bodyPr wrap="square" lIns="0" tIns="0" rIns="0" bIns="0" rtlCol="0" anchor="t"/>
          <a:lstStyle/>
          <a:p>
            <a:pPr rtl="1" algn="r" indent="0" marL="0">
              <a:buNone/>
            </a:pPr>
            <a:r>
              <a:rPr lang="he-IL" altLang="en-US" sz="1600" b="1" dirty="0">
                <a:solidFill>
                  <a:srgbClr val="14213D"/>
                </a:solidFill>
                <a:latin typeface="Arial" pitchFamily="34" charset="0"/>
                <a:ea typeface="Arial" pitchFamily="34" charset="-122"/>
                <a:cs typeface="Arial" pitchFamily="34" charset="-120"/>
              </a:rPr>
              <a:t>ניהוליות</a:t>
            </a:r>
            <a:endParaRPr lang="he-IL" sz="1600" dirty="0"/>
          </a:p>
        </p:txBody>
      </p:sp>
      <p:sp>
        <p:nvSpPr>
          <p:cNvPr id="13" name="Text 11"/>
          <p:cNvSpPr txBox="1"/>
          <p:nvPr/>
        </p:nvSpPr>
        <p:spPr>
          <a:xfrm>
            <a:off x="6675120" y="4297680"/>
            <a:ext cx="4023360" cy="457200"/>
          </a:xfrm>
          <a:prstGeom prst="rect">
            <a:avLst/>
          </a:prstGeom>
          <a:noFill/>
          <a:ln/>
        </p:spPr>
        <p:txBody>
          <a:bodyPr wrap="square" lIns="0" tIns="0" rIns="0" bIns="0" rtlCol="0" anchor="t"/>
          <a:lstStyle/>
          <a:p>
            <a:pPr rtl="1" algn="r" indent="0" marL="0">
              <a:buNone/>
            </a:pPr>
            <a:r>
              <a:rPr lang="he-IL" altLang="en-US" sz="1200" dirty="0">
                <a:solidFill>
                  <a:srgbClr val="1F2937"/>
                </a:solidFill>
                <a:latin typeface="Arial" pitchFamily="34" charset="0"/>
                <a:ea typeface="Arial" pitchFamily="34" charset="-122"/>
                <a:cs typeface="Arial" pitchFamily="34" charset="-120"/>
              </a:rPr>
              <a:t>יש לי משאבים מספיקים לדרישות (התנהגותי)</a:t>
            </a:r>
            <a:endParaRPr lang="he-IL" sz="1200" dirty="0"/>
          </a:p>
        </p:txBody>
      </p:sp>
      <p:sp>
        <p:nvSpPr>
          <p:cNvPr id="14" name="Shape 12"/>
          <p:cNvSpPr/>
          <p:nvPr/>
        </p:nvSpPr>
        <p:spPr>
          <a:xfrm>
            <a:off x="6492240" y="4983480"/>
            <a:ext cx="4937760" cy="1005840"/>
          </a:xfrm>
          <a:prstGeom prst="roundRect">
            <a:avLst>
              <a:gd name="adj" fmla="val 10909"/>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15" name="Shape 13"/>
          <p:cNvSpPr/>
          <p:nvPr/>
        </p:nvSpPr>
        <p:spPr>
          <a:xfrm>
            <a:off x="10835640" y="5257800"/>
            <a:ext cx="457200" cy="457200"/>
          </a:xfrm>
          <a:prstGeom prst="ellipse">
            <a:avLst/>
          </a:prstGeom>
          <a:solidFill>
            <a:srgbClr val="E76F51"/>
          </a:solidFill>
          <a:ln w="12700">
            <a:solidFill>
              <a:srgbClr val="E76F51"/>
            </a:solidFill>
            <a:prstDash val="solid"/>
          </a:ln>
        </p:spPr>
      </p:sp>
      <p:sp>
        <p:nvSpPr>
          <p:cNvPr id="16" name="Text 14"/>
          <p:cNvSpPr txBox="1"/>
          <p:nvPr/>
        </p:nvSpPr>
        <p:spPr>
          <a:xfrm>
            <a:off x="6675120" y="5074920"/>
            <a:ext cx="4023360" cy="411480"/>
          </a:xfrm>
          <a:prstGeom prst="rect">
            <a:avLst/>
          </a:prstGeom>
          <a:noFill/>
          <a:ln/>
        </p:spPr>
        <p:txBody>
          <a:bodyPr wrap="square" lIns="0" tIns="0" rIns="0" bIns="0" rtlCol="0" anchor="t"/>
          <a:lstStyle/>
          <a:p>
            <a:pPr rtl="1" algn="r" indent="0" marL="0">
              <a:buNone/>
            </a:pPr>
            <a:r>
              <a:rPr lang="he-IL" altLang="en-US" sz="1600" b="1" dirty="0">
                <a:solidFill>
                  <a:srgbClr val="14213D"/>
                </a:solidFill>
                <a:latin typeface="Arial" pitchFamily="34" charset="0"/>
                <a:ea typeface="Arial" pitchFamily="34" charset="-122"/>
                <a:cs typeface="Arial" pitchFamily="34" charset="-120"/>
              </a:rPr>
              <a:t>משמעותיות</a:t>
            </a:r>
            <a:endParaRPr lang="he-IL" sz="1600" dirty="0"/>
          </a:p>
        </p:txBody>
      </p:sp>
      <p:sp>
        <p:nvSpPr>
          <p:cNvPr id="17" name="Text 15"/>
          <p:cNvSpPr txBox="1"/>
          <p:nvPr/>
        </p:nvSpPr>
        <p:spPr>
          <a:xfrm>
            <a:off x="6675120" y="5486400"/>
            <a:ext cx="4023360" cy="457200"/>
          </a:xfrm>
          <a:prstGeom prst="rect">
            <a:avLst/>
          </a:prstGeom>
          <a:noFill/>
          <a:ln/>
        </p:spPr>
        <p:txBody>
          <a:bodyPr wrap="square" lIns="0" tIns="0" rIns="0" bIns="0" rtlCol="0" anchor="t"/>
          <a:lstStyle/>
          <a:p>
            <a:pPr rtl="1" algn="r" indent="0" marL="0">
              <a:buNone/>
            </a:pPr>
            <a:r>
              <a:rPr lang="he-IL" altLang="en-US" sz="1200" dirty="0">
                <a:solidFill>
                  <a:srgbClr val="1F2937"/>
                </a:solidFill>
                <a:latin typeface="Arial" pitchFamily="34" charset="0"/>
                <a:ea typeface="Arial" pitchFamily="34" charset="-122"/>
                <a:cs typeface="Arial" pitchFamily="34" charset="-120"/>
              </a:rPr>
              <a:t>העבודה ראויה למחויבות ולמעורבות (מוטיבציוני)</a:t>
            </a:r>
            <a:endParaRPr lang="he-IL" sz="1200" dirty="0"/>
          </a:p>
        </p:txBody>
      </p:sp>
      <p:sp>
        <p:nvSpPr>
          <p:cNvPr id="18" name="Shape 16"/>
          <p:cNvSpPr/>
          <p:nvPr/>
        </p:nvSpPr>
        <p:spPr>
          <a:xfrm>
            <a:off x="548640" y="1280160"/>
            <a:ext cx="5376672"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9" name="Text 17"/>
          <p:cNvSpPr txBox="1"/>
          <p:nvPr/>
        </p:nvSpPr>
        <p:spPr>
          <a:xfrm>
            <a:off x="777240" y="1371600"/>
            <a:ext cx="4937760" cy="45720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עיצוב תפקיד מבוסס צרכים (NJC)</a:t>
            </a:r>
            <a:endParaRPr lang="he-IL" sz="1700" dirty="0"/>
          </a:p>
        </p:txBody>
      </p:sp>
      <p:sp>
        <p:nvSpPr>
          <p:cNvPr id="20" name="Text 18"/>
          <p:cNvSpPr txBox="1"/>
          <p:nvPr/>
        </p:nvSpPr>
        <p:spPr>
          <a:xfrm>
            <a:off x="777240" y="1828800"/>
            <a:ext cx="4937760" cy="640080"/>
          </a:xfrm>
          <a:prstGeom prst="rect">
            <a:avLst/>
          </a:prstGeom>
          <a:noFill/>
          <a:ln/>
        </p:spPr>
        <p:txBody>
          <a:bodyPr wrap="square" lIns="0" tIns="0" rIns="0" bIns="0" rtlCol="0" anchor="t"/>
          <a:lstStyle/>
          <a:p>
            <a:pPr rtl="1" algn="r" indent="0" marL="0">
              <a:buNone/>
            </a:pPr>
            <a:r>
              <a:rPr lang="he-IL" altLang="en-US" sz="1250" dirty="0">
                <a:solidFill>
                  <a:srgbClr val="6B7280"/>
                </a:solidFill>
                <a:latin typeface="Arial" pitchFamily="34" charset="0"/>
                <a:ea typeface="Arial" pitchFamily="34" charset="-122"/>
                <a:cs typeface="Arial" pitchFamily="34" charset="-120"/>
              </a:rPr>
              <a:t>מאמצים יזומים של העובד לספק שישה צרכים פסיכולוגיים בעבודה (DRAMMA)</a:t>
            </a:r>
            <a:endParaRPr lang="he-IL" sz="1250" dirty="0"/>
          </a:p>
        </p:txBody>
      </p:sp>
      <p:sp>
        <p:nvSpPr>
          <p:cNvPr id="21" name="Text 19"/>
          <p:cNvSpPr txBox="1"/>
          <p:nvPr/>
        </p:nvSpPr>
        <p:spPr>
          <a:xfrm>
            <a:off x="777240" y="2606040"/>
            <a:ext cx="493776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צרכי התקרבות: לייצר מצבים חיוביים וצמיחה</a:t>
            </a:r>
            <a:endParaRPr lang="he-IL" sz="1300" dirty="0"/>
          </a:p>
        </p:txBody>
      </p:sp>
      <p:sp>
        <p:nvSpPr>
          <p:cNvPr id="22" name="Shape 20"/>
          <p:cNvSpPr/>
          <p:nvPr/>
        </p:nvSpPr>
        <p:spPr>
          <a:xfrm>
            <a:off x="4507992" y="3017520"/>
            <a:ext cx="1115568" cy="548640"/>
          </a:xfrm>
          <a:prstGeom prst="roundRect">
            <a:avLst>
              <a:gd name="adj" fmla="val 16667"/>
            </a:avLst>
          </a:prstGeom>
          <a:solidFill>
            <a:srgbClr val="2A9D8F"/>
          </a:solidFill>
          <a:ln w="12700">
            <a:solidFill>
              <a:srgbClr val="2A9D8F"/>
            </a:solidFill>
            <a:prstDash val="solid"/>
          </a:ln>
        </p:spPr>
      </p:sp>
      <p:sp>
        <p:nvSpPr>
          <p:cNvPr id="23" name="Text 21"/>
          <p:cNvSpPr txBox="1"/>
          <p:nvPr/>
        </p:nvSpPr>
        <p:spPr>
          <a:xfrm>
            <a:off x="4507992" y="3017520"/>
            <a:ext cx="1115568" cy="548640"/>
          </a:xfrm>
          <a:prstGeom prst="rect">
            <a:avLst/>
          </a:prstGeom>
          <a:noFill/>
          <a:ln/>
        </p:spPr>
        <p:txBody>
          <a:bodyPr wrap="square" lIns="0" tIns="0" rIns="0" bIns="0" rtlCol="0" anchor="ctr"/>
          <a:lstStyle/>
          <a:p>
            <a:pPr rtl="1" algn="ctr" indent="0" marL="0">
              <a:buNone/>
            </a:pPr>
            <a:r>
              <a:rPr lang="he-IL" altLang="en-US" sz="1300" b="1" dirty="0">
                <a:solidFill>
                  <a:srgbClr val="FFFFFF"/>
                </a:solidFill>
                <a:latin typeface="Arial" pitchFamily="34" charset="0"/>
                <a:ea typeface="Arial" pitchFamily="34" charset="-122"/>
                <a:cs typeface="Arial" pitchFamily="34" charset="-120"/>
              </a:rPr>
              <a:t>אוטונומיה</a:t>
            </a:r>
            <a:endParaRPr lang="he-IL" sz="1300" dirty="0"/>
          </a:p>
        </p:txBody>
      </p:sp>
      <p:sp>
        <p:nvSpPr>
          <p:cNvPr id="24" name="Shape 22"/>
          <p:cNvSpPr/>
          <p:nvPr/>
        </p:nvSpPr>
        <p:spPr>
          <a:xfrm>
            <a:off x="3300984" y="3017520"/>
            <a:ext cx="1115568" cy="548640"/>
          </a:xfrm>
          <a:prstGeom prst="roundRect">
            <a:avLst>
              <a:gd name="adj" fmla="val 16667"/>
            </a:avLst>
          </a:prstGeom>
          <a:solidFill>
            <a:srgbClr val="2A9D8F"/>
          </a:solidFill>
          <a:ln w="12700">
            <a:solidFill>
              <a:srgbClr val="2A9D8F"/>
            </a:solidFill>
            <a:prstDash val="solid"/>
          </a:ln>
        </p:spPr>
      </p:sp>
      <p:sp>
        <p:nvSpPr>
          <p:cNvPr id="25" name="Text 23"/>
          <p:cNvSpPr txBox="1"/>
          <p:nvPr/>
        </p:nvSpPr>
        <p:spPr>
          <a:xfrm>
            <a:off x="3300984" y="3017520"/>
            <a:ext cx="1115568" cy="548640"/>
          </a:xfrm>
          <a:prstGeom prst="rect">
            <a:avLst/>
          </a:prstGeom>
          <a:noFill/>
          <a:ln/>
        </p:spPr>
        <p:txBody>
          <a:bodyPr wrap="square" lIns="0" tIns="0" rIns="0" bIns="0" rtlCol="0" anchor="ctr"/>
          <a:lstStyle/>
          <a:p>
            <a:pPr rtl="1" algn="ctr" indent="0" marL="0">
              <a:buNone/>
            </a:pPr>
            <a:r>
              <a:rPr lang="he-IL" altLang="en-US" sz="1300" b="1" dirty="0">
                <a:solidFill>
                  <a:srgbClr val="FFFFFF"/>
                </a:solidFill>
                <a:latin typeface="Arial" pitchFamily="34" charset="0"/>
                <a:ea typeface="Arial" pitchFamily="34" charset="-122"/>
                <a:cs typeface="Arial" pitchFamily="34" charset="-120"/>
              </a:rPr>
              <a:t>מיומנות</a:t>
            </a:r>
            <a:endParaRPr lang="he-IL" sz="1300" dirty="0"/>
          </a:p>
        </p:txBody>
      </p:sp>
      <p:sp>
        <p:nvSpPr>
          <p:cNvPr id="26" name="Shape 24"/>
          <p:cNvSpPr/>
          <p:nvPr/>
        </p:nvSpPr>
        <p:spPr>
          <a:xfrm>
            <a:off x="2093976" y="3017520"/>
            <a:ext cx="1115568" cy="548640"/>
          </a:xfrm>
          <a:prstGeom prst="roundRect">
            <a:avLst>
              <a:gd name="adj" fmla="val 16667"/>
            </a:avLst>
          </a:prstGeom>
          <a:solidFill>
            <a:srgbClr val="2A9D8F"/>
          </a:solidFill>
          <a:ln w="12700">
            <a:solidFill>
              <a:srgbClr val="2A9D8F"/>
            </a:solidFill>
            <a:prstDash val="solid"/>
          </a:ln>
        </p:spPr>
      </p:sp>
      <p:sp>
        <p:nvSpPr>
          <p:cNvPr id="27" name="Text 25"/>
          <p:cNvSpPr txBox="1"/>
          <p:nvPr/>
        </p:nvSpPr>
        <p:spPr>
          <a:xfrm>
            <a:off x="2093976" y="3017520"/>
            <a:ext cx="1115568" cy="548640"/>
          </a:xfrm>
          <a:prstGeom prst="rect">
            <a:avLst/>
          </a:prstGeom>
          <a:noFill/>
          <a:ln/>
        </p:spPr>
        <p:txBody>
          <a:bodyPr wrap="square" lIns="0" tIns="0" rIns="0" bIns="0" rtlCol="0" anchor="ctr"/>
          <a:lstStyle/>
          <a:p>
            <a:pPr rtl="1" algn="ctr" indent="0" marL="0">
              <a:buNone/>
            </a:pPr>
            <a:r>
              <a:rPr lang="he-IL" altLang="en-US" sz="1300" b="1" dirty="0">
                <a:solidFill>
                  <a:srgbClr val="FFFFFF"/>
                </a:solidFill>
                <a:latin typeface="Arial" pitchFamily="34" charset="0"/>
                <a:ea typeface="Arial" pitchFamily="34" charset="-122"/>
                <a:cs typeface="Arial" pitchFamily="34" charset="-120"/>
              </a:rPr>
              <a:t>משמעות</a:t>
            </a:r>
            <a:endParaRPr lang="he-IL" sz="1300" dirty="0"/>
          </a:p>
        </p:txBody>
      </p:sp>
      <p:sp>
        <p:nvSpPr>
          <p:cNvPr id="28" name="Shape 26"/>
          <p:cNvSpPr/>
          <p:nvPr/>
        </p:nvSpPr>
        <p:spPr>
          <a:xfrm>
            <a:off x="886968" y="3017520"/>
            <a:ext cx="1115568" cy="548640"/>
          </a:xfrm>
          <a:prstGeom prst="roundRect">
            <a:avLst>
              <a:gd name="adj" fmla="val 16667"/>
            </a:avLst>
          </a:prstGeom>
          <a:solidFill>
            <a:srgbClr val="2A9D8F"/>
          </a:solidFill>
          <a:ln w="12700">
            <a:solidFill>
              <a:srgbClr val="2A9D8F"/>
            </a:solidFill>
            <a:prstDash val="solid"/>
          </a:ln>
        </p:spPr>
      </p:sp>
      <p:sp>
        <p:nvSpPr>
          <p:cNvPr id="29" name="Text 27"/>
          <p:cNvSpPr txBox="1"/>
          <p:nvPr/>
        </p:nvSpPr>
        <p:spPr>
          <a:xfrm>
            <a:off x="886968" y="3017520"/>
            <a:ext cx="1115568" cy="548640"/>
          </a:xfrm>
          <a:prstGeom prst="rect">
            <a:avLst/>
          </a:prstGeom>
          <a:noFill/>
          <a:ln/>
        </p:spPr>
        <p:txBody>
          <a:bodyPr wrap="square" lIns="0" tIns="0" rIns="0" bIns="0" rtlCol="0" anchor="ctr"/>
          <a:lstStyle/>
          <a:p>
            <a:pPr rtl="1" algn="ctr" indent="0" marL="0">
              <a:buNone/>
            </a:pPr>
            <a:r>
              <a:rPr lang="he-IL" altLang="en-US" sz="1300" b="1" dirty="0">
                <a:solidFill>
                  <a:srgbClr val="FFFFFF"/>
                </a:solidFill>
                <a:latin typeface="Arial" pitchFamily="34" charset="0"/>
                <a:ea typeface="Arial" pitchFamily="34" charset="-122"/>
                <a:cs typeface="Arial" pitchFamily="34" charset="-120"/>
              </a:rPr>
              <a:t>שייכות</a:t>
            </a:r>
            <a:endParaRPr lang="he-IL" sz="1300" dirty="0"/>
          </a:p>
        </p:txBody>
      </p:sp>
      <p:sp>
        <p:nvSpPr>
          <p:cNvPr id="30" name="Text 28"/>
          <p:cNvSpPr txBox="1"/>
          <p:nvPr/>
        </p:nvSpPr>
        <p:spPr>
          <a:xfrm>
            <a:off x="777240" y="3840480"/>
            <a:ext cx="4937760" cy="365760"/>
          </a:xfrm>
          <a:prstGeom prst="rect">
            <a:avLst/>
          </a:prstGeom>
          <a:noFill/>
          <a:ln/>
        </p:spPr>
        <p:txBody>
          <a:bodyPr wrap="square" lIns="0" tIns="0" rIns="0" bIns="0" rtlCol="0" anchor="t"/>
          <a:lstStyle/>
          <a:p>
            <a:pPr rtl="1" algn="r" indent="0" marL="0">
              <a:buNone/>
            </a:pPr>
            <a:r>
              <a:rPr lang="he-IL" altLang="en-US" sz="1300" b="1" dirty="0">
                <a:solidFill>
                  <a:srgbClr val="D9822B"/>
                </a:solidFill>
                <a:latin typeface="Arial" pitchFamily="34" charset="0"/>
                <a:ea typeface="Arial" pitchFamily="34" charset="-122"/>
                <a:cs typeface="Arial" pitchFamily="34" charset="-120"/>
              </a:rPr>
              <a:t>צרכי הימנעות: להפחית מאמץ ולהשיב אנרגיה</a:t>
            </a:r>
            <a:endParaRPr lang="he-IL" sz="1300" dirty="0"/>
          </a:p>
        </p:txBody>
      </p:sp>
      <p:sp>
        <p:nvSpPr>
          <p:cNvPr id="31" name="Shape 29"/>
          <p:cNvSpPr/>
          <p:nvPr/>
        </p:nvSpPr>
        <p:spPr>
          <a:xfrm>
            <a:off x="4507992" y="4251960"/>
            <a:ext cx="1115568" cy="548640"/>
          </a:xfrm>
          <a:prstGeom prst="roundRect">
            <a:avLst>
              <a:gd name="adj" fmla="val 16667"/>
            </a:avLst>
          </a:prstGeom>
          <a:solidFill>
            <a:srgbClr val="D9822B"/>
          </a:solidFill>
          <a:ln w="12700">
            <a:solidFill>
              <a:srgbClr val="D9822B"/>
            </a:solidFill>
            <a:prstDash val="solid"/>
          </a:ln>
        </p:spPr>
      </p:sp>
      <p:sp>
        <p:nvSpPr>
          <p:cNvPr id="32" name="Text 30"/>
          <p:cNvSpPr txBox="1"/>
          <p:nvPr/>
        </p:nvSpPr>
        <p:spPr>
          <a:xfrm>
            <a:off x="4507992" y="4251960"/>
            <a:ext cx="1115568" cy="548640"/>
          </a:xfrm>
          <a:prstGeom prst="rect">
            <a:avLst/>
          </a:prstGeom>
          <a:noFill/>
          <a:ln/>
        </p:spPr>
        <p:txBody>
          <a:bodyPr wrap="square" lIns="0" tIns="0" rIns="0" bIns="0" rtlCol="0" anchor="ctr"/>
          <a:lstStyle/>
          <a:p>
            <a:pPr rtl="1" algn="ctr" indent="0" marL="0">
              <a:buNone/>
            </a:pPr>
            <a:r>
              <a:rPr lang="he-IL" altLang="en-US" sz="1300" b="1" dirty="0">
                <a:solidFill>
                  <a:srgbClr val="FFFFFF"/>
                </a:solidFill>
                <a:latin typeface="Arial" pitchFamily="34" charset="0"/>
                <a:ea typeface="Arial" pitchFamily="34" charset="-122"/>
                <a:cs typeface="Arial" pitchFamily="34" charset="-120"/>
              </a:rPr>
              <a:t>ניתוק</a:t>
            </a:r>
            <a:endParaRPr lang="he-IL" sz="1300" dirty="0"/>
          </a:p>
        </p:txBody>
      </p:sp>
      <p:sp>
        <p:nvSpPr>
          <p:cNvPr id="33" name="Shape 31"/>
          <p:cNvSpPr/>
          <p:nvPr/>
        </p:nvSpPr>
        <p:spPr>
          <a:xfrm>
            <a:off x="3300984" y="4251960"/>
            <a:ext cx="1115568" cy="548640"/>
          </a:xfrm>
          <a:prstGeom prst="roundRect">
            <a:avLst>
              <a:gd name="adj" fmla="val 16667"/>
            </a:avLst>
          </a:prstGeom>
          <a:solidFill>
            <a:srgbClr val="D9822B"/>
          </a:solidFill>
          <a:ln w="12700">
            <a:solidFill>
              <a:srgbClr val="D9822B"/>
            </a:solidFill>
            <a:prstDash val="solid"/>
          </a:ln>
        </p:spPr>
      </p:sp>
      <p:sp>
        <p:nvSpPr>
          <p:cNvPr id="34" name="Text 32"/>
          <p:cNvSpPr txBox="1"/>
          <p:nvPr/>
        </p:nvSpPr>
        <p:spPr>
          <a:xfrm>
            <a:off x="3300984" y="4251960"/>
            <a:ext cx="1115568" cy="548640"/>
          </a:xfrm>
          <a:prstGeom prst="rect">
            <a:avLst/>
          </a:prstGeom>
          <a:noFill/>
          <a:ln/>
        </p:spPr>
        <p:txBody>
          <a:bodyPr wrap="square" lIns="0" tIns="0" rIns="0" bIns="0" rtlCol="0" anchor="ctr"/>
          <a:lstStyle/>
          <a:p>
            <a:pPr rtl="1" algn="ctr" indent="0" marL="0">
              <a:buNone/>
            </a:pPr>
            <a:r>
              <a:rPr lang="he-IL" altLang="en-US" sz="1300" b="1" dirty="0">
                <a:solidFill>
                  <a:srgbClr val="FFFFFF"/>
                </a:solidFill>
                <a:latin typeface="Arial" pitchFamily="34" charset="0"/>
                <a:ea typeface="Arial" pitchFamily="34" charset="-122"/>
                <a:cs typeface="Arial" pitchFamily="34" charset="-120"/>
              </a:rPr>
              <a:t>הרפיה</a:t>
            </a:r>
            <a:endParaRPr lang="he-IL" sz="1300" dirty="0"/>
          </a:p>
        </p:txBody>
      </p:sp>
      <p:sp>
        <p:nvSpPr>
          <p:cNvPr id="35" name="Text 33"/>
          <p:cNvSpPr txBox="1"/>
          <p:nvPr/>
        </p:nvSpPr>
        <p:spPr>
          <a:xfrm>
            <a:off x="777240" y="5029200"/>
            <a:ext cx="4937760" cy="1097280"/>
          </a:xfrm>
          <a:prstGeom prst="rect">
            <a:avLst/>
          </a:prstGeom>
          <a:noFill/>
          <a:ln/>
        </p:spPr>
        <p:txBody>
          <a:bodyPr wrap="square" lIns="0" tIns="0" rIns="0" bIns="0" rtlCol="0" anchor="t"/>
          <a:lstStyle/>
          <a:p>
            <a:pPr rtl="1" algn="r" indent="0" marL="0">
              <a:buNone/>
            </a:pPr>
            <a:r>
              <a:rPr lang="he-IL" altLang="en-US" sz="1200" i="1" dirty="0">
                <a:solidFill>
                  <a:srgbClr val="1F2937"/>
                </a:solidFill>
                <a:latin typeface="Arial" pitchFamily="34" charset="0"/>
                <a:ea typeface="Arial" pitchFamily="34" charset="-122"/>
                <a:cs typeface="Arial" pitchFamily="34" charset="-120"/>
              </a:rPr>
              <a:t>דוגמה לפריט: "תכננתי את עבודתי כך שאחווה שליטה"; "ארגנתי את עבודתי כך שאשיג תחושת תכלית במה שאני עושה"</a:t>
            </a:r>
            <a:endParaRPr lang="he-IL" sz="1200" dirty="0"/>
          </a:p>
        </p:txBody>
      </p:sp>
      <p:sp>
        <p:nvSpPr>
          <p:cNvPr id="36" name="Text 34"/>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37" name="Text 35"/>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6</a:t>
            </a:r>
            <a:endParaRPr lang="he-IL"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הממצא: מה שאתם עושים בתפקיד משנה איך הוא נתפס חצי שנה אחר כך</a:t>
            </a:r>
            <a:endParaRPr lang="he-IL" sz="3000" dirty="0"/>
          </a:p>
        </p:txBody>
      </p:sp>
      <p:sp>
        <p:nvSpPr>
          <p:cNvPr id="3" name="Shape 1"/>
          <p:cNvSpPr/>
          <p:nvPr/>
        </p:nvSpPr>
        <p:spPr>
          <a:xfrm>
            <a:off x="8503920" y="2743200"/>
            <a:ext cx="3136392" cy="1371600"/>
          </a:xfrm>
          <a:prstGeom prst="roundRect">
            <a:avLst>
              <a:gd name="adj" fmla="val 8000"/>
            </a:avLst>
          </a:prstGeom>
          <a:solidFill>
            <a:srgbClr val="2A9D8F"/>
          </a:solidFill>
          <a:ln w="12700">
            <a:solidFill>
              <a:srgbClr val="2A9D8F"/>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8641080" y="2788920"/>
            <a:ext cx="2880360" cy="731520"/>
          </a:xfrm>
          <a:prstGeom prst="rect">
            <a:avLst/>
          </a:prstGeom>
          <a:noFill/>
          <a:ln/>
        </p:spPr>
        <p:txBody>
          <a:bodyPr wrap="square" lIns="0" tIns="0" rIns="0" bIns="0" rtlCol="0" anchor="ctr"/>
          <a:lstStyle/>
          <a:p>
            <a:pPr rtl="1" algn="ctr" indent="0" marL="0">
              <a:buNone/>
            </a:pPr>
            <a:r>
              <a:rPr lang="he-IL" altLang="en-US" sz="1500" b="1" dirty="0">
                <a:solidFill>
                  <a:srgbClr val="FFFFFF"/>
                </a:solidFill>
                <a:latin typeface="Arial" pitchFamily="34" charset="0"/>
                <a:ea typeface="Arial" pitchFamily="34" charset="-122"/>
                <a:cs typeface="Arial" pitchFamily="34" charset="-120"/>
              </a:rPr>
              <a:t>עיצוב תפקיד לצרכי התקרבות</a:t>
            </a:r>
            <a:endParaRPr lang="he-IL" sz="1500" dirty="0"/>
          </a:p>
        </p:txBody>
      </p:sp>
      <p:sp>
        <p:nvSpPr>
          <p:cNvPr id="5" name="Text 3"/>
          <p:cNvSpPr txBox="1"/>
          <p:nvPr/>
        </p:nvSpPr>
        <p:spPr>
          <a:xfrm>
            <a:off x="8641080" y="3474720"/>
            <a:ext cx="2880360" cy="548640"/>
          </a:xfrm>
          <a:prstGeom prst="rect">
            <a:avLst/>
          </a:prstGeom>
          <a:noFill/>
          <a:ln/>
        </p:spPr>
        <p:txBody>
          <a:bodyPr wrap="square" lIns="0" tIns="0" rIns="0" bIns="0" rtlCol="0" anchor="t"/>
          <a:lstStyle/>
          <a:p>
            <a:pPr rtl="1" algn="ctr" indent="0" marL="0">
              <a:buNone/>
            </a:pPr>
            <a:r>
              <a:rPr lang="he-IL" altLang="en-US" sz="1100" dirty="0">
                <a:solidFill>
                  <a:srgbClr val="E5F4F1"/>
                </a:solidFill>
                <a:latin typeface="Arial" pitchFamily="34" charset="0"/>
                <a:ea typeface="Arial" pitchFamily="34" charset="-122"/>
                <a:cs typeface="Arial" pitchFamily="34" charset="-120"/>
              </a:rPr>
              <a:t>אוטונומיה, מיומנות, משמעות, שייכות</a:t>
            </a:r>
            <a:endParaRPr lang="he-IL" sz="1100" dirty="0"/>
          </a:p>
        </p:txBody>
      </p:sp>
      <p:sp>
        <p:nvSpPr>
          <p:cNvPr id="6" name="Shape 4"/>
          <p:cNvSpPr/>
          <p:nvPr/>
        </p:nvSpPr>
        <p:spPr>
          <a:xfrm>
            <a:off x="8366760" y="1965960"/>
            <a:ext cx="0" cy="2926080"/>
          </a:xfrm>
          <a:prstGeom prst="line">
            <a:avLst/>
          </a:prstGeom>
          <a:noFill/>
          <a:ln w="38100">
            <a:solidFill>
              <a:srgbClr val="2A9D8F"/>
            </a:solidFill>
            <a:prstDash val="solid"/>
          </a:ln>
        </p:spPr>
      </p:sp>
      <p:sp>
        <p:nvSpPr>
          <p:cNvPr id="7" name="Shape 5"/>
          <p:cNvSpPr/>
          <p:nvPr/>
        </p:nvSpPr>
        <p:spPr>
          <a:xfrm>
            <a:off x="8366760" y="3429000"/>
            <a:ext cx="137160" cy="0"/>
          </a:xfrm>
          <a:prstGeom prst="line">
            <a:avLst/>
          </a:prstGeom>
          <a:noFill/>
          <a:ln w="38100">
            <a:solidFill>
              <a:srgbClr val="2A9D8F"/>
            </a:solidFill>
            <a:prstDash val="solid"/>
          </a:ln>
        </p:spPr>
      </p:sp>
      <p:sp>
        <p:nvSpPr>
          <p:cNvPr id="8" name="Shape 6"/>
          <p:cNvSpPr/>
          <p:nvPr/>
        </p:nvSpPr>
        <p:spPr>
          <a:xfrm>
            <a:off x="548640" y="1371600"/>
            <a:ext cx="3108960" cy="1188720"/>
          </a:xfrm>
          <a:prstGeom prst="roundRect">
            <a:avLst>
              <a:gd name="adj" fmla="val 9231"/>
            </a:avLst>
          </a:prstGeom>
          <a:solidFill>
            <a:srgbClr val="2A9D8F"/>
          </a:solidFill>
          <a:ln w="12700">
            <a:solidFill>
              <a:srgbClr val="2A9D8F"/>
            </a:solidFill>
            <a:prstDash val="solid"/>
          </a:ln>
          <a:effectLst>
            <a:outerShdw sx="100000" sy="100000" kx="0" ky="0" algn="bl" rotWithShape="0" blurRad="50800" dist="25400" dir="5400000">
              <a:srgbClr val="000000">
                <a:alpha val="12000"/>
              </a:srgbClr>
            </a:outerShdw>
          </a:effectLst>
        </p:spPr>
      </p:sp>
      <p:sp>
        <p:nvSpPr>
          <p:cNvPr id="9" name="Text 7"/>
          <p:cNvSpPr txBox="1"/>
          <p:nvPr/>
        </p:nvSpPr>
        <p:spPr>
          <a:xfrm>
            <a:off x="685800" y="1463040"/>
            <a:ext cx="2834640" cy="548640"/>
          </a:xfrm>
          <a:prstGeom prst="rect">
            <a:avLst/>
          </a:prstGeom>
          <a:noFill/>
          <a:ln/>
        </p:spPr>
        <p:txBody>
          <a:bodyPr wrap="square" lIns="0" tIns="0" rIns="0" bIns="0" rtlCol="0" anchor="ctr"/>
          <a:lstStyle/>
          <a:p>
            <a:pPr rtl="1" algn="ctr" indent="0" marL="0">
              <a:buNone/>
            </a:pPr>
            <a:r>
              <a:rPr lang="he-IL" altLang="en-US" sz="1700" b="1" dirty="0">
                <a:solidFill>
                  <a:srgbClr val="FFFFFF"/>
                </a:solidFill>
                <a:latin typeface="Arial" pitchFamily="34" charset="0"/>
                <a:ea typeface="Arial" pitchFamily="34" charset="-122"/>
                <a:cs typeface="Arial" pitchFamily="34" charset="-120"/>
              </a:rPr>
              <a:t>מובנות</a:t>
            </a:r>
            <a:endParaRPr lang="he-IL" sz="1700" dirty="0"/>
          </a:p>
        </p:txBody>
      </p:sp>
      <p:sp>
        <p:nvSpPr>
          <p:cNvPr id="10" name="Text 8"/>
          <p:cNvSpPr txBox="1"/>
          <p:nvPr/>
        </p:nvSpPr>
        <p:spPr>
          <a:xfrm>
            <a:off x="685800" y="2011680"/>
            <a:ext cx="2834640" cy="45720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β = 0.142</a:t>
            </a:r>
            <a:endParaRPr lang="en-US" sz="1400" dirty="0"/>
          </a:p>
        </p:txBody>
      </p:sp>
      <p:sp>
        <p:nvSpPr>
          <p:cNvPr id="11" name="Shape 9"/>
          <p:cNvSpPr/>
          <p:nvPr/>
        </p:nvSpPr>
        <p:spPr>
          <a:xfrm>
            <a:off x="3840480" y="1737360"/>
            <a:ext cx="4526280" cy="457200"/>
          </a:xfrm>
          <a:prstGeom prst="leftArrow">
            <a:avLst/>
          </a:prstGeom>
          <a:solidFill>
            <a:srgbClr val="2A9D8F"/>
          </a:solidFill>
          <a:ln w="12700">
            <a:solidFill>
              <a:srgbClr val="2A9D8F"/>
            </a:solidFill>
            <a:prstDash val="solid"/>
          </a:ln>
        </p:spPr>
      </p:sp>
      <p:sp>
        <p:nvSpPr>
          <p:cNvPr id="12" name="Shape 10"/>
          <p:cNvSpPr/>
          <p:nvPr/>
        </p:nvSpPr>
        <p:spPr>
          <a:xfrm>
            <a:off x="548640" y="2834640"/>
            <a:ext cx="3108960" cy="1188720"/>
          </a:xfrm>
          <a:prstGeom prst="roundRect">
            <a:avLst>
              <a:gd name="adj" fmla="val 9231"/>
            </a:avLst>
          </a:prstGeom>
          <a:solidFill>
            <a:srgbClr val="FCA311"/>
          </a:solidFill>
          <a:ln w="12700">
            <a:solidFill>
              <a:srgbClr val="FCA311"/>
            </a:solidFill>
            <a:prstDash val="solid"/>
          </a:ln>
          <a:effectLst>
            <a:outerShdw sx="100000" sy="100000" kx="0" ky="0" algn="bl" rotWithShape="0" blurRad="50800" dist="25400" dir="5400000">
              <a:srgbClr val="000000">
                <a:alpha val="12000"/>
              </a:srgbClr>
            </a:outerShdw>
          </a:effectLst>
        </p:spPr>
      </p:sp>
      <p:sp>
        <p:nvSpPr>
          <p:cNvPr id="13" name="Text 11"/>
          <p:cNvSpPr txBox="1"/>
          <p:nvPr/>
        </p:nvSpPr>
        <p:spPr>
          <a:xfrm>
            <a:off x="685800" y="2926080"/>
            <a:ext cx="2834640" cy="548640"/>
          </a:xfrm>
          <a:prstGeom prst="rect">
            <a:avLst/>
          </a:prstGeom>
          <a:noFill/>
          <a:ln/>
        </p:spPr>
        <p:txBody>
          <a:bodyPr wrap="square" lIns="0" tIns="0" rIns="0" bIns="0" rtlCol="0" anchor="ctr"/>
          <a:lstStyle/>
          <a:p>
            <a:pPr rtl="1" algn="ctr" indent="0" marL="0">
              <a:buNone/>
            </a:pPr>
            <a:r>
              <a:rPr lang="he-IL" altLang="en-US" sz="1700" b="1" dirty="0">
                <a:solidFill>
                  <a:srgbClr val="FFFFFF"/>
                </a:solidFill>
                <a:latin typeface="Arial" pitchFamily="34" charset="0"/>
                <a:ea typeface="Arial" pitchFamily="34" charset="-122"/>
                <a:cs typeface="Arial" pitchFamily="34" charset="-120"/>
              </a:rPr>
              <a:t>ניהוליות</a:t>
            </a:r>
            <a:endParaRPr lang="he-IL" sz="1700" dirty="0"/>
          </a:p>
        </p:txBody>
      </p:sp>
      <p:sp>
        <p:nvSpPr>
          <p:cNvPr id="14" name="Text 12"/>
          <p:cNvSpPr txBox="1"/>
          <p:nvPr/>
        </p:nvSpPr>
        <p:spPr>
          <a:xfrm>
            <a:off x="685800" y="3474720"/>
            <a:ext cx="2834640" cy="45720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β = 0.137</a:t>
            </a:r>
            <a:endParaRPr lang="en-US" sz="1400" dirty="0"/>
          </a:p>
        </p:txBody>
      </p:sp>
      <p:sp>
        <p:nvSpPr>
          <p:cNvPr id="15" name="Shape 13"/>
          <p:cNvSpPr/>
          <p:nvPr/>
        </p:nvSpPr>
        <p:spPr>
          <a:xfrm>
            <a:off x="3840480" y="3200400"/>
            <a:ext cx="4526280" cy="457200"/>
          </a:xfrm>
          <a:prstGeom prst="leftArrow">
            <a:avLst/>
          </a:prstGeom>
          <a:solidFill>
            <a:srgbClr val="FCA311"/>
          </a:solidFill>
          <a:ln w="12700">
            <a:solidFill>
              <a:srgbClr val="FCA311"/>
            </a:solidFill>
            <a:prstDash val="solid"/>
          </a:ln>
        </p:spPr>
      </p:sp>
      <p:sp>
        <p:nvSpPr>
          <p:cNvPr id="16" name="Shape 14"/>
          <p:cNvSpPr/>
          <p:nvPr/>
        </p:nvSpPr>
        <p:spPr>
          <a:xfrm>
            <a:off x="548640" y="4297680"/>
            <a:ext cx="3108960" cy="1188720"/>
          </a:xfrm>
          <a:prstGeom prst="roundRect">
            <a:avLst>
              <a:gd name="adj" fmla="val 9231"/>
            </a:avLst>
          </a:prstGeom>
          <a:solidFill>
            <a:srgbClr val="E76F51"/>
          </a:solidFill>
          <a:ln w="12700">
            <a:solidFill>
              <a:srgbClr val="E76F51"/>
            </a:solidFill>
            <a:prstDash val="solid"/>
          </a:ln>
          <a:effectLst>
            <a:outerShdw sx="100000" sy="100000" kx="0" ky="0" algn="bl" rotWithShape="0" blurRad="50800" dist="25400" dir="5400000">
              <a:srgbClr val="000000">
                <a:alpha val="12000"/>
              </a:srgbClr>
            </a:outerShdw>
          </a:effectLst>
        </p:spPr>
      </p:sp>
      <p:sp>
        <p:nvSpPr>
          <p:cNvPr id="17" name="Text 15"/>
          <p:cNvSpPr txBox="1"/>
          <p:nvPr/>
        </p:nvSpPr>
        <p:spPr>
          <a:xfrm>
            <a:off x="685800" y="4389120"/>
            <a:ext cx="2834640" cy="548640"/>
          </a:xfrm>
          <a:prstGeom prst="rect">
            <a:avLst/>
          </a:prstGeom>
          <a:noFill/>
          <a:ln/>
        </p:spPr>
        <p:txBody>
          <a:bodyPr wrap="square" lIns="0" tIns="0" rIns="0" bIns="0" rtlCol="0" anchor="ctr"/>
          <a:lstStyle/>
          <a:p>
            <a:pPr rtl="1" algn="ctr" indent="0" marL="0">
              <a:buNone/>
            </a:pPr>
            <a:r>
              <a:rPr lang="he-IL" altLang="en-US" sz="1700" b="1" dirty="0">
                <a:solidFill>
                  <a:srgbClr val="FFFFFF"/>
                </a:solidFill>
                <a:latin typeface="Arial" pitchFamily="34" charset="0"/>
                <a:ea typeface="Arial" pitchFamily="34" charset="-122"/>
                <a:cs typeface="Arial" pitchFamily="34" charset="-120"/>
              </a:rPr>
              <a:t>משמעותיות</a:t>
            </a:r>
            <a:endParaRPr lang="he-IL" sz="1700" dirty="0"/>
          </a:p>
        </p:txBody>
      </p:sp>
      <p:sp>
        <p:nvSpPr>
          <p:cNvPr id="18" name="Text 16"/>
          <p:cNvSpPr txBox="1"/>
          <p:nvPr/>
        </p:nvSpPr>
        <p:spPr>
          <a:xfrm>
            <a:off x="685800" y="4937760"/>
            <a:ext cx="2834640" cy="45720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β = 0.166</a:t>
            </a:r>
            <a:endParaRPr lang="en-US" sz="1400" dirty="0"/>
          </a:p>
        </p:txBody>
      </p:sp>
      <p:sp>
        <p:nvSpPr>
          <p:cNvPr id="19" name="Shape 17"/>
          <p:cNvSpPr/>
          <p:nvPr/>
        </p:nvSpPr>
        <p:spPr>
          <a:xfrm>
            <a:off x="3840480" y="4663440"/>
            <a:ext cx="4526280" cy="457200"/>
          </a:xfrm>
          <a:prstGeom prst="leftArrow">
            <a:avLst/>
          </a:prstGeom>
          <a:solidFill>
            <a:srgbClr val="E76F51"/>
          </a:solidFill>
          <a:ln w="12700">
            <a:solidFill>
              <a:srgbClr val="E76F51"/>
            </a:solidFill>
            <a:prstDash val="solid"/>
          </a:ln>
        </p:spPr>
      </p:sp>
      <p:sp>
        <p:nvSpPr>
          <p:cNvPr id="20" name="Text 18"/>
          <p:cNvSpPr txBox="1"/>
          <p:nvPr/>
        </p:nvSpPr>
        <p:spPr>
          <a:xfrm>
            <a:off x="3840480" y="5074920"/>
            <a:ext cx="4526280" cy="365760"/>
          </a:xfrm>
          <a:prstGeom prst="rect">
            <a:avLst/>
          </a:prstGeom>
          <a:noFill/>
          <a:ln/>
        </p:spPr>
        <p:txBody>
          <a:bodyPr wrap="square" lIns="0" tIns="0" rIns="0" bIns="0" rtlCol="0" anchor="t"/>
          <a:lstStyle/>
          <a:p>
            <a:pPr algn="ctr" indent="0" marL="0">
              <a:buNone/>
            </a:pPr>
            <a:r>
              <a:rPr lang="en-US" sz="1100" i="1" dirty="0">
                <a:solidFill>
                  <a:srgbClr val="6B7280"/>
                </a:solidFill>
                <a:latin typeface="Arial" pitchFamily="34" charset="0"/>
                <a:ea typeface="Arial" pitchFamily="34" charset="-122"/>
                <a:cs typeface="Arial" pitchFamily="34" charset="-120"/>
              </a:rPr>
              <a:t>p &lt; .01 בכל שלושת הנתיבים, מעבר ליציבות של 0.61 עד 0.70 של המדדים עצמם</a:t>
            </a:r>
            <a:endParaRPr lang="en-US" sz="1100" dirty="0"/>
          </a:p>
        </p:txBody>
      </p:sp>
      <p:sp>
        <p:nvSpPr>
          <p:cNvPr id="21" name="Shape 19"/>
          <p:cNvSpPr/>
          <p:nvPr/>
        </p:nvSpPr>
        <p:spPr>
          <a:xfrm>
            <a:off x="548640" y="5532120"/>
            <a:ext cx="11091672" cy="731520"/>
          </a:xfrm>
          <a:prstGeom prst="roundRect">
            <a:avLst>
              <a:gd name="adj" fmla="val 15000"/>
            </a:avLst>
          </a:prstGeom>
          <a:solidFill>
            <a:srgbClr val="FFF4DE"/>
          </a:solidFill>
          <a:ln w="12700">
            <a:solidFill>
              <a:srgbClr val="FFF4DE"/>
            </a:solidFill>
            <a:prstDash val="solid"/>
          </a:ln>
          <a:effectLst>
            <a:outerShdw sx="100000" sy="100000" kx="0" ky="0" algn="bl" rotWithShape="0" blurRad="50800" dist="25400" dir="5400000">
              <a:srgbClr val="000000">
                <a:alpha val="12000"/>
              </a:srgbClr>
            </a:outerShdw>
          </a:effectLst>
        </p:spPr>
      </p:sp>
      <p:sp>
        <p:nvSpPr>
          <p:cNvPr id="22" name="Text 20"/>
          <p:cNvSpPr txBox="1"/>
          <p:nvPr/>
        </p:nvSpPr>
        <p:spPr>
          <a:xfrm>
            <a:off x="822960" y="5577840"/>
            <a:ext cx="10515600" cy="640080"/>
          </a:xfrm>
          <a:prstGeom prst="rect">
            <a:avLst/>
          </a:prstGeom>
          <a:noFill/>
          <a:ln/>
        </p:spPr>
        <p:txBody>
          <a:bodyPr wrap="square" lIns="0" tIns="0" rIns="0" bIns="0" rtlCol="0" anchor="ctr"/>
          <a:lstStyle/>
          <a:p>
            <a:pPr rtl="1" algn="r" indent="0" marL="0">
              <a:buNone/>
            </a:pPr>
            <a:r>
              <a:rPr lang="he-IL" altLang="en-US" sz="1300" b="1" dirty="0">
                <a:solidFill>
                  <a:srgbClr val="14213D"/>
                </a:solidFill>
                <a:latin typeface="Arial" pitchFamily="34" charset="0"/>
                <a:ea typeface="Arial" pitchFamily="34" charset="-122"/>
                <a:cs typeface="Arial" pitchFamily="34" charset="-120"/>
              </a:rPr>
              <a:t>עיצוב לצרכי הימנעות (ניתוק, הרפיה): ללא קשר מובהק לאף רכיב. ובכיוון ההפוך: ניהוליות היום מנבאת עיצוב תפקיד בעוד חצי שנה (β = 0.431). ספירלת רווח (Cetkovská et al., 2026)</a:t>
            </a:r>
            <a:endParaRPr lang="he-IL" sz="1300" dirty="0"/>
          </a:p>
        </p:txBody>
      </p:sp>
      <p:sp>
        <p:nvSpPr>
          <p:cNvPr id="23" name="Text 21"/>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24" name="Text 22"/>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7</a:t>
            </a:r>
            <a:endParaRPr lang="he-IL"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איך בדקו? ומה גודל האפקט?</a:t>
            </a:r>
            <a:endParaRPr lang="he-IL" sz="3000" dirty="0"/>
          </a:p>
        </p:txBody>
      </p:sp>
      <p:sp>
        <p:nvSpPr>
          <p:cNvPr id="3" name="Shape 1"/>
          <p:cNvSpPr/>
          <p:nvPr/>
        </p:nvSpPr>
        <p:spPr>
          <a:xfrm>
            <a:off x="8074152" y="1280160"/>
            <a:ext cx="3566160" cy="1920240"/>
          </a:xfrm>
          <a:prstGeom prst="roundRect">
            <a:avLst>
              <a:gd name="adj" fmla="val 5714"/>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8257032" y="1417320"/>
            <a:ext cx="3200400" cy="822960"/>
          </a:xfrm>
          <a:prstGeom prst="rect">
            <a:avLst/>
          </a:prstGeom>
          <a:noFill/>
          <a:ln/>
        </p:spPr>
        <p:txBody>
          <a:bodyPr wrap="square" lIns="0" tIns="0" rIns="0" bIns="0" rtlCol="0" anchor="ctr"/>
          <a:lstStyle/>
          <a:p>
            <a:pPr rtl="1" algn="ctr" indent="0" marL="0">
              <a:buNone/>
            </a:pPr>
            <a:r>
              <a:rPr lang="he-IL" altLang="en-US" sz="4000" b="1" dirty="0">
                <a:solidFill>
                  <a:srgbClr val="E76F51"/>
                </a:solidFill>
                <a:latin typeface="Arial" pitchFamily="34" charset="0"/>
                <a:ea typeface="Arial" pitchFamily="34" charset="-122"/>
                <a:cs typeface="Arial" pitchFamily="34" charset="-120"/>
              </a:rPr>
              <a:t>924</a:t>
            </a:r>
            <a:endParaRPr lang="he-IL" sz="4000" dirty="0"/>
          </a:p>
        </p:txBody>
      </p:sp>
      <p:sp>
        <p:nvSpPr>
          <p:cNvPr id="5" name="Text 3"/>
          <p:cNvSpPr txBox="1"/>
          <p:nvPr/>
        </p:nvSpPr>
        <p:spPr>
          <a:xfrm>
            <a:off x="8348472" y="2286000"/>
            <a:ext cx="3017520" cy="868680"/>
          </a:xfrm>
          <a:prstGeom prst="rect">
            <a:avLst/>
          </a:prstGeom>
          <a:noFill/>
          <a:ln/>
        </p:spPr>
        <p:txBody>
          <a:bodyPr wrap="square" lIns="0" tIns="0" rIns="0" bIns="0" rtlCol="0" anchor="t"/>
          <a:lstStyle/>
          <a:p>
            <a:pPr rtl="1" algn="ctr" indent="0" marL="0">
              <a:buNone/>
            </a:pPr>
            <a:r>
              <a:rPr lang="he-IL" altLang="en-US" sz="1250" dirty="0">
                <a:solidFill>
                  <a:srgbClr val="1F2937"/>
                </a:solidFill>
                <a:latin typeface="Arial" pitchFamily="34" charset="0"/>
                <a:ea typeface="Arial" pitchFamily="34" charset="-122"/>
                <a:cs typeface="Arial" pitchFamily="34" charset="-120"/>
              </a:rPr>
              <a:t>עובדים בגרמניה ובשווייץ, גיל ממוצע 49, מדגם מכסות של האוכלוסייה העובדת</a:t>
            </a:r>
            <a:endParaRPr lang="he-IL" sz="1250" dirty="0"/>
          </a:p>
        </p:txBody>
      </p:sp>
      <p:sp>
        <p:nvSpPr>
          <p:cNvPr id="6" name="Shape 4"/>
          <p:cNvSpPr/>
          <p:nvPr/>
        </p:nvSpPr>
        <p:spPr>
          <a:xfrm>
            <a:off x="4311396" y="1280160"/>
            <a:ext cx="3566160" cy="1920240"/>
          </a:xfrm>
          <a:prstGeom prst="roundRect">
            <a:avLst>
              <a:gd name="adj" fmla="val 5714"/>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7" name="Text 5"/>
          <p:cNvSpPr txBox="1"/>
          <p:nvPr/>
        </p:nvSpPr>
        <p:spPr>
          <a:xfrm>
            <a:off x="4494276" y="1417320"/>
            <a:ext cx="3200400" cy="822960"/>
          </a:xfrm>
          <a:prstGeom prst="rect">
            <a:avLst/>
          </a:prstGeom>
          <a:noFill/>
          <a:ln/>
        </p:spPr>
        <p:txBody>
          <a:bodyPr wrap="square" lIns="0" tIns="0" rIns="0" bIns="0" rtlCol="0" anchor="ctr"/>
          <a:lstStyle/>
          <a:p>
            <a:pPr rtl="1" algn="ctr" indent="0" marL="0">
              <a:buNone/>
            </a:pPr>
            <a:r>
              <a:rPr lang="he-IL" altLang="en-US" sz="4000" b="1" dirty="0">
                <a:solidFill>
                  <a:srgbClr val="E76F51"/>
                </a:solidFill>
                <a:latin typeface="Arial" pitchFamily="34" charset="0"/>
                <a:ea typeface="Arial" pitchFamily="34" charset="-122"/>
                <a:cs typeface="Arial" pitchFamily="34" charset="-120"/>
              </a:rPr>
              <a:t>2 × 6</a:t>
            </a:r>
            <a:endParaRPr lang="he-IL" sz="4000" dirty="0"/>
          </a:p>
        </p:txBody>
      </p:sp>
      <p:sp>
        <p:nvSpPr>
          <p:cNvPr id="8" name="Text 6"/>
          <p:cNvSpPr txBox="1"/>
          <p:nvPr/>
        </p:nvSpPr>
        <p:spPr>
          <a:xfrm>
            <a:off x="4585716" y="2286000"/>
            <a:ext cx="3017520" cy="868680"/>
          </a:xfrm>
          <a:prstGeom prst="rect">
            <a:avLst/>
          </a:prstGeom>
          <a:noFill/>
          <a:ln/>
        </p:spPr>
        <p:txBody>
          <a:bodyPr wrap="square" lIns="0" tIns="0" rIns="0" bIns="0" rtlCol="0" anchor="t"/>
          <a:lstStyle/>
          <a:p>
            <a:pPr rtl="1" algn="ctr" indent="0" marL="0">
              <a:buNone/>
            </a:pPr>
            <a:r>
              <a:rPr lang="he-IL" altLang="en-US" sz="1250" dirty="0">
                <a:solidFill>
                  <a:srgbClr val="1F2937"/>
                </a:solidFill>
                <a:latin typeface="Arial" pitchFamily="34" charset="0"/>
                <a:ea typeface="Arial" pitchFamily="34" charset="-122"/>
                <a:cs typeface="Arial" pitchFamily="34" charset="-120"/>
              </a:rPr>
              <a:t>שני גלי מדידה בהפרש של שישה חודשים, 80% השלימו את שניהם</a:t>
            </a:r>
            <a:endParaRPr lang="he-IL" sz="1250" dirty="0"/>
          </a:p>
        </p:txBody>
      </p:sp>
      <p:sp>
        <p:nvSpPr>
          <p:cNvPr id="9" name="Shape 7"/>
          <p:cNvSpPr/>
          <p:nvPr/>
        </p:nvSpPr>
        <p:spPr>
          <a:xfrm>
            <a:off x="548640" y="1280160"/>
            <a:ext cx="3566160" cy="1920240"/>
          </a:xfrm>
          <a:prstGeom prst="roundRect">
            <a:avLst>
              <a:gd name="adj" fmla="val 5714"/>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0" name="Text 8"/>
          <p:cNvSpPr txBox="1"/>
          <p:nvPr/>
        </p:nvSpPr>
        <p:spPr>
          <a:xfrm>
            <a:off x="731520" y="1417320"/>
            <a:ext cx="3200400" cy="822960"/>
          </a:xfrm>
          <a:prstGeom prst="rect">
            <a:avLst/>
          </a:prstGeom>
          <a:noFill/>
          <a:ln/>
        </p:spPr>
        <p:txBody>
          <a:bodyPr wrap="square" lIns="0" tIns="0" rIns="0" bIns="0" rtlCol="0" anchor="ctr"/>
          <a:lstStyle/>
          <a:p>
            <a:pPr rtl="1" algn="ctr" indent="0" marL="0">
              <a:buNone/>
            </a:pPr>
            <a:r>
              <a:rPr lang="he-IL" altLang="en-US" sz="4000" b="1" dirty="0">
                <a:solidFill>
                  <a:srgbClr val="E76F51"/>
                </a:solidFill>
                <a:latin typeface="Arial" pitchFamily="34" charset="0"/>
                <a:ea typeface="Arial" pitchFamily="34" charset="-122"/>
                <a:cs typeface="Arial" pitchFamily="34" charset="-120"/>
              </a:rPr>
              <a:t>9 + 18</a:t>
            </a:r>
            <a:endParaRPr lang="he-IL" sz="4000" dirty="0"/>
          </a:p>
        </p:txBody>
      </p:sp>
      <p:sp>
        <p:nvSpPr>
          <p:cNvPr id="11" name="Text 9"/>
          <p:cNvSpPr txBox="1"/>
          <p:nvPr/>
        </p:nvSpPr>
        <p:spPr>
          <a:xfrm>
            <a:off x="822960" y="2286000"/>
            <a:ext cx="3017520" cy="868680"/>
          </a:xfrm>
          <a:prstGeom prst="rect">
            <a:avLst/>
          </a:prstGeom>
          <a:noFill/>
          <a:ln/>
        </p:spPr>
        <p:txBody>
          <a:bodyPr wrap="square" lIns="0" tIns="0" rIns="0" bIns="0" rtlCol="0" anchor="t"/>
          <a:lstStyle/>
          <a:p>
            <a:pPr rtl="1" algn="ctr" indent="0" marL="0">
              <a:buNone/>
            </a:pPr>
            <a:r>
              <a:rPr lang="he-IL" altLang="en-US" sz="1250" dirty="0">
                <a:solidFill>
                  <a:srgbClr val="1F2937"/>
                </a:solidFill>
                <a:latin typeface="Arial" pitchFamily="34" charset="0"/>
                <a:ea typeface="Arial" pitchFamily="34" charset="-122"/>
                <a:cs typeface="Arial" pitchFamily="34" charset="-120"/>
              </a:rPr>
              <a:t>פריטים: סולם תחושת קוהרנטיות בעבודה וסולם עיצוב תפקיד מבוסס צרכים</a:t>
            </a:r>
            <a:endParaRPr lang="he-IL" sz="1250" dirty="0"/>
          </a:p>
        </p:txBody>
      </p:sp>
      <p:sp>
        <p:nvSpPr>
          <p:cNvPr id="12" name="Shape 10"/>
          <p:cNvSpPr/>
          <p:nvPr/>
        </p:nvSpPr>
        <p:spPr>
          <a:xfrm>
            <a:off x="548640" y="3383280"/>
            <a:ext cx="6949440" cy="2880360"/>
          </a:xfrm>
          <a:prstGeom prst="roundRect">
            <a:avLst>
              <a:gd name="adj" fmla="val 381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graphicFrame>
        <p:nvGraphicFramePr>
          <p:cNvPr id="13" name="Chart 0" descr=""/>
          <p:cNvGraphicFramePr/>
          <p:nvPr/>
        </p:nvGraphicFramePr>
        <p:xfrm>
          <a:off x="731520" y="3474720"/>
          <a:ext cx="6583680" cy="2697480"/>
        </p:xfrm>
        <a:graphic xmlns:a="http://schemas.openxmlformats.org/drawingml/2006/main">
          <a:graphicData uri="http://schemas.openxmlformats.org/drawingml/2006/chart">
            <c:chart xmlns:c="http://schemas.openxmlformats.org/drawingml/2006/chart" r:id="rId1"/>
          </a:graphicData>
        </a:graphic>
      </p:graphicFrame>
      <p:sp>
        <p:nvSpPr>
          <p:cNvPr id="14" name="Shape 11"/>
          <p:cNvSpPr/>
          <p:nvPr/>
        </p:nvSpPr>
        <p:spPr>
          <a:xfrm>
            <a:off x="7680960" y="3383280"/>
            <a:ext cx="3959352" cy="2880360"/>
          </a:xfrm>
          <a:prstGeom prst="roundRect">
            <a:avLst>
              <a:gd name="adj" fmla="val 3810"/>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15" name="Text 12"/>
          <p:cNvSpPr txBox="1"/>
          <p:nvPr/>
        </p:nvSpPr>
        <p:spPr>
          <a:xfrm>
            <a:off x="7863840" y="3474720"/>
            <a:ext cx="3611880" cy="411480"/>
          </a:xfrm>
          <a:prstGeom prst="rect">
            <a:avLst/>
          </a:prstGeom>
          <a:noFill/>
          <a:ln/>
        </p:spPr>
        <p:txBody>
          <a:bodyPr wrap="square" lIns="0" tIns="0" rIns="0" bIns="0" rtlCol="0" anchor="t"/>
          <a:lstStyle/>
          <a:p>
            <a:pPr rtl="1" algn="r" indent="0" marL="0">
              <a:buNone/>
            </a:pPr>
            <a:r>
              <a:rPr lang="he-IL" altLang="en-US" sz="1500" b="1" dirty="0">
                <a:solidFill>
                  <a:srgbClr val="2A9D8F"/>
                </a:solidFill>
                <a:latin typeface="Arial" pitchFamily="34" charset="0"/>
                <a:ea typeface="Arial" pitchFamily="34" charset="-122"/>
                <a:cs typeface="Arial" pitchFamily="34" charset="-120"/>
              </a:rPr>
              <a:t>מה זה אומר?</a:t>
            </a:r>
            <a:endParaRPr lang="he-IL" sz="1500" dirty="0"/>
          </a:p>
        </p:txBody>
      </p:sp>
      <p:sp>
        <p:nvSpPr>
          <p:cNvPr id="16" name="Text 13"/>
          <p:cNvSpPr txBox="1"/>
          <p:nvPr/>
        </p:nvSpPr>
        <p:spPr>
          <a:xfrm>
            <a:off x="7863840" y="3931920"/>
            <a:ext cx="3611880" cy="2286000"/>
          </a:xfrm>
          <a:prstGeom prst="rect">
            <a:avLst/>
          </a:prstGeom>
          <a:noFill/>
          <a:ln/>
        </p:spPr>
        <p:txBody>
          <a:bodyPr wrap="square" lIns="0" tIns="0" rIns="0" bIns="0" rtlCol="0" anchor="t"/>
          <a:lstStyle/>
          <a:p>
            <a:pPr algn="r" marL="342900" indent="-342900">
              <a:spcAft>
                <a:spcPts val="500"/>
              </a:spcAft>
              <a:buSzPct val="100000"/>
              <a:buChar char="•"/>
            </a:pPr>
            <a:r>
              <a:rPr lang="he-IL" altLang="en-US" sz="1200" dirty="0">
                <a:solidFill>
                  <a:srgbClr val="1F2937"/>
                </a:solidFill>
                <a:latin typeface="Arial" pitchFamily="34" charset="0"/>
                <a:ea typeface="Arial" pitchFamily="34" charset="-122"/>
                <a:cs typeface="Arial" pitchFamily="34" charset="-120"/>
              </a:rPr>
              <a:t>הירוק מובהק, האפור לא: רק עיצוב לצרכי התקרבות משנה את התפיסה</a:t>
            </a:r>
            <a:endParaRPr lang="he-IL" sz="1200" dirty="0"/>
          </a:p>
          <a:p>
            <a:pPr algn="r" marL="342900" indent="-342900">
              <a:spcAft>
                <a:spcPts val="500"/>
              </a:spcAft>
              <a:buSzPct val="100000"/>
              <a:buChar char="•"/>
            </a:pPr>
            <a:r>
              <a:rPr lang="he-IL" altLang="en-US" sz="1200" dirty="0">
                <a:solidFill>
                  <a:srgbClr val="1F2937"/>
                </a:solidFill>
                <a:latin typeface="Arial" pitchFamily="34" charset="0"/>
                <a:ea typeface="Arial" pitchFamily="34" charset="-122"/>
                <a:cs typeface="Arial" pitchFamily="34" charset="-120"/>
              </a:rPr>
              <a:t>אפקטים בינוניים, אבל מעבר ליציבות גבוהה (0.61 עד 0.70) של המדדים עצמם</a:t>
            </a:r>
            <a:endParaRPr lang="he-IL" sz="1200" dirty="0"/>
          </a:p>
          <a:p>
            <a:pPr algn="r" marL="342900" indent="-342900">
              <a:spcAft>
                <a:spcPts val="500"/>
              </a:spcAft>
              <a:buSzPct val="100000"/>
              <a:buChar char="•"/>
            </a:pPr>
            <a:r>
              <a:rPr lang="he-IL" altLang="en-US" sz="1200" dirty="0">
                <a:solidFill>
                  <a:srgbClr val="1F2937"/>
                </a:solidFill>
                <a:latin typeface="Arial" pitchFamily="34" charset="0"/>
                <a:ea typeface="Arial" pitchFamily="34" charset="-122"/>
                <a:cs typeface="Arial" pitchFamily="34" charset="-120"/>
              </a:rPr>
              <a:t>ניתוח פאנל צולב: כיווניות בזמן, לא הוכחת סיבתיות</a:t>
            </a:r>
            <a:endParaRPr lang="he-IL" sz="1200" dirty="0"/>
          </a:p>
        </p:txBody>
      </p:sp>
      <p:sp>
        <p:nvSpPr>
          <p:cNvPr id="17" name="Text 14"/>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18" name="Text 15"/>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8</a:t>
            </a:r>
            <a:endParaRPr lang="he-IL"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המאמר המשלים: הבינה המלאכותית, חוסר הביטחון וחוסן הקריירה</a:t>
            </a:r>
            <a:endParaRPr lang="he-IL" sz="3000" dirty="0"/>
          </a:p>
        </p:txBody>
      </p:sp>
      <p:sp>
        <p:nvSpPr>
          <p:cNvPr id="3" name="Text 1"/>
          <p:cNvSpPr txBox="1"/>
          <p:nvPr/>
        </p:nvSpPr>
        <p:spPr>
          <a:xfrm>
            <a:off x="548640" y="1143000"/>
            <a:ext cx="11091672" cy="365760"/>
          </a:xfrm>
          <a:prstGeom prst="rect">
            <a:avLst/>
          </a:prstGeom>
          <a:noFill/>
          <a:ln/>
        </p:spPr>
        <p:txBody>
          <a:bodyPr wrap="square" lIns="0" tIns="0" rIns="0" bIns="0" rtlCol="0" anchor="t"/>
          <a:lstStyle/>
          <a:p>
            <a:pPr algn="r" indent="0" marL="0">
              <a:buNone/>
            </a:pPr>
            <a:r>
              <a:rPr lang="en-US" sz="1300" i="1" dirty="0">
                <a:solidFill>
                  <a:srgbClr val="6B7280"/>
                </a:solidFill>
                <a:latin typeface="Arial" pitchFamily="34" charset="0"/>
                <a:ea typeface="Arial" pitchFamily="34" charset="-122"/>
                <a:cs typeface="Arial" pitchFamily="34" charset="-120"/>
              </a:rPr>
              <a:t>Chung, Im, Kim &amp; Yun (2025), Australian Journal of Psychology, Open Access</a:t>
            </a:r>
            <a:endParaRPr lang="en-US" sz="1300" dirty="0"/>
          </a:p>
        </p:txBody>
      </p:sp>
      <p:sp>
        <p:nvSpPr>
          <p:cNvPr id="4" name="Shape 2"/>
          <p:cNvSpPr/>
          <p:nvPr/>
        </p:nvSpPr>
        <p:spPr>
          <a:xfrm>
            <a:off x="8531352" y="1783080"/>
            <a:ext cx="3108960" cy="1463040"/>
          </a:xfrm>
          <a:prstGeom prst="roundRect">
            <a:avLst>
              <a:gd name="adj" fmla="val 7500"/>
            </a:avLst>
          </a:prstGeom>
          <a:solidFill>
            <a:srgbClr val="14213D"/>
          </a:solidFill>
          <a:ln w="12700">
            <a:solidFill>
              <a:srgbClr val="14213D"/>
            </a:solidFill>
            <a:prstDash val="solid"/>
          </a:ln>
          <a:effectLst>
            <a:outerShdw sx="100000" sy="100000" kx="0" ky="0" algn="bl" rotWithShape="0" blurRad="50800" dist="25400" dir="5400000">
              <a:srgbClr val="000000">
                <a:alpha val="12000"/>
              </a:srgbClr>
            </a:outerShdw>
          </a:effectLst>
        </p:spPr>
      </p:sp>
      <p:sp>
        <p:nvSpPr>
          <p:cNvPr id="5" name="Text 3"/>
          <p:cNvSpPr txBox="1"/>
          <p:nvPr/>
        </p:nvSpPr>
        <p:spPr>
          <a:xfrm>
            <a:off x="8714232" y="1920240"/>
            <a:ext cx="2743200" cy="54864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Arial" pitchFamily="34" charset="0"/>
                <a:ea typeface="Arial" pitchFamily="34" charset="-122"/>
                <a:cs typeface="Arial" pitchFamily="34" charset="-120"/>
              </a:rPr>
              <a:t>מודעות לבינה מלאכותית</a:t>
            </a:r>
            <a:endParaRPr lang="he-IL" sz="1600" dirty="0"/>
          </a:p>
        </p:txBody>
      </p:sp>
      <p:sp>
        <p:nvSpPr>
          <p:cNvPr id="6" name="Text 4"/>
          <p:cNvSpPr txBox="1"/>
          <p:nvPr/>
        </p:nvSpPr>
        <p:spPr>
          <a:xfrm>
            <a:off x="8714232" y="2514600"/>
            <a:ext cx="2743200" cy="640080"/>
          </a:xfrm>
          <a:prstGeom prst="rect">
            <a:avLst/>
          </a:prstGeom>
          <a:noFill/>
          <a:ln/>
        </p:spPr>
        <p:txBody>
          <a:bodyPr wrap="square" lIns="0" tIns="0" rIns="0" bIns="0" rtlCol="0" anchor="t"/>
          <a:lstStyle/>
          <a:p>
            <a:pPr rtl="1" algn="ctr" indent="0" marL="0">
              <a:buNone/>
            </a:pPr>
            <a:r>
              <a:rPr lang="he-IL" altLang="en-US" sz="1200" dirty="0">
                <a:solidFill>
                  <a:srgbClr val="F3F4F6"/>
                </a:solidFill>
                <a:latin typeface="Arial" pitchFamily="34" charset="0"/>
                <a:ea typeface="Arial" pitchFamily="34" charset="-122"/>
                <a:cs typeface="Arial" pitchFamily="34" charset="-120"/>
              </a:rPr>
              <a:t>"הטכנולוגיה עלולה להחליף אותי או לשנות את התפקיד"</a:t>
            </a:r>
            <a:endParaRPr lang="he-IL" sz="1200" dirty="0"/>
          </a:p>
        </p:txBody>
      </p:sp>
      <p:sp>
        <p:nvSpPr>
          <p:cNvPr id="7" name="Shape 5"/>
          <p:cNvSpPr/>
          <p:nvPr/>
        </p:nvSpPr>
        <p:spPr>
          <a:xfrm>
            <a:off x="7772400" y="2240280"/>
            <a:ext cx="640080" cy="548640"/>
          </a:xfrm>
          <a:prstGeom prst="leftArrow">
            <a:avLst/>
          </a:prstGeom>
          <a:solidFill>
            <a:srgbClr val="FCA311"/>
          </a:solidFill>
          <a:ln w="12700">
            <a:solidFill>
              <a:srgbClr val="FCA311"/>
            </a:solidFill>
            <a:prstDash val="solid"/>
          </a:ln>
        </p:spPr>
      </p:sp>
      <p:sp>
        <p:nvSpPr>
          <p:cNvPr id="8" name="Shape 6"/>
          <p:cNvSpPr/>
          <p:nvPr/>
        </p:nvSpPr>
        <p:spPr>
          <a:xfrm>
            <a:off x="4553712" y="1783080"/>
            <a:ext cx="3108960" cy="1463040"/>
          </a:xfrm>
          <a:prstGeom prst="roundRect">
            <a:avLst>
              <a:gd name="adj" fmla="val 7500"/>
            </a:avLst>
          </a:prstGeom>
          <a:solidFill>
            <a:srgbClr val="E76F51"/>
          </a:solidFill>
          <a:ln w="12700">
            <a:solidFill>
              <a:srgbClr val="E76F51"/>
            </a:solidFill>
            <a:prstDash val="solid"/>
          </a:ln>
          <a:effectLst>
            <a:outerShdw sx="100000" sy="100000" kx="0" ky="0" algn="bl" rotWithShape="0" blurRad="50800" dist="25400" dir="5400000">
              <a:srgbClr val="000000">
                <a:alpha val="12000"/>
              </a:srgbClr>
            </a:outerShdw>
          </a:effectLst>
        </p:spPr>
      </p:sp>
      <p:sp>
        <p:nvSpPr>
          <p:cNvPr id="9" name="Text 7"/>
          <p:cNvSpPr txBox="1"/>
          <p:nvPr/>
        </p:nvSpPr>
        <p:spPr>
          <a:xfrm>
            <a:off x="4736592" y="1920240"/>
            <a:ext cx="2743200" cy="54864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Arial" pitchFamily="34" charset="0"/>
                <a:ea typeface="Arial" pitchFamily="34" charset="-122"/>
                <a:cs typeface="Arial" pitchFamily="34" charset="-120"/>
              </a:rPr>
              <a:t>חוסר ביטחון תעסוקתי</a:t>
            </a:r>
            <a:endParaRPr lang="he-IL" sz="1600" dirty="0"/>
          </a:p>
        </p:txBody>
      </p:sp>
      <p:sp>
        <p:nvSpPr>
          <p:cNvPr id="10" name="Text 8"/>
          <p:cNvSpPr txBox="1"/>
          <p:nvPr/>
        </p:nvSpPr>
        <p:spPr>
          <a:xfrm>
            <a:off x="4736592" y="2514600"/>
            <a:ext cx="2743200" cy="640080"/>
          </a:xfrm>
          <a:prstGeom prst="rect">
            <a:avLst/>
          </a:prstGeom>
          <a:noFill/>
          <a:ln/>
        </p:spPr>
        <p:txBody>
          <a:bodyPr wrap="square" lIns="0" tIns="0" rIns="0" bIns="0" rtlCol="0" anchor="t"/>
          <a:lstStyle/>
          <a:p>
            <a:pPr rtl="1" algn="ctr" indent="0" marL="0">
              <a:buNone/>
            </a:pPr>
            <a:r>
              <a:rPr lang="he-IL" altLang="en-US" sz="1200" dirty="0">
                <a:solidFill>
                  <a:srgbClr val="F3F4F6"/>
                </a:solidFill>
                <a:latin typeface="Arial" pitchFamily="34" charset="0"/>
                <a:ea typeface="Arial" pitchFamily="34" charset="-122"/>
                <a:cs typeface="Arial" pitchFamily="34" charset="-120"/>
              </a:rPr>
              <a:t>המתווך</a:t>
            </a:r>
            <a:endParaRPr lang="he-IL" sz="1200" dirty="0"/>
          </a:p>
        </p:txBody>
      </p:sp>
      <p:sp>
        <p:nvSpPr>
          <p:cNvPr id="11" name="Shape 9"/>
          <p:cNvSpPr/>
          <p:nvPr/>
        </p:nvSpPr>
        <p:spPr>
          <a:xfrm>
            <a:off x="3794760" y="2240280"/>
            <a:ext cx="640080" cy="548640"/>
          </a:xfrm>
          <a:prstGeom prst="leftArrow">
            <a:avLst/>
          </a:prstGeom>
          <a:solidFill>
            <a:srgbClr val="FCA311"/>
          </a:solidFill>
          <a:ln w="12700">
            <a:solidFill>
              <a:srgbClr val="FCA311"/>
            </a:solidFill>
            <a:prstDash val="solid"/>
          </a:ln>
        </p:spPr>
      </p:sp>
      <p:sp>
        <p:nvSpPr>
          <p:cNvPr id="12" name="Shape 10"/>
          <p:cNvSpPr/>
          <p:nvPr/>
        </p:nvSpPr>
        <p:spPr>
          <a:xfrm>
            <a:off x="576072" y="1783080"/>
            <a:ext cx="3108960" cy="1463040"/>
          </a:xfrm>
          <a:prstGeom prst="roundRect">
            <a:avLst>
              <a:gd name="adj" fmla="val 7500"/>
            </a:avLst>
          </a:prstGeom>
          <a:solidFill>
            <a:srgbClr val="D9822B"/>
          </a:solidFill>
          <a:ln w="12700">
            <a:solidFill>
              <a:srgbClr val="D9822B"/>
            </a:solidFill>
            <a:prstDash val="solid"/>
          </a:ln>
          <a:effectLst>
            <a:outerShdw sx="100000" sy="100000" kx="0" ky="0" algn="bl" rotWithShape="0" blurRad="50800" dist="25400" dir="5400000">
              <a:srgbClr val="000000">
                <a:alpha val="12000"/>
              </a:srgbClr>
            </a:outerShdw>
          </a:effectLst>
        </p:spPr>
      </p:sp>
      <p:sp>
        <p:nvSpPr>
          <p:cNvPr id="13" name="Text 11"/>
          <p:cNvSpPr txBox="1"/>
          <p:nvPr/>
        </p:nvSpPr>
        <p:spPr>
          <a:xfrm>
            <a:off x="758952" y="1920240"/>
            <a:ext cx="2743200" cy="54864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Arial" pitchFamily="34" charset="0"/>
                <a:ea typeface="Arial" pitchFamily="34" charset="-122"/>
                <a:cs typeface="Arial" pitchFamily="34" charset="-120"/>
              </a:rPr>
              <a:t>תוצאות</a:t>
            </a:r>
            <a:endParaRPr lang="he-IL" sz="1600" dirty="0"/>
          </a:p>
        </p:txBody>
      </p:sp>
      <p:sp>
        <p:nvSpPr>
          <p:cNvPr id="14" name="Text 12"/>
          <p:cNvSpPr txBox="1"/>
          <p:nvPr/>
        </p:nvSpPr>
        <p:spPr>
          <a:xfrm>
            <a:off x="758952" y="2514600"/>
            <a:ext cx="2743200" cy="640080"/>
          </a:xfrm>
          <a:prstGeom prst="rect">
            <a:avLst/>
          </a:prstGeom>
          <a:noFill/>
          <a:ln/>
        </p:spPr>
        <p:txBody>
          <a:bodyPr wrap="square" lIns="0" tIns="0" rIns="0" bIns="0" rtlCol="0" anchor="t"/>
          <a:lstStyle/>
          <a:p>
            <a:pPr rtl="1" algn="ctr" indent="0" marL="0">
              <a:buNone/>
            </a:pPr>
            <a:r>
              <a:rPr lang="he-IL" altLang="en-US" sz="1200" dirty="0">
                <a:solidFill>
                  <a:srgbClr val="F3F4F6"/>
                </a:solidFill>
                <a:latin typeface="Arial" pitchFamily="34" charset="0"/>
                <a:ea typeface="Arial" pitchFamily="34" charset="-122"/>
                <a:cs typeface="Arial" pitchFamily="34" charset="-120"/>
              </a:rPr>
              <a:t>ירידה בביצועי משימה, עלייה בהתנהגות סוטה</a:t>
            </a:r>
            <a:endParaRPr lang="he-IL" sz="1200" dirty="0"/>
          </a:p>
        </p:txBody>
      </p:sp>
      <p:sp>
        <p:nvSpPr>
          <p:cNvPr id="15" name="Shape 13"/>
          <p:cNvSpPr/>
          <p:nvPr/>
        </p:nvSpPr>
        <p:spPr>
          <a:xfrm>
            <a:off x="6400800" y="3703320"/>
            <a:ext cx="3840480" cy="868680"/>
          </a:xfrm>
          <a:prstGeom prst="roundRect">
            <a:avLst>
              <a:gd name="adj" fmla="val 10526"/>
            </a:avLst>
          </a:prstGeom>
          <a:solidFill>
            <a:srgbClr val="2A9D8F"/>
          </a:solidFill>
          <a:ln w="12700">
            <a:solidFill>
              <a:srgbClr val="2A9D8F"/>
            </a:solidFill>
            <a:prstDash val="solid"/>
          </a:ln>
        </p:spPr>
      </p:sp>
      <p:sp>
        <p:nvSpPr>
          <p:cNvPr id="16" name="Text 14"/>
          <p:cNvSpPr txBox="1"/>
          <p:nvPr/>
        </p:nvSpPr>
        <p:spPr>
          <a:xfrm>
            <a:off x="6492240" y="3703320"/>
            <a:ext cx="3657600" cy="86868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Arial" pitchFamily="34" charset="0"/>
                <a:ea typeface="Arial" pitchFamily="34" charset="-122"/>
                <a:cs typeface="Arial" pitchFamily="34" charset="-120"/>
              </a:rPr>
              <a:t>חוסן קריירה: מחליש את הקשר</a:t>
            </a:r>
            <a:endParaRPr lang="he-IL" sz="1600" dirty="0"/>
          </a:p>
        </p:txBody>
      </p:sp>
      <p:sp>
        <p:nvSpPr>
          <p:cNvPr id="17" name="Shape 15"/>
          <p:cNvSpPr/>
          <p:nvPr/>
        </p:nvSpPr>
        <p:spPr>
          <a:xfrm>
            <a:off x="8092440" y="3291840"/>
            <a:ext cx="457200" cy="411480"/>
          </a:xfrm>
          <a:prstGeom prst="upArrow">
            <a:avLst/>
          </a:prstGeom>
          <a:solidFill>
            <a:srgbClr val="2A9D8F"/>
          </a:solidFill>
          <a:ln w="12700">
            <a:solidFill>
              <a:srgbClr val="2A9D8F"/>
            </a:solidFill>
            <a:prstDash val="solid"/>
          </a:ln>
        </p:spPr>
      </p:sp>
      <p:sp>
        <p:nvSpPr>
          <p:cNvPr id="18" name="Shape 16"/>
          <p:cNvSpPr/>
          <p:nvPr/>
        </p:nvSpPr>
        <p:spPr>
          <a:xfrm>
            <a:off x="548640" y="4800600"/>
            <a:ext cx="11091672" cy="1463040"/>
          </a:xfrm>
          <a:prstGeom prst="roundRect">
            <a:avLst>
              <a:gd name="adj" fmla="val 7500"/>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19" name="Text 17"/>
          <p:cNvSpPr txBox="1"/>
          <p:nvPr/>
        </p:nvSpPr>
        <p:spPr>
          <a:xfrm>
            <a:off x="822960" y="4892040"/>
            <a:ext cx="10515600" cy="1325880"/>
          </a:xfrm>
          <a:prstGeom prst="rect">
            <a:avLst/>
          </a:prstGeom>
          <a:noFill/>
          <a:ln/>
        </p:spPr>
        <p:txBody>
          <a:bodyPr wrap="square" lIns="0" tIns="0" rIns="0" bIns="0" rtlCol="0" anchor="t"/>
          <a:lstStyle/>
          <a:p>
            <a:pPr algn="r" marL="342900" indent="-342900">
              <a:spcAft>
                <a:spcPts val="400"/>
              </a:spcAft>
              <a:buSzPct val="100000"/>
              <a:buChar char="•"/>
            </a:pPr>
            <a:r>
              <a:rPr lang="he-IL" altLang="en-US" sz="1350" dirty="0">
                <a:solidFill>
                  <a:srgbClr val="1F2937"/>
                </a:solidFill>
                <a:latin typeface="Arial" pitchFamily="34" charset="0"/>
                <a:ea typeface="Arial" pitchFamily="34" charset="-122"/>
                <a:cs typeface="Arial" pitchFamily="34" charset="-120"/>
              </a:rPr>
              <a:t>מחקר אורך בשלוש נקודות זמן בקרב עובדי משרד במשרה מלאה בדרום קוריאה</a:t>
            </a:r>
            <a:endParaRPr lang="he-IL" sz="1350" dirty="0"/>
          </a:p>
          <a:p>
            <a:pPr algn="r" marL="342900" indent="-342900">
              <a:spcAft>
                <a:spcPts val="400"/>
              </a:spcAft>
              <a:buSzPct val="100000"/>
              <a:buChar char="•"/>
            </a:pPr>
            <a:r>
              <a:rPr lang="he-IL" altLang="en-US" sz="1350" dirty="0">
                <a:solidFill>
                  <a:srgbClr val="1F2937"/>
                </a:solidFill>
                <a:latin typeface="Arial" pitchFamily="34" charset="0"/>
                <a:ea typeface="Arial" pitchFamily="34" charset="-122"/>
                <a:cs typeface="Arial" pitchFamily="34" charset="-120"/>
              </a:rPr>
              <a:t>עצם המודעות לבינה מלאכותית, עוד לפני שינוי בפועל, מספיקה כדי לייצר חוסר ביטחון</a:t>
            </a:r>
            <a:endParaRPr lang="he-IL" sz="1350" dirty="0"/>
          </a:p>
          <a:p>
            <a:pPr algn="r" marL="342900" indent="-342900">
              <a:spcAft>
                <a:spcPts val="400"/>
              </a:spcAft>
              <a:buSzPct val="100000"/>
              <a:buChar char="•"/>
            </a:pPr>
            <a:r>
              <a:rPr lang="he-IL" altLang="en-US" sz="1350" dirty="0">
                <a:solidFill>
                  <a:srgbClr val="1F2937"/>
                </a:solidFill>
                <a:latin typeface="Arial" pitchFamily="34" charset="0"/>
                <a:ea typeface="Arial" pitchFamily="34" charset="-122"/>
                <a:cs typeface="Arial" pitchFamily="34" charset="-120"/>
              </a:rPr>
              <a:t>החיבור למאמר שלנו: המשלים מראה את האיום ואת המשאב שממתן אותו. המרכזי מראה איך בונים משאב כזה בפועל</a:t>
            </a:r>
            <a:endParaRPr lang="he-IL" sz="1350" dirty="0"/>
          </a:p>
        </p:txBody>
      </p:sp>
      <p:sp>
        <p:nvSpPr>
          <p:cNvPr id="20" name="Text 18"/>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21" name="Text 19"/>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9</a:t>
            </a:r>
            <a:endParaRPr lang="he-IL"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התובנה המרכזית: המשאבים קודמים ליוזמה</a:t>
            </a:r>
            <a:endParaRPr lang="he-IL" sz="3000" dirty="0"/>
          </a:p>
        </p:txBody>
      </p:sp>
      <p:sp>
        <p:nvSpPr>
          <p:cNvPr id="3" name="Shape 1"/>
          <p:cNvSpPr/>
          <p:nvPr/>
        </p:nvSpPr>
        <p:spPr>
          <a:xfrm>
            <a:off x="8595360" y="1463040"/>
            <a:ext cx="3063240" cy="1417320"/>
          </a:xfrm>
          <a:prstGeom prst="roundRect">
            <a:avLst>
              <a:gd name="adj" fmla="val 7742"/>
            </a:avLst>
          </a:prstGeom>
          <a:solidFill>
            <a:srgbClr val="FCA311"/>
          </a:solidFill>
          <a:ln w="12700">
            <a:solidFill>
              <a:srgbClr val="FCA311"/>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8778240" y="1572768"/>
            <a:ext cx="2697480" cy="731520"/>
          </a:xfrm>
          <a:prstGeom prst="rect">
            <a:avLst/>
          </a:prstGeom>
          <a:noFill/>
          <a:ln/>
        </p:spPr>
        <p:txBody>
          <a:bodyPr wrap="square" lIns="0" tIns="0" rIns="0" bIns="0" rtlCol="0" anchor="ctr"/>
          <a:lstStyle/>
          <a:p>
            <a:pPr rtl="1" algn="ctr" indent="0" marL="0">
              <a:buNone/>
            </a:pPr>
            <a:r>
              <a:rPr lang="he-IL" altLang="en-US" sz="1450" b="1" dirty="0">
                <a:solidFill>
                  <a:srgbClr val="FFFFFF"/>
                </a:solidFill>
                <a:latin typeface="Arial" pitchFamily="34" charset="0"/>
                <a:ea typeface="Arial" pitchFamily="34" charset="-122"/>
                <a:cs typeface="Arial" pitchFamily="34" charset="-120"/>
              </a:rPr>
              <a:t>תחושת ניהוליות</a:t>
            </a:r>
            <a:endParaRPr lang="he-IL" sz="1450" dirty="0"/>
          </a:p>
        </p:txBody>
      </p:sp>
      <p:sp>
        <p:nvSpPr>
          <p:cNvPr id="5" name="Text 3"/>
          <p:cNvSpPr txBox="1"/>
          <p:nvPr/>
        </p:nvSpPr>
        <p:spPr>
          <a:xfrm>
            <a:off x="8778240" y="2304288"/>
            <a:ext cx="2697480" cy="502920"/>
          </a:xfrm>
          <a:prstGeom prst="rect">
            <a:avLst/>
          </a:prstGeom>
          <a:noFill/>
          <a:ln/>
        </p:spPr>
        <p:txBody>
          <a:bodyPr wrap="square" lIns="0" tIns="0" rIns="0" bIns="0" rtlCol="0" anchor="t"/>
          <a:lstStyle/>
          <a:p>
            <a:pPr rtl="1" algn="ctr" indent="0" marL="0">
              <a:buNone/>
            </a:pPr>
            <a:r>
              <a:rPr lang="he-IL" altLang="en-US" sz="1150" dirty="0">
                <a:solidFill>
                  <a:srgbClr val="F3F4F6"/>
                </a:solidFill>
                <a:latin typeface="Arial" pitchFamily="34" charset="0"/>
                <a:ea typeface="Arial" pitchFamily="34" charset="-122"/>
                <a:cs typeface="Arial" pitchFamily="34" charset="-120"/>
              </a:rPr>
              <a:t>"יש לי מספיק משאבים"</a:t>
            </a:r>
            <a:endParaRPr lang="he-IL" sz="1150" dirty="0"/>
          </a:p>
        </p:txBody>
      </p:sp>
      <p:sp>
        <p:nvSpPr>
          <p:cNvPr id="6" name="Shape 4"/>
          <p:cNvSpPr/>
          <p:nvPr/>
        </p:nvSpPr>
        <p:spPr>
          <a:xfrm>
            <a:off x="4572000" y="3246120"/>
            <a:ext cx="3063240" cy="1417320"/>
          </a:xfrm>
          <a:prstGeom prst="roundRect">
            <a:avLst>
              <a:gd name="adj" fmla="val 7742"/>
            </a:avLst>
          </a:prstGeom>
          <a:solidFill>
            <a:srgbClr val="2A9D8F"/>
          </a:solidFill>
          <a:ln w="12700">
            <a:solidFill>
              <a:srgbClr val="2A9D8F"/>
            </a:solidFill>
            <a:prstDash val="solid"/>
          </a:ln>
          <a:effectLst>
            <a:outerShdw sx="100000" sy="100000" kx="0" ky="0" algn="bl" rotWithShape="0" blurRad="50800" dist="25400" dir="5400000">
              <a:srgbClr val="000000">
                <a:alpha val="12000"/>
              </a:srgbClr>
            </a:outerShdw>
          </a:effectLst>
        </p:spPr>
      </p:sp>
      <p:sp>
        <p:nvSpPr>
          <p:cNvPr id="7" name="Text 5"/>
          <p:cNvSpPr txBox="1"/>
          <p:nvPr/>
        </p:nvSpPr>
        <p:spPr>
          <a:xfrm>
            <a:off x="4754880" y="3355848"/>
            <a:ext cx="2697480" cy="731520"/>
          </a:xfrm>
          <a:prstGeom prst="rect">
            <a:avLst/>
          </a:prstGeom>
          <a:noFill/>
          <a:ln/>
        </p:spPr>
        <p:txBody>
          <a:bodyPr wrap="square" lIns="0" tIns="0" rIns="0" bIns="0" rtlCol="0" anchor="ctr"/>
          <a:lstStyle/>
          <a:p>
            <a:pPr rtl="1" algn="ctr" indent="0" marL="0">
              <a:buNone/>
            </a:pPr>
            <a:r>
              <a:rPr lang="he-IL" altLang="en-US" sz="1450" b="1" dirty="0">
                <a:solidFill>
                  <a:srgbClr val="FFFFFF"/>
                </a:solidFill>
                <a:latin typeface="Arial" pitchFamily="34" charset="0"/>
                <a:ea typeface="Arial" pitchFamily="34" charset="-122"/>
                <a:cs typeface="Arial" pitchFamily="34" charset="-120"/>
              </a:rPr>
              <a:t>עיצוב תפקיד לצרכי התקרבות</a:t>
            </a:r>
            <a:endParaRPr lang="he-IL" sz="1450" dirty="0"/>
          </a:p>
        </p:txBody>
      </p:sp>
      <p:sp>
        <p:nvSpPr>
          <p:cNvPr id="8" name="Text 6"/>
          <p:cNvSpPr txBox="1"/>
          <p:nvPr/>
        </p:nvSpPr>
        <p:spPr>
          <a:xfrm>
            <a:off x="4754880" y="4087368"/>
            <a:ext cx="2697480" cy="502920"/>
          </a:xfrm>
          <a:prstGeom prst="rect">
            <a:avLst/>
          </a:prstGeom>
          <a:noFill/>
          <a:ln/>
        </p:spPr>
        <p:txBody>
          <a:bodyPr wrap="square" lIns="0" tIns="0" rIns="0" bIns="0" rtlCol="0" anchor="t"/>
          <a:lstStyle/>
          <a:p>
            <a:pPr rtl="1" algn="ctr" indent="0" marL="0">
              <a:buNone/>
            </a:pPr>
            <a:r>
              <a:rPr lang="he-IL" altLang="en-US" sz="1150" dirty="0">
                <a:solidFill>
                  <a:srgbClr val="F3F4F6"/>
                </a:solidFill>
                <a:latin typeface="Arial" pitchFamily="34" charset="0"/>
                <a:ea typeface="Arial" pitchFamily="34" charset="-122"/>
                <a:cs typeface="Arial" pitchFamily="34" charset="-120"/>
              </a:rPr>
              <a:t>β = 0.431: המנבא החזק ביותר במודל</a:t>
            </a:r>
            <a:endParaRPr lang="he-IL" sz="1150" dirty="0"/>
          </a:p>
        </p:txBody>
      </p:sp>
      <p:sp>
        <p:nvSpPr>
          <p:cNvPr id="9" name="Shape 7"/>
          <p:cNvSpPr/>
          <p:nvPr/>
        </p:nvSpPr>
        <p:spPr>
          <a:xfrm>
            <a:off x="548640" y="1463040"/>
            <a:ext cx="3063240" cy="1417320"/>
          </a:xfrm>
          <a:prstGeom prst="roundRect">
            <a:avLst>
              <a:gd name="adj" fmla="val 7742"/>
            </a:avLst>
          </a:prstGeom>
          <a:solidFill>
            <a:srgbClr val="14213D"/>
          </a:solidFill>
          <a:ln w="12700">
            <a:solidFill>
              <a:srgbClr val="14213D"/>
            </a:solidFill>
            <a:prstDash val="solid"/>
          </a:ln>
          <a:effectLst>
            <a:outerShdw sx="100000" sy="100000" kx="0" ky="0" algn="bl" rotWithShape="0" blurRad="50800" dist="25400" dir="5400000">
              <a:srgbClr val="000000">
                <a:alpha val="12000"/>
              </a:srgbClr>
            </a:outerShdw>
          </a:effectLst>
        </p:spPr>
      </p:sp>
      <p:sp>
        <p:nvSpPr>
          <p:cNvPr id="10" name="Text 8"/>
          <p:cNvSpPr txBox="1"/>
          <p:nvPr/>
        </p:nvSpPr>
        <p:spPr>
          <a:xfrm>
            <a:off x="731520" y="1572768"/>
            <a:ext cx="2697480" cy="731520"/>
          </a:xfrm>
          <a:prstGeom prst="rect">
            <a:avLst/>
          </a:prstGeom>
          <a:noFill/>
          <a:ln/>
        </p:spPr>
        <p:txBody>
          <a:bodyPr wrap="square" lIns="0" tIns="0" rIns="0" bIns="0" rtlCol="0" anchor="ctr"/>
          <a:lstStyle/>
          <a:p>
            <a:pPr rtl="1" algn="ctr" indent="0" marL="0">
              <a:buNone/>
            </a:pPr>
            <a:r>
              <a:rPr lang="he-IL" altLang="en-US" sz="1450" b="1" dirty="0">
                <a:solidFill>
                  <a:srgbClr val="FFFFFF"/>
                </a:solidFill>
                <a:latin typeface="Arial" pitchFamily="34" charset="0"/>
                <a:ea typeface="Arial" pitchFamily="34" charset="-122"/>
                <a:cs typeface="Arial" pitchFamily="34" charset="-120"/>
              </a:rPr>
              <a:t>בהירות, שליטה ומשמעות</a:t>
            </a:r>
            <a:endParaRPr lang="he-IL" sz="1450" dirty="0"/>
          </a:p>
        </p:txBody>
      </p:sp>
      <p:sp>
        <p:nvSpPr>
          <p:cNvPr id="11" name="Text 9"/>
          <p:cNvSpPr txBox="1"/>
          <p:nvPr/>
        </p:nvSpPr>
        <p:spPr>
          <a:xfrm>
            <a:off x="731520" y="2304288"/>
            <a:ext cx="2697480" cy="502920"/>
          </a:xfrm>
          <a:prstGeom prst="rect">
            <a:avLst/>
          </a:prstGeom>
          <a:noFill/>
          <a:ln/>
        </p:spPr>
        <p:txBody>
          <a:bodyPr wrap="square" lIns="0" tIns="0" rIns="0" bIns="0" rtlCol="0" anchor="t"/>
          <a:lstStyle/>
          <a:p>
            <a:pPr rtl="1" algn="ctr" indent="0" marL="0">
              <a:buNone/>
            </a:pPr>
            <a:r>
              <a:rPr lang="he-IL" altLang="en-US" sz="1150" dirty="0">
                <a:solidFill>
                  <a:srgbClr val="F3F4F6"/>
                </a:solidFill>
                <a:latin typeface="Arial" pitchFamily="34" charset="0"/>
                <a:ea typeface="Arial" pitchFamily="34" charset="-122"/>
                <a:cs typeface="Arial" pitchFamily="34" charset="-120"/>
              </a:rPr>
              <a:t>חצי שנה אחר כך</a:t>
            </a:r>
            <a:endParaRPr lang="he-IL" sz="1150" dirty="0"/>
          </a:p>
        </p:txBody>
      </p:sp>
      <p:sp>
        <p:nvSpPr>
          <p:cNvPr id="12" name="Shape 10"/>
          <p:cNvSpPr/>
          <p:nvPr/>
        </p:nvSpPr>
        <p:spPr>
          <a:xfrm rot="1800000">
            <a:off x="7726680" y="2697480"/>
            <a:ext cx="777240" cy="548640"/>
          </a:xfrm>
          <a:prstGeom prst="leftArrow">
            <a:avLst/>
          </a:prstGeom>
          <a:solidFill>
            <a:srgbClr val="FCA311"/>
          </a:solidFill>
          <a:ln w="12700">
            <a:solidFill>
              <a:srgbClr val="FCA311"/>
            </a:solidFill>
            <a:prstDash val="solid"/>
          </a:ln>
        </p:spPr>
      </p:sp>
      <p:sp>
        <p:nvSpPr>
          <p:cNvPr id="13" name="Shape 11"/>
          <p:cNvSpPr/>
          <p:nvPr/>
        </p:nvSpPr>
        <p:spPr>
          <a:xfrm rot="-1800000">
            <a:off x="3657600" y="2697480"/>
            <a:ext cx="777240" cy="548640"/>
          </a:xfrm>
          <a:prstGeom prst="leftArrow">
            <a:avLst/>
          </a:prstGeom>
          <a:solidFill>
            <a:srgbClr val="FCA311"/>
          </a:solidFill>
          <a:ln w="12700">
            <a:solidFill>
              <a:srgbClr val="FCA311"/>
            </a:solidFill>
            <a:prstDash val="solid"/>
          </a:ln>
        </p:spPr>
      </p:sp>
      <p:sp>
        <p:nvSpPr>
          <p:cNvPr id="14" name="Shape 12"/>
          <p:cNvSpPr/>
          <p:nvPr/>
        </p:nvSpPr>
        <p:spPr>
          <a:xfrm>
            <a:off x="5669280" y="1783080"/>
            <a:ext cx="868680" cy="548640"/>
          </a:xfrm>
          <a:prstGeom prst="rightArrow">
            <a:avLst/>
          </a:prstGeom>
          <a:solidFill>
            <a:srgbClr val="FCA311"/>
          </a:solidFill>
          <a:ln w="12700">
            <a:solidFill>
              <a:srgbClr val="FCA311"/>
            </a:solidFill>
            <a:prstDash val="solid"/>
          </a:ln>
        </p:spPr>
      </p:sp>
      <p:sp>
        <p:nvSpPr>
          <p:cNvPr id="15" name="Text 13"/>
          <p:cNvSpPr txBox="1"/>
          <p:nvPr/>
        </p:nvSpPr>
        <p:spPr>
          <a:xfrm>
            <a:off x="3931920" y="1234440"/>
            <a:ext cx="4297680" cy="457200"/>
          </a:xfrm>
          <a:prstGeom prst="rect">
            <a:avLst/>
          </a:prstGeom>
          <a:noFill/>
          <a:ln/>
        </p:spPr>
        <p:txBody>
          <a:bodyPr wrap="square" lIns="0" tIns="0" rIns="0" bIns="0" rtlCol="0" anchor="t"/>
          <a:lstStyle/>
          <a:p>
            <a:pPr rtl="1" algn="ctr" indent="0" marL="0">
              <a:buNone/>
            </a:pPr>
            <a:r>
              <a:rPr lang="he-IL" altLang="en-US" sz="1200" dirty="0">
                <a:solidFill>
                  <a:srgbClr val="6B7280"/>
                </a:solidFill>
                <a:latin typeface="Arial" pitchFamily="34" charset="0"/>
                <a:ea typeface="Arial" pitchFamily="34" charset="-122"/>
                <a:cs typeface="Arial" pitchFamily="34" charset="-120"/>
              </a:rPr>
              <a:t>ספירלת רווח: חוזר להתחלה</a:t>
            </a:r>
            <a:endParaRPr lang="he-IL" sz="1200" dirty="0"/>
          </a:p>
        </p:txBody>
      </p:sp>
      <p:sp>
        <p:nvSpPr>
          <p:cNvPr id="16" name="Shape 14"/>
          <p:cNvSpPr/>
          <p:nvPr/>
        </p:nvSpPr>
        <p:spPr>
          <a:xfrm>
            <a:off x="548640" y="4892040"/>
            <a:ext cx="11091672" cy="1371600"/>
          </a:xfrm>
          <a:prstGeom prst="roundRect">
            <a:avLst>
              <a:gd name="adj" fmla="val 8000"/>
            </a:avLst>
          </a:prstGeom>
          <a:solidFill>
            <a:srgbClr val="FFF4DE"/>
          </a:solidFill>
          <a:ln w="12700">
            <a:solidFill>
              <a:srgbClr val="FFF4DE"/>
            </a:solidFill>
            <a:prstDash val="solid"/>
          </a:ln>
          <a:effectLst>
            <a:outerShdw sx="100000" sy="100000" kx="0" ky="0" algn="bl" rotWithShape="0" blurRad="50800" dist="25400" dir="5400000">
              <a:srgbClr val="000000">
                <a:alpha val="12000"/>
              </a:srgbClr>
            </a:outerShdw>
          </a:effectLst>
        </p:spPr>
      </p:sp>
      <p:sp>
        <p:nvSpPr>
          <p:cNvPr id="17" name="Text 15"/>
          <p:cNvSpPr txBox="1"/>
          <p:nvPr/>
        </p:nvSpPr>
        <p:spPr>
          <a:xfrm>
            <a:off x="822960" y="4983480"/>
            <a:ext cx="10515600" cy="1188720"/>
          </a:xfrm>
          <a:prstGeom prst="rect">
            <a:avLst/>
          </a:prstGeom>
          <a:noFill/>
          <a:ln/>
        </p:spPr>
        <p:txBody>
          <a:bodyPr wrap="square" lIns="0" tIns="0" rIns="0" bIns="0" rtlCol="0" anchor="ctr"/>
          <a:lstStyle/>
          <a:p>
            <a:pPr rtl="1" algn="r" indent="0" marL="0">
              <a:buNone/>
            </a:pPr>
            <a:r>
              <a:rPr lang="he-IL" altLang="en-US" sz="1400" b="1" dirty="0">
                <a:solidFill>
                  <a:srgbClr val="14213D"/>
                </a:solidFill>
                <a:latin typeface="Arial" pitchFamily="34" charset="0"/>
                <a:ea typeface="Arial" pitchFamily="34" charset="-122"/>
                <a:cs typeface="Arial" pitchFamily="34" charset="-120"/>
              </a:rPr>
              <a:t>ההיפוך: מי שמרגיש שאין לו מספיק משאבים לא מעצב את תפקידו, אלא מגן על מה שנשאר. והמאמר המשלים מראה שהאיום הטכנולוגי פוגע בביצועים דרך חוסר הביטחון (Chung et al., 2025). לכן בונים ניהוליות בתקופות של יציבות, לא מחכים לאיום.</a:t>
            </a:r>
            <a:endParaRPr lang="he-IL" sz="1400" dirty="0"/>
          </a:p>
        </p:txBody>
      </p:sp>
      <p:sp>
        <p:nvSpPr>
          <p:cNvPr id="18" name="Text 16"/>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19" name="Text 17"/>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10</a:t>
            </a:r>
            <a:endParaRPr lang="he-IL"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תובנות, ביקורת ודעה אישית</a:t>
            </a:r>
            <a:endParaRPr lang="he-IL" sz="3000" dirty="0"/>
          </a:p>
        </p:txBody>
      </p:sp>
      <p:sp>
        <p:nvSpPr>
          <p:cNvPr id="3" name="Shape 1"/>
          <p:cNvSpPr/>
          <p:nvPr/>
        </p:nvSpPr>
        <p:spPr>
          <a:xfrm>
            <a:off x="6263640" y="1325880"/>
            <a:ext cx="5376672" cy="2926080"/>
          </a:xfrm>
          <a:prstGeom prst="roundRect">
            <a:avLst>
              <a:gd name="adj" fmla="val 3750"/>
            </a:avLst>
          </a:prstGeom>
          <a:solidFill>
            <a:srgbClr val="E8F5F1"/>
          </a:solidFill>
          <a:ln w="12700">
            <a:solidFill>
              <a:srgbClr val="E8F5F1"/>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6492240" y="1417320"/>
            <a:ext cx="4937760" cy="457200"/>
          </a:xfrm>
          <a:prstGeom prst="rect">
            <a:avLst/>
          </a:prstGeom>
          <a:noFill/>
          <a:ln/>
        </p:spPr>
        <p:txBody>
          <a:bodyPr wrap="square" lIns="0" tIns="0" rIns="0" bIns="0" rtlCol="0" anchor="t"/>
          <a:lstStyle/>
          <a:p>
            <a:pPr rtl="1" algn="r" indent="0" marL="0">
              <a:buNone/>
            </a:pPr>
            <a:r>
              <a:rPr lang="he-IL" altLang="en-US" sz="1800" b="1" dirty="0">
                <a:solidFill>
                  <a:srgbClr val="2A9D8F"/>
                </a:solidFill>
                <a:latin typeface="Arial" pitchFamily="34" charset="0"/>
                <a:ea typeface="Arial" pitchFamily="34" charset="-122"/>
                <a:cs typeface="Arial" pitchFamily="34" charset="-120"/>
              </a:rPr>
              <a:t>👍 מה אהבנו</a:t>
            </a:r>
            <a:endParaRPr lang="he-IL" sz="1800" dirty="0"/>
          </a:p>
        </p:txBody>
      </p:sp>
      <p:sp>
        <p:nvSpPr>
          <p:cNvPr id="5" name="Text 3"/>
          <p:cNvSpPr txBox="1"/>
          <p:nvPr/>
        </p:nvSpPr>
        <p:spPr>
          <a:xfrm>
            <a:off x="6492240" y="1920240"/>
            <a:ext cx="4937760" cy="2194560"/>
          </a:xfrm>
          <a:prstGeom prst="rect">
            <a:avLst/>
          </a:prstGeom>
          <a:noFill/>
          <a:ln/>
        </p:spPr>
        <p:txBody>
          <a:bodyPr wrap="square" lIns="0" tIns="0" rIns="0" bIns="0" rtlCol="0" anchor="t"/>
          <a:lstStyle/>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נקודת המבט: מה עוזר, לא רק מה מזיק. רעיון ישראלי מבן-גוריון</a:t>
            </a:r>
            <a:endParaRPr lang="he-IL" sz="1300" dirty="0"/>
          </a:p>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פרקטי: שישה צרכים, שאלות פשוטות, פעולות לשבועיים</a:t>
            </a:r>
            <a:endParaRPr lang="he-IL" sz="1300" dirty="0"/>
          </a:p>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כנות: כמעט עמוד שלם על מגבלות, כולל ממצא שקשה להם להסביר</a:t>
            </a:r>
            <a:endParaRPr lang="he-IL" sz="1300" dirty="0"/>
          </a:p>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זמין לכולם בחינם</a:t>
            </a:r>
            <a:endParaRPr lang="he-IL" sz="1300" dirty="0"/>
          </a:p>
        </p:txBody>
      </p:sp>
      <p:sp>
        <p:nvSpPr>
          <p:cNvPr id="6" name="Shape 4"/>
          <p:cNvSpPr/>
          <p:nvPr/>
        </p:nvSpPr>
        <p:spPr>
          <a:xfrm>
            <a:off x="548640" y="1325880"/>
            <a:ext cx="5376672" cy="2926080"/>
          </a:xfrm>
          <a:prstGeom prst="roundRect">
            <a:avLst>
              <a:gd name="adj" fmla="val 3750"/>
            </a:avLst>
          </a:prstGeom>
          <a:solidFill>
            <a:srgbClr val="FDECEA"/>
          </a:solidFill>
          <a:ln w="12700">
            <a:solidFill>
              <a:srgbClr val="FDECEA"/>
            </a:solidFill>
            <a:prstDash val="solid"/>
          </a:ln>
          <a:effectLst>
            <a:outerShdw sx="100000" sy="100000" kx="0" ky="0" algn="bl" rotWithShape="0" blurRad="50800" dist="25400" dir="5400000">
              <a:srgbClr val="000000">
                <a:alpha val="12000"/>
              </a:srgbClr>
            </a:outerShdw>
          </a:effectLst>
        </p:spPr>
      </p:sp>
      <p:sp>
        <p:nvSpPr>
          <p:cNvPr id="7" name="Text 5"/>
          <p:cNvSpPr txBox="1"/>
          <p:nvPr/>
        </p:nvSpPr>
        <p:spPr>
          <a:xfrm>
            <a:off x="777240" y="1417320"/>
            <a:ext cx="4937760" cy="457200"/>
          </a:xfrm>
          <a:prstGeom prst="rect">
            <a:avLst/>
          </a:prstGeom>
          <a:noFill/>
          <a:ln/>
        </p:spPr>
        <p:txBody>
          <a:bodyPr wrap="square" lIns="0" tIns="0" rIns="0" bIns="0" rtlCol="0" anchor="t"/>
          <a:lstStyle/>
          <a:p>
            <a:pPr rtl="1" algn="r" indent="0" marL="0">
              <a:buNone/>
            </a:pPr>
            <a:r>
              <a:rPr lang="he-IL" altLang="en-US" sz="1800" b="1" dirty="0">
                <a:solidFill>
                  <a:srgbClr val="E76F51"/>
                </a:solidFill>
                <a:latin typeface="Arial" pitchFamily="34" charset="0"/>
                <a:ea typeface="Arial" pitchFamily="34" charset="-122"/>
                <a:cs typeface="Arial" pitchFamily="34" charset="-120"/>
              </a:rPr>
              <a:t>🤔 מה חסר לנו</a:t>
            </a:r>
            <a:endParaRPr lang="he-IL" sz="1800" dirty="0"/>
          </a:p>
        </p:txBody>
      </p:sp>
      <p:sp>
        <p:nvSpPr>
          <p:cNvPr id="8" name="Text 6"/>
          <p:cNvSpPr txBox="1"/>
          <p:nvPr/>
        </p:nvSpPr>
        <p:spPr>
          <a:xfrm>
            <a:off x="777240" y="1920240"/>
            <a:ext cx="4937760" cy="2194560"/>
          </a:xfrm>
          <a:prstGeom prst="rect">
            <a:avLst/>
          </a:prstGeom>
          <a:noFill/>
          <a:ln/>
        </p:spPr>
        <p:txBody>
          <a:bodyPr wrap="square" lIns="0" tIns="0" rIns="0" bIns="0" rtlCol="0" anchor="t"/>
          <a:lstStyle/>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לא מודד חוסר ביטחון במישרין. את החיבור לנושא בנינו בעצמנו</a:t>
            </a:r>
            <a:endParaRPr lang="he-IL" sz="1300" dirty="0"/>
          </a:p>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מדגם גרמני-שווייצרי, גיל ממוצע 49, ביטחון סוציאלי גבוה. האם המרחב לעצב תפקיד קיים גם אצלנו?</a:t>
            </a:r>
            <a:endParaRPr lang="he-IL" sz="1300" dirty="0"/>
          </a:p>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שכירים בתפקיד קיים בלבד. לא מחפשי עבודה, לא עצמאים</a:t>
            </a:r>
            <a:endParaRPr lang="he-IL" sz="1300" dirty="0"/>
          </a:p>
        </p:txBody>
      </p:sp>
      <p:sp>
        <p:nvSpPr>
          <p:cNvPr id="9" name="Shape 7"/>
          <p:cNvSpPr/>
          <p:nvPr/>
        </p:nvSpPr>
        <p:spPr>
          <a:xfrm>
            <a:off x="548640" y="4480560"/>
            <a:ext cx="11091672" cy="1783080"/>
          </a:xfrm>
          <a:prstGeom prst="roundRect">
            <a:avLst>
              <a:gd name="adj" fmla="val 6154"/>
            </a:avLst>
          </a:prstGeom>
          <a:solidFill>
            <a:srgbClr val="14213D"/>
          </a:solidFill>
          <a:ln w="12700">
            <a:solidFill>
              <a:srgbClr val="14213D"/>
            </a:solidFill>
            <a:prstDash val="solid"/>
          </a:ln>
          <a:effectLst>
            <a:outerShdw sx="100000" sy="100000" kx="0" ky="0" algn="bl" rotWithShape="0" blurRad="50800" dist="25400" dir="5400000">
              <a:srgbClr val="000000">
                <a:alpha val="12000"/>
              </a:srgbClr>
            </a:outerShdw>
          </a:effectLst>
        </p:spPr>
      </p:sp>
      <p:sp>
        <p:nvSpPr>
          <p:cNvPr id="10" name="Text 8"/>
          <p:cNvSpPr txBox="1"/>
          <p:nvPr/>
        </p:nvSpPr>
        <p:spPr>
          <a:xfrm>
            <a:off x="822960" y="4572000"/>
            <a:ext cx="10515600" cy="411480"/>
          </a:xfrm>
          <a:prstGeom prst="rect">
            <a:avLst/>
          </a:prstGeom>
          <a:noFill/>
          <a:ln/>
        </p:spPr>
        <p:txBody>
          <a:bodyPr wrap="square" lIns="0" tIns="0" rIns="0" bIns="0" rtlCol="0" anchor="t"/>
          <a:lstStyle/>
          <a:p>
            <a:pPr rtl="1" algn="r" indent="0" marL="0">
              <a:buNone/>
            </a:pPr>
            <a:r>
              <a:rPr lang="he-IL" altLang="en-US" sz="1700" b="1" dirty="0">
                <a:solidFill>
                  <a:srgbClr val="FCA311"/>
                </a:solidFill>
                <a:latin typeface="Arial" pitchFamily="34" charset="0"/>
                <a:ea typeface="Arial" pitchFamily="34" charset="-122"/>
                <a:cs typeface="Arial" pitchFamily="34" charset="-120"/>
              </a:rPr>
              <a:t>העמדה שלנו</a:t>
            </a:r>
            <a:endParaRPr lang="he-IL" sz="1700" dirty="0"/>
          </a:p>
        </p:txBody>
      </p:sp>
      <p:sp>
        <p:nvSpPr>
          <p:cNvPr id="11" name="Text 9"/>
          <p:cNvSpPr txBox="1"/>
          <p:nvPr/>
        </p:nvSpPr>
        <p:spPr>
          <a:xfrm>
            <a:off x="822960" y="4983480"/>
            <a:ext cx="10515600" cy="1234440"/>
          </a:xfrm>
          <a:prstGeom prst="rect">
            <a:avLst/>
          </a:prstGeom>
          <a:noFill/>
          <a:ln/>
        </p:spPr>
        <p:txBody>
          <a:bodyPr wrap="square" lIns="0" tIns="0" rIns="0" bIns="0" rtlCol="0" anchor="t"/>
          <a:lstStyle/>
          <a:p>
            <a:pPr rtl="1" algn="r" indent="0" marL="0">
              <a:buNone/>
            </a:pPr>
            <a:r>
              <a:rPr lang="he-IL" altLang="en-US" sz="1450" dirty="0">
                <a:solidFill>
                  <a:srgbClr val="FFFFFF"/>
                </a:solidFill>
                <a:latin typeface="Arial" pitchFamily="34" charset="0"/>
                <a:ea typeface="Arial" pitchFamily="34" charset="-122"/>
                <a:cs typeface="Arial" pitchFamily="34" charset="-120"/>
              </a:rPr>
              <a:t>המאמר משלים את "ממשבר להזדמנות": משבר לא הופך להזדמנות מעצמו, אלא כשמישהו מעצב אותו כך. אבל המסר צריך להיות כפול: לעצב את התפקיד עכשיו, כשעוד יש משאבים, ולזכור שמי שמרגיש שאין לו משאבים צריך קודם תמיכה ולא עצות.</a:t>
            </a:r>
            <a:endParaRPr lang="he-IL" sz="1450" dirty="0"/>
          </a:p>
        </p:txBody>
      </p:sp>
      <p:sp>
        <p:nvSpPr>
          <p:cNvPr id="12" name="Text 10"/>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13" name="Text 11"/>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11</a:t>
            </a:r>
            <a:endParaRPr lang="he-IL"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FFFFFF"/>
                </a:solidFill>
                <a:latin typeface="Arial" pitchFamily="34" charset="0"/>
                <a:ea typeface="Arial" pitchFamily="34" charset="-122"/>
                <a:cs typeface="Arial" pitchFamily="34" charset="-120"/>
              </a:rPr>
              <a:t>סרטון: "3 הסודות של אנשים חסינים", Lucy Hone, TED</a:t>
            </a:r>
            <a:endParaRPr lang="he-IL" sz="3000" dirty="0"/>
          </a:p>
        </p:txBody>
      </p:sp>
      <p:sp>
        <p:nvSpPr>
          <p:cNvPr id="3" name="Shape 1"/>
          <p:cNvSpPr/>
          <p:nvPr/>
        </p:nvSpPr>
        <p:spPr>
          <a:xfrm>
            <a:off x="6309360" y="1463040"/>
            <a:ext cx="5330952" cy="3017520"/>
          </a:xfrm>
          <a:prstGeom prst="roundRect">
            <a:avLst>
              <a:gd name="adj" fmla="val 3636"/>
            </a:avLst>
          </a:prstGeom>
          <a:solidFill>
            <a:srgbClr val="0B1530"/>
          </a:solidFill>
          <a:ln w="12700">
            <a:solidFill>
              <a:srgbClr val="0B1530"/>
            </a:solidFill>
            <a:prstDash val="solid"/>
          </a:ln>
        </p:spPr>
      </p:sp>
      <p:sp>
        <p:nvSpPr>
          <p:cNvPr id="4" name="Shape 2"/>
          <p:cNvSpPr/>
          <p:nvPr/>
        </p:nvSpPr>
        <p:spPr>
          <a:xfrm>
            <a:off x="8412480" y="2377440"/>
            <a:ext cx="1143000" cy="1143000"/>
          </a:xfrm>
          <a:prstGeom prst="ellipse">
            <a:avLst/>
          </a:prstGeom>
          <a:solidFill>
            <a:srgbClr val="FCA311"/>
          </a:solidFill>
          <a:ln w="12700">
            <a:solidFill>
              <a:srgbClr val="FCA311"/>
            </a:solidFill>
            <a:prstDash val="solid"/>
          </a:ln>
        </p:spPr>
      </p:sp>
      <p:sp>
        <p:nvSpPr>
          <p:cNvPr id="5" name="Text 3"/>
          <p:cNvSpPr txBox="1"/>
          <p:nvPr/>
        </p:nvSpPr>
        <p:spPr>
          <a:xfrm>
            <a:off x="8412480" y="2377440"/>
            <a:ext cx="1143000" cy="1143000"/>
          </a:xfrm>
          <a:prstGeom prst="rect">
            <a:avLst/>
          </a:prstGeom>
          <a:noFill/>
          <a:ln/>
        </p:spPr>
        <p:txBody>
          <a:bodyPr wrap="square" lIns="0" tIns="0" rIns="0" bIns="0" rtlCol="0" anchor="ctr"/>
          <a:lstStyle/>
          <a:p>
            <a:pPr algn="ctr" indent="0" marL="0">
              <a:buNone/>
            </a:pPr>
            <a:r>
              <a:rPr lang="en-US" sz="3000" b="1" dirty="0">
                <a:solidFill>
                  <a:srgbClr val="14213D"/>
                </a:solidFill>
                <a:latin typeface="Arial" pitchFamily="34" charset="0"/>
                <a:ea typeface="Arial" pitchFamily="34" charset="-122"/>
                <a:cs typeface="Arial" pitchFamily="34" charset="-120"/>
              </a:rPr>
              <a:t>▶</a:t>
            </a:r>
            <a:endParaRPr lang="en-US" sz="3000" dirty="0"/>
          </a:p>
        </p:txBody>
      </p:sp>
      <p:sp>
        <p:nvSpPr>
          <p:cNvPr id="6" name="Text 4">
            <a:hlinkClick r:id="rId1" tooltip=""/>
          </p:cNvPr>
          <p:cNvSpPr txBox="1"/>
          <p:nvPr/>
        </p:nvSpPr>
        <p:spPr>
          <a:xfrm>
            <a:off x="6492240" y="3977640"/>
            <a:ext cx="4937760" cy="365760"/>
          </a:xfrm>
          <a:prstGeom prst="rect">
            <a:avLst/>
          </a:prstGeom>
          <a:noFill/>
          <a:ln/>
        </p:spPr>
        <p:txBody>
          <a:bodyPr wrap="square" lIns="0" tIns="0" rIns="0" bIns="0" rtlCol="0" anchor="ctr"/>
          <a:lstStyle/>
          <a:p>
            <a:pPr algn="ctr" indent="0" marL="0">
              <a:buNone/>
            </a:pPr>
            <a:r>
              <a:rPr lang="en-US" sz="1100" u="sng" dirty="0">
                <a:solidFill>
                  <a:srgbClr val="CAD3E5"/>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ted.com/talks/lucy_hone_the_three_secrets_of_resilient_people</a:t>
            </a:r>
            <a:endParaRPr lang="en-US" sz="1100" dirty="0"/>
          </a:p>
        </p:txBody>
      </p:sp>
      <p:sp>
        <p:nvSpPr>
          <p:cNvPr id="7" name="Text 5"/>
          <p:cNvSpPr txBox="1"/>
          <p:nvPr/>
        </p:nvSpPr>
        <p:spPr>
          <a:xfrm>
            <a:off x="731520" y="1463040"/>
            <a:ext cx="5212080" cy="457200"/>
          </a:xfrm>
          <a:prstGeom prst="rect">
            <a:avLst/>
          </a:prstGeom>
          <a:noFill/>
          <a:ln/>
        </p:spPr>
        <p:txBody>
          <a:bodyPr wrap="square" lIns="0" tIns="0" rIns="0" bIns="0" rtlCol="0" anchor="t"/>
          <a:lstStyle/>
          <a:p>
            <a:pPr rtl="1" algn="r" indent="0" marL="0">
              <a:buNone/>
            </a:pPr>
            <a:r>
              <a:rPr lang="he-IL" altLang="en-US" sz="1800" b="1" dirty="0">
                <a:solidFill>
                  <a:srgbClr val="FCA311"/>
                </a:solidFill>
                <a:latin typeface="Arial" pitchFamily="34" charset="0"/>
                <a:ea typeface="Arial" pitchFamily="34" charset="-122"/>
                <a:cs typeface="Arial" pitchFamily="34" charset="-120"/>
              </a:rPr>
              <a:t>מה לחפש בקטע (90 שניות):</a:t>
            </a:r>
            <a:endParaRPr lang="he-IL" sz="1800" dirty="0"/>
          </a:p>
        </p:txBody>
      </p:sp>
      <p:sp>
        <p:nvSpPr>
          <p:cNvPr id="8" name="Text 6"/>
          <p:cNvSpPr txBox="1"/>
          <p:nvPr/>
        </p:nvSpPr>
        <p:spPr>
          <a:xfrm>
            <a:off x="731520" y="1965960"/>
            <a:ext cx="5212080" cy="2560320"/>
          </a:xfrm>
          <a:prstGeom prst="rect">
            <a:avLst/>
          </a:prstGeom>
          <a:noFill/>
          <a:ln/>
        </p:spPr>
        <p:txBody>
          <a:bodyPr wrap="square" lIns="0" tIns="0" rIns="0" bIns="0" rtlCol="0" anchor="t"/>
          <a:lstStyle/>
          <a:p>
            <a:pPr algn="r" marL="342900" indent="-342900">
              <a:spcAft>
                <a:spcPts val="800"/>
              </a:spcAft>
              <a:buSzPct val="100000"/>
              <a:buChar char="•"/>
            </a:pPr>
            <a:r>
              <a:rPr lang="he-IL" altLang="en-US" sz="1450" dirty="0">
                <a:solidFill>
                  <a:srgbClr val="FFFFFF"/>
                </a:solidFill>
                <a:latin typeface="Arial" pitchFamily="34" charset="0"/>
                <a:ea typeface="Arial" pitchFamily="34" charset="-122"/>
                <a:cs typeface="Arial" pitchFamily="34" charset="-120"/>
              </a:rPr>
              <a:t>"דברים רעים קורים": קבלת חוסר הוודאות כחלק מהחיים</a:t>
            </a:r>
            <a:endParaRPr lang="he-IL" sz="1450" dirty="0"/>
          </a:p>
          <a:p>
            <a:pPr algn="r" marL="342900" indent="-342900">
              <a:spcAft>
                <a:spcPts val="800"/>
              </a:spcAft>
              <a:buSzPct val="100000"/>
              <a:buChar char="•"/>
            </a:pPr>
            <a:r>
              <a:rPr lang="he-IL" altLang="en-US" sz="1450" dirty="0">
                <a:solidFill>
                  <a:srgbClr val="FFFFFF"/>
                </a:solidFill>
                <a:latin typeface="Arial" pitchFamily="34" charset="0"/>
                <a:ea typeface="Arial" pitchFamily="34" charset="-122"/>
                <a:cs typeface="Arial" pitchFamily="34" charset="-120"/>
              </a:rPr>
              <a:t>לבחור במה להתמקד: מה בשליטתי. זו המובנות והניהוליות</a:t>
            </a:r>
            <a:endParaRPr lang="he-IL" sz="1450" dirty="0"/>
          </a:p>
          <a:p>
            <a:pPr algn="r" marL="342900" indent="-342900">
              <a:spcAft>
                <a:spcPts val="800"/>
              </a:spcAft>
              <a:buSzPct val="100000"/>
              <a:buChar char="•"/>
            </a:pPr>
            <a:r>
              <a:rPr lang="he-IL" altLang="en-US" sz="1450" dirty="0">
                <a:solidFill>
                  <a:srgbClr val="FFFFFF"/>
                </a:solidFill>
                <a:latin typeface="Arial" pitchFamily="34" charset="0"/>
                <a:ea typeface="Arial" pitchFamily="34" charset="-122"/>
                <a:cs typeface="Arial" pitchFamily="34" charset="-120"/>
              </a:rPr>
              <a:t>"האם זה עוזר לי או פוגע בי?": האם אני מעצב את המצב או רק שורד אותו</a:t>
            </a:r>
            <a:endParaRPr lang="he-IL" sz="1450" dirty="0"/>
          </a:p>
        </p:txBody>
      </p:sp>
      <p:sp>
        <p:nvSpPr>
          <p:cNvPr id="9" name="Shape 7"/>
          <p:cNvSpPr/>
          <p:nvPr/>
        </p:nvSpPr>
        <p:spPr>
          <a:xfrm>
            <a:off x="731520" y="4800600"/>
            <a:ext cx="10908792" cy="1371600"/>
          </a:xfrm>
          <a:prstGeom prst="roundRect">
            <a:avLst>
              <a:gd name="adj" fmla="val 8000"/>
            </a:avLst>
          </a:prstGeom>
          <a:solidFill>
            <a:srgbClr val="1D2E52"/>
          </a:solidFill>
          <a:ln w="12700">
            <a:solidFill>
              <a:srgbClr val="1D2E52"/>
            </a:solidFill>
            <a:prstDash val="solid"/>
          </a:ln>
          <a:effectLst>
            <a:outerShdw sx="100000" sy="100000" kx="0" ky="0" algn="bl" rotWithShape="0" blurRad="50800" dist="25400" dir="5400000">
              <a:srgbClr val="000000">
                <a:alpha val="12000"/>
              </a:srgbClr>
            </a:outerShdw>
          </a:effectLst>
        </p:spPr>
      </p:sp>
      <p:sp>
        <p:nvSpPr>
          <p:cNvPr id="10" name="Text 8"/>
          <p:cNvSpPr txBox="1"/>
          <p:nvPr/>
        </p:nvSpPr>
        <p:spPr>
          <a:xfrm>
            <a:off x="960120" y="4892040"/>
            <a:ext cx="10424160" cy="1188720"/>
          </a:xfrm>
          <a:prstGeom prst="rect">
            <a:avLst/>
          </a:prstGeom>
          <a:noFill/>
          <a:ln/>
        </p:spPr>
        <p:txBody>
          <a:bodyPr wrap="square" lIns="0" tIns="0" rIns="0" bIns="0" rtlCol="0" anchor="ctr"/>
          <a:lstStyle/>
          <a:p>
            <a:pPr rtl="1" algn="r" indent="0" marL="0">
              <a:buNone/>
            </a:pPr>
            <a:r>
              <a:rPr lang="he-IL" altLang="en-US" sz="1600" dirty="0">
                <a:solidFill>
                  <a:srgbClr val="FFFFFF"/>
                </a:solidFill>
                <a:latin typeface="Arial" pitchFamily="34" charset="0"/>
                <a:ea typeface="Arial" pitchFamily="34" charset="-122"/>
                <a:cs typeface="Arial" pitchFamily="34" charset="-120"/>
              </a:rPr>
              <a:t>שאלה לכיתה אחרי הסרטון: איזה מהשלושה הכי קשה לכם ליישם בהקשר של הקריירה? (הרמת ידיים)</a:t>
            </a:r>
            <a:endParaRPr lang="he-IL" sz="1600" dirty="0"/>
          </a:p>
        </p:txBody>
      </p:sp>
      <p:sp>
        <p:nvSpPr>
          <p:cNvPr id="11" name="Text 9"/>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A9B4C8"/>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12" name="Text 10"/>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A9B4C8"/>
                </a:solidFill>
                <a:latin typeface="Arial" pitchFamily="34" charset="0"/>
                <a:ea typeface="Arial" pitchFamily="34" charset="-122"/>
                <a:cs typeface="Arial" pitchFamily="34" charset="-120"/>
              </a:rPr>
              <a:t>12</a:t>
            </a:r>
            <a:endParaRPr lang="he-IL"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יישום: תוכנית עיצוב תפקיד אישית לפי ארבעת צרכי ההתקרבות</a:t>
            </a:r>
            <a:endParaRPr lang="he-IL"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5394960"/>
                <a:gridCol w="3566160"/>
                <a:gridCol w="2130552"/>
              </a:tblGrid>
              <a:tr h="457200">
                <a:tc>
                  <a:txBody>
                    <a:bodyPr/>
                    <a:lstStyle/>
                    <a:p>
                      <a:pPr rtl="1" algn="r" indent="0" marL="0">
                        <a:buNone/>
                      </a:pPr>
                      <a:r>
                        <a:rPr lang="en-US" sz="1400" b="1" dirty="0">
                          <a:solidFill>
                            <a:srgbClr val="FFFFFF"/>
                          </a:solidFill>
                          <a:latin typeface="Arial" pitchFamily="34" charset="0"/>
                          <a:ea typeface="Arial" pitchFamily="34" charset="-122"/>
                          <a:cs typeface="Arial" pitchFamily="34" charset="-120"/>
                        </a:rPr>
                        <a:t>דוגמאות לפעולה בשבועיים הקרובים</a:t>
                      </a:r>
                      <a:endParaRPr lang="en-US" sz="14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c>
                  <a:txBody>
                    <a:bodyPr/>
                    <a:lstStyle/>
                    <a:p>
                      <a:pPr rtl="1" algn="r" indent="0" marL="0">
                        <a:buNone/>
                      </a:pPr>
                      <a:r>
                        <a:rPr lang="en-US" sz="1400" b="1" dirty="0">
                          <a:solidFill>
                            <a:srgbClr val="FFFFFF"/>
                          </a:solidFill>
                          <a:latin typeface="Arial" pitchFamily="34" charset="0"/>
                          <a:ea typeface="Arial" pitchFamily="34" charset="-122"/>
                          <a:cs typeface="Arial" pitchFamily="34" charset="-120"/>
                        </a:rPr>
                        <a:t>שאלה מנחה</a:t>
                      </a:r>
                      <a:endParaRPr lang="en-US" sz="14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c>
                  <a:txBody>
                    <a:bodyPr/>
                    <a:lstStyle/>
                    <a:p>
                      <a:pPr rtl="1" algn="r" indent="0" marL="0">
                        <a:buNone/>
                      </a:pPr>
                      <a:r>
                        <a:rPr lang="en-US" sz="1400" b="1" dirty="0">
                          <a:solidFill>
                            <a:srgbClr val="FFFFFF"/>
                          </a:solidFill>
                          <a:latin typeface="Arial" pitchFamily="34" charset="0"/>
                          <a:ea typeface="Arial" pitchFamily="34" charset="-122"/>
                          <a:cs typeface="Arial" pitchFamily="34" charset="-120"/>
                        </a:rPr>
                        <a:t>הצורך</a:t>
                      </a:r>
                      <a:endParaRPr lang="en-US" sz="14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r>
              <a:tr h="868680">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לקבוע את סדר המשימות של הבוקר; להציע דרך משלי למשימה חוזרת; שעה קבועה ללא הפרעות</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באילו החלטות קטנות אני יכול לבחור בעצמי?</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b="1" dirty="0">
                          <a:solidFill>
                            <a:srgbClr val="2A9D8F"/>
                          </a:solidFill>
                          <a:latin typeface="Arial" pitchFamily="34" charset="0"/>
                          <a:ea typeface="Arial" pitchFamily="34" charset="-122"/>
                          <a:cs typeface="Arial" pitchFamily="34" charset="-120"/>
                        </a:rPr>
                        <a:t>אוטונומיה</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868680">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משימה אחת מעט מעבר ליכולת; כלי בינה מלאכותית אחד בתחום; לתעד בסוף השבוע דבר אחד שלמדתי</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איזה אתגר בגובה הנכון יגרום לי להרגיש שאני מתקדם?</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b="1" dirty="0">
                          <a:solidFill>
                            <a:srgbClr val="FCA311"/>
                          </a:solidFill>
                          <a:latin typeface="Arial" pitchFamily="34" charset="0"/>
                          <a:ea typeface="Arial" pitchFamily="34" charset="-122"/>
                          <a:cs typeface="Arial" pitchFamily="34" charset="-120"/>
                        </a:rPr>
                        <a:t>מיומנות</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868680">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לזהות למי העבודה שלי עוזרת ולדבר איתו; לנסח במשפט למה התפקיד חשוב; להתנדב למשימה שמתחברת לערכים</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איזה חלק בעבודה מתחבר למה שחשוב לי, ואיך מגדילים אותו?</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b="1" dirty="0">
                          <a:solidFill>
                            <a:srgbClr val="E76F51"/>
                          </a:solidFill>
                          <a:latin typeface="Arial" pitchFamily="34" charset="0"/>
                          <a:ea typeface="Arial" pitchFamily="34" charset="-122"/>
                          <a:cs typeface="Arial" pitchFamily="34" charset="-120"/>
                        </a:rPr>
                        <a:t>משמעות</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868680">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הפסקת קפה קבועה עם עמית; להציע עזרה לפני שמבקשים; להצטרף לפרויקט חוצה מחלקות</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עם מי בעבודה אני רוצה קשר אמיתי יותר?</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b="1" dirty="0">
                          <a:solidFill>
                            <a:srgbClr val="14213D"/>
                          </a:solidFill>
                          <a:latin typeface="Arial" pitchFamily="34" charset="0"/>
                          <a:ea typeface="Arial" pitchFamily="34" charset="-122"/>
                          <a:cs typeface="Arial" pitchFamily="34" charset="-120"/>
                        </a:rPr>
                        <a:t>שייכות</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bl>
          </a:graphicData>
        </a:graphic>
      </p:graphicFrame>
      <p:sp>
        <p:nvSpPr>
          <p:cNvPr id="4" name="Shape 1"/>
          <p:cNvSpPr/>
          <p:nvPr/>
        </p:nvSpPr>
        <p:spPr>
          <a:xfrm>
            <a:off x="548640" y="5532120"/>
            <a:ext cx="11091672" cy="731520"/>
          </a:xfrm>
          <a:prstGeom prst="roundRect">
            <a:avLst>
              <a:gd name="adj" fmla="val 15000"/>
            </a:avLst>
          </a:prstGeom>
          <a:solidFill>
            <a:srgbClr val="FFF4DE"/>
          </a:solidFill>
          <a:ln w="12700">
            <a:solidFill>
              <a:srgbClr val="FFF4DE"/>
            </a:solidFill>
            <a:prstDash val="solid"/>
          </a:ln>
          <a:effectLst>
            <a:outerShdw sx="100000" sy="100000" kx="0" ky="0" algn="bl" rotWithShape="0" blurRad="50800" dist="25400" dir="5400000">
              <a:srgbClr val="000000">
                <a:alpha val="12000"/>
              </a:srgbClr>
            </a:outerShdw>
          </a:effectLst>
        </p:spPr>
      </p:sp>
      <p:sp>
        <p:nvSpPr>
          <p:cNvPr id="5" name="Text 2"/>
          <p:cNvSpPr txBox="1"/>
          <p:nvPr/>
        </p:nvSpPr>
        <p:spPr>
          <a:xfrm>
            <a:off x="822960" y="5577840"/>
            <a:ext cx="10515600" cy="640080"/>
          </a:xfrm>
          <a:prstGeom prst="rect">
            <a:avLst/>
          </a:prstGeom>
          <a:noFill/>
          <a:ln/>
        </p:spPr>
        <p:txBody>
          <a:bodyPr wrap="square" lIns="0" tIns="0" rIns="0" bIns="0" rtlCol="0" anchor="ctr"/>
          <a:lstStyle/>
          <a:p>
            <a:pPr rtl="1" algn="r" indent="0" marL="0">
              <a:buNone/>
            </a:pPr>
            <a:r>
              <a:rPr lang="he-IL" altLang="en-US" sz="1300" b="1" dirty="0">
                <a:solidFill>
                  <a:srgbClr val="14213D"/>
                </a:solidFill>
                <a:latin typeface="Arial" pitchFamily="34" charset="0"/>
                <a:ea typeface="Arial" pitchFamily="34" charset="-122"/>
                <a:cs typeface="Arial" pitchFamily="34" charset="-120"/>
              </a:rPr>
              <a:t>מתחבר ל"שלושת סלי הכלים" מהקורס: רשת אנשים = שייכות, התפתחות = מיומנות, זהות מקצועית = משמעות. המאמר מוסיף אוטונומיה וראיה אמפירית</a:t>
            </a:r>
            <a:endParaRPr lang="he-IL" sz="1300" dirty="0"/>
          </a:p>
        </p:txBody>
      </p:sp>
      <p:sp>
        <p:nvSpPr>
          <p:cNvPr id="6" name="Text 3"/>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7" name="Text 4"/>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13</a:t>
            </a:r>
            <a:endParaRPr lang="he-IL"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6FA"/>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הפעלה (2 דקות): צורך אחד, פעולה אחת, מועד אחד</a:t>
            </a:r>
            <a:endParaRPr lang="he-IL" sz="3000" dirty="0"/>
          </a:p>
        </p:txBody>
      </p:sp>
      <p:sp>
        <p:nvSpPr>
          <p:cNvPr id="3" name="Shape 1"/>
          <p:cNvSpPr/>
          <p:nvPr/>
        </p:nvSpPr>
        <p:spPr>
          <a:xfrm>
            <a:off x="8988552" y="1371600"/>
            <a:ext cx="2651760" cy="2377440"/>
          </a:xfrm>
          <a:prstGeom prst="roundRect">
            <a:avLst>
              <a:gd name="adj" fmla="val 4615"/>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4" name="Shape 2"/>
          <p:cNvSpPr/>
          <p:nvPr/>
        </p:nvSpPr>
        <p:spPr>
          <a:xfrm>
            <a:off x="9217152" y="1600200"/>
            <a:ext cx="2194560" cy="502920"/>
          </a:xfrm>
          <a:prstGeom prst="roundRect">
            <a:avLst>
              <a:gd name="adj" fmla="val 18182"/>
            </a:avLst>
          </a:prstGeom>
          <a:solidFill>
            <a:srgbClr val="2A9D8F"/>
          </a:solidFill>
          <a:ln w="12700">
            <a:solidFill>
              <a:srgbClr val="2A9D8F"/>
            </a:solidFill>
            <a:prstDash val="solid"/>
          </a:ln>
        </p:spPr>
      </p:sp>
      <p:sp>
        <p:nvSpPr>
          <p:cNvPr id="5" name="Text 3"/>
          <p:cNvSpPr txBox="1"/>
          <p:nvPr/>
        </p:nvSpPr>
        <p:spPr>
          <a:xfrm>
            <a:off x="9217152" y="1600200"/>
            <a:ext cx="2194560" cy="502920"/>
          </a:xfrm>
          <a:prstGeom prst="rect">
            <a:avLst/>
          </a:prstGeom>
          <a:noFill/>
          <a:ln/>
        </p:spPr>
        <p:txBody>
          <a:bodyPr wrap="square" lIns="0" tIns="0" rIns="0" bIns="0" rtlCol="0" anchor="ctr"/>
          <a:lstStyle/>
          <a:p>
            <a:pPr rtl="1" algn="ctr" indent="0" marL="0">
              <a:buNone/>
            </a:pPr>
            <a:r>
              <a:rPr lang="he-IL" altLang="en-US" sz="1500" b="1" dirty="0">
                <a:solidFill>
                  <a:srgbClr val="FFFFFF"/>
                </a:solidFill>
                <a:latin typeface="Arial" pitchFamily="34" charset="0"/>
                <a:ea typeface="Arial" pitchFamily="34" charset="-122"/>
                <a:cs typeface="Arial" pitchFamily="34" charset="-120"/>
              </a:rPr>
              <a:t>אוטונומיה</a:t>
            </a:r>
            <a:endParaRPr lang="he-IL" sz="1500" dirty="0"/>
          </a:p>
        </p:txBody>
      </p:sp>
      <p:sp>
        <p:nvSpPr>
          <p:cNvPr id="6" name="Text 4"/>
          <p:cNvSpPr txBox="1"/>
          <p:nvPr/>
        </p:nvSpPr>
        <p:spPr>
          <a:xfrm>
            <a:off x="9217152" y="2286000"/>
            <a:ext cx="2194560" cy="1371600"/>
          </a:xfrm>
          <a:prstGeom prst="rect">
            <a:avLst/>
          </a:prstGeom>
          <a:noFill/>
          <a:ln/>
        </p:spPr>
        <p:txBody>
          <a:bodyPr wrap="square" lIns="0" tIns="0" rIns="0" bIns="0" rtlCol="0" anchor="t"/>
          <a:lstStyle/>
          <a:p>
            <a:pPr rtl="1" algn="r" indent="0" marL="0">
              <a:buNone/>
            </a:pPr>
            <a:r>
              <a:rPr lang="he-IL" altLang="en-US" sz="1300" dirty="0">
                <a:solidFill>
                  <a:srgbClr val="1F2937"/>
                </a:solidFill>
                <a:latin typeface="Arial" pitchFamily="34" charset="0"/>
                <a:ea typeface="Arial" pitchFamily="34" charset="-122"/>
                <a:cs typeface="Arial" pitchFamily="34" charset="-120"/>
              </a:rPr>
              <a:t>איזו החלטה קטנה בעבודה או בלימודים אני לוקח לידיים כבר השבוע?</a:t>
            </a:r>
            <a:endParaRPr lang="he-IL" sz="1300" dirty="0"/>
          </a:p>
        </p:txBody>
      </p:sp>
      <p:sp>
        <p:nvSpPr>
          <p:cNvPr id="7" name="Shape 5"/>
          <p:cNvSpPr/>
          <p:nvPr/>
        </p:nvSpPr>
        <p:spPr>
          <a:xfrm>
            <a:off x="6172200" y="1371600"/>
            <a:ext cx="2651760" cy="2377440"/>
          </a:xfrm>
          <a:prstGeom prst="roundRect">
            <a:avLst>
              <a:gd name="adj" fmla="val 4615"/>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8" name="Shape 6"/>
          <p:cNvSpPr/>
          <p:nvPr/>
        </p:nvSpPr>
        <p:spPr>
          <a:xfrm>
            <a:off x="6400800" y="1600200"/>
            <a:ext cx="2194560" cy="502920"/>
          </a:xfrm>
          <a:prstGeom prst="roundRect">
            <a:avLst>
              <a:gd name="adj" fmla="val 18182"/>
            </a:avLst>
          </a:prstGeom>
          <a:solidFill>
            <a:srgbClr val="FCA311"/>
          </a:solidFill>
          <a:ln w="12700">
            <a:solidFill>
              <a:srgbClr val="FCA311"/>
            </a:solidFill>
            <a:prstDash val="solid"/>
          </a:ln>
        </p:spPr>
      </p:sp>
      <p:sp>
        <p:nvSpPr>
          <p:cNvPr id="9" name="Text 7"/>
          <p:cNvSpPr txBox="1"/>
          <p:nvPr/>
        </p:nvSpPr>
        <p:spPr>
          <a:xfrm>
            <a:off x="6400800" y="1600200"/>
            <a:ext cx="2194560" cy="502920"/>
          </a:xfrm>
          <a:prstGeom prst="rect">
            <a:avLst/>
          </a:prstGeom>
          <a:noFill/>
          <a:ln/>
        </p:spPr>
        <p:txBody>
          <a:bodyPr wrap="square" lIns="0" tIns="0" rIns="0" bIns="0" rtlCol="0" anchor="ctr"/>
          <a:lstStyle/>
          <a:p>
            <a:pPr rtl="1" algn="ctr" indent="0" marL="0">
              <a:buNone/>
            </a:pPr>
            <a:r>
              <a:rPr lang="he-IL" altLang="en-US" sz="1500" b="1" dirty="0">
                <a:solidFill>
                  <a:srgbClr val="FFFFFF"/>
                </a:solidFill>
                <a:latin typeface="Arial" pitchFamily="34" charset="0"/>
                <a:ea typeface="Arial" pitchFamily="34" charset="-122"/>
                <a:cs typeface="Arial" pitchFamily="34" charset="-120"/>
              </a:rPr>
              <a:t>מיומנות</a:t>
            </a:r>
            <a:endParaRPr lang="he-IL" sz="1500" dirty="0"/>
          </a:p>
        </p:txBody>
      </p:sp>
      <p:sp>
        <p:nvSpPr>
          <p:cNvPr id="10" name="Text 8"/>
          <p:cNvSpPr txBox="1"/>
          <p:nvPr/>
        </p:nvSpPr>
        <p:spPr>
          <a:xfrm>
            <a:off x="6400800" y="2286000"/>
            <a:ext cx="2194560" cy="1371600"/>
          </a:xfrm>
          <a:prstGeom prst="rect">
            <a:avLst/>
          </a:prstGeom>
          <a:noFill/>
          <a:ln/>
        </p:spPr>
        <p:txBody>
          <a:bodyPr wrap="square" lIns="0" tIns="0" rIns="0" bIns="0" rtlCol="0" anchor="t"/>
          <a:lstStyle/>
          <a:p>
            <a:pPr rtl="1" algn="r" indent="0" marL="0">
              <a:buNone/>
            </a:pPr>
            <a:r>
              <a:rPr lang="he-IL" altLang="en-US" sz="1300" dirty="0">
                <a:solidFill>
                  <a:srgbClr val="1F2937"/>
                </a:solidFill>
                <a:latin typeface="Arial" pitchFamily="34" charset="0"/>
                <a:ea typeface="Arial" pitchFamily="34" charset="-122"/>
                <a:cs typeface="Arial" pitchFamily="34" charset="-120"/>
              </a:rPr>
              <a:t>איזה אתגר אחד, מעט מעבר ליכולת הנוכחית, אני לוקח על עצמי בשבועיים הקרובים?</a:t>
            </a:r>
            <a:endParaRPr lang="he-IL" sz="1300" dirty="0"/>
          </a:p>
        </p:txBody>
      </p:sp>
      <p:sp>
        <p:nvSpPr>
          <p:cNvPr id="11" name="Shape 9"/>
          <p:cNvSpPr/>
          <p:nvPr/>
        </p:nvSpPr>
        <p:spPr>
          <a:xfrm>
            <a:off x="3355848" y="1371600"/>
            <a:ext cx="2651760" cy="2377440"/>
          </a:xfrm>
          <a:prstGeom prst="roundRect">
            <a:avLst>
              <a:gd name="adj" fmla="val 4615"/>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2" name="Shape 10"/>
          <p:cNvSpPr/>
          <p:nvPr/>
        </p:nvSpPr>
        <p:spPr>
          <a:xfrm>
            <a:off x="3584448" y="1600200"/>
            <a:ext cx="2194560" cy="502920"/>
          </a:xfrm>
          <a:prstGeom prst="roundRect">
            <a:avLst>
              <a:gd name="adj" fmla="val 18182"/>
            </a:avLst>
          </a:prstGeom>
          <a:solidFill>
            <a:srgbClr val="E76F51"/>
          </a:solidFill>
          <a:ln w="12700">
            <a:solidFill>
              <a:srgbClr val="E76F51"/>
            </a:solidFill>
            <a:prstDash val="solid"/>
          </a:ln>
        </p:spPr>
      </p:sp>
      <p:sp>
        <p:nvSpPr>
          <p:cNvPr id="13" name="Text 11"/>
          <p:cNvSpPr txBox="1"/>
          <p:nvPr/>
        </p:nvSpPr>
        <p:spPr>
          <a:xfrm>
            <a:off x="3584448" y="1600200"/>
            <a:ext cx="2194560" cy="502920"/>
          </a:xfrm>
          <a:prstGeom prst="rect">
            <a:avLst/>
          </a:prstGeom>
          <a:noFill/>
          <a:ln/>
        </p:spPr>
        <p:txBody>
          <a:bodyPr wrap="square" lIns="0" tIns="0" rIns="0" bIns="0" rtlCol="0" anchor="ctr"/>
          <a:lstStyle/>
          <a:p>
            <a:pPr rtl="1" algn="ctr" indent="0" marL="0">
              <a:buNone/>
            </a:pPr>
            <a:r>
              <a:rPr lang="he-IL" altLang="en-US" sz="1500" b="1" dirty="0">
                <a:solidFill>
                  <a:srgbClr val="FFFFFF"/>
                </a:solidFill>
                <a:latin typeface="Arial" pitchFamily="34" charset="0"/>
                <a:ea typeface="Arial" pitchFamily="34" charset="-122"/>
                <a:cs typeface="Arial" pitchFamily="34" charset="-120"/>
              </a:rPr>
              <a:t>משמעות</a:t>
            </a:r>
            <a:endParaRPr lang="he-IL" sz="1500" dirty="0"/>
          </a:p>
        </p:txBody>
      </p:sp>
      <p:sp>
        <p:nvSpPr>
          <p:cNvPr id="14" name="Text 12"/>
          <p:cNvSpPr txBox="1"/>
          <p:nvPr/>
        </p:nvSpPr>
        <p:spPr>
          <a:xfrm>
            <a:off x="3584448" y="2286000"/>
            <a:ext cx="2194560" cy="1371600"/>
          </a:xfrm>
          <a:prstGeom prst="rect">
            <a:avLst/>
          </a:prstGeom>
          <a:noFill/>
          <a:ln/>
        </p:spPr>
        <p:txBody>
          <a:bodyPr wrap="square" lIns="0" tIns="0" rIns="0" bIns="0" rtlCol="0" anchor="t"/>
          <a:lstStyle/>
          <a:p>
            <a:pPr rtl="1" algn="r" indent="0" marL="0">
              <a:buNone/>
            </a:pPr>
            <a:r>
              <a:rPr lang="he-IL" altLang="en-US" sz="1300" dirty="0">
                <a:solidFill>
                  <a:srgbClr val="1F2937"/>
                </a:solidFill>
                <a:latin typeface="Arial" pitchFamily="34" charset="0"/>
                <a:ea typeface="Arial" pitchFamily="34" charset="-122"/>
                <a:cs typeface="Arial" pitchFamily="34" charset="-120"/>
              </a:rPr>
              <a:t>למי העבודה שלי עוזרת, ומתי בפעם האחרונה דיברתי איתו?</a:t>
            </a:r>
            <a:endParaRPr lang="he-IL" sz="1300" dirty="0"/>
          </a:p>
        </p:txBody>
      </p:sp>
      <p:sp>
        <p:nvSpPr>
          <p:cNvPr id="15" name="Shape 13"/>
          <p:cNvSpPr/>
          <p:nvPr/>
        </p:nvSpPr>
        <p:spPr>
          <a:xfrm>
            <a:off x="539496" y="1371600"/>
            <a:ext cx="2651760" cy="2377440"/>
          </a:xfrm>
          <a:prstGeom prst="roundRect">
            <a:avLst>
              <a:gd name="adj" fmla="val 4615"/>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6" name="Shape 14"/>
          <p:cNvSpPr/>
          <p:nvPr/>
        </p:nvSpPr>
        <p:spPr>
          <a:xfrm>
            <a:off x="768096" y="1600200"/>
            <a:ext cx="2194560" cy="502920"/>
          </a:xfrm>
          <a:prstGeom prst="roundRect">
            <a:avLst>
              <a:gd name="adj" fmla="val 18182"/>
            </a:avLst>
          </a:prstGeom>
          <a:solidFill>
            <a:srgbClr val="14213D"/>
          </a:solidFill>
          <a:ln w="12700">
            <a:solidFill>
              <a:srgbClr val="14213D"/>
            </a:solidFill>
            <a:prstDash val="solid"/>
          </a:ln>
        </p:spPr>
      </p:sp>
      <p:sp>
        <p:nvSpPr>
          <p:cNvPr id="17" name="Text 15"/>
          <p:cNvSpPr txBox="1"/>
          <p:nvPr/>
        </p:nvSpPr>
        <p:spPr>
          <a:xfrm>
            <a:off x="768096" y="1600200"/>
            <a:ext cx="2194560" cy="502920"/>
          </a:xfrm>
          <a:prstGeom prst="rect">
            <a:avLst/>
          </a:prstGeom>
          <a:noFill/>
          <a:ln/>
        </p:spPr>
        <p:txBody>
          <a:bodyPr wrap="square" lIns="0" tIns="0" rIns="0" bIns="0" rtlCol="0" anchor="ctr"/>
          <a:lstStyle/>
          <a:p>
            <a:pPr rtl="1" algn="ctr" indent="0" marL="0">
              <a:buNone/>
            </a:pPr>
            <a:r>
              <a:rPr lang="he-IL" altLang="en-US" sz="1500" b="1" dirty="0">
                <a:solidFill>
                  <a:srgbClr val="FFFFFF"/>
                </a:solidFill>
                <a:latin typeface="Arial" pitchFamily="34" charset="0"/>
                <a:ea typeface="Arial" pitchFamily="34" charset="-122"/>
                <a:cs typeface="Arial" pitchFamily="34" charset="-120"/>
              </a:rPr>
              <a:t>שייכות</a:t>
            </a:r>
            <a:endParaRPr lang="he-IL" sz="1500" dirty="0"/>
          </a:p>
        </p:txBody>
      </p:sp>
      <p:sp>
        <p:nvSpPr>
          <p:cNvPr id="18" name="Text 16"/>
          <p:cNvSpPr txBox="1"/>
          <p:nvPr/>
        </p:nvSpPr>
        <p:spPr>
          <a:xfrm>
            <a:off x="768096" y="2286000"/>
            <a:ext cx="2194560" cy="1371600"/>
          </a:xfrm>
          <a:prstGeom prst="rect">
            <a:avLst/>
          </a:prstGeom>
          <a:noFill/>
          <a:ln/>
        </p:spPr>
        <p:txBody>
          <a:bodyPr wrap="square" lIns="0" tIns="0" rIns="0" bIns="0" rtlCol="0" anchor="t"/>
          <a:lstStyle/>
          <a:p>
            <a:pPr rtl="1" algn="r" indent="0" marL="0">
              <a:buNone/>
            </a:pPr>
            <a:r>
              <a:rPr lang="he-IL" altLang="en-US" sz="1300" dirty="0">
                <a:solidFill>
                  <a:srgbClr val="1F2937"/>
                </a:solidFill>
                <a:latin typeface="Arial" pitchFamily="34" charset="0"/>
                <a:ea typeface="Arial" pitchFamily="34" charset="-122"/>
                <a:cs typeface="Arial" pitchFamily="34" charset="-120"/>
              </a:rPr>
              <a:t>עם מי בעבודה אני רוצה קשר אמיתי יותר, ומה הצעד הראשון?</a:t>
            </a:r>
            <a:endParaRPr lang="he-IL" sz="1300" dirty="0"/>
          </a:p>
        </p:txBody>
      </p:sp>
      <p:sp>
        <p:nvSpPr>
          <p:cNvPr id="19" name="Shape 17"/>
          <p:cNvSpPr/>
          <p:nvPr/>
        </p:nvSpPr>
        <p:spPr>
          <a:xfrm>
            <a:off x="548640" y="3977640"/>
            <a:ext cx="11091672" cy="2286000"/>
          </a:xfrm>
          <a:prstGeom prst="roundRect">
            <a:avLst>
              <a:gd name="adj" fmla="val 4800"/>
            </a:avLst>
          </a:prstGeom>
          <a:solidFill>
            <a:srgbClr val="14213D"/>
          </a:solidFill>
          <a:ln w="12700">
            <a:solidFill>
              <a:srgbClr val="14213D"/>
            </a:solidFill>
            <a:prstDash val="solid"/>
          </a:ln>
          <a:effectLst>
            <a:outerShdw sx="100000" sy="100000" kx="0" ky="0" algn="bl" rotWithShape="0" blurRad="50800" dist="25400" dir="5400000">
              <a:srgbClr val="000000">
                <a:alpha val="12000"/>
              </a:srgbClr>
            </a:outerShdw>
          </a:effectLst>
        </p:spPr>
      </p:sp>
      <p:sp>
        <p:nvSpPr>
          <p:cNvPr id="20" name="Text 18"/>
          <p:cNvSpPr txBox="1"/>
          <p:nvPr/>
        </p:nvSpPr>
        <p:spPr>
          <a:xfrm>
            <a:off x="822960" y="4069080"/>
            <a:ext cx="10515600" cy="411480"/>
          </a:xfrm>
          <a:prstGeom prst="rect">
            <a:avLst/>
          </a:prstGeom>
          <a:noFill/>
          <a:ln/>
        </p:spPr>
        <p:txBody>
          <a:bodyPr wrap="square" lIns="0" tIns="0" rIns="0" bIns="0" rtlCol="0" anchor="t"/>
          <a:lstStyle/>
          <a:p>
            <a:pPr rtl="1" algn="r" indent="0" marL="0">
              <a:buNone/>
            </a:pPr>
            <a:r>
              <a:rPr lang="he-IL" altLang="en-US" sz="1700" b="1" dirty="0">
                <a:solidFill>
                  <a:srgbClr val="FCA311"/>
                </a:solidFill>
                <a:latin typeface="Arial" pitchFamily="34" charset="0"/>
                <a:ea typeface="Arial" pitchFamily="34" charset="-122"/>
                <a:cs typeface="Arial" pitchFamily="34" charset="-120"/>
              </a:rPr>
              <a:t>שלושה שלבים:</a:t>
            </a:r>
            <a:endParaRPr lang="he-IL" sz="1700" dirty="0"/>
          </a:p>
        </p:txBody>
      </p:sp>
      <p:sp>
        <p:nvSpPr>
          <p:cNvPr id="21" name="Shape 19"/>
          <p:cNvSpPr/>
          <p:nvPr/>
        </p:nvSpPr>
        <p:spPr>
          <a:xfrm>
            <a:off x="10835640" y="4617720"/>
            <a:ext cx="411480" cy="411480"/>
          </a:xfrm>
          <a:prstGeom prst="ellipse">
            <a:avLst/>
          </a:prstGeom>
          <a:solidFill>
            <a:srgbClr val="FCA311"/>
          </a:solidFill>
          <a:ln w="12700">
            <a:solidFill>
              <a:srgbClr val="FCA311"/>
            </a:solidFill>
            <a:prstDash val="solid"/>
          </a:ln>
        </p:spPr>
      </p:sp>
      <p:sp>
        <p:nvSpPr>
          <p:cNvPr id="22" name="Text 20"/>
          <p:cNvSpPr txBox="1"/>
          <p:nvPr/>
        </p:nvSpPr>
        <p:spPr>
          <a:xfrm>
            <a:off x="10835640" y="4617720"/>
            <a:ext cx="411480" cy="411480"/>
          </a:xfrm>
          <a:prstGeom prst="rect">
            <a:avLst/>
          </a:prstGeom>
          <a:noFill/>
          <a:ln/>
        </p:spPr>
        <p:txBody>
          <a:bodyPr wrap="square" lIns="0" tIns="0" rIns="0" bIns="0" rtlCol="0" anchor="ctr"/>
          <a:lstStyle/>
          <a:p>
            <a:pPr algn="ctr" indent="0" marL="0">
              <a:buNone/>
            </a:pPr>
            <a:r>
              <a:rPr lang="en-US" sz="1400" b="1" dirty="0">
                <a:solidFill>
                  <a:srgbClr val="14213D"/>
                </a:solidFill>
                <a:latin typeface="Arial" pitchFamily="34" charset="0"/>
                <a:ea typeface="Arial" pitchFamily="34" charset="-122"/>
                <a:cs typeface="Arial" pitchFamily="34" charset="-120"/>
              </a:rPr>
              <a:t>1</a:t>
            </a:r>
            <a:endParaRPr lang="en-US" sz="1400" dirty="0"/>
          </a:p>
        </p:txBody>
      </p:sp>
      <p:sp>
        <p:nvSpPr>
          <p:cNvPr id="23" name="Text 21"/>
          <p:cNvSpPr txBox="1"/>
          <p:nvPr/>
        </p:nvSpPr>
        <p:spPr>
          <a:xfrm>
            <a:off x="822960" y="4572000"/>
            <a:ext cx="9875520" cy="502920"/>
          </a:xfrm>
          <a:prstGeom prst="rect">
            <a:avLst/>
          </a:prstGeom>
          <a:noFill/>
          <a:ln/>
        </p:spPr>
        <p:txBody>
          <a:bodyPr wrap="square" lIns="0" tIns="0" rIns="0" bIns="0" rtlCol="0" anchor="ctr"/>
          <a:lstStyle/>
          <a:p>
            <a:pPr rtl="1" algn="r" indent="0" marL="0">
              <a:buNone/>
            </a:pPr>
            <a:r>
              <a:rPr lang="he-IL" altLang="en-US" sz="1500" dirty="0">
                <a:solidFill>
                  <a:srgbClr val="FFFFFF"/>
                </a:solidFill>
                <a:latin typeface="Arial" pitchFamily="34" charset="0"/>
                <a:ea typeface="Arial" pitchFamily="34" charset="-122"/>
                <a:cs typeface="Arial" pitchFamily="34" charset="-120"/>
              </a:rPr>
              <a:t>בוחרים כרטיסייה אחת (30 שניות)</a:t>
            </a:r>
            <a:endParaRPr lang="he-IL" sz="1500" dirty="0"/>
          </a:p>
        </p:txBody>
      </p:sp>
      <p:sp>
        <p:nvSpPr>
          <p:cNvPr id="24" name="Shape 22"/>
          <p:cNvSpPr/>
          <p:nvPr/>
        </p:nvSpPr>
        <p:spPr>
          <a:xfrm>
            <a:off x="10835640" y="5166360"/>
            <a:ext cx="411480" cy="411480"/>
          </a:xfrm>
          <a:prstGeom prst="ellipse">
            <a:avLst/>
          </a:prstGeom>
          <a:solidFill>
            <a:srgbClr val="FCA311"/>
          </a:solidFill>
          <a:ln w="12700">
            <a:solidFill>
              <a:srgbClr val="FCA311"/>
            </a:solidFill>
            <a:prstDash val="solid"/>
          </a:ln>
        </p:spPr>
      </p:sp>
      <p:sp>
        <p:nvSpPr>
          <p:cNvPr id="25" name="Text 23"/>
          <p:cNvSpPr txBox="1"/>
          <p:nvPr/>
        </p:nvSpPr>
        <p:spPr>
          <a:xfrm>
            <a:off x="10835640" y="5166360"/>
            <a:ext cx="411480" cy="411480"/>
          </a:xfrm>
          <a:prstGeom prst="rect">
            <a:avLst/>
          </a:prstGeom>
          <a:noFill/>
          <a:ln/>
        </p:spPr>
        <p:txBody>
          <a:bodyPr wrap="square" lIns="0" tIns="0" rIns="0" bIns="0" rtlCol="0" anchor="ctr"/>
          <a:lstStyle/>
          <a:p>
            <a:pPr algn="ctr" indent="0" marL="0">
              <a:buNone/>
            </a:pPr>
            <a:r>
              <a:rPr lang="en-US" sz="1400" b="1" dirty="0">
                <a:solidFill>
                  <a:srgbClr val="14213D"/>
                </a:solidFill>
                <a:latin typeface="Arial" pitchFamily="34" charset="0"/>
                <a:ea typeface="Arial" pitchFamily="34" charset="-122"/>
                <a:cs typeface="Arial" pitchFamily="34" charset="-120"/>
              </a:rPr>
              <a:t>2</a:t>
            </a:r>
            <a:endParaRPr lang="en-US" sz="1400" dirty="0"/>
          </a:p>
        </p:txBody>
      </p:sp>
      <p:sp>
        <p:nvSpPr>
          <p:cNvPr id="26" name="Text 24"/>
          <p:cNvSpPr txBox="1"/>
          <p:nvPr/>
        </p:nvSpPr>
        <p:spPr>
          <a:xfrm>
            <a:off x="822960" y="5120640"/>
            <a:ext cx="9875520" cy="502920"/>
          </a:xfrm>
          <a:prstGeom prst="rect">
            <a:avLst/>
          </a:prstGeom>
          <a:noFill/>
          <a:ln/>
        </p:spPr>
        <p:txBody>
          <a:bodyPr wrap="square" lIns="0" tIns="0" rIns="0" bIns="0" rtlCol="0" anchor="ctr"/>
          <a:lstStyle/>
          <a:p>
            <a:pPr rtl="1" algn="r" indent="0" marL="0">
              <a:buNone/>
            </a:pPr>
            <a:r>
              <a:rPr lang="he-IL" altLang="en-US" sz="1500" dirty="0">
                <a:solidFill>
                  <a:srgbClr val="FFFFFF"/>
                </a:solidFill>
                <a:latin typeface="Arial" pitchFamily="34" charset="0"/>
                <a:ea typeface="Arial" pitchFamily="34" charset="-122"/>
                <a:cs typeface="Arial" pitchFamily="34" charset="-120"/>
              </a:rPr>
              <a:t>כותבים פעולה אחת קונקרטית ומועד לביצועה (60 שניות)</a:t>
            </a:r>
            <a:endParaRPr lang="he-IL" sz="1500" dirty="0"/>
          </a:p>
        </p:txBody>
      </p:sp>
      <p:sp>
        <p:nvSpPr>
          <p:cNvPr id="27" name="Shape 25"/>
          <p:cNvSpPr/>
          <p:nvPr/>
        </p:nvSpPr>
        <p:spPr>
          <a:xfrm>
            <a:off x="10835640" y="5715000"/>
            <a:ext cx="411480" cy="411480"/>
          </a:xfrm>
          <a:prstGeom prst="ellipse">
            <a:avLst/>
          </a:prstGeom>
          <a:solidFill>
            <a:srgbClr val="FCA311"/>
          </a:solidFill>
          <a:ln w="12700">
            <a:solidFill>
              <a:srgbClr val="FCA311"/>
            </a:solidFill>
            <a:prstDash val="solid"/>
          </a:ln>
        </p:spPr>
      </p:sp>
      <p:sp>
        <p:nvSpPr>
          <p:cNvPr id="28" name="Text 26"/>
          <p:cNvSpPr txBox="1"/>
          <p:nvPr/>
        </p:nvSpPr>
        <p:spPr>
          <a:xfrm>
            <a:off x="10835640" y="5715000"/>
            <a:ext cx="411480" cy="411480"/>
          </a:xfrm>
          <a:prstGeom prst="rect">
            <a:avLst/>
          </a:prstGeom>
          <a:noFill/>
          <a:ln/>
        </p:spPr>
        <p:txBody>
          <a:bodyPr wrap="square" lIns="0" tIns="0" rIns="0" bIns="0" rtlCol="0" anchor="ctr"/>
          <a:lstStyle/>
          <a:p>
            <a:pPr algn="ctr" indent="0" marL="0">
              <a:buNone/>
            </a:pPr>
            <a:r>
              <a:rPr lang="en-US" sz="1400" b="1" dirty="0">
                <a:solidFill>
                  <a:srgbClr val="14213D"/>
                </a:solidFill>
                <a:latin typeface="Arial" pitchFamily="34" charset="0"/>
                <a:ea typeface="Arial" pitchFamily="34" charset="-122"/>
                <a:cs typeface="Arial" pitchFamily="34" charset="-120"/>
              </a:rPr>
              <a:t>3</a:t>
            </a:r>
            <a:endParaRPr lang="en-US" sz="1400" dirty="0"/>
          </a:p>
        </p:txBody>
      </p:sp>
      <p:sp>
        <p:nvSpPr>
          <p:cNvPr id="29" name="Text 27"/>
          <p:cNvSpPr txBox="1"/>
          <p:nvPr/>
        </p:nvSpPr>
        <p:spPr>
          <a:xfrm>
            <a:off x="822960" y="5669280"/>
            <a:ext cx="9875520" cy="502920"/>
          </a:xfrm>
          <a:prstGeom prst="rect">
            <a:avLst/>
          </a:prstGeom>
          <a:noFill/>
          <a:ln/>
        </p:spPr>
        <p:txBody>
          <a:bodyPr wrap="square" lIns="0" tIns="0" rIns="0" bIns="0" rtlCol="0" anchor="ctr"/>
          <a:lstStyle/>
          <a:p>
            <a:pPr rtl="1" algn="r" indent="0" marL="0">
              <a:buNone/>
            </a:pPr>
            <a:r>
              <a:rPr lang="he-IL" altLang="en-US" sz="1500" dirty="0">
                <a:solidFill>
                  <a:srgbClr val="FFFFFF"/>
                </a:solidFill>
                <a:latin typeface="Arial" pitchFamily="34" charset="0"/>
                <a:ea typeface="Arial" pitchFamily="34" charset="-122"/>
                <a:cs typeface="Arial" pitchFamily="34" charset="-120"/>
              </a:rPr>
              <a:t>משתפים את השכן במשפט אחד (30 שניות). נשמע 2 עד 3 דוגמאות מהכיתה</a:t>
            </a:r>
            <a:endParaRPr lang="he-IL" sz="1500" dirty="0"/>
          </a:p>
        </p:txBody>
      </p:sp>
      <p:sp>
        <p:nvSpPr>
          <p:cNvPr id="30" name="Text 28"/>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31" name="Text 29"/>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14</a:t>
            </a:r>
            <a:endParaRPr lang="he-IL"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1645920" y="-1645920"/>
            <a:ext cx="4114800" cy="4114800"/>
          </a:xfrm>
          <a:prstGeom prst="ellipse">
            <a:avLst/>
          </a:prstGeom>
          <a:solidFill>
            <a:srgbClr val="1D2E52"/>
          </a:solidFill>
          <a:ln w="12700">
            <a:solidFill>
              <a:srgbClr val="1D2E52"/>
            </a:solidFill>
            <a:prstDash val="solid"/>
          </a:ln>
        </p:spPr>
      </p:sp>
      <p:sp>
        <p:nvSpPr>
          <p:cNvPr id="3" name="Text 1"/>
          <p:cNvSpPr txBox="1"/>
          <p:nvPr/>
        </p:nvSpPr>
        <p:spPr>
          <a:xfrm>
            <a:off x="731520" y="548640"/>
            <a:ext cx="10698480" cy="640080"/>
          </a:xfrm>
          <a:prstGeom prst="rect">
            <a:avLst/>
          </a:prstGeom>
          <a:noFill/>
          <a:ln/>
        </p:spPr>
        <p:txBody>
          <a:bodyPr wrap="square" lIns="0" tIns="0" rIns="0" bIns="0" rtlCol="0" anchor="t"/>
          <a:lstStyle/>
          <a:p>
            <a:pPr rtl="1" algn="r" indent="0" marL="0">
              <a:buNone/>
            </a:pPr>
            <a:r>
              <a:rPr lang="he-IL" altLang="en-US" sz="2000" dirty="0">
                <a:solidFill>
                  <a:srgbClr val="CAD3E5"/>
                </a:solidFill>
                <a:latin typeface="Arial" pitchFamily="34" charset="0"/>
                <a:ea typeface="Arial" pitchFamily="34" charset="-122"/>
                <a:cs typeface="Arial" pitchFamily="34" charset="-120"/>
              </a:rPr>
              <a:t>המסר שלנו לכיתה</a:t>
            </a:r>
            <a:endParaRPr lang="he-IL" sz="2000" dirty="0"/>
          </a:p>
        </p:txBody>
      </p:sp>
      <p:sp>
        <p:nvSpPr>
          <p:cNvPr id="4" name="Text 2"/>
          <p:cNvSpPr txBox="1"/>
          <p:nvPr/>
        </p:nvSpPr>
        <p:spPr>
          <a:xfrm>
            <a:off x="731520" y="1188720"/>
            <a:ext cx="10698480" cy="1737360"/>
          </a:xfrm>
          <a:prstGeom prst="rect">
            <a:avLst/>
          </a:prstGeom>
          <a:noFill/>
          <a:ln/>
        </p:spPr>
        <p:txBody>
          <a:bodyPr wrap="square" lIns="0" tIns="0" rIns="0" bIns="0" rtlCol="0" anchor="ctr"/>
          <a:lstStyle/>
          <a:p>
            <a:pPr rtl="1" algn="r" indent="0" marL="0">
              <a:buNone/>
            </a:pPr>
            <a:r>
              <a:rPr lang="he-IL" altLang="en-US" sz="3200" b="1" dirty="0">
                <a:solidFill>
                  <a:srgbClr val="FFFFFF"/>
                </a:solidFill>
                <a:latin typeface="Arial" pitchFamily="34" charset="0"/>
                <a:ea typeface="Arial" pitchFamily="34" charset="-122"/>
                <a:cs typeface="Arial" pitchFamily="34" charset="-120"/>
              </a:rPr>
              <a:t>את חוסר הוודאות לא תמיד אפשר למנוע.</a:t>
            </a:r>
            <a:endParaRPr lang="he-IL" sz="3200" dirty="0"/>
          </a:p>
          <a:p>
            <a:pPr rtl="1" algn="r" indent="0" marL="0">
              <a:buNone/>
            </a:pPr>
            <a:r>
              <a:rPr lang="he-IL" altLang="en-US" sz="3200" b="1" dirty="0">
                <a:solidFill>
                  <a:srgbClr val="FFFFFF"/>
                </a:solidFill>
                <a:latin typeface="Arial" pitchFamily="34" charset="0"/>
                <a:ea typeface="Arial" pitchFamily="34" charset="-122"/>
                <a:cs typeface="Arial" pitchFamily="34" charset="-120"/>
              </a:rPr>
              <a:t>את הבהירות, השליטה והמשמעות בתוך התפקיד אפשר לבנות.</a:t>
            </a:r>
            <a:endParaRPr lang="he-IL" sz="3200" dirty="0"/>
          </a:p>
        </p:txBody>
      </p:sp>
      <p:sp>
        <p:nvSpPr>
          <p:cNvPr id="5" name="Shape 3"/>
          <p:cNvSpPr/>
          <p:nvPr/>
        </p:nvSpPr>
        <p:spPr>
          <a:xfrm>
            <a:off x="8028432" y="3246120"/>
            <a:ext cx="3429000" cy="2331720"/>
          </a:xfrm>
          <a:prstGeom prst="roundRect">
            <a:avLst>
              <a:gd name="adj" fmla="val 4706"/>
            </a:avLst>
          </a:prstGeom>
          <a:solidFill>
            <a:srgbClr val="1D2E52"/>
          </a:solidFill>
          <a:ln w="12700">
            <a:solidFill>
              <a:srgbClr val="1D2E52"/>
            </a:solidFill>
            <a:prstDash val="solid"/>
          </a:ln>
          <a:effectLst>
            <a:outerShdw sx="100000" sy="100000" kx="0" ky="0" algn="bl" rotWithShape="0" blurRad="50800" dist="25400" dir="5400000">
              <a:srgbClr val="000000">
                <a:alpha val="12000"/>
              </a:srgbClr>
            </a:outerShdw>
          </a:effectLst>
        </p:spPr>
      </p:sp>
      <p:sp>
        <p:nvSpPr>
          <p:cNvPr id="6" name="Shape 4"/>
          <p:cNvSpPr/>
          <p:nvPr/>
        </p:nvSpPr>
        <p:spPr>
          <a:xfrm>
            <a:off x="10680192" y="3520440"/>
            <a:ext cx="502920" cy="502920"/>
          </a:xfrm>
          <a:prstGeom prst="ellipse">
            <a:avLst/>
          </a:prstGeom>
          <a:solidFill>
            <a:srgbClr val="FCA311"/>
          </a:solidFill>
          <a:ln w="12700">
            <a:solidFill>
              <a:srgbClr val="FCA311"/>
            </a:solidFill>
            <a:prstDash val="solid"/>
          </a:ln>
        </p:spPr>
      </p:sp>
      <p:sp>
        <p:nvSpPr>
          <p:cNvPr id="7" name="Text 5"/>
          <p:cNvSpPr txBox="1"/>
          <p:nvPr/>
        </p:nvSpPr>
        <p:spPr>
          <a:xfrm>
            <a:off x="10680192" y="35204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1</a:t>
            </a:r>
            <a:endParaRPr lang="en-US" sz="1800" dirty="0"/>
          </a:p>
        </p:txBody>
      </p:sp>
      <p:sp>
        <p:nvSpPr>
          <p:cNvPr id="8" name="Text 6"/>
          <p:cNvSpPr txBox="1"/>
          <p:nvPr/>
        </p:nvSpPr>
        <p:spPr>
          <a:xfrm>
            <a:off x="8257032" y="3520440"/>
            <a:ext cx="2331720" cy="502920"/>
          </a:xfrm>
          <a:prstGeom prst="rect">
            <a:avLst/>
          </a:prstGeom>
          <a:noFill/>
          <a:ln/>
        </p:spPr>
        <p:txBody>
          <a:bodyPr wrap="square" lIns="0" tIns="0" rIns="0" bIns="0" rtlCol="0" anchor="ctr"/>
          <a:lstStyle/>
          <a:p>
            <a:pPr rtl="1" algn="r" indent="0" marL="0">
              <a:buNone/>
            </a:pPr>
            <a:r>
              <a:rPr lang="he-IL" altLang="en-US" sz="1600" b="1" dirty="0">
                <a:solidFill>
                  <a:srgbClr val="FCA311"/>
                </a:solidFill>
                <a:latin typeface="Arial" pitchFamily="34" charset="0"/>
                <a:ea typeface="Arial" pitchFamily="34" charset="-122"/>
                <a:cs typeface="Arial" pitchFamily="34" charset="-120"/>
              </a:rPr>
              <a:t>מה שעושים משנה</a:t>
            </a:r>
            <a:endParaRPr lang="he-IL" sz="1600" dirty="0"/>
          </a:p>
        </p:txBody>
      </p:sp>
      <p:sp>
        <p:nvSpPr>
          <p:cNvPr id="9" name="Text 7"/>
          <p:cNvSpPr txBox="1"/>
          <p:nvPr/>
        </p:nvSpPr>
        <p:spPr>
          <a:xfrm>
            <a:off x="8257032" y="4160520"/>
            <a:ext cx="2971800" cy="1325880"/>
          </a:xfrm>
          <a:prstGeom prst="rect">
            <a:avLst/>
          </a:prstGeom>
          <a:noFill/>
          <a:ln/>
        </p:spPr>
        <p:txBody>
          <a:bodyPr wrap="square" lIns="0" tIns="0" rIns="0" bIns="0" rtlCol="0" anchor="t"/>
          <a:lstStyle/>
          <a:p>
            <a:pPr rtl="1" algn="r" indent="0" marL="0">
              <a:buNone/>
            </a:pPr>
            <a:r>
              <a:rPr lang="he-IL" altLang="en-US" sz="1300" dirty="0">
                <a:solidFill>
                  <a:srgbClr val="FFFFFF"/>
                </a:solidFill>
                <a:latin typeface="Arial" pitchFamily="34" charset="0"/>
                <a:ea typeface="Arial" pitchFamily="34" charset="-122"/>
                <a:cs typeface="Arial" pitchFamily="34" charset="-120"/>
              </a:rPr>
              <a:t>924 עובדים: עיצוב תפקיד לצרכי התקרבות ניבא עבודה מובנת, בשליטה ומשמעותית יותר חצי שנה אחר כך</a:t>
            </a:r>
            <a:endParaRPr lang="he-IL" sz="1300" dirty="0"/>
          </a:p>
        </p:txBody>
      </p:sp>
      <p:sp>
        <p:nvSpPr>
          <p:cNvPr id="10" name="Shape 8"/>
          <p:cNvSpPr/>
          <p:nvPr/>
        </p:nvSpPr>
        <p:spPr>
          <a:xfrm>
            <a:off x="4398264" y="3246120"/>
            <a:ext cx="3429000" cy="2331720"/>
          </a:xfrm>
          <a:prstGeom prst="roundRect">
            <a:avLst>
              <a:gd name="adj" fmla="val 4706"/>
            </a:avLst>
          </a:prstGeom>
          <a:solidFill>
            <a:srgbClr val="1D2E52"/>
          </a:solidFill>
          <a:ln w="12700">
            <a:solidFill>
              <a:srgbClr val="1D2E52"/>
            </a:solidFill>
            <a:prstDash val="solid"/>
          </a:ln>
          <a:effectLst>
            <a:outerShdw sx="100000" sy="100000" kx="0" ky="0" algn="bl" rotWithShape="0" blurRad="50800" dist="25400" dir="5400000">
              <a:srgbClr val="000000">
                <a:alpha val="12000"/>
              </a:srgbClr>
            </a:outerShdw>
          </a:effectLst>
        </p:spPr>
      </p:sp>
      <p:sp>
        <p:nvSpPr>
          <p:cNvPr id="11" name="Shape 9"/>
          <p:cNvSpPr/>
          <p:nvPr/>
        </p:nvSpPr>
        <p:spPr>
          <a:xfrm>
            <a:off x="7050024" y="3520440"/>
            <a:ext cx="502920" cy="502920"/>
          </a:xfrm>
          <a:prstGeom prst="ellipse">
            <a:avLst/>
          </a:prstGeom>
          <a:solidFill>
            <a:srgbClr val="FCA311"/>
          </a:solidFill>
          <a:ln w="12700">
            <a:solidFill>
              <a:srgbClr val="FCA311"/>
            </a:solidFill>
            <a:prstDash val="solid"/>
          </a:ln>
        </p:spPr>
      </p:sp>
      <p:sp>
        <p:nvSpPr>
          <p:cNvPr id="12" name="Text 10"/>
          <p:cNvSpPr txBox="1"/>
          <p:nvPr/>
        </p:nvSpPr>
        <p:spPr>
          <a:xfrm>
            <a:off x="7050024" y="35204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2</a:t>
            </a:r>
            <a:endParaRPr lang="en-US" sz="1800" dirty="0"/>
          </a:p>
        </p:txBody>
      </p:sp>
      <p:sp>
        <p:nvSpPr>
          <p:cNvPr id="13" name="Text 11"/>
          <p:cNvSpPr txBox="1"/>
          <p:nvPr/>
        </p:nvSpPr>
        <p:spPr>
          <a:xfrm>
            <a:off x="4626864" y="3520440"/>
            <a:ext cx="2331720" cy="502920"/>
          </a:xfrm>
          <a:prstGeom prst="rect">
            <a:avLst/>
          </a:prstGeom>
          <a:noFill/>
          <a:ln/>
        </p:spPr>
        <p:txBody>
          <a:bodyPr wrap="square" lIns="0" tIns="0" rIns="0" bIns="0" rtlCol="0" anchor="ctr"/>
          <a:lstStyle/>
          <a:p>
            <a:pPr rtl="1" algn="r" indent="0" marL="0">
              <a:buNone/>
            </a:pPr>
            <a:r>
              <a:rPr lang="he-IL" altLang="en-US" sz="1600" b="1" dirty="0">
                <a:solidFill>
                  <a:srgbClr val="FCA311"/>
                </a:solidFill>
                <a:latin typeface="Arial" pitchFamily="34" charset="0"/>
                <a:ea typeface="Arial" pitchFamily="34" charset="-122"/>
                <a:cs typeface="Arial" pitchFamily="34" charset="-120"/>
              </a:rPr>
              <a:t>להתקרב, לא רק להימנע</a:t>
            </a:r>
            <a:endParaRPr lang="he-IL" sz="1600" dirty="0"/>
          </a:p>
        </p:txBody>
      </p:sp>
      <p:sp>
        <p:nvSpPr>
          <p:cNvPr id="14" name="Text 12"/>
          <p:cNvSpPr txBox="1"/>
          <p:nvPr/>
        </p:nvSpPr>
        <p:spPr>
          <a:xfrm>
            <a:off x="4626864" y="4160520"/>
            <a:ext cx="2971800" cy="1325880"/>
          </a:xfrm>
          <a:prstGeom prst="rect">
            <a:avLst/>
          </a:prstGeom>
          <a:noFill/>
          <a:ln/>
        </p:spPr>
        <p:txBody>
          <a:bodyPr wrap="square" lIns="0" tIns="0" rIns="0" bIns="0" rtlCol="0" anchor="t"/>
          <a:lstStyle/>
          <a:p>
            <a:pPr rtl="1" algn="r" indent="0" marL="0">
              <a:buNone/>
            </a:pPr>
            <a:r>
              <a:rPr lang="he-IL" altLang="en-US" sz="1300" dirty="0">
                <a:solidFill>
                  <a:srgbClr val="FFFFFF"/>
                </a:solidFill>
                <a:latin typeface="Arial" pitchFamily="34" charset="0"/>
                <a:ea typeface="Arial" pitchFamily="34" charset="-122"/>
                <a:cs typeface="Arial" pitchFamily="34" charset="-120"/>
              </a:rPr>
              <a:t>לנוח ולהתנתק חשוב להתאוששות, אבל לא משנה איך העבודה נתפסת</a:t>
            </a:r>
            <a:endParaRPr lang="he-IL" sz="1300" dirty="0"/>
          </a:p>
        </p:txBody>
      </p:sp>
      <p:sp>
        <p:nvSpPr>
          <p:cNvPr id="15" name="Shape 13"/>
          <p:cNvSpPr/>
          <p:nvPr/>
        </p:nvSpPr>
        <p:spPr>
          <a:xfrm>
            <a:off x="768096" y="3246120"/>
            <a:ext cx="3429000" cy="2331720"/>
          </a:xfrm>
          <a:prstGeom prst="roundRect">
            <a:avLst>
              <a:gd name="adj" fmla="val 4706"/>
            </a:avLst>
          </a:prstGeom>
          <a:solidFill>
            <a:srgbClr val="1D2E52"/>
          </a:solidFill>
          <a:ln w="12700">
            <a:solidFill>
              <a:srgbClr val="1D2E52"/>
            </a:solidFill>
            <a:prstDash val="solid"/>
          </a:ln>
          <a:effectLst>
            <a:outerShdw sx="100000" sy="100000" kx="0" ky="0" algn="bl" rotWithShape="0" blurRad="50800" dist="25400" dir="5400000">
              <a:srgbClr val="000000">
                <a:alpha val="12000"/>
              </a:srgbClr>
            </a:outerShdw>
          </a:effectLst>
        </p:spPr>
      </p:sp>
      <p:sp>
        <p:nvSpPr>
          <p:cNvPr id="16" name="Shape 14"/>
          <p:cNvSpPr/>
          <p:nvPr/>
        </p:nvSpPr>
        <p:spPr>
          <a:xfrm>
            <a:off x="3419856" y="3520440"/>
            <a:ext cx="502920" cy="502920"/>
          </a:xfrm>
          <a:prstGeom prst="ellipse">
            <a:avLst/>
          </a:prstGeom>
          <a:solidFill>
            <a:srgbClr val="FCA311"/>
          </a:solidFill>
          <a:ln w="12700">
            <a:solidFill>
              <a:srgbClr val="FCA311"/>
            </a:solidFill>
            <a:prstDash val="solid"/>
          </a:ln>
        </p:spPr>
      </p:sp>
      <p:sp>
        <p:nvSpPr>
          <p:cNvPr id="17" name="Text 15"/>
          <p:cNvSpPr txBox="1"/>
          <p:nvPr/>
        </p:nvSpPr>
        <p:spPr>
          <a:xfrm>
            <a:off x="3419856" y="35204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3</a:t>
            </a:r>
            <a:endParaRPr lang="en-US" sz="1800" dirty="0"/>
          </a:p>
        </p:txBody>
      </p:sp>
      <p:sp>
        <p:nvSpPr>
          <p:cNvPr id="18" name="Text 16"/>
          <p:cNvSpPr txBox="1"/>
          <p:nvPr/>
        </p:nvSpPr>
        <p:spPr>
          <a:xfrm>
            <a:off x="996696" y="3520440"/>
            <a:ext cx="2331720" cy="502920"/>
          </a:xfrm>
          <a:prstGeom prst="rect">
            <a:avLst/>
          </a:prstGeom>
          <a:noFill/>
          <a:ln/>
        </p:spPr>
        <p:txBody>
          <a:bodyPr wrap="square" lIns="0" tIns="0" rIns="0" bIns="0" rtlCol="0" anchor="ctr"/>
          <a:lstStyle/>
          <a:p>
            <a:pPr rtl="1" algn="r" indent="0" marL="0">
              <a:buNone/>
            </a:pPr>
            <a:r>
              <a:rPr lang="he-IL" altLang="en-US" sz="1600" b="1" dirty="0">
                <a:solidFill>
                  <a:srgbClr val="FCA311"/>
                </a:solidFill>
                <a:latin typeface="Arial" pitchFamily="34" charset="0"/>
                <a:ea typeface="Arial" pitchFamily="34" charset="-122"/>
                <a:cs typeface="Arial" pitchFamily="34" charset="-120"/>
              </a:rPr>
              <a:t>המשאבים קודמים ליוזמה</a:t>
            </a:r>
            <a:endParaRPr lang="he-IL" sz="1600" dirty="0"/>
          </a:p>
        </p:txBody>
      </p:sp>
      <p:sp>
        <p:nvSpPr>
          <p:cNvPr id="19" name="Text 17"/>
          <p:cNvSpPr txBox="1"/>
          <p:nvPr/>
        </p:nvSpPr>
        <p:spPr>
          <a:xfrm>
            <a:off x="996696" y="4160520"/>
            <a:ext cx="2971800" cy="1325880"/>
          </a:xfrm>
          <a:prstGeom prst="rect">
            <a:avLst/>
          </a:prstGeom>
          <a:noFill/>
          <a:ln/>
        </p:spPr>
        <p:txBody>
          <a:bodyPr wrap="square" lIns="0" tIns="0" rIns="0" bIns="0" rtlCol="0" anchor="t"/>
          <a:lstStyle/>
          <a:p>
            <a:pPr rtl="1" algn="r" indent="0" marL="0">
              <a:buNone/>
            </a:pPr>
            <a:r>
              <a:rPr lang="he-IL" altLang="en-US" sz="1300" dirty="0">
                <a:solidFill>
                  <a:srgbClr val="FFFFFF"/>
                </a:solidFill>
                <a:latin typeface="Arial" pitchFamily="34" charset="0"/>
                <a:ea typeface="Arial" pitchFamily="34" charset="-122"/>
                <a:cs typeface="Arial" pitchFamily="34" charset="-120"/>
              </a:rPr>
              <a:t>ניהוליות מנבאת עיצוב תפקיד. בונים אותה עכשיו, לפני שהאיום מדלדל אותה</a:t>
            </a:r>
            <a:endParaRPr lang="he-IL" sz="1300" dirty="0"/>
          </a:p>
        </p:txBody>
      </p:sp>
      <p:sp>
        <p:nvSpPr>
          <p:cNvPr id="20" name="Text 18"/>
          <p:cNvSpPr txBox="1"/>
          <p:nvPr/>
        </p:nvSpPr>
        <p:spPr>
          <a:xfrm>
            <a:off x="731520" y="5806440"/>
            <a:ext cx="10698480" cy="548640"/>
          </a:xfrm>
          <a:prstGeom prst="rect">
            <a:avLst/>
          </a:prstGeom>
          <a:noFill/>
          <a:ln/>
        </p:spPr>
        <p:txBody>
          <a:bodyPr wrap="square" lIns="0" tIns="0" rIns="0" bIns="0" rtlCol="0" anchor="t"/>
          <a:lstStyle/>
          <a:p>
            <a:pPr rtl="1" algn="r" indent="0" marL="0">
              <a:buNone/>
            </a:pPr>
            <a:r>
              <a:rPr lang="he-IL" altLang="en-US" sz="2200" b="1" dirty="0">
                <a:solidFill>
                  <a:srgbClr val="FFFFFF"/>
                </a:solidFill>
                <a:latin typeface="Arial" pitchFamily="34" charset="0"/>
                <a:ea typeface="Arial" pitchFamily="34" charset="-122"/>
                <a:cs typeface="Arial" pitchFamily="34" charset="-120"/>
              </a:rPr>
              <a:t>תודה! שאלות?</a:t>
            </a:r>
            <a:endParaRPr lang="he-IL" sz="2200" dirty="0"/>
          </a:p>
        </p:txBody>
      </p:sp>
      <p:sp>
        <p:nvSpPr>
          <p:cNvPr id="21" name="Text 19"/>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A9B4C8"/>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22" name="Text 20"/>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A9B4C8"/>
                </a:solidFill>
                <a:latin typeface="Arial" pitchFamily="34" charset="0"/>
                <a:ea typeface="Arial" pitchFamily="34" charset="-122"/>
                <a:cs typeface="Arial" pitchFamily="34" charset="-120"/>
              </a:rPr>
              <a:t>15</a:t>
            </a:r>
            <a:endParaRPr lang="he-IL"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רשימת מקורות (APA)</a:t>
            </a:r>
            <a:endParaRPr lang="he-IL" sz="3000" dirty="0"/>
          </a:p>
        </p:txBody>
      </p:sp>
      <p:sp>
        <p:nvSpPr>
          <p:cNvPr id="3" name="Text 1"/>
          <p:cNvSpPr txBox="1"/>
          <p:nvPr/>
        </p:nvSpPr>
        <p:spPr>
          <a:xfrm>
            <a:off x="548640" y="1188720"/>
            <a:ext cx="11091672" cy="2926080"/>
          </a:xfrm>
          <a:prstGeom prst="rect">
            <a:avLst/>
          </a:prstGeom>
          <a:noFill/>
          <a:ln/>
        </p:spPr>
        <p:txBody>
          <a:bodyPr wrap="square" lIns="0" tIns="0" rIns="0" bIns="0" rtlCol="0" anchor="t"/>
          <a:lstStyle/>
          <a:p>
            <a:pPr algn="l" indent="0" marL="0">
              <a:spcAft>
                <a:spcPts val="600"/>
              </a:spcAft>
              <a:buNone/>
            </a:pPr>
            <a:r>
              <a:rPr lang="en-US" sz="1100" dirty="0">
                <a:solidFill>
                  <a:srgbClr val="1F2937"/>
                </a:solidFill>
                <a:latin typeface="Arial" pitchFamily="34" charset="0"/>
                <a:ea typeface="Arial" pitchFamily="34" charset="-122"/>
                <a:cs typeface="Arial" pitchFamily="34" charset="-120"/>
              </a:rPr>
              <a:t>Cetkovská, K., Bauer, G. F., &amp; Tušl, M. (2026). The role of needs-based job crafting in strengthening work-related sense of coherence: A two-wave panel study. Scandinavian Journal of Work and Organizational Psychology, 11(1), Article 14. https://doi.org/10.16993/sjwop.389</a:t>
            </a:r>
            <a:endParaRPr lang="en-US" sz="1100" dirty="0"/>
          </a:p>
          <a:p>
            <a:pPr algn="l" indent="0" marL="0">
              <a:spcAft>
                <a:spcPts val="600"/>
              </a:spcAft>
              <a:buNone/>
            </a:pPr>
            <a:r>
              <a:rPr lang="en-US" sz="1100" dirty="0">
                <a:solidFill>
                  <a:srgbClr val="1F2937"/>
                </a:solidFill>
                <a:latin typeface="Arial" pitchFamily="34" charset="0"/>
                <a:ea typeface="Arial" pitchFamily="34" charset="-122"/>
                <a:cs typeface="Arial" pitchFamily="34" charset="-120"/>
              </a:rPr>
              <a:t>Chung, Y. W., Im, S., Kim, J. E., &amp; Yun, J. K. (2025). Artificial intelligence awareness, career resilience, job insecurity and behavioural outcomes. Australian Journal of Psychology, 77(1), Article 2559910. https://doi.org/10.1080/00049530.2025.2559910</a:t>
            </a:r>
            <a:endParaRPr lang="en-US" sz="1100" dirty="0"/>
          </a:p>
          <a:p>
            <a:pPr algn="l" indent="0" marL="0">
              <a:spcAft>
                <a:spcPts val="600"/>
              </a:spcAft>
              <a:buNone/>
            </a:pPr>
            <a:r>
              <a:rPr lang="en-US" sz="1100" dirty="0">
                <a:solidFill>
                  <a:srgbClr val="1F2937"/>
                </a:solidFill>
                <a:latin typeface="Arial" pitchFamily="34" charset="0"/>
                <a:ea typeface="Arial" pitchFamily="34" charset="-122"/>
                <a:cs typeface="Arial" pitchFamily="34" charset="-120"/>
              </a:rPr>
              <a:t>Hone, L. (2019). 3 secrets of resilient people [Video]. TED Conferences. https://www.ted.com/talks/lucy_hone_the_three_secrets_of_resilient_people</a:t>
            </a:r>
            <a:endParaRPr lang="en-US" sz="1100" dirty="0"/>
          </a:p>
        </p:txBody>
      </p:sp>
      <p:sp>
        <p:nvSpPr>
          <p:cNvPr id="4" name="Text 2"/>
          <p:cNvSpPr txBox="1"/>
          <p:nvPr/>
        </p:nvSpPr>
        <p:spPr>
          <a:xfrm>
            <a:off x="548640" y="4297680"/>
            <a:ext cx="11091672" cy="2011680"/>
          </a:xfrm>
          <a:prstGeom prst="rect">
            <a:avLst/>
          </a:prstGeom>
          <a:noFill/>
          <a:ln/>
        </p:spPr>
        <p:txBody>
          <a:bodyPr wrap="square" lIns="0" tIns="0" rIns="0" bIns="0" rtlCol="0" anchor="t"/>
          <a:lstStyle/>
          <a:p>
            <a:pPr algn="r" indent="0" marL="0">
              <a:spcAft>
                <a:spcPts val="500"/>
              </a:spcAft>
              <a:buNone/>
            </a:pPr>
            <a:r>
              <a:rPr lang="he-IL" altLang="en-US" sz="1100" dirty="0">
                <a:solidFill>
                  <a:srgbClr val="1F2937"/>
                </a:solidFill>
                <a:latin typeface="Arial" pitchFamily="34" charset="0"/>
                <a:ea typeface="Arial" pitchFamily="34" charset="-122"/>
                <a:cs typeface="Arial" pitchFamily="34" charset="-120"/>
              </a:rPr>
              <a:t>בנק ישראל. (2025, 11 במרץ). ההשפעה הצפויה של בינה מלאכותית יוצרת על העובדים: השלכות על המדיניות בשוק העבודה [תיבה מתוך דוח בנק ישראל לשנת 2024]. https://www.boi.org.il/publications/pressreleases/11-3-25/</a:t>
            </a:r>
            <a:endParaRPr lang="he-IL" sz="1100" dirty="0"/>
          </a:p>
          <a:p>
            <a:pPr algn="r" indent="0" marL="0">
              <a:buNone/>
            </a:pPr>
            <a:r>
              <a:rPr lang="he-IL" altLang="en-US" sz="1100" dirty="0">
                <a:solidFill>
                  <a:srgbClr val="1F2937"/>
                </a:solidFill>
                <a:latin typeface="Arial" pitchFamily="34" charset="0"/>
                <a:ea typeface="Arial" pitchFamily="34" charset="-122"/>
                <a:cs typeface="Arial" pitchFamily="34" charset="-120"/>
              </a:rPr>
              <a:t>הקשיים של מנהלי הייטק ב-2026: גיוס עובדים מתאימים והתייעלות AI. (2026, 21 ביוני). TheMarker.</a:t>
            </a:r>
            <a:endParaRPr lang="he-IL" sz="1100" dirty="0"/>
          </a:p>
        </p:txBody>
      </p:sp>
      <p:sp>
        <p:nvSpPr>
          <p:cNvPr id="5" name="Text 3"/>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6" name="Text 4"/>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16</a:t>
            </a:r>
            <a:endParaRPr lang="he-IL"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התמודדות עם חוסר ודאות תעסוקתי</dc:title>
  <dc:subject>PptxGenJS Presentation</dc:subject>
  <dc:creator>PptxGenJS</dc:creator>
  <cp:lastModifiedBy>PptxGenJS</cp:lastModifiedBy>
  <cp:revision>1</cp:revision>
  <dcterms:created xsi:type="dcterms:W3CDTF">2026-09-17T20:15:04Z</dcterms:created>
  <dcterms:modified xsi:type="dcterms:W3CDTF">2026-09-17T20:15:04Z</dcterms:modified>
</cp:coreProperties>
</file>