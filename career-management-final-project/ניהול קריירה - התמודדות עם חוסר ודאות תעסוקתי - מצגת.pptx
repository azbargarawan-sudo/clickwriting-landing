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מועסקים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E76F51"/>
              </a:solidFill>
              <a:effectLst/>
            </c:spPr>
          </c:dPt>
          <c:dPt>
            <c:idx val="1"/>
            <c:bubble3D val="0"/>
            <c:spPr>
              <a:solidFill>
                <a:srgbClr val="CBD5E1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מקצועות תחליפיים</c:v>
                </c:pt>
                <c:pt idx="1">
                  <c:v>שאר המקצועות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20</c:v>
                </c:pt>
                <c:pt idx="1">
                  <c:v>80</c:v>
                </c:pt>
              </c:numCache>
            </c:numRef>
          </c:val>
        </c:ser>
        <c:firstSliceAng val="0"/>
        <c:holeSize val="55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latin typeface="Arial"/>
              <a:cs typeface="Arial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פתיחה (30 שניות): שלום לכולם, אנחנו [שמות]. הנושא שלנו הוא התמודדות עם חוסר ודאות תעסוקתי – נושא שנוגע כמעט לכל אחד בחדר, בין אם בגלל הבינה המלאכותית, המצב בהייטק, המילואים או פשוט ההתחלה של הקריירה.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מעבר מהיר על המבנה. להדגיש שיש סרטון והפעלה – כדי שהכיתה תישאר ערנית.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להריץ סקר מנטימטר (או הרמת ידיים). לצלם מסך של התוצאות. לומר: "שימו לב לפיזור – זה בדיוק מה שהמאמר מסביר: אותו שוק, אותה כיתה, תחושות שונות לגמרי".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כתבת עיתון: להציג את הכותרת של TheMarker (21.6.2026) – "הקשיים של מנהלי הייטק ב-2026: גיוס עובדים מתאימים – והתייעלות AI". נתון בנק ישראל: כחמישית מהמועסקים במקצועות תחליפיים. המסר: חוסר ביטחון הוא לא רק "האם אפוטר" אלא "האם התפקיד שלי ישתנה".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להציג את המאמר במשפט: זו לא סקירה של מחקר אחד אלא "מפה" של כל התחום. מינדי שוס היא חוקרת בפסיכולוגיה ארגונית מאוניברסיטת סנטרל פלורידה. בהגשה בשלשה – להרחיב על המאמר של לי, הואנג ואשפורד: סקירה גלובלית ובין-תרבותית, מדגישה את עולם העבודה המשתנה.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ההגדרה בארבעה רכיבים: תפיסה, איום, המשכיות/יציבות, המשרה הנוכחית. הטבלה: כמותי לעומת איכותני, קוגניטיבי לעומת רגשי. להדגיש: בעידן ה-AI האיום האיכותני חשוב לא פחות.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לקרוא את התרשים מימין לשמאל: גורמים בשלוש רמות יוצרים תחושת חוסר ביטחון; היא מובילה לתוצאות דרך ארבעה מנגנונים; והפס הצהוב למטה – המשתנים הממתנים – מסביר למה אצל אחד זה משתק ואצל אחר זה מניע.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דוגמה מהחיים: בזמן צמצומים, עמית עובד עד מאוחר, לא מתלונן – ובמקביל מראיין בחברות אחרות. זה לא סתירה, זה שני מנגנונים שפועלים במקביל. למנהלים: מאמץ מוגבר בתקופת אי-ודאות הוא לא בהכרח מחויבות – לפעמים זה פחד.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כאן נמצאת הבשורה של המאמר לניהול קריירה: על מאפייני האיום השליטה שלנו מוגבלת, אבל על שתי הפגיעויות – כלכלית ופסיכולוגית – אפשר לעבוד כבר עכשיו, בתור סטודנטים.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מטא-אנליזה = מחקר שמאחד סטטיסטית מאות מחקרים. 535 מדגמים, 51 מתוך 56 תוצאות. הממצא החשוב לנו: הרגש מתווך – ולכן עבודה על הדאגה חשובה לא פחות מעבודה על המצב.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להגיד את הביקורת בקול: המאמר לא מכיר את המציאות הישראלית של 2026. ועם זאת, המסגרת שלו מחזיקה מעמד מצוין – זו בדיוק הסיבה שהשתמשנו בה כדי לבנות כלי.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להקרין כ-90 שניות (מומלץ מהדקה ~9:30, שבה הון מציגה את שלושת העקרונות; לבדוק את הטיים-קוד מראש). לחבר כל עיקרון לרכיב במודל: קבלת האיום, מיקוד בשליטה, ויסות רגשי. חלופה: Jon Youshaei &amp; Michelle Weise – "How do you prepare for jobs that don't exist yet?" (TED).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זה הכלי שאנחנו משאירים לכיתה. כל שורה = משתנה ממתן מהמאמר שהפכנו לפעולה. השורה הרביעית היא הבחירה המודעת במנגנון הפרואקטיבי.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לחלק כרטיסים מודפסים (או להשאיר את השקופית). 2 דקות. אחר כך לשמוע 2–3 זוגות. לחבר את התשובות למודל: "שימו לב שרובכם קפצתם ישר לפעולה – זה המנגנון הפרואקטיבי. מי חשב קודם על הכרית הכלכלית?"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לחזור לתוצאות הסקר מהפתיחה: "מי שסימן 1–2: המאמר אומר שזה לא גזירת גורל. מי שסימן 5: יופי, אבל האיום האיכותני קיים גם אצלכם". לסיים במסר ולפתוח לשאלות.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ted.com/talks/lucy_hone_the_three_secrets_of_resilient_people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4206240"/>
            <a:ext cx="5029200" cy="5029200"/>
          </a:xfrm>
          <a:prstGeom prst="ellipse">
            <a:avLst/>
          </a:prstGeom>
          <a:solidFill>
            <a:srgbClr val="1D2E52"/>
          </a:solidFill>
          <a:ln w="12700">
            <a:solidFill>
              <a:srgbClr val="1D2E5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424160" y="-1920240"/>
            <a:ext cx="3291840" cy="3291840"/>
          </a:xfrm>
          <a:prstGeom prst="ellipse">
            <a:avLst/>
          </a:prstGeom>
          <a:solidFill>
            <a:srgbClr val="FCA311"/>
          </a:solidFill>
          <a:ln w="12700">
            <a:solidFill>
              <a:srgbClr val="FCA31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1097280"/>
            <a:ext cx="8961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he-IL" altLang="en-US" sz="1800" dirty="0">
                <a:solidFill>
                  <a:srgbClr val="CAD3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עבודה מסכמת בקורס ניהול קריירה בארגונים</a:t>
            </a:r>
            <a:endParaRPr lang="he-IL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1645920"/>
            <a:ext cx="10698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התמודדות עם חוסר ודאות תעסוקתי</a:t>
            </a:r>
            <a:endParaRPr lang="he-IL" sz="48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834640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he-IL" altLang="en-US" sz="2200" i="1" dirty="0">
                <a:solidFill>
                  <a:srgbClr val="FCA3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איך מנהלים קריירה כשהוודאות היחידה היא חוסר הוודאות?</a:t>
            </a:r>
            <a:endParaRPr lang="he-IL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3520440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300" dirty="0">
                <a:solidFill>
                  <a:srgbClr val="CAD3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Shoss, M. K. (2017). Job insecurity: An integrative review and agenda for future research. Journal of Management, 43(6), 1911–1939.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31520" y="4389120"/>
            <a:ext cx="5669280" cy="1600200"/>
          </a:xfrm>
          <a:prstGeom prst="roundRect">
            <a:avLst>
              <a:gd name="adj" fmla="val 6857"/>
            </a:avLst>
          </a:prstGeom>
          <a:solidFill>
            <a:srgbClr val="1D2E52"/>
          </a:solidFill>
          <a:ln w="12700">
            <a:solidFill>
              <a:srgbClr val="1D2E52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914400" y="448056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he-IL" altLang="en-US" sz="1400" b="1" dirty="0">
                <a:solidFill>
                  <a:srgbClr val="FCA3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מגישים/ות</a:t>
            </a:r>
            <a:endParaRPr lang="he-IL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914400" y="4846320"/>
            <a:ext cx="5303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spcAft>
                <a:spcPts val="400"/>
              </a:spcAft>
              <a:buNone/>
            </a:pPr>
            <a:r>
              <a:rPr lang="he-IL" alt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[שם מלא]  |  ת.ז. [_________]</a:t>
            </a:r>
            <a:endParaRPr lang="he-IL" sz="1500" dirty="0"/>
          </a:p>
          <a:p>
            <a:pPr algn="r" indent="0" marL="0">
              <a:spcAft>
                <a:spcPts val="400"/>
              </a:spcAft>
              <a:buNone/>
            </a:pPr>
            <a:r>
              <a:rPr lang="he-IL" alt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[שם מלא]  |  ת.ז. [_________]</a:t>
            </a:r>
            <a:endParaRPr lang="he-IL" sz="1500" dirty="0"/>
          </a:p>
          <a:p>
            <a:pPr algn="r" indent="0" marL="0">
              <a:spcAft>
                <a:spcPts val="400"/>
              </a:spcAft>
              <a:buNone/>
            </a:pPr>
            <a:r>
              <a:rPr lang="he-IL" alt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[שם מלא]  |  ת.ז. [_________]  (אם בשלשה)</a:t>
            </a:r>
            <a:endParaRPr lang="he-IL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6675120" y="4480560"/>
            <a:ext cx="47548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spcAft>
                <a:spcPts val="400"/>
              </a:spcAft>
              <a:buNone/>
            </a:pPr>
            <a:r>
              <a:rPr lang="he-IL" altLang="en-US" sz="1500" dirty="0">
                <a:solidFill>
                  <a:srgbClr val="CAD3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מרצה: גב' מורן דבדבני דקל</a:t>
            </a:r>
            <a:endParaRPr lang="he-IL" sz="1500" dirty="0"/>
          </a:p>
          <a:p>
            <a:pPr algn="r" indent="0" marL="0">
              <a:spcAft>
                <a:spcPts val="400"/>
              </a:spcAft>
              <a:buNone/>
            </a:pPr>
            <a:r>
              <a:rPr lang="he-IL" altLang="en-US" sz="1500" dirty="0">
                <a:solidFill>
                  <a:srgbClr val="CAD3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עוזר הוראה: מר פאר רועי</a:t>
            </a:r>
            <a:endParaRPr lang="he-IL" sz="1500" dirty="0"/>
          </a:p>
          <a:p>
            <a:pPr algn="r" indent="0" marL="0">
              <a:spcAft>
                <a:spcPts val="400"/>
              </a:spcAft>
              <a:buNone/>
            </a:pPr>
            <a:r>
              <a:rPr lang="he-IL" altLang="en-US" sz="1500" dirty="0">
                <a:solidFill>
                  <a:srgbClr val="CAD3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הפקולטה למנהל עסקים | תשפ"ו, סמסטר 3</a:t>
            </a:r>
            <a:endParaRPr lang="he-IL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32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מה נעשה ב-10 הדקות הקרובות?</a:t>
            </a:r>
            <a:endParaRPr lang="he-IL" sz="3200" dirty="0"/>
          </a:p>
        </p:txBody>
      </p:sp>
      <p:sp>
        <p:nvSpPr>
          <p:cNvPr id="3" name="Shape 1"/>
          <p:cNvSpPr/>
          <p:nvPr/>
        </p:nvSpPr>
        <p:spPr>
          <a:xfrm>
            <a:off x="8119872" y="1417320"/>
            <a:ext cx="3520440" cy="2103120"/>
          </a:xfrm>
          <a:prstGeom prst="roundRect">
            <a:avLst>
              <a:gd name="adj" fmla="val 5217"/>
            </a:avLst>
          </a:prstGeom>
          <a:solidFill>
            <a:srgbClr val="EEF2F8"/>
          </a:solidFill>
          <a:ln w="12700">
            <a:solidFill>
              <a:srgbClr val="EEF2F8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0863072" y="1691640"/>
            <a:ext cx="502920" cy="502920"/>
          </a:xfrm>
          <a:prstGeom prst="ellipse">
            <a:avLst/>
          </a:prstGeom>
          <a:solidFill>
            <a:srgbClr val="FCA311"/>
          </a:solidFill>
          <a:ln w="12700">
            <a:solidFill>
              <a:srgbClr val="FCA31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863072" y="1691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8394192" y="169164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20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סקר פתיחה</a:t>
            </a:r>
            <a:endParaRPr lang="he-IL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8394192" y="233172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he-IL" altLang="en-US" sz="15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כמה בטוחים אתם בעצם?</a:t>
            </a:r>
            <a:endParaRPr lang="he-IL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8394192" y="301752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he-IL" altLang="en-US" sz="1300" b="1" dirty="0">
                <a:solidFill>
                  <a:srgbClr val="2A9D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דק'</a:t>
            </a:r>
            <a:endParaRPr lang="he-IL" sz="1300" dirty="0"/>
          </a:p>
        </p:txBody>
      </p:sp>
      <p:sp>
        <p:nvSpPr>
          <p:cNvPr id="9" name="Shape 7"/>
          <p:cNvSpPr/>
          <p:nvPr/>
        </p:nvSpPr>
        <p:spPr>
          <a:xfrm>
            <a:off x="4334256" y="1417320"/>
            <a:ext cx="3520440" cy="2103120"/>
          </a:xfrm>
          <a:prstGeom prst="roundRect">
            <a:avLst>
              <a:gd name="adj" fmla="val 5217"/>
            </a:avLst>
          </a:prstGeom>
          <a:solidFill>
            <a:srgbClr val="EEF2F8"/>
          </a:solidFill>
          <a:ln w="12700">
            <a:solidFill>
              <a:srgbClr val="EEF2F8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7077456" y="1691640"/>
            <a:ext cx="502920" cy="502920"/>
          </a:xfrm>
          <a:prstGeom prst="ellipse">
            <a:avLst/>
          </a:prstGeom>
          <a:solidFill>
            <a:srgbClr val="FCA311"/>
          </a:solidFill>
          <a:ln w="12700">
            <a:solidFill>
              <a:srgbClr val="FCA31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077456" y="1691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4608576" y="169164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20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למה עכשיו</a:t>
            </a:r>
            <a:endParaRPr lang="he-IL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4608576" y="233172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he-IL" altLang="en-US" sz="15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בינה מלאכותית, הייטק, מילואים</a:t>
            </a:r>
            <a:endParaRPr lang="he-IL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4608576" y="301752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he-IL" altLang="en-US" sz="1300" b="1" dirty="0">
                <a:solidFill>
                  <a:srgbClr val="2A9D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1.5 דק'</a:t>
            </a:r>
            <a:endParaRPr lang="he-IL" sz="1300" dirty="0"/>
          </a:p>
        </p:txBody>
      </p:sp>
      <p:sp>
        <p:nvSpPr>
          <p:cNvPr id="15" name="Shape 13"/>
          <p:cNvSpPr/>
          <p:nvPr/>
        </p:nvSpPr>
        <p:spPr>
          <a:xfrm>
            <a:off x="548640" y="1417320"/>
            <a:ext cx="3520440" cy="2103120"/>
          </a:xfrm>
          <a:prstGeom prst="roundRect">
            <a:avLst>
              <a:gd name="adj" fmla="val 5217"/>
            </a:avLst>
          </a:prstGeom>
          <a:solidFill>
            <a:srgbClr val="EEF2F8"/>
          </a:solidFill>
          <a:ln w="12700">
            <a:solidFill>
              <a:srgbClr val="EEF2F8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291840" y="1691640"/>
            <a:ext cx="502920" cy="502920"/>
          </a:xfrm>
          <a:prstGeom prst="ellipse">
            <a:avLst/>
          </a:prstGeom>
          <a:solidFill>
            <a:srgbClr val="FCA311"/>
          </a:solidFill>
          <a:ln w="12700">
            <a:solidFill>
              <a:srgbClr val="FCA311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3291840" y="1691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822960" y="169164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20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המאמר</a:t>
            </a:r>
            <a:endParaRPr lang="he-IL" sz="2000" dirty="0"/>
          </a:p>
        </p:txBody>
      </p:sp>
      <p:sp>
        <p:nvSpPr>
          <p:cNvPr id="19" name="Text 17"/>
          <p:cNvSpPr txBox="1"/>
          <p:nvPr/>
        </p:nvSpPr>
        <p:spPr>
          <a:xfrm>
            <a:off x="822960" y="233172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he-IL" altLang="en-US" sz="15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הגדרה, 4 מנגנונים, משתנים ממתנים</a:t>
            </a:r>
            <a:endParaRPr lang="he-IL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822960" y="301752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he-IL" altLang="en-US" sz="1300" b="1" dirty="0">
                <a:solidFill>
                  <a:srgbClr val="2A9D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2.5 דק'</a:t>
            </a:r>
            <a:endParaRPr lang="he-IL" sz="1300" dirty="0"/>
          </a:p>
        </p:txBody>
      </p:sp>
      <p:sp>
        <p:nvSpPr>
          <p:cNvPr id="21" name="Shape 19"/>
          <p:cNvSpPr/>
          <p:nvPr/>
        </p:nvSpPr>
        <p:spPr>
          <a:xfrm>
            <a:off x="8119872" y="3794760"/>
            <a:ext cx="3520440" cy="2103120"/>
          </a:xfrm>
          <a:prstGeom prst="roundRect">
            <a:avLst>
              <a:gd name="adj" fmla="val 5217"/>
            </a:avLst>
          </a:prstGeom>
          <a:solidFill>
            <a:srgbClr val="EEF2F8"/>
          </a:solidFill>
          <a:ln w="12700">
            <a:solidFill>
              <a:srgbClr val="EEF2F8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10863072" y="4069080"/>
            <a:ext cx="502920" cy="502920"/>
          </a:xfrm>
          <a:prstGeom prst="ellipse">
            <a:avLst/>
          </a:prstGeom>
          <a:solidFill>
            <a:srgbClr val="FCA311"/>
          </a:solidFill>
          <a:ln w="12700">
            <a:solidFill>
              <a:srgbClr val="FCA311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10863072" y="4069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800" dirty="0"/>
          </a:p>
        </p:txBody>
      </p:sp>
      <p:sp>
        <p:nvSpPr>
          <p:cNvPr id="24" name="Text 22"/>
          <p:cNvSpPr txBox="1"/>
          <p:nvPr/>
        </p:nvSpPr>
        <p:spPr>
          <a:xfrm>
            <a:off x="8394192" y="406908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20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ראיות ותובנות</a:t>
            </a:r>
            <a:endParaRPr lang="he-IL" sz="2000" dirty="0"/>
          </a:p>
        </p:txBody>
      </p:sp>
      <p:sp>
        <p:nvSpPr>
          <p:cNvPr id="25" name="Text 23"/>
          <p:cNvSpPr txBox="1"/>
          <p:nvPr/>
        </p:nvSpPr>
        <p:spPr>
          <a:xfrm>
            <a:off x="8394192" y="470916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he-IL" altLang="en-US" sz="15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מטא-אנליזה ודעה אישית</a:t>
            </a:r>
            <a:endParaRPr lang="he-IL" sz="1500" dirty="0"/>
          </a:p>
        </p:txBody>
      </p:sp>
      <p:sp>
        <p:nvSpPr>
          <p:cNvPr id="26" name="Text 24"/>
          <p:cNvSpPr txBox="1"/>
          <p:nvPr/>
        </p:nvSpPr>
        <p:spPr>
          <a:xfrm>
            <a:off x="8394192" y="539496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he-IL" altLang="en-US" sz="1300" b="1" dirty="0">
                <a:solidFill>
                  <a:srgbClr val="2A9D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דק'</a:t>
            </a:r>
            <a:endParaRPr lang="he-IL" sz="1300" dirty="0"/>
          </a:p>
        </p:txBody>
      </p:sp>
      <p:sp>
        <p:nvSpPr>
          <p:cNvPr id="27" name="Shape 25"/>
          <p:cNvSpPr/>
          <p:nvPr/>
        </p:nvSpPr>
        <p:spPr>
          <a:xfrm>
            <a:off x="4334256" y="3794760"/>
            <a:ext cx="3520440" cy="2103120"/>
          </a:xfrm>
          <a:prstGeom prst="roundRect">
            <a:avLst>
              <a:gd name="adj" fmla="val 5217"/>
            </a:avLst>
          </a:prstGeom>
          <a:solidFill>
            <a:srgbClr val="EEF2F8"/>
          </a:solidFill>
          <a:ln w="12700">
            <a:solidFill>
              <a:srgbClr val="EEF2F8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12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7077456" y="4069080"/>
            <a:ext cx="502920" cy="502920"/>
          </a:xfrm>
          <a:prstGeom prst="ellipse">
            <a:avLst/>
          </a:prstGeom>
          <a:solidFill>
            <a:srgbClr val="FCA311"/>
          </a:solidFill>
          <a:ln w="12700">
            <a:solidFill>
              <a:srgbClr val="FCA311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7077456" y="4069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800" dirty="0"/>
          </a:p>
        </p:txBody>
      </p:sp>
      <p:sp>
        <p:nvSpPr>
          <p:cNvPr id="30" name="Text 28"/>
          <p:cNvSpPr txBox="1"/>
          <p:nvPr/>
        </p:nvSpPr>
        <p:spPr>
          <a:xfrm>
            <a:off x="4608576" y="406908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20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סרטון + הפעלה</a:t>
            </a:r>
            <a:endParaRPr lang="he-IL" sz="2000" dirty="0"/>
          </a:p>
        </p:txBody>
      </p:sp>
      <p:sp>
        <p:nvSpPr>
          <p:cNvPr id="31" name="Text 29"/>
          <p:cNvSpPr txBox="1"/>
          <p:nvPr/>
        </p:nvSpPr>
        <p:spPr>
          <a:xfrm>
            <a:off x="4608576" y="470916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he-IL" altLang="en-US" sz="15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TED וכרטיסי תרחיש</a:t>
            </a:r>
            <a:endParaRPr lang="he-IL" sz="1500" dirty="0"/>
          </a:p>
        </p:txBody>
      </p:sp>
      <p:sp>
        <p:nvSpPr>
          <p:cNvPr id="32" name="Text 30"/>
          <p:cNvSpPr txBox="1"/>
          <p:nvPr/>
        </p:nvSpPr>
        <p:spPr>
          <a:xfrm>
            <a:off x="4608576" y="539496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he-IL" altLang="en-US" sz="1300" b="1" dirty="0">
                <a:solidFill>
                  <a:srgbClr val="2A9D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דק'</a:t>
            </a:r>
            <a:endParaRPr lang="he-IL" sz="1300" dirty="0"/>
          </a:p>
        </p:txBody>
      </p:sp>
      <p:sp>
        <p:nvSpPr>
          <p:cNvPr id="33" name="Shape 31"/>
          <p:cNvSpPr/>
          <p:nvPr/>
        </p:nvSpPr>
        <p:spPr>
          <a:xfrm>
            <a:off x="548640" y="3794760"/>
            <a:ext cx="3520440" cy="2103120"/>
          </a:xfrm>
          <a:prstGeom prst="roundRect">
            <a:avLst>
              <a:gd name="adj" fmla="val 5217"/>
            </a:avLst>
          </a:prstGeom>
          <a:solidFill>
            <a:srgbClr val="EEF2F8"/>
          </a:solidFill>
          <a:ln w="12700">
            <a:solidFill>
              <a:srgbClr val="EEF2F8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12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3291840" y="4069080"/>
            <a:ext cx="502920" cy="502920"/>
          </a:xfrm>
          <a:prstGeom prst="ellipse">
            <a:avLst/>
          </a:prstGeom>
          <a:solidFill>
            <a:srgbClr val="FCA311"/>
          </a:solidFill>
          <a:ln w="12700">
            <a:solidFill>
              <a:srgbClr val="FCA311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3291840" y="4069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800" dirty="0"/>
          </a:p>
        </p:txBody>
      </p:sp>
      <p:sp>
        <p:nvSpPr>
          <p:cNvPr id="36" name="Text 34"/>
          <p:cNvSpPr txBox="1"/>
          <p:nvPr/>
        </p:nvSpPr>
        <p:spPr>
          <a:xfrm>
            <a:off x="822960" y="406908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20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סיכום</a:t>
            </a:r>
            <a:endParaRPr lang="he-IL" sz="2000" dirty="0"/>
          </a:p>
        </p:txBody>
      </p:sp>
      <p:sp>
        <p:nvSpPr>
          <p:cNvPr id="37" name="Text 35"/>
          <p:cNvSpPr txBox="1"/>
          <p:nvPr/>
        </p:nvSpPr>
        <p:spPr>
          <a:xfrm>
            <a:off x="822960" y="470916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he-IL" altLang="en-US" sz="15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המסר שלנו לכיתה</a:t>
            </a:r>
            <a:endParaRPr lang="he-IL" sz="1500" dirty="0"/>
          </a:p>
        </p:txBody>
      </p:sp>
      <p:sp>
        <p:nvSpPr>
          <p:cNvPr id="38" name="Text 36"/>
          <p:cNvSpPr txBox="1"/>
          <p:nvPr/>
        </p:nvSpPr>
        <p:spPr>
          <a:xfrm>
            <a:off x="822960" y="539496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he-IL" altLang="en-US" sz="1300" b="1" dirty="0">
                <a:solidFill>
                  <a:srgbClr val="2A9D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דק'</a:t>
            </a:r>
            <a:endParaRPr lang="he-IL" sz="1300" dirty="0"/>
          </a:p>
        </p:txBody>
      </p:sp>
      <p:sp>
        <p:nvSpPr>
          <p:cNvPr id="39" name="Text 37"/>
          <p:cNvSpPr txBox="1"/>
          <p:nvPr/>
        </p:nvSpPr>
        <p:spPr>
          <a:xfrm>
            <a:off x="5943600" y="6446520"/>
            <a:ext cx="56967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ניהול קריירה בארגונים | הקריה האקדמית אונו</a:t>
            </a:r>
            <a:endParaRPr lang="he-IL" sz="1000" dirty="0"/>
          </a:p>
        </p:txBody>
      </p:sp>
      <p:sp>
        <p:nvSpPr>
          <p:cNvPr id="40" name="Text 38"/>
          <p:cNvSpPr txBox="1"/>
          <p:nvPr/>
        </p:nvSpPr>
        <p:spPr>
          <a:xfrm>
            <a:off x="548640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l" indent="0" marL="0">
              <a:buNone/>
            </a:pPr>
            <a:r>
              <a:rPr lang="he-IL" alt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he-IL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32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סקר פתיחה</a:t>
            </a:r>
            <a:endParaRPr lang="he-IL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71600"/>
            <a:ext cx="110916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26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בסולם 1–5: עד כמה אתם בטוחים שתהיו באותו תפקיד (או באותו מסלול) בעוד שנתיים?</a:t>
            </a:r>
            <a:endParaRPr lang="he-IL" sz="2600" dirty="0"/>
          </a:p>
        </p:txBody>
      </p:sp>
      <p:sp>
        <p:nvSpPr>
          <p:cNvPr id="4" name="Shape 2"/>
          <p:cNvSpPr/>
          <p:nvPr/>
        </p:nvSpPr>
        <p:spPr>
          <a:xfrm>
            <a:off x="9249156" y="2743200"/>
            <a:ext cx="1371600" cy="137160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249156" y="2743200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8974836" y="425196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he-IL" altLang="en-US" sz="14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בכלל לא בטוח/ה</a:t>
            </a:r>
            <a:endParaRPr lang="he-IL" sz="1400" dirty="0"/>
          </a:p>
        </p:txBody>
      </p:sp>
      <p:sp>
        <p:nvSpPr>
          <p:cNvPr id="7" name="Shape 5"/>
          <p:cNvSpPr/>
          <p:nvPr/>
        </p:nvSpPr>
        <p:spPr>
          <a:xfrm>
            <a:off x="7328916" y="2743200"/>
            <a:ext cx="1371600" cy="137160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328916" y="2743200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4000" dirty="0"/>
          </a:p>
        </p:txBody>
      </p:sp>
      <p:sp>
        <p:nvSpPr>
          <p:cNvPr id="9" name="Text 7"/>
          <p:cNvSpPr txBox="1"/>
          <p:nvPr/>
        </p:nvSpPr>
        <p:spPr>
          <a:xfrm>
            <a:off x="7054596" y="425196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he-IL" altLang="en-US" sz="14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לא כל כך</a:t>
            </a:r>
            <a:endParaRPr lang="he-IL" sz="1400" dirty="0"/>
          </a:p>
        </p:txBody>
      </p:sp>
      <p:sp>
        <p:nvSpPr>
          <p:cNvPr id="10" name="Shape 8"/>
          <p:cNvSpPr/>
          <p:nvPr/>
        </p:nvSpPr>
        <p:spPr>
          <a:xfrm>
            <a:off x="5408676" y="2743200"/>
            <a:ext cx="1371600" cy="1371600"/>
          </a:xfrm>
          <a:prstGeom prst="ellipse">
            <a:avLst/>
          </a:prstGeom>
          <a:solidFill>
            <a:srgbClr val="E9C46A"/>
          </a:solidFill>
          <a:ln w="12700">
            <a:solidFill>
              <a:srgbClr val="E9C46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408676" y="2743200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4000" dirty="0"/>
          </a:p>
        </p:txBody>
      </p:sp>
      <p:sp>
        <p:nvSpPr>
          <p:cNvPr id="12" name="Text 10"/>
          <p:cNvSpPr txBox="1"/>
          <p:nvPr/>
        </p:nvSpPr>
        <p:spPr>
          <a:xfrm>
            <a:off x="5134356" y="425196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he-IL" altLang="en-US" sz="14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ככה-ככה</a:t>
            </a:r>
            <a:endParaRPr lang="he-IL" sz="1400" dirty="0"/>
          </a:p>
        </p:txBody>
      </p:sp>
      <p:sp>
        <p:nvSpPr>
          <p:cNvPr id="13" name="Shape 11"/>
          <p:cNvSpPr/>
          <p:nvPr/>
        </p:nvSpPr>
        <p:spPr>
          <a:xfrm>
            <a:off x="3488436" y="2743200"/>
            <a:ext cx="1371600" cy="1371600"/>
          </a:xfrm>
          <a:prstGeom prst="ellipse">
            <a:avLst/>
          </a:prstGeom>
          <a:solidFill>
            <a:srgbClr val="8AB17D"/>
          </a:solidFill>
          <a:ln w="12700">
            <a:solidFill>
              <a:srgbClr val="8AB17D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3488436" y="2743200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4000" dirty="0"/>
          </a:p>
        </p:txBody>
      </p:sp>
      <p:sp>
        <p:nvSpPr>
          <p:cNvPr id="15" name="Text 13"/>
          <p:cNvSpPr txBox="1"/>
          <p:nvPr/>
        </p:nvSpPr>
        <p:spPr>
          <a:xfrm>
            <a:off x="3214116" y="425196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he-IL" altLang="en-US" sz="14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די בטוח/ה</a:t>
            </a:r>
            <a:endParaRPr lang="he-IL" sz="1400" dirty="0"/>
          </a:p>
        </p:txBody>
      </p:sp>
      <p:sp>
        <p:nvSpPr>
          <p:cNvPr id="16" name="Shape 14"/>
          <p:cNvSpPr/>
          <p:nvPr/>
        </p:nvSpPr>
        <p:spPr>
          <a:xfrm>
            <a:off x="1568196" y="2743200"/>
            <a:ext cx="1371600" cy="1371600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1568196" y="2743200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4000" dirty="0"/>
          </a:p>
        </p:txBody>
      </p:sp>
      <p:sp>
        <p:nvSpPr>
          <p:cNvPr id="18" name="Text 16"/>
          <p:cNvSpPr txBox="1"/>
          <p:nvPr/>
        </p:nvSpPr>
        <p:spPr>
          <a:xfrm>
            <a:off x="1293876" y="425196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he-IL" altLang="en-US" sz="14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בטוח/ה מאוד</a:t>
            </a:r>
            <a:endParaRPr lang="he-IL" sz="1400" dirty="0"/>
          </a:p>
        </p:txBody>
      </p:sp>
      <p:sp>
        <p:nvSpPr>
          <p:cNvPr id="19" name="Shape 17"/>
          <p:cNvSpPr/>
          <p:nvPr/>
        </p:nvSpPr>
        <p:spPr>
          <a:xfrm>
            <a:off x="548640" y="5120640"/>
            <a:ext cx="11091672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 txBox="1"/>
          <p:nvPr/>
        </p:nvSpPr>
        <p:spPr>
          <a:xfrm>
            <a:off x="822960" y="525780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17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הצבעה ב-Mentimeter / הרמת ידיים. התוצאות יוצגו על המסך – ונחזור אליהן בסוף.</a:t>
            </a:r>
            <a:endParaRPr lang="he-IL" sz="1700" dirty="0"/>
          </a:p>
        </p:txBody>
      </p:sp>
      <p:sp>
        <p:nvSpPr>
          <p:cNvPr id="21" name="Text 19"/>
          <p:cNvSpPr txBox="1"/>
          <p:nvPr/>
        </p:nvSpPr>
        <p:spPr>
          <a:xfrm>
            <a:off x="5943600" y="6446520"/>
            <a:ext cx="56967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ניהול קריירה בארגונים | הקריה האקדמית אונו</a:t>
            </a:r>
            <a:endParaRPr lang="he-IL" sz="1000" dirty="0"/>
          </a:p>
        </p:txBody>
      </p:sp>
      <p:sp>
        <p:nvSpPr>
          <p:cNvPr id="22" name="Text 20"/>
          <p:cNvSpPr txBox="1"/>
          <p:nvPr/>
        </p:nvSpPr>
        <p:spPr>
          <a:xfrm>
            <a:off x="548640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l" indent="0" marL="0">
              <a:buNone/>
            </a:pPr>
            <a:r>
              <a:rPr lang="he-IL" alt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he-IL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32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למה דווקא עכשיו?</a:t>
            </a:r>
            <a:endParaRPr lang="he-IL" sz="3200" dirty="0"/>
          </a:p>
        </p:txBody>
      </p:sp>
      <p:sp>
        <p:nvSpPr>
          <p:cNvPr id="3" name="Shape 1"/>
          <p:cNvSpPr/>
          <p:nvPr/>
        </p:nvSpPr>
        <p:spPr>
          <a:xfrm>
            <a:off x="6492240" y="1325880"/>
            <a:ext cx="5148072" cy="4937760"/>
          </a:xfrm>
          <a:prstGeom prst="roundRect">
            <a:avLst>
              <a:gd name="adj" fmla="val 2222"/>
            </a:avLst>
          </a:prstGeom>
          <a:solidFill>
            <a:srgbClr val="EEF2F8"/>
          </a:solidFill>
          <a:ln w="12700">
            <a:solidFill>
              <a:srgbClr val="EEF2F8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6675120" y="1463040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he-IL" altLang="en-US" sz="6000" b="1" dirty="0">
                <a:solidFill>
                  <a:srgbClr val="E76F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מכל 5</a:t>
            </a:r>
            <a:endParaRPr lang="he-IL" sz="6000" dirty="0"/>
          </a:p>
        </p:txBody>
      </p:sp>
      <p:sp>
        <p:nvSpPr>
          <p:cNvPr id="5" name="Text 3"/>
          <p:cNvSpPr txBox="1"/>
          <p:nvPr/>
        </p:nvSpPr>
        <p:spPr>
          <a:xfrm>
            <a:off x="6766560" y="2423160"/>
            <a:ext cx="4572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he-IL" altLang="en-US" sz="14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מהמועסקים בישראל עובדים במקצועות "תחליפיים" שבהם הביקוש צפוי לרדת משמעותית עם התרחבות הבינה המלאכותית (בנק ישראל, 2025)</a:t>
            </a:r>
            <a:endParaRPr lang="he-IL" sz="14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6949440" y="3474720"/>
          <a:ext cx="4206240" cy="2697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4"/>
          <p:cNvSpPr/>
          <p:nvPr/>
        </p:nvSpPr>
        <p:spPr>
          <a:xfrm>
            <a:off x="548640" y="1325880"/>
            <a:ext cx="5669280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5486400" y="1600200"/>
            <a:ext cx="548640" cy="548640"/>
          </a:xfrm>
          <a:prstGeom prst="ellipse">
            <a:avLst/>
          </a:prstGeom>
          <a:solidFill>
            <a:srgbClr val="FCA311"/>
          </a:solidFill>
          <a:ln w="12700">
            <a:solidFill>
              <a:srgbClr val="FCA311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5486400" y="16002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🤖</a:t>
            </a:r>
            <a:endParaRPr lang="en-US" sz="1800" dirty="0"/>
          </a:p>
        </p:txBody>
      </p:sp>
      <p:sp>
        <p:nvSpPr>
          <p:cNvPr id="10" name="Text 7"/>
          <p:cNvSpPr txBox="1"/>
          <p:nvPr/>
        </p:nvSpPr>
        <p:spPr>
          <a:xfrm>
            <a:off x="731520" y="1435608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he-IL" altLang="en-US" sz="17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בינה מלאכותית</a:t>
            </a:r>
            <a:endParaRPr lang="he-IL" sz="1700" dirty="0"/>
          </a:p>
        </p:txBody>
      </p:sp>
      <p:sp>
        <p:nvSpPr>
          <p:cNvPr id="11" name="Text 8"/>
          <p:cNvSpPr txBox="1"/>
          <p:nvPr/>
        </p:nvSpPr>
        <p:spPr>
          <a:xfrm>
            <a:off x="731520" y="182880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he-IL" altLang="en-US" sz="12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משנה את תוכן התפקיד גם כשהמשרה נשמרת – "איום איכותני"</a:t>
            </a:r>
            <a:endParaRPr lang="he-IL" sz="1250" dirty="0"/>
          </a:p>
        </p:txBody>
      </p:sp>
      <p:sp>
        <p:nvSpPr>
          <p:cNvPr id="12" name="Shape 9"/>
          <p:cNvSpPr/>
          <p:nvPr/>
        </p:nvSpPr>
        <p:spPr>
          <a:xfrm>
            <a:off x="548640" y="2578608"/>
            <a:ext cx="5669280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12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5486400" y="2852928"/>
            <a:ext cx="548640" cy="548640"/>
          </a:xfrm>
          <a:prstGeom prst="ellipse">
            <a:avLst/>
          </a:prstGeom>
          <a:solidFill>
            <a:srgbClr val="FCA311"/>
          </a:solidFill>
          <a:ln w="12700">
            <a:solidFill>
              <a:srgbClr val="FCA311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5486400" y="285292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📉</a:t>
            </a:r>
            <a:endParaRPr lang="en-US" sz="1800" dirty="0"/>
          </a:p>
        </p:txBody>
      </p:sp>
      <p:sp>
        <p:nvSpPr>
          <p:cNvPr id="15" name="Text 12"/>
          <p:cNvSpPr txBox="1"/>
          <p:nvPr/>
        </p:nvSpPr>
        <p:spPr>
          <a:xfrm>
            <a:off x="731520" y="2688336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he-IL" altLang="en-US" sz="17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התייעלות בהייטק</a:t>
            </a:r>
            <a:endParaRPr lang="he-IL" sz="1700" dirty="0"/>
          </a:p>
        </p:txBody>
      </p:sp>
      <p:sp>
        <p:nvSpPr>
          <p:cNvPr id="16" name="Text 13"/>
          <p:cNvSpPr txBox="1"/>
          <p:nvPr/>
        </p:nvSpPr>
        <p:spPr>
          <a:xfrm>
            <a:off x="731520" y="3081528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he-IL" altLang="en-US" sz="12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גלי פיטורים ו"התייעלות AI" בראש סדר היום של מנהלים ב-2026 ("הקשיים של מנהלי הייטק", 2026)</a:t>
            </a:r>
            <a:endParaRPr lang="he-IL" sz="1250" dirty="0"/>
          </a:p>
        </p:txBody>
      </p:sp>
      <p:sp>
        <p:nvSpPr>
          <p:cNvPr id="17" name="Shape 14"/>
          <p:cNvSpPr/>
          <p:nvPr/>
        </p:nvSpPr>
        <p:spPr>
          <a:xfrm>
            <a:off x="548640" y="3831336"/>
            <a:ext cx="5669280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12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5486400" y="4105656"/>
            <a:ext cx="548640" cy="548640"/>
          </a:xfrm>
          <a:prstGeom prst="ellipse">
            <a:avLst/>
          </a:prstGeom>
          <a:solidFill>
            <a:srgbClr val="FCA311"/>
          </a:solidFill>
          <a:ln w="12700">
            <a:solidFill>
              <a:srgbClr val="FCA311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5486400" y="410565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🎖️</a:t>
            </a:r>
            <a:endParaRPr lang="en-US" sz="1800" dirty="0"/>
          </a:p>
        </p:txBody>
      </p:sp>
      <p:sp>
        <p:nvSpPr>
          <p:cNvPr id="20" name="Text 17"/>
          <p:cNvSpPr txBox="1"/>
          <p:nvPr/>
        </p:nvSpPr>
        <p:spPr>
          <a:xfrm>
            <a:off x="731520" y="3941064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he-IL" altLang="en-US" sz="17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מילואים ומלחמה</a:t>
            </a:r>
            <a:endParaRPr lang="he-IL" sz="1700" dirty="0"/>
          </a:p>
        </p:txBody>
      </p:sp>
      <p:sp>
        <p:nvSpPr>
          <p:cNvPr id="21" name="Text 18"/>
          <p:cNvSpPr txBox="1"/>
          <p:nvPr/>
        </p:nvSpPr>
        <p:spPr>
          <a:xfrm>
            <a:off x="731520" y="4334256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he-IL" altLang="en-US" sz="12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חוסר ודאות שמקורו מחוץ לארגון – ממד ישראלי ייחודי</a:t>
            </a:r>
            <a:endParaRPr lang="he-IL" sz="1250" dirty="0"/>
          </a:p>
        </p:txBody>
      </p:sp>
      <p:sp>
        <p:nvSpPr>
          <p:cNvPr id="22" name="Shape 19"/>
          <p:cNvSpPr/>
          <p:nvPr/>
        </p:nvSpPr>
        <p:spPr>
          <a:xfrm>
            <a:off x="548640" y="5084064"/>
            <a:ext cx="5669280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12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5486400" y="5358384"/>
            <a:ext cx="548640" cy="548640"/>
          </a:xfrm>
          <a:prstGeom prst="ellipse">
            <a:avLst/>
          </a:prstGeom>
          <a:solidFill>
            <a:srgbClr val="FCA311"/>
          </a:solidFill>
          <a:ln w="12700">
            <a:solidFill>
              <a:srgbClr val="FCA311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5486400" y="535838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🧩</a:t>
            </a:r>
            <a:endParaRPr lang="en-US" sz="1800" dirty="0"/>
          </a:p>
        </p:txBody>
      </p:sp>
      <p:sp>
        <p:nvSpPr>
          <p:cNvPr id="25" name="Text 22"/>
          <p:cNvSpPr txBox="1"/>
          <p:nvPr/>
        </p:nvSpPr>
        <p:spPr>
          <a:xfrm>
            <a:off x="731520" y="5193792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he-IL" altLang="en-US" sz="17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צורות העסקה חדשות</a:t>
            </a:r>
            <a:endParaRPr lang="he-IL" sz="1700" dirty="0"/>
          </a:p>
        </p:txBody>
      </p:sp>
      <p:sp>
        <p:nvSpPr>
          <p:cNvPr id="26" name="Text 23"/>
          <p:cNvSpPr txBox="1"/>
          <p:nvPr/>
        </p:nvSpPr>
        <p:spPr>
          <a:xfrm>
            <a:off x="731520" y="5586984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he-IL" altLang="en-US" sz="12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פרילנס, חוזים זמניים, גיג – חוסר ביטחון הופך ממצב חריג למצב כרוני</a:t>
            </a:r>
            <a:endParaRPr lang="he-IL" sz="1250" dirty="0"/>
          </a:p>
        </p:txBody>
      </p:sp>
      <p:sp>
        <p:nvSpPr>
          <p:cNvPr id="27" name="Text 24"/>
          <p:cNvSpPr txBox="1"/>
          <p:nvPr/>
        </p:nvSpPr>
        <p:spPr>
          <a:xfrm>
            <a:off x="5943600" y="6446520"/>
            <a:ext cx="56967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ניהול קריירה בארגונים | הקריה האקדמית אונו</a:t>
            </a:r>
            <a:endParaRPr lang="he-IL" sz="1000" dirty="0"/>
          </a:p>
        </p:txBody>
      </p:sp>
      <p:sp>
        <p:nvSpPr>
          <p:cNvPr id="28" name="Text 25"/>
          <p:cNvSpPr txBox="1"/>
          <p:nvPr/>
        </p:nvSpPr>
        <p:spPr>
          <a:xfrm>
            <a:off x="548640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l" indent="0" marL="0">
              <a:buNone/>
            </a:pPr>
            <a:r>
              <a:rPr lang="he-IL" alt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he-IL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32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המאמר שבחרנו</a:t>
            </a:r>
            <a:endParaRPr lang="he-IL" sz="3200" dirty="0"/>
          </a:p>
        </p:txBody>
      </p:sp>
      <p:sp>
        <p:nvSpPr>
          <p:cNvPr id="3" name="Shape 1"/>
          <p:cNvSpPr/>
          <p:nvPr/>
        </p:nvSpPr>
        <p:spPr>
          <a:xfrm>
            <a:off x="4846320" y="1325880"/>
            <a:ext cx="6793992" cy="3017520"/>
          </a:xfrm>
          <a:prstGeom prst="roundRect">
            <a:avLst>
              <a:gd name="adj" fmla="val 3636"/>
            </a:avLst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5074920" y="1463040"/>
            <a:ext cx="6355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Job Insecurity: An Integrative Review and Agenda for Future Research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5074920" y="2377440"/>
            <a:ext cx="6355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FCA3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Mindy K. Shoss  |  Journal of Management, 43(6), 1911–1939  |  2017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5074920" y="2788920"/>
            <a:ext cx="63550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marL="342900" indent="-342900">
              <a:spcAft>
                <a:spcPts val="600"/>
              </a:spcAft>
              <a:buSzPct val="100000"/>
              <a:buChar char="•"/>
            </a:pPr>
            <a:r>
              <a:rPr lang="he-IL" altLang="en-US" sz="1350" dirty="0">
                <a:solidFill>
                  <a:srgbClr val="E5EA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סקירה אינטגרטיבית – מסנתזת עשרות שנות מחקר מניהול, פסיכולוגיה, סוציולוגיה וכלכלה</a:t>
            </a:r>
            <a:endParaRPr lang="he-IL" sz="1350" dirty="0"/>
          </a:p>
          <a:p>
            <a:pPr algn="r" marL="342900" indent="-342900">
              <a:spcAft>
                <a:spcPts val="600"/>
              </a:spcAft>
              <a:buSzPct val="100000"/>
              <a:buChar char="•"/>
            </a:pPr>
            <a:r>
              <a:rPr lang="he-IL" altLang="en-US" sz="1350" dirty="0">
                <a:solidFill>
                  <a:srgbClr val="E5EA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כתב עת שפיט מהמובילים בעולם בתחום הניהול; המאמר מצוטט מאות פעמים</a:t>
            </a:r>
            <a:endParaRPr lang="he-IL" sz="1350" dirty="0"/>
          </a:p>
          <a:p>
            <a:pPr algn="r" marL="342900" indent="-342900">
              <a:spcAft>
                <a:spcPts val="600"/>
              </a:spcAft>
              <a:buSzPct val="100000"/>
              <a:buChar char="•"/>
            </a:pPr>
            <a:r>
              <a:rPr lang="he-IL" altLang="en-US" sz="1350" dirty="0">
                <a:solidFill>
                  <a:srgbClr val="E5EA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מטרה: הגדרה ברורה + מסגרת מושגית אחת + אג'נדה למחקר</a:t>
            </a:r>
            <a:endParaRPr lang="he-IL" sz="1350" dirty="0"/>
          </a:p>
        </p:txBody>
      </p:sp>
      <p:sp>
        <p:nvSpPr>
          <p:cNvPr id="7" name="Shape 5"/>
          <p:cNvSpPr/>
          <p:nvPr/>
        </p:nvSpPr>
        <p:spPr>
          <a:xfrm>
            <a:off x="548640" y="1325880"/>
            <a:ext cx="4023360" cy="3017520"/>
          </a:xfrm>
          <a:prstGeom prst="roundRect">
            <a:avLst>
              <a:gd name="adj" fmla="val 3636"/>
            </a:avLst>
          </a:prstGeom>
          <a:solidFill>
            <a:srgbClr val="EEF2F8"/>
          </a:solidFill>
          <a:ln w="12700">
            <a:solidFill>
              <a:srgbClr val="EEF2F8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777240" y="146304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he-IL" altLang="en-US" sz="18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למה בחרנו בו?</a:t>
            </a:r>
            <a:endParaRPr lang="he-IL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1965960"/>
            <a:ext cx="35661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marL="342900" indent="-342900">
              <a:spcAft>
                <a:spcPts val="600"/>
              </a:spcAft>
              <a:buSzPct val="100000"/>
              <a:buChar char="•"/>
            </a:pPr>
            <a:r>
              <a:rPr lang="he-IL" altLang="en-US" sz="13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עונה על השאלה "למה אנשים שונים מגיבים אחרת לאותו איום"</a:t>
            </a:r>
            <a:endParaRPr lang="he-IL" sz="1350" dirty="0"/>
          </a:p>
          <a:p>
            <a:pPr algn="r" marL="342900" indent="-342900">
              <a:spcAft>
                <a:spcPts val="600"/>
              </a:spcAft>
              <a:buSzPct val="100000"/>
              <a:buChar char="•"/>
            </a:pPr>
            <a:r>
              <a:rPr lang="he-IL" altLang="en-US" sz="13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נותן שפה משותפת – מהתחושה האמורפית לרכיבים שאפשר לעבוד איתם</a:t>
            </a:r>
            <a:endParaRPr lang="he-IL" sz="1350" dirty="0"/>
          </a:p>
          <a:p>
            <a:pPr algn="r" marL="342900" indent="-342900">
              <a:spcAft>
                <a:spcPts val="600"/>
              </a:spcAft>
              <a:buSzPct val="100000"/>
              <a:buChar char="•"/>
            </a:pPr>
            <a:r>
              <a:rPr lang="he-IL" altLang="en-US" sz="13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מתחבר ל"שלושת סלי הכלים" ול"ממשבר להזדמנות" מהקורס</a:t>
            </a:r>
            <a:endParaRPr lang="he-IL" sz="1350" dirty="0"/>
          </a:p>
        </p:txBody>
      </p:sp>
      <p:sp>
        <p:nvSpPr>
          <p:cNvPr id="10" name="Shape 8"/>
          <p:cNvSpPr/>
          <p:nvPr/>
        </p:nvSpPr>
        <p:spPr>
          <a:xfrm>
            <a:off x="548640" y="4572000"/>
            <a:ext cx="11091672" cy="1691640"/>
          </a:xfrm>
          <a:prstGeom prst="roundRect">
            <a:avLst>
              <a:gd name="adj" fmla="val 6486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777240" y="4663440"/>
            <a:ext cx="10607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he-IL" altLang="en-US" sz="1600" b="1" dirty="0">
                <a:solidFill>
                  <a:srgbClr val="2A9D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מאמר משלים וראיות תומכות</a:t>
            </a:r>
            <a:endParaRPr lang="he-IL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777240" y="5074920"/>
            <a:ext cx="10607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spcAft>
                <a:spcPts val="600"/>
              </a:spcAft>
              <a:buNone/>
            </a:pPr>
            <a:r>
              <a:rPr lang="en-US" sz="12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Lee, C., Huang, G.-H., &amp; Ashford, S. J. (2018). Job insecurity and the changing workplace. Annual Review of Organizational Psychology and Organizational Behavior, 5, 335-359.</a:t>
            </a:r>
            <a:endParaRPr lang="en-US" sz="1250" dirty="0"/>
          </a:p>
          <a:p>
            <a:pPr algn="r" indent="0" marL="0">
              <a:spcAft>
                <a:spcPts val="600"/>
              </a:spcAft>
              <a:buNone/>
            </a:pPr>
            <a:r>
              <a:rPr lang="en-US" sz="12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Jiang, L., &amp; Lavaysse, L. M. (2018). Cognitive and affective job insecurity: A meta-analysis and a primary study. Journal of Management, 44(6), 2307–2342.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5943600" y="6446520"/>
            <a:ext cx="56967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ניהול קריירה בארגונים | הקריה האקדמית אונו</a:t>
            </a:r>
            <a:endParaRPr lang="he-IL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548640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l" indent="0" marL="0">
              <a:buNone/>
            </a:pPr>
            <a:r>
              <a:rPr lang="he-IL" alt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he-IL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32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מה זה בכלל חוסר ביטחון תעסוקתי?</a:t>
            </a:r>
            <a:endParaRPr lang="he-IL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280160"/>
            <a:ext cx="11091672" cy="1143000"/>
          </a:xfrm>
          <a:prstGeom prst="roundRect">
            <a:avLst>
              <a:gd name="adj" fmla="val 9600"/>
            </a:avLst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822960" y="137160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"איום נתפס על ההמשכיות והיציבות של התעסוקה כפי שהיא נחווית כיום"</a:t>
            </a:r>
            <a:endParaRPr lang="he-IL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1920240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i="1" dirty="0">
                <a:solidFill>
                  <a:srgbClr val="FCA3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“a perceived threat to the continuity and stability of employment as it is currently experienced” (Shoss, 2017)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11109960" y="2788920"/>
            <a:ext cx="457200" cy="457200"/>
          </a:xfrm>
          <a:prstGeom prst="ellipse">
            <a:avLst/>
          </a:prstGeom>
          <a:solidFill>
            <a:srgbClr val="FCA311"/>
          </a:solidFill>
          <a:ln w="12700">
            <a:solidFill>
              <a:srgbClr val="FCA31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1109960" y="2788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6949440" y="269748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he-IL" altLang="en-US" sz="16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תפיסה</a:t>
            </a:r>
            <a:endParaRPr lang="he-IL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6949440" y="306324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he-IL" altLang="en-US" sz="12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סובייקטיבי – שני עובדים, אותו חוזה, תחושה שונה</a:t>
            </a:r>
            <a:endParaRPr lang="he-IL" sz="1250" dirty="0"/>
          </a:p>
        </p:txBody>
      </p:sp>
      <p:sp>
        <p:nvSpPr>
          <p:cNvPr id="10" name="Shape 8"/>
          <p:cNvSpPr/>
          <p:nvPr/>
        </p:nvSpPr>
        <p:spPr>
          <a:xfrm>
            <a:off x="11109960" y="3703320"/>
            <a:ext cx="457200" cy="457200"/>
          </a:xfrm>
          <a:prstGeom prst="ellipse">
            <a:avLst/>
          </a:prstGeom>
          <a:solidFill>
            <a:srgbClr val="FCA311"/>
          </a:solidFill>
          <a:ln w="12700">
            <a:solidFill>
              <a:srgbClr val="FCA31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1109960" y="3703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6949440" y="361188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he-IL" altLang="en-US" sz="16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איום</a:t>
            </a:r>
            <a:endParaRPr lang="he-IL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6949440" y="397764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he-IL" altLang="en-US" sz="12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מכוון לעתיד – זה "לפני", לא אחרי</a:t>
            </a:r>
            <a:endParaRPr lang="he-IL" sz="1250" dirty="0"/>
          </a:p>
        </p:txBody>
      </p:sp>
      <p:sp>
        <p:nvSpPr>
          <p:cNvPr id="14" name="Shape 12"/>
          <p:cNvSpPr/>
          <p:nvPr/>
        </p:nvSpPr>
        <p:spPr>
          <a:xfrm>
            <a:off x="11109960" y="4617720"/>
            <a:ext cx="457200" cy="457200"/>
          </a:xfrm>
          <a:prstGeom prst="ellipse">
            <a:avLst/>
          </a:prstGeom>
          <a:solidFill>
            <a:srgbClr val="FCA311"/>
          </a:solidFill>
          <a:ln w="12700">
            <a:solidFill>
              <a:srgbClr val="FCA311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11109960" y="4617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6949440" y="452628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he-IL" altLang="en-US" sz="16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המשכיות ויציבות</a:t>
            </a:r>
            <a:endParaRPr lang="he-IL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6949440" y="489204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he-IL" altLang="en-US" sz="12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המשרה עצמה – או מאפייניה</a:t>
            </a:r>
            <a:endParaRPr lang="he-IL" sz="1250" dirty="0"/>
          </a:p>
        </p:txBody>
      </p:sp>
      <p:sp>
        <p:nvSpPr>
          <p:cNvPr id="18" name="Shape 16"/>
          <p:cNvSpPr/>
          <p:nvPr/>
        </p:nvSpPr>
        <p:spPr>
          <a:xfrm>
            <a:off x="11109960" y="5532120"/>
            <a:ext cx="457200" cy="457200"/>
          </a:xfrm>
          <a:prstGeom prst="ellipse">
            <a:avLst/>
          </a:prstGeom>
          <a:solidFill>
            <a:srgbClr val="FCA311"/>
          </a:solidFill>
          <a:ln w="12700">
            <a:solidFill>
              <a:srgbClr val="FCA311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11109960" y="5532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6949440" y="544068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he-IL" altLang="en-US" sz="16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כפי שנחווית כיום</a:t>
            </a:r>
            <a:endParaRPr lang="he-IL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6949440" y="580644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he-IL" altLang="en-US" sz="12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המשרה הנוכחית, לא חרדה כללית</a:t>
            </a:r>
            <a:endParaRPr lang="he-IL" sz="1250" dirty="0"/>
          </a:p>
        </p:txBody>
      </p:sp>
      <p:sp>
        <p:nvSpPr>
          <p:cNvPr id="22" name="Text 20"/>
          <p:cNvSpPr txBox="1"/>
          <p:nvPr/>
        </p:nvSpPr>
        <p:spPr>
          <a:xfrm>
            <a:off x="548640" y="2606040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he-IL" altLang="en-US" sz="1500" b="1" dirty="0">
                <a:solidFill>
                  <a:srgbClr val="2A9D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מוקדי האיום (Threat Foci)</a:t>
            </a:r>
            <a:endParaRPr lang="he-IL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3794760" y="301752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he-IL" altLang="en-US" sz="115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קוגניטיבי – "עד כמה זה סביר?"</a:t>
            </a:r>
            <a:endParaRPr lang="he-IL" sz="1150" dirty="0"/>
          </a:p>
        </p:txBody>
      </p:sp>
      <p:sp>
        <p:nvSpPr>
          <p:cNvPr id="24" name="Text 22"/>
          <p:cNvSpPr txBox="1"/>
          <p:nvPr/>
        </p:nvSpPr>
        <p:spPr>
          <a:xfrm>
            <a:off x="1371600" y="301752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he-IL" altLang="en-US" sz="115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רגשי – "עד כמה זה מדאיג?"</a:t>
            </a:r>
            <a:endParaRPr lang="he-IL" sz="1150" dirty="0"/>
          </a:p>
        </p:txBody>
      </p:sp>
      <p:sp>
        <p:nvSpPr>
          <p:cNvPr id="25" name="Text 23"/>
          <p:cNvSpPr txBox="1"/>
          <p:nvPr/>
        </p:nvSpPr>
        <p:spPr>
          <a:xfrm>
            <a:off x="548640" y="3429000"/>
            <a:ext cx="7772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he-IL" altLang="en-US" sz="115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כמותי – אובדן המשרה</a:t>
            </a:r>
            <a:endParaRPr lang="he-IL" sz="1150" dirty="0"/>
          </a:p>
        </p:txBody>
      </p:sp>
      <p:sp>
        <p:nvSpPr>
          <p:cNvPr id="26" name="Text 24"/>
          <p:cNvSpPr txBox="1"/>
          <p:nvPr/>
        </p:nvSpPr>
        <p:spPr>
          <a:xfrm>
            <a:off x="548640" y="4846320"/>
            <a:ext cx="7772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he-IL" altLang="en-US" sz="115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איכותני – אובדן מאפיינים</a:t>
            </a:r>
            <a:endParaRPr lang="he-IL" sz="1150" dirty="0"/>
          </a:p>
        </p:txBody>
      </p:sp>
      <p:sp>
        <p:nvSpPr>
          <p:cNvPr id="27" name="Shape 25"/>
          <p:cNvSpPr/>
          <p:nvPr/>
        </p:nvSpPr>
        <p:spPr>
          <a:xfrm>
            <a:off x="3794760" y="3429000"/>
            <a:ext cx="2331720" cy="1325880"/>
          </a:xfrm>
          <a:prstGeom prst="roundRect">
            <a:avLst>
              <a:gd name="adj" fmla="val 8276"/>
            </a:avLst>
          </a:prstGeom>
          <a:solidFill>
            <a:srgbClr val="FDE2DC"/>
          </a:solidFill>
          <a:ln w="12700">
            <a:solidFill>
              <a:srgbClr val="FDE2DC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 txBox="1"/>
          <p:nvPr/>
        </p:nvSpPr>
        <p:spPr>
          <a:xfrm>
            <a:off x="3931920" y="3520440"/>
            <a:ext cx="20574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he-IL" alt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"יש סיכוי שיפטרו אותי"</a:t>
            </a:r>
            <a:endParaRPr lang="he-IL" sz="1300" dirty="0"/>
          </a:p>
        </p:txBody>
      </p:sp>
      <p:sp>
        <p:nvSpPr>
          <p:cNvPr id="29" name="Shape 27"/>
          <p:cNvSpPr/>
          <p:nvPr/>
        </p:nvSpPr>
        <p:spPr>
          <a:xfrm>
            <a:off x="1371600" y="3429000"/>
            <a:ext cx="2331720" cy="1325880"/>
          </a:xfrm>
          <a:prstGeom prst="roundRect">
            <a:avLst>
              <a:gd name="adj" fmla="val 8276"/>
            </a:avLst>
          </a:prstGeom>
          <a:solidFill>
            <a:srgbClr val="F9C9BF"/>
          </a:solidFill>
          <a:ln w="12700">
            <a:solidFill>
              <a:srgbClr val="F9C9BF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12000"/>
              </a:srgbClr>
            </a:outerShdw>
          </a:effectLst>
        </p:spPr>
      </p:sp>
      <p:sp>
        <p:nvSpPr>
          <p:cNvPr id="30" name="Text 28"/>
          <p:cNvSpPr txBox="1"/>
          <p:nvPr/>
        </p:nvSpPr>
        <p:spPr>
          <a:xfrm>
            <a:off x="1508760" y="3520440"/>
            <a:ext cx="20574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he-IL" alt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"אני דואג/ת ולא ישן/ה בלילה"</a:t>
            </a:r>
            <a:endParaRPr lang="he-IL" sz="1300" dirty="0"/>
          </a:p>
        </p:txBody>
      </p:sp>
      <p:sp>
        <p:nvSpPr>
          <p:cNvPr id="31" name="Shape 29"/>
          <p:cNvSpPr/>
          <p:nvPr/>
        </p:nvSpPr>
        <p:spPr>
          <a:xfrm>
            <a:off x="3794760" y="4846320"/>
            <a:ext cx="2331720" cy="1325880"/>
          </a:xfrm>
          <a:prstGeom prst="roundRect">
            <a:avLst>
              <a:gd name="adj" fmla="val 8276"/>
            </a:avLst>
          </a:prstGeom>
          <a:solidFill>
            <a:srgbClr val="FFF1D6"/>
          </a:solidFill>
          <a:ln w="12700">
            <a:solidFill>
              <a:srgbClr val="FFF1D6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12000"/>
              </a:srgbClr>
            </a:outerShdw>
          </a:effectLst>
        </p:spPr>
      </p:sp>
      <p:sp>
        <p:nvSpPr>
          <p:cNvPr id="32" name="Text 30"/>
          <p:cNvSpPr txBox="1"/>
          <p:nvPr/>
        </p:nvSpPr>
        <p:spPr>
          <a:xfrm>
            <a:off x="3931920" y="4937760"/>
            <a:ext cx="20574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he-IL" alt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"התפקיד יישאר אבל ה-AI ישנה אותו"</a:t>
            </a:r>
            <a:endParaRPr lang="he-IL" sz="1300" dirty="0"/>
          </a:p>
        </p:txBody>
      </p:sp>
      <p:sp>
        <p:nvSpPr>
          <p:cNvPr id="33" name="Shape 31"/>
          <p:cNvSpPr/>
          <p:nvPr/>
        </p:nvSpPr>
        <p:spPr>
          <a:xfrm>
            <a:off x="1371600" y="4846320"/>
            <a:ext cx="2331720" cy="1325880"/>
          </a:xfrm>
          <a:prstGeom prst="roundRect">
            <a:avLst>
              <a:gd name="adj" fmla="val 8276"/>
            </a:avLst>
          </a:prstGeom>
          <a:solidFill>
            <a:srgbClr val="FFE4B3"/>
          </a:solidFill>
          <a:ln w="12700">
            <a:solidFill>
              <a:srgbClr val="FFE4B3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12000"/>
              </a:srgbClr>
            </a:outerShdw>
          </a:effectLst>
        </p:spPr>
      </p:sp>
      <p:sp>
        <p:nvSpPr>
          <p:cNvPr id="34" name="Text 32"/>
          <p:cNvSpPr txBox="1"/>
          <p:nvPr/>
        </p:nvSpPr>
        <p:spPr>
          <a:xfrm>
            <a:off x="1508760" y="4937760"/>
            <a:ext cx="20574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he-IL" alt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"אני חושש/ת שאאבד את מה שאני אוהב/ת בעבודה"</a:t>
            </a:r>
            <a:endParaRPr lang="he-IL" sz="1300" dirty="0"/>
          </a:p>
        </p:txBody>
      </p:sp>
      <p:sp>
        <p:nvSpPr>
          <p:cNvPr id="35" name="Text 33"/>
          <p:cNvSpPr txBox="1"/>
          <p:nvPr/>
        </p:nvSpPr>
        <p:spPr>
          <a:xfrm>
            <a:off x="5943600" y="6446520"/>
            <a:ext cx="56967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ניהול קריירה בארגונים | הקריה האקדמית אונו</a:t>
            </a:r>
            <a:endParaRPr lang="he-IL" sz="1000" dirty="0"/>
          </a:p>
        </p:txBody>
      </p:sp>
      <p:sp>
        <p:nvSpPr>
          <p:cNvPr id="36" name="Text 34"/>
          <p:cNvSpPr txBox="1"/>
          <p:nvPr/>
        </p:nvSpPr>
        <p:spPr>
          <a:xfrm>
            <a:off x="548640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l" indent="0" marL="0">
              <a:buNone/>
            </a:pPr>
            <a:r>
              <a:rPr lang="he-IL" alt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he-IL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32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המודל של Shoss (2017): מאיפה זה מגיע ולאן זה מוביל</a:t>
            </a:r>
            <a:endParaRPr lang="he-IL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8503920" y="1280160"/>
            <a:ext cx="31363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he-IL" altLang="en-US" sz="1500" b="1" dirty="0">
                <a:solidFill>
                  <a:srgbClr val="2A9D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הגורמים</a:t>
            </a:r>
            <a:endParaRPr lang="he-IL" sz="1500" dirty="0"/>
          </a:p>
        </p:txBody>
      </p:sp>
      <p:sp>
        <p:nvSpPr>
          <p:cNvPr id="4" name="Shape 2"/>
          <p:cNvSpPr/>
          <p:nvPr/>
        </p:nvSpPr>
        <p:spPr>
          <a:xfrm>
            <a:off x="8503920" y="1691640"/>
            <a:ext cx="3136392" cy="1005840"/>
          </a:xfrm>
          <a:prstGeom prst="roundRect">
            <a:avLst>
              <a:gd name="adj" fmla="val 10909"/>
            </a:avLst>
          </a:prstGeom>
          <a:solidFill>
            <a:srgbClr val="EEF2F8"/>
          </a:solidFill>
          <a:ln w="12700">
            <a:solidFill>
              <a:srgbClr val="EEF2F8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641080" y="1764792"/>
            <a:ext cx="28620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he-IL" altLang="en-US" sz="15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מאקרו</a:t>
            </a:r>
            <a:endParaRPr lang="he-IL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8641080" y="2130552"/>
            <a:ext cx="28620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he-IL" altLang="en-US" sz="11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מיתון, טכנולוגיה, מלחמה</a:t>
            </a:r>
            <a:endParaRPr lang="he-IL" sz="1150" dirty="0"/>
          </a:p>
        </p:txBody>
      </p:sp>
      <p:sp>
        <p:nvSpPr>
          <p:cNvPr id="7" name="Shape 5"/>
          <p:cNvSpPr/>
          <p:nvPr/>
        </p:nvSpPr>
        <p:spPr>
          <a:xfrm>
            <a:off x="8503920" y="2834640"/>
            <a:ext cx="3136392" cy="1005840"/>
          </a:xfrm>
          <a:prstGeom prst="roundRect">
            <a:avLst>
              <a:gd name="adj" fmla="val 10909"/>
            </a:avLst>
          </a:prstGeom>
          <a:solidFill>
            <a:srgbClr val="EEF2F8"/>
          </a:solidFill>
          <a:ln w="12700">
            <a:solidFill>
              <a:srgbClr val="EEF2F8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8641080" y="2907792"/>
            <a:ext cx="28620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he-IL" altLang="en-US" sz="15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ארגוני</a:t>
            </a:r>
            <a:endParaRPr lang="he-IL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8641080" y="3273552"/>
            <a:ext cx="28620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he-IL" altLang="en-US" sz="11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צמצומים, מיזוגים, חוזים זמניים, תקשורת לקויה</a:t>
            </a:r>
            <a:endParaRPr lang="he-IL" sz="1150" dirty="0"/>
          </a:p>
        </p:txBody>
      </p:sp>
      <p:sp>
        <p:nvSpPr>
          <p:cNvPr id="10" name="Shape 8"/>
          <p:cNvSpPr/>
          <p:nvPr/>
        </p:nvSpPr>
        <p:spPr>
          <a:xfrm>
            <a:off x="8503920" y="3977640"/>
            <a:ext cx="3136392" cy="1005840"/>
          </a:xfrm>
          <a:prstGeom prst="roundRect">
            <a:avLst>
              <a:gd name="adj" fmla="val 10909"/>
            </a:avLst>
          </a:prstGeom>
          <a:solidFill>
            <a:srgbClr val="EEF2F8"/>
          </a:solidFill>
          <a:ln w="12700">
            <a:solidFill>
              <a:srgbClr val="EEF2F8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8641080" y="4050792"/>
            <a:ext cx="28620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he-IL" altLang="en-US" sz="15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אישי</a:t>
            </a:r>
            <a:endParaRPr lang="he-IL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8641080" y="4416552"/>
            <a:ext cx="28620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he-IL" altLang="en-US" sz="11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אישיות, ותק, השכלה, יכולת תעסוקה</a:t>
            </a:r>
            <a:endParaRPr lang="he-IL" sz="1150" dirty="0"/>
          </a:p>
        </p:txBody>
      </p:sp>
      <p:sp>
        <p:nvSpPr>
          <p:cNvPr id="13" name="Shape 11"/>
          <p:cNvSpPr/>
          <p:nvPr/>
        </p:nvSpPr>
        <p:spPr>
          <a:xfrm>
            <a:off x="7635240" y="2926080"/>
            <a:ext cx="777240" cy="548640"/>
          </a:xfrm>
          <a:prstGeom prst="leftArrow">
            <a:avLst/>
          </a:prstGeom>
          <a:solidFill>
            <a:srgbClr val="FCA311"/>
          </a:solidFill>
          <a:ln w="12700">
            <a:solidFill>
              <a:srgbClr val="FCA31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074920" y="2148840"/>
            <a:ext cx="2468880" cy="2103120"/>
          </a:xfrm>
          <a:prstGeom prst="ellipse">
            <a:avLst/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166360" y="233172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he-IL" alt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חוסר ביטחון תעסוקתי</a:t>
            </a:r>
            <a:endParaRPr lang="he-IL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5166360" y="320040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he-IL" altLang="en-US" sz="1100" dirty="0">
                <a:solidFill>
                  <a:srgbClr val="FCA3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כמותי / איכותני</a:t>
            </a:r>
            <a:endParaRPr lang="he-IL" sz="1100" dirty="0"/>
          </a:p>
          <a:p>
            <a:pPr rtl="1" algn="ctr" indent="0" marL="0">
              <a:buNone/>
            </a:pPr>
            <a:r>
              <a:rPr lang="he-IL" altLang="en-US" sz="1100" dirty="0">
                <a:solidFill>
                  <a:srgbClr val="FCA3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קוגניטיבי / רגשי</a:t>
            </a:r>
            <a:endParaRPr lang="he-IL" sz="1100" dirty="0"/>
          </a:p>
        </p:txBody>
      </p:sp>
      <p:sp>
        <p:nvSpPr>
          <p:cNvPr id="17" name="Shape 15"/>
          <p:cNvSpPr/>
          <p:nvPr/>
        </p:nvSpPr>
        <p:spPr>
          <a:xfrm>
            <a:off x="4206240" y="2926080"/>
            <a:ext cx="777240" cy="548640"/>
          </a:xfrm>
          <a:prstGeom prst="leftArrow">
            <a:avLst/>
          </a:prstGeom>
          <a:solidFill>
            <a:srgbClr val="FCA311"/>
          </a:solidFill>
          <a:ln w="12700">
            <a:solidFill>
              <a:srgbClr val="FCA311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48640" y="128016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he-IL" altLang="en-US" sz="1500" b="1" dirty="0">
                <a:solidFill>
                  <a:srgbClr val="2A9D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מנגנונים → תוצאות</a:t>
            </a:r>
            <a:endParaRPr lang="he-IL" sz="1500" dirty="0"/>
          </a:p>
        </p:txBody>
      </p:sp>
      <p:sp>
        <p:nvSpPr>
          <p:cNvPr id="19" name="Shape 17"/>
          <p:cNvSpPr/>
          <p:nvPr/>
        </p:nvSpPr>
        <p:spPr>
          <a:xfrm>
            <a:off x="548640" y="1691640"/>
            <a:ext cx="3566160" cy="749808"/>
          </a:xfrm>
          <a:prstGeom prst="roundRect">
            <a:avLst>
              <a:gd name="adj" fmla="val 14634"/>
            </a:avLst>
          </a:prstGeom>
          <a:solidFill>
            <a:srgbClr val="EEF2F8"/>
          </a:solidFill>
          <a:ln w="12700">
            <a:solidFill>
              <a:srgbClr val="EEF2F8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657600" y="1883664"/>
            <a:ext cx="365760" cy="36576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85800" y="1746504"/>
            <a:ext cx="2880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he-IL" altLang="en-US" sz="14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לחץ</a:t>
            </a:r>
            <a:endParaRPr lang="he-IL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685800" y="2075688"/>
            <a:ext cx="2880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he-IL" alt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שחיקה, בריאות, משפחה</a:t>
            </a:r>
            <a:endParaRPr lang="he-IL" sz="1100" dirty="0"/>
          </a:p>
        </p:txBody>
      </p:sp>
      <p:sp>
        <p:nvSpPr>
          <p:cNvPr id="23" name="Shape 21"/>
          <p:cNvSpPr/>
          <p:nvPr/>
        </p:nvSpPr>
        <p:spPr>
          <a:xfrm>
            <a:off x="548640" y="2560320"/>
            <a:ext cx="3566160" cy="749808"/>
          </a:xfrm>
          <a:prstGeom prst="roundRect">
            <a:avLst>
              <a:gd name="adj" fmla="val 14634"/>
            </a:avLst>
          </a:prstGeom>
          <a:solidFill>
            <a:srgbClr val="EEF2F8"/>
          </a:solidFill>
          <a:ln w="12700">
            <a:solidFill>
              <a:srgbClr val="EEF2F8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657600" y="2752344"/>
            <a:ext cx="365760" cy="36576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85800" y="2615184"/>
            <a:ext cx="2880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he-IL" altLang="en-US" sz="14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חליפין חברתי</a:t>
            </a:r>
            <a:endParaRPr lang="he-IL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685800" y="2944368"/>
            <a:ext cx="2880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he-IL" alt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ירידה במחויבות ובאמון</a:t>
            </a:r>
            <a:endParaRPr lang="he-IL" sz="1100" dirty="0"/>
          </a:p>
        </p:txBody>
      </p:sp>
      <p:sp>
        <p:nvSpPr>
          <p:cNvPr id="27" name="Shape 25"/>
          <p:cNvSpPr/>
          <p:nvPr/>
        </p:nvSpPr>
        <p:spPr>
          <a:xfrm>
            <a:off x="548640" y="3429000"/>
            <a:ext cx="3566160" cy="749808"/>
          </a:xfrm>
          <a:prstGeom prst="roundRect">
            <a:avLst>
              <a:gd name="adj" fmla="val 14634"/>
            </a:avLst>
          </a:prstGeom>
          <a:solidFill>
            <a:srgbClr val="EEF2F8"/>
          </a:solidFill>
          <a:ln w="12700">
            <a:solidFill>
              <a:srgbClr val="EEF2F8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12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3657600" y="3621024"/>
            <a:ext cx="365760" cy="365760"/>
          </a:xfrm>
          <a:prstGeom prst="ellipse">
            <a:avLst/>
          </a:prstGeom>
          <a:solidFill>
            <a:srgbClr val="FCA311"/>
          </a:solidFill>
          <a:ln w="12700">
            <a:solidFill>
              <a:srgbClr val="FCA311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685800" y="3483864"/>
            <a:ext cx="2880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he-IL" altLang="en-US" sz="14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שימור המשרה</a:t>
            </a:r>
            <a:endParaRPr lang="he-IL" sz="1400" dirty="0"/>
          </a:p>
        </p:txBody>
      </p:sp>
      <p:sp>
        <p:nvSpPr>
          <p:cNvPr id="30" name="Text 28"/>
          <p:cNvSpPr txBox="1"/>
          <p:nvPr/>
        </p:nvSpPr>
        <p:spPr>
          <a:xfrm>
            <a:off x="685800" y="3813048"/>
            <a:ext cx="2880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he-IL" alt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"להתכופף" – מאמץ ושתיקה</a:t>
            </a:r>
            <a:endParaRPr lang="he-IL" sz="1100" dirty="0"/>
          </a:p>
        </p:txBody>
      </p:sp>
      <p:sp>
        <p:nvSpPr>
          <p:cNvPr id="31" name="Shape 29"/>
          <p:cNvSpPr/>
          <p:nvPr/>
        </p:nvSpPr>
        <p:spPr>
          <a:xfrm>
            <a:off x="548640" y="4297680"/>
            <a:ext cx="3566160" cy="749808"/>
          </a:xfrm>
          <a:prstGeom prst="roundRect">
            <a:avLst>
              <a:gd name="adj" fmla="val 14634"/>
            </a:avLst>
          </a:prstGeom>
          <a:solidFill>
            <a:srgbClr val="EEF2F8"/>
          </a:solidFill>
          <a:ln w="12700">
            <a:solidFill>
              <a:srgbClr val="EEF2F8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12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3657600" y="4489704"/>
            <a:ext cx="365760" cy="365760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685800" y="4352544"/>
            <a:ext cx="2880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he-IL" altLang="en-US" sz="14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התמודדות פרואקטיבית</a:t>
            </a:r>
            <a:endParaRPr lang="he-IL" sz="1400" dirty="0"/>
          </a:p>
        </p:txBody>
      </p:sp>
      <p:sp>
        <p:nvSpPr>
          <p:cNvPr id="34" name="Text 32"/>
          <p:cNvSpPr txBox="1"/>
          <p:nvPr/>
        </p:nvSpPr>
        <p:spPr>
          <a:xfrm>
            <a:off x="685800" y="4681728"/>
            <a:ext cx="2880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he-IL" alt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למידה, נטוורקינג, תוכנית ב'</a:t>
            </a:r>
            <a:endParaRPr lang="he-IL" sz="1100" dirty="0"/>
          </a:p>
        </p:txBody>
      </p:sp>
      <p:sp>
        <p:nvSpPr>
          <p:cNvPr id="35" name="Shape 33"/>
          <p:cNvSpPr/>
          <p:nvPr/>
        </p:nvSpPr>
        <p:spPr>
          <a:xfrm>
            <a:off x="548640" y="5257800"/>
            <a:ext cx="11091672" cy="1005840"/>
          </a:xfrm>
          <a:prstGeom prst="roundRect">
            <a:avLst>
              <a:gd name="adj" fmla="val 10909"/>
            </a:avLst>
          </a:prstGeom>
          <a:solidFill>
            <a:srgbClr val="FFF4DE"/>
          </a:solidFill>
          <a:ln w="12700">
            <a:solidFill>
              <a:srgbClr val="FFF4DE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12000"/>
              </a:srgbClr>
            </a:outerShdw>
          </a:effectLst>
        </p:spPr>
      </p:sp>
      <p:sp>
        <p:nvSpPr>
          <p:cNvPr id="36" name="Text 34"/>
          <p:cNvSpPr txBox="1"/>
          <p:nvPr/>
        </p:nvSpPr>
        <p:spPr>
          <a:xfrm>
            <a:off x="822960" y="53035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he-IL" altLang="en-US" sz="14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משתנים ממתנים – מה קובע את עוצמת התגובה?</a:t>
            </a:r>
            <a:endParaRPr lang="he-IL" sz="1400" dirty="0"/>
          </a:p>
        </p:txBody>
      </p:sp>
      <p:sp>
        <p:nvSpPr>
          <p:cNvPr id="37" name="Text 35"/>
          <p:cNvSpPr txBox="1"/>
          <p:nvPr/>
        </p:nvSpPr>
        <p:spPr>
          <a:xfrm>
            <a:off x="822960" y="5669280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he-IL" alt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מאפייני האיום (הסתברות, חומרה, שליטה)   •   פגיעוּת כלכלית (כרית, תלות, יכולת תעסוקה)   •   פגיעוּת פסיכולוגית (מסוגלות, תמיכה, זהות)</a:t>
            </a:r>
            <a:endParaRPr lang="he-IL" sz="1300" dirty="0"/>
          </a:p>
        </p:txBody>
      </p:sp>
      <p:sp>
        <p:nvSpPr>
          <p:cNvPr id="38" name="Text 36"/>
          <p:cNvSpPr txBox="1"/>
          <p:nvPr/>
        </p:nvSpPr>
        <p:spPr>
          <a:xfrm>
            <a:off x="5943600" y="6446520"/>
            <a:ext cx="56967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ניהול קריירה בארגונים | הקריה האקדמית אונו</a:t>
            </a:r>
            <a:endParaRPr lang="he-IL" sz="1000" dirty="0"/>
          </a:p>
        </p:txBody>
      </p:sp>
      <p:sp>
        <p:nvSpPr>
          <p:cNvPr id="39" name="Text 37"/>
          <p:cNvSpPr txBox="1"/>
          <p:nvPr/>
        </p:nvSpPr>
        <p:spPr>
          <a:xfrm>
            <a:off x="548640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l" indent="0" marL="0">
              <a:buNone/>
            </a:pPr>
            <a:r>
              <a:rPr lang="he-IL" alt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he-IL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32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ארבעת המנגנונים: למה אותו עובד גם "מתכופף" וגם שולח קורות חיים?</a:t>
            </a:r>
            <a:endParaRPr lang="he-IL" sz="3200" dirty="0"/>
          </a:p>
        </p:txBody>
      </p:sp>
      <p:sp>
        <p:nvSpPr>
          <p:cNvPr id="3" name="Shape 1"/>
          <p:cNvSpPr/>
          <p:nvPr/>
        </p:nvSpPr>
        <p:spPr>
          <a:xfrm>
            <a:off x="8988552" y="1371600"/>
            <a:ext cx="2651760" cy="384048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9948672" y="1645920"/>
            <a:ext cx="731520" cy="73152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948672" y="16459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9125712" y="251460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he-IL" altLang="en-US" sz="15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לחץ</a:t>
            </a:r>
            <a:endParaRPr lang="he-IL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9171432" y="2999232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Stress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9171432" y="3383280"/>
            <a:ext cx="22860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he-IL" altLang="en-US" sz="12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האיום הצפוי מדלדל משאבים (הכנסה, מעמד, זהות) עוד לפני שמשהו קרה → מתח, שחיקה, בעיות שינה, השלכות על המשפחה</a:t>
            </a:r>
            <a:endParaRPr lang="he-IL" sz="1250" dirty="0"/>
          </a:p>
        </p:txBody>
      </p:sp>
      <p:sp>
        <p:nvSpPr>
          <p:cNvPr id="9" name="Shape 7"/>
          <p:cNvSpPr/>
          <p:nvPr/>
        </p:nvSpPr>
        <p:spPr>
          <a:xfrm>
            <a:off x="6172200" y="1371600"/>
            <a:ext cx="2651760" cy="384048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7132320" y="1645920"/>
            <a:ext cx="731520" cy="73152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132320" y="16459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600" dirty="0"/>
          </a:p>
        </p:txBody>
      </p:sp>
      <p:sp>
        <p:nvSpPr>
          <p:cNvPr id="12" name="Text 10"/>
          <p:cNvSpPr txBox="1"/>
          <p:nvPr/>
        </p:nvSpPr>
        <p:spPr>
          <a:xfrm>
            <a:off x="6309360" y="251460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he-IL" altLang="en-US" sz="15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חליפין חברתי</a:t>
            </a:r>
            <a:endParaRPr lang="he-IL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6355080" y="2999232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Exchange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6355080" y="3383280"/>
            <a:ext cx="22860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he-IL" altLang="en-US" sz="12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"אני נותן נאמנות, הארגון אמור לתת ביטחון" – הפרת החוזה הפסיכולוגי → פחות מחויבות, אמון ועזרה לעמיתים</a:t>
            </a:r>
            <a:endParaRPr lang="he-IL" sz="1250" dirty="0"/>
          </a:p>
        </p:txBody>
      </p:sp>
      <p:sp>
        <p:nvSpPr>
          <p:cNvPr id="15" name="Shape 13"/>
          <p:cNvSpPr/>
          <p:nvPr/>
        </p:nvSpPr>
        <p:spPr>
          <a:xfrm>
            <a:off x="3355848" y="1371600"/>
            <a:ext cx="2651760" cy="384048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315968" y="1645920"/>
            <a:ext cx="731520" cy="731520"/>
          </a:xfrm>
          <a:prstGeom prst="ellipse">
            <a:avLst/>
          </a:prstGeom>
          <a:solidFill>
            <a:srgbClr val="FCA311"/>
          </a:solidFill>
          <a:ln w="12700">
            <a:solidFill>
              <a:srgbClr val="FCA311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315968" y="16459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600" dirty="0"/>
          </a:p>
        </p:txBody>
      </p:sp>
      <p:sp>
        <p:nvSpPr>
          <p:cNvPr id="18" name="Text 16"/>
          <p:cNvSpPr txBox="1"/>
          <p:nvPr/>
        </p:nvSpPr>
        <p:spPr>
          <a:xfrm>
            <a:off x="3493008" y="251460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he-IL" altLang="en-US" sz="15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שימור המשרה</a:t>
            </a:r>
            <a:endParaRPr lang="he-IL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3538728" y="2999232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Job Preservation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3538728" y="3383280"/>
            <a:ext cx="22860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he-IL" altLang="en-US" sz="12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עובדים קשה יותר, שותקים, מגיעים חולים, מנהלים רושם – המשרה נשמרת בטווח הקצר, במחיר בריאותי</a:t>
            </a:r>
            <a:endParaRPr lang="he-IL" sz="1250" dirty="0"/>
          </a:p>
        </p:txBody>
      </p:sp>
      <p:sp>
        <p:nvSpPr>
          <p:cNvPr id="21" name="Shape 19"/>
          <p:cNvSpPr/>
          <p:nvPr/>
        </p:nvSpPr>
        <p:spPr>
          <a:xfrm>
            <a:off x="539496" y="1371600"/>
            <a:ext cx="2651760" cy="384048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1499616" y="1645920"/>
            <a:ext cx="731520" cy="731520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1499616" y="16459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600" dirty="0"/>
          </a:p>
        </p:txBody>
      </p:sp>
      <p:sp>
        <p:nvSpPr>
          <p:cNvPr id="24" name="Text 22"/>
          <p:cNvSpPr txBox="1"/>
          <p:nvPr/>
        </p:nvSpPr>
        <p:spPr>
          <a:xfrm>
            <a:off x="676656" y="251460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he-IL" altLang="en-US" sz="15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התמודדות פרואקטיבית</a:t>
            </a:r>
            <a:endParaRPr lang="he-IL" sz="1500" dirty="0"/>
          </a:p>
        </p:txBody>
      </p:sp>
      <p:sp>
        <p:nvSpPr>
          <p:cNvPr id="25" name="Text 23"/>
          <p:cNvSpPr txBox="1"/>
          <p:nvPr/>
        </p:nvSpPr>
        <p:spPr>
          <a:xfrm>
            <a:off x="722376" y="2999232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Proactive Coping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722376" y="3383280"/>
            <a:ext cx="22860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he-IL" altLang="en-US" sz="12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חיפוש עבודה, למידה, רשת קשרים, תוכנית ב' – המנגנון הבריא, אבל דורש משאבים שהלחץ מדלדל</a:t>
            </a:r>
            <a:endParaRPr lang="he-IL" sz="1250" dirty="0"/>
          </a:p>
        </p:txBody>
      </p:sp>
      <p:sp>
        <p:nvSpPr>
          <p:cNvPr id="27" name="Shape 25"/>
          <p:cNvSpPr/>
          <p:nvPr/>
        </p:nvSpPr>
        <p:spPr>
          <a:xfrm>
            <a:off x="548640" y="5440680"/>
            <a:ext cx="11091672" cy="822960"/>
          </a:xfrm>
          <a:prstGeom prst="roundRect">
            <a:avLst>
              <a:gd name="adj" fmla="val 13333"/>
            </a:avLst>
          </a:prstGeom>
          <a:solidFill>
            <a:srgbClr val="FFF4DE"/>
          </a:solidFill>
          <a:ln w="12700">
            <a:solidFill>
              <a:srgbClr val="FFF4DE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 txBox="1"/>
          <p:nvPr/>
        </p:nvSpPr>
        <p:spPr>
          <a:xfrm>
            <a:off x="822960" y="548640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14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המתח המובנה: הלחץ (1) גוזל בדיוק את המשאבים שהפרואקטיביות (4) צריכה. לכן המטרה בניהול קריירה: לבנות מראש את המשאבים שיאפשרו לבחור ב-4.</a:t>
            </a:r>
            <a:endParaRPr lang="he-IL" sz="1400" dirty="0"/>
          </a:p>
        </p:txBody>
      </p:sp>
      <p:sp>
        <p:nvSpPr>
          <p:cNvPr id="29" name="Text 27"/>
          <p:cNvSpPr txBox="1"/>
          <p:nvPr/>
        </p:nvSpPr>
        <p:spPr>
          <a:xfrm>
            <a:off x="5943600" y="6446520"/>
            <a:ext cx="56967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ניהול קריירה בארגונים | הקריה האקדמית אונו</a:t>
            </a:r>
            <a:endParaRPr lang="he-IL" sz="1000" dirty="0"/>
          </a:p>
        </p:txBody>
      </p:sp>
      <p:sp>
        <p:nvSpPr>
          <p:cNvPr id="30" name="Text 28"/>
          <p:cNvSpPr txBox="1"/>
          <p:nvPr/>
        </p:nvSpPr>
        <p:spPr>
          <a:xfrm>
            <a:off x="548640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l" indent="0" marL="0">
              <a:buNone/>
            </a:pPr>
            <a:r>
              <a:rPr lang="he-IL" alt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he-IL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32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למה לא כולם מגיבים אותו דבר? שלושת המשתנים הממתנים</a:t>
            </a:r>
            <a:endParaRPr lang="he-IL" sz="3200" dirty="0"/>
          </a:p>
        </p:txBody>
      </p:sp>
      <p:sp>
        <p:nvSpPr>
          <p:cNvPr id="3" name="Shape 1"/>
          <p:cNvSpPr/>
          <p:nvPr/>
        </p:nvSpPr>
        <p:spPr>
          <a:xfrm>
            <a:off x="8074152" y="1371600"/>
            <a:ext cx="3566160" cy="388620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8302752" y="1600200"/>
            <a:ext cx="3108960" cy="868680"/>
          </a:xfrm>
          <a:prstGeom prst="roundRect">
            <a:avLst>
              <a:gd name="adj" fmla="val 10526"/>
            </a:avLst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394192" y="1627632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he-IL" alt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מאפייני האיום</a:t>
            </a:r>
            <a:endParaRPr lang="he-IL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8394192" y="205740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Threat Features</a:t>
            </a:r>
            <a:endParaRPr lang="en-US" sz="1150" dirty="0"/>
          </a:p>
        </p:txBody>
      </p:sp>
      <p:sp>
        <p:nvSpPr>
          <p:cNvPr id="7" name="Text 5"/>
          <p:cNvSpPr txBox="1"/>
          <p:nvPr/>
        </p:nvSpPr>
        <p:spPr>
          <a:xfrm>
            <a:off x="8348472" y="2697480"/>
            <a:ext cx="30175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he-IL" altLang="en-US" sz="13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הסתברות – כמה זה באמת סביר?</a:t>
            </a:r>
            <a:endParaRPr lang="he-IL" sz="1350" dirty="0"/>
          </a:p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he-IL" altLang="en-US" sz="13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חומרה – מה אאבד?</a:t>
            </a:r>
            <a:endParaRPr lang="he-IL" sz="1350" dirty="0"/>
          </a:p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he-IL" altLang="en-US" sz="13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מיידיות ומשך – מתי, ולכמה זמן?</a:t>
            </a:r>
            <a:endParaRPr lang="he-IL" sz="1350" dirty="0"/>
          </a:p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he-IL" altLang="en-US" sz="13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שליטה – מה תלוי בי?</a:t>
            </a:r>
            <a:endParaRPr lang="he-IL" sz="1350" dirty="0"/>
          </a:p>
        </p:txBody>
      </p:sp>
      <p:sp>
        <p:nvSpPr>
          <p:cNvPr id="8" name="Shape 6"/>
          <p:cNvSpPr/>
          <p:nvPr/>
        </p:nvSpPr>
        <p:spPr>
          <a:xfrm>
            <a:off x="4311396" y="1371600"/>
            <a:ext cx="3566160" cy="388620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39996" y="1600200"/>
            <a:ext cx="3108960" cy="868680"/>
          </a:xfrm>
          <a:prstGeom prst="roundRect">
            <a:avLst>
              <a:gd name="adj" fmla="val 10526"/>
            </a:avLst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631436" y="1627632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he-IL" alt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פגיעוּת כלכלית</a:t>
            </a:r>
            <a:endParaRPr lang="he-IL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4631436" y="205740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Economic Vulnerabilities</a:t>
            </a:r>
            <a:endParaRPr lang="en-US" sz="1150" dirty="0"/>
          </a:p>
        </p:txBody>
      </p:sp>
      <p:sp>
        <p:nvSpPr>
          <p:cNvPr id="12" name="Text 10"/>
          <p:cNvSpPr txBox="1"/>
          <p:nvPr/>
        </p:nvSpPr>
        <p:spPr>
          <a:xfrm>
            <a:off x="4585716" y="2697480"/>
            <a:ext cx="30175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he-IL" altLang="en-US" sz="13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תלות בהכנסה מהמשרה</a:t>
            </a:r>
            <a:endParaRPr lang="he-IL" sz="1350" dirty="0"/>
          </a:p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he-IL" altLang="en-US" sz="13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חובות והתחייבויות משפחתיות</a:t>
            </a:r>
            <a:endParaRPr lang="he-IL" sz="1350" dirty="0"/>
          </a:p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he-IL" altLang="en-US" sz="13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יכולת תעסוקה (Employability)</a:t>
            </a:r>
            <a:endParaRPr lang="he-IL" sz="1350" dirty="0"/>
          </a:p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he-IL" altLang="en-US" sz="13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מצב שוק העבודה ורשת ביטחון</a:t>
            </a:r>
            <a:endParaRPr lang="he-IL" sz="1350" dirty="0"/>
          </a:p>
        </p:txBody>
      </p:sp>
      <p:sp>
        <p:nvSpPr>
          <p:cNvPr id="13" name="Shape 11"/>
          <p:cNvSpPr/>
          <p:nvPr/>
        </p:nvSpPr>
        <p:spPr>
          <a:xfrm>
            <a:off x="548640" y="1371600"/>
            <a:ext cx="3566160" cy="388620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777240" y="1600200"/>
            <a:ext cx="3108960" cy="868680"/>
          </a:xfrm>
          <a:prstGeom prst="roundRect">
            <a:avLst>
              <a:gd name="adj" fmla="val 10526"/>
            </a:avLst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68680" y="1627632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he-IL" alt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פגיעוּת פסיכולוגית</a:t>
            </a:r>
            <a:endParaRPr lang="he-IL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868680" y="205740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Psychological Vulnerabilities</a:t>
            </a:r>
            <a:endParaRPr lang="en-US" sz="1150" dirty="0"/>
          </a:p>
        </p:txBody>
      </p:sp>
      <p:sp>
        <p:nvSpPr>
          <p:cNvPr id="17" name="Text 15"/>
          <p:cNvSpPr txBox="1"/>
          <p:nvPr/>
        </p:nvSpPr>
        <p:spPr>
          <a:xfrm>
            <a:off x="822960" y="2697480"/>
            <a:ext cx="30175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he-IL" altLang="en-US" sz="13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מסוגלות עצמית וסגנון התמודדות</a:t>
            </a:r>
            <a:endParaRPr lang="he-IL" sz="1350" dirty="0"/>
          </a:p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he-IL" altLang="en-US" sz="13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עד כמה הזהות שלי = התפקיד</a:t>
            </a:r>
            <a:endParaRPr lang="he-IL" sz="1350" dirty="0"/>
          </a:p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he-IL" altLang="en-US" sz="13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עוגן קריירה של ביטחון (Schein)</a:t>
            </a:r>
            <a:endParaRPr lang="he-IL" sz="1350" dirty="0"/>
          </a:p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he-IL" altLang="en-US" sz="13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תמיכה חברתית ומשפחתית</a:t>
            </a:r>
            <a:endParaRPr lang="he-IL" sz="1350" dirty="0"/>
          </a:p>
        </p:txBody>
      </p:sp>
      <p:sp>
        <p:nvSpPr>
          <p:cNvPr id="18" name="Shape 16"/>
          <p:cNvSpPr/>
          <p:nvPr/>
        </p:nvSpPr>
        <p:spPr>
          <a:xfrm>
            <a:off x="548640" y="5440680"/>
            <a:ext cx="11091672" cy="822960"/>
          </a:xfrm>
          <a:prstGeom prst="roundRect">
            <a:avLst>
              <a:gd name="adj" fmla="val 13333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 txBox="1"/>
          <p:nvPr/>
        </p:nvSpPr>
        <p:spPr>
          <a:xfrm>
            <a:off x="822960" y="548640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1500" b="1" dirty="0">
                <a:solidFill>
                  <a:srgbClr val="2A9D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החדשות הטובות: רוב המשתנים האלה ניתנים לפיתוח מראש. זה הגשר בין המאמר לבין ניהול קריירה.</a:t>
            </a:r>
            <a:endParaRPr lang="he-IL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5943600" y="6446520"/>
            <a:ext cx="56967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ניהול קריירה בארגונים | הקריה האקדמית אונו</a:t>
            </a:r>
            <a:endParaRPr lang="he-IL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548640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l" indent="0" marL="0">
              <a:buNone/>
            </a:pPr>
            <a:r>
              <a:rPr lang="he-IL" alt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he-IL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32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מה אומרים המספרים? (Jiang &amp; Lavaysse, 2018)</a:t>
            </a:r>
            <a:endParaRPr lang="he-IL" sz="3200" dirty="0"/>
          </a:p>
        </p:txBody>
      </p:sp>
      <p:sp>
        <p:nvSpPr>
          <p:cNvPr id="3" name="Shape 1"/>
          <p:cNvSpPr/>
          <p:nvPr/>
        </p:nvSpPr>
        <p:spPr>
          <a:xfrm>
            <a:off x="8074152" y="1371600"/>
            <a:ext cx="3566160" cy="237744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8257032" y="1600200"/>
            <a:ext cx="3200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he-IL" altLang="en-US" sz="4800" b="1" dirty="0">
                <a:solidFill>
                  <a:srgbClr val="E76F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535</a:t>
            </a:r>
            <a:endParaRPr lang="he-IL" sz="4800" dirty="0"/>
          </a:p>
        </p:txBody>
      </p:sp>
      <p:sp>
        <p:nvSpPr>
          <p:cNvPr id="5" name="Text 3"/>
          <p:cNvSpPr txBox="1"/>
          <p:nvPr/>
        </p:nvSpPr>
        <p:spPr>
          <a:xfrm>
            <a:off x="8348472" y="2651760"/>
            <a:ext cx="3017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he-IL" altLang="en-US" sz="14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מדגמים בלתי תלויים במטא-אנליזה</a:t>
            </a:r>
            <a:endParaRPr lang="he-IL" sz="1400" dirty="0"/>
          </a:p>
        </p:txBody>
      </p:sp>
      <p:sp>
        <p:nvSpPr>
          <p:cNvPr id="6" name="Shape 4"/>
          <p:cNvSpPr/>
          <p:nvPr/>
        </p:nvSpPr>
        <p:spPr>
          <a:xfrm>
            <a:off x="4311396" y="1371600"/>
            <a:ext cx="3566160" cy="237744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4494276" y="1600200"/>
            <a:ext cx="3200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he-IL" altLang="en-US" sz="4800" b="1" dirty="0">
                <a:solidFill>
                  <a:srgbClr val="E76F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51 / 56</a:t>
            </a:r>
            <a:endParaRPr lang="he-IL" sz="4800" dirty="0"/>
          </a:p>
        </p:txBody>
      </p:sp>
      <p:sp>
        <p:nvSpPr>
          <p:cNvPr id="8" name="Text 6"/>
          <p:cNvSpPr txBox="1"/>
          <p:nvPr/>
        </p:nvSpPr>
        <p:spPr>
          <a:xfrm>
            <a:off x="4585716" y="2651760"/>
            <a:ext cx="3017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he-IL" altLang="en-US" sz="14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תוצאות שנמצאו קשורות באופן מובהק לחוסר ביטחון תעסוקתי</a:t>
            </a:r>
            <a:endParaRPr lang="he-IL" sz="1400" dirty="0"/>
          </a:p>
        </p:txBody>
      </p:sp>
      <p:sp>
        <p:nvSpPr>
          <p:cNvPr id="9" name="Shape 7"/>
          <p:cNvSpPr/>
          <p:nvPr/>
        </p:nvSpPr>
        <p:spPr>
          <a:xfrm>
            <a:off x="548640" y="1371600"/>
            <a:ext cx="3566160" cy="2377440"/>
          </a:xfrm>
          <a:prstGeom prst="roundRect">
            <a:avLst>
              <a:gd name="adj" fmla="val 4615"/>
            </a:avLst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731520" y="1600200"/>
            <a:ext cx="3200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he-IL" altLang="en-US" sz="3400" b="1" dirty="0">
                <a:solidFill>
                  <a:srgbClr val="FCA3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רגש &gt; מחשבה</a:t>
            </a:r>
            <a:endParaRPr lang="he-IL" sz="3400" dirty="0"/>
          </a:p>
        </p:txBody>
      </p:sp>
      <p:sp>
        <p:nvSpPr>
          <p:cNvPr id="11" name="Text 9"/>
          <p:cNvSpPr txBox="1"/>
          <p:nvPr/>
        </p:nvSpPr>
        <p:spPr>
          <a:xfrm>
            <a:off x="822960" y="2651760"/>
            <a:ext cx="3017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he-IL" alt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הרכיב הרגשי (דאגה) קשור חזק יותר לתוצאות מהרכיב הקוגניטיבי – ומתווך אותו</a:t>
            </a:r>
            <a:endParaRPr lang="he-IL" sz="1400" dirty="0"/>
          </a:p>
        </p:txBody>
      </p:sp>
      <p:sp>
        <p:nvSpPr>
          <p:cNvPr id="12" name="Shape 10"/>
          <p:cNvSpPr/>
          <p:nvPr/>
        </p:nvSpPr>
        <p:spPr>
          <a:xfrm>
            <a:off x="548640" y="3977640"/>
            <a:ext cx="11091672" cy="2286000"/>
          </a:xfrm>
          <a:prstGeom prst="roundRect">
            <a:avLst>
              <a:gd name="adj" fmla="val 4800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822960" y="4069080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he-IL" altLang="en-US" sz="1700" b="1" dirty="0">
                <a:solidFill>
                  <a:srgbClr val="2A9D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המשמעות לניהול קריירה</a:t>
            </a:r>
            <a:endParaRPr lang="he-IL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822960" y="4526280"/>
            <a:ext cx="1051560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marL="342900" indent="-342900">
              <a:spcAft>
                <a:spcPts val="600"/>
              </a:spcAft>
              <a:buSzPct val="100000"/>
              <a:buChar char="•"/>
            </a:pPr>
            <a:r>
              <a:rPr lang="he-IL" altLang="en-US" sz="14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לא המחשבה "ייתכן שאפוטר" פוגעת – אלא הדאגה שהיא מעוררת. שם נמצא המנוף: ויסות רגשי, תמיכה ומסגור מחדש.</a:t>
            </a:r>
            <a:endParaRPr lang="he-IL" sz="1400" dirty="0"/>
          </a:p>
          <a:p>
            <a:pPr algn="r" marL="342900" indent="-342900">
              <a:spcAft>
                <a:spcPts val="600"/>
              </a:spcAft>
              <a:buSzPct val="100000"/>
              <a:buChar char="•"/>
            </a:pPr>
            <a:r>
              <a:rPr lang="he-IL" altLang="en-US" sz="14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המאמר המשלים של לי ואחרים (Lee et al., 2018) מוסיף: העוצמה משתנה בין תרבויות ומדינות, ובעולם העבודה החדש חוסר ביטחון הוא מצב כרוני, לא אירוע.</a:t>
            </a:r>
            <a:endParaRPr lang="he-IL" sz="1400" dirty="0"/>
          </a:p>
          <a:p>
            <a:pPr algn="r" marL="342900" indent="-342900">
              <a:spcAft>
                <a:spcPts val="600"/>
              </a:spcAft>
              <a:buSzPct val="100000"/>
              <a:buChar char="•"/>
            </a:pPr>
            <a:r>
              <a:rPr lang="he-IL" altLang="en-US" sz="14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מסקנה: "לא לפחד" זו לא עצה. "לבנות כרית שתאפשר לפעול" – כן.</a:t>
            </a:r>
            <a:endParaRPr lang="he-IL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5943600" y="6446520"/>
            <a:ext cx="56967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ניהול קריירה בארגונים | הקריה האקדמית אונו</a:t>
            </a:r>
            <a:endParaRPr lang="he-IL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l" indent="0" marL="0">
              <a:buNone/>
            </a:pPr>
            <a:r>
              <a:rPr lang="he-IL" alt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he-IL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32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תובנות, ביקורת ודעה אישית</a:t>
            </a:r>
            <a:endParaRPr lang="he-IL" sz="3200" dirty="0"/>
          </a:p>
        </p:txBody>
      </p:sp>
      <p:sp>
        <p:nvSpPr>
          <p:cNvPr id="3" name="Shape 1"/>
          <p:cNvSpPr/>
          <p:nvPr/>
        </p:nvSpPr>
        <p:spPr>
          <a:xfrm>
            <a:off x="6263640" y="1325880"/>
            <a:ext cx="5376672" cy="2926080"/>
          </a:xfrm>
          <a:prstGeom prst="roundRect">
            <a:avLst>
              <a:gd name="adj" fmla="val 3750"/>
            </a:avLst>
          </a:prstGeom>
          <a:solidFill>
            <a:srgbClr val="E8F5F1"/>
          </a:solidFill>
          <a:ln w="12700">
            <a:solidFill>
              <a:srgbClr val="E8F5F1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6492240" y="141732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he-IL" altLang="en-US" sz="1800" b="1" dirty="0">
                <a:solidFill>
                  <a:srgbClr val="2A9D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👍 מה אהבנו</a:t>
            </a:r>
            <a:endParaRPr lang="he-IL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6492240" y="1920240"/>
            <a:ext cx="49377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marL="342900" indent="-342900">
              <a:spcAft>
                <a:spcPts val="600"/>
              </a:spcAft>
              <a:buSzPct val="100000"/>
              <a:buChar char="•"/>
            </a:pPr>
            <a:r>
              <a:rPr lang="he-IL" altLang="en-US" sz="13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בהירות: מתחושה אמורפית לרכיבים שאפשר לעבוד איתם</a:t>
            </a:r>
            <a:endParaRPr lang="he-IL" sz="1350" dirty="0"/>
          </a:p>
          <a:p>
            <a:pPr algn="r" marL="342900" indent="-342900">
              <a:spcAft>
                <a:spcPts val="600"/>
              </a:spcAft>
              <a:buSzPct val="100000"/>
              <a:buChar char="•"/>
            </a:pPr>
            <a:r>
              <a:rPr lang="he-IL" altLang="en-US" sz="13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ארבעת המנגנונים הסבירו לנו התנהגויות שראינו בבית ובעבודה</a:t>
            </a:r>
            <a:endParaRPr lang="he-IL" sz="1350" dirty="0"/>
          </a:p>
          <a:p>
            <a:pPr algn="r" marL="342900" indent="-342900">
              <a:spcAft>
                <a:spcPts val="600"/>
              </a:spcAft>
              <a:buSzPct val="100000"/>
              <a:buChar char="•"/>
            </a:pPr>
            <a:r>
              <a:rPr lang="he-IL" altLang="en-US" sz="13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"רשימת מכולת" של דברים שאפשר לעשות כבר כסטודנטים</a:t>
            </a:r>
            <a:endParaRPr lang="he-IL" sz="1350" dirty="0"/>
          </a:p>
        </p:txBody>
      </p:sp>
      <p:sp>
        <p:nvSpPr>
          <p:cNvPr id="6" name="Shape 4"/>
          <p:cNvSpPr/>
          <p:nvPr/>
        </p:nvSpPr>
        <p:spPr>
          <a:xfrm>
            <a:off x="548640" y="1325880"/>
            <a:ext cx="5376672" cy="2926080"/>
          </a:xfrm>
          <a:prstGeom prst="roundRect">
            <a:avLst>
              <a:gd name="adj" fmla="val 3750"/>
            </a:avLst>
          </a:prstGeom>
          <a:solidFill>
            <a:srgbClr val="FDECEA"/>
          </a:solidFill>
          <a:ln w="12700">
            <a:solidFill>
              <a:srgbClr val="FDECEA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777240" y="141732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he-IL" altLang="en-US" sz="1800" b="1" dirty="0">
                <a:solidFill>
                  <a:srgbClr val="E76F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🤔 מה חסר לנו</a:t>
            </a:r>
            <a:endParaRPr lang="he-IL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1920240"/>
            <a:ext cx="49377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marL="342900" indent="-342900">
              <a:spcAft>
                <a:spcPts val="600"/>
              </a:spcAft>
              <a:buSzPct val="100000"/>
              <a:buChar char="•"/>
            </a:pPr>
            <a:r>
              <a:rPr lang="he-IL" altLang="en-US" sz="13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תיאורטי – בלי "מה עושים עם זה" (בנינו לבד)</a:t>
            </a:r>
            <a:endParaRPr lang="he-IL" sz="1350" dirty="0"/>
          </a:p>
          <a:p>
            <a:pPr algn="r" marL="342900" indent="-342900">
              <a:spcAft>
                <a:spcPts val="600"/>
              </a:spcAft>
              <a:buSzPct val="100000"/>
              <a:buChar char="•"/>
            </a:pPr>
            <a:r>
              <a:rPr lang="he-IL" altLang="en-US" sz="13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נכתב לפני הקורונה ולפני הבינה המלאכותית היוצרת</a:t>
            </a:r>
            <a:endParaRPr lang="he-IL" sz="1350" dirty="0"/>
          </a:p>
          <a:p>
            <a:pPr algn="r" marL="342900" indent="-342900">
              <a:spcAft>
                <a:spcPts val="600"/>
              </a:spcAft>
              <a:buSzPct val="100000"/>
              <a:buChar char="•"/>
            </a:pPr>
            <a:r>
              <a:rPr lang="he-IL" altLang="en-US" sz="13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לא מתייחס לאיום שמקורו מחוץ לארגון – מילואים, מלחמה</a:t>
            </a:r>
            <a:endParaRPr lang="he-IL" sz="1350" dirty="0"/>
          </a:p>
          <a:p>
            <a:pPr algn="r" marL="342900" indent="-342900">
              <a:spcAft>
                <a:spcPts val="600"/>
              </a:spcAft>
              <a:buSzPct val="100000"/>
              <a:buChar char="•"/>
            </a:pPr>
            <a:r>
              <a:rPr lang="he-IL" altLang="en-US" sz="13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נשען בעיקר על מחקרים מערביים</a:t>
            </a:r>
            <a:endParaRPr lang="he-IL" sz="1350" dirty="0"/>
          </a:p>
        </p:txBody>
      </p:sp>
      <p:sp>
        <p:nvSpPr>
          <p:cNvPr id="9" name="Shape 7"/>
          <p:cNvSpPr/>
          <p:nvPr/>
        </p:nvSpPr>
        <p:spPr>
          <a:xfrm>
            <a:off x="548640" y="4480560"/>
            <a:ext cx="11091672" cy="1783080"/>
          </a:xfrm>
          <a:prstGeom prst="roundRect">
            <a:avLst>
              <a:gd name="adj" fmla="val 6154"/>
            </a:avLst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822960" y="4572000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he-IL" altLang="en-US" sz="1700" b="1" dirty="0">
                <a:solidFill>
                  <a:srgbClr val="FCA3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העמדה שלנו</a:t>
            </a:r>
            <a:endParaRPr lang="he-IL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822960" y="4983480"/>
            <a:ext cx="105156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he-IL" altLang="en-US" sz="14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המאמר צודק שחוסר ביטחון הוא בעיקר גורם לחץ מזיק. אבל לאור "ממשבר להזדמנות" (דבדבני דקל, 2026ב) והתרבות הישראלית של אלתור, אנחנו מאמינים שמידה של חוסר ודאות יכולה להיות מנוע לצמיחה – בתנאי שיש משאבים. בלי משאבים חוסר ודאות משתק; עם משאבים הוא מניע.</a:t>
            </a:r>
            <a:endParaRPr lang="he-IL" sz="1450" dirty="0"/>
          </a:p>
        </p:txBody>
      </p:sp>
      <p:sp>
        <p:nvSpPr>
          <p:cNvPr id="12" name="Text 10"/>
          <p:cNvSpPr txBox="1"/>
          <p:nvPr/>
        </p:nvSpPr>
        <p:spPr>
          <a:xfrm>
            <a:off x="5943600" y="6446520"/>
            <a:ext cx="56967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ניהול קריירה בארגונים | הקריה האקדמית אונו</a:t>
            </a:r>
            <a:endParaRPr lang="he-IL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l" indent="0" marL="0">
              <a:buNone/>
            </a:pPr>
            <a:r>
              <a:rPr lang="he-IL" alt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he-IL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סרטון: "3 הסודות של אנשים חסינים" – Lucy Hone, TED</a:t>
            </a:r>
            <a:endParaRPr lang="he-IL" sz="3200" dirty="0"/>
          </a:p>
        </p:txBody>
      </p:sp>
      <p:sp>
        <p:nvSpPr>
          <p:cNvPr id="3" name="Shape 1"/>
          <p:cNvSpPr/>
          <p:nvPr/>
        </p:nvSpPr>
        <p:spPr>
          <a:xfrm>
            <a:off x="6309360" y="1463040"/>
            <a:ext cx="5330952" cy="3017520"/>
          </a:xfrm>
          <a:prstGeom prst="roundRect">
            <a:avLst>
              <a:gd name="adj" fmla="val 3636"/>
            </a:avLst>
          </a:prstGeom>
          <a:solidFill>
            <a:srgbClr val="0B1530"/>
          </a:solidFill>
          <a:ln w="12700">
            <a:solidFill>
              <a:srgbClr val="0B153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412480" y="2377440"/>
            <a:ext cx="1143000" cy="1143000"/>
          </a:xfrm>
          <a:prstGeom prst="ellipse">
            <a:avLst/>
          </a:prstGeom>
          <a:solidFill>
            <a:srgbClr val="FCA311"/>
          </a:solidFill>
          <a:ln w="12700">
            <a:solidFill>
              <a:srgbClr val="FCA31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412480" y="2377440"/>
            <a:ext cx="1143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3000" dirty="0"/>
          </a:p>
        </p:txBody>
      </p:sp>
      <p:sp>
        <p:nvSpPr>
          <p:cNvPr id="6" name="Text 4">
            <a:hlinkClick r:id="rId1" tooltip=""/>
          </p:cNvPr>
          <p:cNvSpPr txBox="1"/>
          <p:nvPr/>
        </p:nvSpPr>
        <p:spPr>
          <a:xfrm>
            <a:off x="6492240" y="397764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u="sng" dirty="0">
                <a:solidFill>
                  <a:srgbClr val="CAD3E5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ted.com/talks/lucy_hone_the_three_secrets_of_resilient_people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1463040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he-IL" altLang="en-US" sz="1800" b="1" dirty="0">
                <a:solidFill>
                  <a:srgbClr val="FCA3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מה לחפש בקטע (90 שניות):</a:t>
            </a:r>
            <a:endParaRPr lang="he-IL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1965960"/>
            <a:ext cx="521208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he-IL" altLang="en-US" sz="14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"דברים רעים קורים" – קבלת חוסר הוודאות כחלק מהחיים (מאפייני האיום)</a:t>
            </a:r>
            <a:endParaRPr lang="he-IL" sz="1450" dirty="0"/>
          </a:p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he-IL" altLang="en-US" sz="14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לבחור במה להתמקד – מה בשליטתי (הערכה קוגניטיבית)</a:t>
            </a:r>
            <a:endParaRPr lang="he-IL" sz="1450" dirty="0"/>
          </a:p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he-IL" altLang="en-US" sz="14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"האם זה עוזר לי או פוגע בי?" – ויסות הרכיב הרגשי</a:t>
            </a:r>
            <a:endParaRPr lang="he-IL" sz="1450" dirty="0"/>
          </a:p>
        </p:txBody>
      </p:sp>
      <p:sp>
        <p:nvSpPr>
          <p:cNvPr id="9" name="Shape 7"/>
          <p:cNvSpPr/>
          <p:nvPr/>
        </p:nvSpPr>
        <p:spPr>
          <a:xfrm>
            <a:off x="731520" y="4800600"/>
            <a:ext cx="10908792" cy="1371600"/>
          </a:xfrm>
          <a:prstGeom prst="roundRect">
            <a:avLst>
              <a:gd name="adj" fmla="val 8000"/>
            </a:avLst>
          </a:prstGeom>
          <a:solidFill>
            <a:srgbClr val="1D2E52"/>
          </a:solidFill>
          <a:ln w="12700">
            <a:solidFill>
              <a:srgbClr val="1D2E52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960120" y="4892040"/>
            <a:ext cx="10424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שאלה לכיתה אחרי הסרטון: איזה מהשלושה הכי קשה לכם ליישם בהקשר של הקריירה? (הרמת ידיים)</a:t>
            </a:r>
            <a:endParaRPr lang="he-IL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5943600" y="6446520"/>
            <a:ext cx="56967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1000" dirty="0">
                <a:solidFill>
                  <a:srgbClr val="A9B4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ניהול קריירה בארגונים | הקריה האקדמית אונו</a:t>
            </a:r>
            <a:endParaRPr lang="he-IL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l" indent="0" marL="0">
              <a:buNone/>
            </a:pPr>
            <a:r>
              <a:rPr lang="he-IL" altLang="en-US" sz="1000" dirty="0">
                <a:solidFill>
                  <a:srgbClr val="A9B4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he-IL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32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יישום: "מפת החוסן התעסוקתי" – הכלי שבנינו מהמאמר</a:t>
            </a:r>
            <a:endParaRPr lang="he-IL" sz="32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25880"/>
          <a:ext cx="11091672" cy="914400"/>
        </p:xfrm>
        <a:graphic>
          <a:graphicData uri="http://schemas.openxmlformats.org/drawingml/2006/table">
            <a:tbl>
              <a:tblPr/>
              <a:tblGrid>
                <a:gridCol w="5120640"/>
                <a:gridCol w="3291840"/>
                <a:gridCol w="2679192"/>
              </a:tblGrid>
              <a:tr h="45720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פעולות מומלצות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שאלות מנחות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שלב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להחליף שמועות במידע: שיחה עם המנהל, מעקב אחר החברה והענף; להבחין בין איום כמותי לאיכותני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מה ההסתברות? מה החומרה? מתי? מה בשליטתי?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250" b="1" dirty="0">
                          <a:solidFill>
                            <a:srgbClr val="E76F5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 הערכת האיום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קרן חירום 3–6 חודשים; מקור הכנסה משלים; קו"ח ולינקדאין מעודכנים כל חצי שנה; מיומנויות AI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כמה חודשים אחזיק מעמד? כמה קל למצוא עבודה דומה?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250" b="1" dirty="0">
                          <a:solidFill>
                            <a:srgbClr val="D982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 הקטנת פגיעוּת כלכלית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זהות מקצועית שלא תלויה בארגון; רשת תמיכה ומנטור; מסגור מחדש ("זה לא מגדיר אותי"); שגרה וספורט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עד כמה הזהות שלי = התפקיד? למי אפנה? איך אני מגיב/ה ללחץ?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250" b="1" dirty="0">
                          <a:solidFill>
                            <a:srgbClr val="2A9D8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 הקטנת פגיעוּת פסיכולוגית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זמן שבועי קבוע ללמידה ולנטוורקינג; יעד למידה שנתי; תוכנית ב' לפני שצריך אותה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אני "מתכופף/ת" או פועל/ת?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250" b="1" dirty="0">
                          <a:solidFill>
                            <a:srgbClr val="1421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 בחירת המנגנון: פרואקטיביות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548640" y="5532120"/>
            <a:ext cx="11091672" cy="731520"/>
          </a:xfrm>
          <a:prstGeom prst="roundRect">
            <a:avLst>
              <a:gd name="adj" fmla="val 15000"/>
            </a:avLst>
          </a:prstGeom>
          <a:solidFill>
            <a:srgbClr val="FFF4DE"/>
          </a:solidFill>
          <a:ln w="12700">
            <a:solidFill>
              <a:srgbClr val="FFF4DE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Text 2"/>
          <p:cNvSpPr txBox="1"/>
          <p:nvPr/>
        </p:nvSpPr>
        <p:spPr>
          <a:xfrm>
            <a:off x="822960" y="557784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135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מתחבר ל"שלושת סלי הכלים" מהקורס (דבדבני דקל, 2026א): רשת אנשים = תמיכה, זהות מקצועית = פחות איום איכותני, למידה = יכולת תעסוקה</a:t>
            </a:r>
            <a:endParaRPr lang="he-IL" sz="1350" dirty="0"/>
          </a:p>
        </p:txBody>
      </p:sp>
      <p:sp>
        <p:nvSpPr>
          <p:cNvPr id="6" name="Text 3"/>
          <p:cNvSpPr txBox="1"/>
          <p:nvPr/>
        </p:nvSpPr>
        <p:spPr>
          <a:xfrm>
            <a:off x="5943600" y="6446520"/>
            <a:ext cx="56967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ניהול קריירה בארגונים | הקריה האקדמית אונו</a:t>
            </a:r>
            <a:endParaRPr lang="he-IL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l" indent="0" marL="0">
              <a:buNone/>
            </a:pPr>
            <a:r>
              <a:rPr lang="he-IL" alt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he-IL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32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הפעלה (2 דקות בזוגות): קיבלתם תרחיש – מלאו את המפה</a:t>
            </a:r>
            <a:endParaRPr lang="he-IL" sz="3200" dirty="0"/>
          </a:p>
        </p:txBody>
      </p:sp>
      <p:sp>
        <p:nvSpPr>
          <p:cNvPr id="3" name="Shape 1"/>
          <p:cNvSpPr/>
          <p:nvPr/>
        </p:nvSpPr>
        <p:spPr>
          <a:xfrm>
            <a:off x="8074152" y="1371600"/>
            <a:ext cx="3566160" cy="233172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8302752" y="1600200"/>
            <a:ext cx="1463040" cy="457200"/>
          </a:xfrm>
          <a:prstGeom prst="roundRect">
            <a:avLst>
              <a:gd name="adj" fmla="val 20000"/>
            </a:avLst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302752" y="160020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he-IL" alt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תרחיש א</a:t>
            </a:r>
            <a:endParaRPr lang="he-IL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8302752" y="2240280"/>
            <a:ext cx="3108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he-IL" altLang="en-US" sz="13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מייל מהמנכ"ל: "התייעלות של 15% ברבעון הקרוב". אין פרטים נוספים. מה תעשו השבוע?</a:t>
            </a:r>
            <a:endParaRPr lang="he-IL" sz="1350" dirty="0"/>
          </a:p>
        </p:txBody>
      </p:sp>
      <p:sp>
        <p:nvSpPr>
          <p:cNvPr id="7" name="Shape 5"/>
          <p:cNvSpPr/>
          <p:nvPr/>
        </p:nvSpPr>
        <p:spPr>
          <a:xfrm>
            <a:off x="4311396" y="1371600"/>
            <a:ext cx="3566160" cy="233172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39996" y="1600200"/>
            <a:ext cx="1463040" cy="457200"/>
          </a:xfrm>
          <a:prstGeom prst="roundRect">
            <a:avLst>
              <a:gd name="adj" fmla="val 20000"/>
            </a:avLst>
          </a:prstGeom>
          <a:solidFill>
            <a:srgbClr val="D9822B"/>
          </a:solidFill>
          <a:ln w="12700">
            <a:solidFill>
              <a:srgbClr val="D9822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539996" y="160020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he-IL" alt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תרחיש ב</a:t>
            </a:r>
            <a:endParaRPr lang="he-IL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4539996" y="2240280"/>
            <a:ext cx="3108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he-IL" altLang="en-US" sz="13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הארגון הודיע שמערכת AI תטפל ב-60% מהפניות. התפקיד נשאר – התוכן משתנה. איך תגיבו?</a:t>
            </a:r>
            <a:endParaRPr lang="he-IL" sz="1350" dirty="0"/>
          </a:p>
        </p:txBody>
      </p:sp>
      <p:sp>
        <p:nvSpPr>
          <p:cNvPr id="11" name="Shape 9"/>
          <p:cNvSpPr/>
          <p:nvPr/>
        </p:nvSpPr>
        <p:spPr>
          <a:xfrm>
            <a:off x="548640" y="1371600"/>
            <a:ext cx="3566160" cy="233172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777240" y="1600200"/>
            <a:ext cx="1463040" cy="457200"/>
          </a:xfrm>
          <a:prstGeom prst="roundRect">
            <a:avLst>
              <a:gd name="adj" fmla="val 20000"/>
            </a:avLst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77240" y="160020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he-IL" alt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תרחיש ג</a:t>
            </a:r>
            <a:endParaRPr lang="he-IL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777240" y="2240280"/>
            <a:ext cx="3108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he-IL" altLang="en-US" sz="13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אתם עצמאיים. הלקוח הגדול (40% מההכנסה) מקפיא פרויקטים "עד שהמצב יתבהר". מה הצעד הראשון?</a:t>
            </a:r>
            <a:endParaRPr lang="he-IL" sz="1350" dirty="0"/>
          </a:p>
        </p:txBody>
      </p:sp>
      <p:sp>
        <p:nvSpPr>
          <p:cNvPr id="15" name="Shape 13"/>
          <p:cNvSpPr/>
          <p:nvPr/>
        </p:nvSpPr>
        <p:spPr>
          <a:xfrm>
            <a:off x="548640" y="3931920"/>
            <a:ext cx="11091672" cy="2331720"/>
          </a:xfrm>
          <a:prstGeom prst="roundRect">
            <a:avLst>
              <a:gd name="adj" fmla="val 4706"/>
            </a:avLst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822960" y="4023360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he-IL" altLang="en-US" sz="1700" b="1" dirty="0">
                <a:solidFill>
                  <a:srgbClr val="FCA3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שלוש שאלות – 40 שניות לכל אחת:</a:t>
            </a:r>
            <a:endParaRPr lang="he-IL" sz="1700" dirty="0"/>
          </a:p>
        </p:txBody>
      </p:sp>
      <p:sp>
        <p:nvSpPr>
          <p:cNvPr id="17" name="Shape 15"/>
          <p:cNvSpPr/>
          <p:nvPr/>
        </p:nvSpPr>
        <p:spPr>
          <a:xfrm>
            <a:off x="10835640" y="4572000"/>
            <a:ext cx="411480" cy="411480"/>
          </a:xfrm>
          <a:prstGeom prst="ellipse">
            <a:avLst/>
          </a:prstGeom>
          <a:solidFill>
            <a:srgbClr val="FCA311"/>
          </a:solidFill>
          <a:ln w="12700">
            <a:solidFill>
              <a:srgbClr val="FCA311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10835640" y="45720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822960" y="4526280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מה האיום בפועל – כמותי או איכותני? ומה בשליטתי?</a:t>
            </a:r>
            <a:endParaRPr lang="he-IL" sz="1500" dirty="0"/>
          </a:p>
        </p:txBody>
      </p:sp>
      <p:sp>
        <p:nvSpPr>
          <p:cNvPr id="20" name="Shape 18"/>
          <p:cNvSpPr/>
          <p:nvPr/>
        </p:nvSpPr>
        <p:spPr>
          <a:xfrm>
            <a:off x="10835640" y="5120640"/>
            <a:ext cx="411480" cy="411480"/>
          </a:xfrm>
          <a:prstGeom prst="ellipse">
            <a:avLst/>
          </a:prstGeom>
          <a:solidFill>
            <a:srgbClr val="FCA311"/>
          </a:solidFill>
          <a:ln w="12700">
            <a:solidFill>
              <a:srgbClr val="FCA311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10835640" y="51206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822960" y="5074920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איזו פגיעוּת (כלכלית / פסיכולוגית) הכי מטרידה אותי?</a:t>
            </a:r>
            <a:endParaRPr lang="he-IL" sz="1500" dirty="0"/>
          </a:p>
        </p:txBody>
      </p:sp>
      <p:sp>
        <p:nvSpPr>
          <p:cNvPr id="23" name="Shape 21"/>
          <p:cNvSpPr/>
          <p:nvPr/>
        </p:nvSpPr>
        <p:spPr>
          <a:xfrm>
            <a:off x="10835640" y="5669280"/>
            <a:ext cx="411480" cy="411480"/>
          </a:xfrm>
          <a:prstGeom prst="ellipse">
            <a:avLst/>
          </a:prstGeom>
          <a:solidFill>
            <a:srgbClr val="FCA311"/>
          </a:solidFill>
          <a:ln w="12700">
            <a:solidFill>
              <a:srgbClr val="FCA311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10835640" y="56692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822960" y="5623560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איזו פעולה פרואקטיבית אחת אעשה כבר השבוע?</a:t>
            </a:r>
            <a:endParaRPr lang="he-IL" sz="1500" dirty="0"/>
          </a:p>
        </p:txBody>
      </p:sp>
      <p:sp>
        <p:nvSpPr>
          <p:cNvPr id="26" name="Text 24"/>
          <p:cNvSpPr txBox="1"/>
          <p:nvPr/>
        </p:nvSpPr>
        <p:spPr>
          <a:xfrm>
            <a:off x="5943600" y="6446520"/>
            <a:ext cx="56967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ניהול קריירה בארגונים | הקריה האקדמית אונו</a:t>
            </a:r>
            <a:endParaRPr lang="he-IL" sz="1000" dirty="0"/>
          </a:p>
        </p:txBody>
      </p:sp>
      <p:sp>
        <p:nvSpPr>
          <p:cNvPr id="27" name="Text 25"/>
          <p:cNvSpPr txBox="1"/>
          <p:nvPr/>
        </p:nvSpPr>
        <p:spPr>
          <a:xfrm>
            <a:off x="548640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l" indent="0" marL="0">
              <a:buNone/>
            </a:pPr>
            <a:r>
              <a:rPr lang="he-IL" alt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he-IL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645920" y="-1645920"/>
            <a:ext cx="4114800" cy="4114800"/>
          </a:xfrm>
          <a:prstGeom prst="ellipse">
            <a:avLst/>
          </a:prstGeom>
          <a:solidFill>
            <a:srgbClr val="1D2E52"/>
          </a:solidFill>
          <a:ln w="12700">
            <a:solidFill>
              <a:srgbClr val="1D2E52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31520" y="548640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he-IL" altLang="en-US" sz="2000" dirty="0">
                <a:solidFill>
                  <a:srgbClr val="CAD3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המסר שלנו לכיתה</a:t>
            </a:r>
            <a:endParaRPr lang="he-IL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1188720"/>
            <a:ext cx="106984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את האיום לא תמיד אפשר למנוע.</a:t>
            </a:r>
            <a:endParaRPr lang="he-IL" sz="3400" dirty="0"/>
          </a:p>
          <a:p>
            <a:pPr rtl="1" algn="r" indent="0" marL="0">
              <a:buNone/>
            </a:pPr>
            <a:r>
              <a:rPr lang="he-IL" alt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את הכרית שתאפשר לנו לפעול – אפשר לבנות.</a:t>
            </a:r>
            <a:endParaRPr lang="he-IL" sz="3400" dirty="0"/>
          </a:p>
        </p:txBody>
      </p:sp>
      <p:sp>
        <p:nvSpPr>
          <p:cNvPr id="5" name="Shape 3"/>
          <p:cNvSpPr/>
          <p:nvPr/>
        </p:nvSpPr>
        <p:spPr>
          <a:xfrm>
            <a:off x="8028432" y="3246120"/>
            <a:ext cx="3429000" cy="2331720"/>
          </a:xfrm>
          <a:prstGeom prst="roundRect">
            <a:avLst>
              <a:gd name="adj" fmla="val 4706"/>
            </a:avLst>
          </a:prstGeom>
          <a:solidFill>
            <a:srgbClr val="1D2E52"/>
          </a:solidFill>
          <a:ln w="12700">
            <a:solidFill>
              <a:srgbClr val="1D2E52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0680192" y="3520440"/>
            <a:ext cx="502920" cy="502920"/>
          </a:xfrm>
          <a:prstGeom prst="ellipse">
            <a:avLst/>
          </a:prstGeom>
          <a:solidFill>
            <a:srgbClr val="FCA311"/>
          </a:solidFill>
          <a:ln w="12700">
            <a:solidFill>
              <a:srgbClr val="FCA31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0680192" y="35204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8257032" y="352044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1700" b="1" dirty="0">
                <a:solidFill>
                  <a:srgbClr val="FCA3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חוסר ביטחון = פרשנות</a:t>
            </a:r>
            <a:endParaRPr lang="he-IL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8257032" y="4160520"/>
            <a:ext cx="29718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he-IL" alt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איום נתפס, רב-ממדי. מידע במקום שמועות, וגם האיום האיכותני נחשב</a:t>
            </a:r>
            <a:endParaRPr lang="he-IL" sz="1350" dirty="0"/>
          </a:p>
        </p:txBody>
      </p:sp>
      <p:sp>
        <p:nvSpPr>
          <p:cNvPr id="10" name="Shape 8"/>
          <p:cNvSpPr/>
          <p:nvPr/>
        </p:nvSpPr>
        <p:spPr>
          <a:xfrm>
            <a:off x="4398264" y="3246120"/>
            <a:ext cx="3429000" cy="2331720"/>
          </a:xfrm>
          <a:prstGeom prst="roundRect">
            <a:avLst>
              <a:gd name="adj" fmla="val 4706"/>
            </a:avLst>
          </a:prstGeom>
          <a:solidFill>
            <a:srgbClr val="1D2E52"/>
          </a:solidFill>
          <a:ln w="12700">
            <a:solidFill>
              <a:srgbClr val="1D2E52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7050024" y="3520440"/>
            <a:ext cx="502920" cy="502920"/>
          </a:xfrm>
          <a:prstGeom prst="ellipse">
            <a:avLst/>
          </a:prstGeom>
          <a:solidFill>
            <a:srgbClr val="FCA311"/>
          </a:solidFill>
          <a:ln w="12700">
            <a:solidFill>
              <a:srgbClr val="FCA311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050024" y="35204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4626864" y="352044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1700" b="1" dirty="0">
                <a:solidFill>
                  <a:srgbClr val="FCA3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מנגנונים, בחירה אחת</a:t>
            </a:r>
            <a:endParaRPr lang="he-IL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4626864" y="4160520"/>
            <a:ext cx="29718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he-IL" alt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לחץ ושימור משרה שוחקים; פרואקטיביות דורשת משאבים – אז בונים אותם מראש</a:t>
            </a:r>
            <a:endParaRPr lang="he-IL" sz="1350" dirty="0"/>
          </a:p>
        </p:txBody>
      </p:sp>
      <p:sp>
        <p:nvSpPr>
          <p:cNvPr id="15" name="Shape 13"/>
          <p:cNvSpPr/>
          <p:nvPr/>
        </p:nvSpPr>
        <p:spPr>
          <a:xfrm>
            <a:off x="768096" y="3246120"/>
            <a:ext cx="3429000" cy="2331720"/>
          </a:xfrm>
          <a:prstGeom prst="roundRect">
            <a:avLst>
              <a:gd name="adj" fmla="val 4706"/>
            </a:avLst>
          </a:prstGeom>
          <a:solidFill>
            <a:srgbClr val="1D2E52"/>
          </a:solidFill>
          <a:ln w="12700">
            <a:solidFill>
              <a:srgbClr val="1D2E52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419856" y="3520440"/>
            <a:ext cx="502920" cy="502920"/>
          </a:xfrm>
          <a:prstGeom prst="ellipse">
            <a:avLst/>
          </a:prstGeom>
          <a:solidFill>
            <a:srgbClr val="FCA311"/>
          </a:solidFill>
          <a:ln w="12700">
            <a:solidFill>
              <a:srgbClr val="FCA311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3419856" y="35204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996696" y="352044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1700" b="1" dirty="0">
                <a:solidFill>
                  <a:srgbClr val="FCA3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הרגש הוא המנוף</a:t>
            </a:r>
            <a:endParaRPr lang="he-IL" sz="1700" dirty="0"/>
          </a:p>
        </p:txBody>
      </p:sp>
      <p:sp>
        <p:nvSpPr>
          <p:cNvPr id="19" name="Text 17"/>
          <p:cNvSpPr txBox="1"/>
          <p:nvPr/>
        </p:nvSpPr>
        <p:spPr>
          <a:xfrm>
            <a:off x="996696" y="4160520"/>
            <a:ext cx="29718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he-IL" alt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הדאגה מתווכת את הנזק: תמיכה, מסגור מחדש וזהות שלא תלויה בתפקיד</a:t>
            </a:r>
            <a:endParaRPr lang="he-IL" sz="1350" dirty="0"/>
          </a:p>
        </p:txBody>
      </p:sp>
      <p:sp>
        <p:nvSpPr>
          <p:cNvPr id="20" name="Text 18"/>
          <p:cNvSpPr txBox="1"/>
          <p:nvPr/>
        </p:nvSpPr>
        <p:spPr>
          <a:xfrm>
            <a:off x="731520" y="5806440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he-IL" alt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תודה! שאלות?</a:t>
            </a:r>
            <a:endParaRPr lang="he-IL" sz="2200" dirty="0"/>
          </a:p>
        </p:txBody>
      </p:sp>
      <p:sp>
        <p:nvSpPr>
          <p:cNvPr id="21" name="Text 19"/>
          <p:cNvSpPr txBox="1"/>
          <p:nvPr/>
        </p:nvSpPr>
        <p:spPr>
          <a:xfrm>
            <a:off x="5943600" y="6446520"/>
            <a:ext cx="56967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1000" dirty="0">
                <a:solidFill>
                  <a:srgbClr val="A9B4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ניהול קריירה בארגונים | הקריה האקדמית אונו</a:t>
            </a:r>
            <a:endParaRPr lang="he-IL" sz="1000" dirty="0"/>
          </a:p>
        </p:txBody>
      </p:sp>
      <p:sp>
        <p:nvSpPr>
          <p:cNvPr id="22" name="Text 20"/>
          <p:cNvSpPr txBox="1"/>
          <p:nvPr/>
        </p:nvSpPr>
        <p:spPr>
          <a:xfrm>
            <a:off x="548640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l" indent="0" marL="0">
              <a:buNone/>
            </a:pPr>
            <a:r>
              <a:rPr lang="he-IL" altLang="en-US" sz="1000" dirty="0">
                <a:solidFill>
                  <a:srgbClr val="A9B4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he-IL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32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רשימת מקורות (APA)</a:t>
            </a:r>
            <a:endParaRPr lang="he-IL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88720"/>
            <a:ext cx="11091672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Ashford, S. J., Lee, C., &amp; Bobko, P. (1989). Content, causes, and consequences of job insecurity: A theory-based measure and substantive test. Academy of Management Journal, 32(4), 803–829.</a:t>
            </a:r>
            <a:endParaRPr lang="en-US" sz="10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Hellgren, J., Sverke, M., &amp; Isaksson, K. (1999). A two-dimensional approach to job insecurity: Consequences for employee attitudes and well-being. European Journal of Work and Organizational Psychology, 8(2), 179–195.</a:t>
            </a:r>
            <a:endParaRPr lang="en-US" sz="10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Hobfoll, S. E. (1989). Conservation of resources: A new attempt at conceptualizing stress. American Psychologist, 44(3), 513–524.</a:t>
            </a:r>
            <a:endParaRPr lang="en-US" sz="10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Hone, L. (2019). 3 secrets of resilient people [Video]. TED Conferences. https://www.ted.com/talks/lucy_hone_the_three_secrets_of_resilient_people</a:t>
            </a:r>
            <a:endParaRPr lang="en-US" sz="10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Jiang, L., &amp; Lavaysse, L. M. (2018). Cognitive and affective job insecurity: A meta-analysis and a primary study. Journal of Management, 44(6), 2307–2342. https://doi.org/10.1177/0149206318773853</a:t>
            </a:r>
            <a:endParaRPr lang="en-US" sz="10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Lazarus, R. S., &amp; Folkman, S. (1984). Stress, appraisal, and coping. Springer.</a:t>
            </a:r>
            <a:endParaRPr lang="en-US" sz="10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Lee, C., Huang, G.-H., &amp; Ashford, S. J. (2018). Job insecurity and the changing workplace: Recent developments and the future trends in job insecurity research. Annual Review of Organizational Psychology and Organizational Behavior, 5, 335–359. https://doi.org/10.1146/annurev-orgpsych-032117-104651</a:t>
            </a:r>
            <a:endParaRPr lang="en-US" sz="10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Russo, M., Shteigman, A., &amp; Carmeli, A. (2016). Workplace and family support and work–life balance: Implications for individual psychological availability and energy at work. The Journal of Positive Psychology, 11(2), 173–188.</a:t>
            </a:r>
            <a:endParaRPr lang="en-US" sz="10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Schein, E. H. (1996). Career anchors revisited: Implications for career development in the 21st century. Academy of Management Executive, 10(4), 80–88.</a:t>
            </a:r>
            <a:endParaRPr lang="en-US" sz="10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Shoss, M. K. (2017). Job insecurity: An integrative review and agenda for future research. Journal of Management, 43(6), 1911–1939. https://doi.org/10.1177/0149206317691574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5120640"/>
            <a:ext cx="1109167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spcAft>
                <a:spcPts val="500"/>
              </a:spcAft>
              <a:buNone/>
            </a:pPr>
            <a:r>
              <a:rPr lang="he-IL" altLang="en-US" sz="10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בנק ישראל (2025). ההשפעה הצפויה של בינה מלאכותית יוצרת על העובדים: השלכות על המדיניות בשוק העבודה (תיבה מתוך דוח בנק ישראל לשנת 2024). https://www.boi.org.il/publications/pressreleases/11-3-25/</a:t>
            </a:r>
            <a:endParaRPr lang="he-IL" sz="1050" dirty="0"/>
          </a:p>
          <a:p>
            <a:pPr algn="r" indent="0" marL="0">
              <a:spcAft>
                <a:spcPts val="500"/>
              </a:spcAft>
              <a:buNone/>
            </a:pPr>
            <a:r>
              <a:rPr lang="he-IL" altLang="en-US" sz="10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דבדבני דקל, מ' (2026א). מחזון ורעיון למציאות ממשית [מצגת הרצאה]. ניהול קריירה בארגונים, הקריה האקדמית אונו.</a:t>
            </a:r>
            <a:endParaRPr lang="he-IL" sz="1050" dirty="0"/>
          </a:p>
          <a:p>
            <a:pPr algn="r" indent="0" marL="0">
              <a:spcAft>
                <a:spcPts val="500"/>
              </a:spcAft>
              <a:buNone/>
            </a:pPr>
            <a:r>
              <a:rPr lang="he-IL" altLang="en-US" sz="10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דבדבני דקל, מ' (2026ב). עסקים בצל הקורונה: ממשבר להזדמנות, איך עושים את זה? [מצגת הרצאה]. ניהול קריירה בארגונים, הקריה האקדמית אונו.</a:t>
            </a:r>
            <a:endParaRPr lang="he-IL" sz="1050" dirty="0"/>
          </a:p>
          <a:p>
            <a:pPr algn="r" indent="0" marL="0">
              <a:buNone/>
            </a:pPr>
            <a:r>
              <a:rPr lang="he-IL" altLang="en-US" sz="10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הקשיים של מנהלי הייטק ב-2026: גיוס עובדים מתאימים והתייעלות AI. (2026, 21 ביוני). TheMarker.</a:t>
            </a:r>
            <a:endParaRPr lang="he-IL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5943600" y="6446520"/>
            <a:ext cx="56967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ניהול קריירה בארגונים | הקריה האקדמית אונו</a:t>
            </a:r>
            <a:endParaRPr lang="he-IL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l" indent="0" marL="0">
              <a:buNone/>
            </a:pPr>
            <a:r>
              <a:rPr lang="he-IL" alt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he-IL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התמודדות עם חוסר ודאות תעסוקתי</dc:title>
  <dc:subject>PptxGenJS Presentation</dc:subject>
  <dc:creator>PptxGenJS</dc:creator>
  <cp:lastModifiedBy>PptxGenJS</cp:lastModifiedBy>
  <cp:revision>1</cp:revision>
  <dcterms:created xsi:type="dcterms:W3CDTF">2026-09-17T09:19:28Z</dcterms:created>
  <dcterms:modified xsi:type="dcterms:W3CDTF">2026-09-17T09:19:28Z</dcterms:modified>
</cp:coreProperties>
</file>