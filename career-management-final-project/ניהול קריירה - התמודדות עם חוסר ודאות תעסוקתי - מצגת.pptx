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מועסקים</c:v>
                </c:pt>
              </c:strCache>
            </c:strRef>
          </c:tx>
          <c:spPr>
            <a:solidFill>
              <a:schemeClr val="accent1"/>
            </a:solidFill>
            <a:ln w="9525" cap="flat">
              <a:solidFill>
                <a:srgbClr val="F9F9F9"/>
              </a:solidFill>
              <a:prstDash val="solid"/>
              <a:round/>
            </a:ln>
            <a:effectLst/>
          </c:spPr>
          <c:dPt>
            <c:idx val="0"/>
            <c:bubble3D val="0"/>
            <c:spPr>
              <a:solidFill>
                <a:srgbClr val="E76F51"/>
              </a:solidFill>
              <a:effectLst/>
            </c:spPr>
          </c:dPt>
          <c:dPt>
            <c:idx val="1"/>
            <c:bubble3D val="0"/>
            <c:spPr>
              <a:solidFill>
                <a:srgbClr val="CBD5E1"/>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מקצועות תחליפיים</c:v>
                </c:pt>
                <c:pt idx="1">
                  <c:v>שאר המקצועות</c:v>
                </c:pt>
              </c:strCache>
            </c:strRef>
          </c:cat>
          <c:val>
            <c:numRef>
              <c:f>Sheet1!$B$2:$B$3</c:f>
              <c:numCache>
                <c:ptCount val="2"/>
                <c:pt idx="0">
                  <c:v>20</c:v>
                </c:pt>
                <c:pt idx="1">
                  <c:v>80</c:v>
                </c:pt>
              </c:numCache>
            </c:numRef>
          </c:val>
        </c:ser>
        <c:firstSliceAng val="0"/>
        <c:holeSize val="55"/>
      </c:doughnutChart>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מקדם ניבוי מתוקנן (β) של רכיבי תחושת הקוהרנטיות בגל 2</a:t>
            </a:r>
          </a:p>
        </c:rich>
      </c:tx>
      <c:layout/>
      <c:overlay val="0"/>
    </c:title>
    <c:autoTitleDeleted val="0"/>
    <c:plotArea>
      <c:layout/>
      <c:barChart>
        <c:barDir val="col"/>
        <c:grouping val="clustered"/>
        <c:varyColors val="0"/>
        <c:ser>
          <c:idx val="0"/>
          <c:order val="0"/>
          <c:tx>
            <c:strRef>
              <c:f>Sheet1!$B$1</c:f>
              <c:strCache>
                <c:ptCount val="1"/>
                <c:pt idx="0">
                  <c:v>עיצוב לצרכי התקרבות</c:v>
                </c:pt>
              </c:strCache>
            </c:strRef>
          </c:tx>
          <c:spPr>
            <a:solidFill>
              <a:srgbClr val="2A9D8F"/>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B0B7C3"/>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שלום לכולם, אנחנו [שמות]. הנושא שלנו הוא התמודדות עם חוסר ודאות תעסוקתי. במקום לשאול מה אי-הוודאות עושה לנו, נשאל מה אנחנו יכולים לעשות לה: מחקר אורך מ-2026 על 924 עובדים נותן תשובה מפתיעה בפשטותה.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מעבר מהיר על המבנה. להדגיש שיש סרטון והפעלה.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להריץ סקר מנטימטר או הרמת ידיים לכל שאלה. לא להסביר עדיין את המושג, רק לומר שנחזור לזה. לצלם מסך של התוצאות.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הכותרת של TheMarker (21.6.2026). נתון בנק ישראל: כחמישית מהמועסקים במקצועות תחליפיים. המסר: הארגון לא יכול להבטיח ודאות. השאלה היא מה נשאר בידיים שלנו.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איך שהם תופסים אותו. בהגשה בשלשה: להרחיב על צ'ונג ואחרים בשקופית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הימני (מה שהעובד עושה) משנה את השמאלי (איך העבודה נתפסת)? להזכיר שאנטונובסקי פעל באוניברסיטת בן-גוריון, ושחוסר ודאות הוא במונחים שלו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מימין לשמאל: מי שעיצב את התפקיד סביב אוטונומיה, מיומנות, משמעות ושייכות, תפס את העבודה חצי שנה אחר כך כברורה יותר, בשליטה יותר ומשמעותית יותר, מעבר ליציבות של המדדים עצמם. מי שרק התנתק ונח: שום שינוי בתפיסה. והקו למטה: המשאבים מזינים את היוזמה.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שלוש עמודות ירוקות (התקרבות) מול שלוש אפורות (הימנעות). מקדם 0.14 עד 0.17 נשמע קטן, אבל המדדים האלה יציבים מאוד, ולכן כל שינוי שנשאר אחרי חצי שנה משמעותי. להזכיר בכנות: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 איך בונים את המשאב.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הספירלה עובדת לשני הכיוונים: משאבים מולידים יוזמה שמולידה משאבים. אבל בלי משאבים, האיום משתק. לכן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לנו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להקרין כ-90 שניות (לבדוק את הטיים-קוד מראש). לחבר: "לבחור במה להתמקד" זה בדיוק לעצב את התפקיד סביב מה שבשליטתי.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ארבעה צרכים, שאלה אחת לכל צורך, ופעולות שאפשר לעשות גם במשרה סטודנטיאלית. ניתוק והרפיה חשובים להתאוששות, אבל לפי המאמר לא משנים את תפיסת העבודה.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לחבר לממצא: "פעולות כאלה, לפי המאמר, מנבאות עלייה בבהירות, בשליטה ובמשמעות חצי שנה מאוחר יותר. ושימו לב: 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הסקר מהפתיחה: "מי שסימן נמוך בשאלה 1 או 2: המאמר אומר שזה לא גזירת גורל, ושהפעולה שכתבתם עכשיו היא בדיוק הדרך לשנות את זה". לסיים במסר ולפתוח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371600" y="4206240"/>
            <a:ext cx="5029200" cy="5029200"/>
          </a:xfrm>
          <a:prstGeom prst="ellipse">
            <a:avLst/>
          </a:prstGeom>
          <a:solidFill>
            <a:srgbClr val="1D2E52"/>
          </a:solidFill>
          <a:ln w="12700">
            <a:solidFill>
              <a:srgbClr val="1D2E52"/>
            </a:solidFill>
            <a:prstDash val="solid"/>
          </a:ln>
        </p:spPr>
      </p:sp>
      <p:sp>
        <p:nvSpPr>
          <p:cNvPr id="3" name="Shape 1"/>
          <p:cNvSpPr/>
          <p:nvPr/>
        </p:nvSpPr>
        <p:spPr>
          <a:xfrm>
            <a:off x="10424160" y="-1920240"/>
            <a:ext cx="3291840" cy="3291840"/>
          </a:xfrm>
          <a:prstGeom prst="ellipse">
            <a:avLst/>
          </a:prstGeom>
          <a:solidFill>
            <a:srgbClr val="FCA311"/>
          </a:solidFill>
          <a:ln w="12700">
            <a:solidFill>
              <a:srgbClr val="FCA311"/>
            </a:solidFill>
            <a:prstDash val="solid"/>
          </a:ln>
        </p:spPr>
      </p:sp>
      <p:sp>
        <p:nvSpPr>
          <p:cNvPr id="4" name="Text 2"/>
          <p:cNvSpPr txBox="1"/>
          <p:nvPr/>
        </p:nvSpPr>
        <p:spPr>
          <a:xfrm>
            <a:off x="731520" y="1097280"/>
            <a:ext cx="8961120" cy="457200"/>
          </a:xfrm>
          <a:prstGeom prst="rect">
            <a:avLst/>
          </a:prstGeom>
          <a:noFill/>
          <a:ln/>
        </p:spPr>
        <p:txBody>
          <a:bodyPr wrap="square" lIns="0" tIns="0" rIns="0" bIns="0" rtlCol="0" anchor="t"/>
          <a:lstStyle/>
          <a:p>
            <a:pPr rtl="1" algn="r" indent="0" marL="0">
              <a:buNone/>
            </a:pPr>
            <a:r>
              <a:rPr lang="he-IL" altLang="en-US" sz="1800" dirty="0">
                <a:solidFill>
                  <a:srgbClr val="CAD3E5"/>
                </a:solidFill>
                <a:latin typeface="Arial" pitchFamily="34" charset="0"/>
                <a:ea typeface="Arial" pitchFamily="34" charset="-122"/>
                <a:cs typeface="Arial" pitchFamily="34" charset="-120"/>
              </a:rPr>
              <a:t>עבודה מסכמת בקורס ניהול קריירה בארגונים</a:t>
            </a:r>
            <a:endParaRPr lang="he-IL" sz="1800" dirty="0"/>
          </a:p>
        </p:txBody>
      </p:sp>
      <p:sp>
        <p:nvSpPr>
          <p:cNvPr id="5" name="Text 3"/>
          <p:cNvSpPr txBox="1"/>
          <p:nvPr/>
        </p:nvSpPr>
        <p:spPr>
          <a:xfrm>
            <a:off x="731520" y="1645920"/>
            <a:ext cx="10698480" cy="1188720"/>
          </a:xfrm>
          <a:prstGeom prst="rect">
            <a:avLst/>
          </a:prstGeom>
          <a:noFill/>
          <a:ln/>
        </p:spPr>
        <p:txBody>
          <a:bodyPr wrap="square" lIns="0" tIns="0" rIns="0" bIns="0" rtlCol="0" anchor="ctr"/>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התמודדות עם חוסר ודאות תעסוקתי</a:t>
            </a:r>
            <a:endParaRPr lang="he-IL" sz="4800" dirty="0"/>
          </a:p>
        </p:txBody>
      </p:sp>
      <p:sp>
        <p:nvSpPr>
          <p:cNvPr id="6" name="Text 4"/>
          <p:cNvSpPr txBox="1"/>
          <p:nvPr/>
        </p:nvSpPr>
        <p:spPr>
          <a:xfrm>
            <a:off x="731520" y="2834640"/>
            <a:ext cx="10698480" cy="548640"/>
          </a:xfrm>
          <a:prstGeom prst="rect">
            <a:avLst/>
          </a:prstGeom>
          <a:noFill/>
          <a:ln/>
        </p:spPr>
        <p:txBody>
          <a:bodyPr wrap="square" lIns="0" tIns="0" rIns="0" bIns="0" rtlCol="0" anchor="t"/>
          <a:lstStyle/>
          <a:p>
            <a:pPr rtl="1" algn="r" indent="0" marL="0">
              <a:buNone/>
            </a:pPr>
            <a:r>
              <a:rPr lang="he-IL" altLang="en-US" sz="2200" i="1" dirty="0">
                <a:solidFill>
                  <a:srgbClr val="FCA311"/>
                </a:solidFill>
                <a:latin typeface="Arial" pitchFamily="34" charset="0"/>
                <a:ea typeface="Arial" pitchFamily="34" charset="-122"/>
                <a:cs typeface="Arial" pitchFamily="34" charset="-120"/>
              </a:rPr>
              <a:t>איך בונים בהירות, שליטה ומשמעות בעבודה כשהסביבה לא יציבה?</a:t>
            </a:r>
            <a:endParaRPr lang="he-IL" sz="2200" dirty="0"/>
          </a:p>
        </p:txBody>
      </p:sp>
      <p:sp>
        <p:nvSpPr>
          <p:cNvPr id="7" name="Text 5"/>
          <p:cNvSpPr txBox="1"/>
          <p:nvPr/>
        </p:nvSpPr>
        <p:spPr>
          <a:xfrm>
            <a:off x="731520" y="3474720"/>
            <a:ext cx="10698480" cy="731520"/>
          </a:xfrm>
          <a:prstGeom prst="rect">
            <a:avLst/>
          </a:prstGeom>
          <a:noFill/>
          <a:ln/>
        </p:spPr>
        <p:txBody>
          <a:bodyPr wrap="square" lIns="0" tIns="0" rIns="0" bIns="0" rtlCol="0" anchor="t"/>
          <a:lstStyle/>
          <a:p>
            <a:pPr algn="r" indent="0" marL="0">
              <a:buNone/>
            </a:pPr>
            <a:r>
              <a:rPr lang="en-US" sz="1200" dirty="0">
                <a:solidFill>
                  <a:srgbClr val="CAD3E5"/>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8" name="Shape 6"/>
          <p:cNvSpPr/>
          <p:nvPr/>
        </p:nvSpPr>
        <p:spPr>
          <a:xfrm>
            <a:off x="731520" y="4389120"/>
            <a:ext cx="5669280" cy="1600200"/>
          </a:xfrm>
          <a:prstGeom prst="roundRect">
            <a:avLst>
              <a:gd name="adj" fmla="val 6857"/>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914400" y="4480560"/>
            <a:ext cx="5303520" cy="365760"/>
          </a:xfrm>
          <a:prstGeom prst="rect">
            <a:avLst/>
          </a:prstGeom>
          <a:noFill/>
          <a:ln/>
        </p:spPr>
        <p:txBody>
          <a:bodyPr wrap="square" lIns="0" tIns="0" rIns="0" bIns="0" rtlCol="0" anchor="t"/>
          <a:lstStyle/>
          <a:p>
            <a:pPr rtl="1" algn="r" indent="0" marL="0">
              <a:buNone/>
            </a:pPr>
            <a:r>
              <a:rPr lang="he-IL" altLang="en-US" sz="1400" b="1" dirty="0">
                <a:solidFill>
                  <a:srgbClr val="FCA311"/>
                </a:solidFill>
                <a:latin typeface="Arial" pitchFamily="34" charset="0"/>
                <a:ea typeface="Arial" pitchFamily="34" charset="-122"/>
                <a:cs typeface="Arial" pitchFamily="34" charset="-120"/>
              </a:rPr>
              <a:t>מגישים/ות</a:t>
            </a:r>
            <a:endParaRPr lang="he-IL" sz="1400" dirty="0"/>
          </a:p>
        </p:txBody>
      </p:sp>
      <p:sp>
        <p:nvSpPr>
          <p:cNvPr id="10" name="Text 8"/>
          <p:cNvSpPr txBox="1"/>
          <p:nvPr/>
        </p:nvSpPr>
        <p:spPr>
          <a:xfrm>
            <a:off x="914400" y="4846320"/>
            <a:ext cx="5303520" cy="1097280"/>
          </a:xfrm>
          <a:prstGeom prst="rect">
            <a:avLst/>
          </a:prstGeom>
          <a:noFill/>
          <a:ln/>
        </p:spPr>
        <p:txBody>
          <a:bodyPr wrap="square" lIns="0" tIns="0" rIns="0" bIns="0" rtlCol="0" anchor="t"/>
          <a:lstStyle/>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  (אם בשלשה)</a:t>
            </a:r>
            <a:endParaRPr lang="he-IL" sz="1500" dirty="0"/>
          </a:p>
        </p:txBody>
      </p:sp>
      <p:sp>
        <p:nvSpPr>
          <p:cNvPr id="11" name="Text 9"/>
          <p:cNvSpPr txBox="1"/>
          <p:nvPr/>
        </p:nvSpPr>
        <p:spPr>
          <a:xfrm>
            <a:off x="6675120" y="4480560"/>
            <a:ext cx="4754880" cy="1463040"/>
          </a:xfrm>
          <a:prstGeom prst="rect">
            <a:avLst/>
          </a:prstGeom>
          <a:noFill/>
          <a:ln/>
        </p:spPr>
        <p:txBody>
          <a:bodyPr wrap="square" lIns="0" tIns="0" rIns="0" bIns="0" rtlCol="0" anchor="t"/>
          <a:lstStyle/>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מרצה: גב' מורן דבדבני דקל</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עוזר הוראה: מר פאר רועי</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הפקולטה למנהל עסקים | תשפ"ו, סמסטר 3</a:t>
            </a:r>
            <a:endParaRPr lang="he-IL"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מה נעשה ב-10 הדקות הקרובות?</a:t>
            </a:r>
            <a:endParaRPr lang="he-IL" sz="3000" dirty="0"/>
          </a:p>
        </p:txBody>
      </p:sp>
      <p:sp>
        <p:nvSpPr>
          <p:cNvPr id="3" name="Shape 1"/>
          <p:cNvSpPr/>
          <p:nvPr/>
        </p:nvSpPr>
        <p:spPr>
          <a:xfrm>
            <a:off x="8119872"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10863072" y="1691640"/>
            <a:ext cx="502920" cy="502920"/>
          </a:xfrm>
          <a:prstGeom prst="ellipse">
            <a:avLst/>
          </a:prstGeom>
          <a:solidFill>
            <a:srgbClr val="FCA311"/>
          </a:solidFill>
          <a:ln w="12700">
            <a:solidFill>
              <a:srgbClr val="FCA311"/>
            </a:solidFill>
            <a:prstDash val="solid"/>
          </a:ln>
        </p:spPr>
      </p:sp>
      <p:sp>
        <p:nvSpPr>
          <p:cNvPr id="5" name="Text 3"/>
          <p:cNvSpPr txBox="1"/>
          <p:nvPr/>
        </p:nvSpPr>
        <p:spPr>
          <a:xfrm>
            <a:off x="10863072"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8394192"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סקר פתיחה</a:t>
            </a:r>
            <a:endParaRPr lang="he-IL" sz="1800" dirty="0"/>
          </a:p>
        </p:txBody>
      </p:sp>
      <p:sp>
        <p:nvSpPr>
          <p:cNvPr id="7" name="Text 5"/>
          <p:cNvSpPr txBox="1"/>
          <p:nvPr/>
        </p:nvSpPr>
        <p:spPr>
          <a:xfrm>
            <a:off x="8394192"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ברור? בשליטה? משמעותי?</a:t>
            </a:r>
            <a:endParaRPr lang="he-IL" sz="1500" dirty="0"/>
          </a:p>
        </p:txBody>
      </p:sp>
      <p:sp>
        <p:nvSpPr>
          <p:cNvPr id="8" name="Text 6"/>
          <p:cNvSpPr txBox="1"/>
          <p:nvPr/>
        </p:nvSpPr>
        <p:spPr>
          <a:xfrm>
            <a:off x="8394192"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9" name="Shape 7"/>
          <p:cNvSpPr/>
          <p:nvPr/>
        </p:nvSpPr>
        <p:spPr>
          <a:xfrm>
            <a:off x="4334256"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7077456" y="1691640"/>
            <a:ext cx="502920" cy="502920"/>
          </a:xfrm>
          <a:prstGeom prst="ellipse">
            <a:avLst/>
          </a:prstGeom>
          <a:solidFill>
            <a:srgbClr val="FCA311"/>
          </a:solidFill>
          <a:ln w="12700">
            <a:solidFill>
              <a:srgbClr val="FCA311"/>
            </a:solidFill>
            <a:prstDash val="solid"/>
          </a:ln>
        </p:spPr>
      </p:sp>
      <p:sp>
        <p:nvSpPr>
          <p:cNvPr id="11" name="Text 9"/>
          <p:cNvSpPr txBox="1"/>
          <p:nvPr/>
        </p:nvSpPr>
        <p:spPr>
          <a:xfrm>
            <a:off x="7077456"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4608576"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עכשיו</a:t>
            </a:r>
            <a:endParaRPr lang="he-IL" sz="1800" dirty="0"/>
          </a:p>
        </p:txBody>
      </p:sp>
      <p:sp>
        <p:nvSpPr>
          <p:cNvPr id="13" name="Text 11"/>
          <p:cNvSpPr txBox="1"/>
          <p:nvPr/>
        </p:nvSpPr>
        <p:spPr>
          <a:xfrm>
            <a:off x="4608576"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הייטק, מילואים</a:t>
            </a:r>
            <a:endParaRPr lang="he-IL" sz="1500" dirty="0"/>
          </a:p>
        </p:txBody>
      </p:sp>
      <p:sp>
        <p:nvSpPr>
          <p:cNvPr id="14" name="Text 12"/>
          <p:cNvSpPr txBox="1"/>
          <p:nvPr/>
        </p:nvSpPr>
        <p:spPr>
          <a:xfrm>
            <a:off x="4608576"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1.5 דק'</a:t>
            </a:r>
            <a:endParaRPr lang="he-IL" sz="1300" dirty="0"/>
          </a:p>
        </p:txBody>
      </p:sp>
      <p:sp>
        <p:nvSpPr>
          <p:cNvPr id="15" name="Shape 13"/>
          <p:cNvSpPr/>
          <p:nvPr/>
        </p:nvSpPr>
        <p:spPr>
          <a:xfrm>
            <a:off x="548640"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291840" y="16916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291840"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822960"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המאמר</a:t>
            </a:r>
            <a:endParaRPr lang="he-IL" sz="1800" dirty="0"/>
          </a:p>
        </p:txBody>
      </p:sp>
      <p:sp>
        <p:nvSpPr>
          <p:cNvPr id="19" name="Text 17"/>
          <p:cNvSpPr txBox="1"/>
          <p:nvPr/>
        </p:nvSpPr>
        <p:spPr>
          <a:xfrm>
            <a:off x="822960"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סלוטוגנזה, 6 צרכים, 924 עובדים</a:t>
            </a:r>
            <a:endParaRPr lang="he-IL" sz="1500" dirty="0"/>
          </a:p>
        </p:txBody>
      </p:sp>
      <p:sp>
        <p:nvSpPr>
          <p:cNvPr id="20" name="Text 18"/>
          <p:cNvSpPr txBox="1"/>
          <p:nvPr/>
        </p:nvSpPr>
        <p:spPr>
          <a:xfrm>
            <a:off x="822960"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2.5 דק'</a:t>
            </a:r>
            <a:endParaRPr lang="he-IL" sz="1300" dirty="0"/>
          </a:p>
        </p:txBody>
      </p:sp>
      <p:sp>
        <p:nvSpPr>
          <p:cNvPr id="21" name="Shape 19"/>
          <p:cNvSpPr/>
          <p:nvPr/>
        </p:nvSpPr>
        <p:spPr>
          <a:xfrm>
            <a:off x="8119872"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2" name="Shape 20"/>
          <p:cNvSpPr/>
          <p:nvPr/>
        </p:nvSpPr>
        <p:spPr>
          <a:xfrm>
            <a:off x="10863072" y="4069080"/>
            <a:ext cx="502920" cy="502920"/>
          </a:xfrm>
          <a:prstGeom prst="ellipse">
            <a:avLst/>
          </a:prstGeom>
          <a:solidFill>
            <a:srgbClr val="FCA311"/>
          </a:solidFill>
          <a:ln w="12700">
            <a:solidFill>
              <a:srgbClr val="FCA311"/>
            </a:solidFill>
            <a:prstDash val="solid"/>
          </a:ln>
        </p:spPr>
      </p:sp>
      <p:sp>
        <p:nvSpPr>
          <p:cNvPr id="23" name="Text 21"/>
          <p:cNvSpPr txBox="1"/>
          <p:nvPr/>
        </p:nvSpPr>
        <p:spPr>
          <a:xfrm>
            <a:off x="10863072"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4</a:t>
            </a:r>
            <a:endParaRPr lang="en-US" sz="1800" dirty="0"/>
          </a:p>
        </p:txBody>
      </p:sp>
      <p:sp>
        <p:nvSpPr>
          <p:cNvPr id="24" name="Text 22"/>
          <p:cNvSpPr txBox="1"/>
          <p:nvPr/>
        </p:nvSpPr>
        <p:spPr>
          <a:xfrm>
            <a:off x="8394192"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מאמר משלים ותובנות</a:t>
            </a:r>
            <a:endParaRPr lang="he-IL" sz="1800" dirty="0"/>
          </a:p>
        </p:txBody>
      </p:sp>
      <p:sp>
        <p:nvSpPr>
          <p:cNvPr id="25" name="Text 23"/>
          <p:cNvSpPr txBox="1"/>
          <p:nvPr/>
        </p:nvSpPr>
        <p:spPr>
          <a:xfrm>
            <a:off x="8394192"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וחוסן קריירה</a:t>
            </a:r>
            <a:endParaRPr lang="he-IL" sz="1500" dirty="0"/>
          </a:p>
        </p:txBody>
      </p:sp>
      <p:sp>
        <p:nvSpPr>
          <p:cNvPr id="26" name="Text 24"/>
          <p:cNvSpPr txBox="1"/>
          <p:nvPr/>
        </p:nvSpPr>
        <p:spPr>
          <a:xfrm>
            <a:off x="8394192"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27" name="Shape 25"/>
          <p:cNvSpPr/>
          <p:nvPr/>
        </p:nvSpPr>
        <p:spPr>
          <a:xfrm>
            <a:off x="4334256"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8" name="Shape 26"/>
          <p:cNvSpPr/>
          <p:nvPr/>
        </p:nvSpPr>
        <p:spPr>
          <a:xfrm>
            <a:off x="7077456" y="4069080"/>
            <a:ext cx="502920" cy="502920"/>
          </a:xfrm>
          <a:prstGeom prst="ellipse">
            <a:avLst/>
          </a:prstGeom>
          <a:solidFill>
            <a:srgbClr val="FCA311"/>
          </a:solidFill>
          <a:ln w="12700">
            <a:solidFill>
              <a:srgbClr val="FCA311"/>
            </a:solidFill>
            <a:prstDash val="solid"/>
          </a:ln>
        </p:spPr>
      </p:sp>
      <p:sp>
        <p:nvSpPr>
          <p:cNvPr id="29" name="Text 27"/>
          <p:cNvSpPr txBox="1"/>
          <p:nvPr/>
        </p:nvSpPr>
        <p:spPr>
          <a:xfrm>
            <a:off x="7077456"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5</a:t>
            </a:r>
            <a:endParaRPr lang="en-US" sz="1800" dirty="0"/>
          </a:p>
        </p:txBody>
      </p:sp>
      <p:sp>
        <p:nvSpPr>
          <p:cNvPr id="30" name="Text 28"/>
          <p:cNvSpPr txBox="1"/>
          <p:nvPr/>
        </p:nvSpPr>
        <p:spPr>
          <a:xfrm>
            <a:off x="4608576"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סרטון + הפעלה</a:t>
            </a:r>
            <a:endParaRPr lang="he-IL" sz="1800" dirty="0"/>
          </a:p>
        </p:txBody>
      </p:sp>
      <p:sp>
        <p:nvSpPr>
          <p:cNvPr id="31" name="Text 29"/>
          <p:cNvSpPr txBox="1"/>
          <p:nvPr/>
        </p:nvSpPr>
        <p:spPr>
          <a:xfrm>
            <a:off x="4608576"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TED וצורך אחד, פעולה אחת</a:t>
            </a:r>
            <a:endParaRPr lang="he-IL" sz="1500" dirty="0"/>
          </a:p>
        </p:txBody>
      </p:sp>
      <p:sp>
        <p:nvSpPr>
          <p:cNvPr id="32" name="Text 30"/>
          <p:cNvSpPr txBox="1"/>
          <p:nvPr/>
        </p:nvSpPr>
        <p:spPr>
          <a:xfrm>
            <a:off x="4608576"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3 דק'</a:t>
            </a:r>
            <a:endParaRPr lang="he-IL" sz="1300" dirty="0"/>
          </a:p>
        </p:txBody>
      </p:sp>
      <p:sp>
        <p:nvSpPr>
          <p:cNvPr id="33" name="Shape 31"/>
          <p:cNvSpPr/>
          <p:nvPr/>
        </p:nvSpPr>
        <p:spPr>
          <a:xfrm>
            <a:off x="548640"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34" name="Shape 32"/>
          <p:cNvSpPr/>
          <p:nvPr/>
        </p:nvSpPr>
        <p:spPr>
          <a:xfrm>
            <a:off x="3291840" y="4069080"/>
            <a:ext cx="502920" cy="502920"/>
          </a:xfrm>
          <a:prstGeom prst="ellipse">
            <a:avLst/>
          </a:prstGeom>
          <a:solidFill>
            <a:srgbClr val="FCA311"/>
          </a:solidFill>
          <a:ln w="12700">
            <a:solidFill>
              <a:srgbClr val="FCA311"/>
            </a:solidFill>
            <a:prstDash val="solid"/>
          </a:ln>
        </p:spPr>
      </p:sp>
      <p:sp>
        <p:nvSpPr>
          <p:cNvPr id="35" name="Text 33"/>
          <p:cNvSpPr txBox="1"/>
          <p:nvPr/>
        </p:nvSpPr>
        <p:spPr>
          <a:xfrm>
            <a:off x="3291840"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6</a:t>
            </a:r>
            <a:endParaRPr lang="en-US" sz="1800" dirty="0"/>
          </a:p>
        </p:txBody>
      </p:sp>
      <p:sp>
        <p:nvSpPr>
          <p:cNvPr id="36" name="Text 34"/>
          <p:cNvSpPr txBox="1"/>
          <p:nvPr/>
        </p:nvSpPr>
        <p:spPr>
          <a:xfrm>
            <a:off x="822960"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סיכום</a:t>
            </a:r>
            <a:endParaRPr lang="he-IL" sz="1800" dirty="0"/>
          </a:p>
        </p:txBody>
      </p:sp>
      <p:sp>
        <p:nvSpPr>
          <p:cNvPr id="37" name="Text 35"/>
          <p:cNvSpPr txBox="1"/>
          <p:nvPr/>
        </p:nvSpPr>
        <p:spPr>
          <a:xfrm>
            <a:off x="822960"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המסר שלנו לכיתה</a:t>
            </a:r>
            <a:endParaRPr lang="he-IL" sz="1500" dirty="0"/>
          </a:p>
        </p:txBody>
      </p:sp>
      <p:sp>
        <p:nvSpPr>
          <p:cNvPr id="38" name="Text 36"/>
          <p:cNvSpPr txBox="1"/>
          <p:nvPr/>
        </p:nvSpPr>
        <p:spPr>
          <a:xfrm>
            <a:off x="822960"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39" name="Text 37"/>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40" name="Text 38"/>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סקר פתיחה: איך מרגישה לכם העבודה (או הלימודים) עכשיו?</a:t>
            </a:r>
            <a:endParaRPr lang="he-IL" sz="3000" dirty="0"/>
          </a:p>
        </p:txBody>
      </p:sp>
      <p:sp>
        <p:nvSpPr>
          <p:cNvPr id="3" name="Text 1"/>
          <p:cNvSpPr txBox="1"/>
          <p:nvPr/>
        </p:nvSpPr>
        <p:spPr>
          <a:xfrm>
            <a:off x="548640" y="1234440"/>
            <a:ext cx="11091672" cy="457200"/>
          </a:xfrm>
          <a:prstGeom prst="rect">
            <a:avLst/>
          </a:prstGeom>
          <a:noFill/>
          <a:ln/>
        </p:spPr>
        <p:txBody>
          <a:bodyPr wrap="square" lIns="0" tIns="0" rIns="0" bIns="0" rtlCol="0" anchor="t"/>
          <a:lstStyle/>
          <a:p>
            <a:pPr rtl="1" algn="r" indent="0" marL="0">
              <a:buNone/>
            </a:pPr>
            <a:r>
              <a:rPr lang="he-IL" altLang="en-US" sz="1800" dirty="0">
                <a:solidFill>
                  <a:srgbClr val="6B7280"/>
                </a:solidFill>
                <a:latin typeface="Arial" pitchFamily="34" charset="0"/>
                <a:ea typeface="Arial" pitchFamily="34" charset="-122"/>
                <a:cs typeface="Arial" pitchFamily="34" charset="-120"/>
              </a:rPr>
              <a:t>בסולם 1 עד 5, שלוש שאלות:</a:t>
            </a:r>
            <a:endParaRPr lang="he-IL" sz="1800" dirty="0"/>
          </a:p>
        </p:txBody>
      </p:sp>
      <p:sp>
        <p:nvSpPr>
          <p:cNvPr id="4" name="Shape 2"/>
          <p:cNvSpPr/>
          <p:nvPr/>
        </p:nvSpPr>
        <p:spPr>
          <a:xfrm>
            <a:off x="8074152"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5" name="Shape 3"/>
          <p:cNvSpPr/>
          <p:nvPr/>
        </p:nvSpPr>
        <p:spPr>
          <a:xfrm>
            <a:off x="9354312" y="2103120"/>
            <a:ext cx="1005840" cy="1005840"/>
          </a:xfrm>
          <a:prstGeom prst="ellipse">
            <a:avLst/>
          </a:prstGeom>
          <a:solidFill>
            <a:srgbClr val="2A9D8F"/>
          </a:solidFill>
          <a:ln w="12700">
            <a:solidFill>
              <a:srgbClr val="2A9D8F"/>
            </a:solidFill>
            <a:prstDash val="solid"/>
          </a:ln>
        </p:spPr>
      </p:sp>
      <p:sp>
        <p:nvSpPr>
          <p:cNvPr id="6" name="Text 4"/>
          <p:cNvSpPr txBox="1"/>
          <p:nvPr/>
        </p:nvSpPr>
        <p:spPr>
          <a:xfrm>
            <a:off x="9354312"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1</a:t>
            </a:r>
            <a:endParaRPr lang="en-US" sz="3600" dirty="0"/>
          </a:p>
        </p:txBody>
      </p:sp>
      <p:sp>
        <p:nvSpPr>
          <p:cNvPr id="7" name="Text 5"/>
          <p:cNvSpPr txBox="1"/>
          <p:nvPr/>
        </p:nvSpPr>
        <p:spPr>
          <a:xfrm>
            <a:off x="8348472"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ברור וצפוי?</a:t>
            </a:r>
            <a:endParaRPr lang="he-IL" sz="2000" dirty="0"/>
          </a:p>
        </p:txBody>
      </p:sp>
      <p:sp>
        <p:nvSpPr>
          <p:cNvPr id="8" name="Text 6"/>
          <p:cNvSpPr txBox="1"/>
          <p:nvPr/>
        </p:nvSpPr>
        <p:spPr>
          <a:xfrm>
            <a:off x="8348472"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2A9D8F"/>
                </a:solidFill>
                <a:latin typeface="Arial" pitchFamily="34" charset="0"/>
                <a:ea typeface="Arial" pitchFamily="34" charset="-122"/>
                <a:cs typeface="Arial" pitchFamily="34" charset="-120"/>
              </a:rPr>
              <a:t>מובנות</a:t>
            </a:r>
            <a:endParaRPr lang="he-IL" sz="1400" dirty="0"/>
          </a:p>
        </p:txBody>
      </p:sp>
      <p:sp>
        <p:nvSpPr>
          <p:cNvPr id="9" name="Shape 7"/>
          <p:cNvSpPr/>
          <p:nvPr/>
        </p:nvSpPr>
        <p:spPr>
          <a:xfrm>
            <a:off x="4311396"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5591556" y="2103120"/>
            <a:ext cx="1005840" cy="1005840"/>
          </a:xfrm>
          <a:prstGeom prst="ellipse">
            <a:avLst/>
          </a:prstGeom>
          <a:solidFill>
            <a:srgbClr val="FCA311"/>
          </a:solidFill>
          <a:ln w="12700">
            <a:solidFill>
              <a:srgbClr val="FCA311"/>
            </a:solidFill>
            <a:prstDash val="solid"/>
          </a:ln>
        </p:spPr>
      </p:sp>
      <p:sp>
        <p:nvSpPr>
          <p:cNvPr id="11" name="Text 9"/>
          <p:cNvSpPr txBox="1"/>
          <p:nvPr/>
        </p:nvSpPr>
        <p:spPr>
          <a:xfrm>
            <a:off x="5591556"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2</a:t>
            </a:r>
            <a:endParaRPr lang="en-US" sz="3600" dirty="0"/>
          </a:p>
        </p:txBody>
      </p:sp>
      <p:sp>
        <p:nvSpPr>
          <p:cNvPr id="12" name="Text 10"/>
          <p:cNvSpPr txBox="1"/>
          <p:nvPr/>
        </p:nvSpPr>
        <p:spPr>
          <a:xfrm>
            <a:off x="4585716"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יש לי מספיק זמן, כלים ותמיכה?</a:t>
            </a:r>
            <a:endParaRPr lang="he-IL" sz="2000" dirty="0"/>
          </a:p>
        </p:txBody>
      </p:sp>
      <p:sp>
        <p:nvSpPr>
          <p:cNvPr id="13" name="Text 11"/>
          <p:cNvSpPr txBox="1"/>
          <p:nvPr/>
        </p:nvSpPr>
        <p:spPr>
          <a:xfrm>
            <a:off x="4585716"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FCA311"/>
                </a:solidFill>
                <a:latin typeface="Arial" pitchFamily="34" charset="0"/>
                <a:ea typeface="Arial" pitchFamily="34" charset="-122"/>
                <a:cs typeface="Arial" pitchFamily="34" charset="-120"/>
              </a:rPr>
              <a:t>ניהוליות</a:t>
            </a:r>
            <a:endParaRPr lang="he-IL" sz="1400" dirty="0"/>
          </a:p>
        </p:txBody>
      </p:sp>
      <p:sp>
        <p:nvSpPr>
          <p:cNvPr id="14" name="Shape 12"/>
          <p:cNvSpPr/>
          <p:nvPr/>
        </p:nvSpPr>
        <p:spPr>
          <a:xfrm>
            <a:off x="548640"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828800" y="2103120"/>
            <a:ext cx="1005840" cy="1005840"/>
          </a:xfrm>
          <a:prstGeom prst="ellipse">
            <a:avLst/>
          </a:prstGeom>
          <a:solidFill>
            <a:srgbClr val="E76F51"/>
          </a:solidFill>
          <a:ln w="12700">
            <a:solidFill>
              <a:srgbClr val="E76F51"/>
            </a:solidFill>
            <a:prstDash val="solid"/>
          </a:ln>
        </p:spPr>
      </p:sp>
      <p:sp>
        <p:nvSpPr>
          <p:cNvPr id="16" name="Text 14"/>
          <p:cNvSpPr txBox="1"/>
          <p:nvPr/>
        </p:nvSpPr>
        <p:spPr>
          <a:xfrm>
            <a:off x="1828800"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3</a:t>
            </a:r>
            <a:endParaRPr lang="en-US" sz="3600" dirty="0"/>
          </a:p>
        </p:txBody>
      </p:sp>
      <p:sp>
        <p:nvSpPr>
          <p:cNvPr id="17" name="Text 15"/>
          <p:cNvSpPr txBox="1"/>
          <p:nvPr/>
        </p:nvSpPr>
        <p:spPr>
          <a:xfrm>
            <a:off x="822960"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שווה את המאמץ?</a:t>
            </a:r>
            <a:endParaRPr lang="he-IL" sz="2000" dirty="0"/>
          </a:p>
        </p:txBody>
      </p:sp>
      <p:sp>
        <p:nvSpPr>
          <p:cNvPr id="18" name="Text 16"/>
          <p:cNvSpPr txBox="1"/>
          <p:nvPr/>
        </p:nvSpPr>
        <p:spPr>
          <a:xfrm>
            <a:off x="822960"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E76F51"/>
                </a:solidFill>
                <a:latin typeface="Arial" pitchFamily="34" charset="0"/>
                <a:ea typeface="Arial" pitchFamily="34" charset="-122"/>
                <a:cs typeface="Arial" pitchFamily="34" charset="-120"/>
              </a:rPr>
              <a:t>משמעותיות</a:t>
            </a:r>
            <a:endParaRPr lang="he-IL" sz="1400" dirty="0"/>
          </a:p>
        </p:txBody>
      </p:sp>
      <p:sp>
        <p:nvSpPr>
          <p:cNvPr id="19" name="Shape 17"/>
          <p:cNvSpPr/>
          <p:nvPr/>
        </p:nvSpPr>
        <p:spPr>
          <a:xfrm>
            <a:off x="548640" y="5120640"/>
            <a:ext cx="11091672"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5257800"/>
            <a:ext cx="10515600" cy="822960"/>
          </a:xfrm>
          <a:prstGeom prst="rect">
            <a:avLst/>
          </a:prstGeom>
          <a:noFill/>
          <a:ln/>
        </p:spPr>
        <p:txBody>
          <a:bodyPr wrap="square" lIns="0" tIns="0" rIns="0" bIns="0" rtlCol="0" anchor="ctr"/>
          <a:lstStyle/>
          <a:p>
            <a:pPr rtl="1" algn="r" indent="0" marL="0">
              <a:buNone/>
            </a:pPr>
            <a:r>
              <a:rPr lang="he-IL" altLang="en-US" sz="1700" dirty="0">
                <a:solidFill>
                  <a:srgbClr val="1F2937"/>
                </a:solidFill>
                <a:latin typeface="Arial" pitchFamily="34" charset="0"/>
                <a:ea typeface="Arial" pitchFamily="34" charset="-122"/>
                <a:cs typeface="Arial" pitchFamily="34" charset="-120"/>
              </a:rPr>
              <a:t>הצבעה ב-Mentimeter או הרמת ידיים. אלה שלושת הרכיבים של "תחושת קוהרנטיות בעבודה". נחזור אליהם בסוף.</a:t>
            </a:r>
            <a:endParaRPr lang="he-IL" sz="17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למה דווקא עכשיו?</a:t>
            </a:r>
            <a:endParaRPr lang="he-IL" sz="3000" dirty="0"/>
          </a:p>
        </p:txBody>
      </p:sp>
      <p:sp>
        <p:nvSpPr>
          <p:cNvPr id="3" name="Shape 1"/>
          <p:cNvSpPr/>
          <p:nvPr/>
        </p:nvSpPr>
        <p:spPr>
          <a:xfrm>
            <a:off x="6492240" y="1325880"/>
            <a:ext cx="5148072" cy="4937760"/>
          </a:xfrm>
          <a:prstGeom prst="roundRect">
            <a:avLst>
              <a:gd name="adj" fmla="val 2222"/>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675120" y="1463040"/>
            <a:ext cx="4754880" cy="914400"/>
          </a:xfrm>
          <a:prstGeom prst="rect">
            <a:avLst/>
          </a:prstGeom>
          <a:noFill/>
          <a:ln/>
        </p:spPr>
        <p:txBody>
          <a:bodyPr wrap="square" lIns="0" tIns="0" rIns="0" bIns="0" rtlCol="0" anchor="ctr"/>
          <a:lstStyle/>
          <a:p>
            <a:pPr rtl="1" algn="ctr" indent="0" marL="0">
              <a:buNone/>
            </a:pPr>
            <a:r>
              <a:rPr lang="he-IL" altLang="en-US" sz="6000" b="1" dirty="0">
                <a:solidFill>
                  <a:srgbClr val="E76F51"/>
                </a:solidFill>
                <a:latin typeface="Arial" pitchFamily="34" charset="0"/>
                <a:ea typeface="Arial" pitchFamily="34" charset="-122"/>
                <a:cs typeface="Arial" pitchFamily="34" charset="-120"/>
              </a:rPr>
              <a:t>1 מכל 5</a:t>
            </a:r>
            <a:endParaRPr lang="he-IL" sz="6000" dirty="0"/>
          </a:p>
        </p:txBody>
      </p:sp>
      <p:sp>
        <p:nvSpPr>
          <p:cNvPr id="5" name="Text 3"/>
          <p:cNvSpPr txBox="1"/>
          <p:nvPr/>
        </p:nvSpPr>
        <p:spPr>
          <a:xfrm>
            <a:off x="6766560" y="2423160"/>
            <a:ext cx="4572000" cy="10058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מהמועסקים בישראל עובדים במקצועות "תחליפיים" שבהם הביקוש צפוי לרדת משמעותית עם התרחבות הבינה המלאכותית (בנק ישראל, 2025)</a:t>
            </a:r>
            <a:endParaRPr lang="he-IL" sz="1400" dirty="0"/>
          </a:p>
        </p:txBody>
      </p:sp>
      <p:graphicFrame>
        <p:nvGraphicFramePr>
          <p:cNvPr id="6" name="Chart 0" descr=""/>
          <p:cNvGraphicFramePr/>
          <p:nvPr/>
        </p:nvGraphicFramePr>
        <p:xfrm>
          <a:off x="6949440" y="3474720"/>
          <a:ext cx="4206240"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1325880"/>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5"/>
          <p:cNvSpPr/>
          <p:nvPr/>
        </p:nvSpPr>
        <p:spPr>
          <a:xfrm>
            <a:off x="5486400" y="1600200"/>
            <a:ext cx="548640" cy="548640"/>
          </a:xfrm>
          <a:prstGeom prst="ellipse">
            <a:avLst/>
          </a:prstGeom>
          <a:solidFill>
            <a:srgbClr val="FCA311"/>
          </a:solidFill>
          <a:ln w="12700">
            <a:solidFill>
              <a:srgbClr val="FCA311"/>
            </a:solidFill>
            <a:prstDash val="solid"/>
          </a:ln>
        </p:spPr>
      </p:sp>
      <p:sp>
        <p:nvSpPr>
          <p:cNvPr id="9" name="Text 6"/>
          <p:cNvSpPr txBox="1"/>
          <p:nvPr/>
        </p:nvSpPr>
        <p:spPr>
          <a:xfrm>
            <a:off x="5486400" y="1600200"/>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0" name="Text 7"/>
          <p:cNvSpPr txBox="1"/>
          <p:nvPr/>
        </p:nvSpPr>
        <p:spPr>
          <a:xfrm>
            <a:off x="731520" y="1435608"/>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בינה מלאכותית</a:t>
            </a:r>
            <a:endParaRPr lang="he-IL" sz="1700" dirty="0"/>
          </a:p>
        </p:txBody>
      </p:sp>
      <p:sp>
        <p:nvSpPr>
          <p:cNvPr id="11" name="Text 8"/>
          <p:cNvSpPr txBox="1"/>
          <p:nvPr/>
        </p:nvSpPr>
        <p:spPr>
          <a:xfrm>
            <a:off x="731520" y="1828800"/>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משנה את תוכן התפקיד גם כשהמשרה נשמרת. עצם המודעות לה מייצרת חוסר ביטחון (Chung et al., 2025)</a:t>
            </a:r>
            <a:endParaRPr lang="he-IL" sz="1250" dirty="0"/>
          </a:p>
        </p:txBody>
      </p:sp>
      <p:sp>
        <p:nvSpPr>
          <p:cNvPr id="12" name="Shape 9"/>
          <p:cNvSpPr/>
          <p:nvPr/>
        </p:nvSpPr>
        <p:spPr>
          <a:xfrm>
            <a:off x="548640" y="2578608"/>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3" name="Shape 10"/>
          <p:cNvSpPr/>
          <p:nvPr/>
        </p:nvSpPr>
        <p:spPr>
          <a:xfrm>
            <a:off x="5486400" y="2852928"/>
            <a:ext cx="548640" cy="548640"/>
          </a:xfrm>
          <a:prstGeom prst="ellipse">
            <a:avLst/>
          </a:prstGeom>
          <a:solidFill>
            <a:srgbClr val="FCA311"/>
          </a:solidFill>
          <a:ln w="12700">
            <a:solidFill>
              <a:srgbClr val="FCA311"/>
            </a:solidFill>
            <a:prstDash val="solid"/>
          </a:ln>
        </p:spPr>
      </p:sp>
      <p:sp>
        <p:nvSpPr>
          <p:cNvPr id="14" name="Text 11"/>
          <p:cNvSpPr txBox="1"/>
          <p:nvPr/>
        </p:nvSpPr>
        <p:spPr>
          <a:xfrm>
            <a:off x="5486400" y="2852928"/>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5" name="Text 12"/>
          <p:cNvSpPr txBox="1"/>
          <p:nvPr/>
        </p:nvSpPr>
        <p:spPr>
          <a:xfrm>
            <a:off x="731520" y="2688336"/>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התייעלות בהייטק</a:t>
            </a:r>
            <a:endParaRPr lang="he-IL" sz="1700" dirty="0"/>
          </a:p>
        </p:txBody>
      </p:sp>
      <p:sp>
        <p:nvSpPr>
          <p:cNvPr id="16" name="Text 13"/>
          <p:cNvSpPr txBox="1"/>
          <p:nvPr/>
        </p:nvSpPr>
        <p:spPr>
          <a:xfrm>
            <a:off x="731520" y="3081528"/>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גלי פיטורים ו"התייעלות AI" בראש סדר היום של מנהלים ב-2026 ("הקשיים של מנהלי הייטק", 2026)</a:t>
            </a:r>
            <a:endParaRPr lang="he-IL" sz="1250" dirty="0"/>
          </a:p>
        </p:txBody>
      </p:sp>
      <p:sp>
        <p:nvSpPr>
          <p:cNvPr id="17" name="Shape 14"/>
          <p:cNvSpPr/>
          <p:nvPr/>
        </p:nvSpPr>
        <p:spPr>
          <a:xfrm>
            <a:off x="548640" y="3831336"/>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8" name="Shape 15"/>
          <p:cNvSpPr/>
          <p:nvPr/>
        </p:nvSpPr>
        <p:spPr>
          <a:xfrm>
            <a:off x="5486400" y="4105656"/>
            <a:ext cx="548640" cy="548640"/>
          </a:xfrm>
          <a:prstGeom prst="ellipse">
            <a:avLst/>
          </a:prstGeom>
          <a:solidFill>
            <a:srgbClr val="FCA311"/>
          </a:solidFill>
          <a:ln w="12700">
            <a:solidFill>
              <a:srgbClr val="FCA311"/>
            </a:solidFill>
            <a:prstDash val="solid"/>
          </a:ln>
        </p:spPr>
      </p:sp>
      <p:sp>
        <p:nvSpPr>
          <p:cNvPr id="19" name="Text 16"/>
          <p:cNvSpPr txBox="1"/>
          <p:nvPr/>
        </p:nvSpPr>
        <p:spPr>
          <a:xfrm>
            <a:off x="5486400" y="4105656"/>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731520" y="3941064"/>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מילואים ומלחמה</a:t>
            </a:r>
            <a:endParaRPr lang="he-IL" sz="1700" dirty="0"/>
          </a:p>
        </p:txBody>
      </p:sp>
      <p:sp>
        <p:nvSpPr>
          <p:cNvPr id="21" name="Text 18"/>
          <p:cNvSpPr txBox="1"/>
          <p:nvPr/>
        </p:nvSpPr>
        <p:spPr>
          <a:xfrm>
            <a:off x="731520" y="4334256"/>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חוסר ודאות שמקורו מחוץ לארגון. ממד ישראלי ייחודי</a:t>
            </a:r>
            <a:endParaRPr lang="he-IL" sz="1250" dirty="0"/>
          </a:p>
        </p:txBody>
      </p:sp>
      <p:sp>
        <p:nvSpPr>
          <p:cNvPr id="22" name="Shape 19"/>
          <p:cNvSpPr/>
          <p:nvPr/>
        </p:nvSpPr>
        <p:spPr>
          <a:xfrm>
            <a:off x="548640" y="5084064"/>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3" name="Shape 20"/>
          <p:cNvSpPr/>
          <p:nvPr/>
        </p:nvSpPr>
        <p:spPr>
          <a:xfrm>
            <a:off x="5486400" y="5358384"/>
            <a:ext cx="548640" cy="548640"/>
          </a:xfrm>
          <a:prstGeom prst="ellipse">
            <a:avLst/>
          </a:prstGeom>
          <a:solidFill>
            <a:srgbClr val="FCA311"/>
          </a:solidFill>
          <a:ln w="12700">
            <a:solidFill>
              <a:srgbClr val="FCA311"/>
            </a:solidFill>
            <a:prstDash val="solid"/>
          </a:ln>
        </p:spPr>
      </p:sp>
      <p:sp>
        <p:nvSpPr>
          <p:cNvPr id="24" name="Text 21"/>
          <p:cNvSpPr txBox="1"/>
          <p:nvPr/>
        </p:nvSpPr>
        <p:spPr>
          <a:xfrm>
            <a:off x="5486400" y="5358384"/>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731520" y="5193792"/>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דרישות חדשות</a:t>
            </a:r>
            <a:endParaRPr lang="he-IL" sz="1700" dirty="0"/>
          </a:p>
        </p:txBody>
      </p:sp>
      <p:sp>
        <p:nvSpPr>
          <p:cNvPr id="26" name="Text 23"/>
          <p:cNvSpPr txBox="1"/>
          <p:nvPr/>
        </p:nvSpPr>
        <p:spPr>
          <a:xfrm>
            <a:off x="731520" y="5586984"/>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ניהול עצמי, הסתגלות ויוזמה אישית: מה שעולם העבודה הגמיש דורש (Cetkovská et al., 2026)</a:t>
            </a:r>
            <a:endParaRPr lang="he-IL" sz="1250" dirty="0"/>
          </a:p>
        </p:txBody>
      </p:sp>
      <p:sp>
        <p:nvSpPr>
          <p:cNvPr id="27" name="Text 2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8" name="Text 2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שבחרנו</a:t>
            </a:r>
            <a:endParaRPr lang="he-IL" sz="3000" dirty="0"/>
          </a:p>
        </p:txBody>
      </p:sp>
      <p:sp>
        <p:nvSpPr>
          <p:cNvPr id="3" name="Shape 1"/>
          <p:cNvSpPr/>
          <p:nvPr/>
        </p:nvSpPr>
        <p:spPr>
          <a:xfrm>
            <a:off x="4846320" y="1325880"/>
            <a:ext cx="6793992" cy="3108960"/>
          </a:xfrm>
          <a:prstGeom prst="roundRect">
            <a:avLst>
              <a:gd name="adj" fmla="val 3529"/>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5074920" y="1463040"/>
            <a:ext cx="6355080" cy="914400"/>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The Role of Needs-Based Job Crafting in Strengthening Work-Related Sense of Coherence: A Two-Wave Panel Study</a:t>
            </a:r>
            <a:endParaRPr lang="en-US" sz="1800" dirty="0"/>
          </a:p>
        </p:txBody>
      </p:sp>
      <p:sp>
        <p:nvSpPr>
          <p:cNvPr id="5" name="Text 3"/>
          <p:cNvSpPr txBox="1"/>
          <p:nvPr/>
        </p:nvSpPr>
        <p:spPr>
          <a:xfrm>
            <a:off x="5074920" y="2423160"/>
            <a:ext cx="6355080" cy="457200"/>
          </a:xfrm>
          <a:prstGeom prst="rect">
            <a:avLst/>
          </a:prstGeom>
          <a:noFill/>
          <a:ln/>
        </p:spPr>
        <p:txBody>
          <a:bodyPr wrap="square" lIns="0" tIns="0" rIns="0" bIns="0" rtlCol="0" anchor="t"/>
          <a:lstStyle/>
          <a:p>
            <a:pPr algn="r" indent="0" marL="0">
              <a:buNone/>
            </a:pPr>
            <a:r>
              <a:rPr lang="en-US" sz="1200" dirty="0">
                <a:solidFill>
                  <a:srgbClr val="FCA311"/>
                </a:solidFill>
                <a:latin typeface="Arial" pitchFamily="34" charset="0"/>
                <a:ea typeface="Arial" pitchFamily="34" charset="-122"/>
                <a:cs typeface="Arial" pitchFamily="34" charset="-120"/>
              </a:rPr>
              <a:t>Cetkovská, Bauer &amp; Tušl  |  Scandinavian Journal of Work and Organizational Psychology, 11(1)  |  2026</a:t>
            </a:r>
            <a:endParaRPr lang="en-US" sz="1200" dirty="0"/>
          </a:p>
        </p:txBody>
      </p:sp>
      <p:sp>
        <p:nvSpPr>
          <p:cNvPr id="6" name="Text 4"/>
          <p:cNvSpPr txBox="1"/>
          <p:nvPr/>
        </p:nvSpPr>
        <p:spPr>
          <a:xfrm>
            <a:off x="5074920" y="2926080"/>
            <a:ext cx="6355080" cy="14630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מחקר אורך: 924 עובדים בגרמניה ובשווייץ, שתי מדידות בהפרש של חצי שנה</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כתב עת שפיט, גישה פתוחה מלאה (Open Access), הוצאת אוניברסיטת סטוקהולם</a:t>
            </a:r>
            <a:endParaRPr lang="he-IL" sz="1300" dirty="0"/>
          </a:p>
          <a:p>
            <a:pPr algn="r" marL="342900" indent="-342900">
              <a:spcAft>
                <a:spcPts val="600"/>
              </a:spcAft>
              <a:buSzPct val="100000"/>
              <a:buChar char="•"/>
            </a:pPr>
            <a:r>
              <a:rPr lang="he-IL" altLang="en-US" sz="1300" dirty="0">
                <a:solidFill>
                  <a:srgbClr val="E5EAF3"/>
                </a:solidFill>
                <a:latin typeface="Arial" pitchFamily="34" charset="0"/>
                <a:ea typeface="Arial" pitchFamily="34" charset="-122"/>
                <a:cs typeface="Arial" pitchFamily="34" charset="-120"/>
              </a:rPr>
              <a:t>המחברים: אוניברסיטת קארל בפראג והמרכז לסלוטוגנזה באוניברסיטת ציריך. מימון: הקרן הלאומית השווייצרית למדע</a:t>
            </a:r>
            <a:endParaRPr lang="he-IL" sz="1300" dirty="0"/>
          </a:p>
        </p:txBody>
      </p:sp>
      <p:sp>
        <p:nvSpPr>
          <p:cNvPr id="7" name="Shape 5"/>
          <p:cNvSpPr/>
          <p:nvPr/>
        </p:nvSpPr>
        <p:spPr>
          <a:xfrm>
            <a:off x="548640" y="1325880"/>
            <a:ext cx="4023360" cy="3108960"/>
          </a:xfrm>
          <a:prstGeom prst="roundRect">
            <a:avLst>
              <a:gd name="adj" fmla="val 3529"/>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8" name="Text 6"/>
          <p:cNvSpPr txBox="1"/>
          <p:nvPr/>
        </p:nvSpPr>
        <p:spPr>
          <a:xfrm>
            <a:off x="777240" y="1463040"/>
            <a:ext cx="3566160" cy="457200"/>
          </a:xfrm>
          <a:prstGeom prst="rect">
            <a:avLst/>
          </a:prstGeom>
          <a:noFill/>
          <a:ln/>
        </p:spPr>
        <p:txBody>
          <a:bodyPr wrap="square" lIns="0" tIns="0" rIns="0" bIns="0" rtlCol="0" anchor="t"/>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בחרנו בו?</a:t>
            </a:r>
            <a:endParaRPr lang="he-IL" sz="1800" dirty="0"/>
          </a:p>
        </p:txBody>
      </p:sp>
      <p:sp>
        <p:nvSpPr>
          <p:cNvPr id="9" name="Text 7"/>
          <p:cNvSpPr txBox="1"/>
          <p:nvPr/>
        </p:nvSpPr>
        <p:spPr>
          <a:xfrm>
            <a:off x="777240" y="1965960"/>
            <a:ext cx="3566160" cy="2377440"/>
          </a:xfrm>
          <a:prstGeom prst="rect">
            <a:avLst/>
          </a:prstGeom>
          <a:noFill/>
          <a:ln/>
        </p:spPr>
        <p:txBody>
          <a:bodyPr wrap="square" lIns="0" tIns="0" rIns="0" bIns="0" rtlCol="0" anchor="t"/>
          <a:lstStyle/>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שואל מה עוזר, לא רק מה מזיק</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נותן כלי שבשליטת העובד, בלי לחכות לארגון</a:t>
            </a:r>
            <a:endParaRPr lang="he-IL" sz="1300" dirty="0"/>
          </a:p>
          <a:p>
            <a:pPr algn="r" marL="342900" indent="-342900">
              <a:spcAft>
                <a:spcPts val="600"/>
              </a:spcAft>
              <a:buSzPct val="100000"/>
              <a:buChar char="•"/>
            </a:pPr>
            <a:r>
              <a:rPr lang="he-IL" altLang="en-US" sz="1300" dirty="0">
                <a:solidFill>
                  <a:srgbClr val="1F2937"/>
                </a:solidFill>
                <a:latin typeface="Arial" pitchFamily="34" charset="0"/>
                <a:ea typeface="Arial" pitchFamily="34" charset="-122"/>
                <a:cs typeface="Arial" pitchFamily="34" charset="-120"/>
              </a:rPr>
              <a:t>מבוסס על רעיון של חוקר שפעל בישראל: אהרן אנטונובסקי מאוניברסיטת בן-גוריון</a:t>
            </a:r>
            <a:endParaRPr lang="he-IL" sz="1300" dirty="0"/>
          </a:p>
        </p:txBody>
      </p:sp>
      <p:sp>
        <p:nvSpPr>
          <p:cNvPr id="10" name="Shape 8"/>
          <p:cNvSpPr/>
          <p:nvPr/>
        </p:nvSpPr>
        <p:spPr>
          <a:xfrm>
            <a:off x="548640" y="4663440"/>
            <a:ext cx="11091672" cy="1600200"/>
          </a:xfrm>
          <a:prstGeom prst="roundRect">
            <a:avLst>
              <a:gd name="adj" fmla="val 6857"/>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a:off x="777240" y="4754880"/>
            <a:ext cx="1060704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מאמר משלים (2025, גישה פתוחה) וראיות תומכות</a:t>
            </a:r>
            <a:endParaRPr lang="he-IL" sz="1500" dirty="0"/>
          </a:p>
        </p:txBody>
      </p:sp>
      <p:sp>
        <p:nvSpPr>
          <p:cNvPr id="12" name="Text 10"/>
          <p:cNvSpPr txBox="1"/>
          <p:nvPr/>
        </p:nvSpPr>
        <p:spPr>
          <a:xfrm>
            <a:off x="777240" y="5166360"/>
            <a:ext cx="10607040" cy="1005840"/>
          </a:xfrm>
          <a:prstGeom prst="rect">
            <a:avLst/>
          </a:prstGeom>
          <a:noFill/>
          <a:ln/>
        </p:spPr>
        <p:txBody>
          <a:bodyPr wrap="square" lIns="0" tIns="0" rIns="0" bIns="0" rtlCol="0" anchor="t"/>
          <a:lstStyle/>
          <a:p>
            <a:pPr algn="r" indent="0" marL="0">
              <a:spcAft>
                <a:spcPts val="600"/>
              </a:spcAft>
              <a:buNone/>
            </a:pPr>
            <a:r>
              <a:rPr lang="en-US" sz="12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a:t>
            </a:r>
            <a:endParaRPr lang="en-US" sz="1200" dirty="0"/>
          </a:p>
          <a:p>
            <a:pPr algn="r" indent="0" marL="0">
              <a:spcAft>
                <a:spcPts val="600"/>
              </a:spcAft>
              <a:buNone/>
            </a:pPr>
            <a:r>
              <a:rPr lang="en-US" sz="1200" dirty="0">
                <a:solidFill>
                  <a:srgbClr val="1F2937"/>
                </a:solidFill>
                <a:latin typeface="Arial" pitchFamily="34" charset="0"/>
                <a:ea typeface="Arial" pitchFamily="34" charset="-122"/>
                <a:cs typeface="Arial" pitchFamily="34" charset="-120"/>
              </a:rPr>
              <a:t>Låstad, L., et al. (2025). Moving on up now? A meta-analysis of the associations between job insecurity and career-related outcomes. Scandinavian Journal of Work and Organizational Psychology, 10(1), Article 2.</a:t>
            </a:r>
            <a:endParaRPr lang="en-US" sz="1200" dirty="0"/>
          </a:p>
        </p:txBody>
      </p:sp>
      <p:sp>
        <p:nvSpPr>
          <p:cNvPr id="13" name="Text 1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4" name="Text 1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שני מושגים: תחושת קוהרנטיות בעבודה ועיצוב תפקיד מבוסס צרכים</a:t>
            </a:r>
            <a:endParaRPr lang="he-IL" sz="3000" dirty="0"/>
          </a:p>
        </p:txBody>
      </p:sp>
      <p:sp>
        <p:nvSpPr>
          <p:cNvPr id="3" name="Shape 1"/>
          <p:cNvSpPr/>
          <p:nvPr/>
        </p:nvSpPr>
        <p:spPr>
          <a:xfrm>
            <a:off x="6263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תחושת קוהרנטיות בעבודה (Work-SOC)</a:t>
            </a:r>
            <a:endParaRPr lang="he-IL" sz="1700" dirty="0"/>
          </a:p>
        </p:txBody>
      </p:sp>
      <p:sp>
        <p:nvSpPr>
          <p:cNvPr id="5" name="Text 3"/>
          <p:cNvSpPr txBox="1"/>
          <p:nvPr/>
        </p:nvSpPr>
        <p:spPr>
          <a:xfrm>
            <a:off x="6492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מהגישה הסלוטוגנית של אנטונובסקי (1987): לא "למה חולים" אלא "איך נשארים בריאים למרות הלחץ"</a:t>
            </a:r>
            <a:endParaRPr lang="he-IL" sz="1250" dirty="0"/>
          </a:p>
        </p:txBody>
      </p:sp>
      <p:sp>
        <p:nvSpPr>
          <p:cNvPr id="6" name="Shape 4"/>
          <p:cNvSpPr/>
          <p:nvPr/>
        </p:nvSpPr>
        <p:spPr>
          <a:xfrm>
            <a:off x="6492240" y="260604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7" name="Shape 5"/>
          <p:cNvSpPr/>
          <p:nvPr/>
        </p:nvSpPr>
        <p:spPr>
          <a:xfrm>
            <a:off x="10835640" y="2880360"/>
            <a:ext cx="457200" cy="457200"/>
          </a:xfrm>
          <a:prstGeom prst="ellipse">
            <a:avLst/>
          </a:prstGeom>
          <a:solidFill>
            <a:srgbClr val="2A9D8F"/>
          </a:solidFill>
          <a:ln w="12700">
            <a:solidFill>
              <a:srgbClr val="2A9D8F"/>
            </a:solidFill>
            <a:prstDash val="solid"/>
          </a:ln>
        </p:spPr>
      </p:sp>
      <p:sp>
        <p:nvSpPr>
          <p:cNvPr id="8" name="Text 6"/>
          <p:cNvSpPr txBox="1"/>
          <p:nvPr/>
        </p:nvSpPr>
        <p:spPr>
          <a:xfrm>
            <a:off x="6675120" y="269748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מובנות</a:t>
            </a:r>
            <a:endParaRPr lang="he-IL" sz="1600" dirty="0"/>
          </a:p>
        </p:txBody>
      </p:sp>
      <p:sp>
        <p:nvSpPr>
          <p:cNvPr id="9" name="Text 7"/>
          <p:cNvSpPr txBox="1"/>
          <p:nvPr/>
        </p:nvSpPr>
        <p:spPr>
          <a:xfrm>
            <a:off x="6675120" y="310896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מובנית, עקבית וברורה (קוגניטיבי)</a:t>
            </a:r>
            <a:endParaRPr lang="he-IL" sz="1200" dirty="0"/>
          </a:p>
        </p:txBody>
      </p:sp>
      <p:sp>
        <p:nvSpPr>
          <p:cNvPr id="10" name="Shape 8"/>
          <p:cNvSpPr/>
          <p:nvPr/>
        </p:nvSpPr>
        <p:spPr>
          <a:xfrm>
            <a:off x="6492240" y="379476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10835640" y="4069080"/>
            <a:ext cx="457200" cy="457200"/>
          </a:xfrm>
          <a:prstGeom prst="ellipse">
            <a:avLst/>
          </a:prstGeom>
          <a:solidFill>
            <a:srgbClr val="FCA311"/>
          </a:solidFill>
          <a:ln w="12700">
            <a:solidFill>
              <a:srgbClr val="FCA311"/>
            </a:solidFill>
            <a:prstDash val="solid"/>
          </a:ln>
        </p:spPr>
      </p:sp>
      <p:sp>
        <p:nvSpPr>
          <p:cNvPr id="12" name="Text 10"/>
          <p:cNvSpPr txBox="1"/>
          <p:nvPr/>
        </p:nvSpPr>
        <p:spPr>
          <a:xfrm>
            <a:off x="6675120" y="388620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ניהוליות</a:t>
            </a:r>
            <a:endParaRPr lang="he-IL" sz="1600" dirty="0"/>
          </a:p>
        </p:txBody>
      </p:sp>
      <p:sp>
        <p:nvSpPr>
          <p:cNvPr id="13" name="Text 11"/>
          <p:cNvSpPr txBox="1"/>
          <p:nvPr/>
        </p:nvSpPr>
        <p:spPr>
          <a:xfrm>
            <a:off x="6675120" y="429768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יש לי משאבים מספיקים לדרישות (התנהגותי)</a:t>
            </a:r>
            <a:endParaRPr lang="he-IL" sz="1200" dirty="0"/>
          </a:p>
        </p:txBody>
      </p:sp>
      <p:sp>
        <p:nvSpPr>
          <p:cNvPr id="14" name="Shape 12"/>
          <p:cNvSpPr/>
          <p:nvPr/>
        </p:nvSpPr>
        <p:spPr>
          <a:xfrm>
            <a:off x="6492240" y="498348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0835640" y="5257800"/>
            <a:ext cx="457200" cy="457200"/>
          </a:xfrm>
          <a:prstGeom prst="ellipse">
            <a:avLst/>
          </a:prstGeom>
          <a:solidFill>
            <a:srgbClr val="E76F51"/>
          </a:solidFill>
          <a:ln w="12700">
            <a:solidFill>
              <a:srgbClr val="E76F51"/>
            </a:solidFill>
            <a:prstDash val="solid"/>
          </a:ln>
        </p:spPr>
      </p:sp>
      <p:sp>
        <p:nvSpPr>
          <p:cNvPr id="16" name="Text 14"/>
          <p:cNvSpPr txBox="1"/>
          <p:nvPr/>
        </p:nvSpPr>
        <p:spPr>
          <a:xfrm>
            <a:off x="6675120" y="507492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משמעותיות</a:t>
            </a:r>
            <a:endParaRPr lang="he-IL" sz="1600" dirty="0"/>
          </a:p>
        </p:txBody>
      </p:sp>
      <p:sp>
        <p:nvSpPr>
          <p:cNvPr id="17" name="Text 15"/>
          <p:cNvSpPr txBox="1"/>
          <p:nvPr/>
        </p:nvSpPr>
        <p:spPr>
          <a:xfrm>
            <a:off x="6675120" y="548640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ראויה למחויבות ולמעורבות (מוטיבציוני)</a:t>
            </a:r>
            <a:endParaRPr lang="he-IL" sz="1200" dirty="0"/>
          </a:p>
        </p:txBody>
      </p:sp>
      <p:sp>
        <p:nvSpPr>
          <p:cNvPr id="18" name="Shape 16"/>
          <p:cNvSpPr/>
          <p:nvPr/>
        </p:nvSpPr>
        <p:spPr>
          <a:xfrm>
            <a:off x="548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777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עיצוב תפקיד מבוסס צרכים (NJC)</a:t>
            </a:r>
            <a:endParaRPr lang="he-IL" sz="1700" dirty="0"/>
          </a:p>
        </p:txBody>
      </p:sp>
      <p:sp>
        <p:nvSpPr>
          <p:cNvPr id="20" name="Text 18"/>
          <p:cNvSpPr txBox="1"/>
          <p:nvPr/>
        </p:nvSpPr>
        <p:spPr>
          <a:xfrm>
            <a:off x="777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מאמצים יזומים של העובד לספק שישה צרכים פסיכולוגיים בעבודה (DRAMMA)</a:t>
            </a:r>
            <a:endParaRPr lang="he-IL" sz="1250" dirty="0"/>
          </a:p>
        </p:txBody>
      </p:sp>
      <p:sp>
        <p:nvSpPr>
          <p:cNvPr id="21" name="Text 19"/>
          <p:cNvSpPr txBox="1"/>
          <p:nvPr/>
        </p:nvSpPr>
        <p:spPr>
          <a:xfrm>
            <a:off x="777240" y="2606040"/>
            <a:ext cx="493776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צרכי התקרבות: לייצר מצבים חיוביים וצמיחה</a:t>
            </a:r>
            <a:endParaRPr lang="he-IL" sz="1300" dirty="0"/>
          </a:p>
        </p:txBody>
      </p:sp>
      <p:sp>
        <p:nvSpPr>
          <p:cNvPr id="22" name="Shape 20"/>
          <p:cNvSpPr/>
          <p:nvPr/>
        </p:nvSpPr>
        <p:spPr>
          <a:xfrm>
            <a:off x="4507992" y="3017520"/>
            <a:ext cx="1115568" cy="548640"/>
          </a:xfrm>
          <a:prstGeom prst="roundRect">
            <a:avLst>
              <a:gd name="adj" fmla="val 16667"/>
            </a:avLst>
          </a:prstGeom>
          <a:solidFill>
            <a:srgbClr val="2A9D8F"/>
          </a:solidFill>
          <a:ln w="12700">
            <a:solidFill>
              <a:srgbClr val="2A9D8F"/>
            </a:solidFill>
            <a:prstDash val="solid"/>
          </a:ln>
        </p:spPr>
      </p:sp>
      <p:sp>
        <p:nvSpPr>
          <p:cNvPr id="23" name="Text 21"/>
          <p:cNvSpPr txBox="1"/>
          <p:nvPr/>
        </p:nvSpPr>
        <p:spPr>
          <a:xfrm>
            <a:off x="4507992"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אוטונומיה</a:t>
            </a:r>
            <a:endParaRPr lang="he-IL" sz="1300" dirty="0"/>
          </a:p>
        </p:txBody>
      </p:sp>
      <p:sp>
        <p:nvSpPr>
          <p:cNvPr id="24" name="Shape 22"/>
          <p:cNvSpPr/>
          <p:nvPr/>
        </p:nvSpPr>
        <p:spPr>
          <a:xfrm>
            <a:off x="3300984" y="3017520"/>
            <a:ext cx="1115568" cy="548640"/>
          </a:xfrm>
          <a:prstGeom prst="roundRect">
            <a:avLst>
              <a:gd name="adj" fmla="val 16667"/>
            </a:avLst>
          </a:prstGeom>
          <a:solidFill>
            <a:srgbClr val="2A9D8F"/>
          </a:solidFill>
          <a:ln w="12700">
            <a:solidFill>
              <a:srgbClr val="2A9D8F"/>
            </a:solidFill>
            <a:prstDash val="solid"/>
          </a:ln>
        </p:spPr>
      </p:sp>
      <p:sp>
        <p:nvSpPr>
          <p:cNvPr id="25" name="Text 23"/>
          <p:cNvSpPr txBox="1"/>
          <p:nvPr/>
        </p:nvSpPr>
        <p:spPr>
          <a:xfrm>
            <a:off x="3300984"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מיומנות</a:t>
            </a:r>
            <a:endParaRPr lang="he-IL" sz="1300" dirty="0"/>
          </a:p>
        </p:txBody>
      </p:sp>
      <p:sp>
        <p:nvSpPr>
          <p:cNvPr id="26" name="Shape 24"/>
          <p:cNvSpPr/>
          <p:nvPr/>
        </p:nvSpPr>
        <p:spPr>
          <a:xfrm>
            <a:off x="2093976" y="3017520"/>
            <a:ext cx="1115568" cy="548640"/>
          </a:xfrm>
          <a:prstGeom prst="roundRect">
            <a:avLst>
              <a:gd name="adj" fmla="val 16667"/>
            </a:avLst>
          </a:prstGeom>
          <a:solidFill>
            <a:srgbClr val="2A9D8F"/>
          </a:solidFill>
          <a:ln w="12700">
            <a:solidFill>
              <a:srgbClr val="2A9D8F"/>
            </a:solidFill>
            <a:prstDash val="solid"/>
          </a:ln>
        </p:spPr>
      </p:sp>
      <p:sp>
        <p:nvSpPr>
          <p:cNvPr id="27" name="Text 25"/>
          <p:cNvSpPr txBox="1"/>
          <p:nvPr/>
        </p:nvSpPr>
        <p:spPr>
          <a:xfrm>
            <a:off x="2093976"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משמעות</a:t>
            </a:r>
            <a:endParaRPr lang="he-IL" sz="1300" dirty="0"/>
          </a:p>
        </p:txBody>
      </p:sp>
      <p:sp>
        <p:nvSpPr>
          <p:cNvPr id="28" name="Shape 26"/>
          <p:cNvSpPr/>
          <p:nvPr/>
        </p:nvSpPr>
        <p:spPr>
          <a:xfrm>
            <a:off x="886968" y="3017520"/>
            <a:ext cx="1115568" cy="548640"/>
          </a:xfrm>
          <a:prstGeom prst="roundRect">
            <a:avLst>
              <a:gd name="adj" fmla="val 16667"/>
            </a:avLst>
          </a:prstGeom>
          <a:solidFill>
            <a:srgbClr val="2A9D8F"/>
          </a:solidFill>
          <a:ln w="12700">
            <a:solidFill>
              <a:srgbClr val="2A9D8F"/>
            </a:solidFill>
            <a:prstDash val="solid"/>
          </a:ln>
        </p:spPr>
      </p:sp>
      <p:sp>
        <p:nvSpPr>
          <p:cNvPr id="29" name="Text 27"/>
          <p:cNvSpPr txBox="1"/>
          <p:nvPr/>
        </p:nvSpPr>
        <p:spPr>
          <a:xfrm>
            <a:off x="886968"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שייכות</a:t>
            </a:r>
            <a:endParaRPr lang="he-IL" sz="1300" dirty="0"/>
          </a:p>
        </p:txBody>
      </p:sp>
      <p:sp>
        <p:nvSpPr>
          <p:cNvPr id="30" name="Text 28"/>
          <p:cNvSpPr txBox="1"/>
          <p:nvPr/>
        </p:nvSpPr>
        <p:spPr>
          <a:xfrm>
            <a:off x="777240" y="3840480"/>
            <a:ext cx="4937760" cy="365760"/>
          </a:xfrm>
          <a:prstGeom prst="rect">
            <a:avLst/>
          </a:prstGeom>
          <a:noFill/>
          <a:ln/>
        </p:spPr>
        <p:txBody>
          <a:bodyPr wrap="square" lIns="0" tIns="0" rIns="0" bIns="0" rtlCol="0" anchor="t"/>
          <a:lstStyle/>
          <a:p>
            <a:pPr rtl="1" algn="r" indent="0" marL="0">
              <a:buNone/>
            </a:pPr>
            <a:r>
              <a:rPr lang="he-IL" altLang="en-US" sz="1300" b="1" dirty="0">
                <a:solidFill>
                  <a:srgbClr val="D9822B"/>
                </a:solidFill>
                <a:latin typeface="Arial" pitchFamily="34" charset="0"/>
                <a:ea typeface="Arial" pitchFamily="34" charset="-122"/>
                <a:cs typeface="Arial" pitchFamily="34" charset="-120"/>
              </a:rPr>
              <a:t>צרכי הימנעות: להפחית מאמץ ולהשיב אנרגיה</a:t>
            </a:r>
            <a:endParaRPr lang="he-IL" sz="1300" dirty="0"/>
          </a:p>
        </p:txBody>
      </p:sp>
      <p:sp>
        <p:nvSpPr>
          <p:cNvPr id="31" name="Shape 29"/>
          <p:cNvSpPr/>
          <p:nvPr/>
        </p:nvSpPr>
        <p:spPr>
          <a:xfrm>
            <a:off x="4507992" y="4251960"/>
            <a:ext cx="1115568" cy="548640"/>
          </a:xfrm>
          <a:prstGeom prst="roundRect">
            <a:avLst>
              <a:gd name="adj" fmla="val 16667"/>
            </a:avLst>
          </a:prstGeom>
          <a:solidFill>
            <a:srgbClr val="D9822B"/>
          </a:solidFill>
          <a:ln w="12700">
            <a:solidFill>
              <a:srgbClr val="D9822B"/>
            </a:solidFill>
            <a:prstDash val="solid"/>
          </a:ln>
        </p:spPr>
      </p:sp>
      <p:sp>
        <p:nvSpPr>
          <p:cNvPr id="32" name="Text 30"/>
          <p:cNvSpPr txBox="1"/>
          <p:nvPr/>
        </p:nvSpPr>
        <p:spPr>
          <a:xfrm>
            <a:off x="4507992"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ניתוק</a:t>
            </a:r>
            <a:endParaRPr lang="he-IL" sz="1300" dirty="0"/>
          </a:p>
        </p:txBody>
      </p:sp>
      <p:sp>
        <p:nvSpPr>
          <p:cNvPr id="33" name="Shape 31"/>
          <p:cNvSpPr/>
          <p:nvPr/>
        </p:nvSpPr>
        <p:spPr>
          <a:xfrm>
            <a:off x="3300984" y="4251960"/>
            <a:ext cx="1115568" cy="548640"/>
          </a:xfrm>
          <a:prstGeom prst="roundRect">
            <a:avLst>
              <a:gd name="adj" fmla="val 16667"/>
            </a:avLst>
          </a:prstGeom>
          <a:solidFill>
            <a:srgbClr val="D9822B"/>
          </a:solidFill>
          <a:ln w="12700">
            <a:solidFill>
              <a:srgbClr val="D9822B"/>
            </a:solidFill>
            <a:prstDash val="solid"/>
          </a:ln>
        </p:spPr>
      </p:sp>
      <p:sp>
        <p:nvSpPr>
          <p:cNvPr id="34" name="Text 32"/>
          <p:cNvSpPr txBox="1"/>
          <p:nvPr/>
        </p:nvSpPr>
        <p:spPr>
          <a:xfrm>
            <a:off x="3300984"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הרפיה</a:t>
            </a:r>
            <a:endParaRPr lang="he-IL" sz="1300" dirty="0"/>
          </a:p>
        </p:txBody>
      </p:sp>
      <p:sp>
        <p:nvSpPr>
          <p:cNvPr id="35" name="Text 33"/>
          <p:cNvSpPr txBox="1"/>
          <p:nvPr/>
        </p:nvSpPr>
        <p:spPr>
          <a:xfrm>
            <a:off x="777240" y="5029200"/>
            <a:ext cx="4937760" cy="1097280"/>
          </a:xfrm>
          <a:prstGeom prst="rect">
            <a:avLst/>
          </a:prstGeom>
          <a:noFill/>
          <a:ln/>
        </p:spPr>
        <p:txBody>
          <a:bodyPr wrap="square" lIns="0" tIns="0" rIns="0" bIns="0" rtlCol="0" anchor="t"/>
          <a:lstStyle/>
          <a:p>
            <a:pPr rtl="1" algn="r" indent="0" marL="0">
              <a:buNone/>
            </a:pPr>
            <a:r>
              <a:rPr lang="he-IL" altLang="en-US" sz="1200" i="1" dirty="0">
                <a:solidFill>
                  <a:srgbClr val="1F2937"/>
                </a:solidFill>
                <a:latin typeface="Arial" pitchFamily="34" charset="0"/>
                <a:ea typeface="Arial" pitchFamily="34" charset="-122"/>
                <a:cs typeface="Arial" pitchFamily="34" charset="-120"/>
              </a:rPr>
              <a:t>דוגמה לפריט: "תכננתי את עבודתי כך שאחווה שליטה"; "ארגנתי את עבודתי כך שאשיג תחושת תכלית במה שאני עושה"</a:t>
            </a:r>
            <a:endParaRPr lang="he-IL" sz="1200" dirty="0"/>
          </a:p>
        </p:txBody>
      </p:sp>
      <p:sp>
        <p:nvSpPr>
          <p:cNvPr id="36" name="Text 3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7" name="Text 3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הממצא: מה שאתם עושים בתפקיד משנה איך הוא נתפס חצי שנה אחר כך</a:t>
            </a:r>
            <a:endParaRPr lang="he-IL" sz="3000" dirty="0"/>
          </a:p>
        </p:txBody>
      </p:sp>
      <p:sp>
        <p:nvSpPr>
          <p:cNvPr id="3" name="Shape 1"/>
          <p:cNvSpPr/>
          <p:nvPr/>
        </p:nvSpPr>
        <p:spPr>
          <a:xfrm>
            <a:off x="8503920" y="2743200"/>
            <a:ext cx="3136392" cy="1371600"/>
          </a:xfrm>
          <a:prstGeom prst="roundRect">
            <a:avLst>
              <a:gd name="adj" fmla="val 8000"/>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641080" y="2788920"/>
            <a:ext cx="2880360" cy="7315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עיצוב תפקיד לצרכי התקרבות</a:t>
            </a:r>
            <a:endParaRPr lang="he-IL" sz="1500" dirty="0"/>
          </a:p>
        </p:txBody>
      </p:sp>
      <p:sp>
        <p:nvSpPr>
          <p:cNvPr id="5" name="Text 3"/>
          <p:cNvSpPr txBox="1"/>
          <p:nvPr/>
        </p:nvSpPr>
        <p:spPr>
          <a:xfrm>
            <a:off x="8641080" y="3474720"/>
            <a:ext cx="2880360" cy="548640"/>
          </a:xfrm>
          <a:prstGeom prst="rect">
            <a:avLst/>
          </a:prstGeom>
          <a:noFill/>
          <a:ln/>
        </p:spPr>
        <p:txBody>
          <a:bodyPr wrap="square" lIns="0" tIns="0" rIns="0" bIns="0" rtlCol="0" anchor="t"/>
          <a:lstStyle/>
          <a:p>
            <a:pPr rtl="1" algn="ctr" indent="0" marL="0">
              <a:buNone/>
            </a:pPr>
            <a:r>
              <a:rPr lang="he-IL" altLang="en-US" sz="1100" dirty="0">
                <a:solidFill>
                  <a:srgbClr val="E5F4F1"/>
                </a:solidFill>
                <a:latin typeface="Arial" pitchFamily="34" charset="0"/>
                <a:ea typeface="Arial" pitchFamily="34" charset="-122"/>
                <a:cs typeface="Arial" pitchFamily="34" charset="-120"/>
              </a:rPr>
              <a:t>אוטונומיה, מיומנות, משמעות, שייכות</a:t>
            </a:r>
            <a:endParaRPr lang="he-IL" sz="1100" dirty="0"/>
          </a:p>
        </p:txBody>
      </p:sp>
      <p:sp>
        <p:nvSpPr>
          <p:cNvPr id="6" name="Shape 4"/>
          <p:cNvSpPr/>
          <p:nvPr/>
        </p:nvSpPr>
        <p:spPr>
          <a:xfrm>
            <a:off x="8366760" y="1965960"/>
            <a:ext cx="0" cy="2926080"/>
          </a:xfrm>
          <a:prstGeom prst="line">
            <a:avLst/>
          </a:prstGeom>
          <a:noFill/>
          <a:ln w="38100">
            <a:solidFill>
              <a:srgbClr val="2A9D8F"/>
            </a:solidFill>
            <a:prstDash val="solid"/>
          </a:ln>
        </p:spPr>
      </p:sp>
      <p:sp>
        <p:nvSpPr>
          <p:cNvPr id="7" name="Shape 5"/>
          <p:cNvSpPr/>
          <p:nvPr/>
        </p:nvSpPr>
        <p:spPr>
          <a:xfrm>
            <a:off x="8366760" y="3429000"/>
            <a:ext cx="137160" cy="0"/>
          </a:xfrm>
          <a:prstGeom prst="line">
            <a:avLst/>
          </a:prstGeom>
          <a:noFill/>
          <a:ln w="38100">
            <a:solidFill>
              <a:srgbClr val="2A9D8F"/>
            </a:solidFill>
            <a:prstDash val="solid"/>
          </a:ln>
        </p:spPr>
      </p:sp>
      <p:sp>
        <p:nvSpPr>
          <p:cNvPr id="8" name="Shape 6"/>
          <p:cNvSpPr/>
          <p:nvPr/>
        </p:nvSpPr>
        <p:spPr>
          <a:xfrm>
            <a:off x="548640" y="1371600"/>
            <a:ext cx="3108960" cy="1188720"/>
          </a:xfrm>
          <a:prstGeom prst="roundRect">
            <a:avLst>
              <a:gd name="adj" fmla="val 9231"/>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685800" y="146304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מובנות</a:t>
            </a:r>
            <a:endParaRPr lang="he-IL" sz="1700" dirty="0"/>
          </a:p>
        </p:txBody>
      </p:sp>
      <p:sp>
        <p:nvSpPr>
          <p:cNvPr id="10" name="Text 8"/>
          <p:cNvSpPr txBox="1"/>
          <p:nvPr/>
        </p:nvSpPr>
        <p:spPr>
          <a:xfrm>
            <a:off x="685800" y="201168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0.142</a:t>
            </a:r>
            <a:endParaRPr lang="en-US" sz="1400" dirty="0"/>
          </a:p>
        </p:txBody>
      </p:sp>
      <p:sp>
        <p:nvSpPr>
          <p:cNvPr id="11" name="Shape 9"/>
          <p:cNvSpPr/>
          <p:nvPr/>
        </p:nvSpPr>
        <p:spPr>
          <a:xfrm>
            <a:off x="3840480" y="1737360"/>
            <a:ext cx="4526280" cy="457200"/>
          </a:xfrm>
          <a:prstGeom prst="leftArrow">
            <a:avLst/>
          </a:prstGeom>
          <a:solidFill>
            <a:srgbClr val="2A9D8F"/>
          </a:solidFill>
          <a:ln w="12700">
            <a:solidFill>
              <a:srgbClr val="2A9D8F"/>
            </a:solidFill>
            <a:prstDash val="solid"/>
          </a:ln>
        </p:spPr>
      </p:sp>
      <p:sp>
        <p:nvSpPr>
          <p:cNvPr id="12" name="Shape 10"/>
          <p:cNvSpPr/>
          <p:nvPr/>
        </p:nvSpPr>
        <p:spPr>
          <a:xfrm>
            <a:off x="548640" y="2834640"/>
            <a:ext cx="3108960" cy="1188720"/>
          </a:xfrm>
          <a:prstGeom prst="roundRect">
            <a:avLst>
              <a:gd name="adj" fmla="val 9231"/>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685800" y="292608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ניהוליות</a:t>
            </a:r>
            <a:endParaRPr lang="he-IL" sz="1700" dirty="0"/>
          </a:p>
        </p:txBody>
      </p:sp>
      <p:sp>
        <p:nvSpPr>
          <p:cNvPr id="14" name="Text 12"/>
          <p:cNvSpPr txBox="1"/>
          <p:nvPr/>
        </p:nvSpPr>
        <p:spPr>
          <a:xfrm>
            <a:off x="685800" y="347472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0.137</a:t>
            </a:r>
            <a:endParaRPr lang="en-US" sz="1400" dirty="0"/>
          </a:p>
        </p:txBody>
      </p:sp>
      <p:sp>
        <p:nvSpPr>
          <p:cNvPr id="15" name="Shape 13"/>
          <p:cNvSpPr/>
          <p:nvPr/>
        </p:nvSpPr>
        <p:spPr>
          <a:xfrm>
            <a:off x="3840480" y="3200400"/>
            <a:ext cx="4526280" cy="457200"/>
          </a:xfrm>
          <a:prstGeom prst="leftArrow">
            <a:avLst/>
          </a:prstGeom>
          <a:solidFill>
            <a:srgbClr val="FCA311"/>
          </a:solidFill>
          <a:ln w="12700">
            <a:solidFill>
              <a:srgbClr val="FCA311"/>
            </a:solidFill>
            <a:prstDash val="solid"/>
          </a:ln>
        </p:spPr>
      </p:sp>
      <p:sp>
        <p:nvSpPr>
          <p:cNvPr id="16" name="Shape 14"/>
          <p:cNvSpPr/>
          <p:nvPr/>
        </p:nvSpPr>
        <p:spPr>
          <a:xfrm>
            <a:off x="548640" y="4297680"/>
            <a:ext cx="3108960" cy="1188720"/>
          </a:xfrm>
          <a:prstGeom prst="roundRect">
            <a:avLst>
              <a:gd name="adj" fmla="val 9231"/>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685800" y="438912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משמעותיות</a:t>
            </a:r>
            <a:endParaRPr lang="he-IL" sz="1700" dirty="0"/>
          </a:p>
        </p:txBody>
      </p:sp>
      <p:sp>
        <p:nvSpPr>
          <p:cNvPr id="18" name="Text 16"/>
          <p:cNvSpPr txBox="1"/>
          <p:nvPr/>
        </p:nvSpPr>
        <p:spPr>
          <a:xfrm>
            <a:off x="685800" y="493776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0.166</a:t>
            </a:r>
            <a:endParaRPr lang="en-US" sz="1400" dirty="0"/>
          </a:p>
        </p:txBody>
      </p:sp>
      <p:sp>
        <p:nvSpPr>
          <p:cNvPr id="19" name="Shape 17"/>
          <p:cNvSpPr/>
          <p:nvPr/>
        </p:nvSpPr>
        <p:spPr>
          <a:xfrm>
            <a:off x="3840480" y="4663440"/>
            <a:ext cx="4526280" cy="457200"/>
          </a:xfrm>
          <a:prstGeom prst="leftArrow">
            <a:avLst/>
          </a:prstGeom>
          <a:solidFill>
            <a:srgbClr val="E76F51"/>
          </a:solidFill>
          <a:ln w="12700">
            <a:solidFill>
              <a:srgbClr val="E76F51"/>
            </a:solidFill>
            <a:prstDash val="solid"/>
          </a:ln>
        </p:spPr>
      </p:sp>
      <p:sp>
        <p:nvSpPr>
          <p:cNvPr id="20" name="Text 18"/>
          <p:cNvSpPr txBox="1"/>
          <p:nvPr/>
        </p:nvSpPr>
        <p:spPr>
          <a:xfrm>
            <a:off x="3840480" y="5074920"/>
            <a:ext cx="4526280" cy="365760"/>
          </a:xfrm>
          <a:prstGeom prst="rect">
            <a:avLst/>
          </a:prstGeom>
          <a:noFill/>
          <a:ln/>
        </p:spPr>
        <p:txBody>
          <a:bodyPr wrap="square" lIns="0" tIns="0" rIns="0" bIns="0" rtlCol="0" anchor="t"/>
          <a:lstStyle/>
          <a:p>
            <a:pPr algn="ctr" indent="0" marL="0">
              <a:buNone/>
            </a:pPr>
            <a:r>
              <a:rPr lang="en-US" sz="1100" i="1" dirty="0">
                <a:solidFill>
                  <a:srgbClr val="6B7280"/>
                </a:solidFill>
                <a:latin typeface="Arial" pitchFamily="34" charset="0"/>
                <a:ea typeface="Arial" pitchFamily="34" charset="-122"/>
                <a:cs typeface="Arial" pitchFamily="34" charset="-120"/>
              </a:rPr>
              <a:t>p &lt; .01 בכל שלושת הנתיבים, מעבר ליציבות של 0.61 עד 0.70 של המדדים עצמם</a:t>
            </a:r>
            <a:endParaRPr lang="en-US" sz="1100" dirty="0"/>
          </a:p>
        </p:txBody>
      </p:sp>
      <p:sp>
        <p:nvSpPr>
          <p:cNvPr id="21" name="Shape 19"/>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22" name="Text 20"/>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עיצוב לצרכי הימנעות (ניתוק, הרפיה): ללא קשר מובהק לאף רכיב. ובכיוון ההפוך: ניהוליות היום מנבאת עיצוב תפקיד בעוד חצי שנה (β = 0.431). ספירלת רווח (Cetkovská et al., 2026)</a:t>
            </a:r>
            <a:endParaRPr lang="he-IL" sz="1300" dirty="0"/>
          </a:p>
        </p:txBody>
      </p:sp>
      <p:sp>
        <p:nvSpPr>
          <p:cNvPr id="23" name="Text 2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4" name="Text 2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איך בדקו? ומה גודל האפקט?</a:t>
            </a:r>
            <a:endParaRPr lang="he-IL" sz="3000" dirty="0"/>
          </a:p>
        </p:txBody>
      </p:sp>
      <p:sp>
        <p:nvSpPr>
          <p:cNvPr id="3" name="Shape 1"/>
          <p:cNvSpPr/>
          <p:nvPr/>
        </p:nvSpPr>
        <p:spPr>
          <a:xfrm>
            <a:off x="8074152"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257032"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924</a:t>
            </a:r>
            <a:endParaRPr lang="he-IL" sz="4000" dirty="0"/>
          </a:p>
        </p:txBody>
      </p:sp>
      <p:sp>
        <p:nvSpPr>
          <p:cNvPr id="5" name="Text 3"/>
          <p:cNvSpPr txBox="1"/>
          <p:nvPr/>
        </p:nvSpPr>
        <p:spPr>
          <a:xfrm>
            <a:off x="8348472"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עובדים בגרמניה ובשווייץ, גיל ממוצע 49, מדגם מכסות של האוכלוסייה העובדת</a:t>
            </a:r>
            <a:endParaRPr lang="he-IL" sz="1250" dirty="0"/>
          </a:p>
        </p:txBody>
      </p:sp>
      <p:sp>
        <p:nvSpPr>
          <p:cNvPr id="6" name="Shape 4"/>
          <p:cNvSpPr/>
          <p:nvPr/>
        </p:nvSpPr>
        <p:spPr>
          <a:xfrm>
            <a:off x="4311396"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494276"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2 × 6</a:t>
            </a:r>
            <a:endParaRPr lang="he-IL" sz="4000" dirty="0"/>
          </a:p>
        </p:txBody>
      </p:sp>
      <p:sp>
        <p:nvSpPr>
          <p:cNvPr id="8" name="Text 6"/>
          <p:cNvSpPr txBox="1"/>
          <p:nvPr/>
        </p:nvSpPr>
        <p:spPr>
          <a:xfrm>
            <a:off x="4585716"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שני גלי מדידה בהפרש של שישה חודשים, 80% השלימו את שניהם</a:t>
            </a:r>
            <a:endParaRPr lang="he-IL" sz="1250" dirty="0"/>
          </a:p>
        </p:txBody>
      </p:sp>
      <p:sp>
        <p:nvSpPr>
          <p:cNvPr id="9" name="Shape 7"/>
          <p:cNvSpPr/>
          <p:nvPr/>
        </p:nvSpPr>
        <p:spPr>
          <a:xfrm>
            <a:off x="548640"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 + 18</a:t>
            </a:r>
            <a:endParaRPr lang="he-IL" sz="4000" dirty="0"/>
          </a:p>
        </p:txBody>
      </p:sp>
      <p:sp>
        <p:nvSpPr>
          <p:cNvPr id="11" name="Text 9"/>
          <p:cNvSpPr txBox="1"/>
          <p:nvPr/>
        </p:nvSpPr>
        <p:spPr>
          <a:xfrm>
            <a:off x="822960"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פריטים: סולם תחושת קוהרנטיות בעבודה וסולם עיצוב תפקיד מבוסס צרכים</a:t>
            </a:r>
            <a:endParaRPr lang="he-IL" sz="1250" dirty="0"/>
          </a:p>
        </p:txBody>
      </p:sp>
      <p:sp>
        <p:nvSpPr>
          <p:cNvPr id="12" name="Shape 10"/>
          <p:cNvSpPr/>
          <p:nvPr/>
        </p:nvSpPr>
        <p:spPr>
          <a:xfrm>
            <a:off x="548640" y="3383280"/>
            <a:ext cx="6949440" cy="2880360"/>
          </a:xfrm>
          <a:prstGeom prst="roundRect">
            <a:avLst>
              <a:gd name="adj" fmla="val 381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graphicFrame>
        <p:nvGraphicFramePr>
          <p:cNvPr id="13" name="Chart 0" descr=""/>
          <p:cNvGraphicFramePr/>
          <p:nvPr/>
        </p:nvGraphicFramePr>
        <p:xfrm>
          <a:off x="731520" y="3474720"/>
          <a:ext cx="6583680" cy="2697480"/>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7680960" y="3383280"/>
            <a:ext cx="3959352" cy="2880360"/>
          </a:xfrm>
          <a:prstGeom prst="roundRect">
            <a:avLst>
              <a:gd name="adj" fmla="val 381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Text 12"/>
          <p:cNvSpPr txBox="1"/>
          <p:nvPr/>
        </p:nvSpPr>
        <p:spPr>
          <a:xfrm>
            <a:off x="7863840" y="3474720"/>
            <a:ext cx="361188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מה זה אומר?</a:t>
            </a:r>
            <a:endParaRPr lang="he-IL" sz="1500" dirty="0"/>
          </a:p>
        </p:txBody>
      </p:sp>
      <p:sp>
        <p:nvSpPr>
          <p:cNvPr id="16" name="Text 13"/>
          <p:cNvSpPr txBox="1"/>
          <p:nvPr/>
        </p:nvSpPr>
        <p:spPr>
          <a:xfrm>
            <a:off x="7863840" y="3931920"/>
            <a:ext cx="3611880" cy="2286000"/>
          </a:xfrm>
          <a:prstGeom prst="rect">
            <a:avLst/>
          </a:prstGeom>
          <a:noFill/>
          <a:ln/>
        </p:spPr>
        <p:txBody>
          <a:bodyPr wrap="square" lIns="0" tIns="0" rIns="0" bIns="0" rtlCol="0" anchor="t"/>
          <a:lstStyle/>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הירוק מובהק, האפור לא: רק עיצוב לצרכי התקרבות משנה את התפיסה</a:t>
            </a:r>
            <a:endParaRPr lang="he-IL" sz="1200" dirty="0"/>
          </a:p>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אפקטים בינוניים, אבל מעבר ליציבות גבוהה (0.61 עד 0.70) של המדדים עצמם</a:t>
            </a:r>
            <a:endParaRPr lang="he-IL" sz="1200" dirty="0"/>
          </a:p>
          <a:p>
            <a:pPr algn="r" marL="342900" indent="-342900">
              <a:spcAft>
                <a:spcPts val="500"/>
              </a:spcAft>
              <a:buSzPct val="100000"/>
              <a:buChar char="•"/>
            </a:pPr>
            <a:r>
              <a:rPr lang="he-IL" altLang="en-US" sz="1200" dirty="0">
                <a:solidFill>
                  <a:srgbClr val="1F2937"/>
                </a:solidFill>
                <a:latin typeface="Arial" pitchFamily="34" charset="0"/>
                <a:ea typeface="Arial" pitchFamily="34" charset="-122"/>
                <a:cs typeface="Arial" pitchFamily="34" charset="-120"/>
              </a:rPr>
              <a:t>ניתוח פאנל צולב: כיווניות בזמן, לא הוכחת סיבתיות</a:t>
            </a:r>
            <a:endParaRPr lang="he-IL" sz="1200" dirty="0"/>
          </a:p>
        </p:txBody>
      </p:sp>
      <p:sp>
        <p:nvSpPr>
          <p:cNvPr id="17" name="Text 1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8" name="Text 1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המשלים: הבינה המלאכותית, חוסר הביטחון וחוסן הקריירה</a:t>
            </a:r>
            <a:endParaRPr lang="he-IL" sz="3000" dirty="0"/>
          </a:p>
        </p:txBody>
      </p:sp>
      <p:sp>
        <p:nvSpPr>
          <p:cNvPr id="3" name="Text 1"/>
          <p:cNvSpPr txBox="1"/>
          <p:nvPr/>
        </p:nvSpPr>
        <p:spPr>
          <a:xfrm>
            <a:off x="548640" y="1143000"/>
            <a:ext cx="11091672" cy="365760"/>
          </a:xfrm>
          <a:prstGeom prst="rect">
            <a:avLst/>
          </a:prstGeom>
          <a:noFill/>
          <a:ln/>
        </p:spPr>
        <p:txBody>
          <a:bodyPr wrap="square" lIns="0" tIns="0" rIns="0" bIns="0" rtlCol="0" anchor="t"/>
          <a:lstStyle/>
          <a:p>
            <a:pPr algn="r" indent="0" marL="0">
              <a:buNone/>
            </a:pPr>
            <a:r>
              <a:rPr lang="en-US" sz="1300" i="1" dirty="0">
                <a:solidFill>
                  <a:srgbClr val="6B7280"/>
                </a:solidFill>
                <a:latin typeface="Arial" pitchFamily="34" charset="0"/>
                <a:ea typeface="Arial" pitchFamily="34" charset="-122"/>
                <a:cs typeface="Arial" pitchFamily="34" charset="-120"/>
              </a:rPr>
              <a:t>Chung, Im, Kim &amp; Yun (2025), Australian Journal of Psychology, Open Access</a:t>
            </a:r>
            <a:endParaRPr lang="en-US" sz="1300" dirty="0"/>
          </a:p>
        </p:txBody>
      </p:sp>
      <p:sp>
        <p:nvSpPr>
          <p:cNvPr id="4" name="Shape 2"/>
          <p:cNvSpPr/>
          <p:nvPr/>
        </p:nvSpPr>
        <p:spPr>
          <a:xfrm>
            <a:off x="8531352" y="1783080"/>
            <a:ext cx="31089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5" name="Text 3"/>
          <p:cNvSpPr txBox="1"/>
          <p:nvPr/>
        </p:nvSpPr>
        <p:spPr>
          <a:xfrm>
            <a:off x="871423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מודעות לבינה מלאכותית</a:t>
            </a:r>
            <a:endParaRPr lang="he-IL" sz="1600" dirty="0"/>
          </a:p>
        </p:txBody>
      </p:sp>
      <p:sp>
        <p:nvSpPr>
          <p:cNvPr id="6" name="Text 4"/>
          <p:cNvSpPr txBox="1"/>
          <p:nvPr/>
        </p:nvSpPr>
        <p:spPr>
          <a:xfrm>
            <a:off x="871423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"הטכנולוגיה עלולה להחליף אותי או לשנות את התפקיד"</a:t>
            </a:r>
            <a:endParaRPr lang="he-IL" sz="1200" dirty="0"/>
          </a:p>
        </p:txBody>
      </p:sp>
      <p:sp>
        <p:nvSpPr>
          <p:cNvPr id="7" name="Shape 5"/>
          <p:cNvSpPr/>
          <p:nvPr/>
        </p:nvSpPr>
        <p:spPr>
          <a:xfrm>
            <a:off x="7772400" y="2240280"/>
            <a:ext cx="640080" cy="548640"/>
          </a:xfrm>
          <a:prstGeom prst="leftArrow">
            <a:avLst/>
          </a:prstGeom>
          <a:solidFill>
            <a:srgbClr val="FCA311"/>
          </a:solidFill>
          <a:ln w="12700">
            <a:solidFill>
              <a:srgbClr val="FCA311"/>
            </a:solidFill>
            <a:prstDash val="solid"/>
          </a:ln>
        </p:spPr>
      </p:sp>
      <p:sp>
        <p:nvSpPr>
          <p:cNvPr id="8" name="Shape 6"/>
          <p:cNvSpPr/>
          <p:nvPr/>
        </p:nvSpPr>
        <p:spPr>
          <a:xfrm>
            <a:off x="4553712" y="1783080"/>
            <a:ext cx="3108960" cy="1463040"/>
          </a:xfrm>
          <a:prstGeom prst="roundRect">
            <a:avLst>
              <a:gd name="adj" fmla="val 7500"/>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473659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חוסר ביטחון תעסוקתי</a:t>
            </a:r>
            <a:endParaRPr lang="he-IL" sz="1600" dirty="0"/>
          </a:p>
        </p:txBody>
      </p:sp>
      <p:sp>
        <p:nvSpPr>
          <p:cNvPr id="10" name="Text 8"/>
          <p:cNvSpPr txBox="1"/>
          <p:nvPr/>
        </p:nvSpPr>
        <p:spPr>
          <a:xfrm>
            <a:off x="473659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המתווך</a:t>
            </a:r>
            <a:endParaRPr lang="he-IL" sz="1200" dirty="0"/>
          </a:p>
        </p:txBody>
      </p:sp>
      <p:sp>
        <p:nvSpPr>
          <p:cNvPr id="11" name="Shape 9"/>
          <p:cNvSpPr/>
          <p:nvPr/>
        </p:nvSpPr>
        <p:spPr>
          <a:xfrm>
            <a:off x="3794760" y="2240280"/>
            <a:ext cx="640080" cy="548640"/>
          </a:xfrm>
          <a:prstGeom prst="leftArrow">
            <a:avLst/>
          </a:prstGeom>
          <a:solidFill>
            <a:srgbClr val="FCA311"/>
          </a:solidFill>
          <a:ln w="12700">
            <a:solidFill>
              <a:srgbClr val="FCA311"/>
            </a:solidFill>
            <a:prstDash val="solid"/>
          </a:ln>
        </p:spPr>
      </p:sp>
      <p:sp>
        <p:nvSpPr>
          <p:cNvPr id="12" name="Shape 10"/>
          <p:cNvSpPr/>
          <p:nvPr/>
        </p:nvSpPr>
        <p:spPr>
          <a:xfrm>
            <a:off x="576072" y="1783080"/>
            <a:ext cx="3108960" cy="1463040"/>
          </a:xfrm>
          <a:prstGeom prst="roundRect">
            <a:avLst>
              <a:gd name="adj" fmla="val 7500"/>
            </a:avLst>
          </a:prstGeom>
          <a:solidFill>
            <a:srgbClr val="D9822B"/>
          </a:solidFill>
          <a:ln w="12700">
            <a:solidFill>
              <a:srgbClr val="D9822B"/>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75895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תוצאות</a:t>
            </a:r>
            <a:endParaRPr lang="he-IL" sz="1600" dirty="0"/>
          </a:p>
        </p:txBody>
      </p:sp>
      <p:sp>
        <p:nvSpPr>
          <p:cNvPr id="14" name="Text 12"/>
          <p:cNvSpPr txBox="1"/>
          <p:nvPr/>
        </p:nvSpPr>
        <p:spPr>
          <a:xfrm>
            <a:off x="75895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ירידה בביצועי משימה, עלייה בהתנהגות סוטה</a:t>
            </a:r>
            <a:endParaRPr lang="he-IL" sz="1200" dirty="0"/>
          </a:p>
        </p:txBody>
      </p:sp>
      <p:sp>
        <p:nvSpPr>
          <p:cNvPr id="15" name="Shape 13"/>
          <p:cNvSpPr/>
          <p:nvPr/>
        </p:nvSpPr>
        <p:spPr>
          <a:xfrm>
            <a:off x="6400800" y="3703320"/>
            <a:ext cx="3840480" cy="868680"/>
          </a:xfrm>
          <a:prstGeom prst="roundRect">
            <a:avLst>
              <a:gd name="adj" fmla="val 10526"/>
            </a:avLst>
          </a:prstGeom>
          <a:solidFill>
            <a:srgbClr val="2A9D8F"/>
          </a:solidFill>
          <a:ln w="12700">
            <a:solidFill>
              <a:srgbClr val="2A9D8F"/>
            </a:solidFill>
            <a:prstDash val="solid"/>
          </a:ln>
        </p:spPr>
      </p:sp>
      <p:sp>
        <p:nvSpPr>
          <p:cNvPr id="16" name="Text 14"/>
          <p:cNvSpPr txBox="1"/>
          <p:nvPr/>
        </p:nvSpPr>
        <p:spPr>
          <a:xfrm>
            <a:off x="6492240" y="3703320"/>
            <a:ext cx="3657600" cy="86868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חוסן קריירה: מחליש את הקשר</a:t>
            </a:r>
            <a:endParaRPr lang="he-IL" sz="1600" dirty="0"/>
          </a:p>
        </p:txBody>
      </p:sp>
      <p:sp>
        <p:nvSpPr>
          <p:cNvPr id="17" name="Shape 15"/>
          <p:cNvSpPr/>
          <p:nvPr/>
        </p:nvSpPr>
        <p:spPr>
          <a:xfrm>
            <a:off x="8092440" y="3291840"/>
            <a:ext cx="457200" cy="411480"/>
          </a:xfrm>
          <a:prstGeom prst="upArrow">
            <a:avLst/>
          </a:prstGeom>
          <a:solidFill>
            <a:srgbClr val="2A9D8F"/>
          </a:solidFill>
          <a:ln w="12700">
            <a:solidFill>
              <a:srgbClr val="2A9D8F"/>
            </a:solidFill>
            <a:prstDash val="solid"/>
          </a:ln>
        </p:spPr>
      </p:sp>
      <p:sp>
        <p:nvSpPr>
          <p:cNvPr id="18" name="Shape 16"/>
          <p:cNvSpPr/>
          <p:nvPr/>
        </p:nvSpPr>
        <p:spPr>
          <a:xfrm>
            <a:off x="548640" y="4800600"/>
            <a:ext cx="11091672" cy="1463040"/>
          </a:xfrm>
          <a:prstGeom prst="roundRect">
            <a:avLst>
              <a:gd name="adj" fmla="val 750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822960" y="4892040"/>
            <a:ext cx="10515600" cy="1325880"/>
          </a:xfrm>
          <a:prstGeom prst="rect">
            <a:avLst/>
          </a:prstGeom>
          <a:noFill/>
          <a:ln/>
        </p:spPr>
        <p:txBody>
          <a:bodyPr wrap="square" lIns="0" tIns="0" rIns="0" bIns="0" rtlCol="0" anchor="t"/>
          <a:lstStyle/>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מחקר אורך בשלוש נקודות זמן בקרב עובדי משרד במשרה מלאה בדרום קוריאה</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עצם המודעות לבינה מלאכותית, עוד לפני שינוי בפועל, מספיקה כדי לייצר חוסר ביטחון</a:t>
            </a:r>
            <a:endParaRPr lang="he-IL" sz="1350" dirty="0"/>
          </a:p>
          <a:p>
            <a:pPr algn="r" marL="342900" indent="-342900">
              <a:spcAft>
                <a:spcPts val="400"/>
              </a:spcAft>
              <a:buSzPct val="100000"/>
              <a:buChar char="•"/>
            </a:pPr>
            <a:r>
              <a:rPr lang="he-IL" altLang="en-US" sz="1350" dirty="0">
                <a:solidFill>
                  <a:srgbClr val="1F2937"/>
                </a:solidFill>
                <a:latin typeface="Arial" pitchFamily="34" charset="0"/>
                <a:ea typeface="Arial" pitchFamily="34" charset="-122"/>
                <a:cs typeface="Arial" pitchFamily="34" charset="-120"/>
              </a:rPr>
              <a:t>החיבור למאמר שלנו: המשלים מראה את האיום ואת המשאב שממתן אותו. המרכזי מראה איך בונים משאב כזה בפועל</a:t>
            </a:r>
            <a:endParaRPr lang="he-IL" sz="1350" dirty="0"/>
          </a:p>
        </p:txBody>
      </p:sp>
      <p:sp>
        <p:nvSpPr>
          <p:cNvPr id="20" name="Text 1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1" name="Text 1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התובנה המרכזית: המשאבים קודמים ליוזמה</a:t>
            </a:r>
            <a:endParaRPr lang="he-IL" sz="3000" dirty="0"/>
          </a:p>
        </p:txBody>
      </p:sp>
      <p:sp>
        <p:nvSpPr>
          <p:cNvPr id="3" name="Shape 1"/>
          <p:cNvSpPr/>
          <p:nvPr/>
        </p:nvSpPr>
        <p:spPr>
          <a:xfrm>
            <a:off x="8595360" y="1463040"/>
            <a:ext cx="3063240" cy="1417320"/>
          </a:xfrm>
          <a:prstGeom prst="roundRect">
            <a:avLst>
              <a:gd name="adj" fmla="val 7742"/>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77824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תחושת ניהוליות</a:t>
            </a:r>
            <a:endParaRPr lang="he-IL" sz="1450" dirty="0"/>
          </a:p>
        </p:txBody>
      </p:sp>
      <p:sp>
        <p:nvSpPr>
          <p:cNvPr id="5" name="Text 3"/>
          <p:cNvSpPr txBox="1"/>
          <p:nvPr/>
        </p:nvSpPr>
        <p:spPr>
          <a:xfrm>
            <a:off x="877824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"יש לי מספיק משאבים"</a:t>
            </a:r>
            <a:endParaRPr lang="he-IL" sz="1150" dirty="0"/>
          </a:p>
        </p:txBody>
      </p:sp>
      <p:sp>
        <p:nvSpPr>
          <p:cNvPr id="6" name="Shape 4"/>
          <p:cNvSpPr/>
          <p:nvPr/>
        </p:nvSpPr>
        <p:spPr>
          <a:xfrm>
            <a:off x="4572000" y="3246120"/>
            <a:ext cx="3063240" cy="1417320"/>
          </a:xfrm>
          <a:prstGeom prst="roundRect">
            <a:avLst>
              <a:gd name="adj" fmla="val 7742"/>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754880" y="335584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עיצוב תפקיד לצרכי התקרבות</a:t>
            </a:r>
            <a:endParaRPr lang="he-IL" sz="1450" dirty="0"/>
          </a:p>
        </p:txBody>
      </p:sp>
      <p:sp>
        <p:nvSpPr>
          <p:cNvPr id="8" name="Text 6"/>
          <p:cNvSpPr txBox="1"/>
          <p:nvPr/>
        </p:nvSpPr>
        <p:spPr>
          <a:xfrm>
            <a:off x="4754880" y="408736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β = 0.431: המנבא החזק ביותר במודל</a:t>
            </a:r>
            <a:endParaRPr lang="he-IL" sz="1150" dirty="0"/>
          </a:p>
        </p:txBody>
      </p:sp>
      <p:sp>
        <p:nvSpPr>
          <p:cNvPr id="9" name="Shape 7"/>
          <p:cNvSpPr/>
          <p:nvPr/>
        </p:nvSpPr>
        <p:spPr>
          <a:xfrm>
            <a:off x="548640" y="1463040"/>
            <a:ext cx="3063240" cy="1417320"/>
          </a:xfrm>
          <a:prstGeom prst="roundRect">
            <a:avLst>
              <a:gd name="adj" fmla="val 7742"/>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בהירות, שליטה ומשמעות</a:t>
            </a:r>
            <a:endParaRPr lang="he-IL" sz="1450" dirty="0"/>
          </a:p>
        </p:txBody>
      </p:sp>
      <p:sp>
        <p:nvSpPr>
          <p:cNvPr id="11" name="Text 9"/>
          <p:cNvSpPr txBox="1"/>
          <p:nvPr/>
        </p:nvSpPr>
        <p:spPr>
          <a:xfrm>
            <a:off x="73152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חצי שנה אחר כך</a:t>
            </a:r>
            <a:endParaRPr lang="he-IL" sz="1150" dirty="0"/>
          </a:p>
        </p:txBody>
      </p:sp>
      <p:sp>
        <p:nvSpPr>
          <p:cNvPr id="12" name="Shape 10"/>
          <p:cNvSpPr/>
          <p:nvPr/>
        </p:nvSpPr>
        <p:spPr>
          <a:xfrm rot="1800000">
            <a:off x="7726680" y="2697480"/>
            <a:ext cx="777240" cy="548640"/>
          </a:xfrm>
          <a:prstGeom prst="leftArrow">
            <a:avLst/>
          </a:prstGeom>
          <a:solidFill>
            <a:srgbClr val="FCA311"/>
          </a:solidFill>
          <a:ln w="12700">
            <a:solidFill>
              <a:srgbClr val="FCA311"/>
            </a:solidFill>
            <a:prstDash val="solid"/>
          </a:ln>
        </p:spPr>
      </p:sp>
      <p:sp>
        <p:nvSpPr>
          <p:cNvPr id="13" name="Shape 11"/>
          <p:cNvSpPr/>
          <p:nvPr/>
        </p:nvSpPr>
        <p:spPr>
          <a:xfrm rot="-1800000">
            <a:off x="3657600" y="2697480"/>
            <a:ext cx="777240" cy="548640"/>
          </a:xfrm>
          <a:prstGeom prst="leftArrow">
            <a:avLst/>
          </a:prstGeom>
          <a:solidFill>
            <a:srgbClr val="FCA311"/>
          </a:solidFill>
          <a:ln w="12700">
            <a:solidFill>
              <a:srgbClr val="FCA311"/>
            </a:solidFill>
            <a:prstDash val="solid"/>
          </a:ln>
        </p:spPr>
      </p:sp>
      <p:sp>
        <p:nvSpPr>
          <p:cNvPr id="14" name="Shape 12"/>
          <p:cNvSpPr/>
          <p:nvPr/>
        </p:nvSpPr>
        <p:spPr>
          <a:xfrm>
            <a:off x="5669280" y="1783080"/>
            <a:ext cx="868680" cy="548640"/>
          </a:xfrm>
          <a:prstGeom prst="rightArrow">
            <a:avLst/>
          </a:prstGeom>
          <a:solidFill>
            <a:srgbClr val="FCA311"/>
          </a:solidFill>
          <a:ln w="12700">
            <a:solidFill>
              <a:srgbClr val="FCA311"/>
            </a:solidFill>
            <a:prstDash val="solid"/>
          </a:ln>
        </p:spPr>
      </p:sp>
      <p:sp>
        <p:nvSpPr>
          <p:cNvPr id="15" name="Text 13"/>
          <p:cNvSpPr txBox="1"/>
          <p:nvPr/>
        </p:nvSpPr>
        <p:spPr>
          <a:xfrm>
            <a:off x="3931920" y="1234440"/>
            <a:ext cx="4297680" cy="45720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ספירלת רווח: חוזר להתחלה</a:t>
            </a:r>
            <a:endParaRPr lang="he-IL" sz="1200" dirty="0"/>
          </a:p>
        </p:txBody>
      </p:sp>
      <p:sp>
        <p:nvSpPr>
          <p:cNvPr id="16" name="Shape 14"/>
          <p:cNvSpPr/>
          <p:nvPr/>
        </p:nvSpPr>
        <p:spPr>
          <a:xfrm>
            <a:off x="548640" y="4892040"/>
            <a:ext cx="11091672" cy="1371600"/>
          </a:xfrm>
          <a:prstGeom prst="roundRect">
            <a:avLst>
              <a:gd name="adj" fmla="val 8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822960" y="4983480"/>
            <a:ext cx="10515600" cy="118872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ההיפוך: המטא-אנליזה של לוסטד ואחרים (Låstad et al., 2025) מראה שחוסר ביטחון מקטין יוזמה ופיתוח מיומנויות. מי שמרגיש שאין לו משאבים לא מעצב את תפקידו, אלא מגן על מה שנשאר. לכן בונים ניהוליות בתקופות של יציבות, לא מחכים לאיום.</a:t>
            </a:r>
            <a:endParaRPr lang="he-IL" sz="1400" dirty="0"/>
          </a:p>
        </p:txBody>
      </p:sp>
      <p:sp>
        <p:nvSpPr>
          <p:cNvPr id="18" name="Text 16"/>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9" name="Text 17"/>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תובנות, ביקורת ודעה אישית</a:t>
            </a:r>
            <a:endParaRPr lang="he-IL" sz="3000" dirty="0"/>
          </a:p>
        </p:txBody>
      </p:sp>
      <p:sp>
        <p:nvSpPr>
          <p:cNvPr id="3" name="Shape 1"/>
          <p:cNvSpPr/>
          <p:nvPr/>
        </p:nvSpPr>
        <p:spPr>
          <a:xfrm>
            <a:off x="6263640" y="1325880"/>
            <a:ext cx="5376672" cy="2926080"/>
          </a:xfrm>
          <a:prstGeom prst="roundRect">
            <a:avLst>
              <a:gd name="adj" fmla="val 3750"/>
            </a:avLst>
          </a:prstGeom>
          <a:solidFill>
            <a:srgbClr val="E8F5F1"/>
          </a:solidFill>
          <a:ln w="12700">
            <a:solidFill>
              <a:srgbClr val="E8F5F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2A9D8F"/>
                </a:solidFill>
                <a:latin typeface="Arial" pitchFamily="34" charset="0"/>
                <a:ea typeface="Arial" pitchFamily="34" charset="-122"/>
                <a:cs typeface="Arial" pitchFamily="34" charset="-120"/>
              </a:rPr>
              <a:t>👍 מה אהבנו</a:t>
            </a:r>
            <a:endParaRPr lang="he-IL" sz="1800" dirty="0"/>
          </a:p>
        </p:txBody>
      </p:sp>
      <p:sp>
        <p:nvSpPr>
          <p:cNvPr id="5" name="Text 3"/>
          <p:cNvSpPr txBox="1"/>
          <p:nvPr/>
        </p:nvSpPr>
        <p:spPr>
          <a:xfrm>
            <a:off x="6492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נקודת המבט: מה עוזר, לא רק מה מזיק. רעיון ישראלי מבן-גוריון</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פרקטי: שישה צרכים, שאלות פשוטות, פעולות לשבועיים</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כנות: כמעט עמוד שלם על מגבלות, כולל ממצא שקשה להם להסביר</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זמין לכולם בחינם</a:t>
            </a:r>
            <a:endParaRPr lang="he-IL" sz="1300" dirty="0"/>
          </a:p>
        </p:txBody>
      </p:sp>
      <p:sp>
        <p:nvSpPr>
          <p:cNvPr id="6" name="Shape 4"/>
          <p:cNvSpPr/>
          <p:nvPr/>
        </p:nvSpPr>
        <p:spPr>
          <a:xfrm>
            <a:off x="548640" y="1325880"/>
            <a:ext cx="5376672" cy="2926080"/>
          </a:xfrm>
          <a:prstGeom prst="roundRect">
            <a:avLst>
              <a:gd name="adj" fmla="val 3750"/>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777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E76F51"/>
                </a:solidFill>
                <a:latin typeface="Arial" pitchFamily="34" charset="0"/>
                <a:ea typeface="Arial" pitchFamily="34" charset="-122"/>
                <a:cs typeface="Arial" pitchFamily="34" charset="-120"/>
              </a:rPr>
              <a:t>🤔 מה חסר לנו</a:t>
            </a:r>
            <a:endParaRPr lang="he-IL" sz="1800" dirty="0"/>
          </a:p>
        </p:txBody>
      </p:sp>
      <p:sp>
        <p:nvSpPr>
          <p:cNvPr id="8" name="Text 6"/>
          <p:cNvSpPr txBox="1"/>
          <p:nvPr/>
        </p:nvSpPr>
        <p:spPr>
          <a:xfrm>
            <a:off x="777240" y="1920240"/>
            <a:ext cx="4937760" cy="2194560"/>
          </a:xfrm>
          <a:prstGeom prst="rect">
            <a:avLst/>
          </a:prstGeom>
          <a:noFill/>
          <a:ln/>
        </p:spPr>
        <p:txBody>
          <a:bodyPr wrap="square" lIns="0" tIns="0" rIns="0" bIns="0" rtlCol="0" anchor="t"/>
          <a:lstStyle/>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לא מודד חוסר ביטחון במישרין. את החיבור לנושא בנינו בעצמנו</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מדגם גרמני-שווייצרי, גיל ממוצע 49, ביטחון סוציאלי גבוה. האם המרחב לעצב תפקיד קיים גם אצלנו?</a:t>
            </a:r>
            <a:endParaRPr lang="he-IL" sz="1300" dirty="0"/>
          </a:p>
          <a:p>
            <a:pPr algn="r" marL="342900" indent="-342900">
              <a:spcAft>
                <a:spcPts val="500"/>
              </a:spcAft>
              <a:buSzPct val="100000"/>
              <a:buChar char="•"/>
            </a:pPr>
            <a:r>
              <a:rPr lang="he-IL" altLang="en-US" sz="1300" dirty="0">
                <a:solidFill>
                  <a:srgbClr val="1F2937"/>
                </a:solidFill>
                <a:latin typeface="Arial" pitchFamily="34" charset="0"/>
                <a:ea typeface="Arial" pitchFamily="34" charset="-122"/>
                <a:cs typeface="Arial" pitchFamily="34" charset="-120"/>
              </a:rPr>
              <a:t>שכירים בתפקיד קיים בלבד. לא מחפשי עבודה, לא עצמאים</a:t>
            </a:r>
            <a:endParaRPr lang="he-IL" sz="1300" dirty="0"/>
          </a:p>
        </p:txBody>
      </p:sp>
      <p:sp>
        <p:nvSpPr>
          <p:cNvPr id="9" name="Shape 7"/>
          <p:cNvSpPr/>
          <p:nvPr/>
        </p:nvSpPr>
        <p:spPr>
          <a:xfrm>
            <a:off x="548640" y="4480560"/>
            <a:ext cx="11091672" cy="1783080"/>
          </a:xfrm>
          <a:prstGeom prst="roundRect">
            <a:avLst>
              <a:gd name="adj" fmla="val 6154"/>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822960" y="457200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העמדה שלנו</a:t>
            </a:r>
            <a:endParaRPr lang="he-IL" sz="1700" dirty="0"/>
          </a:p>
        </p:txBody>
      </p:sp>
      <p:sp>
        <p:nvSpPr>
          <p:cNvPr id="11" name="Text 9"/>
          <p:cNvSpPr txBox="1"/>
          <p:nvPr/>
        </p:nvSpPr>
        <p:spPr>
          <a:xfrm>
            <a:off x="822960" y="4983480"/>
            <a:ext cx="10515600" cy="1234440"/>
          </a:xfrm>
          <a:prstGeom prst="rect">
            <a:avLst/>
          </a:prstGeom>
          <a:noFill/>
          <a:ln/>
        </p:spPr>
        <p:txBody>
          <a:bodyPr wrap="square" lIns="0" tIns="0" rIns="0" bIns="0" rtlCol="0" anchor="t"/>
          <a:lstStyle/>
          <a:p>
            <a:pPr rtl="1" algn="r" indent="0" marL="0">
              <a:buNone/>
            </a:pPr>
            <a:r>
              <a:rPr lang="he-IL" altLang="en-US" sz="1450" dirty="0">
                <a:solidFill>
                  <a:srgbClr val="FFFFFF"/>
                </a:solidFill>
                <a:latin typeface="Arial" pitchFamily="34" charset="0"/>
                <a:ea typeface="Arial" pitchFamily="34" charset="-122"/>
                <a:cs typeface="Arial" pitchFamily="34" charset="-120"/>
              </a:rPr>
              <a:t>המאמר משלים את "ממשבר להזדמנות" (דבדבני דקל, 2026ב): משבר לא הופך להזדמנות מעצמו, אלא כשמישהו מעצב אותו כך. אבל המסר צריך להיות כפול: לעצב את התפקיד עכשיו, כשעוד יש משאבים, ולזכור שמי שמרגיש שאין לו משאבים צריך קודם תמיכה ולא עצות.</a:t>
            </a:r>
            <a:endParaRPr lang="he-IL" sz="1450" dirty="0"/>
          </a:p>
        </p:txBody>
      </p:sp>
      <p:sp>
        <p:nvSpPr>
          <p:cNvPr id="12" name="Text 10"/>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3" name="Text 11"/>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סרטון: "3 הסודות של אנשים חסינים", Lucy Hone, TED</a:t>
            </a:r>
            <a:endParaRPr lang="he-IL" sz="3000" dirty="0"/>
          </a:p>
        </p:txBody>
      </p:sp>
      <p:sp>
        <p:nvSpPr>
          <p:cNvPr id="3" name="Shape 1"/>
          <p:cNvSpPr/>
          <p:nvPr/>
        </p:nvSpPr>
        <p:spPr>
          <a:xfrm>
            <a:off x="6309360" y="1463040"/>
            <a:ext cx="5330952" cy="3017520"/>
          </a:xfrm>
          <a:prstGeom prst="roundRect">
            <a:avLst>
              <a:gd name="adj" fmla="val 3636"/>
            </a:avLst>
          </a:prstGeom>
          <a:solidFill>
            <a:srgbClr val="0B1530"/>
          </a:solidFill>
          <a:ln w="12700">
            <a:solidFill>
              <a:srgbClr val="0B1530"/>
            </a:solidFill>
            <a:prstDash val="solid"/>
          </a:ln>
        </p:spPr>
      </p:sp>
      <p:sp>
        <p:nvSpPr>
          <p:cNvPr id="4" name="Shape 2"/>
          <p:cNvSpPr/>
          <p:nvPr/>
        </p:nvSpPr>
        <p:spPr>
          <a:xfrm>
            <a:off x="8412480" y="2377440"/>
            <a:ext cx="1143000" cy="1143000"/>
          </a:xfrm>
          <a:prstGeom prst="ellipse">
            <a:avLst/>
          </a:prstGeom>
          <a:solidFill>
            <a:srgbClr val="FCA311"/>
          </a:solidFill>
          <a:ln w="12700">
            <a:solidFill>
              <a:srgbClr val="FCA311"/>
            </a:solidFill>
            <a:prstDash val="solid"/>
          </a:ln>
        </p:spPr>
      </p:sp>
      <p:sp>
        <p:nvSpPr>
          <p:cNvPr id="5" name="Text 3"/>
          <p:cNvSpPr txBox="1"/>
          <p:nvPr/>
        </p:nvSpPr>
        <p:spPr>
          <a:xfrm>
            <a:off x="8412480" y="2377440"/>
            <a:ext cx="1143000" cy="1143000"/>
          </a:xfrm>
          <a:prstGeom prst="rect">
            <a:avLst/>
          </a:prstGeom>
          <a:noFill/>
          <a:ln/>
        </p:spPr>
        <p:txBody>
          <a:bodyPr wrap="square" lIns="0" tIns="0" rIns="0" bIns="0" rtlCol="0" anchor="ctr"/>
          <a:lstStyle/>
          <a:p>
            <a:pPr algn="ctr" indent="0" marL="0">
              <a:buNone/>
            </a:pPr>
            <a:r>
              <a:rPr lang="en-US" sz="3000" b="1" dirty="0">
                <a:solidFill>
                  <a:srgbClr val="14213D"/>
                </a:solidFill>
                <a:latin typeface="Arial" pitchFamily="34" charset="0"/>
                <a:ea typeface="Arial" pitchFamily="34" charset="-122"/>
                <a:cs typeface="Arial" pitchFamily="34" charset="-120"/>
              </a:rPr>
              <a:t>▶</a:t>
            </a:r>
            <a:endParaRPr lang="en-US" sz="3000" dirty="0"/>
          </a:p>
        </p:txBody>
      </p:sp>
      <p:sp>
        <p:nvSpPr>
          <p:cNvPr id="6" name="Text 4">
            <a:hlinkClick r:id="rId1" tooltip=""/>
          </p:cNvPr>
          <p:cNvSpPr txBox="1"/>
          <p:nvPr/>
        </p:nvSpPr>
        <p:spPr>
          <a:xfrm>
            <a:off x="6492240" y="3977640"/>
            <a:ext cx="4937760" cy="365760"/>
          </a:xfrm>
          <a:prstGeom prst="rect">
            <a:avLst/>
          </a:prstGeom>
          <a:noFill/>
          <a:ln/>
        </p:spPr>
        <p:txBody>
          <a:bodyPr wrap="square" lIns="0" tIns="0" rIns="0" bIns="0" rtlCol="0" anchor="ctr"/>
          <a:lstStyle/>
          <a:p>
            <a:pPr algn="ctr" indent="0" marL="0">
              <a:buNone/>
            </a:pPr>
            <a:r>
              <a:rPr lang="en-US" sz="1100" u="sng" dirty="0">
                <a:solidFill>
                  <a:srgbClr val="CAD3E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ted.com/talks/lucy_hone_the_three_secrets_of_resilient_people</a:t>
            </a:r>
            <a:endParaRPr lang="en-US" sz="1100" dirty="0"/>
          </a:p>
        </p:txBody>
      </p:sp>
      <p:sp>
        <p:nvSpPr>
          <p:cNvPr id="7" name="Text 5"/>
          <p:cNvSpPr txBox="1"/>
          <p:nvPr/>
        </p:nvSpPr>
        <p:spPr>
          <a:xfrm>
            <a:off x="731520" y="1463040"/>
            <a:ext cx="5212080" cy="457200"/>
          </a:xfrm>
          <a:prstGeom prst="rect">
            <a:avLst/>
          </a:prstGeom>
          <a:noFill/>
          <a:ln/>
        </p:spPr>
        <p:txBody>
          <a:bodyPr wrap="square" lIns="0" tIns="0" rIns="0" bIns="0" rtlCol="0" anchor="t"/>
          <a:lstStyle/>
          <a:p>
            <a:pPr rtl="1" algn="r" indent="0" marL="0">
              <a:buNone/>
            </a:pPr>
            <a:r>
              <a:rPr lang="he-IL" altLang="en-US" sz="1800" b="1" dirty="0">
                <a:solidFill>
                  <a:srgbClr val="FCA311"/>
                </a:solidFill>
                <a:latin typeface="Arial" pitchFamily="34" charset="0"/>
                <a:ea typeface="Arial" pitchFamily="34" charset="-122"/>
                <a:cs typeface="Arial" pitchFamily="34" charset="-120"/>
              </a:rPr>
              <a:t>מה לחפש בקטע (90 שניות):</a:t>
            </a:r>
            <a:endParaRPr lang="he-IL" sz="1800" dirty="0"/>
          </a:p>
        </p:txBody>
      </p:sp>
      <p:sp>
        <p:nvSpPr>
          <p:cNvPr id="8" name="Text 6"/>
          <p:cNvSpPr txBox="1"/>
          <p:nvPr/>
        </p:nvSpPr>
        <p:spPr>
          <a:xfrm>
            <a:off x="731520" y="1965960"/>
            <a:ext cx="5212080" cy="2560320"/>
          </a:xfrm>
          <a:prstGeom prst="rect">
            <a:avLst/>
          </a:prstGeom>
          <a:noFill/>
          <a:ln/>
        </p:spPr>
        <p:txBody>
          <a:bodyPr wrap="square" lIns="0" tIns="0" rIns="0" bIns="0" rtlCol="0" anchor="t"/>
          <a:lstStyle/>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"דברים רעים קורים": קבלת חוסר הוודאות כחלק מהחיים</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לבחור במה להתמקד: מה בשליטתי. זו המובנות והניהוליות</a:t>
            </a:r>
            <a:endParaRPr lang="he-IL" sz="1450" dirty="0"/>
          </a:p>
          <a:p>
            <a:pPr algn="r" marL="342900" indent="-342900">
              <a:spcAft>
                <a:spcPts val="800"/>
              </a:spcAft>
              <a:buSzPct val="100000"/>
              <a:buChar char="•"/>
            </a:pPr>
            <a:r>
              <a:rPr lang="he-IL" altLang="en-US" sz="1450" dirty="0">
                <a:solidFill>
                  <a:srgbClr val="FFFFFF"/>
                </a:solidFill>
                <a:latin typeface="Arial" pitchFamily="34" charset="0"/>
                <a:ea typeface="Arial" pitchFamily="34" charset="-122"/>
                <a:cs typeface="Arial" pitchFamily="34" charset="-120"/>
              </a:rPr>
              <a:t>"האם זה עוזר לי או פוגע בי?": האם אני מעצב את המצב או רק שורד אותו</a:t>
            </a:r>
            <a:endParaRPr lang="he-IL" sz="1450" dirty="0"/>
          </a:p>
        </p:txBody>
      </p:sp>
      <p:sp>
        <p:nvSpPr>
          <p:cNvPr id="9" name="Shape 7"/>
          <p:cNvSpPr/>
          <p:nvPr/>
        </p:nvSpPr>
        <p:spPr>
          <a:xfrm>
            <a:off x="731520" y="4800600"/>
            <a:ext cx="10908792" cy="1371600"/>
          </a:xfrm>
          <a:prstGeom prst="roundRect">
            <a:avLst>
              <a:gd name="adj" fmla="val 8000"/>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960120" y="4892040"/>
            <a:ext cx="10424160" cy="1188720"/>
          </a:xfrm>
          <a:prstGeom prst="rect">
            <a:avLst/>
          </a:prstGeom>
          <a:noFill/>
          <a:ln/>
        </p:spPr>
        <p:txBody>
          <a:bodyPr wrap="square" lIns="0" tIns="0" rIns="0" bIns="0" rtlCol="0" anchor="ctr"/>
          <a:lstStyle/>
          <a:p>
            <a:pPr rtl="1" algn="r" indent="0" marL="0">
              <a:buNone/>
            </a:pPr>
            <a:r>
              <a:rPr lang="he-IL" altLang="en-US" sz="1600" dirty="0">
                <a:solidFill>
                  <a:srgbClr val="FFFFFF"/>
                </a:solidFill>
                <a:latin typeface="Arial" pitchFamily="34" charset="0"/>
                <a:ea typeface="Arial" pitchFamily="34" charset="-122"/>
                <a:cs typeface="Arial" pitchFamily="34" charset="-120"/>
              </a:rPr>
              <a:t>שאלה לכיתה אחרי הסרטון: איזה מהשלושה הכי קשה לכם ליישם בהקשר של הקריירה? (הרמת ידיים)</a:t>
            </a:r>
            <a:endParaRPr lang="he-IL" sz="1600" dirty="0"/>
          </a:p>
        </p:txBody>
      </p:sp>
      <p:sp>
        <p:nvSpPr>
          <p:cNvPr id="11" name="Text 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2" name="Text 1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יישום: תוכנית עיצוב תפקיד אישית לפי ארבעת צרכי ההתקרבות</a:t>
            </a:r>
            <a:endParaRPr lang="he-IL"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5394960"/>
                <a:gridCol w="3566160"/>
                <a:gridCol w="2130552"/>
              </a:tblGrid>
              <a:tr h="457200">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דוגמאות לפעולה בשבועיים הקרובים</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שאלה מנחה</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הצורך</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לקבוע את סדר המשימות של הבוקר; להציע דרך משלי למשימה חוזרת; שעה קבועה ללא הפרעות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באילו החלטות קטנות אני יכול לבחור בעצמי?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2A9D8F"/>
                          </a:solidFill>
                          <a:latin typeface="Arial" pitchFamily="34" charset="0"/>
                          <a:ea typeface="Arial" pitchFamily="34" charset="-122"/>
                          <a:cs typeface="Arial" pitchFamily="34" charset="-120"/>
                        </a:rPr>
                        <a:t>אוטונומיה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משימה אחת מעט מעבר ליכולת; כלי בינה מלאכותית אחד בתחום; לתעד בסוף השבוע דבר אחד שלמדתי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אתגר בגובה הנכון יגרום לי להרגיש שאני מתקדם?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FCA311"/>
                          </a:solidFill>
                          <a:latin typeface="Arial" pitchFamily="34" charset="0"/>
                          <a:ea typeface="Arial" pitchFamily="34" charset="-122"/>
                          <a:cs typeface="Arial" pitchFamily="34" charset="-120"/>
                        </a:rPr>
                        <a:t>מיומנות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לזהות למי העבודה שלי עוזרת ולדבר איתו; לנסח במשפט למה התפקיד חשוב; להתנדב למשימה שמתחברת לערכים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חלק בעבודה מתחבר למה שחשוב לי, ואיך מגדילים אותו?</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E76F51"/>
                          </a:solidFill>
                          <a:latin typeface="Arial" pitchFamily="34" charset="0"/>
                          <a:ea typeface="Arial" pitchFamily="34" charset="-122"/>
                          <a:cs typeface="Arial" pitchFamily="34" charset="-120"/>
                        </a:rPr>
                        <a:t>משמעות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הפסקת קפה קבועה עם עמית; להציע עזרה לפני שמבקשים; להצטרף לפרויקט חוצה מחלקות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עם מי בעבודה אני רוצה קשר אמיתי יותר?</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14213D"/>
                          </a:solidFill>
                          <a:latin typeface="Arial" pitchFamily="34" charset="0"/>
                          <a:ea typeface="Arial" pitchFamily="34" charset="-122"/>
                          <a:cs typeface="Arial" pitchFamily="34" charset="-120"/>
                        </a:rPr>
                        <a:t>שייכות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5" name="Text 2"/>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מתחבר ל"שלושת סלי הכלים" מהקורס (דבדבני דקל, 2026א): רשת אנשים = שייכות, התפתחות = מיומנות, זהות מקצועית = משמעות. המאמר מוסיף אוטונומיה וראיה אמפירית</a:t>
            </a:r>
            <a:endParaRPr lang="he-IL" sz="1300" dirty="0"/>
          </a:p>
        </p:txBody>
      </p:sp>
      <p:sp>
        <p:nvSpPr>
          <p:cNvPr id="6"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7"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הפעלה (2 דקות): צורך אחד, פעולה אחת, מועד אחד</a:t>
            </a:r>
            <a:endParaRPr lang="he-IL" sz="3000" dirty="0"/>
          </a:p>
        </p:txBody>
      </p:sp>
      <p:sp>
        <p:nvSpPr>
          <p:cNvPr id="3" name="Shape 1"/>
          <p:cNvSpPr/>
          <p:nvPr/>
        </p:nvSpPr>
        <p:spPr>
          <a:xfrm>
            <a:off x="8988552"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9217152" y="1600200"/>
            <a:ext cx="2194560" cy="502920"/>
          </a:xfrm>
          <a:prstGeom prst="roundRect">
            <a:avLst>
              <a:gd name="adj" fmla="val 18182"/>
            </a:avLst>
          </a:prstGeom>
          <a:solidFill>
            <a:srgbClr val="2A9D8F"/>
          </a:solidFill>
          <a:ln w="12700">
            <a:solidFill>
              <a:srgbClr val="2A9D8F"/>
            </a:solidFill>
            <a:prstDash val="solid"/>
          </a:ln>
        </p:spPr>
      </p:sp>
      <p:sp>
        <p:nvSpPr>
          <p:cNvPr id="5" name="Text 3"/>
          <p:cNvSpPr txBox="1"/>
          <p:nvPr/>
        </p:nvSpPr>
        <p:spPr>
          <a:xfrm>
            <a:off x="9217152"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אוטונומיה</a:t>
            </a:r>
            <a:endParaRPr lang="he-IL" sz="1500" dirty="0"/>
          </a:p>
        </p:txBody>
      </p:sp>
      <p:sp>
        <p:nvSpPr>
          <p:cNvPr id="6" name="Text 4"/>
          <p:cNvSpPr txBox="1"/>
          <p:nvPr/>
        </p:nvSpPr>
        <p:spPr>
          <a:xfrm>
            <a:off x="9217152"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איזו החלטה קטנה בעבודה או בלימודים אני לוקח לידיים כבר השבוע?</a:t>
            </a:r>
            <a:endParaRPr lang="he-IL" sz="1300" dirty="0"/>
          </a:p>
        </p:txBody>
      </p:sp>
      <p:sp>
        <p:nvSpPr>
          <p:cNvPr id="7" name="Shape 5"/>
          <p:cNvSpPr/>
          <p:nvPr/>
        </p:nvSpPr>
        <p:spPr>
          <a:xfrm>
            <a:off x="6172200"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6"/>
          <p:cNvSpPr/>
          <p:nvPr/>
        </p:nvSpPr>
        <p:spPr>
          <a:xfrm>
            <a:off x="6400800" y="1600200"/>
            <a:ext cx="2194560" cy="502920"/>
          </a:xfrm>
          <a:prstGeom prst="roundRect">
            <a:avLst>
              <a:gd name="adj" fmla="val 18182"/>
            </a:avLst>
          </a:prstGeom>
          <a:solidFill>
            <a:srgbClr val="FCA311"/>
          </a:solidFill>
          <a:ln w="12700">
            <a:solidFill>
              <a:srgbClr val="FCA311"/>
            </a:solidFill>
            <a:prstDash val="solid"/>
          </a:ln>
        </p:spPr>
      </p:sp>
      <p:sp>
        <p:nvSpPr>
          <p:cNvPr id="9" name="Text 7"/>
          <p:cNvSpPr txBox="1"/>
          <p:nvPr/>
        </p:nvSpPr>
        <p:spPr>
          <a:xfrm>
            <a:off x="6400800"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מיומנות</a:t>
            </a:r>
            <a:endParaRPr lang="he-IL" sz="1500" dirty="0"/>
          </a:p>
        </p:txBody>
      </p:sp>
      <p:sp>
        <p:nvSpPr>
          <p:cNvPr id="10" name="Text 8"/>
          <p:cNvSpPr txBox="1"/>
          <p:nvPr/>
        </p:nvSpPr>
        <p:spPr>
          <a:xfrm>
            <a:off x="6400800"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איזה אתגר אחד, מעט מעבר ליכולת הנוכחית, אני לוקח על עצמי בשבועיים הקרובים?</a:t>
            </a:r>
            <a:endParaRPr lang="he-IL" sz="1300" dirty="0"/>
          </a:p>
        </p:txBody>
      </p:sp>
      <p:sp>
        <p:nvSpPr>
          <p:cNvPr id="11" name="Shape 9"/>
          <p:cNvSpPr/>
          <p:nvPr/>
        </p:nvSpPr>
        <p:spPr>
          <a:xfrm>
            <a:off x="3355848"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2" name="Shape 10"/>
          <p:cNvSpPr/>
          <p:nvPr/>
        </p:nvSpPr>
        <p:spPr>
          <a:xfrm>
            <a:off x="3584448" y="1600200"/>
            <a:ext cx="2194560" cy="502920"/>
          </a:xfrm>
          <a:prstGeom prst="roundRect">
            <a:avLst>
              <a:gd name="adj" fmla="val 18182"/>
            </a:avLst>
          </a:prstGeom>
          <a:solidFill>
            <a:srgbClr val="E76F51"/>
          </a:solidFill>
          <a:ln w="12700">
            <a:solidFill>
              <a:srgbClr val="E76F51"/>
            </a:solidFill>
            <a:prstDash val="solid"/>
          </a:ln>
        </p:spPr>
      </p:sp>
      <p:sp>
        <p:nvSpPr>
          <p:cNvPr id="13" name="Text 11"/>
          <p:cNvSpPr txBox="1"/>
          <p:nvPr/>
        </p:nvSpPr>
        <p:spPr>
          <a:xfrm>
            <a:off x="3584448"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משמעות</a:t>
            </a:r>
            <a:endParaRPr lang="he-IL" sz="1500" dirty="0"/>
          </a:p>
        </p:txBody>
      </p:sp>
      <p:sp>
        <p:nvSpPr>
          <p:cNvPr id="14" name="Text 12"/>
          <p:cNvSpPr txBox="1"/>
          <p:nvPr/>
        </p:nvSpPr>
        <p:spPr>
          <a:xfrm>
            <a:off x="3584448"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למי העבודה שלי עוזרת, ומתי בפעם האחרונה דיברתי איתו?</a:t>
            </a:r>
            <a:endParaRPr lang="he-IL" sz="1300" dirty="0"/>
          </a:p>
        </p:txBody>
      </p:sp>
      <p:sp>
        <p:nvSpPr>
          <p:cNvPr id="15" name="Shape 13"/>
          <p:cNvSpPr/>
          <p:nvPr/>
        </p:nvSpPr>
        <p:spPr>
          <a:xfrm>
            <a:off x="539496"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768096" y="1600200"/>
            <a:ext cx="2194560" cy="502920"/>
          </a:xfrm>
          <a:prstGeom prst="roundRect">
            <a:avLst>
              <a:gd name="adj" fmla="val 18182"/>
            </a:avLst>
          </a:prstGeom>
          <a:solidFill>
            <a:srgbClr val="14213D"/>
          </a:solidFill>
          <a:ln w="12700">
            <a:solidFill>
              <a:srgbClr val="14213D"/>
            </a:solidFill>
            <a:prstDash val="solid"/>
          </a:ln>
        </p:spPr>
      </p:sp>
      <p:sp>
        <p:nvSpPr>
          <p:cNvPr id="17" name="Text 15"/>
          <p:cNvSpPr txBox="1"/>
          <p:nvPr/>
        </p:nvSpPr>
        <p:spPr>
          <a:xfrm>
            <a:off x="768096"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שייכות</a:t>
            </a:r>
            <a:endParaRPr lang="he-IL" sz="1500" dirty="0"/>
          </a:p>
        </p:txBody>
      </p:sp>
      <p:sp>
        <p:nvSpPr>
          <p:cNvPr id="18" name="Text 16"/>
          <p:cNvSpPr txBox="1"/>
          <p:nvPr/>
        </p:nvSpPr>
        <p:spPr>
          <a:xfrm>
            <a:off x="768096"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עם מי בעבודה אני רוצה קשר אמיתי יותר, ומה הצעד הראשון?</a:t>
            </a:r>
            <a:endParaRPr lang="he-IL" sz="1300" dirty="0"/>
          </a:p>
        </p:txBody>
      </p:sp>
      <p:sp>
        <p:nvSpPr>
          <p:cNvPr id="19" name="Shape 17"/>
          <p:cNvSpPr/>
          <p:nvPr/>
        </p:nvSpPr>
        <p:spPr>
          <a:xfrm>
            <a:off x="548640" y="3977640"/>
            <a:ext cx="11091672" cy="2286000"/>
          </a:xfrm>
          <a:prstGeom prst="roundRect">
            <a:avLst>
              <a:gd name="adj" fmla="val 48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406908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שלושה שלבים:</a:t>
            </a:r>
            <a:endParaRPr lang="he-IL" sz="1700" dirty="0"/>
          </a:p>
        </p:txBody>
      </p:sp>
      <p:sp>
        <p:nvSpPr>
          <p:cNvPr id="21" name="Shape 19"/>
          <p:cNvSpPr/>
          <p:nvPr/>
        </p:nvSpPr>
        <p:spPr>
          <a:xfrm>
            <a:off x="10835640" y="4617720"/>
            <a:ext cx="411480" cy="411480"/>
          </a:xfrm>
          <a:prstGeom prst="ellipse">
            <a:avLst/>
          </a:prstGeom>
          <a:solidFill>
            <a:srgbClr val="FCA311"/>
          </a:solidFill>
          <a:ln w="12700">
            <a:solidFill>
              <a:srgbClr val="FCA311"/>
            </a:solidFill>
            <a:prstDash val="solid"/>
          </a:ln>
        </p:spPr>
      </p:sp>
      <p:sp>
        <p:nvSpPr>
          <p:cNvPr id="22" name="Text 20"/>
          <p:cNvSpPr txBox="1"/>
          <p:nvPr/>
        </p:nvSpPr>
        <p:spPr>
          <a:xfrm>
            <a:off x="10835640" y="461772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1</a:t>
            </a:r>
            <a:endParaRPr lang="en-US" sz="1400" dirty="0"/>
          </a:p>
        </p:txBody>
      </p:sp>
      <p:sp>
        <p:nvSpPr>
          <p:cNvPr id="23" name="Text 21"/>
          <p:cNvSpPr txBox="1"/>
          <p:nvPr/>
        </p:nvSpPr>
        <p:spPr>
          <a:xfrm>
            <a:off x="822960" y="457200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בוחרים כרטיסייה אחת (30 שניות)</a:t>
            </a:r>
            <a:endParaRPr lang="he-IL" sz="1500" dirty="0"/>
          </a:p>
        </p:txBody>
      </p:sp>
      <p:sp>
        <p:nvSpPr>
          <p:cNvPr id="24" name="Shape 22"/>
          <p:cNvSpPr/>
          <p:nvPr/>
        </p:nvSpPr>
        <p:spPr>
          <a:xfrm>
            <a:off x="10835640" y="5166360"/>
            <a:ext cx="411480" cy="411480"/>
          </a:xfrm>
          <a:prstGeom prst="ellipse">
            <a:avLst/>
          </a:prstGeom>
          <a:solidFill>
            <a:srgbClr val="FCA311"/>
          </a:solidFill>
          <a:ln w="12700">
            <a:solidFill>
              <a:srgbClr val="FCA311"/>
            </a:solidFill>
            <a:prstDash val="solid"/>
          </a:ln>
        </p:spPr>
      </p:sp>
      <p:sp>
        <p:nvSpPr>
          <p:cNvPr id="25" name="Text 23"/>
          <p:cNvSpPr txBox="1"/>
          <p:nvPr/>
        </p:nvSpPr>
        <p:spPr>
          <a:xfrm>
            <a:off x="10835640" y="516636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2</a:t>
            </a:r>
            <a:endParaRPr lang="en-US" sz="1400" dirty="0"/>
          </a:p>
        </p:txBody>
      </p:sp>
      <p:sp>
        <p:nvSpPr>
          <p:cNvPr id="26" name="Text 24"/>
          <p:cNvSpPr txBox="1"/>
          <p:nvPr/>
        </p:nvSpPr>
        <p:spPr>
          <a:xfrm>
            <a:off x="822960" y="512064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כותבים פעולה אחת קונקרטית ומועד לביצועה (60 שניות)</a:t>
            </a:r>
            <a:endParaRPr lang="he-IL" sz="1500" dirty="0"/>
          </a:p>
        </p:txBody>
      </p:sp>
      <p:sp>
        <p:nvSpPr>
          <p:cNvPr id="27" name="Shape 25"/>
          <p:cNvSpPr/>
          <p:nvPr/>
        </p:nvSpPr>
        <p:spPr>
          <a:xfrm>
            <a:off x="10835640" y="5715000"/>
            <a:ext cx="411480" cy="411480"/>
          </a:xfrm>
          <a:prstGeom prst="ellipse">
            <a:avLst/>
          </a:prstGeom>
          <a:solidFill>
            <a:srgbClr val="FCA311"/>
          </a:solidFill>
          <a:ln w="12700">
            <a:solidFill>
              <a:srgbClr val="FCA311"/>
            </a:solidFill>
            <a:prstDash val="solid"/>
          </a:ln>
        </p:spPr>
      </p:sp>
      <p:sp>
        <p:nvSpPr>
          <p:cNvPr id="28" name="Text 26"/>
          <p:cNvSpPr txBox="1"/>
          <p:nvPr/>
        </p:nvSpPr>
        <p:spPr>
          <a:xfrm>
            <a:off x="10835640" y="571500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822960" y="566928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משתפים את השכן במשפט אחד (30 שניות). נשמע 2 עד 3 דוגמאות מהכיתה</a:t>
            </a:r>
            <a:endParaRPr lang="he-IL" sz="1500" dirty="0"/>
          </a:p>
        </p:txBody>
      </p:sp>
      <p:sp>
        <p:nvSpPr>
          <p:cNvPr id="30" name="Text 2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1" name="Text 2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645920" y="-1645920"/>
            <a:ext cx="4114800" cy="4114800"/>
          </a:xfrm>
          <a:prstGeom prst="ellipse">
            <a:avLst/>
          </a:prstGeom>
          <a:solidFill>
            <a:srgbClr val="1D2E52"/>
          </a:solidFill>
          <a:ln w="12700">
            <a:solidFill>
              <a:srgbClr val="1D2E52"/>
            </a:solidFill>
            <a:prstDash val="solid"/>
          </a:ln>
        </p:spPr>
      </p:sp>
      <p:sp>
        <p:nvSpPr>
          <p:cNvPr id="3" name="Text 1"/>
          <p:cNvSpPr txBox="1"/>
          <p:nvPr/>
        </p:nvSpPr>
        <p:spPr>
          <a:xfrm>
            <a:off x="731520" y="548640"/>
            <a:ext cx="10698480" cy="640080"/>
          </a:xfrm>
          <a:prstGeom prst="rect">
            <a:avLst/>
          </a:prstGeom>
          <a:noFill/>
          <a:ln/>
        </p:spPr>
        <p:txBody>
          <a:bodyPr wrap="square" lIns="0" tIns="0" rIns="0" bIns="0" rtlCol="0" anchor="t"/>
          <a:lstStyle/>
          <a:p>
            <a:pPr rtl="1" algn="r" indent="0" marL="0">
              <a:buNone/>
            </a:pPr>
            <a:r>
              <a:rPr lang="he-IL" altLang="en-US" sz="2000" dirty="0">
                <a:solidFill>
                  <a:srgbClr val="CAD3E5"/>
                </a:solidFill>
                <a:latin typeface="Arial" pitchFamily="34" charset="0"/>
                <a:ea typeface="Arial" pitchFamily="34" charset="-122"/>
                <a:cs typeface="Arial" pitchFamily="34" charset="-120"/>
              </a:rPr>
              <a:t>המסר שלנו לכיתה</a:t>
            </a:r>
            <a:endParaRPr lang="he-IL" sz="2000" dirty="0"/>
          </a:p>
        </p:txBody>
      </p:sp>
      <p:sp>
        <p:nvSpPr>
          <p:cNvPr id="4" name="Text 2"/>
          <p:cNvSpPr txBox="1"/>
          <p:nvPr/>
        </p:nvSpPr>
        <p:spPr>
          <a:xfrm>
            <a:off x="731520" y="1188720"/>
            <a:ext cx="10698480" cy="1737360"/>
          </a:xfrm>
          <a:prstGeom prst="rect">
            <a:avLst/>
          </a:prstGeom>
          <a:noFill/>
          <a:ln/>
        </p:spPr>
        <p:txBody>
          <a:bodyPr wrap="square" lIns="0" tIns="0" rIns="0" bIns="0" rtlCol="0" anchor="ctr"/>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את חוסר הוודאות לא תמיד אפשר למנוע.</a:t>
            </a:r>
            <a:endParaRPr lang="he-IL" sz="3200" dirty="0"/>
          </a:p>
          <a:p>
            <a:pPr rtl="1" algn="r" indent="0" marL="0">
              <a:buNone/>
            </a:pPr>
            <a:r>
              <a:rPr lang="he-IL" altLang="en-US" sz="3200" b="1" dirty="0">
                <a:solidFill>
                  <a:srgbClr val="FFFFFF"/>
                </a:solidFill>
                <a:latin typeface="Arial" pitchFamily="34" charset="0"/>
                <a:ea typeface="Arial" pitchFamily="34" charset="-122"/>
                <a:cs typeface="Arial" pitchFamily="34" charset="-120"/>
              </a:rPr>
              <a:t>את הבהירות, השליטה והמשמעות בתוך התפקיד אפשר לבנות.</a:t>
            </a:r>
            <a:endParaRPr lang="he-IL" sz="3200" dirty="0"/>
          </a:p>
        </p:txBody>
      </p:sp>
      <p:sp>
        <p:nvSpPr>
          <p:cNvPr id="5" name="Shape 3"/>
          <p:cNvSpPr/>
          <p:nvPr/>
        </p:nvSpPr>
        <p:spPr>
          <a:xfrm>
            <a:off x="8028432"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6" name="Shape 4"/>
          <p:cNvSpPr/>
          <p:nvPr/>
        </p:nvSpPr>
        <p:spPr>
          <a:xfrm>
            <a:off x="10680192" y="3520440"/>
            <a:ext cx="502920" cy="502920"/>
          </a:xfrm>
          <a:prstGeom prst="ellipse">
            <a:avLst/>
          </a:prstGeom>
          <a:solidFill>
            <a:srgbClr val="FCA311"/>
          </a:solidFill>
          <a:ln w="12700">
            <a:solidFill>
              <a:srgbClr val="FCA311"/>
            </a:solidFill>
            <a:prstDash val="solid"/>
          </a:ln>
        </p:spPr>
      </p:sp>
      <p:sp>
        <p:nvSpPr>
          <p:cNvPr id="7" name="Text 5"/>
          <p:cNvSpPr txBox="1"/>
          <p:nvPr/>
        </p:nvSpPr>
        <p:spPr>
          <a:xfrm>
            <a:off x="10680192"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8257032"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מה שעושים משנה</a:t>
            </a:r>
            <a:endParaRPr lang="he-IL" sz="1600" dirty="0"/>
          </a:p>
        </p:txBody>
      </p:sp>
      <p:sp>
        <p:nvSpPr>
          <p:cNvPr id="9" name="Text 7"/>
          <p:cNvSpPr txBox="1"/>
          <p:nvPr/>
        </p:nvSpPr>
        <p:spPr>
          <a:xfrm>
            <a:off x="8257032"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924 עובדים: עיצוב תפקיד לצרכי התקרבות ניבא עבודה מובנת, בשליטה ומשמעותית יותר חצי שנה אחר כך</a:t>
            </a:r>
            <a:endParaRPr lang="he-IL" sz="1300" dirty="0"/>
          </a:p>
        </p:txBody>
      </p:sp>
      <p:sp>
        <p:nvSpPr>
          <p:cNvPr id="10" name="Shape 8"/>
          <p:cNvSpPr/>
          <p:nvPr/>
        </p:nvSpPr>
        <p:spPr>
          <a:xfrm>
            <a:off x="4398264"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7050024" y="3520440"/>
            <a:ext cx="502920" cy="502920"/>
          </a:xfrm>
          <a:prstGeom prst="ellipse">
            <a:avLst/>
          </a:prstGeom>
          <a:solidFill>
            <a:srgbClr val="FCA311"/>
          </a:solidFill>
          <a:ln w="12700">
            <a:solidFill>
              <a:srgbClr val="FCA311"/>
            </a:solidFill>
            <a:prstDash val="solid"/>
          </a:ln>
        </p:spPr>
      </p:sp>
      <p:sp>
        <p:nvSpPr>
          <p:cNvPr id="12" name="Text 10"/>
          <p:cNvSpPr txBox="1"/>
          <p:nvPr/>
        </p:nvSpPr>
        <p:spPr>
          <a:xfrm>
            <a:off x="7050024"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4626864"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להתקרב, לא רק להימנע</a:t>
            </a:r>
            <a:endParaRPr lang="he-IL" sz="1600" dirty="0"/>
          </a:p>
        </p:txBody>
      </p:sp>
      <p:sp>
        <p:nvSpPr>
          <p:cNvPr id="14" name="Text 12"/>
          <p:cNvSpPr txBox="1"/>
          <p:nvPr/>
        </p:nvSpPr>
        <p:spPr>
          <a:xfrm>
            <a:off x="4626864"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לנוח ולהתנתק חשוב להתאוששות, אבל לא משנה איך העבודה נתפסת</a:t>
            </a:r>
            <a:endParaRPr lang="he-IL" sz="1300" dirty="0"/>
          </a:p>
        </p:txBody>
      </p:sp>
      <p:sp>
        <p:nvSpPr>
          <p:cNvPr id="15" name="Shape 13"/>
          <p:cNvSpPr/>
          <p:nvPr/>
        </p:nvSpPr>
        <p:spPr>
          <a:xfrm>
            <a:off x="768096"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419856" y="35204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419856"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996696"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המשאבים קודמים ליוזמה</a:t>
            </a:r>
            <a:endParaRPr lang="he-IL" sz="1600" dirty="0"/>
          </a:p>
        </p:txBody>
      </p:sp>
      <p:sp>
        <p:nvSpPr>
          <p:cNvPr id="19" name="Text 17"/>
          <p:cNvSpPr txBox="1"/>
          <p:nvPr/>
        </p:nvSpPr>
        <p:spPr>
          <a:xfrm>
            <a:off x="996696"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ניהוליות מנבאת עיצוב תפקיד. בונים אותה עכשיו, לפני שהאיום מדלדל אותה</a:t>
            </a:r>
            <a:endParaRPr lang="he-IL" sz="1300" dirty="0"/>
          </a:p>
        </p:txBody>
      </p:sp>
      <p:sp>
        <p:nvSpPr>
          <p:cNvPr id="20" name="Text 18"/>
          <p:cNvSpPr txBox="1"/>
          <p:nvPr/>
        </p:nvSpPr>
        <p:spPr>
          <a:xfrm>
            <a:off x="731520" y="5806440"/>
            <a:ext cx="10698480" cy="548640"/>
          </a:xfrm>
          <a:prstGeom prst="rect">
            <a:avLst/>
          </a:prstGeom>
          <a:noFill/>
          <a:ln/>
        </p:spPr>
        <p:txBody>
          <a:bodyPr wrap="square" lIns="0" tIns="0" rIns="0" bIns="0" rtlCol="0" anchor="t"/>
          <a:lstStyle/>
          <a:p>
            <a:pPr rtl="1" algn="r" indent="0" marL="0">
              <a:buNone/>
            </a:pPr>
            <a:r>
              <a:rPr lang="he-IL" altLang="en-US" sz="2200" b="1" dirty="0">
                <a:solidFill>
                  <a:srgbClr val="FFFFFF"/>
                </a:solidFill>
                <a:latin typeface="Arial" pitchFamily="34" charset="0"/>
                <a:ea typeface="Arial" pitchFamily="34" charset="-122"/>
                <a:cs typeface="Arial" pitchFamily="34" charset="-120"/>
              </a:rPr>
              <a:t>תודה! שאלות?</a:t>
            </a:r>
            <a:endParaRPr lang="he-IL" sz="22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רשימת מקורות (APA)</a:t>
            </a:r>
            <a:endParaRPr lang="he-IL" sz="3000" dirty="0"/>
          </a:p>
        </p:txBody>
      </p:sp>
      <p:sp>
        <p:nvSpPr>
          <p:cNvPr id="3" name="Text 1"/>
          <p:cNvSpPr txBox="1"/>
          <p:nvPr/>
        </p:nvSpPr>
        <p:spPr>
          <a:xfrm>
            <a:off x="548640" y="1188720"/>
            <a:ext cx="11091672" cy="2926080"/>
          </a:xfrm>
          <a:prstGeom prst="rect">
            <a:avLst/>
          </a:prstGeom>
          <a:noFill/>
          <a:ln/>
        </p:spPr>
        <p:txBody>
          <a:bodyPr wrap="square" lIns="0" tIns="0" rIns="0" bIns="0" rtlCol="0" anchor="t"/>
          <a:lstStyle/>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Antonovsky, A. (1987). Unraveling the mystery of health: How people manage stress and stay well. Jossey-Bass.</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Hone, L. (2019). 3 secrets of resilient people [Video]. TED Conferences. https://www.ted.com/talks/lucy_hone_the_three_secrets_of_resilient_people</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Låstad, L., Pienaar, J., Näswall, K., Richter, A., Hellgren, J., &amp; Sverke, M. (2025). Moving on up now? A meta-analysis of the associations between job insecurity and career-related outcomes. Scandinavian Journal of Work and Organizational Psychology, 10(1), Article 2. https://doi.org/10.16993/sjwop.275</a:t>
            </a:r>
            <a:endParaRPr lang="en-US" sz="1100" dirty="0"/>
          </a:p>
        </p:txBody>
      </p:sp>
      <p:sp>
        <p:nvSpPr>
          <p:cNvPr id="4" name="Text 2"/>
          <p:cNvSpPr txBox="1"/>
          <p:nvPr/>
        </p:nvSpPr>
        <p:spPr>
          <a:xfrm>
            <a:off x="548640" y="4297680"/>
            <a:ext cx="11091672" cy="2011680"/>
          </a:xfrm>
          <a:prstGeom prst="rect">
            <a:avLst/>
          </a:prstGeom>
          <a:noFill/>
          <a:ln/>
        </p:spPr>
        <p:txBody>
          <a:bodyPr wrap="square" lIns="0" tIns="0" rIns="0" bIns="0" rtlCol="0" anchor="t"/>
          <a:lstStyle/>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בנק ישראל. (2025, 11 במרץ). ההשפעה הצפויה של בינה מלאכותית יוצרת על העובדים: השלכות על המדיניות בשוק העבודה [תיבה מתוך דוח בנק ישראל לשנת 2024]. https://www.boi.org.il/publications/pressreleases/11-3-25/</a:t>
            </a:r>
            <a:endParaRPr lang="he-IL" sz="1100" dirty="0"/>
          </a:p>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דבדבני דקל, מ' (2026א). מחזון ורעיון למציאות ממשית [מצגת הרצאה]. ניהול קריירה בארגונים, הקריה האקדמית אונו.</a:t>
            </a:r>
            <a:endParaRPr lang="he-IL" sz="1100" dirty="0"/>
          </a:p>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דבדבני דקל, מ' (2026ב). עסקים בצל הקורונה: ממשבר להזדמנות, איך עושים את זה? [מצגת הרצאה]. ניהול קריירה בארגונים, הקריה האקדמית אונו.</a:t>
            </a:r>
            <a:endParaRPr lang="he-IL" sz="1100" dirty="0"/>
          </a:p>
          <a:p>
            <a:pPr algn="r" indent="0" marL="0">
              <a:buNone/>
            </a:pPr>
            <a:r>
              <a:rPr lang="he-IL" altLang="en-US" sz="1100" dirty="0">
                <a:solidFill>
                  <a:srgbClr val="1F2937"/>
                </a:solidFill>
                <a:latin typeface="Arial" pitchFamily="34" charset="0"/>
                <a:ea typeface="Arial" pitchFamily="34" charset="-122"/>
                <a:cs typeface="Arial" pitchFamily="34" charset="-120"/>
              </a:rPr>
              <a:t>הקשיים של מנהלי הייטק ב-2026: גיוס עובדים מתאימים והתייעלות AI. (2026, 21 ביוני). TheMarker.</a:t>
            </a:r>
            <a:endParaRPr lang="he-IL" sz="1100" dirty="0"/>
          </a:p>
        </p:txBody>
      </p:sp>
      <p:sp>
        <p:nvSpPr>
          <p:cNvPr id="5"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6"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2026-09-17T15:09:19Z</dcterms:created>
  <dcterms:modified xsi:type="dcterms:W3CDTF">2026-09-17T15:09:19Z</dcterms:modified>
</cp:coreProperties>
</file>