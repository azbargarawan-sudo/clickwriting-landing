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00000"/>
                </a:solidFill>
                <a:latin typeface="David"/>
              </a:defRPr>
            </a:pPr>
            <a:r>
              <a:rPr sz="1100" b="0" i="0" u="none" strike="noStrike">
                <a:solidFill>
                  <a:srgbClr val="000000"/>
                </a:solidFill>
                <a:latin typeface="David"/>
              </a:rPr>
              <a:t>תרשים 1: מקדמי ניבוי מתוקננים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404040"/>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BFBFBF"/>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המגישים והנושא.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כהות (התקרבות) מול בהירות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שהערכנו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שורה אחת בטבלה,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clickwriting-landing/d2627f80-c93a-5206-ba5d-647532b375c9/scratchpad/ono-logo.jpg">    </p:cNvPr>
          <p:cNvPicPr>
            <a:picLocks noChangeAspect="1"/>
          </p:cNvPicPr>
          <p:nvPr/>
        </p:nvPicPr>
        <p:blipFill>
          <a:blip r:embed="rId1"/>
          <a:stretch>
            <a:fillRect/>
          </a:stretch>
        </p:blipFill>
        <p:spPr>
          <a:xfrm>
            <a:off x="5413248" y="320040"/>
            <a:ext cx="1371600" cy="1371600"/>
          </a:xfrm>
          <a:prstGeom prst="rect">
            <a:avLst/>
          </a:prstGeom>
        </p:spPr>
      </p:pic>
      <p:sp>
        <p:nvSpPr>
          <p:cNvPr id="3" name="Text 0"/>
          <p:cNvSpPr txBox="1"/>
          <p:nvPr/>
        </p:nvSpPr>
        <p:spPr>
          <a:xfrm>
            <a:off x="640080" y="178308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הקריה האקדמית אונו, הפקולטה למנהל עסקים</a:t>
            </a:r>
            <a:endParaRPr lang="he-IL" sz="1800" dirty="0"/>
          </a:p>
        </p:txBody>
      </p:sp>
      <p:sp>
        <p:nvSpPr>
          <p:cNvPr id="4" name="Text 1"/>
          <p:cNvSpPr txBox="1"/>
          <p:nvPr/>
        </p:nvSpPr>
        <p:spPr>
          <a:xfrm>
            <a:off x="640080" y="219456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עבודה מסכמת בקורס ניהול קריירה בארגונים</a:t>
            </a:r>
            <a:endParaRPr lang="he-IL" sz="1800" dirty="0"/>
          </a:p>
        </p:txBody>
      </p:sp>
      <p:sp>
        <p:nvSpPr>
          <p:cNvPr id="5" name="Text 2"/>
          <p:cNvSpPr txBox="1"/>
          <p:nvPr/>
        </p:nvSpPr>
        <p:spPr>
          <a:xfrm>
            <a:off x="640080" y="2788920"/>
            <a:ext cx="10908792" cy="822960"/>
          </a:xfrm>
          <a:prstGeom prst="rect">
            <a:avLst/>
          </a:prstGeom>
          <a:noFill/>
          <a:ln/>
        </p:spPr>
        <p:txBody>
          <a:bodyPr wrap="square" lIns="0" tIns="0" rIns="0" bIns="0" rtlCol="0" anchor="ctr"/>
          <a:lstStyle/>
          <a:p>
            <a:pPr rtl="1" algn="ctr" indent="0" marL="0">
              <a:buNone/>
            </a:pPr>
            <a:r>
              <a:rPr lang="he-IL" altLang="en-US" sz="3600" b="1" dirty="0">
                <a:solidFill>
                  <a:srgbClr val="000000"/>
                </a:solidFill>
                <a:latin typeface="David" pitchFamily="34" charset="0"/>
                <a:ea typeface="David" pitchFamily="34" charset="-122"/>
                <a:cs typeface="David" pitchFamily="34" charset="-120"/>
              </a:rPr>
              <a:t>התמודדות עם חוסר ודאות תעסוקתי</a:t>
            </a:r>
            <a:endParaRPr lang="he-IL" sz="3600" dirty="0"/>
          </a:p>
        </p:txBody>
      </p:sp>
      <p:sp>
        <p:nvSpPr>
          <p:cNvPr id="6" name="Text 3"/>
          <p:cNvSpPr txBox="1"/>
          <p:nvPr/>
        </p:nvSpPr>
        <p:spPr>
          <a:xfrm>
            <a:off x="640080" y="3611880"/>
            <a:ext cx="10908792" cy="45720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7" name="Text 4"/>
          <p:cNvSpPr txBox="1"/>
          <p:nvPr/>
        </p:nvSpPr>
        <p:spPr>
          <a:xfrm>
            <a:off x="1097280" y="4160520"/>
            <a:ext cx="9994392" cy="640080"/>
          </a:xfrm>
          <a:prstGeom prst="rect">
            <a:avLst/>
          </a:prstGeom>
          <a:noFill/>
          <a:ln/>
        </p:spPr>
        <p:txBody>
          <a:bodyPr wrap="square" lIns="0" tIns="0" rIns="0" bIns="0" rtlCol="0" anchor="t"/>
          <a:lstStyle/>
          <a:p>
            <a:pPr algn="ctr" indent="0" marL="0">
              <a:buNone/>
            </a:pPr>
            <a:r>
              <a:rPr lang="en-US" sz="1200" i="1"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Text 5"/>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600" dirty="0">
                <a:solidFill>
                  <a:srgbClr val="000000"/>
                </a:solidFill>
                <a:latin typeface="David" pitchFamily="34" charset="0"/>
                <a:ea typeface="David" pitchFamily="34" charset="-122"/>
                <a:cs typeface="David" pitchFamily="34" charset="-120"/>
              </a:rPr>
              <a:t>מגישים/ות: [שם מלא], ת.ז. [_________]; [שם מלא], ת.ז. [_________]</a:t>
            </a:r>
            <a:endParaRPr lang="he-IL" sz="1600" dirty="0"/>
          </a:p>
        </p:txBody>
      </p:sp>
      <p:sp>
        <p:nvSpPr>
          <p:cNvPr id="9" name="Text 6"/>
          <p:cNvSpPr txBox="1"/>
          <p:nvPr/>
        </p:nvSpPr>
        <p:spPr>
          <a:xfrm>
            <a:off x="640080" y="5440680"/>
            <a:ext cx="10908792" cy="411480"/>
          </a:xfrm>
          <a:prstGeom prst="rect">
            <a:avLst/>
          </a:prstGeom>
          <a:noFill/>
          <a:ln/>
        </p:spPr>
        <p:txBody>
          <a:bodyPr wrap="square" lIns="0" tIns="0" rIns="0" bIns="0" rtlCol="0" anchor="t"/>
          <a:lstStyle/>
          <a:p>
            <a:pPr rtl="1" algn="ctr" indent="0" marL="0">
              <a:buNone/>
            </a:pPr>
            <a:r>
              <a:rPr lang="he-IL" altLang="en-US" sz="1500" dirty="0">
                <a:solidFill>
                  <a:srgbClr val="000000"/>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0" name="Text 7"/>
          <p:cNvSpPr txBox="1"/>
          <p:nvPr/>
        </p:nvSpPr>
        <p:spPr>
          <a:xfrm>
            <a:off x="640080" y="5852160"/>
            <a:ext cx="10908792" cy="411480"/>
          </a:xfrm>
          <a:prstGeom prst="rect">
            <a:avLst/>
          </a:prstGeom>
          <a:noFill/>
          <a:ln/>
        </p:spPr>
        <p:txBody>
          <a:bodyPr wrap="square" lIns="0" tIns="0" rIns="0" bIns="0" rtlCol="0" anchor="t"/>
          <a:lstStyle/>
          <a:p>
            <a:pPr rtl="1" algn="ctr" indent="0" marL="0">
              <a:buNone/>
            </a:pPr>
            <a:r>
              <a:rPr lang="he-IL" altLang="en-US" sz="1400" dirty="0">
                <a:solidFill>
                  <a:srgbClr val="595959"/>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מבוא: הנושא ורלוונטיותו</a:t>
            </a:r>
            <a:endParaRPr lang="he-IL" sz="2800" dirty="0"/>
          </a:p>
        </p:txBody>
      </p:sp>
      <p:sp>
        <p:nvSpPr>
          <p:cNvPr id="3" name="Text 1"/>
          <p:cNvSpPr txBox="1"/>
          <p:nvPr/>
        </p:nvSpPr>
        <p:spPr>
          <a:xfrm>
            <a:off x="640080" y="1280160"/>
            <a:ext cx="10908792" cy="30175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4" name="Text 2"/>
          <p:cNvSpPr txBox="1"/>
          <p:nvPr/>
        </p:nvSpPr>
        <p:spPr>
          <a:xfrm>
            <a:off x="640080" y="438912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הצגת המאמר המרכזי</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בכתב עת שפיט בגישה פתוחה מלאה. הוא נבחר משום שהוא שואל מה עוזר לעובדים ולא רק מה מזיק להם, ומשום שהוא מציע כלי שאינו תלוי בארגון (Cetkovská et al., 2026).</a:t>
            </a:r>
            <a:endParaRPr lang="he-IL"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914400"/>
        </p:xfrm>
        <a:graphic>
          <a:graphicData uri="http://schemas.openxmlformats.org/drawingml/2006/table">
            <a:tbl>
              <a:tblPr/>
              <a:tblGrid>
                <a:gridCol w="8138160"/>
                <a:gridCol w="277063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פריט</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The Role of Needs-Based Job Crafting in Strengthening Work-Related Sense of Coherence: A Two-Wave Panel Study</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שם המאמר</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קריסטינה צטקובסקה (אוניברסיטת קארל, פראג), גאורג באואר ומרטין טושל (המרכז לסלוטוגנזה, אוניברסיטת ציריך)</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מחברים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Scandinavian Journal of Work and Organizational Psychology, 11(1), Article 14, 2026. https://doi.org/10.16993/sjwop.389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כתב העת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מחקר פאנל בשני גלי מדידה בהפרש של שישה חודשים, 924 עובדים בגרמניה ובשווייץ</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סוג המחקר</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כתב עת שפיט (peer-reviewed) בהוצאת אוניברסיטת סטוקהולם; גישה פתוחה מלאה; מימון הקרן הלאומית השווייצרית למדע</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מהימנות וגישה</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הרקע התיאורטי: סלוטוגנזה ותחושת קוהרנטיות בעבודה</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המוצגים בטבלה.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908792" cy="914400"/>
        </p:xfrm>
        <a:graphic>
          <a:graphicData uri="http://schemas.openxmlformats.org/drawingml/2006/table">
            <a:tbl>
              <a:tblPr/>
              <a:tblGrid>
                <a:gridCol w="6766560"/>
                <a:gridCol w="2011680"/>
                <a:gridCol w="213055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משמעות</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סוג הרכיב</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הרכיב</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כמובנה, עקבי וברור</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קוגניטיבי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מובנות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לעובד יש משאבים מספיקים להתמודד עם הדרישות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התנהגותי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ניהוליות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כראוי למחויבות ולמעורבות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מוטיבציוני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623560"/>
            <a:ext cx="10908792" cy="73152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בהקשר של עבודה זו, חוסר ודאות תעסוקתי הוא פגיעה בשלושת הרכיבים: העתיד אינו צפוי, המשאבים נראים בלתי מספיקים, וקשה להתחייב למה שעלול להיעלם.</a:t>
            </a:r>
            <a:endParaRPr lang="he-IL" sz="150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עיצוב תפקיד מבוסס צרכים והשערות המחקר</a:t>
            </a:r>
            <a:endParaRPr lang="he-IL" sz="2800" dirty="0"/>
          </a:p>
        </p:txBody>
      </p:sp>
      <p:sp>
        <p:nvSpPr>
          <p:cNvPr id="3" name="Text 1"/>
          <p:cNvSpPr txBox="1"/>
          <p:nvPr/>
        </p:nvSpPr>
        <p:spPr>
          <a:xfrm>
            <a:off x="640080" y="123444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4" name="Text 2"/>
          <p:cNvSpPr txBox="1"/>
          <p:nvPr/>
        </p:nvSpPr>
        <p:spPr>
          <a:xfrm>
            <a:off x="640080" y="374904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שיטת המחקר</a:t>
            </a:r>
            <a:endParaRPr lang="he-IL" sz="2800" dirty="0"/>
          </a:p>
        </p:txBody>
      </p:sp>
      <p:sp>
        <p:nvSpPr>
          <p:cNvPr id="3" name="Text 1"/>
          <p:cNvSpPr txBox="1"/>
          <p:nvPr/>
        </p:nvSpPr>
        <p:spPr>
          <a:xfrm>
            <a:off x="640080" y="1234440"/>
            <a:ext cx="10908792" cy="19202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3291840"/>
          <a:ext cx="10908792" cy="914400"/>
        </p:xfrm>
        <a:graphic>
          <a:graphicData uri="http://schemas.openxmlformats.org/drawingml/2006/table">
            <a:tbl>
              <a:tblPr/>
              <a:tblGrid>
                <a:gridCol w="8321040"/>
                <a:gridCol w="258775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מרכיב</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86868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924 משתתפים בגל הראשון (לאחר סינון 53 משיבים רשלניים), 740 מהם השלימו את הגל השני (80%). 56% גברים, גיל ממוצע 48.9, ממוצע 38.1 שעות עבודה שבועיות, 35% בעלי תואר אקדמי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מדגם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תשעה פריטים, שלושה לכל רכיב, בדיפרנציאל סמנטי בן שבע דרגות (למשל צפוי לעומת בלתי צפוי)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תחושת קוהרנטיות בעבודה</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18 פריטים, שלושה לכל אחד משישה הצרכים, בסולם של חמש דרגות ביחס לשבועיים האחרונים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עיצוב תפקיד מבוסס צרכים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ניתוח גורמים מאשש, אי-שונות מדידה, מודל פאנל צולב (CLPM) בתוכנת R עם אמידת FIML</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ניתוח</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הממצאים המרכזיים</a:t>
            </a:r>
            <a:endParaRPr lang="he-IL" sz="2800" dirty="0"/>
          </a:p>
        </p:txBody>
      </p:sp>
      <p:sp>
        <p:nvSpPr>
          <p:cNvPr id="3" name="Text 1"/>
          <p:cNvSpPr txBox="1"/>
          <p:nvPr/>
        </p:nvSpPr>
        <p:spPr>
          <a:xfrm>
            <a:off x="640080" y="1234440"/>
            <a:ext cx="10908792" cy="182880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ואילו עיצוב תפקיד לצרכי הימנעות לא ניבא אף אחד מהם. בכיוון ההפוך, ניהוליות (β = 0.431)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4" name="Chart 0" descr=""/>
          <p:cNvGraphicFramePr/>
          <p:nvPr/>
        </p:nvGraphicFramePr>
        <p:xfrm>
          <a:off x="640080" y="3154680"/>
          <a:ext cx="585216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3154680"/>
          <a:ext cx="4782312" cy="914400"/>
        </p:xfrm>
        <a:graphic>
          <a:graphicData uri="http://schemas.openxmlformats.org/drawingml/2006/table">
            <a:tbl>
              <a:tblPr/>
              <a:tblGrid>
                <a:gridCol w="1234440"/>
                <a:gridCol w="1005840"/>
                <a:gridCol w="254203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מובהקות</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β</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נתיב (גל 1 מנבא גל 2)</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0.142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מובנות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.003</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0.137</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ניהוליות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0.166</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לא מובהק</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0.03-0.09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הימנעות ← שלושת הרכיבים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0.431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 התקרבות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766560" y="5852160"/>
            <a:ext cx="4782312" cy="320040"/>
          </a:xfrm>
          <a:prstGeom prst="rect">
            <a:avLst/>
          </a:prstGeom>
          <a:noFill/>
          <a:ln/>
        </p:spPr>
        <p:txBody>
          <a:bodyPr wrap="square" lIns="0" tIns="0" rIns="0" bIns="0" rtlCol="0" anchor="t"/>
          <a:lstStyle/>
          <a:p>
            <a:pPr rtl="1" algn="r" indent="0" marL="0">
              <a:buNone/>
            </a:pPr>
            <a:r>
              <a:rPr lang="he-IL" altLang="en-US" sz="1050" dirty="0">
                <a:solidFill>
                  <a:srgbClr val="595959"/>
                </a:solidFill>
                <a:latin typeface="David" pitchFamily="34" charset="0"/>
                <a:ea typeface="David" pitchFamily="34" charset="-122"/>
                <a:cs typeface="David" pitchFamily="34" charset="-120"/>
              </a:rPr>
              <a:t>טבלה 1: מקדמי הנתיבים העיקריים (Cetkovská et al., 2026, טבלה 4)</a:t>
            </a:r>
            <a:endParaRPr lang="he-IL" sz="1050" dirty="0"/>
          </a:p>
        </p:txBody>
      </p:sp>
      <p:sp>
        <p:nvSpPr>
          <p:cNvPr id="7"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מסקנות המאמר, חוזקותיו ומגבלותיו</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4" name="Text 2"/>
          <p:cNvSpPr txBox="1"/>
          <p:nvPr/>
        </p:nvSpPr>
        <p:spPr>
          <a:xfrm>
            <a:off x="640080" y="365760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3" name="Text 1"/>
          <p:cNvSpPr txBox="1"/>
          <p:nvPr/>
        </p:nvSpPr>
        <p:spPr>
          <a:xfrm>
            <a:off x="640080" y="1188720"/>
            <a:ext cx="10908792" cy="640080"/>
          </a:xfrm>
          <a:prstGeom prst="rect">
            <a:avLst/>
          </a:prstGeom>
          <a:noFill/>
          <a:ln/>
        </p:spPr>
        <p:txBody>
          <a:bodyPr wrap="square" lIns="0" tIns="0" rIns="0" bIns="0" rtlCol="0" anchor="t"/>
          <a:lstStyle/>
          <a:p>
            <a:pPr algn="r" indent="0" marL="0">
              <a:buNone/>
            </a:pPr>
            <a:r>
              <a:rPr lang="en-US" sz="1200" i="1"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4" name="Text 2"/>
          <p:cNvSpPr txBox="1"/>
          <p:nvPr/>
        </p:nvSpPr>
        <p:spPr>
          <a:xfrm>
            <a:off x="640080" y="192024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לצורך הצגת שני מאמרים נבחר מחקר אורך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5" name="Text 3"/>
          <p:cNvSpPr txBox="1"/>
          <p:nvPr/>
        </p:nvSpPr>
        <p:spPr>
          <a:xfrm>
            <a:off x="640080" y="370332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חיבור לחומר הנלמד בקורס</a:t>
            </a:r>
            <a:endParaRPr lang="he-IL" sz="2800" dirty="0"/>
          </a:p>
        </p:txBody>
      </p:sp>
      <p:sp>
        <p:nvSpPr>
          <p:cNvPr id="3" name="Text 1"/>
          <p:cNvSpPr txBox="1"/>
          <p:nvPr/>
        </p:nvSpPr>
        <p:spPr>
          <a:xfrm>
            <a:off x="640080" y="1234440"/>
            <a:ext cx="10908792" cy="21488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והרעיון של קריירה רבודה, שבה כל שלב נבנה על קודמו, הוא ספירלת הרווח שהמחקר מתעד. הגורמים המניעים של הרצברג ועוגני הקריירה מסבירים מדוע צרכים שונים חשובים לעובדים שונים, ומאמר החובה בקורס מראה שתמיכה במקום העבודה ובמשפחה משפרת את הזמינות הפסיכולוגית (Russo et al., 2016), כלומר את תחושת הניהוליות שהמחקר מזהה כמנוע ליוזמה (Cetkovská et al., 2026).</a:t>
            </a:r>
            <a:endParaRPr lang="he-IL"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5120640"/>
                <a:gridCol w="578815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המקבילה במאמר</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המושג שנלמד בקורס</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צרכי ההתקרבות: שייכות, משמעות, מיומנות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שלושת סלי הכלים: רשת אנשים, זהות מקצועית, התפתחות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עיצוב תפקיד לצורך המשמעות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חמש השאלות של הזהות המקצועית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ספירלת הרווח: כל צעד מאפשר את הבא</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קריירה רבודה וקיר הטיפוס</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משמעותיות ומיומנות לעומת צרכי הימנעות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הגורמים המניעים וההיגייניים של הרצברג</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צורך האוטונומיה ורכיב המובנות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עוגני קריירה: אוטונומיה לעומת ביטחון ויציבות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המנוע ליוזמה</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תמיכה בעבודה ובמשפחה וזמינות פסיכולוגית (Russo et al., 2016)</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תובנות ומסקנות</a:t>
            </a:r>
            <a:endParaRPr lang="he-IL" sz="2800" dirty="0"/>
          </a:p>
        </p:txBody>
      </p:sp>
      <p:sp>
        <p:nvSpPr>
          <p:cNvPr id="3" name="Text 1"/>
          <p:cNvSpPr txBox="1"/>
          <p:nvPr/>
        </p:nvSpPr>
        <p:spPr>
          <a:xfrm>
            <a:off x="640080" y="123444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4" name="Text 2"/>
          <p:cNvSpPr txBox="1"/>
          <p:nvPr/>
        </p:nvSpPr>
        <p:spPr>
          <a:xfrm>
            <a:off x="640080" y="42062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דעה אישית וביקורת</a:t>
            </a:r>
            <a:endParaRPr lang="he-IL" sz="2800" dirty="0"/>
          </a:p>
        </p:txBody>
      </p:sp>
      <p:sp>
        <p:nvSpPr>
          <p:cNvPr id="3" name="Text 1"/>
          <p:cNvSpPr txBox="1"/>
          <p:nvPr/>
        </p:nvSpPr>
        <p:spPr>
          <a:xfrm>
            <a:off x="640080" y="12344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אהבנו במאמר את נקודת המבט, ששואלת מה עוזר לעובדים ולא רק מה מזיק להם, ואת העובדה שהיא נשענת על רעיון של חוקר שפעל בישראל. אהבנו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בעינינו (Cetkovská et al., 2026).</a:t>
            </a:r>
            <a:endParaRPr lang="he-IL" sz="1600" dirty="0"/>
          </a:p>
        </p:txBody>
      </p:sp>
      <p:sp>
        <p:nvSpPr>
          <p:cNvPr id="4" name="Text 2"/>
          <p:cNvSpPr txBox="1"/>
          <p:nvPr/>
        </p:nvSpPr>
        <p:spPr>
          <a:xfrm>
            <a:off x="640080" y="338328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לנו שלושה דברים. המאמר אינו מודד חוסר ביטחון תעסוקתי במישרין, ואת החיבור לנושא בנינו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עמדתנו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3" name="Text 1"/>
          <p:cNvSpPr txBox="1"/>
          <p:nvPr/>
        </p:nvSpPr>
        <p:spPr>
          <a:xfrm>
            <a:off x="640080" y="1234440"/>
            <a:ext cx="10908792" cy="132588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10908792" cy="914400"/>
        </p:xfrm>
        <a:graphic>
          <a:graphicData uri="http://schemas.openxmlformats.org/drawingml/2006/table">
            <a:tbl>
              <a:tblPr/>
              <a:tblGrid>
                <a:gridCol w="5669280"/>
                <a:gridCol w="3474720"/>
                <a:gridCol w="1764792"/>
              </a:tblGrid>
              <a:tr h="384048">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דוגמאות לפעולה בשבועיים הקרובים</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שאלה מנחה</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rtl="1" algn="r" indent="0" marL="0">
                        <a:buNone/>
                      </a:pPr>
                      <a:r>
                        <a:rPr lang="en-US" sz="1300" b="1" dirty="0">
                          <a:solidFill>
                            <a:srgbClr val="000000"/>
                          </a:solidFill>
                          <a:latin typeface="David" pitchFamily="34" charset="0"/>
                          <a:ea typeface="David" pitchFamily="34" charset="-122"/>
                          <a:cs typeface="David" pitchFamily="34" charset="-120"/>
                        </a:rPr>
                        <a:t>הצורך</a:t>
                      </a:r>
                      <a:endParaRPr lang="en-US" sz="130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לקבוע את סדר המשימות של הבוקר; להציע דרך משלי למשימה חוזרת; שעה קבועה ללא הפרעות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באילו החלטות קטנות אני יכול לבחור בעצמי?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אוטונומיה</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משימה אחת מעט מעבר ליכולת; כלי בינה מלאכותית אחד בתחום; לתעד בסוף השבוע דבר אחד שלמדתי</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אתגר בגובה הנכון יגרום לי להרגיש שאני מתקדם?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מיומנות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לזהות למי העבודה שלי עוזרת ולדבר איתו; לנסח במשפט למה התפקיד חשוב; להתנדב למשימה שמתחברת לערכים</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חלק בעבודה מתחבר למה שחשוב לי, ואיך מגדילים אותו?</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משמעות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הפסקת קפה קבועה עם עמית; להציע עזרה לפני שמבקשים; להצטרף לפרויקט חוצה מחלקות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עם מי בעבודה אני רוצה קשר אמיתי יותר?</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000000"/>
                          </a:solidFill>
                          <a:latin typeface="David" pitchFamily="34" charset="0"/>
                          <a:ea typeface="David" pitchFamily="34" charset="-122"/>
                          <a:cs typeface="David" pitchFamily="34" charset="-120"/>
                        </a:rPr>
                        <a:t>שייכות</a:t>
                      </a:r>
                      <a:endParaRPr lang="en-US" sz="1250" dirty="0">
                        <a:latin typeface="David" charset="0"/>
                        <a:ea typeface="David" charset="0"/>
                        <a:cs typeface="David"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08792" cy="320040"/>
          </a:xfrm>
          <a:prstGeom prst="rect">
            <a:avLst/>
          </a:prstGeom>
          <a:noFill/>
          <a:ln/>
        </p:spPr>
        <p:txBody>
          <a:bodyPr wrap="square" lIns="0" tIns="0" rIns="0" bIns="0" rtlCol="0" anchor="t"/>
          <a:lstStyle/>
          <a:p>
            <a:pPr rtl="1" algn="r" indent="0" marL="0">
              <a:buNone/>
            </a:pPr>
            <a:r>
              <a:rPr lang="he-IL" altLang="en-US" sz="1050" dirty="0">
                <a:solidFill>
                  <a:srgbClr val="595959"/>
                </a:solidFill>
                <a:latin typeface="David" pitchFamily="34" charset="0"/>
                <a:ea typeface="David" pitchFamily="34" charset="-122"/>
                <a:cs typeface="David" pitchFamily="34" charset="-120"/>
              </a:rPr>
              <a:t>טבלה 2: תוכנית עיצוב תפקיד אישית לפי צרכי ההתקרבות. מקור: פיתוח של המחברים על פי Cetkovská et al. (2026)</a:t>
            </a:r>
            <a:endParaRPr lang="he-IL" sz="105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אמצעי המחשה והפעלה</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סקר פתיחה. בפתיחת ההצגה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4" name="Text 2"/>
          <p:cNvSpPr txBox="1"/>
          <p:nvPr/>
        </p:nvSpPr>
        <p:spPr>
          <a:xfrm>
            <a:off x="640080" y="2423160"/>
            <a:ext cx="10908792" cy="14630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5" name="Text 3">
            <a:hlinkClick r:id="rId1" tooltip=""/>
          </p:cNvPr>
          <p:cNvSpPr txBox="1"/>
          <p:nvPr/>
        </p:nvSpPr>
        <p:spPr>
          <a:xfrm>
            <a:off x="640080" y="393192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6" name="Text 4"/>
          <p:cNvSpPr txBox="1"/>
          <p:nvPr/>
        </p:nvSpPr>
        <p:spPr>
          <a:xfrm>
            <a:off x="640080" y="4389120"/>
            <a:ext cx="10908792" cy="18288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שבטבלה 2, כותב פעולה אחת קונקרטית ומועד לביצועה, ומשתף את השכן במשפט אחד. המציגים אוספים שתיים או שלוש דוגמאות מהכיתה ומחברים אותן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סיכום</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4" name="Text 2"/>
          <p:cNvSpPr txBox="1"/>
          <p:nvPr/>
        </p:nvSpPr>
        <p:spPr>
          <a:xfrm>
            <a:off x="640080" y="3657600"/>
            <a:ext cx="10908792" cy="21945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5" name="Text 3"/>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000000"/>
                </a:solidFill>
                <a:latin typeface="David" pitchFamily="34" charset="0"/>
                <a:ea typeface="David" pitchFamily="34" charset="-122"/>
                <a:cs typeface="David" pitchFamily="34" charset="-120"/>
              </a:rPr>
              <a:t>תודה. נשמח לשאלות.</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רשימת מקורות</a:t>
            </a:r>
            <a:endParaRPr lang="he-IL" sz="2800" dirty="0"/>
          </a:p>
        </p:txBody>
      </p:sp>
      <p:sp>
        <p:nvSpPr>
          <p:cNvPr id="3" name="Text 1"/>
          <p:cNvSpPr txBox="1"/>
          <p:nvPr/>
        </p:nvSpPr>
        <p:spPr>
          <a:xfrm>
            <a:off x="640080" y="123444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4" name="Text 2"/>
          <p:cNvSpPr txBox="1"/>
          <p:nvPr/>
        </p:nvSpPr>
        <p:spPr>
          <a:xfrm>
            <a:off x="640080" y="274320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2026-09-17T20:46:20Z</dcterms:created>
  <dcterms:modified xsi:type="dcterms:W3CDTF">2026-09-17T20:46:20Z</dcterms:modified>
</cp:coreProperties>
</file>