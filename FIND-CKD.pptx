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Finerenone</c:v>
                </c:pt>
              </c:strCache>
            </c:strRef>
          </c:tx>
          <c:spPr>
            <a:solidFill>
              <a:srgbClr val="12A3A6"/>
            </a:solidFill>
            <a:effectLst/>
          </c:spPr>
          <c:invertIfNegative val="0"/>
          <c:dLbls>
            <c:numFmt formatCode="0.0" sourceLinked="0"/>
            <c:txPr>
              <a:bodyPr/>
              <a:lstStyle/>
              <a:p>
                <a:pPr>
                  <a:defRPr b="1" i="0" strike="noStrike" sz="1200" u="none">
                    <a:solidFill>
                      <a:srgbClr val="1321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Total slope
(0–32 mo)</c:v>
                  </c:pt>
                  <c:pt idx="1">
                    <c:v>Acute
(0–3 mo)</c:v>
                  </c:pt>
                  <c:pt idx="2">
                    <c:v>Chronic
(3 mo – EOT)</c:v>
                  </c:pt>
                </c:lvl>
              </c:multiLvlStrCache>
            </c:multiLvlStrRef>
          </c:cat>
          <c:val>
            <c:numRef>
              <c:f>Sheet1!$B$2:$B$4</c:f>
              <c:numCache>
                <c:formatCode>General</c:formatCode>
                <c:ptCount val="3"/>
                <c:pt idx="0">
                  <c:v>-3.3</c:v>
                </c:pt>
                <c:pt idx="1">
                  <c:v>-2</c:v>
                </c:pt>
                <c:pt idx="2">
                  <c:v>-2.9</c:v>
                </c:pt>
              </c:numCache>
            </c:numRef>
          </c:val>
        </c:ser>
        <c:ser>
          <c:idx val="1"/>
          <c:order val="1"/>
          <c:tx>
            <c:strRef>
              <c:f>Sheet1!$C$1</c:f>
              <c:strCache>
                <c:ptCount val="1"/>
                <c:pt idx="0">
                  <c:v>Placebo</c:v>
                </c:pt>
              </c:strCache>
            </c:strRef>
          </c:tx>
          <c:spPr>
            <a:solidFill>
              <a:srgbClr val="9AA7AD"/>
            </a:solidFill>
            <a:effectLst/>
          </c:spPr>
          <c:invertIfNegative val="0"/>
          <c:dLbls>
            <c:numFmt formatCode="0.0" sourceLinked="0"/>
            <c:txPr>
              <a:bodyPr/>
              <a:lstStyle/>
              <a:p>
                <a:pPr>
                  <a:defRPr b="1" i="0" strike="noStrike" sz="1200" u="none">
                    <a:solidFill>
                      <a:srgbClr val="1321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Total slope
(0–32 mo)</c:v>
                  </c:pt>
                  <c:pt idx="1">
                    <c:v>Acute
(0–3 mo)</c:v>
                  </c:pt>
                  <c:pt idx="2">
                    <c:v>Chronic
(3 mo – EOT)</c:v>
                  </c:pt>
                </c:lvl>
              </c:multiLvlStrCache>
            </c:multiLvlStrRef>
          </c:cat>
          <c:val>
            <c:numRef>
              <c:f>Sheet1!$C$2:$C$4</c:f>
              <c:numCache>
                <c:formatCode>General</c:formatCode>
                <c:ptCount val="3"/>
                <c:pt idx="0">
                  <c:v>-4</c:v>
                </c:pt>
                <c:pt idx="1">
                  <c:v>-0.8</c:v>
                </c:pt>
                <c:pt idx="2">
                  <c:v>-4.1</c:v>
                </c:pt>
              </c:numCache>
            </c:numRef>
          </c:val>
        </c:ser>
        <c:dLbls>
          <c:numFmt formatCode="0.0" sourceLinked="0"/>
          <c:txPr>
            <a:bodyPr/>
            <a:lstStyle/>
            <a:p>
              <a:pPr>
                <a:defRPr b="1" i="0" strike="noStrike" sz="1200" u="none">
                  <a:solidFill>
                    <a:srgbClr val="13212A"/>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3212A"/>
                </a:solidFill>
                <a:latin typeface="Calibri"/>
              </a:defRPr>
            </a:pPr>
            <a:endParaRPr lang="en-US"/>
          </a:p>
        </c:txPr>
        <c:crossAx val="2094734552"/>
        <c:crosses val="autoZero"/>
        <c:auto val="1"/>
        <c:lblAlgn val="ctr"/>
        <c:noMultiLvlLbl val="1"/>
      </c:catAx>
      <c:valAx>
        <c:axId val="2094734552"/>
        <c:scaling>
          <c:orientation val="minMax"/>
          <c:max val="0"/>
          <c:min val="-5"/>
        </c:scaling>
        <c:delete val="0"/>
        <c:axPos val="l"/>
        <c:majorGridlines>
          <c:spPr>
            <a:ln w="12700" cap="flat">
              <a:solidFill>
                <a:srgbClr val="ECF2F2"/>
              </a:solidFill>
              <a:prstDash val="solid"/>
              <a:round/>
            </a:ln>
          </c:spPr>
        </c:majorGridlines>
        <c:title>
          <c:tx>
            <c:rich>
              <a:bodyPr/>
              <a:lstStyle/>
              <a:p>
                <a:pPr>
                  <a:defRPr sz="1100" b="0" i="0" u="none" strike="noStrike">
                    <a:solidFill>
                      <a:srgbClr val="4E5E66"/>
                    </a:solidFill>
                    <a:latin typeface="Arial"/>
                  </a:defRPr>
                </a:pPr>
                <a:r>
                  <a:rPr sz="1100" b="0" i="0" u="none" strike="noStrike">
                    <a:solidFill>
                      <a:srgbClr val="4E5E66"/>
                    </a:solidFill>
                    <a:latin typeface="Arial"/>
                  </a:rPr>
                  <a:t>eGFR slope (ml/min/1.73 m² per year)</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E5E66"/>
                </a:solidFill>
                <a:latin typeface="Calibri"/>
              </a:defRPr>
            </a:pPr>
            <a:endParaRPr lang="en-US"/>
          </a:p>
        </c:txPr>
        <c:crossAx val="2094734554"/>
        <c:crosses val="autoZero"/>
        <c:crossBetween val="between"/>
        <c:majorUnit val="1"/>
      </c:valAx>
      <c:spPr>
        <a:noFill/>
        <a:ln>
          <a:noFill/>
        </a:ln>
        <a:effectLst/>
      </c:spPr>
    </c:plotArea>
    <c:legend>
      <c:legendPos val="t"/>
      <c:overlay val="0"/>
      <c:txPr>
        <a:bodyPr/>
        <a:lstStyle/>
        <a:p>
          <a:pPr>
            <a:defRPr sz="1200">
              <a:solidFill>
                <a:srgbClr val="13212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Finerenone</c:v>
                </c:pt>
              </c:strCache>
            </c:strRef>
          </c:tx>
          <c:spPr>
            <a:solidFill>
              <a:srgbClr val="12A3A6"/>
            </a:solidFill>
            <a:effectLst/>
          </c:spPr>
          <c:invertIfNegative val="0"/>
          <c:dLbls>
            <c:numFmt formatCode="0.0&quot;%&quot;" sourceLinked="0"/>
            <c:txPr>
              <a:bodyPr/>
              <a:lstStyle/>
              <a:p>
                <a:pPr>
                  <a:defRPr b="1" i="0" strike="noStrike" sz="1000" u="none">
                    <a:solidFill>
                      <a:srgbClr val="13212A"/>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c:v>
                  </c:pt>
                  <c:pt idx="4">
                    <c:v>Hospital-
ization</c:v>
                  </c:pt>
                  <c:pt idx="5">
                    <c:v>Fatal</c:v>
                  </c:pt>
                </c:lvl>
              </c:multiLvlStrCache>
            </c:multiLvlStrRef>
          </c:cat>
          <c:val>
            <c:numRef>
              <c:f>Sheet1!$B$2:$B$7</c:f>
              <c:numCache>
                <c:formatCode>General</c:formatCode>
                <c:ptCount val="6"/>
                <c:pt idx="0">
                  <c:v>17</c:v>
                </c:pt>
                <c:pt idx="1">
                  <c:v>18.8</c:v>
                </c:pt>
                <c:pt idx="2">
                  <c:v>4.3</c:v>
                </c:pt>
                <c:pt idx="3">
                  <c:v>1.5</c:v>
                </c:pt>
                <c:pt idx="4">
                  <c:v>0.9</c:v>
                </c:pt>
                <c:pt idx="5">
                  <c:v>0</c:v>
                </c:pt>
              </c:numCache>
            </c:numRef>
          </c:val>
        </c:ser>
        <c:ser>
          <c:idx val="1"/>
          <c:order val="1"/>
          <c:tx>
            <c:strRef>
              <c:f>Sheet1!$C$1</c:f>
              <c:strCache>
                <c:ptCount val="1"/>
                <c:pt idx="0">
                  <c:v>Placebo</c:v>
                </c:pt>
              </c:strCache>
            </c:strRef>
          </c:tx>
          <c:spPr>
            <a:solidFill>
              <a:srgbClr val="9AA7AD"/>
            </a:solidFill>
            <a:effectLst/>
          </c:spPr>
          <c:invertIfNegative val="0"/>
          <c:dLbls>
            <c:numFmt formatCode="0.0&quot;%&quot;" sourceLinked="0"/>
            <c:txPr>
              <a:bodyPr/>
              <a:lstStyle/>
              <a:p>
                <a:pPr>
                  <a:defRPr b="1" i="0" strike="noStrike" sz="1000" u="none">
                    <a:solidFill>
                      <a:srgbClr val="13212A"/>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c:v>
                  </c:pt>
                  <c:pt idx="4">
                    <c:v>Hospital-
ization</c:v>
                  </c:pt>
                  <c:pt idx="5">
                    <c:v>Fatal</c:v>
                  </c:pt>
                </c:lvl>
              </c:multiLvlStrCache>
            </c:multiLvlStrRef>
          </c:cat>
          <c:val>
            <c:numRef>
              <c:f>Sheet1!$C$2:$C$7</c:f>
              <c:numCache>
                <c:formatCode>General</c:formatCode>
                <c:ptCount val="6"/>
                <c:pt idx="0">
                  <c:v>13.3</c:v>
                </c:pt>
                <c:pt idx="1">
                  <c:v>12.2</c:v>
                </c:pt>
                <c:pt idx="2">
                  <c:v>2.3</c:v>
                </c:pt>
                <c:pt idx="3">
                  <c:v>0.1</c:v>
                </c:pt>
                <c:pt idx="4">
                  <c:v>0.6</c:v>
                </c:pt>
                <c:pt idx="5">
                  <c:v>0</c:v>
                </c:pt>
              </c:numCache>
            </c:numRef>
          </c:val>
        </c:ser>
        <c:dLbls>
          <c:numFmt formatCode="0.0&quot;%&quot;" sourceLinked="0"/>
          <c:txPr>
            <a:bodyPr/>
            <a:lstStyle/>
            <a:p>
              <a:pPr>
                <a:defRPr b="1" i="0" strike="noStrike" sz="1000" u="none">
                  <a:solidFill>
                    <a:srgbClr val="13212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3212A"/>
                </a:solidFill>
                <a:latin typeface="Calibri"/>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12700" cap="flat">
              <a:solidFill>
                <a:srgbClr val="ECF2F2"/>
              </a:solidFill>
              <a:prstDash val="solid"/>
              <a:round/>
            </a:ln>
          </c:spPr>
        </c:majorGridlines>
        <c:title>
          <c:tx>
            <c:rich>
              <a:bodyPr/>
              <a:lstStyle/>
              <a:p>
                <a:pPr>
                  <a:defRPr sz="1050" b="0" i="0" u="none" strike="noStrike">
                    <a:solidFill>
                      <a:srgbClr val="4E5E66"/>
                    </a:solidFill>
                    <a:latin typeface="Arial"/>
                  </a:defRPr>
                </a:pPr>
                <a:r>
                  <a:rPr sz="1050" b="0" i="0" u="none" strike="noStrike">
                    <a:solidFill>
                      <a:srgbClr val="4E5E66"/>
                    </a:solidFill>
                    <a:latin typeface="Arial"/>
                  </a:rPr>
                  <a:t>Participants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4E5E66"/>
                </a:solidFill>
                <a:latin typeface="Calibri"/>
              </a:defRPr>
            </a:pPr>
            <a:endParaRPr lang="en-US"/>
          </a:p>
        </c:txPr>
        <c:crossAx val="2094734554"/>
        <c:crosses val="autoZero"/>
        <c:crossBetween val="between"/>
        <c:majorUnit val="5"/>
      </c:valAx>
      <c:spPr>
        <a:noFill/>
        <a:ln>
          <a:noFill/>
        </a:ln>
        <a:effectLst/>
      </c:spPr>
    </c:plotArea>
    <c:legend>
      <c:legendPos val="t"/>
      <c:overlay val="0"/>
      <c:txPr>
        <a:bodyPr/>
        <a:lstStyle/>
        <a:p>
          <a:pPr>
            <a:defRPr sz="1150">
              <a:solidFill>
                <a:srgbClr val="13212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way every congress talk opens. Bayer funded and helped run the trial, but the analyses were reproduced independently at Groningen, which is the mitigation to keep in mind. State your own disclosures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objectives, stated up front as grand rounds expect. Keep them in mind as the anchor for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CKD is a disease of ~800 million and most are not diabetic. Our best agents slow but do not stop progression, especially with heavy albuminuria. Finerenone targets MR overactivation, a fibrotic and inflammatory pathway not specific to diabetes, and already showed benefit in diabetic CKD. All of that was in diabetic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MR overactivation is inflammation and fibrosis, blood-pressure and glucose independent, so no reason to be confined to diabetic kidneys. Finerenone is nonsteroidal and selective, avoiding the endocrine effects of spironolactone and the tolerability wall seen in BARACK-D, where most CKD patients came off spironolactone within six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FIDELITY pooled FIDELIO and FIGARO, ~13,000 patients, for a CV composite of 0.86 and a kidney composite of 0.77, using the same ≥57% eGFR-decline definition FIND-CKD adopts. All diabetic. That is the gap FIND-CKD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high-quality phase 3. Pre-specified stratification on SGLT2i use and albuminuria; treatment-policy estimand; sponsor analyses reproduced independently at Groningen.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entry routes, both anchored on albuminuria, so everyone had at least moderate and most heavy albuminuria. Everyone on a RAS inhibitor: an add-on question. Excluded ADPKD, lupus, ANCA, and diabetes.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Balanced. eGFR ~47 with 80% below 60, median UACR ~819. Dominant diagnosis chronic GN. Anchor: ~100% RAS inhibitor, only 17% SGLT2 inhibitor.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Dosing eGFR-driven and cautious. Central-lab K⁺ every visit, withhold at &gt;5.5, restart at 10 mg. The pre-planned off-treatment visit separates the acute reversible dip from the true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is eGFR slope, a surrogate; a hard composite is not feasible at this sample size. Clinical composites are secondary in a fixed hierarchy for a protected claim. The ≥57% definition matches FIDELITY.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slope: cannot power a hard composite in non-diabetic CKD at n=1500, so powered for a 0.7/yr slope difference. Two-slope spline with a month-3 change point separates the acute reversible dip from the chronic slope. Held under sensitivity analyses. Credible surrogate, still a surrogate.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the trial in one figure. Finerenone falls faster early (reversible dip), then the curve is shallower, lines cross, and finerenone stays above out to month 32, 39.4 vs 38.1. Off-treatment, finerenone rises while placebo keeps dropping. The dip reverses, so the separation reflects real slowing.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objection: finerenone lowered eGFR early, is that harm? No. It is the familiar hemodynamic dip, an intraglomerular pressure effect, same as ACE inhibitors, ARBs and SGLT2 inhibitors. Proof it is functional: the off-treatment rebound, 2.4 ml better than placebo. A true nephron loss does not reverse in four weeks. That is why the two-slope model separates the acute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total slope 0.7/yr, P&lt;0.001, almost identical to FIDELIO. The acute period favors placebo by 1.2 (the dip), dragging the total down. The chronic slope is 1.2/yr, nearly double. Judge finerenone by the chronic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Directionally consistent everywhere. Larger effect in heavy albuminuria (1.15 for UACR &gt;1000 vs 0.40 below). Benefit with or without SGLT2 inhibitor, so it looks additive though not formally tested. CIs unadjusted: read as consistency.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Protected secondary hit: kidney or CV events 23% lower, HR 0.77, P 0.04, consistent with the 0.7 slope. Kidney composite 0.78 (P 0.06); CV composite 0.60 on 26 events, underpowered. Hierarchy stops at the first composite.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Albuminuria shows MR blockade fastest. UACR dropped ~41% by month 6 vs 9% placebo, a ~35% relative difference held over time; &gt;half the finerenone group achieved ≥30% reduction vs a quarter on placebo, OR ~4. The early signal that foreshadows the slope benefit, strongest where the slope effect was largest.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BP fell modestly, ~5 systolic and 3 diastolic, consistent with mechanism but too small to be the whole story: not just a BP drug. The broader ≥40% composite gave HR 0.76, reinforcing the primary.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Reassuring. Overall and serious AEs identical; discontinuations and death numerically favored finerenone. Hyperkalemia the one signal: 17 vs 13% any, 19 vs 12% for K⁺ &gt;5.5. Clinically: K⁺ discontinuation 1.5 vs 0.1%, hospitalization &lt;1%, zero fatal. Manageable with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Plus: the trial the field was missing, clean, sponsor analyses reproduced, slope modeled correctly and backed by a protected composite. Minus: surrogate primary, not powered for hard events; population skews male, under-represents Black patients, enriched for heavy albuminuria; only 17% on SGLT2i; excluded diseases; 36 months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 them up. FIDELITY, ~13,000 diabetic patients, kidney composite 0.77 and CV composite 0.86. FIND-CKD, a fifth of that sample with no diabetic patient, gives a kidney composite of 0.78, essentially identical, plus a protected kidney-CV composite of 0.77 and a slope of 0.7 (chronic 1.2). Same drug, same mechanism, extended past diabetes. The CV number in FIND-CKD rests on few events, so read it cautiously.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in pillars: RAS inhibitor foundation, SGLT2 inhibitor second pillar, finerenone a candidate third agent now with evidence past diabetes. Who: albuminuric non-diabetic CKD on a maxed RAS inhibitor, best if UACR high, K⁺ with room. How: protocolized K⁺ checks, withhold-and-restart, likely additive to SGLT2i though not tested head-on.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edges. Surrogate not hard endpoints, so a hard-outcome trial is still definitive. Combination with SGLT2i is the obvious next question. Under-represents women, Black patients, low-albuminuria CKD. Whole disease categories excluded. 36 months short for a disease of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446"/>
        </a:solidFill>
      </p:bgPr>
    </p:bg>
    <p:spTree>
      <p:nvGrpSpPr>
        <p:cNvPr id="1" name=""/>
        <p:cNvGrpSpPr/>
        <p:nvPr/>
      </p:nvGrpSpPr>
      <p:grpSpPr>
        <a:xfrm>
          <a:off x="0" y="0"/>
          <a:ext cx="0" cy="0"/>
          <a:chOff x="0" y="0"/>
          <a:chExt cx="0" cy="0"/>
        </a:xfrm>
      </p:grpSpPr>
      <p:sp>
        <p:nvSpPr>
          <p:cNvPr id="2" name="Shape 0"/>
          <p:cNvSpPr/>
          <p:nvPr/>
        </p:nvSpPr>
        <p:spPr>
          <a:xfrm>
            <a:off x="9052560" y="-2103120"/>
            <a:ext cx="5669280" cy="5669280"/>
          </a:xfrm>
          <a:prstGeom prst="ellipse">
            <a:avLst/>
          </a:prstGeom>
          <a:solidFill>
            <a:srgbClr val="12384B"/>
          </a:solidFill>
          <a:ln/>
        </p:spPr>
      </p:sp>
      <p:sp>
        <p:nvSpPr>
          <p:cNvPr id="3" name="Shape 1"/>
          <p:cNvSpPr/>
          <p:nvPr/>
        </p:nvSpPr>
        <p:spPr>
          <a:xfrm>
            <a:off x="640080" y="1097280"/>
            <a:ext cx="1051560" cy="1051560"/>
          </a:xfrm>
          <a:prstGeom prst="roundRect">
            <a:avLst>
              <a:gd name="adj" fmla="val 12174"/>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886968" y="1344168"/>
            <a:ext cx="548640" cy="548640"/>
          </a:xfrm>
          <a:prstGeom prst="rect">
            <a:avLst/>
          </a:prstGeom>
        </p:spPr>
      </p:pic>
      <p:sp>
        <p:nvSpPr>
          <p:cNvPr id="5" name="Text 2"/>
          <p:cNvSpPr/>
          <p:nvPr/>
        </p:nvSpPr>
        <p:spPr>
          <a:xfrm>
            <a:off x="640080" y="2331720"/>
            <a:ext cx="10058400" cy="292608"/>
          </a:xfrm>
          <a:prstGeom prst="rect">
            <a:avLst/>
          </a:prstGeom>
          <a:noFill/>
          <a:ln/>
        </p:spPr>
        <p:txBody>
          <a:bodyPr wrap="square" lIns="0" tIns="0" rIns="0" bIns="0" rtlCol="0" anchor="ctr"/>
          <a:lstStyle/>
          <a:p>
            <a:pPr indent="0" marL="0">
              <a:buNone/>
            </a:pPr>
            <a:r>
              <a:rPr lang="en-US" sz="1450" dirty="0">
                <a:solidFill>
                  <a:srgbClr val="9FBBC6"/>
                </a:solidFill>
                <a:latin typeface="Calibri" pitchFamily="34" charset="0"/>
                <a:ea typeface="Calibri" pitchFamily="34" charset="-122"/>
                <a:cs typeface="Calibri" pitchFamily="34" charset="-120"/>
              </a:rPr>
              <a:t>Journal club  ·  Nephrology</a:t>
            </a:r>
            <a:endParaRPr lang="en-US" sz="1450" dirty="0"/>
          </a:p>
        </p:txBody>
      </p:sp>
      <p:sp>
        <p:nvSpPr>
          <p:cNvPr id="6" name="Text 3"/>
          <p:cNvSpPr/>
          <p:nvPr/>
        </p:nvSpPr>
        <p:spPr>
          <a:xfrm>
            <a:off x="640080" y="2697480"/>
            <a:ext cx="10789920" cy="105156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FIND-CKD</a:t>
            </a:r>
            <a:endParaRPr lang="en-US" sz="6000" dirty="0"/>
          </a:p>
        </p:txBody>
      </p:sp>
      <p:sp>
        <p:nvSpPr>
          <p:cNvPr id="7" name="Text 4"/>
          <p:cNvSpPr/>
          <p:nvPr/>
        </p:nvSpPr>
        <p:spPr>
          <a:xfrm>
            <a:off x="640080" y="3794760"/>
            <a:ext cx="10241280" cy="822960"/>
          </a:xfrm>
          <a:prstGeom prst="rect">
            <a:avLst/>
          </a:prstGeom>
          <a:noFill/>
          <a:ln/>
        </p:spPr>
        <p:txBody>
          <a:bodyPr wrap="square" lIns="0" tIns="0" rIns="0" bIns="0" rtlCol="0" anchor="ctr"/>
          <a:lstStyle/>
          <a:p>
            <a:pPr indent="0" marL="0">
              <a:buNone/>
            </a:pPr>
            <a:r>
              <a:rPr lang="en-US" sz="2200" dirty="0">
                <a:solidFill>
                  <a:srgbClr val="D2E4E8"/>
                </a:solidFill>
                <a:latin typeface="Arial" pitchFamily="34" charset="0"/>
                <a:ea typeface="Arial" pitchFamily="34" charset="-122"/>
                <a:cs typeface="Arial" pitchFamily="34" charset="-120"/>
              </a:rPr>
              <a:t>Finerenone in Persons with Chronic Kidney Disease without Diabetes</a:t>
            </a:r>
            <a:endParaRPr lang="en-US" sz="2200" dirty="0"/>
          </a:p>
        </p:txBody>
      </p:sp>
      <p:sp>
        <p:nvSpPr>
          <p:cNvPr id="8" name="Text 5"/>
          <p:cNvSpPr/>
          <p:nvPr/>
        </p:nvSpPr>
        <p:spPr>
          <a:xfrm>
            <a:off x="640080" y="4892040"/>
            <a:ext cx="10515600" cy="822960"/>
          </a:xfrm>
          <a:prstGeom prst="rect">
            <a:avLst/>
          </a:prstGeom>
          <a:noFill/>
          <a:ln/>
        </p:spPr>
        <p:txBody>
          <a:bodyPr wrap="square" lIns="0" tIns="0" rIns="0" bIns="0" rtlCol="0" anchor="ctr"/>
          <a:lstStyle/>
          <a:p>
            <a:pPr indent="0" marL="0">
              <a:lnSpc>
                <a:spcPct val="120000"/>
              </a:lnSpc>
              <a:buNone/>
            </a:pPr>
            <a:r>
              <a:rPr lang="en-US" sz="1500" dirty="0">
                <a:solidFill>
                  <a:srgbClr val="C2D8DE"/>
                </a:solidFill>
                <a:latin typeface="Calibri" pitchFamily="34" charset="0"/>
                <a:ea typeface="Calibri" pitchFamily="34" charset="-122"/>
                <a:cs typeface="Calibri" pitchFamily="34" charset="-120"/>
              </a:rPr>
              <a:t>Heerspink HJL, Neuen BL, Agarwal R, et al., for the FIND-CKD Investigators</a:t>
            </a:r>
            <a:endParaRPr lang="en-US" sz="1500" dirty="0"/>
          </a:p>
          <a:p>
            <a:pPr indent="0" marL="0">
              <a:lnSpc>
                <a:spcPct val="120000"/>
              </a:lnSpc>
              <a:buNone/>
            </a:pPr>
            <a:r>
              <a:rPr lang="en-US" sz="1350" dirty="0">
                <a:solidFill>
                  <a:srgbClr val="8CAAB4"/>
                </a:solidFill>
                <a:latin typeface="Calibri" pitchFamily="34" charset="0"/>
                <a:ea typeface="Calibri" pitchFamily="34" charset="-122"/>
                <a:cs typeface="Calibri" pitchFamily="34" charset="-120"/>
              </a:rPr>
              <a:t>N Engl J Med 2026.  DOI 10.1056/NEJMoa2604625  ·  NCT05047263  ·  Funded by Bayer</a:t>
            </a:r>
            <a:endParaRPr lang="en-US" sz="1500" dirty="0"/>
          </a:p>
        </p:txBody>
      </p:sp>
      <p:sp>
        <p:nvSpPr>
          <p:cNvPr id="9" name="Text 6"/>
          <p:cNvSpPr/>
          <p:nvPr/>
        </p:nvSpPr>
        <p:spPr>
          <a:xfrm>
            <a:off x="640080" y="6126480"/>
            <a:ext cx="7315200" cy="310896"/>
          </a:xfrm>
          <a:prstGeom prst="rect">
            <a:avLst/>
          </a:prstGeom>
          <a:noFill/>
          <a:ln/>
        </p:spPr>
        <p:txBody>
          <a:bodyPr wrap="square" lIns="0" tIns="0" rIns="0" bIns="0" rtlCol="0" anchor="ctr"/>
          <a:lstStyle/>
          <a:p>
            <a:pPr indent="0" marL="0">
              <a:buNone/>
            </a:pPr>
            <a:r>
              <a:rPr lang="en-US" sz="1400" dirty="0">
                <a:solidFill>
                  <a:srgbClr val="7FA0AC"/>
                </a:solidFill>
                <a:latin typeface="Calibri" pitchFamily="34" charset="0"/>
                <a:ea typeface="Calibri" pitchFamily="34" charset="-122"/>
                <a:cs typeface="Calibri" pitchFamily="34" charset="-120"/>
              </a:rPr>
              <a:t>Presented by [name], [date]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Disclosures &amp; funding</a:t>
            </a:r>
            <a:endParaRPr lang="en-US" sz="2400" dirty="0"/>
          </a:p>
        </p:txBody>
      </p:sp>
      <p:sp>
        <p:nvSpPr>
          <p:cNvPr id="6" name="Text 3"/>
          <p:cNvSpPr/>
          <p:nvPr/>
        </p:nvSpPr>
        <p:spPr>
          <a:xfrm>
            <a:off x="640080" y="1371600"/>
            <a:ext cx="10908792" cy="420624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FIND-CKD was funded by Bayer, the manufacturer of finerenone.</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The sponsor took part in trial design and data analysis. The analyses were reproduced independently at University Medical Center Groningen using the original data.</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The first and last authors had full access to the data and vouch for its accuracy and completeness.</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Presenter disclosures: [state relevant relationships, or “none”].</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This is an educational journal-club summary, not promotional material.</a:t>
            </a:r>
            <a:endParaRPr lang="en-US" sz="1550" dirty="0"/>
          </a:p>
        </p:txBody>
      </p:sp>
      <p:sp>
        <p:nvSpPr>
          <p:cNvPr id="7" name="Text 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8" name="Text 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Objectives</a:t>
            </a:r>
            <a:endParaRPr lang="en-US" sz="2400" dirty="0"/>
          </a:p>
        </p:txBody>
      </p:sp>
      <p:sp>
        <p:nvSpPr>
          <p:cNvPr id="6" name="Text 3"/>
          <p:cNvSpPr/>
          <p:nvPr/>
        </p:nvSpPr>
        <p:spPr>
          <a:xfrm>
            <a:off x="640080" y="1371600"/>
            <a:ext cx="10908792" cy="438912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Review why finerenone was tested in CKD without diabetes, and how FIND-CKD relates to the finerenone evidence in diabetic CKD (the FIDELITY analysis).</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Interpret the primary eGFR-slope result, including its acute (hemodynamic) and chronic components.</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Weigh the secondary clinical outcomes, the albuminuria effect and safety, especially hyperkalemia.</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Decide where finerenone fits in the non-diabetic CKD treatment pathway, and what remains unanswered.</a:t>
            </a:r>
            <a:endParaRPr lang="en-US" sz="1550" dirty="0"/>
          </a:p>
        </p:txBody>
      </p:sp>
      <p:sp>
        <p:nvSpPr>
          <p:cNvPr id="7" name="Text 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8" name="Text 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01</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Background &amp; rationale</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Why finerenone, why now, and why a trial in CKD without diabetes.</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Why this trial was needed</a:t>
            </a:r>
            <a:endParaRPr lang="en-US" sz="2400" dirty="0"/>
          </a:p>
        </p:txBody>
      </p:sp>
      <p:sp>
        <p:nvSpPr>
          <p:cNvPr id="6" name="Text 3"/>
          <p:cNvSpPr/>
          <p:nvPr/>
        </p:nvSpPr>
        <p:spPr>
          <a:xfrm>
            <a:off x="640080" y="1188720"/>
            <a:ext cx="10908792" cy="594360"/>
          </a:xfrm>
          <a:prstGeom prst="rect">
            <a:avLst/>
          </a:prstGeom>
          <a:noFill/>
          <a:ln/>
        </p:spPr>
        <p:txBody>
          <a:bodyPr wrap="square" lIns="0" tIns="0" rIns="0" bIns="0" rtlCol="0" anchor="ctr"/>
          <a:lstStyle/>
          <a:p>
            <a:pPr indent="0" marL="0">
              <a:lnSpc>
                <a:spcPct val="120000"/>
              </a:lnSpc>
              <a:buNone/>
            </a:pPr>
            <a:r>
              <a:rPr lang="en-US" sz="1600" dirty="0">
                <a:solidFill>
                  <a:srgbClr val="13212A"/>
                </a:solidFill>
                <a:latin typeface="Calibri" pitchFamily="34" charset="0"/>
                <a:ea typeface="Calibri" pitchFamily="34" charset="-122"/>
                <a:cs typeface="Calibri" pitchFamily="34" charset="-120"/>
              </a:rPr>
              <a:t>CKD affects roughly 800 million adults, and its prevalence has more than doubled since 1990. More than half of those cases have nothing to do with diabetes.</a:t>
            </a:r>
            <a:endParaRPr lang="en-US" sz="1600" dirty="0"/>
          </a:p>
        </p:txBody>
      </p:sp>
      <p:sp>
        <p:nvSpPr>
          <p:cNvPr id="7" name="Text 4"/>
          <p:cNvSpPr/>
          <p:nvPr/>
        </p:nvSpPr>
        <p:spPr>
          <a:xfrm>
            <a:off x="640080" y="1965960"/>
            <a:ext cx="10908792" cy="2926080"/>
          </a:xfrm>
          <a:prstGeom prst="rect">
            <a:avLst/>
          </a:prstGeom>
          <a:noFill/>
          <a:ln/>
        </p:spPr>
        <p:txBody>
          <a:bodyPr wrap="square" lIns="0" tIns="0" rIns="0" bIns="0" rtlCol="0" anchor="t"/>
          <a:lstStyle/>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RAS and SGLT2 inhibitors slow CKD with or without diabetes, but progression and cardiovascular events continue, particularly with heavy albuminuria.</a:t>
            </a:r>
            <a:endParaRPr lang="en-US" sz="1550" dirty="0"/>
          </a:p>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Mineralocorticoid receptor overactivation drives sodium retention, inflammation and fibrosis. That pathway is not specific to diabetes.</a:t>
            </a:r>
            <a:endParaRPr lang="en-US" sz="1550" dirty="0"/>
          </a:p>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Finerenone reduced kidney and cardiovascular events in diabetic CKD (FIDELIO-DKD, FIGARO-DKD, FIDELITY pooled).</a:t>
            </a:r>
            <a:endParaRPr lang="en-US" sz="1550" dirty="0"/>
          </a:p>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None of that had been tested in CKD without diabetes.</a:t>
            </a:r>
            <a:endParaRPr lang="en-US" sz="1550" dirty="0"/>
          </a:p>
        </p:txBody>
      </p:sp>
      <p:sp>
        <p:nvSpPr>
          <p:cNvPr id="8" name="Shape 5"/>
          <p:cNvSpPr/>
          <p:nvPr/>
        </p:nvSpPr>
        <p:spPr>
          <a:xfrm>
            <a:off x="640080" y="5257800"/>
            <a:ext cx="10908792" cy="777240"/>
          </a:xfrm>
          <a:prstGeom prst="roundRect">
            <a:avLst>
              <a:gd name="adj" fmla="val 9412"/>
            </a:avLst>
          </a:prstGeom>
          <a:solidFill>
            <a:srgbClr val="E7F4F4"/>
          </a:solidFill>
          <a:ln/>
        </p:spPr>
      </p:sp>
      <p:sp>
        <p:nvSpPr>
          <p:cNvPr id="9" name="Text 6"/>
          <p:cNvSpPr/>
          <p:nvPr/>
        </p:nvSpPr>
        <p:spPr>
          <a:xfrm>
            <a:off x="914400" y="5257800"/>
            <a:ext cx="10360152" cy="777240"/>
          </a:xfrm>
          <a:prstGeom prst="rect">
            <a:avLst/>
          </a:prstGeom>
          <a:noFill/>
          <a:ln/>
        </p:spPr>
        <p:txBody>
          <a:bodyPr wrap="square" lIns="0" tIns="0" rIns="0" bIns="0" rtlCol="0" anchor="ctr"/>
          <a:lstStyle/>
          <a:p>
            <a:pPr indent="0" marL="0">
              <a:lnSpc>
                <a:spcPct val="110000"/>
              </a:lnSpc>
              <a:buNone/>
            </a:pPr>
            <a:r>
              <a:rPr lang="en-US" sz="1700" b="1" dirty="0">
                <a:solidFill>
                  <a:srgbClr val="0F3446"/>
                </a:solidFill>
                <a:latin typeface="Calibri" pitchFamily="34" charset="0"/>
                <a:ea typeface="Calibri" pitchFamily="34" charset="-122"/>
                <a:cs typeface="Calibri" pitchFamily="34" charset="-120"/>
              </a:rPr>
              <a:t>The question:  </a:t>
            </a:r>
            <a:pPr indent="0" marL="0">
              <a:lnSpc>
                <a:spcPct val="110000"/>
              </a:lnSpc>
              <a:buNone/>
            </a:pPr>
            <a:r>
              <a:rPr lang="en-US" sz="1700" i="1" dirty="0">
                <a:solidFill>
                  <a:srgbClr val="0E8385"/>
                </a:solidFill>
                <a:latin typeface="Calibri" pitchFamily="34" charset="0"/>
                <a:ea typeface="Calibri" pitchFamily="34" charset="-122"/>
                <a:cs typeface="Calibri" pitchFamily="34" charset="-120"/>
              </a:rPr>
              <a:t>does finerenone protect the kidney in non-diabetic CKD, the way it does in diabetic kidney disease?</a:t>
            </a:r>
            <a:endParaRPr lang="en-US" sz="1700" dirty="0"/>
          </a:p>
        </p:txBody>
      </p:sp>
      <p:sp>
        <p:nvSpPr>
          <p:cNvPr id="10" name="Text 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1" name="Text 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The rationale: a nonsteroidal MR antagonist</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Block a fibrotic pathway active in CKD with or without diabetes, without the endocrine baggage of the old MRAs.</a:t>
            </a:r>
            <a:endParaRPr lang="en-US" sz="1600" dirty="0"/>
          </a:p>
        </p:txBody>
      </p:sp>
      <p:sp>
        <p:nvSpPr>
          <p:cNvPr id="7" name="Text 4"/>
          <p:cNvSpPr/>
          <p:nvPr/>
        </p:nvSpPr>
        <p:spPr>
          <a:xfrm>
            <a:off x="640080" y="16002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Why the mineralocorticoid receptor</a:t>
            </a:r>
            <a:endParaRPr lang="en-US" sz="1550" dirty="0"/>
          </a:p>
        </p:txBody>
      </p:sp>
      <p:sp>
        <p:nvSpPr>
          <p:cNvPr id="8" name="Text 5"/>
          <p:cNvSpPr/>
          <p:nvPr/>
        </p:nvSpPr>
        <p:spPr>
          <a:xfrm>
            <a:off x="640080" y="1993392"/>
            <a:ext cx="5134356" cy="2377440"/>
          </a:xfrm>
          <a:prstGeom prst="rect">
            <a:avLst/>
          </a:prstGeom>
          <a:noFill/>
          <a:ln/>
        </p:spPr>
        <p:txBody>
          <a:bodyPr wrap="square" lIns="0" tIns="0" rIns="0" bIns="0" rtlCol="0" anchor="t"/>
          <a:lstStyle/>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MR overactivation promotes sodium and fluid retention.</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It also drives inflammation and fibrosis in the kidney and heart, independent of blood pressure and glucose.</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A plausible driver of progression in non-diabetic CKD, not only diabetic disease.</a:t>
            </a:r>
            <a:endParaRPr lang="en-US" sz="1450" dirty="0"/>
          </a:p>
        </p:txBody>
      </p:sp>
      <p:sp>
        <p:nvSpPr>
          <p:cNvPr id="9" name="Text 6"/>
          <p:cNvSpPr/>
          <p:nvPr/>
        </p:nvSpPr>
        <p:spPr>
          <a:xfrm>
            <a:off x="6414516" y="16002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Why finerenone, not spironolactone</a:t>
            </a:r>
            <a:endParaRPr lang="en-US" sz="1550" dirty="0"/>
          </a:p>
        </p:txBody>
      </p:sp>
      <p:sp>
        <p:nvSpPr>
          <p:cNvPr id="10" name="Text 7"/>
          <p:cNvSpPr/>
          <p:nvPr/>
        </p:nvSpPr>
        <p:spPr>
          <a:xfrm>
            <a:off x="6414516" y="1993392"/>
            <a:ext cx="5134356" cy="3108960"/>
          </a:xfrm>
          <a:prstGeom prst="rect">
            <a:avLst/>
          </a:prstGeom>
          <a:noFill/>
          <a:ln/>
        </p:spPr>
        <p:txBody>
          <a:bodyPr wrap="square" lIns="0" tIns="0" rIns="0" bIns="0" rtlCol="0" anchor="t"/>
          <a:lstStyle/>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Nonsteroidal and selective: no active metabolites, balanced kidney and heart distribution, short half-life.</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Steroidal MRAs bind androgen and progesterone receptors, causing gynecomastia and other endocrine effects.</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In BARACK-D, the steroidal MRA spironolactone did not reduce cardiovascular events in stage 3b CKD (HR 1.05), and about two-thirds of patients stopped it within 6 months, mainly for falling eGFR and hyperkalemia.</a:t>
            </a:r>
            <a:endParaRPr lang="en-US" sz="1450" dirty="0"/>
          </a:p>
        </p:txBody>
      </p:sp>
      <p:sp>
        <p:nvSpPr>
          <p:cNvPr id="11" name="Text 8"/>
          <p:cNvSpPr/>
          <p:nvPr/>
        </p:nvSpPr>
        <p:spPr>
          <a:xfrm>
            <a:off x="640080" y="5577840"/>
            <a:ext cx="10908792" cy="457200"/>
          </a:xfrm>
          <a:prstGeom prst="rect">
            <a:avLst/>
          </a:prstGeom>
          <a:noFill/>
          <a:ln/>
        </p:spPr>
        <p:txBody>
          <a:bodyPr wrap="square" lIns="0" tIns="0" rIns="0" bIns="0" rtlCol="0" anchor="ctr"/>
          <a:lstStyle/>
          <a:p>
            <a:pPr indent="0" marL="0">
              <a:buNone/>
            </a:pPr>
            <a:r>
              <a:rPr lang="en-US" sz="1400" i="1" dirty="0">
                <a:solidFill>
                  <a:srgbClr val="4E5E66"/>
                </a:solidFill>
                <a:latin typeface="Calibri" pitchFamily="34" charset="0"/>
                <a:ea typeface="Calibri" pitchFamily="34" charset="-122"/>
                <a:cs typeface="Calibri" pitchFamily="34" charset="-120"/>
              </a:rPr>
              <a:t>The open part was whether these effects translate into kidney protection in people with CKD but no diabetes.</a:t>
            </a:r>
            <a:endParaRPr lang="en-US" sz="14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 we knew: finerenone in diabetic CKD</a:t>
            </a:r>
            <a:endParaRPr lang="en-US" sz="2400" dirty="0"/>
          </a:p>
        </p:txBody>
      </p:sp>
      <p:sp>
        <p:nvSpPr>
          <p:cNvPr id="6" name="Text 3"/>
          <p:cNvSpPr/>
          <p:nvPr/>
        </p:nvSpPr>
        <p:spPr>
          <a:xfrm>
            <a:off x="640080" y="1005840"/>
            <a:ext cx="10908792" cy="310896"/>
          </a:xfrm>
          <a:prstGeom prst="rect">
            <a:avLst/>
          </a:prstGeom>
          <a:noFill/>
          <a:ln/>
        </p:spPr>
        <p:txBody>
          <a:bodyPr wrap="square" lIns="0" tIns="0" rIns="0" bIns="0" rtlCol="0" anchor="ctr"/>
          <a:lstStyle/>
          <a:p>
            <a:pPr indent="0" marL="0">
              <a:buNone/>
            </a:pPr>
            <a:r>
              <a:rPr lang="en-US" sz="1350" i="1" dirty="0">
                <a:solidFill>
                  <a:srgbClr val="4E5E66"/>
                </a:solidFill>
                <a:latin typeface="Calibri" pitchFamily="34" charset="0"/>
                <a:ea typeface="Calibri" pitchFamily="34" charset="-122"/>
                <a:cs typeface="Calibri" pitchFamily="34" charset="-120"/>
              </a:rPr>
              <a:t>FIDELITY pooled the FIDELIO-DKD and FIGARO-DKD trials: 13,026 patients with type 2 diabetes and CKD.</a:t>
            </a:r>
            <a:endParaRPr lang="en-US" sz="1350" dirty="0"/>
          </a:p>
        </p:txBody>
      </p:sp>
      <p:sp>
        <p:nvSpPr>
          <p:cNvPr id="7" name="Shape 4"/>
          <p:cNvSpPr/>
          <p:nvPr/>
        </p:nvSpPr>
        <p:spPr>
          <a:xfrm>
            <a:off x="640080" y="1554480"/>
            <a:ext cx="10908792" cy="457200"/>
          </a:xfrm>
          <a:prstGeom prst="rect">
            <a:avLst/>
          </a:prstGeom>
          <a:solidFill>
            <a:srgbClr val="0F3446"/>
          </a:solidFill>
          <a:ln/>
        </p:spPr>
      </p:sp>
      <p:sp>
        <p:nvSpPr>
          <p:cNvPr id="8" name="Text 5"/>
          <p:cNvSpPr/>
          <p:nvPr/>
        </p:nvSpPr>
        <p:spPr>
          <a:xfrm>
            <a:off x="749808" y="1554480"/>
            <a:ext cx="4572000" cy="457200"/>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Outcome (FIDELITY pooled analysis)</a:t>
            </a:r>
            <a:endParaRPr lang="en-US" sz="1300" dirty="0"/>
          </a:p>
        </p:txBody>
      </p:sp>
      <p:sp>
        <p:nvSpPr>
          <p:cNvPr id="9" name="Text 6"/>
          <p:cNvSpPr/>
          <p:nvPr/>
        </p:nvSpPr>
        <p:spPr>
          <a:xfrm>
            <a:off x="5504688" y="1554480"/>
            <a:ext cx="2468880"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 vs plac</a:t>
            </a:r>
            <a:endParaRPr lang="en-US" sz="1300" dirty="0"/>
          </a:p>
        </p:txBody>
      </p:sp>
      <p:sp>
        <p:nvSpPr>
          <p:cNvPr id="10" name="Text 7"/>
          <p:cNvSpPr/>
          <p:nvPr/>
        </p:nvSpPr>
        <p:spPr>
          <a:xfrm>
            <a:off x="8156448" y="1554480"/>
            <a:ext cx="2011680"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HR (95% CI)</a:t>
            </a:r>
            <a:endParaRPr lang="en-US" sz="1300" dirty="0"/>
          </a:p>
        </p:txBody>
      </p:sp>
      <p:sp>
        <p:nvSpPr>
          <p:cNvPr id="11" name="Text 8"/>
          <p:cNvSpPr/>
          <p:nvPr/>
        </p:nvSpPr>
        <p:spPr>
          <a:xfrm>
            <a:off x="10351008" y="1554480"/>
            <a:ext cx="1124712"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a:t>
            </a:r>
            <a:endParaRPr lang="en-US" sz="1300" dirty="0"/>
          </a:p>
        </p:txBody>
      </p:sp>
      <p:sp>
        <p:nvSpPr>
          <p:cNvPr id="12" name="Shape 9"/>
          <p:cNvSpPr/>
          <p:nvPr/>
        </p:nvSpPr>
        <p:spPr>
          <a:xfrm>
            <a:off x="640080" y="3017520"/>
            <a:ext cx="10908792" cy="0"/>
          </a:xfrm>
          <a:prstGeom prst="line">
            <a:avLst/>
          </a:prstGeom>
          <a:noFill/>
          <a:ln w="9525">
            <a:solidFill>
              <a:srgbClr val="CFDDDD"/>
            </a:solidFill>
            <a:prstDash val="solid"/>
          </a:ln>
        </p:spPr>
      </p:sp>
      <p:sp>
        <p:nvSpPr>
          <p:cNvPr id="13" name="Text 10"/>
          <p:cNvSpPr/>
          <p:nvPr/>
        </p:nvSpPr>
        <p:spPr>
          <a:xfrm>
            <a:off x="749808" y="2011680"/>
            <a:ext cx="4572000" cy="100584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Cardiovascular composite (CV death, MI, stroke, or HF hospitalization)</a:t>
            </a:r>
            <a:endParaRPr lang="en-US" sz="1250" dirty="0"/>
          </a:p>
        </p:txBody>
      </p:sp>
      <p:sp>
        <p:nvSpPr>
          <p:cNvPr id="14" name="Text 11"/>
          <p:cNvSpPr/>
          <p:nvPr/>
        </p:nvSpPr>
        <p:spPr>
          <a:xfrm>
            <a:off x="5504688" y="2011680"/>
            <a:ext cx="2468880" cy="10058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12.7% vs 14.4%</a:t>
            </a:r>
            <a:endParaRPr lang="en-US" sz="1250" dirty="0"/>
          </a:p>
        </p:txBody>
      </p:sp>
      <p:sp>
        <p:nvSpPr>
          <p:cNvPr id="15" name="Text 12"/>
          <p:cNvSpPr/>
          <p:nvPr/>
        </p:nvSpPr>
        <p:spPr>
          <a:xfrm>
            <a:off x="8156448" y="2011680"/>
            <a:ext cx="2011680" cy="1005840"/>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0.86 (0.78–0.95)</a:t>
            </a:r>
            <a:endParaRPr lang="en-US" sz="1250" dirty="0"/>
          </a:p>
        </p:txBody>
      </p:sp>
      <p:sp>
        <p:nvSpPr>
          <p:cNvPr id="16" name="Text 13"/>
          <p:cNvSpPr/>
          <p:nvPr/>
        </p:nvSpPr>
        <p:spPr>
          <a:xfrm>
            <a:off x="10351008" y="2011680"/>
            <a:ext cx="1124712" cy="10058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0.0018</a:t>
            </a:r>
            <a:endParaRPr lang="en-US" sz="1250" dirty="0"/>
          </a:p>
        </p:txBody>
      </p:sp>
      <p:sp>
        <p:nvSpPr>
          <p:cNvPr id="17" name="Shape 14"/>
          <p:cNvSpPr/>
          <p:nvPr/>
        </p:nvSpPr>
        <p:spPr>
          <a:xfrm>
            <a:off x="640080" y="4023360"/>
            <a:ext cx="10908792" cy="0"/>
          </a:xfrm>
          <a:prstGeom prst="line">
            <a:avLst/>
          </a:prstGeom>
          <a:noFill/>
          <a:ln w="9525">
            <a:solidFill>
              <a:srgbClr val="CFDDDD"/>
            </a:solidFill>
            <a:prstDash val="solid"/>
          </a:ln>
        </p:spPr>
      </p:sp>
      <p:sp>
        <p:nvSpPr>
          <p:cNvPr id="18" name="Text 15"/>
          <p:cNvSpPr/>
          <p:nvPr/>
        </p:nvSpPr>
        <p:spPr>
          <a:xfrm>
            <a:off x="749808" y="3017520"/>
            <a:ext cx="4572000" cy="100584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Kidney composite (kidney failure, sustained ≥57% eGFR decline, or renal death)</a:t>
            </a:r>
            <a:endParaRPr lang="en-US" sz="1250" dirty="0"/>
          </a:p>
        </p:txBody>
      </p:sp>
      <p:sp>
        <p:nvSpPr>
          <p:cNvPr id="19" name="Text 16"/>
          <p:cNvSpPr/>
          <p:nvPr/>
        </p:nvSpPr>
        <p:spPr>
          <a:xfrm>
            <a:off x="5504688" y="3017520"/>
            <a:ext cx="2468880" cy="10058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5.5% vs 7.1%</a:t>
            </a:r>
            <a:endParaRPr lang="en-US" sz="1250" dirty="0"/>
          </a:p>
        </p:txBody>
      </p:sp>
      <p:sp>
        <p:nvSpPr>
          <p:cNvPr id="20" name="Text 17"/>
          <p:cNvSpPr/>
          <p:nvPr/>
        </p:nvSpPr>
        <p:spPr>
          <a:xfrm>
            <a:off x="8156448" y="3017520"/>
            <a:ext cx="2011680" cy="1005840"/>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0.77 (0.67–0.88)</a:t>
            </a:r>
            <a:endParaRPr lang="en-US" sz="1250" dirty="0"/>
          </a:p>
        </p:txBody>
      </p:sp>
      <p:sp>
        <p:nvSpPr>
          <p:cNvPr id="21" name="Text 18"/>
          <p:cNvSpPr/>
          <p:nvPr/>
        </p:nvSpPr>
        <p:spPr>
          <a:xfrm>
            <a:off x="10351008" y="3017520"/>
            <a:ext cx="1124712" cy="10058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0.0002</a:t>
            </a:r>
            <a:endParaRPr lang="en-US" sz="1250" dirty="0"/>
          </a:p>
        </p:txBody>
      </p:sp>
      <p:sp>
        <p:nvSpPr>
          <p:cNvPr id="22" name="Text 19"/>
          <p:cNvSpPr/>
          <p:nvPr/>
        </p:nvSpPr>
        <p:spPr>
          <a:xfrm>
            <a:off x="640080" y="4297680"/>
            <a:ext cx="10908792" cy="640080"/>
          </a:xfrm>
          <a:prstGeom prst="rect">
            <a:avLst/>
          </a:prstGeom>
          <a:noFill/>
          <a:ln/>
        </p:spPr>
        <p:txBody>
          <a:bodyPr wrap="square" lIns="0" tIns="0" rIns="0" bIns="0" rtlCol="0" anchor="ctr"/>
          <a:lstStyle/>
          <a:p>
            <a:pPr indent="0" marL="0">
              <a:lnSpc>
                <a:spcPct val="115000"/>
              </a:lnSpc>
              <a:buNone/>
            </a:pPr>
            <a:r>
              <a:rPr lang="en-US" sz="1500" i="1" dirty="0">
                <a:solidFill>
                  <a:srgbClr val="13212A"/>
                </a:solidFill>
                <a:latin typeface="Calibri" pitchFamily="34" charset="0"/>
                <a:ea typeface="Calibri" pitchFamily="34" charset="-122"/>
                <a:cs typeface="Calibri" pitchFamily="34" charset="-120"/>
              </a:rPr>
              <a:t>Consistent kidney and cardiovascular benefit, but every one of these patients had type 2 diabetes. FIND-CKD asks whether it carries over to CKD without diabetes.</a:t>
            </a:r>
            <a:endParaRPr lang="en-US" sz="1500" dirty="0"/>
          </a:p>
        </p:txBody>
      </p:sp>
      <p:sp>
        <p:nvSpPr>
          <p:cNvPr id="23" name="Text 20"/>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FIDELITY: Agarwal et al., Eur Heart J 2022 (ehab777). Same ≥57% kidney definition as FIND-CKD.</a:t>
            </a:r>
            <a:endParaRPr lang="en-US" sz="850" dirty="0"/>
          </a:p>
        </p:txBody>
      </p:sp>
      <p:sp>
        <p:nvSpPr>
          <p:cNvPr id="24" name="Text 21"/>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5" name="Text 22"/>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02</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Methods</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Design, population, dosing, endpoints, and how the eGFR slope was analyzed.</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Trial design</a:t>
            </a:r>
            <a:endParaRPr lang="en-US" sz="2400" dirty="0"/>
          </a:p>
        </p:txBody>
      </p:sp>
      <p:sp>
        <p:nvSpPr>
          <p:cNvPr id="6" name="Text 3"/>
          <p:cNvSpPr/>
          <p:nvPr/>
        </p:nvSpPr>
        <p:spPr>
          <a:xfrm>
            <a:off x="640080" y="1170432"/>
            <a:ext cx="10908792" cy="457200"/>
          </a:xfrm>
          <a:prstGeom prst="rect">
            <a:avLst/>
          </a:prstGeom>
          <a:noFill/>
          <a:ln/>
        </p:spPr>
        <p:txBody>
          <a:bodyPr wrap="square" lIns="0" tIns="0" rIns="0" bIns="0" rtlCol="0" anchor="ctr"/>
          <a:lstStyle/>
          <a:p>
            <a:pPr indent="0" marL="0">
              <a:lnSpc>
                <a:spcPct val="115000"/>
              </a:lnSpc>
              <a:buNone/>
            </a:pPr>
            <a:r>
              <a:rPr lang="en-US" sz="1550" dirty="0">
                <a:solidFill>
                  <a:srgbClr val="13212A"/>
                </a:solidFill>
                <a:latin typeface="Calibri" pitchFamily="34" charset="0"/>
                <a:ea typeface="Calibri" pitchFamily="34" charset="-122"/>
                <a:cs typeface="Calibri" pitchFamily="34" charset="-120"/>
              </a:rPr>
              <a:t>Phase 3, international, double-blind, placebo-controlled. 1:1 randomization. At least 32 months of treatment; median treatment 36.6 months.</a:t>
            </a:r>
            <a:endParaRPr lang="en-US" sz="1550" dirty="0"/>
          </a:p>
        </p:txBody>
      </p:sp>
      <p:sp>
        <p:nvSpPr>
          <p:cNvPr id="7" name="Shape 4"/>
          <p:cNvSpPr/>
          <p:nvPr/>
        </p:nvSpPr>
        <p:spPr>
          <a:xfrm>
            <a:off x="640080" y="1828800"/>
            <a:ext cx="3108960" cy="1051560"/>
          </a:xfrm>
          <a:prstGeom prst="roundRect">
            <a:avLst>
              <a:gd name="adj" fmla="val 6957"/>
            </a:avLst>
          </a:prstGeom>
          <a:solidFill>
            <a:srgbClr val="E7F4F4"/>
          </a:solidFill>
          <a:ln/>
        </p:spPr>
      </p:sp>
      <p:sp>
        <p:nvSpPr>
          <p:cNvPr id="8" name="Text 5"/>
          <p:cNvSpPr/>
          <p:nvPr/>
        </p:nvSpPr>
        <p:spPr>
          <a:xfrm>
            <a:off x="822960" y="1975104"/>
            <a:ext cx="2743200" cy="365760"/>
          </a:xfrm>
          <a:prstGeom prst="rect">
            <a:avLst/>
          </a:prstGeom>
          <a:noFill/>
          <a:ln/>
        </p:spPr>
        <p:txBody>
          <a:bodyPr wrap="square" lIns="0" tIns="0" rIns="0" bIns="0" rtlCol="0" anchor="ctr"/>
          <a:lstStyle/>
          <a:p>
            <a:pPr indent="0" marL="0">
              <a:buNone/>
            </a:pPr>
            <a:r>
              <a:rPr lang="en-US" sz="1650" b="1" dirty="0">
                <a:solidFill>
                  <a:srgbClr val="0F3446"/>
                </a:solidFill>
                <a:latin typeface="Calibri" pitchFamily="34" charset="0"/>
                <a:ea typeface="Calibri" pitchFamily="34" charset="-122"/>
                <a:cs typeface="Calibri" pitchFamily="34" charset="-120"/>
              </a:rPr>
              <a:t>3231 assessed</a:t>
            </a:r>
            <a:endParaRPr lang="en-US" sz="1650" dirty="0"/>
          </a:p>
        </p:txBody>
      </p:sp>
      <p:sp>
        <p:nvSpPr>
          <p:cNvPr id="9" name="Text 6"/>
          <p:cNvSpPr/>
          <p:nvPr/>
        </p:nvSpPr>
        <p:spPr>
          <a:xfrm>
            <a:off x="822960" y="2331720"/>
            <a:ext cx="2743200" cy="502920"/>
          </a:xfrm>
          <a:prstGeom prst="rect">
            <a:avLst/>
          </a:prstGeom>
          <a:noFill/>
          <a:ln/>
        </p:spPr>
        <p:txBody>
          <a:bodyPr wrap="square" lIns="0" tIns="0" rIns="0" bIns="0" rtlCol="0" anchor="ctr"/>
          <a:lstStyle/>
          <a:p>
            <a:pPr indent="0" marL="0">
              <a:lnSpc>
                <a:spcPct val="100000"/>
              </a:lnSpc>
              <a:buNone/>
            </a:pPr>
            <a:r>
              <a:rPr lang="en-US" sz="1200" dirty="0">
                <a:solidFill>
                  <a:srgbClr val="4E5E66"/>
                </a:solidFill>
                <a:latin typeface="Calibri" pitchFamily="34" charset="0"/>
                <a:ea typeface="Calibri" pitchFamily="34" charset="-122"/>
                <a:cs typeface="Calibri" pitchFamily="34" charset="-120"/>
              </a:rPr>
              <a:t>Sept 2021 – May 2023</a:t>
            </a:r>
            <a:endParaRPr lang="en-US" sz="1200" dirty="0"/>
          </a:p>
        </p:txBody>
      </p:sp>
      <p:sp>
        <p:nvSpPr>
          <p:cNvPr id="10" name="Shape 7"/>
          <p:cNvSpPr/>
          <p:nvPr/>
        </p:nvSpPr>
        <p:spPr>
          <a:xfrm>
            <a:off x="3840480" y="2231136"/>
            <a:ext cx="384048" cy="256032"/>
          </a:xfrm>
          <a:prstGeom prst="rightArrow">
            <a:avLst/>
          </a:prstGeom>
          <a:solidFill>
            <a:srgbClr val="9AA7AD"/>
          </a:solidFill>
          <a:ln/>
        </p:spPr>
      </p:sp>
      <p:sp>
        <p:nvSpPr>
          <p:cNvPr id="11" name="Shape 8"/>
          <p:cNvSpPr/>
          <p:nvPr/>
        </p:nvSpPr>
        <p:spPr>
          <a:xfrm>
            <a:off x="4297680" y="1828800"/>
            <a:ext cx="3108960" cy="1051560"/>
          </a:xfrm>
          <a:prstGeom prst="roundRect">
            <a:avLst>
              <a:gd name="adj" fmla="val 6957"/>
            </a:avLst>
          </a:prstGeom>
          <a:solidFill>
            <a:srgbClr val="0F3446"/>
          </a:solidFill>
          <a:ln/>
        </p:spPr>
      </p:sp>
      <p:sp>
        <p:nvSpPr>
          <p:cNvPr id="12" name="Text 9"/>
          <p:cNvSpPr/>
          <p:nvPr/>
        </p:nvSpPr>
        <p:spPr>
          <a:xfrm>
            <a:off x="4480560" y="1975104"/>
            <a:ext cx="2743200" cy="36576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1584 randomized</a:t>
            </a:r>
            <a:endParaRPr lang="en-US" sz="1650" dirty="0"/>
          </a:p>
        </p:txBody>
      </p:sp>
      <p:sp>
        <p:nvSpPr>
          <p:cNvPr id="13" name="Text 10"/>
          <p:cNvSpPr/>
          <p:nvPr/>
        </p:nvSpPr>
        <p:spPr>
          <a:xfrm>
            <a:off x="4480560" y="2331720"/>
            <a:ext cx="2743200" cy="502920"/>
          </a:xfrm>
          <a:prstGeom prst="rect">
            <a:avLst/>
          </a:prstGeom>
          <a:noFill/>
          <a:ln/>
        </p:spPr>
        <p:txBody>
          <a:bodyPr wrap="square" lIns="0" tIns="0" rIns="0" bIns="0" rtlCol="0" anchor="ctr"/>
          <a:lstStyle/>
          <a:p>
            <a:pPr indent="0" marL="0">
              <a:lnSpc>
                <a:spcPct val="100000"/>
              </a:lnSpc>
              <a:buNone/>
            </a:pPr>
            <a:r>
              <a:rPr lang="en-US" sz="1200" dirty="0">
                <a:solidFill>
                  <a:srgbClr val="D2E4E8"/>
                </a:solidFill>
                <a:latin typeface="Calibri" pitchFamily="34" charset="0"/>
                <a:ea typeface="Calibri" pitchFamily="34" charset="-122"/>
                <a:cs typeface="Calibri" pitchFamily="34" charset="-120"/>
              </a:rPr>
              <a:t>Full analysis set (all randomized)</a:t>
            </a:r>
            <a:endParaRPr lang="en-US" sz="1200" dirty="0"/>
          </a:p>
        </p:txBody>
      </p:sp>
      <p:sp>
        <p:nvSpPr>
          <p:cNvPr id="14" name="Shape 11"/>
          <p:cNvSpPr/>
          <p:nvPr/>
        </p:nvSpPr>
        <p:spPr>
          <a:xfrm>
            <a:off x="7498080" y="2231136"/>
            <a:ext cx="384048" cy="256032"/>
          </a:xfrm>
          <a:prstGeom prst="rightArrow">
            <a:avLst/>
          </a:prstGeom>
          <a:solidFill>
            <a:srgbClr val="9AA7AD"/>
          </a:solidFill>
          <a:ln/>
        </p:spPr>
      </p:sp>
      <p:sp>
        <p:nvSpPr>
          <p:cNvPr id="15" name="Shape 12"/>
          <p:cNvSpPr/>
          <p:nvPr/>
        </p:nvSpPr>
        <p:spPr>
          <a:xfrm>
            <a:off x="7955280" y="1828800"/>
            <a:ext cx="3593592" cy="457200"/>
          </a:xfrm>
          <a:prstGeom prst="roundRect">
            <a:avLst>
              <a:gd name="adj" fmla="val 12000"/>
            </a:avLst>
          </a:prstGeom>
          <a:solidFill>
            <a:srgbClr val="12A3A6"/>
          </a:solidFill>
          <a:ln/>
        </p:spPr>
      </p:sp>
      <p:sp>
        <p:nvSpPr>
          <p:cNvPr id="16" name="Text 13"/>
          <p:cNvSpPr/>
          <p:nvPr/>
        </p:nvSpPr>
        <p:spPr>
          <a:xfrm>
            <a:off x="8119872" y="1828800"/>
            <a:ext cx="3319272"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Finerenone  </a:t>
            </a:r>
            <a:pPr indent="0" marL="0">
              <a:buNone/>
            </a:pPr>
            <a:r>
              <a:rPr lang="en-US" sz="1400" dirty="0">
                <a:solidFill>
                  <a:srgbClr val="E7F4F4"/>
                </a:solidFill>
                <a:latin typeface="Calibri" pitchFamily="34" charset="0"/>
                <a:ea typeface="Calibri" pitchFamily="34" charset="-122"/>
                <a:cs typeface="Calibri" pitchFamily="34" charset="-120"/>
              </a:rPr>
              <a:t>793</a:t>
            </a:r>
            <a:endParaRPr lang="en-US" sz="1500" dirty="0"/>
          </a:p>
        </p:txBody>
      </p:sp>
      <p:sp>
        <p:nvSpPr>
          <p:cNvPr id="17" name="Shape 14"/>
          <p:cNvSpPr/>
          <p:nvPr/>
        </p:nvSpPr>
        <p:spPr>
          <a:xfrm>
            <a:off x="7955280" y="2423160"/>
            <a:ext cx="3593592" cy="457200"/>
          </a:xfrm>
          <a:prstGeom prst="roundRect">
            <a:avLst>
              <a:gd name="adj" fmla="val 12000"/>
            </a:avLst>
          </a:prstGeom>
          <a:solidFill>
            <a:srgbClr val="9AA7AD"/>
          </a:solidFill>
          <a:ln/>
        </p:spPr>
      </p:sp>
      <p:sp>
        <p:nvSpPr>
          <p:cNvPr id="18" name="Text 15"/>
          <p:cNvSpPr/>
          <p:nvPr/>
        </p:nvSpPr>
        <p:spPr>
          <a:xfrm>
            <a:off x="8119872" y="2423160"/>
            <a:ext cx="3319272"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Placebo  </a:t>
            </a:r>
            <a:pPr indent="0" marL="0">
              <a:buNone/>
            </a:pPr>
            <a:r>
              <a:rPr lang="en-US" sz="1400" dirty="0">
                <a:solidFill>
                  <a:srgbClr val="F1F5F6"/>
                </a:solidFill>
                <a:latin typeface="Calibri" pitchFamily="34" charset="0"/>
                <a:ea typeface="Calibri" pitchFamily="34" charset="-122"/>
                <a:cs typeface="Calibri" pitchFamily="34" charset="-120"/>
              </a:rPr>
              <a:t>791</a:t>
            </a:r>
            <a:endParaRPr lang="en-US" sz="1500" dirty="0"/>
          </a:p>
        </p:txBody>
      </p:sp>
      <p:sp>
        <p:nvSpPr>
          <p:cNvPr id="19" name="Text 16"/>
          <p:cNvSpPr/>
          <p:nvPr/>
        </p:nvSpPr>
        <p:spPr>
          <a:xfrm>
            <a:off x="640080" y="3383280"/>
            <a:ext cx="518007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Randomization &amp; stratification</a:t>
            </a:r>
            <a:endParaRPr lang="en-US" sz="1550" dirty="0"/>
          </a:p>
        </p:txBody>
      </p:sp>
      <p:sp>
        <p:nvSpPr>
          <p:cNvPr id="20" name="Text 17"/>
          <p:cNvSpPr/>
          <p:nvPr/>
        </p:nvSpPr>
        <p:spPr>
          <a:xfrm>
            <a:off x="640080" y="3749040"/>
            <a:ext cx="5180076" cy="2377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Baseline SGLT2 inhibitor use (yes vs. no)</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Screening UACR (≤1000 vs. &gt;1000 mg/g)</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Treatment-policy estimand: eGFR after stopping the regimen still counted in the analysis.</a:t>
            </a:r>
            <a:endParaRPr lang="en-US" sz="1400" dirty="0"/>
          </a:p>
        </p:txBody>
      </p:sp>
      <p:sp>
        <p:nvSpPr>
          <p:cNvPr id="21" name="Text 18"/>
          <p:cNvSpPr/>
          <p:nvPr/>
        </p:nvSpPr>
        <p:spPr>
          <a:xfrm>
            <a:off x="6368796" y="3383280"/>
            <a:ext cx="518007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Oversight</a:t>
            </a:r>
            <a:endParaRPr lang="en-US" sz="1550" dirty="0"/>
          </a:p>
        </p:txBody>
      </p:sp>
      <p:sp>
        <p:nvSpPr>
          <p:cNvPr id="22" name="Text 19"/>
          <p:cNvSpPr/>
          <p:nvPr/>
        </p:nvSpPr>
        <p:spPr>
          <a:xfrm>
            <a:off x="6368796" y="3749040"/>
            <a:ext cx="5180076" cy="2377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Designed by the steering committee and Bayer (sponsor).</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Independent data and safety monitoring committee throughout.</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Sponsor analyses re-run independently at UMC Groningen on the original data.</a:t>
            </a:r>
            <a:endParaRPr lang="en-US" sz="1400" dirty="0"/>
          </a:p>
        </p:txBody>
      </p:sp>
      <p:sp>
        <p:nvSpPr>
          <p:cNvPr id="23" name="Text 20"/>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4" name="Text 21"/>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Who was studied</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Key inclusion criteria</a:t>
            </a:r>
            <a:endParaRPr lang="en-US" sz="1550" dirty="0"/>
          </a:p>
        </p:txBody>
      </p:sp>
      <p:sp>
        <p:nvSpPr>
          <p:cNvPr id="7" name="Text 4"/>
          <p:cNvSpPr/>
          <p:nvPr/>
        </p:nvSpPr>
        <p:spPr>
          <a:xfrm>
            <a:off x="640080" y="1645920"/>
            <a:ext cx="5134356" cy="31089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Adults with a clinical diagnosis of CKD, without diabetes</a:t>
            </a:r>
            <a:endParaRPr lang="en-US" sz="1500" dirty="0"/>
          </a:p>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eGFR 25 to &lt;60 with UACR 200–500 mg/g, or eGFR 25 to &lt;90 with UACR 500–3500 mg/g</a:t>
            </a:r>
            <a:endParaRPr lang="en-US" sz="1500" dirty="0"/>
          </a:p>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On a stable ACE inhibitor or ARB for ≥4 weeks</a:t>
            </a:r>
            <a:endParaRPr lang="en-US" sz="1500" dirty="0"/>
          </a:p>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Serum potassium ≤4.8 mmol/L at screening</a:t>
            </a:r>
            <a:endParaRPr lang="en-US" sz="1500" dirty="0"/>
          </a:p>
        </p:txBody>
      </p:sp>
      <p:sp>
        <p:nvSpPr>
          <p:cNvPr id="8" name="Text 5"/>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E86A44"/>
                </a:solidFill>
                <a:latin typeface="Calibri" pitchFamily="34" charset="0"/>
                <a:ea typeface="Calibri" pitchFamily="34" charset="-122"/>
                <a:cs typeface="Calibri" pitchFamily="34" charset="-120"/>
              </a:rPr>
              <a:t>Key exclusion criteria</a:t>
            </a:r>
            <a:endParaRPr lang="en-US" sz="1550" dirty="0"/>
          </a:p>
        </p:txBody>
      </p:sp>
      <p:sp>
        <p:nvSpPr>
          <p:cNvPr id="9" name="Text 6"/>
          <p:cNvSpPr/>
          <p:nvPr/>
        </p:nvSpPr>
        <p:spPr>
          <a:xfrm>
            <a:off x="6414516" y="1645920"/>
            <a:ext cx="5134356" cy="3108960"/>
          </a:xfrm>
          <a:prstGeom prst="rect">
            <a:avLst/>
          </a:prstGeom>
          <a:noFill/>
          <a:ln/>
        </p:spPr>
        <p:txBody>
          <a:bodyPr wrap="square" lIns="0" tIns="0" rIns="0" bIns="0" rtlCol="0" anchor="t"/>
          <a:lstStyle/>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Type 1 or type 2 diabetes, or HbA1c ≥6.5%</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Indication for a steroidal MRA</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Polycystic kidney disease</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Lupus nephritis or ANCA-associated vasculitis</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Immunosuppression within the prior 6 months</a:t>
            </a:r>
            <a:endParaRPr lang="en-US" sz="1500" dirty="0"/>
          </a:p>
        </p:txBody>
      </p:sp>
      <p:sp>
        <p:nvSpPr>
          <p:cNvPr id="10" name="Shape 7"/>
          <p:cNvSpPr/>
          <p:nvPr/>
        </p:nvSpPr>
        <p:spPr>
          <a:xfrm>
            <a:off x="640080" y="5349240"/>
            <a:ext cx="10908792" cy="731520"/>
          </a:xfrm>
          <a:prstGeom prst="roundRect">
            <a:avLst>
              <a:gd name="adj" fmla="val 10000"/>
            </a:avLst>
          </a:prstGeom>
          <a:solidFill>
            <a:srgbClr val="E7F4F4"/>
          </a:solidFill>
          <a:ln/>
        </p:spPr>
      </p:sp>
      <p:sp>
        <p:nvSpPr>
          <p:cNvPr id="11" name="Text 8"/>
          <p:cNvSpPr/>
          <p:nvPr/>
        </p:nvSpPr>
        <p:spPr>
          <a:xfrm>
            <a:off x="914400" y="5349240"/>
            <a:ext cx="10360152" cy="731520"/>
          </a:xfrm>
          <a:prstGeom prst="rect">
            <a:avLst/>
          </a:prstGeom>
          <a:noFill/>
          <a:ln/>
        </p:spPr>
        <p:txBody>
          <a:bodyPr wrap="square" lIns="0" tIns="0" rIns="0" bIns="0" rtlCol="0" anchor="ctr"/>
          <a:lstStyle/>
          <a:p>
            <a:pPr indent="0" marL="0">
              <a:lnSpc>
                <a:spcPct val="112000"/>
              </a:lnSpc>
              <a:buNone/>
            </a:pPr>
            <a:r>
              <a:rPr lang="en-US" sz="1400" i="1" dirty="0">
                <a:solidFill>
                  <a:srgbClr val="13212A"/>
                </a:solidFill>
                <a:latin typeface="Calibri" pitchFamily="34" charset="0"/>
                <a:ea typeface="Calibri" pitchFamily="34" charset="-122"/>
                <a:cs typeface="Calibri" pitchFamily="34" charset="-120"/>
              </a:rPr>
              <a:t>In practice, an enriched higher-risk phenotype: mostly glomerular disease with heavy albuminuria and preserved-to-moderately-reduced eGFR, on a RAS inhibitor, kept clear of diseases that need other therapy.</a:t>
            </a:r>
            <a:endParaRPr lang="en-US" sz="14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Baseline characteristics</a:t>
            </a:r>
            <a:endParaRPr lang="en-US" sz="2400" dirty="0"/>
          </a:p>
        </p:txBody>
      </p:sp>
      <p:sp>
        <p:nvSpPr>
          <p:cNvPr id="6" name="Text 3"/>
          <p:cNvSpPr/>
          <p:nvPr/>
        </p:nvSpPr>
        <p:spPr>
          <a:xfrm>
            <a:off x="640080" y="1005840"/>
            <a:ext cx="10908792" cy="310896"/>
          </a:xfrm>
          <a:prstGeom prst="rect">
            <a:avLst/>
          </a:prstGeom>
          <a:noFill/>
          <a:ln/>
        </p:spPr>
        <p:txBody>
          <a:bodyPr wrap="square" lIns="0" tIns="0" rIns="0" bIns="0" rtlCol="0" anchor="ctr"/>
          <a:lstStyle/>
          <a:p>
            <a:pPr indent="0" marL="0">
              <a:buNone/>
            </a:pPr>
            <a:r>
              <a:rPr lang="en-US" sz="1350" i="1" dirty="0">
                <a:solidFill>
                  <a:srgbClr val="4E5E66"/>
                </a:solidFill>
                <a:latin typeface="Calibri" pitchFamily="34" charset="0"/>
                <a:ea typeface="Calibri" pitchFamily="34" charset="-122"/>
                <a:cs typeface="Calibri" pitchFamily="34" charset="-120"/>
              </a:rPr>
              <a:t>Well balanced between the two groups (n = 1584).</a:t>
            </a:r>
            <a:endParaRPr lang="en-US" sz="1350" dirty="0"/>
          </a:p>
        </p:txBody>
      </p:sp>
      <p:sp>
        <p:nvSpPr>
          <p:cNvPr id="7" name="Shape 4"/>
          <p:cNvSpPr/>
          <p:nvPr/>
        </p:nvSpPr>
        <p:spPr>
          <a:xfrm>
            <a:off x="640080" y="1417320"/>
            <a:ext cx="10908792" cy="420624"/>
          </a:xfrm>
          <a:prstGeom prst="rect">
            <a:avLst/>
          </a:prstGeom>
          <a:solidFill>
            <a:srgbClr val="0F3446"/>
          </a:solidFill>
          <a:ln/>
        </p:spPr>
      </p:sp>
      <p:sp>
        <p:nvSpPr>
          <p:cNvPr id="8" name="Text 5"/>
          <p:cNvSpPr/>
          <p:nvPr/>
        </p:nvSpPr>
        <p:spPr>
          <a:xfrm>
            <a:off x="749808" y="1417320"/>
            <a:ext cx="530352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Characteristic</a:t>
            </a:r>
            <a:endParaRPr lang="en-US" sz="1300" dirty="0"/>
          </a:p>
        </p:txBody>
      </p:sp>
      <p:sp>
        <p:nvSpPr>
          <p:cNvPr id="9" name="Text 6"/>
          <p:cNvSpPr/>
          <p:nvPr/>
        </p:nvSpPr>
        <p:spPr>
          <a:xfrm>
            <a:off x="6236208" y="1417320"/>
            <a:ext cx="2560320"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Finerenone (n=793)</a:t>
            </a:r>
            <a:endParaRPr lang="en-US" sz="1300" dirty="0"/>
          </a:p>
        </p:txBody>
      </p:sp>
      <p:sp>
        <p:nvSpPr>
          <p:cNvPr id="10" name="Text 7"/>
          <p:cNvSpPr/>
          <p:nvPr/>
        </p:nvSpPr>
        <p:spPr>
          <a:xfrm>
            <a:off x="8979408" y="1417320"/>
            <a:ext cx="2496312"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Placebo (n=791)</a:t>
            </a:r>
            <a:endParaRPr lang="en-US" sz="1300" dirty="0"/>
          </a:p>
        </p:txBody>
      </p:sp>
      <p:sp>
        <p:nvSpPr>
          <p:cNvPr id="11" name="Shape 8"/>
          <p:cNvSpPr/>
          <p:nvPr/>
        </p:nvSpPr>
        <p:spPr>
          <a:xfrm>
            <a:off x="640080" y="2203704"/>
            <a:ext cx="10908792" cy="0"/>
          </a:xfrm>
          <a:prstGeom prst="line">
            <a:avLst/>
          </a:prstGeom>
          <a:noFill/>
          <a:ln w="9525">
            <a:solidFill>
              <a:srgbClr val="CFDDDD"/>
            </a:solidFill>
            <a:prstDash val="solid"/>
          </a:ln>
        </p:spPr>
      </p:sp>
      <p:sp>
        <p:nvSpPr>
          <p:cNvPr id="12" name="Text 9"/>
          <p:cNvSpPr/>
          <p:nvPr/>
        </p:nvSpPr>
        <p:spPr>
          <a:xfrm>
            <a:off x="749808" y="183794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Age, yr</a:t>
            </a:r>
            <a:endParaRPr lang="en-US" sz="1300" dirty="0"/>
          </a:p>
        </p:txBody>
      </p:sp>
      <p:sp>
        <p:nvSpPr>
          <p:cNvPr id="13" name="Text 10"/>
          <p:cNvSpPr/>
          <p:nvPr/>
        </p:nvSpPr>
        <p:spPr>
          <a:xfrm>
            <a:off x="6236208" y="183794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54.5</a:t>
            </a:r>
            <a:endParaRPr lang="en-US" sz="1300" dirty="0"/>
          </a:p>
        </p:txBody>
      </p:sp>
      <p:sp>
        <p:nvSpPr>
          <p:cNvPr id="14" name="Text 11"/>
          <p:cNvSpPr/>
          <p:nvPr/>
        </p:nvSpPr>
        <p:spPr>
          <a:xfrm>
            <a:off x="8979408" y="183794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54.8</a:t>
            </a:r>
            <a:endParaRPr lang="en-US" sz="1300" dirty="0"/>
          </a:p>
        </p:txBody>
      </p:sp>
      <p:sp>
        <p:nvSpPr>
          <p:cNvPr id="15" name="Shape 12"/>
          <p:cNvSpPr/>
          <p:nvPr/>
        </p:nvSpPr>
        <p:spPr>
          <a:xfrm>
            <a:off x="640080" y="2569464"/>
            <a:ext cx="10908792" cy="0"/>
          </a:xfrm>
          <a:prstGeom prst="line">
            <a:avLst/>
          </a:prstGeom>
          <a:noFill/>
          <a:ln w="9525">
            <a:solidFill>
              <a:srgbClr val="CFDDDD"/>
            </a:solidFill>
            <a:prstDash val="solid"/>
          </a:ln>
        </p:spPr>
      </p:sp>
      <p:sp>
        <p:nvSpPr>
          <p:cNvPr id="16" name="Text 13"/>
          <p:cNvSpPr/>
          <p:nvPr/>
        </p:nvSpPr>
        <p:spPr>
          <a:xfrm>
            <a:off x="749808" y="220370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Female, n (%)</a:t>
            </a:r>
            <a:endParaRPr lang="en-US" sz="1300" dirty="0"/>
          </a:p>
        </p:txBody>
      </p:sp>
      <p:sp>
        <p:nvSpPr>
          <p:cNvPr id="17" name="Text 14"/>
          <p:cNvSpPr/>
          <p:nvPr/>
        </p:nvSpPr>
        <p:spPr>
          <a:xfrm>
            <a:off x="6236208" y="220370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275 (34.7)</a:t>
            </a:r>
            <a:endParaRPr lang="en-US" sz="1300" dirty="0"/>
          </a:p>
        </p:txBody>
      </p:sp>
      <p:sp>
        <p:nvSpPr>
          <p:cNvPr id="18" name="Text 15"/>
          <p:cNvSpPr/>
          <p:nvPr/>
        </p:nvSpPr>
        <p:spPr>
          <a:xfrm>
            <a:off x="8979408" y="220370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260 (32.9)</a:t>
            </a:r>
            <a:endParaRPr lang="en-US" sz="1300" dirty="0"/>
          </a:p>
        </p:txBody>
      </p:sp>
      <p:sp>
        <p:nvSpPr>
          <p:cNvPr id="19" name="Shape 16"/>
          <p:cNvSpPr/>
          <p:nvPr/>
        </p:nvSpPr>
        <p:spPr>
          <a:xfrm>
            <a:off x="640080" y="2935224"/>
            <a:ext cx="10908792" cy="0"/>
          </a:xfrm>
          <a:prstGeom prst="line">
            <a:avLst/>
          </a:prstGeom>
          <a:noFill/>
          <a:ln w="9525">
            <a:solidFill>
              <a:srgbClr val="CFDDDD"/>
            </a:solidFill>
            <a:prstDash val="solid"/>
          </a:ln>
        </p:spPr>
      </p:sp>
      <p:sp>
        <p:nvSpPr>
          <p:cNvPr id="20" name="Text 17"/>
          <p:cNvSpPr/>
          <p:nvPr/>
        </p:nvSpPr>
        <p:spPr>
          <a:xfrm>
            <a:off x="749808" y="256946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eGFR, ml/min/1.73 m²</a:t>
            </a:r>
            <a:endParaRPr lang="en-US" sz="1300" dirty="0"/>
          </a:p>
        </p:txBody>
      </p:sp>
      <p:sp>
        <p:nvSpPr>
          <p:cNvPr id="21" name="Text 18"/>
          <p:cNvSpPr/>
          <p:nvPr/>
        </p:nvSpPr>
        <p:spPr>
          <a:xfrm>
            <a:off x="6236208" y="256946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46.8</a:t>
            </a:r>
            <a:endParaRPr lang="en-US" sz="1300" dirty="0"/>
          </a:p>
        </p:txBody>
      </p:sp>
      <p:sp>
        <p:nvSpPr>
          <p:cNvPr id="22" name="Text 19"/>
          <p:cNvSpPr/>
          <p:nvPr/>
        </p:nvSpPr>
        <p:spPr>
          <a:xfrm>
            <a:off x="8979408" y="256946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46.6</a:t>
            </a:r>
            <a:endParaRPr lang="en-US" sz="1300" dirty="0"/>
          </a:p>
        </p:txBody>
      </p:sp>
      <p:sp>
        <p:nvSpPr>
          <p:cNvPr id="23" name="Shape 20"/>
          <p:cNvSpPr/>
          <p:nvPr/>
        </p:nvSpPr>
        <p:spPr>
          <a:xfrm>
            <a:off x="640080" y="3300984"/>
            <a:ext cx="10908792" cy="0"/>
          </a:xfrm>
          <a:prstGeom prst="line">
            <a:avLst/>
          </a:prstGeom>
          <a:noFill/>
          <a:ln w="9525">
            <a:solidFill>
              <a:srgbClr val="CFDDDD"/>
            </a:solidFill>
            <a:prstDash val="solid"/>
          </a:ln>
        </p:spPr>
      </p:sp>
      <p:sp>
        <p:nvSpPr>
          <p:cNvPr id="24" name="Text 21"/>
          <p:cNvSpPr/>
          <p:nvPr/>
        </p:nvSpPr>
        <p:spPr>
          <a:xfrm>
            <a:off x="749808" y="293522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eGFR &lt;60 ml/min/1.73 m², %</a:t>
            </a:r>
            <a:endParaRPr lang="en-US" sz="1300" dirty="0"/>
          </a:p>
        </p:txBody>
      </p:sp>
      <p:sp>
        <p:nvSpPr>
          <p:cNvPr id="25" name="Text 22"/>
          <p:cNvSpPr/>
          <p:nvPr/>
        </p:nvSpPr>
        <p:spPr>
          <a:xfrm>
            <a:off x="6236208" y="293522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79.6</a:t>
            </a:r>
            <a:endParaRPr lang="en-US" sz="1300" dirty="0"/>
          </a:p>
        </p:txBody>
      </p:sp>
      <p:sp>
        <p:nvSpPr>
          <p:cNvPr id="26" name="Text 23"/>
          <p:cNvSpPr/>
          <p:nvPr/>
        </p:nvSpPr>
        <p:spPr>
          <a:xfrm>
            <a:off x="8979408" y="293522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80.4</a:t>
            </a:r>
            <a:endParaRPr lang="en-US" sz="1300" dirty="0"/>
          </a:p>
        </p:txBody>
      </p:sp>
      <p:sp>
        <p:nvSpPr>
          <p:cNvPr id="27" name="Shape 24"/>
          <p:cNvSpPr/>
          <p:nvPr/>
        </p:nvSpPr>
        <p:spPr>
          <a:xfrm>
            <a:off x="640080" y="3666744"/>
            <a:ext cx="10908792" cy="0"/>
          </a:xfrm>
          <a:prstGeom prst="line">
            <a:avLst/>
          </a:prstGeom>
          <a:noFill/>
          <a:ln w="9525">
            <a:solidFill>
              <a:srgbClr val="CFDDDD"/>
            </a:solidFill>
            <a:prstDash val="solid"/>
          </a:ln>
        </p:spPr>
      </p:sp>
      <p:sp>
        <p:nvSpPr>
          <p:cNvPr id="28" name="Text 25"/>
          <p:cNvSpPr/>
          <p:nvPr/>
        </p:nvSpPr>
        <p:spPr>
          <a:xfrm>
            <a:off x="749808" y="330098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UACR, median (mg/g)</a:t>
            </a:r>
            <a:endParaRPr lang="en-US" sz="1300" dirty="0"/>
          </a:p>
        </p:txBody>
      </p:sp>
      <p:sp>
        <p:nvSpPr>
          <p:cNvPr id="29" name="Text 26"/>
          <p:cNvSpPr/>
          <p:nvPr/>
        </p:nvSpPr>
        <p:spPr>
          <a:xfrm>
            <a:off x="6236208" y="330098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827.5</a:t>
            </a:r>
            <a:endParaRPr lang="en-US" sz="1300" dirty="0"/>
          </a:p>
        </p:txBody>
      </p:sp>
      <p:sp>
        <p:nvSpPr>
          <p:cNvPr id="30" name="Text 27"/>
          <p:cNvSpPr/>
          <p:nvPr/>
        </p:nvSpPr>
        <p:spPr>
          <a:xfrm>
            <a:off x="8979408" y="330098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810.7</a:t>
            </a:r>
            <a:endParaRPr lang="en-US" sz="1300" dirty="0"/>
          </a:p>
        </p:txBody>
      </p:sp>
      <p:sp>
        <p:nvSpPr>
          <p:cNvPr id="31" name="Shape 28"/>
          <p:cNvSpPr/>
          <p:nvPr/>
        </p:nvSpPr>
        <p:spPr>
          <a:xfrm>
            <a:off x="640080" y="4032504"/>
            <a:ext cx="10908792" cy="0"/>
          </a:xfrm>
          <a:prstGeom prst="line">
            <a:avLst/>
          </a:prstGeom>
          <a:noFill/>
          <a:ln w="9525">
            <a:solidFill>
              <a:srgbClr val="CFDDDD"/>
            </a:solidFill>
            <a:prstDash val="solid"/>
          </a:ln>
        </p:spPr>
      </p:sp>
      <p:sp>
        <p:nvSpPr>
          <p:cNvPr id="32" name="Text 29"/>
          <p:cNvSpPr/>
          <p:nvPr/>
        </p:nvSpPr>
        <p:spPr>
          <a:xfrm>
            <a:off x="749808" y="366674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UACR &gt;1000 mg/g, %</a:t>
            </a:r>
            <a:endParaRPr lang="en-US" sz="1300" dirty="0"/>
          </a:p>
        </p:txBody>
      </p:sp>
      <p:sp>
        <p:nvSpPr>
          <p:cNvPr id="33" name="Text 30"/>
          <p:cNvSpPr/>
          <p:nvPr/>
        </p:nvSpPr>
        <p:spPr>
          <a:xfrm>
            <a:off x="6236208" y="366674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39.1</a:t>
            </a:r>
            <a:endParaRPr lang="en-US" sz="1300" dirty="0"/>
          </a:p>
        </p:txBody>
      </p:sp>
      <p:sp>
        <p:nvSpPr>
          <p:cNvPr id="34" name="Text 31"/>
          <p:cNvSpPr/>
          <p:nvPr/>
        </p:nvSpPr>
        <p:spPr>
          <a:xfrm>
            <a:off x="8979408" y="366674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35.7</a:t>
            </a:r>
            <a:endParaRPr lang="en-US" sz="1300" dirty="0"/>
          </a:p>
        </p:txBody>
      </p:sp>
      <p:sp>
        <p:nvSpPr>
          <p:cNvPr id="35" name="Shape 32"/>
          <p:cNvSpPr/>
          <p:nvPr/>
        </p:nvSpPr>
        <p:spPr>
          <a:xfrm>
            <a:off x="640080" y="4398264"/>
            <a:ext cx="10908792" cy="0"/>
          </a:xfrm>
          <a:prstGeom prst="line">
            <a:avLst/>
          </a:prstGeom>
          <a:noFill/>
          <a:ln w="9525">
            <a:solidFill>
              <a:srgbClr val="CFDDDD"/>
            </a:solidFill>
            <a:prstDash val="solid"/>
          </a:ln>
        </p:spPr>
      </p:sp>
      <p:sp>
        <p:nvSpPr>
          <p:cNvPr id="36" name="Text 33"/>
          <p:cNvSpPr/>
          <p:nvPr/>
        </p:nvSpPr>
        <p:spPr>
          <a:xfrm>
            <a:off x="749808" y="403250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Chronic glomerulonephritis, %</a:t>
            </a:r>
            <a:endParaRPr lang="en-US" sz="1300" dirty="0"/>
          </a:p>
        </p:txBody>
      </p:sp>
      <p:sp>
        <p:nvSpPr>
          <p:cNvPr id="37" name="Text 34"/>
          <p:cNvSpPr/>
          <p:nvPr/>
        </p:nvSpPr>
        <p:spPr>
          <a:xfrm>
            <a:off x="6236208" y="403250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56.2</a:t>
            </a:r>
            <a:endParaRPr lang="en-US" sz="1300" dirty="0"/>
          </a:p>
        </p:txBody>
      </p:sp>
      <p:sp>
        <p:nvSpPr>
          <p:cNvPr id="38" name="Text 35"/>
          <p:cNvSpPr/>
          <p:nvPr/>
        </p:nvSpPr>
        <p:spPr>
          <a:xfrm>
            <a:off x="8979408" y="403250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57.8</a:t>
            </a:r>
            <a:endParaRPr lang="en-US" sz="1300" dirty="0"/>
          </a:p>
        </p:txBody>
      </p:sp>
      <p:sp>
        <p:nvSpPr>
          <p:cNvPr id="39" name="Shape 36"/>
          <p:cNvSpPr/>
          <p:nvPr/>
        </p:nvSpPr>
        <p:spPr>
          <a:xfrm>
            <a:off x="640080" y="4764024"/>
            <a:ext cx="10908792" cy="0"/>
          </a:xfrm>
          <a:prstGeom prst="line">
            <a:avLst/>
          </a:prstGeom>
          <a:noFill/>
          <a:ln w="9525">
            <a:solidFill>
              <a:srgbClr val="CFDDDD"/>
            </a:solidFill>
            <a:prstDash val="solid"/>
          </a:ln>
        </p:spPr>
      </p:sp>
      <p:sp>
        <p:nvSpPr>
          <p:cNvPr id="40" name="Text 37"/>
          <p:cNvSpPr/>
          <p:nvPr/>
        </p:nvSpPr>
        <p:spPr>
          <a:xfrm>
            <a:off x="749808" y="439826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RAS inhibitor, %</a:t>
            </a:r>
            <a:endParaRPr lang="en-US" sz="1300" dirty="0"/>
          </a:p>
        </p:txBody>
      </p:sp>
      <p:sp>
        <p:nvSpPr>
          <p:cNvPr id="41" name="Text 38"/>
          <p:cNvSpPr/>
          <p:nvPr/>
        </p:nvSpPr>
        <p:spPr>
          <a:xfrm>
            <a:off x="6236208" y="439826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99.6</a:t>
            </a:r>
            <a:endParaRPr lang="en-US" sz="1300" dirty="0"/>
          </a:p>
        </p:txBody>
      </p:sp>
      <p:sp>
        <p:nvSpPr>
          <p:cNvPr id="42" name="Text 39"/>
          <p:cNvSpPr/>
          <p:nvPr/>
        </p:nvSpPr>
        <p:spPr>
          <a:xfrm>
            <a:off x="8979408" y="439826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99.7</a:t>
            </a:r>
            <a:endParaRPr lang="en-US" sz="1300" dirty="0"/>
          </a:p>
        </p:txBody>
      </p:sp>
      <p:sp>
        <p:nvSpPr>
          <p:cNvPr id="43" name="Shape 40"/>
          <p:cNvSpPr/>
          <p:nvPr/>
        </p:nvSpPr>
        <p:spPr>
          <a:xfrm>
            <a:off x="640080" y="5129784"/>
            <a:ext cx="10908792" cy="0"/>
          </a:xfrm>
          <a:prstGeom prst="line">
            <a:avLst/>
          </a:prstGeom>
          <a:noFill/>
          <a:ln w="9525">
            <a:solidFill>
              <a:srgbClr val="CFDDDD"/>
            </a:solidFill>
            <a:prstDash val="solid"/>
          </a:ln>
        </p:spPr>
      </p:sp>
      <p:sp>
        <p:nvSpPr>
          <p:cNvPr id="44" name="Text 41"/>
          <p:cNvSpPr/>
          <p:nvPr/>
        </p:nvSpPr>
        <p:spPr>
          <a:xfrm>
            <a:off x="749808" y="476402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SGLT2 inhibitor, %</a:t>
            </a:r>
            <a:endParaRPr lang="en-US" sz="1300" dirty="0"/>
          </a:p>
        </p:txBody>
      </p:sp>
      <p:sp>
        <p:nvSpPr>
          <p:cNvPr id="45" name="Text 42"/>
          <p:cNvSpPr/>
          <p:nvPr/>
        </p:nvSpPr>
        <p:spPr>
          <a:xfrm>
            <a:off x="6236208" y="476402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17.0</a:t>
            </a:r>
            <a:endParaRPr lang="en-US" sz="1300" dirty="0"/>
          </a:p>
        </p:txBody>
      </p:sp>
      <p:sp>
        <p:nvSpPr>
          <p:cNvPr id="46" name="Text 43"/>
          <p:cNvSpPr/>
          <p:nvPr/>
        </p:nvSpPr>
        <p:spPr>
          <a:xfrm>
            <a:off x="8979408" y="476402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17.1</a:t>
            </a:r>
            <a:endParaRPr lang="en-US" sz="1300" dirty="0"/>
          </a:p>
        </p:txBody>
      </p:sp>
      <p:sp>
        <p:nvSpPr>
          <p:cNvPr id="47" name="Text 44"/>
          <p:cNvSpPr/>
          <p:nvPr/>
        </p:nvSpPr>
        <p:spPr>
          <a:xfrm>
            <a:off x="640080" y="5312664"/>
            <a:ext cx="10908792" cy="548640"/>
          </a:xfrm>
          <a:prstGeom prst="rect">
            <a:avLst/>
          </a:prstGeom>
          <a:noFill/>
          <a:ln/>
        </p:spPr>
        <p:txBody>
          <a:bodyPr wrap="square" lIns="0" tIns="0" rIns="0" bIns="0" rtlCol="0" anchor="ctr"/>
          <a:lstStyle/>
          <a:p>
            <a:pPr indent="0" marL="0">
              <a:lnSpc>
                <a:spcPct val="115000"/>
              </a:lnSpc>
              <a:buNone/>
            </a:pPr>
            <a:r>
              <a:rPr lang="en-US" sz="1400" i="1" dirty="0">
                <a:solidFill>
                  <a:srgbClr val="4E5E66"/>
                </a:solidFill>
                <a:latin typeface="Calibri" pitchFamily="34" charset="0"/>
                <a:ea typeface="Calibri" pitchFamily="34" charset="-122"/>
                <a:cs typeface="Calibri" pitchFamily="34" charset="-120"/>
              </a:rPr>
              <a:t>Nearly everyone was on a RAS inhibitor, but only about 1 in 6 on an SGLT2 inhibitor: largely a RAS-inhibitor background. Median UACR ~819 mg/g confirms heavy albuminuria.</a:t>
            </a:r>
            <a:endParaRPr lang="en-US" sz="1400" dirty="0"/>
          </a:p>
        </p:txBody>
      </p:sp>
      <p:sp>
        <p:nvSpPr>
          <p:cNvPr id="48" name="Text 45"/>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49" name="Text 46"/>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Intervention, dosing and potassium management</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Starting dose by screening eGFR</a:t>
            </a:r>
            <a:endParaRPr lang="en-US" sz="1550" dirty="0"/>
          </a:p>
        </p:txBody>
      </p:sp>
      <p:sp>
        <p:nvSpPr>
          <p:cNvPr id="7" name="Shape 4"/>
          <p:cNvSpPr/>
          <p:nvPr/>
        </p:nvSpPr>
        <p:spPr>
          <a:xfrm>
            <a:off x="640080" y="1600200"/>
            <a:ext cx="5577840" cy="420624"/>
          </a:xfrm>
          <a:prstGeom prst="rect">
            <a:avLst/>
          </a:prstGeom>
          <a:solidFill>
            <a:srgbClr val="0F3446"/>
          </a:solidFill>
          <a:ln/>
        </p:spPr>
      </p:sp>
      <p:sp>
        <p:nvSpPr>
          <p:cNvPr id="8" name="Text 5"/>
          <p:cNvSpPr/>
          <p:nvPr/>
        </p:nvSpPr>
        <p:spPr>
          <a:xfrm>
            <a:off x="749808" y="1600200"/>
            <a:ext cx="256032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Screening eGFR</a:t>
            </a:r>
            <a:endParaRPr lang="en-US" sz="1300" dirty="0"/>
          </a:p>
        </p:txBody>
      </p:sp>
      <p:sp>
        <p:nvSpPr>
          <p:cNvPr id="9" name="Text 6"/>
          <p:cNvSpPr/>
          <p:nvPr/>
        </p:nvSpPr>
        <p:spPr>
          <a:xfrm>
            <a:off x="3493008" y="1600200"/>
            <a:ext cx="265176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Starting dose</a:t>
            </a:r>
            <a:endParaRPr lang="en-US" sz="1300" dirty="0"/>
          </a:p>
        </p:txBody>
      </p:sp>
      <p:sp>
        <p:nvSpPr>
          <p:cNvPr id="10" name="Shape 7"/>
          <p:cNvSpPr/>
          <p:nvPr/>
        </p:nvSpPr>
        <p:spPr>
          <a:xfrm>
            <a:off x="640080" y="2478024"/>
            <a:ext cx="5577840" cy="0"/>
          </a:xfrm>
          <a:prstGeom prst="line">
            <a:avLst/>
          </a:prstGeom>
          <a:noFill/>
          <a:ln w="9525">
            <a:solidFill>
              <a:srgbClr val="CFDDDD"/>
            </a:solidFill>
            <a:prstDash val="solid"/>
          </a:ln>
        </p:spPr>
      </p:sp>
      <p:sp>
        <p:nvSpPr>
          <p:cNvPr id="11" name="Text 8"/>
          <p:cNvSpPr/>
          <p:nvPr/>
        </p:nvSpPr>
        <p:spPr>
          <a:xfrm>
            <a:off x="749808" y="2020824"/>
            <a:ext cx="2560320" cy="457200"/>
          </a:xfrm>
          <a:prstGeom prst="rect">
            <a:avLst/>
          </a:prstGeom>
          <a:noFill/>
          <a:ln/>
        </p:spPr>
        <p:txBody>
          <a:bodyPr wrap="square" lIns="0" tIns="0" rIns="0" bIns="0" rtlCol="0" anchor="ctr"/>
          <a:lstStyle/>
          <a:p>
            <a:pPr algn="l" indent="0" marL="0">
              <a:lnSpc>
                <a:spcPct val="98000"/>
              </a:lnSpc>
              <a:buNone/>
            </a:pPr>
            <a:r>
              <a:rPr lang="en-US" sz="1400" b="1" dirty="0">
                <a:solidFill>
                  <a:srgbClr val="0F3446"/>
                </a:solidFill>
                <a:latin typeface="Calibri" pitchFamily="34" charset="0"/>
                <a:ea typeface="Calibri" pitchFamily="34" charset="-122"/>
                <a:cs typeface="Calibri" pitchFamily="34" charset="-120"/>
              </a:rPr>
              <a:t>≥ 60 ml/min/1.73 m²</a:t>
            </a:r>
            <a:endParaRPr lang="en-US" sz="1400" dirty="0"/>
          </a:p>
        </p:txBody>
      </p:sp>
      <p:sp>
        <p:nvSpPr>
          <p:cNvPr id="12" name="Text 9"/>
          <p:cNvSpPr/>
          <p:nvPr/>
        </p:nvSpPr>
        <p:spPr>
          <a:xfrm>
            <a:off x="3493008" y="2020824"/>
            <a:ext cx="2651760" cy="457200"/>
          </a:xfrm>
          <a:prstGeom prst="rect">
            <a:avLst/>
          </a:prstGeom>
          <a:noFill/>
          <a:ln/>
        </p:spPr>
        <p:txBody>
          <a:bodyPr wrap="square" lIns="0" tIns="0" rIns="0" bIns="0" rtlCol="0" anchor="ctr"/>
          <a:lstStyle/>
          <a:p>
            <a:pPr algn="l" indent="0" marL="0">
              <a:lnSpc>
                <a:spcPct val="98000"/>
              </a:lnSpc>
              <a:buNone/>
            </a:pPr>
            <a:r>
              <a:rPr lang="en-US" sz="1400" dirty="0">
                <a:solidFill>
                  <a:srgbClr val="13212A"/>
                </a:solidFill>
                <a:latin typeface="Calibri" pitchFamily="34" charset="0"/>
                <a:ea typeface="Calibri" pitchFamily="34" charset="-122"/>
                <a:cs typeface="Calibri" pitchFamily="34" charset="-120"/>
              </a:rPr>
              <a:t>20 mg once daily</a:t>
            </a:r>
            <a:endParaRPr lang="en-US" sz="1400" dirty="0"/>
          </a:p>
        </p:txBody>
      </p:sp>
      <p:sp>
        <p:nvSpPr>
          <p:cNvPr id="13" name="Shape 10"/>
          <p:cNvSpPr/>
          <p:nvPr/>
        </p:nvSpPr>
        <p:spPr>
          <a:xfrm>
            <a:off x="640080" y="2935224"/>
            <a:ext cx="5577840" cy="0"/>
          </a:xfrm>
          <a:prstGeom prst="line">
            <a:avLst/>
          </a:prstGeom>
          <a:noFill/>
          <a:ln w="9525">
            <a:solidFill>
              <a:srgbClr val="CFDDDD"/>
            </a:solidFill>
            <a:prstDash val="solid"/>
          </a:ln>
        </p:spPr>
      </p:sp>
      <p:sp>
        <p:nvSpPr>
          <p:cNvPr id="14" name="Text 11"/>
          <p:cNvSpPr/>
          <p:nvPr/>
        </p:nvSpPr>
        <p:spPr>
          <a:xfrm>
            <a:off x="749808" y="2478024"/>
            <a:ext cx="2560320" cy="457200"/>
          </a:xfrm>
          <a:prstGeom prst="rect">
            <a:avLst/>
          </a:prstGeom>
          <a:noFill/>
          <a:ln/>
        </p:spPr>
        <p:txBody>
          <a:bodyPr wrap="square" lIns="0" tIns="0" rIns="0" bIns="0" rtlCol="0" anchor="ctr"/>
          <a:lstStyle/>
          <a:p>
            <a:pPr algn="l" indent="0" marL="0">
              <a:lnSpc>
                <a:spcPct val="98000"/>
              </a:lnSpc>
              <a:buNone/>
            </a:pPr>
            <a:r>
              <a:rPr lang="en-US" sz="1400" b="1" dirty="0">
                <a:solidFill>
                  <a:srgbClr val="0F3446"/>
                </a:solidFill>
                <a:latin typeface="Calibri" pitchFamily="34" charset="0"/>
                <a:ea typeface="Calibri" pitchFamily="34" charset="-122"/>
                <a:cs typeface="Calibri" pitchFamily="34" charset="-120"/>
              </a:rPr>
              <a:t>25 to &lt;60 ml/min/1.73 m²</a:t>
            </a:r>
            <a:endParaRPr lang="en-US" sz="1400" dirty="0"/>
          </a:p>
        </p:txBody>
      </p:sp>
      <p:sp>
        <p:nvSpPr>
          <p:cNvPr id="15" name="Text 12"/>
          <p:cNvSpPr/>
          <p:nvPr/>
        </p:nvSpPr>
        <p:spPr>
          <a:xfrm>
            <a:off x="3493008" y="2478024"/>
            <a:ext cx="2651760" cy="457200"/>
          </a:xfrm>
          <a:prstGeom prst="rect">
            <a:avLst/>
          </a:prstGeom>
          <a:noFill/>
          <a:ln/>
        </p:spPr>
        <p:txBody>
          <a:bodyPr wrap="square" lIns="0" tIns="0" rIns="0" bIns="0" rtlCol="0" anchor="ctr"/>
          <a:lstStyle/>
          <a:p>
            <a:pPr algn="l" indent="0" marL="0">
              <a:lnSpc>
                <a:spcPct val="98000"/>
              </a:lnSpc>
              <a:buNone/>
            </a:pPr>
            <a:r>
              <a:rPr lang="en-US" sz="1400" dirty="0">
                <a:solidFill>
                  <a:srgbClr val="13212A"/>
                </a:solidFill>
                <a:latin typeface="Calibri" pitchFamily="34" charset="0"/>
                <a:ea typeface="Calibri" pitchFamily="34" charset="-122"/>
                <a:cs typeface="Calibri" pitchFamily="34" charset="-120"/>
              </a:rPr>
              <a:t>10 mg once daily</a:t>
            </a:r>
            <a:endParaRPr lang="en-US" sz="1400" dirty="0"/>
          </a:p>
        </p:txBody>
      </p:sp>
      <p:sp>
        <p:nvSpPr>
          <p:cNvPr id="16" name="Text 13"/>
          <p:cNvSpPr/>
          <p:nvPr/>
        </p:nvSpPr>
        <p:spPr>
          <a:xfrm>
            <a:off x="640080" y="3163824"/>
            <a:ext cx="5134356" cy="201168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350" dirty="0">
                <a:solidFill>
                  <a:srgbClr val="13212A"/>
                </a:solidFill>
                <a:latin typeface="Calibri" pitchFamily="34" charset="0"/>
                <a:ea typeface="Calibri" pitchFamily="34" charset="-122"/>
                <a:cs typeface="Calibri" pitchFamily="34" charset="-120"/>
              </a:rPr>
              <a:t>Up-titrate 10 → 20 mg from month 1 if K⁺ ≤4.8 and eGFR is stable.</a:t>
            </a:r>
            <a:endParaRPr lang="en-US" sz="1350" dirty="0"/>
          </a:p>
          <a:p>
            <a:pPr marL="203200" indent="-203200">
              <a:lnSpc>
                <a:spcPct val="112000"/>
              </a:lnSpc>
              <a:spcAft>
                <a:spcPts val="800"/>
              </a:spcAft>
              <a:buSzPct val="100000"/>
              <a:buChar char="•"/>
            </a:pPr>
            <a:r>
              <a:rPr lang="en-US" sz="1350" dirty="0">
                <a:solidFill>
                  <a:srgbClr val="13212A"/>
                </a:solidFill>
                <a:latin typeface="Calibri" pitchFamily="34" charset="0"/>
                <a:ea typeface="Calibri" pitchFamily="34" charset="-122"/>
                <a:cs typeface="Calibri" pitchFamily="34" charset="-120"/>
              </a:rPr>
              <a:t>K⁺ &gt;5.5 mmol/L: withhold for 72 h; restart at 10 mg once K⁺ ≤5.0.</a:t>
            </a:r>
            <a:endParaRPr lang="en-US" sz="1350" dirty="0"/>
          </a:p>
          <a:p>
            <a:pPr marL="203200" indent="-203200">
              <a:lnSpc>
                <a:spcPct val="112000"/>
              </a:lnSpc>
              <a:spcAft>
                <a:spcPts val="800"/>
              </a:spcAft>
              <a:buSzPct val="100000"/>
              <a:buChar char="•"/>
            </a:pPr>
            <a:r>
              <a:rPr lang="en-US" sz="1350" dirty="0">
                <a:solidFill>
                  <a:srgbClr val="13212A"/>
                </a:solidFill>
                <a:latin typeface="Calibri" pitchFamily="34" charset="0"/>
                <a:ea typeface="Calibri" pitchFamily="34" charset="-122"/>
                <a:cs typeface="Calibri" pitchFamily="34" charset="-120"/>
              </a:rPr>
              <a:t>Central-lab potassium at every visit; dose reducible any time for safety.</a:t>
            </a:r>
            <a:endParaRPr lang="en-US" sz="1350" dirty="0"/>
          </a:p>
        </p:txBody>
      </p:sp>
      <p:sp>
        <p:nvSpPr>
          <p:cNvPr id="17" name="Text 14"/>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Visit schedule</a:t>
            </a:r>
            <a:endParaRPr lang="en-US" sz="1550" dirty="0"/>
          </a:p>
        </p:txBody>
      </p:sp>
      <p:sp>
        <p:nvSpPr>
          <p:cNvPr id="18" name="Text 15"/>
          <p:cNvSpPr/>
          <p:nvPr/>
        </p:nvSpPr>
        <p:spPr>
          <a:xfrm>
            <a:off x="6414516" y="1627632"/>
            <a:ext cx="5134356" cy="914400"/>
          </a:xfrm>
          <a:prstGeom prst="rect">
            <a:avLst/>
          </a:prstGeom>
          <a:noFill/>
          <a:ln/>
        </p:spPr>
        <p:txBody>
          <a:bodyPr wrap="square" lIns="0" tIns="0" rIns="0" bIns="0" rtlCol="0" anchor="ctr"/>
          <a:lstStyle/>
          <a:p>
            <a:pPr indent="0" marL="0">
              <a:lnSpc>
                <a:spcPct val="120000"/>
              </a:lnSpc>
              <a:buNone/>
            </a:pPr>
            <a:r>
              <a:rPr lang="en-US" sz="1400" dirty="0">
                <a:solidFill>
                  <a:srgbClr val="13212A"/>
                </a:solidFill>
                <a:latin typeface="Calibri" pitchFamily="34" charset="0"/>
                <a:ea typeface="Calibri" pitchFamily="34" charset="-122"/>
                <a:cs typeface="Calibri" pitchFamily="34" charset="-120"/>
              </a:rPr>
              <a:t>Screening, baseline, then months 1, 3, 6, 9, 12, and every 4 months thereafter. Treatment for at least 32 months, with an off-treatment visit 4 weeks after the last dose.</a:t>
            </a:r>
            <a:endParaRPr lang="en-US" sz="1400" dirty="0"/>
          </a:p>
        </p:txBody>
      </p:sp>
      <p:sp>
        <p:nvSpPr>
          <p:cNvPr id="19" name="Shape 16"/>
          <p:cNvSpPr/>
          <p:nvPr/>
        </p:nvSpPr>
        <p:spPr>
          <a:xfrm>
            <a:off x="6414516" y="3246120"/>
            <a:ext cx="5134356" cy="0"/>
          </a:xfrm>
          <a:prstGeom prst="line">
            <a:avLst/>
          </a:prstGeom>
          <a:noFill/>
          <a:ln w="25400">
            <a:solidFill>
              <a:srgbClr val="9AA7AD"/>
            </a:solidFill>
            <a:prstDash val="solid"/>
          </a:ln>
        </p:spPr>
      </p:sp>
      <p:sp>
        <p:nvSpPr>
          <p:cNvPr id="20" name="Shape 17"/>
          <p:cNvSpPr/>
          <p:nvPr/>
        </p:nvSpPr>
        <p:spPr>
          <a:xfrm>
            <a:off x="6364224" y="3195828"/>
            <a:ext cx="100584" cy="100584"/>
          </a:xfrm>
          <a:prstGeom prst="ellipse">
            <a:avLst/>
          </a:prstGeom>
          <a:solidFill>
            <a:srgbClr val="12A3A6"/>
          </a:solidFill>
          <a:ln/>
        </p:spPr>
      </p:sp>
      <p:sp>
        <p:nvSpPr>
          <p:cNvPr id="21" name="Text 18"/>
          <p:cNvSpPr/>
          <p:nvPr/>
        </p:nvSpPr>
        <p:spPr>
          <a:xfrm>
            <a:off x="6030468"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Base</a:t>
            </a:r>
            <a:endParaRPr lang="en-US" sz="900" dirty="0"/>
          </a:p>
        </p:txBody>
      </p:sp>
      <p:sp>
        <p:nvSpPr>
          <p:cNvPr id="22" name="Shape 19"/>
          <p:cNvSpPr/>
          <p:nvPr/>
        </p:nvSpPr>
        <p:spPr>
          <a:xfrm>
            <a:off x="7097703" y="3195828"/>
            <a:ext cx="100584" cy="100584"/>
          </a:xfrm>
          <a:prstGeom prst="ellipse">
            <a:avLst/>
          </a:prstGeom>
          <a:solidFill>
            <a:srgbClr val="12A3A6"/>
          </a:solidFill>
          <a:ln/>
        </p:spPr>
      </p:sp>
      <p:sp>
        <p:nvSpPr>
          <p:cNvPr id="23" name="Text 20"/>
          <p:cNvSpPr/>
          <p:nvPr/>
        </p:nvSpPr>
        <p:spPr>
          <a:xfrm>
            <a:off x="6763947"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M1</a:t>
            </a:r>
            <a:endParaRPr lang="en-US" sz="900" dirty="0"/>
          </a:p>
        </p:txBody>
      </p:sp>
      <p:sp>
        <p:nvSpPr>
          <p:cNvPr id="24" name="Shape 21"/>
          <p:cNvSpPr/>
          <p:nvPr/>
        </p:nvSpPr>
        <p:spPr>
          <a:xfrm>
            <a:off x="7831183" y="3195828"/>
            <a:ext cx="100584" cy="100584"/>
          </a:xfrm>
          <a:prstGeom prst="ellipse">
            <a:avLst/>
          </a:prstGeom>
          <a:solidFill>
            <a:srgbClr val="12A3A6"/>
          </a:solidFill>
          <a:ln/>
        </p:spPr>
      </p:sp>
      <p:sp>
        <p:nvSpPr>
          <p:cNvPr id="25" name="Text 22"/>
          <p:cNvSpPr/>
          <p:nvPr/>
        </p:nvSpPr>
        <p:spPr>
          <a:xfrm>
            <a:off x="7497427"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M3</a:t>
            </a:r>
            <a:endParaRPr lang="en-US" sz="900" dirty="0"/>
          </a:p>
        </p:txBody>
      </p:sp>
      <p:sp>
        <p:nvSpPr>
          <p:cNvPr id="26" name="Shape 23"/>
          <p:cNvSpPr/>
          <p:nvPr/>
        </p:nvSpPr>
        <p:spPr>
          <a:xfrm>
            <a:off x="8564662" y="3195828"/>
            <a:ext cx="100584" cy="100584"/>
          </a:xfrm>
          <a:prstGeom prst="ellipse">
            <a:avLst/>
          </a:prstGeom>
          <a:solidFill>
            <a:srgbClr val="12A3A6"/>
          </a:solidFill>
          <a:ln/>
        </p:spPr>
      </p:sp>
      <p:sp>
        <p:nvSpPr>
          <p:cNvPr id="27" name="Text 24"/>
          <p:cNvSpPr/>
          <p:nvPr/>
        </p:nvSpPr>
        <p:spPr>
          <a:xfrm>
            <a:off x="8230906"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M6</a:t>
            </a:r>
            <a:endParaRPr lang="en-US" sz="900" dirty="0"/>
          </a:p>
        </p:txBody>
      </p:sp>
      <p:sp>
        <p:nvSpPr>
          <p:cNvPr id="28" name="Shape 25"/>
          <p:cNvSpPr/>
          <p:nvPr/>
        </p:nvSpPr>
        <p:spPr>
          <a:xfrm>
            <a:off x="9298142" y="3195828"/>
            <a:ext cx="100584" cy="100584"/>
          </a:xfrm>
          <a:prstGeom prst="ellipse">
            <a:avLst/>
          </a:prstGeom>
          <a:solidFill>
            <a:srgbClr val="12A3A6"/>
          </a:solidFill>
          <a:ln/>
        </p:spPr>
      </p:sp>
      <p:sp>
        <p:nvSpPr>
          <p:cNvPr id="29" name="Text 26"/>
          <p:cNvSpPr/>
          <p:nvPr/>
        </p:nvSpPr>
        <p:spPr>
          <a:xfrm>
            <a:off x="8964386"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M12</a:t>
            </a:r>
            <a:endParaRPr lang="en-US" sz="900" dirty="0"/>
          </a:p>
        </p:txBody>
      </p:sp>
      <p:sp>
        <p:nvSpPr>
          <p:cNvPr id="30" name="Shape 27"/>
          <p:cNvSpPr/>
          <p:nvPr/>
        </p:nvSpPr>
        <p:spPr>
          <a:xfrm>
            <a:off x="10031621" y="3195828"/>
            <a:ext cx="100584" cy="100584"/>
          </a:xfrm>
          <a:prstGeom prst="ellipse">
            <a:avLst/>
          </a:prstGeom>
          <a:solidFill>
            <a:srgbClr val="12A3A6"/>
          </a:solidFill>
          <a:ln/>
        </p:spPr>
      </p:sp>
      <p:sp>
        <p:nvSpPr>
          <p:cNvPr id="31" name="Text 28"/>
          <p:cNvSpPr/>
          <p:nvPr/>
        </p:nvSpPr>
        <p:spPr>
          <a:xfrm>
            <a:off x="9697865"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q4mo</a:t>
            </a:r>
            <a:endParaRPr lang="en-US" sz="900" dirty="0"/>
          </a:p>
        </p:txBody>
      </p:sp>
      <p:sp>
        <p:nvSpPr>
          <p:cNvPr id="32" name="Shape 29"/>
          <p:cNvSpPr/>
          <p:nvPr/>
        </p:nvSpPr>
        <p:spPr>
          <a:xfrm>
            <a:off x="10765101" y="3195828"/>
            <a:ext cx="100584" cy="100584"/>
          </a:xfrm>
          <a:prstGeom prst="ellipse">
            <a:avLst/>
          </a:prstGeom>
          <a:solidFill>
            <a:srgbClr val="E86A44"/>
          </a:solidFill>
          <a:ln/>
        </p:spPr>
      </p:sp>
      <p:sp>
        <p:nvSpPr>
          <p:cNvPr id="33" name="Text 30"/>
          <p:cNvSpPr/>
          <p:nvPr/>
        </p:nvSpPr>
        <p:spPr>
          <a:xfrm>
            <a:off x="10431345" y="3337560"/>
            <a:ext cx="768096" cy="274320"/>
          </a:xfrm>
          <a:prstGeom prst="rect">
            <a:avLst/>
          </a:prstGeom>
          <a:noFill/>
          <a:ln/>
        </p:spPr>
        <p:txBody>
          <a:bodyPr wrap="square" lIns="0" tIns="0" rIns="0" bIns="0" rtlCol="0" anchor="ctr"/>
          <a:lstStyle/>
          <a:p>
            <a:pPr algn="ctr" indent="0" marL="0">
              <a:buNone/>
            </a:pPr>
            <a:r>
              <a:rPr lang="en-US" sz="900" b="1" dirty="0">
                <a:solidFill>
                  <a:srgbClr val="13212A"/>
                </a:solidFill>
                <a:latin typeface="Calibri" pitchFamily="34" charset="0"/>
                <a:ea typeface="Calibri" pitchFamily="34" charset="-122"/>
                <a:cs typeface="Calibri" pitchFamily="34" charset="-120"/>
              </a:rPr>
              <a:t>M32</a:t>
            </a:r>
            <a:endParaRPr lang="en-US" sz="900" dirty="0"/>
          </a:p>
        </p:txBody>
      </p:sp>
      <p:sp>
        <p:nvSpPr>
          <p:cNvPr id="34" name="Shape 31"/>
          <p:cNvSpPr/>
          <p:nvPr/>
        </p:nvSpPr>
        <p:spPr>
          <a:xfrm>
            <a:off x="11498580" y="3195828"/>
            <a:ext cx="100584" cy="100584"/>
          </a:xfrm>
          <a:prstGeom prst="ellipse">
            <a:avLst/>
          </a:prstGeom>
          <a:solidFill>
            <a:srgbClr val="E86A44"/>
          </a:solidFill>
          <a:ln/>
        </p:spPr>
      </p:sp>
      <p:sp>
        <p:nvSpPr>
          <p:cNvPr id="35" name="Text 32"/>
          <p:cNvSpPr/>
          <p:nvPr/>
        </p:nvSpPr>
        <p:spPr>
          <a:xfrm>
            <a:off x="11164824" y="3337560"/>
            <a:ext cx="768096" cy="274320"/>
          </a:xfrm>
          <a:prstGeom prst="rect">
            <a:avLst/>
          </a:prstGeom>
          <a:noFill/>
          <a:ln/>
        </p:spPr>
        <p:txBody>
          <a:bodyPr wrap="square" lIns="0" tIns="0" rIns="0" bIns="0" rtlCol="0" anchor="ctr"/>
          <a:lstStyle/>
          <a:p>
            <a:pPr algn="ctr" indent="0" marL="0">
              <a:buNone/>
            </a:pPr>
            <a:r>
              <a:rPr lang="en-US" sz="900" b="1" dirty="0">
                <a:solidFill>
                  <a:srgbClr val="13212A"/>
                </a:solidFill>
                <a:latin typeface="Calibri" pitchFamily="34" charset="0"/>
                <a:ea typeface="Calibri" pitchFamily="34" charset="-122"/>
                <a:cs typeface="Calibri" pitchFamily="34" charset="-120"/>
              </a:rPr>
              <a:t>+4wk</a:t>
            </a:r>
            <a:endParaRPr lang="en-US" sz="900" dirty="0"/>
          </a:p>
        </p:txBody>
      </p:sp>
      <p:sp>
        <p:nvSpPr>
          <p:cNvPr id="36" name="Text 33"/>
          <p:cNvSpPr/>
          <p:nvPr/>
        </p:nvSpPr>
        <p:spPr>
          <a:xfrm>
            <a:off x="6414516" y="3794760"/>
            <a:ext cx="5134356" cy="457200"/>
          </a:xfrm>
          <a:prstGeom prst="rect">
            <a:avLst/>
          </a:prstGeom>
          <a:noFill/>
          <a:ln/>
        </p:spPr>
        <p:txBody>
          <a:bodyPr wrap="square" lIns="0" tIns="0" rIns="0" bIns="0" rtlCol="0" anchor="ctr"/>
          <a:lstStyle/>
          <a:p>
            <a:pPr indent="0" marL="0">
              <a:lnSpc>
                <a:spcPct val="110000"/>
              </a:lnSpc>
              <a:buNone/>
            </a:pPr>
            <a:r>
              <a:rPr lang="en-US" sz="1250" i="1" dirty="0">
                <a:solidFill>
                  <a:srgbClr val="4E5E66"/>
                </a:solidFill>
                <a:latin typeface="Calibri" pitchFamily="34" charset="0"/>
                <a:ea typeface="Calibri" pitchFamily="34" charset="-122"/>
                <a:cs typeface="Calibri" pitchFamily="34" charset="-120"/>
              </a:rPr>
              <a:t>The off-treatment visit isolates the reversible (hemodynamic) part of the eGFR effect.</a:t>
            </a:r>
            <a:endParaRPr lang="en-US" sz="1250" dirty="0"/>
          </a:p>
        </p:txBody>
      </p:sp>
      <p:sp>
        <p:nvSpPr>
          <p:cNvPr id="37" name="Text 3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38" name="Text 3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Endpoints</a:t>
            </a:r>
            <a:endParaRPr lang="en-US" sz="2400" dirty="0"/>
          </a:p>
        </p:txBody>
      </p:sp>
      <p:sp>
        <p:nvSpPr>
          <p:cNvPr id="6" name="Text 3"/>
          <p:cNvSpPr/>
          <p:nvPr/>
        </p:nvSpPr>
        <p:spPr>
          <a:xfrm>
            <a:off x="640080" y="1234440"/>
            <a:ext cx="10908792" cy="685800"/>
          </a:xfrm>
          <a:prstGeom prst="rect">
            <a:avLst/>
          </a:prstGeom>
          <a:noFill/>
          <a:ln/>
        </p:spPr>
        <p:txBody>
          <a:bodyPr wrap="square" lIns="0" tIns="0" rIns="0" bIns="0" rtlCol="0" anchor="ctr"/>
          <a:lstStyle/>
          <a:p>
            <a:pPr indent="0" marL="0">
              <a:lnSpc>
                <a:spcPct val="115000"/>
              </a:lnSpc>
              <a:buNone/>
            </a:pPr>
            <a:r>
              <a:rPr lang="en-US" sz="1650" b="1" dirty="0">
                <a:solidFill>
                  <a:srgbClr val="0E8385"/>
                </a:solidFill>
                <a:latin typeface="Calibri" pitchFamily="34" charset="0"/>
                <a:ea typeface="Calibri" pitchFamily="34" charset="-122"/>
                <a:cs typeface="Calibri" pitchFamily="34" charset="-120"/>
              </a:rPr>
              <a:t>Primary outcome    </a:t>
            </a:r>
            <a:pPr indent="0" marL="0">
              <a:lnSpc>
                <a:spcPct val="115000"/>
              </a:lnSpc>
              <a:buNone/>
            </a:pPr>
            <a:r>
              <a:rPr lang="en-US" sz="1550" dirty="0">
                <a:solidFill>
                  <a:srgbClr val="13212A"/>
                </a:solidFill>
                <a:latin typeface="Calibri" pitchFamily="34" charset="0"/>
                <a:ea typeface="Calibri" pitchFamily="34" charset="-122"/>
                <a:cs typeface="Calibri" pitchFamily="34" charset="-120"/>
              </a:rPr>
              <a:t>Total eGFR slope: mean annual rate of change in eGFR from baseline to month 32, estimated with a two-slope linear spline mixed model.</a:t>
            </a:r>
            <a:endParaRPr lang="en-US" sz="1650" dirty="0"/>
          </a:p>
        </p:txBody>
      </p:sp>
      <p:sp>
        <p:nvSpPr>
          <p:cNvPr id="7" name="Text 4"/>
          <p:cNvSpPr/>
          <p:nvPr/>
        </p:nvSpPr>
        <p:spPr>
          <a:xfrm>
            <a:off x="640080" y="2103120"/>
            <a:ext cx="10908792"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Secondary outcomes (pre-specified hierarchical testing)</a:t>
            </a:r>
            <a:endParaRPr lang="en-US" sz="1550" dirty="0"/>
          </a:p>
        </p:txBody>
      </p:sp>
      <p:sp>
        <p:nvSpPr>
          <p:cNvPr id="8" name="Text 5"/>
          <p:cNvSpPr/>
          <p:nvPr/>
        </p:nvSpPr>
        <p:spPr>
          <a:xfrm>
            <a:off x="640080" y="2487168"/>
            <a:ext cx="10908792" cy="1188720"/>
          </a:xfrm>
          <a:prstGeom prst="rect">
            <a:avLst/>
          </a:prstGeom>
          <a:noFill/>
          <a:ln/>
        </p:spPr>
        <p:txBody>
          <a:bodyPr wrap="square" lIns="0" tIns="0" rIns="0" bIns="0" rtlCol="0" anchor="ctr"/>
          <a:lstStyle/>
          <a:p>
            <a:pPr indent="0" marL="0">
              <a:lnSpc>
                <a:spcPct val="115000"/>
              </a:lnSpc>
              <a:spcAft>
                <a:spcPts val="600"/>
              </a:spcAft>
              <a:buNone/>
            </a:pPr>
            <a:r>
              <a:rPr lang="en-US" sz="1500" dirty="0">
                <a:solidFill>
                  <a:srgbClr val="13212A"/>
                </a:solidFill>
                <a:latin typeface="Calibri" pitchFamily="34" charset="0"/>
                <a:ea typeface="Calibri" pitchFamily="34" charset="-122"/>
                <a:cs typeface="Calibri" pitchFamily="34" charset="-120"/>
              </a:rPr>
              <a:t>1.  Composite kidney–CV: sustained ≥57% eGFR decline, kidney failure, HF hospitalization, or CV death</a:t>
            </a:r>
            <a:endParaRPr lang="en-US" sz="1500" dirty="0"/>
          </a:p>
          <a:p>
            <a:pPr indent="0" marL="0">
              <a:lnSpc>
                <a:spcPct val="115000"/>
              </a:lnSpc>
              <a:spcAft>
                <a:spcPts val="600"/>
              </a:spcAft>
              <a:buNone/>
            </a:pPr>
            <a:r>
              <a:rPr lang="en-US" sz="1500" dirty="0">
                <a:solidFill>
                  <a:srgbClr val="13212A"/>
                </a:solidFill>
                <a:latin typeface="Calibri" pitchFamily="34" charset="0"/>
                <a:ea typeface="Calibri" pitchFamily="34" charset="-122"/>
                <a:cs typeface="Calibri" pitchFamily="34" charset="-120"/>
              </a:rPr>
              <a:t>2.  Composite kidney: sustained ≥57% eGFR decline or kidney failure</a:t>
            </a:r>
            <a:endParaRPr lang="en-US" sz="1500" dirty="0"/>
          </a:p>
          <a:p>
            <a:pPr indent="0" marL="0">
              <a:lnSpc>
                <a:spcPct val="115000"/>
              </a:lnSpc>
              <a:spcAft>
                <a:spcPts val="600"/>
              </a:spcAft>
              <a:buNone/>
            </a:pPr>
            <a:r>
              <a:rPr lang="en-US" sz="1500" dirty="0">
                <a:solidFill>
                  <a:srgbClr val="13212A"/>
                </a:solidFill>
                <a:latin typeface="Calibri" pitchFamily="34" charset="0"/>
                <a:ea typeface="Calibri" pitchFamily="34" charset="-122"/>
                <a:cs typeface="Calibri" pitchFamily="34" charset="-120"/>
              </a:rPr>
              <a:t>3.  Composite CV: HF hospitalization or CV death</a:t>
            </a:r>
            <a:endParaRPr lang="en-US" sz="1500" dirty="0"/>
          </a:p>
        </p:txBody>
      </p:sp>
      <p:sp>
        <p:nvSpPr>
          <p:cNvPr id="9" name="Text 6"/>
          <p:cNvSpPr/>
          <p:nvPr/>
        </p:nvSpPr>
        <p:spPr>
          <a:xfrm>
            <a:off x="640080" y="3977640"/>
            <a:ext cx="10908792" cy="548640"/>
          </a:xfrm>
          <a:prstGeom prst="rect">
            <a:avLst/>
          </a:prstGeom>
          <a:noFill/>
          <a:ln/>
        </p:spPr>
        <p:txBody>
          <a:bodyPr wrap="square" lIns="0" tIns="0" rIns="0" bIns="0" rtlCol="0" anchor="ctr"/>
          <a:lstStyle/>
          <a:p>
            <a:pPr indent="0" marL="0">
              <a:lnSpc>
                <a:spcPct val="115000"/>
              </a:lnSpc>
              <a:buNone/>
            </a:pPr>
            <a:r>
              <a:rPr lang="en-US" sz="1400" b="1" dirty="0">
                <a:solidFill>
                  <a:srgbClr val="0F3446"/>
                </a:solidFill>
                <a:latin typeface="Calibri" pitchFamily="34" charset="0"/>
                <a:ea typeface="Calibri" pitchFamily="34" charset="-122"/>
                <a:cs typeface="Calibri" pitchFamily="34" charset="-120"/>
              </a:rPr>
              <a:t>Definitions.  </a:t>
            </a:r>
            <a:pPr indent="0" marL="0">
              <a:lnSpc>
                <a:spcPct val="115000"/>
              </a:lnSpc>
              <a:buNone/>
            </a:pPr>
            <a:r>
              <a:rPr lang="en-US" sz="1400" dirty="0">
                <a:solidFill>
                  <a:srgbClr val="13212A"/>
                </a:solidFill>
                <a:latin typeface="Calibri" pitchFamily="34" charset="0"/>
                <a:ea typeface="Calibri" pitchFamily="34" charset="-122"/>
                <a:cs typeface="Calibri" pitchFamily="34" charset="-120"/>
              </a:rPr>
              <a:t>Kidney failure = confirmed eGFR &lt;15, chronic dialysis ≥30 days, or transplant. Sustained = a drop from baseline held for ≥4 weeks.</a:t>
            </a:r>
            <a:endParaRPr lang="en-US" sz="1400" dirty="0"/>
          </a:p>
        </p:txBody>
      </p:sp>
      <p:sp>
        <p:nvSpPr>
          <p:cNvPr id="10" name="Text 7"/>
          <p:cNvSpPr/>
          <p:nvPr/>
        </p:nvSpPr>
        <p:spPr>
          <a:xfrm>
            <a:off x="640080" y="4709160"/>
            <a:ext cx="10908792" cy="640080"/>
          </a:xfrm>
          <a:prstGeom prst="rect">
            <a:avLst/>
          </a:prstGeom>
          <a:noFill/>
          <a:ln/>
        </p:spPr>
        <p:txBody>
          <a:bodyPr wrap="square" lIns="0" tIns="0" rIns="0" bIns="0" rtlCol="0" anchor="ctr"/>
          <a:lstStyle/>
          <a:p>
            <a:pPr indent="0" marL="0">
              <a:lnSpc>
                <a:spcPct val="115000"/>
              </a:lnSpc>
              <a:buNone/>
            </a:pPr>
            <a:r>
              <a:rPr lang="en-US" sz="1400" b="1" dirty="0">
                <a:solidFill>
                  <a:srgbClr val="0F3446"/>
                </a:solidFill>
                <a:latin typeface="Calibri" pitchFamily="34" charset="0"/>
                <a:ea typeface="Calibri" pitchFamily="34" charset="-122"/>
                <a:cs typeface="Calibri" pitchFamily="34" charset="-120"/>
              </a:rPr>
              <a:t>Exploratory.  </a:t>
            </a:r>
            <a:pPr indent="0" marL="0">
              <a:lnSpc>
                <a:spcPct val="115000"/>
              </a:lnSpc>
              <a:buNone/>
            </a:pPr>
            <a:r>
              <a:rPr lang="en-US" sz="1400" dirty="0">
                <a:solidFill>
                  <a:srgbClr val="13212A"/>
                </a:solidFill>
                <a:latin typeface="Calibri" pitchFamily="34" charset="0"/>
                <a:ea typeface="Calibri" pitchFamily="34" charset="-122"/>
                <a:cs typeface="Calibri" pitchFamily="34" charset="-120"/>
              </a:rPr>
              <a:t>Chronic slope (month 3 to end of treatment), acute change (baseline to month 3), off-treatment eGFR change, UACR at month 6, and a ≥40% eGFR-decline composite.</a:t>
            </a:r>
            <a:endParaRPr lang="en-US" sz="1400" dirty="0"/>
          </a:p>
        </p:txBody>
      </p:sp>
      <p:sp>
        <p:nvSpPr>
          <p:cNvPr id="11"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2"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Statistical approach, and why eGFR slope</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The primary model</a:t>
            </a:r>
            <a:endParaRPr lang="en-US" sz="1550" dirty="0"/>
          </a:p>
        </p:txBody>
      </p:sp>
      <p:sp>
        <p:nvSpPr>
          <p:cNvPr id="7" name="Text 4"/>
          <p:cNvSpPr/>
          <p:nvPr/>
        </p:nvSpPr>
        <p:spPr>
          <a:xfrm>
            <a:off x="640080" y="1627632"/>
            <a:ext cx="5134356" cy="3840480"/>
          </a:xfrm>
          <a:prstGeom prst="rect">
            <a:avLst/>
          </a:prstGeom>
          <a:noFill/>
          <a:ln/>
        </p:spPr>
        <p:txBody>
          <a:bodyPr wrap="square" lIns="0" tIns="0" rIns="0" bIns="0" rtlCol="0" anchor="t"/>
          <a:lstStyle/>
          <a:p>
            <a:pPr marL="203200" indent="-203200">
              <a:lnSpc>
                <a:spcPct val="115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Two-slope linear spline mixed-effects model, with a fixed change point at month 3 separating the early hemodynamic effect from the chronic slope.</a:t>
            </a:r>
            <a:endParaRPr lang="en-US" sz="1450" dirty="0"/>
          </a:p>
          <a:p>
            <a:pPr marL="203200" indent="-203200">
              <a:lnSpc>
                <a:spcPct val="115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Treatment-policy estimand; intercurrent events (dialysis, transplant, death) handled by multiple imputation from an unfavorable-value pool.</a:t>
            </a:r>
            <a:endParaRPr lang="en-US" sz="1450" dirty="0"/>
          </a:p>
          <a:p>
            <a:pPr marL="203200" indent="-203200">
              <a:lnSpc>
                <a:spcPct val="115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Confirmed with cystatin C–based eGFR, a shared-parameter model, and tipping-point sensitivity analyses.</a:t>
            </a:r>
            <a:endParaRPr lang="en-US" sz="1450" dirty="0"/>
          </a:p>
        </p:txBody>
      </p:sp>
      <p:sp>
        <p:nvSpPr>
          <p:cNvPr id="8" name="Text 5"/>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Why slope, and is it fair</a:t>
            </a:r>
            <a:endParaRPr lang="en-US" sz="1550" dirty="0"/>
          </a:p>
        </p:txBody>
      </p:sp>
      <p:sp>
        <p:nvSpPr>
          <p:cNvPr id="9" name="Text 6"/>
          <p:cNvSpPr/>
          <p:nvPr/>
        </p:nvSpPr>
        <p:spPr>
          <a:xfrm>
            <a:off x="6414516" y="1627632"/>
            <a:ext cx="5134356" cy="1280160"/>
          </a:xfrm>
          <a:prstGeom prst="rect">
            <a:avLst/>
          </a:prstGeom>
          <a:noFill/>
          <a:ln/>
        </p:spPr>
        <p:txBody>
          <a:bodyPr wrap="square" lIns="0" tIns="0" rIns="0" bIns="0" rtlCol="0" anchor="ctr"/>
          <a:lstStyle/>
          <a:p>
            <a:pPr indent="0" marL="0">
              <a:lnSpc>
                <a:spcPct val="120000"/>
              </a:lnSpc>
              <a:buNone/>
            </a:pPr>
            <a:r>
              <a:rPr lang="en-US" sz="1650" b="1" dirty="0">
                <a:solidFill>
                  <a:srgbClr val="0E8385"/>
                </a:solidFill>
                <a:latin typeface="Calibri" pitchFamily="34" charset="0"/>
                <a:ea typeface="Calibri" pitchFamily="34" charset="-122"/>
                <a:cs typeface="Calibri" pitchFamily="34" charset="-120"/>
              </a:rPr>
              <a:t>1500 participants </a:t>
            </a:r>
            <a:pPr indent="0" marL="0">
              <a:lnSpc>
                <a:spcPct val="120000"/>
              </a:lnSpc>
              <a:buNone/>
            </a:pPr>
            <a:r>
              <a:rPr lang="en-US" sz="1450" dirty="0">
                <a:solidFill>
                  <a:srgbClr val="13212A"/>
                </a:solidFill>
                <a:latin typeface="Calibri" pitchFamily="34" charset="0"/>
                <a:ea typeface="Calibri" pitchFamily="34" charset="-122"/>
                <a:cs typeface="Calibri" pitchFamily="34" charset="-120"/>
              </a:rPr>
              <a:t>gave &gt;90% power to detect a 0.7 ml/min/1.73 m²/yr difference in slope (two-sided α = 0.05). A hard-outcome composite was not feasible at this sample size.</a:t>
            </a:r>
            <a:endParaRPr lang="en-US" sz="1650" dirty="0"/>
          </a:p>
        </p:txBody>
      </p:sp>
      <p:sp>
        <p:nvSpPr>
          <p:cNvPr id="10" name="Text 7"/>
          <p:cNvSpPr/>
          <p:nvPr/>
        </p:nvSpPr>
        <p:spPr>
          <a:xfrm>
            <a:off x="6414516" y="3063240"/>
            <a:ext cx="5134356" cy="1188720"/>
          </a:xfrm>
          <a:prstGeom prst="rect">
            <a:avLst/>
          </a:prstGeom>
          <a:noFill/>
          <a:ln/>
        </p:spPr>
        <p:txBody>
          <a:bodyPr wrap="square" lIns="0" tIns="0" rIns="0" bIns="0" rtlCol="0" anchor="ctr"/>
          <a:lstStyle/>
          <a:p>
            <a:pPr indent="0" marL="0">
              <a:lnSpc>
                <a:spcPct val="120000"/>
              </a:lnSpc>
              <a:buNone/>
            </a:pPr>
            <a:r>
              <a:rPr lang="en-US" sz="1450" i="1" dirty="0">
                <a:solidFill>
                  <a:srgbClr val="4E5E66"/>
                </a:solidFill>
                <a:latin typeface="Calibri" pitchFamily="34" charset="0"/>
                <a:ea typeface="Calibri" pitchFamily="34" charset="-122"/>
                <a:cs typeface="Calibri" pitchFamily="34" charset="-120"/>
              </a:rPr>
              <a:t>A meta-analysis of 66 randomized trials found that slowing eGFR decline by about 0.75 per year predicts a 23% lower risk of hard kidney outcomes. An accepted surrogate, but a surrogate all the same.</a:t>
            </a:r>
            <a:endParaRPr lang="en-US" sz="1450" dirty="0"/>
          </a:p>
        </p:txBody>
      </p:sp>
      <p:sp>
        <p:nvSpPr>
          <p:cNvPr id="11"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2"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03</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Results</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The eGFR slope, its acute and chronic components, subgroups, and clinical events.</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Primary result: eGFR change over time</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Finerenone declined more slowly through month 32, and the early dip reversed once treatment stopped.</a:t>
            </a:r>
            <a:endParaRPr lang="en-US" sz="1600" dirty="0"/>
          </a:p>
        </p:txBody>
      </p:sp>
      <p:pic>
        <p:nvPicPr>
          <p:cNvPr id="7" name="Image 1" descr="fig1A.png">    </p:cNvPr>
          <p:cNvPicPr>
            <a:picLocks noChangeAspect="1"/>
          </p:cNvPicPr>
          <p:nvPr/>
        </p:nvPicPr>
        <p:blipFill>
          <a:blip r:embed="rId2"/>
          <a:stretch>
            <a:fillRect/>
          </a:stretch>
        </p:blipFill>
        <p:spPr>
          <a:xfrm>
            <a:off x="1435608" y="1572768"/>
            <a:ext cx="9326880" cy="4434840"/>
          </a:xfrm>
          <a:prstGeom prst="rect">
            <a:avLst/>
          </a:prstGeom>
        </p:spPr>
      </p:pic>
      <p:sp>
        <p:nvSpPr>
          <p:cNvPr id="8" name="Text 4"/>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Figure 1A.  Heerspink et al., N Engl J Med 2026.</a:t>
            </a:r>
            <a:endParaRPr lang="en-US" sz="850" dirty="0"/>
          </a:p>
        </p:txBody>
      </p:sp>
      <p:sp>
        <p:nvSpPr>
          <p:cNvPr id="9" name="Text 5"/>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0" name="Text 6"/>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Reading the eGFR curve: the acute dip is not harm</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The early drop is hemodynamic and fully reversible, the same pattern seen with RAS and SGLT2 inhibitors.</a:t>
            </a:r>
            <a:endParaRPr lang="en-US" sz="1600" dirty="0"/>
          </a:p>
        </p:txBody>
      </p:sp>
      <p:sp>
        <p:nvSpPr>
          <p:cNvPr id="7" name="Text 4"/>
          <p:cNvSpPr/>
          <p:nvPr/>
        </p:nvSpPr>
        <p:spPr>
          <a:xfrm>
            <a:off x="640080" y="1645920"/>
            <a:ext cx="3383280" cy="603504"/>
          </a:xfrm>
          <a:prstGeom prst="rect">
            <a:avLst/>
          </a:prstGeom>
          <a:noFill/>
          <a:ln/>
        </p:spPr>
        <p:txBody>
          <a:bodyPr wrap="square" lIns="0" tIns="0" rIns="0" bIns="0" rtlCol="0" anchor="ctr"/>
          <a:lstStyle/>
          <a:p>
            <a:pPr indent="0" marL="0">
              <a:buNone/>
            </a:pPr>
            <a:r>
              <a:rPr lang="en-US" sz="3400" b="1" dirty="0">
                <a:solidFill>
                  <a:srgbClr val="E86A44"/>
                </a:solidFill>
                <a:latin typeface="Arial" pitchFamily="34" charset="0"/>
                <a:ea typeface="Arial" pitchFamily="34" charset="-122"/>
                <a:cs typeface="Arial" pitchFamily="34" charset="-120"/>
              </a:rPr>
              <a:t>−1.2</a:t>
            </a:r>
            <a:endParaRPr lang="en-US" sz="3400" dirty="0"/>
          </a:p>
        </p:txBody>
      </p:sp>
      <p:sp>
        <p:nvSpPr>
          <p:cNvPr id="8" name="Text 5"/>
          <p:cNvSpPr/>
          <p:nvPr/>
        </p:nvSpPr>
        <p:spPr>
          <a:xfrm>
            <a:off x="640080" y="2231136"/>
            <a:ext cx="338328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steeper acute slope with finerenone over the first 3 months (95% CI −1.7 to −0.6)</a:t>
            </a:r>
            <a:endParaRPr lang="en-US" sz="1350" dirty="0"/>
          </a:p>
        </p:txBody>
      </p:sp>
      <p:sp>
        <p:nvSpPr>
          <p:cNvPr id="9" name="Text 6"/>
          <p:cNvSpPr/>
          <p:nvPr/>
        </p:nvSpPr>
        <p:spPr>
          <a:xfrm>
            <a:off x="640080" y="3337560"/>
            <a:ext cx="338328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+2.4</a:t>
            </a:r>
            <a:endParaRPr lang="en-US" sz="3400" dirty="0"/>
          </a:p>
        </p:txBody>
      </p:sp>
      <p:sp>
        <p:nvSpPr>
          <p:cNvPr id="10" name="Text 7"/>
          <p:cNvSpPr/>
          <p:nvPr/>
        </p:nvSpPr>
        <p:spPr>
          <a:xfrm>
            <a:off x="640080" y="3922776"/>
            <a:ext cx="338328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less eGFR lost by 4 weeks off-treatment vs placebo (−8.8 vs −11.2 ml/min/1.73 m²)</a:t>
            </a:r>
            <a:endParaRPr lang="en-US" sz="1350" dirty="0"/>
          </a:p>
        </p:txBody>
      </p:sp>
      <p:sp>
        <p:nvSpPr>
          <p:cNvPr id="11" name="Text 8"/>
          <p:cNvSpPr/>
          <p:nvPr/>
        </p:nvSpPr>
        <p:spPr>
          <a:xfrm>
            <a:off x="4572000" y="1645920"/>
            <a:ext cx="6976872" cy="4206240"/>
          </a:xfrm>
          <a:prstGeom prst="rect">
            <a:avLst/>
          </a:prstGeom>
          <a:noFill/>
          <a:ln/>
        </p:spPr>
        <p:txBody>
          <a:bodyPr wrap="square" lIns="0" tIns="0" rIns="0" bIns="0" rtlCol="0" anchor="t"/>
          <a:lstStyle/>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MR blockade reduces intraglomerular pressure, so eGFR steps down early. A functional change, not structural injury.</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The trajectory after month 3 is what matters: a shallower chronic slope means slower true loss of nephrons.</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Stopping the drug undoes the dip: eGFR climbs back with finerenone while placebo keeps falling. A structural loss would not rebound.</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The two-slope model exists precisely to keep this reversible dip from masking the chronic benefit.</a:t>
            </a:r>
            <a:endParaRPr lang="en-US" sz="15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Primary result: total, acute and chronic slope</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The chronic slope, 1.2/yr, is the disease-modifying signal, nearly double the headline 0.7.</a:t>
            </a:r>
            <a:endParaRPr lang="en-US" sz="1600" dirty="0"/>
          </a:p>
        </p:txBody>
      </p:sp>
      <p:graphicFrame>
        <p:nvGraphicFramePr>
          <p:cNvPr id="7" name="Chart 0" descr=""/>
          <p:cNvGraphicFramePr/>
          <p:nvPr/>
        </p:nvGraphicFramePr>
        <p:xfrm>
          <a:off x="640080" y="1554480"/>
          <a:ext cx="7040880" cy="438912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7955280" y="1737360"/>
            <a:ext cx="3593592" cy="420624"/>
          </a:xfrm>
          <a:prstGeom prst="rect">
            <a:avLst/>
          </a:prstGeom>
          <a:solidFill>
            <a:srgbClr val="0F3446"/>
          </a:solidFill>
          <a:ln/>
        </p:spPr>
      </p:sp>
      <p:sp>
        <p:nvSpPr>
          <p:cNvPr id="9" name="Text 5"/>
          <p:cNvSpPr/>
          <p:nvPr/>
        </p:nvSpPr>
        <p:spPr>
          <a:xfrm>
            <a:off x="8065008" y="1737360"/>
            <a:ext cx="1326429"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Difference</a:t>
            </a:r>
            <a:endParaRPr lang="en-US" sz="1300" dirty="0"/>
          </a:p>
        </p:txBody>
      </p:sp>
      <p:sp>
        <p:nvSpPr>
          <p:cNvPr id="10" name="Text 6"/>
          <p:cNvSpPr/>
          <p:nvPr/>
        </p:nvSpPr>
        <p:spPr>
          <a:xfrm>
            <a:off x="9574317" y="1737360"/>
            <a:ext cx="823326"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Estimate</a:t>
            </a:r>
            <a:endParaRPr lang="en-US" sz="1300" dirty="0"/>
          </a:p>
        </p:txBody>
      </p:sp>
      <p:sp>
        <p:nvSpPr>
          <p:cNvPr id="11" name="Text 7"/>
          <p:cNvSpPr/>
          <p:nvPr/>
        </p:nvSpPr>
        <p:spPr>
          <a:xfrm>
            <a:off x="10580522" y="1737360"/>
            <a:ext cx="895198"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95% CI</a:t>
            </a:r>
            <a:endParaRPr lang="en-US" sz="1300" dirty="0"/>
          </a:p>
        </p:txBody>
      </p:sp>
      <p:sp>
        <p:nvSpPr>
          <p:cNvPr id="12" name="Shape 8"/>
          <p:cNvSpPr/>
          <p:nvPr/>
        </p:nvSpPr>
        <p:spPr>
          <a:xfrm>
            <a:off x="7955280" y="2706624"/>
            <a:ext cx="3593592" cy="0"/>
          </a:xfrm>
          <a:prstGeom prst="line">
            <a:avLst/>
          </a:prstGeom>
          <a:noFill/>
          <a:ln w="9525">
            <a:solidFill>
              <a:srgbClr val="CFDDDD"/>
            </a:solidFill>
            <a:prstDash val="solid"/>
          </a:ln>
        </p:spPr>
      </p:sp>
      <p:sp>
        <p:nvSpPr>
          <p:cNvPr id="13" name="Text 9"/>
          <p:cNvSpPr/>
          <p:nvPr/>
        </p:nvSpPr>
        <p:spPr>
          <a:xfrm>
            <a:off x="8065008" y="2157984"/>
            <a:ext cx="1326429" cy="54864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Total</a:t>
            </a:r>
            <a:endParaRPr lang="en-US" sz="1300" dirty="0"/>
          </a:p>
        </p:txBody>
      </p:sp>
      <p:sp>
        <p:nvSpPr>
          <p:cNvPr id="14" name="Text 10"/>
          <p:cNvSpPr/>
          <p:nvPr/>
        </p:nvSpPr>
        <p:spPr>
          <a:xfrm>
            <a:off x="9574317" y="2157984"/>
            <a:ext cx="823326" cy="548640"/>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+0.7</a:t>
            </a:r>
            <a:endParaRPr lang="en-US" sz="1300" dirty="0"/>
          </a:p>
        </p:txBody>
      </p:sp>
      <p:sp>
        <p:nvSpPr>
          <p:cNvPr id="15" name="Text 11"/>
          <p:cNvSpPr/>
          <p:nvPr/>
        </p:nvSpPr>
        <p:spPr>
          <a:xfrm>
            <a:off x="10580522" y="2157984"/>
            <a:ext cx="895198" cy="54864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0.3 to 1.1</a:t>
            </a:r>
            <a:endParaRPr lang="en-US" sz="1300" dirty="0"/>
          </a:p>
        </p:txBody>
      </p:sp>
      <p:sp>
        <p:nvSpPr>
          <p:cNvPr id="16" name="Shape 12"/>
          <p:cNvSpPr/>
          <p:nvPr/>
        </p:nvSpPr>
        <p:spPr>
          <a:xfrm>
            <a:off x="7955280" y="3255264"/>
            <a:ext cx="3593592" cy="0"/>
          </a:xfrm>
          <a:prstGeom prst="line">
            <a:avLst/>
          </a:prstGeom>
          <a:noFill/>
          <a:ln w="9525">
            <a:solidFill>
              <a:srgbClr val="CFDDDD"/>
            </a:solidFill>
            <a:prstDash val="solid"/>
          </a:ln>
        </p:spPr>
      </p:sp>
      <p:sp>
        <p:nvSpPr>
          <p:cNvPr id="17" name="Text 13"/>
          <p:cNvSpPr/>
          <p:nvPr/>
        </p:nvSpPr>
        <p:spPr>
          <a:xfrm>
            <a:off x="8065008" y="2706624"/>
            <a:ext cx="1326429" cy="54864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Acute (0–3 mo)</a:t>
            </a:r>
            <a:endParaRPr lang="en-US" sz="1300" dirty="0"/>
          </a:p>
        </p:txBody>
      </p:sp>
      <p:sp>
        <p:nvSpPr>
          <p:cNvPr id="18" name="Text 14"/>
          <p:cNvSpPr/>
          <p:nvPr/>
        </p:nvSpPr>
        <p:spPr>
          <a:xfrm>
            <a:off x="9574317" y="2706624"/>
            <a:ext cx="823326" cy="548640"/>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−1.2</a:t>
            </a:r>
            <a:endParaRPr lang="en-US" sz="1300" dirty="0"/>
          </a:p>
        </p:txBody>
      </p:sp>
      <p:sp>
        <p:nvSpPr>
          <p:cNvPr id="19" name="Text 15"/>
          <p:cNvSpPr/>
          <p:nvPr/>
        </p:nvSpPr>
        <p:spPr>
          <a:xfrm>
            <a:off x="10580522" y="2706624"/>
            <a:ext cx="895198" cy="54864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−1.7 to −0.6</a:t>
            </a:r>
            <a:endParaRPr lang="en-US" sz="1300" dirty="0"/>
          </a:p>
        </p:txBody>
      </p:sp>
      <p:sp>
        <p:nvSpPr>
          <p:cNvPr id="20" name="Shape 16"/>
          <p:cNvSpPr/>
          <p:nvPr/>
        </p:nvSpPr>
        <p:spPr>
          <a:xfrm>
            <a:off x="7955280" y="3803904"/>
            <a:ext cx="3593592" cy="0"/>
          </a:xfrm>
          <a:prstGeom prst="line">
            <a:avLst/>
          </a:prstGeom>
          <a:noFill/>
          <a:ln w="9525">
            <a:solidFill>
              <a:srgbClr val="CFDDDD"/>
            </a:solidFill>
            <a:prstDash val="solid"/>
          </a:ln>
        </p:spPr>
      </p:sp>
      <p:sp>
        <p:nvSpPr>
          <p:cNvPr id="21" name="Text 17"/>
          <p:cNvSpPr/>
          <p:nvPr/>
        </p:nvSpPr>
        <p:spPr>
          <a:xfrm>
            <a:off x="8065008" y="3255264"/>
            <a:ext cx="1326429" cy="54864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Chronic slope</a:t>
            </a:r>
            <a:endParaRPr lang="en-US" sz="1300" dirty="0"/>
          </a:p>
        </p:txBody>
      </p:sp>
      <p:sp>
        <p:nvSpPr>
          <p:cNvPr id="22" name="Text 18"/>
          <p:cNvSpPr/>
          <p:nvPr/>
        </p:nvSpPr>
        <p:spPr>
          <a:xfrm>
            <a:off x="9574317" y="3255264"/>
            <a:ext cx="823326" cy="548640"/>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+1.2</a:t>
            </a:r>
            <a:endParaRPr lang="en-US" sz="1300" dirty="0"/>
          </a:p>
        </p:txBody>
      </p:sp>
      <p:sp>
        <p:nvSpPr>
          <p:cNvPr id="23" name="Text 19"/>
          <p:cNvSpPr/>
          <p:nvPr/>
        </p:nvSpPr>
        <p:spPr>
          <a:xfrm>
            <a:off x="10580522" y="3255264"/>
            <a:ext cx="895198" cy="54864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0.9 to 1.6</a:t>
            </a:r>
            <a:endParaRPr lang="en-US" sz="1300" dirty="0"/>
          </a:p>
        </p:txBody>
      </p:sp>
      <p:sp>
        <p:nvSpPr>
          <p:cNvPr id="24" name="Text 20"/>
          <p:cNvSpPr/>
          <p:nvPr/>
        </p:nvSpPr>
        <p:spPr>
          <a:xfrm>
            <a:off x="7955280" y="3941064"/>
            <a:ext cx="3593592" cy="548640"/>
          </a:xfrm>
          <a:prstGeom prst="rect">
            <a:avLst/>
          </a:prstGeom>
          <a:noFill/>
          <a:ln/>
        </p:spPr>
        <p:txBody>
          <a:bodyPr wrap="square" lIns="0" tIns="0" rIns="0" bIns="0" rtlCol="0" anchor="ctr"/>
          <a:lstStyle/>
          <a:p>
            <a:pPr indent="0" marL="0">
              <a:lnSpc>
                <a:spcPct val="115000"/>
              </a:lnSpc>
              <a:buNone/>
            </a:pPr>
            <a:r>
              <a:rPr lang="en-US" sz="1250" i="1" dirty="0">
                <a:solidFill>
                  <a:srgbClr val="4E5E66"/>
                </a:solidFill>
                <a:latin typeface="Calibri" pitchFamily="34" charset="0"/>
                <a:ea typeface="Calibri" pitchFamily="34" charset="-122"/>
                <a:cs typeface="Calibri" pitchFamily="34" charset="-120"/>
              </a:rPr>
              <a:t>P &lt; 0.001 for the total slope. Difference = finerenone minus placebo; positive favors finerenone.</a:t>
            </a:r>
            <a:endParaRPr lang="en-US" sz="1250" dirty="0"/>
          </a:p>
        </p:txBody>
      </p:sp>
      <p:sp>
        <p:nvSpPr>
          <p:cNvPr id="25" name="Text 21"/>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Adapted from Figure 1B.</a:t>
            </a:r>
            <a:endParaRPr lang="en-US" sz="850" dirty="0"/>
          </a:p>
        </p:txBody>
      </p:sp>
      <p:sp>
        <p:nvSpPr>
          <p:cNvPr id="26" name="Text 22"/>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7" name="Text 23"/>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Consistency across subgroups</a:t>
            </a:r>
            <a:endParaRPr lang="en-US" sz="2400" dirty="0"/>
          </a:p>
        </p:txBody>
      </p:sp>
      <p:sp>
        <p:nvSpPr>
          <p:cNvPr id="6" name="Text 3"/>
          <p:cNvSpPr/>
          <p:nvPr/>
        </p:nvSpPr>
        <p:spPr>
          <a:xfrm>
            <a:off x="640080" y="1005840"/>
            <a:ext cx="10908792" cy="310896"/>
          </a:xfrm>
          <a:prstGeom prst="rect">
            <a:avLst/>
          </a:prstGeom>
          <a:noFill/>
          <a:ln/>
        </p:spPr>
        <p:txBody>
          <a:bodyPr wrap="square" lIns="0" tIns="0" rIns="0" bIns="0" rtlCol="0" anchor="ctr"/>
          <a:lstStyle/>
          <a:p>
            <a:pPr indent="0" marL="0">
              <a:buNone/>
            </a:pPr>
            <a:r>
              <a:rPr lang="en-US" sz="1350" i="1" dirty="0">
                <a:solidFill>
                  <a:srgbClr val="4E5E66"/>
                </a:solidFill>
                <a:latin typeface="Calibri" pitchFamily="34" charset="0"/>
                <a:ea typeface="Calibri" pitchFamily="34" charset="-122"/>
                <a:cs typeface="Calibri" pitchFamily="34" charset="-120"/>
              </a:rPr>
              <a:t>Difference in eGFR slope (ml/min/1.73 m² per year). Positive favors finerenone.</a:t>
            </a:r>
            <a:endParaRPr lang="en-US" sz="1350" dirty="0"/>
          </a:p>
        </p:txBody>
      </p:sp>
      <p:sp>
        <p:nvSpPr>
          <p:cNvPr id="7" name="Shape 4"/>
          <p:cNvSpPr/>
          <p:nvPr/>
        </p:nvSpPr>
        <p:spPr>
          <a:xfrm>
            <a:off x="3749040" y="1508760"/>
            <a:ext cx="0" cy="4142232"/>
          </a:xfrm>
          <a:prstGeom prst="line">
            <a:avLst/>
          </a:prstGeom>
          <a:noFill/>
          <a:ln w="12700">
            <a:solidFill>
              <a:srgbClr val="EDF2F2"/>
            </a:solidFill>
            <a:prstDash val="dash"/>
          </a:ln>
        </p:spPr>
      </p:sp>
      <p:sp>
        <p:nvSpPr>
          <p:cNvPr id="8" name="Text 5"/>
          <p:cNvSpPr/>
          <p:nvPr/>
        </p:nvSpPr>
        <p:spPr>
          <a:xfrm>
            <a:off x="3474720" y="5724144"/>
            <a:ext cx="548640" cy="219456"/>
          </a:xfrm>
          <a:prstGeom prst="rect">
            <a:avLst/>
          </a:prstGeom>
          <a:noFill/>
          <a:ln/>
        </p:spPr>
        <p:txBody>
          <a:bodyPr wrap="square" lIns="0" tIns="0" rIns="0" bIns="0" rtlCol="0" anchor="ctr"/>
          <a:lstStyle/>
          <a:p>
            <a:pPr algn="ctr" indent="0" marL="0">
              <a:buNone/>
            </a:pPr>
            <a:r>
              <a:rPr lang="en-US" sz="950" dirty="0">
                <a:solidFill>
                  <a:srgbClr val="4E5E66"/>
                </a:solidFill>
                <a:latin typeface="Calibri" pitchFamily="34" charset="0"/>
                <a:ea typeface="Calibri" pitchFamily="34" charset="-122"/>
                <a:cs typeface="Calibri" pitchFamily="34" charset="-120"/>
              </a:rPr>
              <a:t>-1</a:t>
            </a:r>
            <a:endParaRPr lang="en-US" sz="950" dirty="0"/>
          </a:p>
        </p:txBody>
      </p:sp>
      <p:sp>
        <p:nvSpPr>
          <p:cNvPr id="9" name="Shape 6"/>
          <p:cNvSpPr/>
          <p:nvPr/>
        </p:nvSpPr>
        <p:spPr>
          <a:xfrm>
            <a:off x="5739384" y="1508760"/>
            <a:ext cx="0" cy="4142232"/>
          </a:xfrm>
          <a:prstGeom prst="line">
            <a:avLst/>
          </a:prstGeom>
          <a:noFill/>
          <a:ln w="19050">
            <a:solidFill>
              <a:srgbClr val="9AA7AD"/>
            </a:solidFill>
            <a:prstDash val="solid"/>
          </a:ln>
        </p:spPr>
      </p:sp>
      <p:sp>
        <p:nvSpPr>
          <p:cNvPr id="10" name="Text 7"/>
          <p:cNvSpPr/>
          <p:nvPr/>
        </p:nvSpPr>
        <p:spPr>
          <a:xfrm>
            <a:off x="5465064" y="5724144"/>
            <a:ext cx="548640" cy="219456"/>
          </a:xfrm>
          <a:prstGeom prst="rect">
            <a:avLst/>
          </a:prstGeom>
          <a:noFill/>
          <a:ln/>
        </p:spPr>
        <p:txBody>
          <a:bodyPr wrap="square" lIns="0" tIns="0" rIns="0" bIns="0" rtlCol="0" anchor="ctr"/>
          <a:lstStyle/>
          <a:p>
            <a:pPr algn="ctr" indent="0" marL="0">
              <a:buNone/>
            </a:pPr>
            <a:r>
              <a:rPr lang="en-US" sz="950" dirty="0">
                <a:solidFill>
                  <a:srgbClr val="4E5E66"/>
                </a:solidFill>
                <a:latin typeface="Calibri" pitchFamily="34" charset="0"/>
                <a:ea typeface="Calibri" pitchFamily="34" charset="-122"/>
                <a:cs typeface="Calibri" pitchFamily="34" charset="-120"/>
              </a:rPr>
              <a:t>0</a:t>
            </a:r>
            <a:endParaRPr lang="en-US" sz="950" dirty="0"/>
          </a:p>
        </p:txBody>
      </p:sp>
      <p:sp>
        <p:nvSpPr>
          <p:cNvPr id="11" name="Shape 8"/>
          <p:cNvSpPr/>
          <p:nvPr/>
        </p:nvSpPr>
        <p:spPr>
          <a:xfrm>
            <a:off x="7729728" y="1508760"/>
            <a:ext cx="0" cy="4142232"/>
          </a:xfrm>
          <a:prstGeom prst="line">
            <a:avLst/>
          </a:prstGeom>
          <a:noFill/>
          <a:ln w="12700">
            <a:solidFill>
              <a:srgbClr val="EDF2F2"/>
            </a:solidFill>
            <a:prstDash val="dash"/>
          </a:ln>
        </p:spPr>
      </p:sp>
      <p:sp>
        <p:nvSpPr>
          <p:cNvPr id="12" name="Text 9"/>
          <p:cNvSpPr/>
          <p:nvPr/>
        </p:nvSpPr>
        <p:spPr>
          <a:xfrm>
            <a:off x="7455408" y="5724144"/>
            <a:ext cx="548640" cy="219456"/>
          </a:xfrm>
          <a:prstGeom prst="rect">
            <a:avLst/>
          </a:prstGeom>
          <a:noFill/>
          <a:ln/>
        </p:spPr>
        <p:txBody>
          <a:bodyPr wrap="square" lIns="0" tIns="0" rIns="0" bIns="0" rtlCol="0" anchor="ctr"/>
          <a:lstStyle/>
          <a:p>
            <a:pPr algn="ctr" indent="0" marL="0">
              <a:buNone/>
            </a:pPr>
            <a:r>
              <a:rPr lang="en-US" sz="950" dirty="0">
                <a:solidFill>
                  <a:srgbClr val="4E5E66"/>
                </a:solidFill>
                <a:latin typeface="Calibri" pitchFamily="34" charset="0"/>
                <a:ea typeface="Calibri" pitchFamily="34" charset="-122"/>
                <a:cs typeface="Calibri" pitchFamily="34" charset="-120"/>
              </a:rPr>
              <a:t>1</a:t>
            </a:r>
            <a:endParaRPr lang="en-US" sz="950" dirty="0"/>
          </a:p>
        </p:txBody>
      </p:sp>
      <p:sp>
        <p:nvSpPr>
          <p:cNvPr id="13" name="Shape 10"/>
          <p:cNvSpPr/>
          <p:nvPr/>
        </p:nvSpPr>
        <p:spPr>
          <a:xfrm>
            <a:off x="9720072" y="1508760"/>
            <a:ext cx="0" cy="4142232"/>
          </a:xfrm>
          <a:prstGeom prst="line">
            <a:avLst/>
          </a:prstGeom>
          <a:noFill/>
          <a:ln w="12700">
            <a:solidFill>
              <a:srgbClr val="EDF2F2"/>
            </a:solidFill>
            <a:prstDash val="dash"/>
          </a:ln>
        </p:spPr>
      </p:sp>
      <p:sp>
        <p:nvSpPr>
          <p:cNvPr id="14" name="Text 11"/>
          <p:cNvSpPr/>
          <p:nvPr/>
        </p:nvSpPr>
        <p:spPr>
          <a:xfrm>
            <a:off x="9445752" y="5724144"/>
            <a:ext cx="548640" cy="219456"/>
          </a:xfrm>
          <a:prstGeom prst="rect">
            <a:avLst/>
          </a:prstGeom>
          <a:noFill/>
          <a:ln/>
        </p:spPr>
        <p:txBody>
          <a:bodyPr wrap="square" lIns="0" tIns="0" rIns="0" bIns="0" rtlCol="0" anchor="ctr"/>
          <a:lstStyle/>
          <a:p>
            <a:pPr algn="ctr" indent="0" marL="0">
              <a:buNone/>
            </a:pPr>
            <a:r>
              <a:rPr lang="en-US" sz="950" dirty="0">
                <a:solidFill>
                  <a:srgbClr val="4E5E66"/>
                </a:solidFill>
                <a:latin typeface="Calibri" pitchFamily="34" charset="0"/>
                <a:ea typeface="Calibri" pitchFamily="34" charset="-122"/>
                <a:cs typeface="Calibri" pitchFamily="34" charset="-120"/>
              </a:rPr>
              <a:t>2</a:t>
            </a:r>
            <a:endParaRPr lang="en-US" sz="950" dirty="0"/>
          </a:p>
        </p:txBody>
      </p:sp>
      <p:sp>
        <p:nvSpPr>
          <p:cNvPr id="15" name="Text 12"/>
          <p:cNvSpPr/>
          <p:nvPr/>
        </p:nvSpPr>
        <p:spPr>
          <a:xfrm>
            <a:off x="3657600" y="5961888"/>
            <a:ext cx="1828800" cy="219456"/>
          </a:xfrm>
          <a:prstGeom prst="rect">
            <a:avLst/>
          </a:prstGeom>
          <a:noFill/>
          <a:ln/>
        </p:spPr>
        <p:txBody>
          <a:bodyPr wrap="square" lIns="0" tIns="0" rIns="0" bIns="0" rtlCol="0" anchor="ctr"/>
          <a:lstStyle/>
          <a:p>
            <a:pPr indent="0" marL="0">
              <a:buNone/>
            </a:pPr>
            <a:r>
              <a:rPr lang="en-US" sz="950" i="1" dirty="0">
                <a:solidFill>
                  <a:srgbClr val="4E5E66"/>
                </a:solidFill>
                <a:latin typeface="Calibri" pitchFamily="34" charset="0"/>
                <a:ea typeface="Calibri" pitchFamily="34" charset="-122"/>
                <a:cs typeface="Calibri" pitchFamily="34" charset="-120"/>
              </a:rPr>
              <a:t>Favors placebo</a:t>
            </a:r>
            <a:endParaRPr lang="en-US" sz="950" dirty="0"/>
          </a:p>
        </p:txBody>
      </p:sp>
      <p:sp>
        <p:nvSpPr>
          <p:cNvPr id="16" name="Text 13"/>
          <p:cNvSpPr/>
          <p:nvPr/>
        </p:nvSpPr>
        <p:spPr>
          <a:xfrm>
            <a:off x="7982712" y="5961888"/>
            <a:ext cx="1828800" cy="219456"/>
          </a:xfrm>
          <a:prstGeom prst="rect">
            <a:avLst/>
          </a:prstGeom>
          <a:noFill/>
          <a:ln/>
        </p:spPr>
        <p:txBody>
          <a:bodyPr wrap="square" lIns="0" tIns="0" rIns="0" bIns="0" rtlCol="0" anchor="ctr"/>
          <a:lstStyle/>
          <a:p>
            <a:pPr algn="r" indent="0" marL="0">
              <a:buNone/>
            </a:pPr>
            <a:r>
              <a:rPr lang="en-US" sz="950" i="1" dirty="0">
                <a:solidFill>
                  <a:srgbClr val="4E5E66"/>
                </a:solidFill>
                <a:latin typeface="Calibri" pitchFamily="34" charset="0"/>
                <a:ea typeface="Calibri" pitchFamily="34" charset="-122"/>
                <a:cs typeface="Calibri" pitchFamily="34" charset="-120"/>
              </a:rPr>
              <a:t>Favors finerenone</a:t>
            </a:r>
            <a:endParaRPr lang="en-US" sz="950" dirty="0"/>
          </a:p>
        </p:txBody>
      </p:sp>
      <p:sp>
        <p:nvSpPr>
          <p:cNvPr id="17" name="Text 14"/>
          <p:cNvSpPr/>
          <p:nvPr/>
        </p:nvSpPr>
        <p:spPr>
          <a:xfrm>
            <a:off x="640080" y="1597291"/>
            <a:ext cx="3017520" cy="292608"/>
          </a:xfrm>
          <a:prstGeom prst="rect">
            <a:avLst/>
          </a:prstGeom>
          <a:noFill/>
          <a:ln/>
        </p:spPr>
        <p:txBody>
          <a:bodyPr wrap="square" lIns="0" tIns="0" rIns="0" bIns="0" rtlCol="0" anchor="ctr"/>
          <a:lstStyle/>
          <a:p>
            <a:pPr indent="0" marL="0">
              <a:buNone/>
            </a:pPr>
            <a:r>
              <a:rPr lang="en-US" sz="1250" b="1" dirty="0">
                <a:solidFill>
                  <a:srgbClr val="0F3446"/>
                </a:solidFill>
                <a:latin typeface="Calibri" pitchFamily="34" charset="0"/>
                <a:ea typeface="Calibri" pitchFamily="34" charset="-122"/>
                <a:cs typeface="Calibri" pitchFamily="34" charset="-120"/>
              </a:rPr>
              <a:t>Overall</a:t>
            </a:r>
            <a:endParaRPr lang="en-US" sz="1250" dirty="0"/>
          </a:p>
        </p:txBody>
      </p:sp>
      <p:sp>
        <p:nvSpPr>
          <p:cNvPr id="18" name="Shape 15"/>
          <p:cNvSpPr/>
          <p:nvPr/>
        </p:nvSpPr>
        <p:spPr>
          <a:xfrm>
            <a:off x="6376294" y="1743595"/>
            <a:ext cx="1452951" cy="0"/>
          </a:xfrm>
          <a:prstGeom prst="line">
            <a:avLst/>
          </a:prstGeom>
          <a:noFill/>
          <a:ln w="38100">
            <a:solidFill>
              <a:srgbClr val="12A3A6"/>
            </a:solidFill>
            <a:prstDash val="solid"/>
          </a:ln>
        </p:spPr>
      </p:sp>
      <p:sp>
        <p:nvSpPr>
          <p:cNvPr id="19" name="Shape 16"/>
          <p:cNvSpPr/>
          <p:nvPr/>
        </p:nvSpPr>
        <p:spPr>
          <a:xfrm>
            <a:off x="6376294" y="1688731"/>
            <a:ext cx="0" cy="109728"/>
          </a:xfrm>
          <a:prstGeom prst="line">
            <a:avLst/>
          </a:prstGeom>
          <a:noFill/>
          <a:ln w="25400">
            <a:solidFill>
              <a:srgbClr val="12A3A6"/>
            </a:solidFill>
            <a:prstDash val="solid"/>
          </a:ln>
        </p:spPr>
      </p:sp>
      <p:sp>
        <p:nvSpPr>
          <p:cNvPr id="20" name="Shape 17"/>
          <p:cNvSpPr/>
          <p:nvPr/>
        </p:nvSpPr>
        <p:spPr>
          <a:xfrm>
            <a:off x="7829245" y="1688731"/>
            <a:ext cx="0" cy="109728"/>
          </a:xfrm>
          <a:prstGeom prst="line">
            <a:avLst/>
          </a:prstGeom>
          <a:noFill/>
          <a:ln w="25400">
            <a:solidFill>
              <a:srgbClr val="12A3A6"/>
            </a:solidFill>
            <a:prstDash val="solid"/>
          </a:ln>
        </p:spPr>
      </p:sp>
      <p:sp>
        <p:nvSpPr>
          <p:cNvPr id="21" name="Shape 18"/>
          <p:cNvSpPr/>
          <p:nvPr/>
        </p:nvSpPr>
        <p:spPr>
          <a:xfrm>
            <a:off x="7033382" y="1684159"/>
            <a:ext cx="118872" cy="118872"/>
          </a:xfrm>
          <a:prstGeom prst="diamond">
            <a:avLst/>
          </a:prstGeom>
          <a:solidFill>
            <a:srgbClr val="0F3446"/>
          </a:solidFill>
          <a:ln/>
        </p:spPr>
      </p:sp>
      <p:sp>
        <p:nvSpPr>
          <p:cNvPr id="22" name="Text 19"/>
          <p:cNvSpPr/>
          <p:nvPr/>
        </p:nvSpPr>
        <p:spPr>
          <a:xfrm>
            <a:off x="9765792" y="1597291"/>
            <a:ext cx="1783080" cy="292608"/>
          </a:xfrm>
          <a:prstGeom prst="rect">
            <a:avLst/>
          </a:prstGeom>
          <a:noFill/>
          <a:ln/>
        </p:spPr>
        <p:txBody>
          <a:bodyPr wrap="square" lIns="0" tIns="0" rIns="0" bIns="0" rtlCol="0" anchor="ctr"/>
          <a:lstStyle/>
          <a:p>
            <a:pPr indent="0" marL="0">
              <a:buNone/>
            </a:pPr>
            <a:r>
              <a:rPr lang="en-US" sz="950" b="1" dirty="0">
                <a:solidFill>
                  <a:srgbClr val="0F3446"/>
                </a:solidFill>
                <a:latin typeface="Calibri" pitchFamily="34" charset="0"/>
                <a:ea typeface="Calibri" pitchFamily="34" charset="-122"/>
                <a:cs typeface="Calibri" pitchFamily="34" charset="-120"/>
              </a:rPr>
              <a:t>0.68 (0.32 to 1.05)</a:t>
            </a:r>
            <a:endParaRPr lang="en-US" sz="950" dirty="0"/>
          </a:p>
        </p:txBody>
      </p:sp>
      <p:sp>
        <p:nvSpPr>
          <p:cNvPr id="23" name="Text 20"/>
          <p:cNvSpPr/>
          <p:nvPr/>
        </p:nvSpPr>
        <p:spPr>
          <a:xfrm>
            <a:off x="640080" y="1975520"/>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Cause: HTN / ischemic</a:t>
            </a:r>
            <a:endParaRPr lang="en-US" sz="1250" dirty="0"/>
          </a:p>
        </p:txBody>
      </p:sp>
      <p:sp>
        <p:nvSpPr>
          <p:cNvPr id="24" name="Shape 21"/>
          <p:cNvSpPr/>
          <p:nvPr/>
        </p:nvSpPr>
        <p:spPr>
          <a:xfrm>
            <a:off x="5739384" y="2121824"/>
            <a:ext cx="2726771" cy="0"/>
          </a:xfrm>
          <a:prstGeom prst="line">
            <a:avLst/>
          </a:prstGeom>
          <a:noFill/>
          <a:ln w="25400">
            <a:solidFill>
              <a:srgbClr val="6FBEC0"/>
            </a:solidFill>
            <a:prstDash val="solid"/>
          </a:ln>
        </p:spPr>
      </p:sp>
      <p:sp>
        <p:nvSpPr>
          <p:cNvPr id="25" name="Shape 22"/>
          <p:cNvSpPr/>
          <p:nvPr/>
        </p:nvSpPr>
        <p:spPr>
          <a:xfrm>
            <a:off x="5739384" y="2066960"/>
            <a:ext cx="0" cy="109728"/>
          </a:xfrm>
          <a:prstGeom prst="line">
            <a:avLst/>
          </a:prstGeom>
          <a:noFill/>
          <a:ln w="25400">
            <a:solidFill>
              <a:srgbClr val="6FBEC0"/>
            </a:solidFill>
            <a:prstDash val="solid"/>
          </a:ln>
        </p:spPr>
      </p:sp>
      <p:sp>
        <p:nvSpPr>
          <p:cNvPr id="26" name="Shape 23"/>
          <p:cNvSpPr/>
          <p:nvPr/>
        </p:nvSpPr>
        <p:spPr>
          <a:xfrm>
            <a:off x="8466155" y="2066960"/>
            <a:ext cx="0" cy="109728"/>
          </a:xfrm>
          <a:prstGeom prst="line">
            <a:avLst/>
          </a:prstGeom>
          <a:noFill/>
          <a:ln w="25400">
            <a:solidFill>
              <a:srgbClr val="6FBEC0"/>
            </a:solidFill>
            <a:prstDash val="solid"/>
          </a:ln>
        </p:spPr>
      </p:sp>
      <p:sp>
        <p:nvSpPr>
          <p:cNvPr id="27" name="Shape 24"/>
          <p:cNvSpPr/>
          <p:nvPr/>
        </p:nvSpPr>
        <p:spPr>
          <a:xfrm>
            <a:off x="7047098" y="2076104"/>
            <a:ext cx="91440" cy="91440"/>
          </a:xfrm>
          <a:prstGeom prst="diamond">
            <a:avLst/>
          </a:prstGeom>
          <a:solidFill>
            <a:srgbClr val="12A3A6"/>
          </a:solidFill>
          <a:ln/>
        </p:spPr>
      </p:sp>
      <p:sp>
        <p:nvSpPr>
          <p:cNvPr id="28" name="Text 25"/>
          <p:cNvSpPr/>
          <p:nvPr/>
        </p:nvSpPr>
        <p:spPr>
          <a:xfrm>
            <a:off x="9765792" y="1975520"/>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0.68 (0.00 to 1.37)</a:t>
            </a:r>
            <a:endParaRPr lang="en-US" sz="950" dirty="0"/>
          </a:p>
        </p:txBody>
      </p:sp>
      <p:sp>
        <p:nvSpPr>
          <p:cNvPr id="29" name="Text 26"/>
          <p:cNvSpPr/>
          <p:nvPr/>
        </p:nvSpPr>
        <p:spPr>
          <a:xfrm>
            <a:off x="640080" y="2353749"/>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Cause: chronic GN</a:t>
            </a:r>
            <a:endParaRPr lang="en-US" sz="1250" dirty="0"/>
          </a:p>
        </p:txBody>
      </p:sp>
      <p:sp>
        <p:nvSpPr>
          <p:cNvPr id="30" name="Shape 27"/>
          <p:cNvSpPr/>
          <p:nvPr/>
        </p:nvSpPr>
        <p:spPr>
          <a:xfrm>
            <a:off x="6236970" y="2500053"/>
            <a:ext cx="1930634" cy="0"/>
          </a:xfrm>
          <a:prstGeom prst="line">
            <a:avLst/>
          </a:prstGeom>
          <a:noFill/>
          <a:ln w="25400">
            <a:solidFill>
              <a:srgbClr val="6FBEC0"/>
            </a:solidFill>
            <a:prstDash val="solid"/>
          </a:ln>
        </p:spPr>
      </p:sp>
      <p:sp>
        <p:nvSpPr>
          <p:cNvPr id="31" name="Shape 28"/>
          <p:cNvSpPr/>
          <p:nvPr/>
        </p:nvSpPr>
        <p:spPr>
          <a:xfrm>
            <a:off x="6236970" y="2445189"/>
            <a:ext cx="0" cy="109728"/>
          </a:xfrm>
          <a:prstGeom prst="line">
            <a:avLst/>
          </a:prstGeom>
          <a:noFill/>
          <a:ln w="25400">
            <a:solidFill>
              <a:srgbClr val="6FBEC0"/>
            </a:solidFill>
            <a:prstDash val="solid"/>
          </a:ln>
        </p:spPr>
      </p:sp>
      <p:sp>
        <p:nvSpPr>
          <p:cNvPr id="32" name="Shape 29"/>
          <p:cNvSpPr/>
          <p:nvPr/>
        </p:nvSpPr>
        <p:spPr>
          <a:xfrm>
            <a:off x="8167604" y="2445189"/>
            <a:ext cx="0" cy="109728"/>
          </a:xfrm>
          <a:prstGeom prst="line">
            <a:avLst/>
          </a:prstGeom>
          <a:noFill/>
          <a:ln w="25400">
            <a:solidFill>
              <a:srgbClr val="6FBEC0"/>
            </a:solidFill>
            <a:prstDash val="solid"/>
          </a:ln>
        </p:spPr>
      </p:sp>
      <p:sp>
        <p:nvSpPr>
          <p:cNvPr id="33" name="Shape 30"/>
          <p:cNvSpPr/>
          <p:nvPr/>
        </p:nvSpPr>
        <p:spPr>
          <a:xfrm>
            <a:off x="7146615" y="2454333"/>
            <a:ext cx="91440" cy="91440"/>
          </a:xfrm>
          <a:prstGeom prst="diamond">
            <a:avLst/>
          </a:prstGeom>
          <a:solidFill>
            <a:srgbClr val="12A3A6"/>
          </a:solidFill>
          <a:ln/>
        </p:spPr>
      </p:sp>
      <p:sp>
        <p:nvSpPr>
          <p:cNvPr id="34" name="Text 31"/>
          <p:cNvSpPr/>
          <p:nvPr/>
        </p:nvSpPr>
        <p:spPr>
          <a:xfrm>
            <a:off x="9765792" y="2353749"/>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0.73 (0.25 to 1.22)</a:t>
            </a:r>
            <a:endParaRPr lang="en-US" sz="950" dirty="0"/>
          </a:p>
        </p:txBody>
      </p:sp>
      <p:sp>
        <p:nvSpPr>
          <p:cNvPr id="35" name="Text 32"/>
          <p:cNvSpPr/>
          <p:nvPr/>
        </p:nvSpPr>
        <p:spPr>
          <a:xfrm>
            <a:off x="640080" y="2731978"/>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Cause: other / unknown</a:t>
            </a:r>
            <a:endParaRPr lang="en-US" sz="1250" dirty="0"/>
          </a:p>
        </p:txBody>
      </p:sp>
      <p:sp>
        <p:nvSpPr>
          <p:cNvPr id="36" name="Shape 33"/>
          <p:cNvSpPr/>
          <p:nvPr/>
        </p:nvSpPr>
        <p:spPr>
          <a:xfrm>
            <a:off x="4684502" y="2878282"/>
            <a:ext cx="3920978" cy="0"/>
          </a:xfrm>
          <a:prstGeom prst="line">
            <a:avLst/>
          </a:prstGeom>
          <a:noFill/>
          <a:ln w="25400">
            <a:solidFill>
              <a:srgbClr val="6FBEC0"/>
            </a:solidFill>
            <a:prstDash val="solid"/>
          </a:ln>
        </p:spPr>
      </p:sp>
      <p:sp>
        <p:nvSpPr>
          <p:cNvPr id="37" name="Shape 34"/>
          <p:cNvSpPr/>
          <p:nvPr/>
        </p:nvSpPr>
        <p:spPr>
          <a:xfrm>
            <a:off x="4684502" y="2823418"/>
            <a:ext cx="0" cy="109728"/>
          </a:xfrm>
          <a:prstGeom prst="line">
            <a:avLst/>
          </a:prstGeom>
          <a:noFill/>
          <a:ln w="25400">
            <a:solidFill>
              <a:srgbClr val="6FBEC0"/>
            </a:solidFill>
            <a:prstDash val="solid"/>
          </a:ln>
        </p:spPr>
      </p:sp>
      <p:sp>
        <p:nvSpPr>
          <p:cNvPr id="38" name="Shape 35"/>
          <p:cNvSpPr/>
          <p:nvPr/>
        </p:nvSpPr>
        <p:spPr>
          <a:xfrm>
            <a:off x="8605479" y="2823418"/>
            <a:ext cx="0" cy="109728"/>
          </a:xfrm>
          <a:prstGeom prst="line">
            <a:avLst/>
          </a:prstGeom>
          <a:noFill/>
          <a:ln w="25400">
            <a:solidFill>
              <a:srgbClr val="6FBEC0"/>
            </a:solidFill>
            <a:prstDash val="solid"/>
          </a:ln>
        </p:spPr>
      </p:sp>
      <p:sp>
        <p:nvSpPr>
          <p:cNvPr id="39" name="Shape 36"/>
          <p:cNvSpPr/>
          <p:nvPr/>
        </p:nvSpPr>
        <p:spPr>
          <a:xfrm>
            <a:off x="6589319" y="2832562"/>
            <a:ext cx="91440" cy="91440"/>
          </a:xfrm>
          <a:prstGeom prst="diamond">
            <a:avLst/>
          </a:prstGeom>
          <a:solidFill>
            <a:srgbClr val="12A3A6"/>
          </a:solidFill>
          <a:ln/>
        </p:spPr>
      </p:sp>
      <p:sp>
        <p:nvSpPr>
          <p:cNvPr id="40" name="Text 37"/>
          <p:cNvSpPr/>
          <p:nvPr/>
        </p:nvSpPr>
        <p:spPr>
          <a:xfrm>
            <a:off x="9765792" y="2731978"/>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0.45 (-0.53 to 1.44)</a:t>
            </a:r>
            <a:endParaRPr lang="en-US" sz="950" dirty="0"/>
          </a:p>
        </p:txBody>
      </p:sp>
      <p:sp>
        <p:nvSpPr>
          <p:cNvPr id="41" name="Text 38"/>
          <p:cNvSpPr/>
          <p:nvPr/>
        </p:nvSpPr>
        <p:spPr>
          <a:xfrm>
            <a:off x="640080" y="3110207"/>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eGFR &lt; 45</a:t>
            </a:r>
            <a:endParaRPr lang="en-US" sz="1250" dirty="0"/>
          </a:p>
        </p:txBody>
      </p:sp>
      <p:sp>
        <p:nvSpPr>
          <p:cNvPr id="42" name="Shape 39"/>
          <p:cNvSpPr/>
          <p:nvPr/>
        </p:nvSpPr>
        <p:spPr>
          <a:xfrm>
            <a:off x="5958322" y="3256511"/>
            <a:ext cx="2010247" cy="0"/>
          </a:xfrm>
          <a:prstGeom prst="line">
            <a:avLst/>
          </a:prstGeom>
          <a:noFill/>
          <a:ln w="25400">
            <a:solidFill>
              <a:srgbClr val="6FBEC0"/>
            </a:solidFill>
            <a:prstDash val="solid"/>
          </a:ln>
        </p:spPr>
      </p:sp>
      <p:sp>
        <p:nvSpPr>
          <p:cNvPr id="43" name="Shape 40"/>
          <p:cNvSpPr/>
          <p:nvPr/>
        </p:nvSpPr>
        <p:spPr>
          <a:xfrm>
            <a:off x="5958322" y="3201647"/>
            <a:ext cx="0" cy="109728"/>
          </a:xfrm>
          <a:prstGeom prst="line">
            <a:avLst/>
          </a:prstGeom>
          <a:noFill/>
          <a:ln w="25400">
            <a:solidFill>
              <a:srgbClr val="6FBEC0"/>
            </a:solidFill>
            <a:prstDash val="solid"/>
          </a:ln>
        </p:spPr>
      </p:sp>
      <p:sp>
        <p:nvSpPr>
          <p:cNvPr id="44" name="Shape 41"/>
          <p:cNvSpPr/>
          <p:nvPr/>
        </p:nvSpPr>
        <p:spPr>
          <a:xfrm>
            <a:off x="7968569" y="3201647"/>
            <a:ext cx="0" cy="109728"/>
          </a:xfrm>
          <a:prstGeom prst="line">
            <a:avLst/>
          </a:prstGeom>
          <a:noFill/>
          <a:ln w="25400">
            <a:solidFill>
              <a:srgbClr val="6FBEC0"/>
            </a:solidFill>
            <a:prstDash val="solid"/>
          </a:ln>
        </p:spPr>
      </p:sp>
      <p:sp>
        <p:nvSpPr>
          <p:cNvPr id="45" name="Shape 42"/>
          <p:cNvSpPr/>
          <p:nvPr/>
        </p:nvSpPr>
        <p:spPr>
          <a:xfrm>
            <a:off x="6907774" y="3210791"/>
            <a:ext cx="91440" cy="91440"/>
          </a:xfrm>
          <a:prstGeom prst="diamond">
            <a:avLst/>
          </a:prstGeom>
          <a:solidFill>
            <a:srgbClr val="12A3A6"/>
          </a:solidFill>
          <a:ln/>
        </p:spPr>
      </p:sp>
      <p:sp>
        <p:nvSpPr>
          <p:cNvPr id="46" name="Text 43"/>
          <p:cNvSpPr/>
          <p:nvPr/>
        </p:nvSpPr>
        <p:spPr>
          <a:xfrm>
            <a:off x="9765792" y="3110207"/>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0.61 (0.11 to 1.12)</a:t>
            </a:r>
            <a:endParaRPr lang="en-US" sz="950" dirty="0"/>
          </a:p>
        </p:txBody>
      </p:sp>
      <p:sp>
        <p:nvSpPr>
          <p:cNvPr id="47" name="Text 44"/>
          <p:cNvSpPr/>
          <p:nvPr/>
        </p:nvSpPr>
        <p:spPr>
          <a:xfrm>
            <a:off x="640080" y="3488436"/>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eGFR 45 to &lt;60</a:t>
            </a:r>
            <a:endParaRPr lang="en-US" sz="1250" dirty="0"/>
          </a:p>
        </p:txBody>
      </p:sp>
      <p:sp>
        <p:nvSpPr>
          <p:cNvPr id="48" name="Shape 45"/>
          <p:cNvSpPr/>
          <p:nvPr/>
        </p:nvSpPr>
        <p:spPr>
          <a:xfrm>
            <a:off x="6416101" y="3634740"/>
            <a:ext cx="2806385" cy="0"/>
          </a:xfrm>
          <a:prstGeom prst="line">
            <a:avLst/>
          </a:prstGeom>
          <a:noFill/>
          <a:ln w="25400">
            <a:solidFill>
              <a:srgbClr val="6FBEC0"/>
            </a:solidFill>
            <a:prstDash val="solid"/>
          </a:ln>
        </p:spPr>
      </p:sp>
      <p:sp>
        <p:nvSpPr>
          <p:cNvPr id="49" name="Shape 46"/>
          <p:cNvSpPr/>
          <p:nvPr/>
        </p:nvSpPr>
        <p:spPr>
          <a:xfrm>
            <a:off x="6416101" y="3579876"/>
            <a:ext cx="0" cy="109728"/>
          </a:xfrm>
          <a:prstGeom prst="line">
            <a:avLst/>
          </a:prstGeom>
          <a:noFill/>
          <a:ln w="25400">
            <a:solidFill>
              <a:srgbClr val="6FBEC0"/>
            </a:solidFill>
            <a:prstDash val="solid"/>
          </a:ln>
        </p:spPr>
      </p:sp>
      <p:sp>
        <p:nvSpPr>
          <p:cNvPr id="50" name="Shape 47"/>
          <p:cNvSpPr/>
          <p:nvPr/>
        </p:nvSpPr>
        <p:spPr>
          <a:xfrm>
            <a:off x="9222486" y="3579876"/>
            <a:ext cx="0" cy="109728"/>
          </a:xfrm>
          <a:prstGeom prst="line">
            <a:avLst/>
          </a:prstGeom>
          <a:noFill/>
          <a:ln w="25400">
            <a:solidFill>
              <a:srgbClr val="6FBEC0"/>
            </a:solidFill>
            <a:prstDash val="solid"/>
          </a:ln>
        </p:spPr>
      </p:sp>
      <p:sp>
        <p:nvSpPr>
          <p:cNvPr id="51" name="Shape 48"/>
          <p:cNvSpPr/>
          <p:nvPr/>
        </p:nvSpPr>
        <p:spPr>
          <a:xfrm>
            <a:off x="7783525" y="3589020"/>
            <a:ext cx="91440" cy="91440"/>
          </a:xfrm>
          <a:prstGeom prst="diamond">
            <a:avLst/>
          </a:prstGeom>
          <a:solidFill>
            <a:srgbClr val="12A3A6"/>
          </a:solidFill>
          <a:ln/>
        </p:spPr>
      </p:sp>
      <p:sp>
        <p:nvSpPr>
          <p:cNvPr id="52" name="Text 49"/>
          <p:cNvSpPr/>
          <p:nvPr/>
        </p:nvSpPr>
        <p:spPr>
          <a:xfrm>
            <a:off x="9765792" y="3488436"/>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1.05 (0.34 to 1.75)</a:t>
            </a:r>
            <a:endParaRPr lang="en-US" sz="950" dirty="0"/>
          </a:p>
        </p:txBody>
      </p:sp>
      <p:sp>
        <p:nvSpPr>
          <p:cNvPr id="53" name="Text 50"/>
          <p:cNvSpPr/>
          <p:nvPr/>
        </p:nvSpPr>
        <p:spPr>
          <a:xfrm>
            <a:off x="640080" y="3866665"/>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eGFR ≥ 60</a:t>
            </a:r>
            <a:endParaRPr lang="en-US" sz="1250" dirty="0"/>
          </a:p>
        </p:txBody>
      </p:sp>
      <p:sp>
        <p:nvSpPr>
          <p:cNvPr id="54" name="Shape 51"/>
          <p:cNvSpPr/>
          <p:nvPr/>
        </p:nvSpPr>
        <p:spPr>
          <a:xfrm>
            <a:off x="4943246" y="4012969"/>
            <a:ext cx="3244261" cy="0"/>
          </a:xfrm>
          <a:prstGeom prst="line">
            <a:avLst/>
          </a:prstGeom>
          <a:noFill/>
          <a:ln w="25400">
            <a:solidFill>
              <a:srgbClr val="6FBEC0"/>
            </a:solidFill>
            <a:prstDash val="solid"/>
          </a:ln>
        </p:spPr>
      </p:sp>
      <p:sp>
        <p:nvSpPr>
          <p:cNvPr id="55" name="Shape 52"/>
          <p:cNvSpPr/>
          <p:nvPr/>
        </p:nvSpPr>
        <p:spPr>
          <a:xfrm>
            <a:off x="4943246" y="3958105"/>
            <a:ext cx="0" cy="109728"/>
          </a:xfrm>
          <a:prstGeom prst="line">
            <a:avLst/>
          </a:prstGeom>
          <a:noFill/>
          <a:ln w="25400">
            <a:solidFill>
              <a:srgbClr val="6FBEC0"/>
            </a:solidFill>
            <a:prstDash val="solid"/>
          </a:ln>
        </p:spPr>
      </p:sp>
      <p:sp>
        <p:nvSpPr>
          <p:cNvPr id="56" name="Shape 53"/>
          <p:cNvSpPr/>
          <p:nvPr/>
        </p:nvSpPr>
        <p:spPr>
          <a:xfrm>
            <a:off x="8187507" y="3958105"/>
            <a:ext cx="0" cy="109728"/>
          </a:xfrm>
          <a:prstGeom prst="line">
            <a:avLst/>
          </a:prstGeom>
          <a:noFill/>
          <a:ln w="25400">
            <a:solidFill>
              <a:srgbClr val="6FBEC0"/>
            </a:solidFill>
            <a:prstDash val="solid"/>
          </a:ln>
        </p:spPr>
      </p:sp>
      <p:sp>
        <p:nvSpPr>
          <p:cNvPr id="57" name="Shape 54"/>
          <p:cNvSpPr/>
          <p:nvPr/>
        </p:nvSpPr>
        <p:spPr>
          <a:xfrm>
            <a:off x="6509705" y="3967249"/>
            <a:ext cx="91440" cy="91440"/>
          </a:xfrm>
          <a:prstGeom prst="diamond">
            <a:avLst/>
          </a:prstGeom>
          <a:solidFill>
            <a:srgbClr val="12A3A6"/>
          </a:solidFill>
          <a:ln/>
        </p:spPr>
      </p:sp>
      <p:sp>
        <p:nvSpPr>
          <p:cNvPr id="58" name="Text 55"/>
          <p:cNvSpPr/>
          <p:nvPr/>
        </p:nvSpPr>
        <p:spPr>
          <a:xfrm>
            <a:off x="9765792" y="3866665"/>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0.41 (-0.40 to 1.23)</a:t>
            </a:r>
            <a:endParaRPr lang="en-US" sz="950" dirty="0"/>
          </a:p>
        </p:txBody>
      </p:sp>
      <p:sp>
        <p:nvSpPr>
          <p:cNvPr id="59" name="Text 56"/>
          <p:cNvSpPr/>
          <p:nvPr/>
        </p:nvSpPr>
        <p:spPr>
          <a:xfrm>
            <a:off x="640080" y="4244894"/>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UACR ≤ 1000</a:t>
            </a:r>
            <a:endParaRPr lang="en-US" sz="1250" dirty="0"/>
          </a:p>
        </p:txBody>
      </p:sp>
      <p:sp>
        <p:nvSpPr>
          <p:cNvPr id="60" name="Shape 57"/>
          <p:cNvSpPr/>
          <p:nvPr/>
        </p:nvSpPr>
        <p:spPr>
          <a:xfrm>
            <a:off x="5619963" y="4391198"/>
            <a:ext cx="1851020" cy="0"/>
          </a:xfrm>
          <a:prstGeom prst="line">
            <a:avLst/>
          </a:prstGeom>
          <a:noFill/>
          <a:ln w="25400">
            <a:solidFill>
              <a:srgbClr val="6FBEC0"/>
            </a:solidFill>
            <a:prstDash val="solid"/>
          </a:ln>
        </p:spPr>
      </p:sp>
      <p:sp>
        <p:nvSpPr>
          <p:cNvPr id="61" name="Shape 58"/>
          <p:cNvSpPr/>
          <p:nvPr/>
        </p:nvSpPr>
        <p:spPr>
          <a:xfrm>
            <a:off x="5619963" y="4336334"/>
            <a:ext cx="0" cy="109728"/>
          </a:xfrm>
          <a:prstGeom prst="line">
            <a:avLst/>
          </a:prstGeom>
          <a:noFill/>
          <a:ln w="25400">
            <a:solidFill>
              <a:srgbClr val="6FBEC0"/>
            </a:solidFill>
            <a:prstDash val="solid"/>
          </a:ln>
        </p:spPr>
      </p:sp>
      <p:sp>
        <p:nvSpPr>
          <p:cNvPr id="62" name="Shape 59"/>
          <p:cNvSpPr/>
          <p:nvPr/>
        </p:nvSpPr>
        <p:spPr>
          <a:xfrm>
            <a:off x="7470983" y="4336334"/>
            <a:ext cx="0" cy="109728"/>
          </a:xfrm>
          <a:prstGeom prst="line">
            <a:avLst/>
          </a:prstGeom>
          <a:noFill/>
          <a:ln w="25400">
            <a:solidFill>
              <a:srgbClr val="6FBEC0"/>
            </a:solidFill>
            <a:prstDash val="solid"/>
          </a:ln>
        </p:spPr>
      </p:sp>
      <p:sp>
        <p:nvSpPr>
          <p:cNvPr id="63" name="Shape 60"/>
          <p:cNvSpPr/>
          <p:nvPr/>
        </p:nvSpPr>
        <p:spPr>
          <a:xfrm>
            <a:off x="6489802" y="4345478"/>
            <a:ext cx="91440" cy="91440"/>
          </a:xfrm>
          <a:prstGeom prst="diamond">
            <a:avLst/>
          </a:prstGeom>
          <a:solidFill>
            <a:srgbClr val="12A3A6"/>
          </a:solidFill>
          <a:ln/>
        </p:spPr>
      </p:sp>
      <p:sp>
        <p:nvSpPr>
          <p:cNvPr id="64" name="Text 61"/>
          <p:cNvSpPr/>
          <p:nvPr/>
        </p:nvSpPr>
        <p:spPr>
          <a:xfrm>
            <a:off x="9765792" y="4244894"/>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0.40 (-0.06 to 0.87)</a:t>
            </a:r>
            <a:endParaRPr lang="en-US" sz="950" dirty="0"/>
          </a:p>
        </p:txBody>
      </p:sp>
      <p:sp>
        <p:nvSpPr>
          <p:cNvPr id="65" name="Text 62"/>
          <p:cNvSpPr/>
          <p:nvPr/>
        </p:nvSpPr>
        <p:spPr>
          <a:xfrm>
            <a:off x="640080" y="4623123"/>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UACR &gt; 1000</a:t>
            </a:r>
            <a:endParaRPr lang="en-US" sz="1250" dirty="0"/>
          </a:p>
        </p:txBody>
      </p:sp>
      <p:sp>
        <p:nvSpPr>
          <p:cNvPr id="66" name="Shape 63"/>
          <p:cNvSpPr/>
          <p:nvPr/>
        </p:nvSpPr>
        <p:spPr>
          <a:xfrm>
            <a:off x="6834073" y="4769427"/>
            <a:ext cx="2388413" cy="0"/>
          </a:xfrm>
          <a:prstGeom prst="line">
            <a:avLst/>
          </a:prstGeom>
          <a:noFill/>
          <a:ln w="25400">
            <a:solidFill>
              <a:srgbClr val="6FBEC0"/>
            </a:solidFill>
            <a:prstDash val="solid"/>
          </a:ln>
        </p:spPr>
      </p:sp>
      <p:sp>
        <p:nvSpPr>
          <p:cNvPr id="67" name="Shape 64"/>
          <p:cNvSpPr/>
          <p:nvPr/>
        </p:nvSpPr>
        <p:spPr>
          <a:xfrm>
            <a:off x="6834073" y="4714563"/>
            <a:ext cx="0" cy="109728"/>
          </a:xfrm>
          <a:prstGeom prst="line">
            <a:avLst/>
          </a:prstGeom>
          <a:noFill/>
          <a:ln w="25400">
            <a:solidFill>
              <a:srgbClr val="6FBEC0"/>
            </a:solidFill>
            <a:prstDash val="solid"/>
          </a:ln>
        </p:spPr>
      </p:sp>
      <p:sp>
        <p:nvSpPr>
          <p:cNvPr id="68" name="Shape 65"/>
          <p:cNvSpPr/>
          <p:nvPr/>
        </p:nvSpPr>
        <p:spPr>
          <a:xfrm>
            <a:off x="9222486" y="4714563"/>
            <a:ext cx="0" cy="109728"/>
          </a:xfrm>
          <a:prstGeom prst="line">
            <a:avLst/>
          </a:prstGeom>
          <a:noFill/>
          <a:ln w="25400">
            <a:solidFill>
              <a:srgbClr val="6FBEC0"/>
            </a:solidFill>
            <a:prstDash val="solid"/>
          </a:ln>
        </p:spPr>
      </p:sp>
      <p:sp>
        <p:nvSpPr>
          <p:cNvPr id="69" name="Shape 66"/>
          <p:cNvSpPr/>
          <p:nvPr/>
        </p:nvSpPr>
        <p:spPr>
          <a:xfrm>
            <a:off x="7982560" y="4723707"/>
            <a:ext cx="91440" cy="91440"/>
          </a:xfrm>
          <a:prstGeom prst="diamond">
            <a:avLst/>
          </a:prstGeom>
          <a:solidFill>
            <a:srgbClr val="12A3A6"/>
          </a:solidFill>
          <a:ln/>
        </p:spPr>
      </p:sp>
      <p:sp>
        <p:nvSpPr>
          <p:cNvPr id="70" name="Text 67"/>
          <p:cNvSpPr/>
          <p:nvPr/>
        </p:nvSpPr>
        <p:spPr>
          <a:xfrm>
            <a:off x="9765792" y="4623123"/>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1.15 (0.55 to 1.75)</a:t>
            </a:r>
            <a:endParaRPr lang="en-US" sz="950" dirty="0"/>
          </a:p>
        </p:txBody>
      </p:sp>
      <p:sp>
        <p:nvSpPr>
          <p:cNvPr id="71" name="Text 68"/>
          <p:cNvSpPr/>
          <p:nvPr/>
        </p:nvSpPr>
        <p:spPr>
          <a:xfrm>
            <a:off x="640080" y="5001352"/>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SGLT2i: yes</a:t>
            </a:r>
            <a:endParaRPr lang="en-US" sz="1250" dirty="0"/>
          </a:p>
        </p:txBody>
      </p:sp>
      <p:sp>
        <p:nvSpPr>
          <p:cNvPr id="72" name="Shape 69"/>
          <p:cNvSpPr/>
          <p:nvPr/>
        </p:nvSpPr>
        <p:spPr>
          <a:xfrm>
            <a:off x="5619963" y="5147656"/>
            <a:ext cx="3562716" cy="0"/>
          </a:xfrm>
          <a:prstGeom prst="line">
            <a:avLst/>
          </a:prstGeom>
          <a:noFill/>
          <a:ln w="25400">
            <a:solidFill>
              <a:srgbClr val="6FBEC0"/>
            </a:solidFill>
            <a:prstDash val="solid"/>
          </a:ln>
        </p:spPr>
      </p:sp>
      <p:sp>
        <p:nvSpPr>
          <p:cNvPr id="73" name="Shape 70"/>
          <p:cNvSpPr/>
          <p:nvPr/>
        </p:nvSpPr>
        <p:spPr>
          <a:xfrm>
            <a:off x="5619963" y="5092792"/>
            <a:ext cx="0" cy="109728"/>
          </a:xfrm>
          <a:prstGeom prst="line">
            <a:avLst/>
          </a:prstGeom>
          <a:noFill/>
          <a:ln w="25400">
            <a:solidFill>
              <a:srgbClr val="6FBEC0"/>
            </a:solidFill>
            <a:prstDash val="solid"/>
          </a:ln>
        </p:spPr>
      </p:sp>
      <p:sp>
        <p:nvSpPr>
          <p:cNvPr id="74" name="Shape 71"/>
          <p:cNvSpPr/>
          <p:nvPr/>
        </p:nvSpPr>
        <p:spPr>
          <a:xfrm>
            <a:off x="9182679" y="5092792"/>
            <a:ext cx="0" cy="109728"/>
          </a:xfrm>
          <a:prstGeom prst="line">
            <a:avLst/>
          </a:prstGeom>
          <a:noFill/>
          <a:ln w="25400">
            <a:solidFill>
              <a:srgbClr val="6FBEC0"/>
            </a:solidFill>
            <a:prstDash val="solid"/>
          </a:ln>
        </p:spPr>
      </p:sp>
      <p:sp>
        <p:nvSpPr>
          <p:cNvPr id="75" name="Shape 72"/>
          <p:cNvSpPr/>
          <p:nvPr/>
        </p:nvSpPr>
        <p:spPr>
          <a:xfrm>
            <a:off x="7365553" y="5101936"/>
            <a:ext cx="91440" cy="91440"/>
          </a:xfrm>
          <a:prstGeom prst="diamond">
            <a:avLst/>
          </a:prstGeom>
          <a:solidFill>
            <a:srgbClr val="12A3A6"/>
          </a:solidFill>
          <a:ln/>
        </p:spPr>
      </p:sp>
      <p:sp>
        <p:nvSpPr>
          <p:cNvPr id="76" name="Text 73"/>
          <p:cNvSpPr/>
          <p:nvPr/>
        </p:nvSpPr>
        <p:spPr>
          <a:xfrm>
            <a:off x="9765792" y="5001352"/>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0.84 (-0.06 to 1.73)</a:t>
            </a:r>
            <a:endParaRPr lang="en-US" sz="950" dirty="0"/>
          </a:p>
        </p:txBody>
      </p:sp>
      <p:sp>
        <p:nvSpPr>
          <p:cNvPr id="77" name="Text 74"/>
          <p:cNvSpPr/>
          <p:nvPr/>
        </p:nvSpPr>
        <p:spPr>
          <a:xfrm>
            <a:off x="640080" y="5379581"/>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SGLT2i: no</a:t>
            </a:r>
            <a:endParaRPr lang="en-US" sz="1250" dirty="0"/>
          </a:p>
        </p:txBody>
      </p:sp>
      <p:sp>
        <p:nvSpPr>
          <p:cNvPr id="78" name="Shape 75"/>
          <p:cNvSpPr/>
          <p:nvPr/>
        </p:nvSpPr>
        <p:spPr>
          <a:xfrm>
            <a:off x="6236970" y="5525885"/>
            <a:ext cx="1612179" cy="0"/>
          </a:xfrm>
          <a:prstGeom prst="line">
            <a:avLst/>
          </a:prstGeom>
          <a:noFill/>
          <a:ln w="25400">
            <a:solidFill>
              <a:srgbClr val="6FBEC0"/>
            </a:solidFill>
            <a:prstDash val="solid"/>
          </a:ln>
        </p:spPr>
      </p:sp>
      <p:sp>
        <p:nvSpPr>
          <p:cNvPr id="79" name="Shape 76"/>
          <p:cNvSpPr/>
          <p:nvPr/>
        </p:nvSpPr>
        <p:spPr>
          <a:xfrm>
            <a:off x="6236970" y="5471021"/>
            <a:ext cx="0" cy="109728"/>
          </a:xfrm>
          <a:prstGeom prst="line">
            <a:avLst/>
          </a:prstGeom>
          <a:noFill/>
          <a:ln w="25400">
            <a:solidFill>
              <a:srgbClr val="6FBEC0"/>
            </a:solidFill>
            <a:prstDash val="solid"/>
          </a:ln>
        </p:spPr>
      </p:sp>
      <p:sp>
        <p:nvSpPr>
          <p:cNvPr id="80" name="Shape 77"/>
          <p:cNvSpPr/>
          <p:nvPr/>
        </p:nvSpPr>
        <p:spPr>
          <a:xfrm>
            <a:off x="7849149" y="5471021"/>
            <a:ext cx="0" cy="109728"/>
          </a:xfrm>
          <a:prstGeom prst="line">
            <a:avLst/>
          </a:prstGeom>
          <a:noFill/>
          <a:ln w="25400">
            <a:solidFill>
              <a:srgbClr val="6FBEC0"/>
            </a:solidFill>
            <a:prstDash val="solid"/>
          </a:ln>
        </p:spPr>
      </p:sp>
      <p:sp>
        <p:nvSpPr>
          <p:cNvPr id="81" name="Shape 78"/>
          <p:cNvSpPr/>
          <p:nvPr/>
        </p:nvSpPr>
        <p:spPr>
          <a:xfrm>
            <a:off x="6987388" y="5480165"/>
            <a:ext cx="91440" cy="91440"/>
          </a:xfrm>
          <a:prstGeom prst="diamond">
            <a:avLst/>
          </a:prstGeom>
          <a:solidFill>
            <a:srgbClr val="12A3A6"/>
          </a:solidFill>
          <a:ln/>
        </p:spPr>
      </p:sp>
      <p:sp>
        <p:nvSpPr>
          <p:cNvPr id="82" name="Text 79"/>
          <p:cNvSpPr/>
          <p:nvPr/>
        </p:nvSpPr>
        <p:spPr>
          <a:xfrm>
            <a:off x="9765792" y="5379581"/>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0.65 (0.25 to 1.06)</a:t>
            </a:r>
            <a:endParaRPr lang="en-US" sz="950" dirty="0"/>
          </a:p>
        </p:txBody>
      </p:sp>
      <p:sp>
        <p:nvSpPr>
          <p:cNvPr id="83" name="Text 80"/>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Adapted from Figure 2. CIs not adjusted for multiplicity.</a:t>
            </a:r>
            <a:endParaRPr lang="en-US" sz="850" dirty="0"/>
          </a:p>
        </p:txBody>
      </p:sp>
      <p:sp>
        <p:nvSpPr>
          <p:cNvPr id="84" name="Text 81"/>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85" name="Text 82"/>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Secondary clinical outcomes</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A protected composite: 23% fewer kidney or cardiovascular events.</a:t>
            </a:r>
            <a:endParaRPr lang="en-US" sz="1600" dirty="0"/>
          </a:p>
        </p:txBody>
      </p:sp>
      <p:pic>
        <p:nvPicPr>
          <p:cNvPr id="7" name="Image 1" descr="fig3A.png">    </p:cNvPr>
          <p:cNvPicPr>
            <a:picLocks noChangeAspect="1"/>
          </p:cNvPicPr>
          <p:nvPr/>
        </p:nvPicPr>
        <p:blipFill>
          <a:blip r:embed="rId2"/>
          <a:stretch>
            <a:fillRect/>
          </a:stretch>
        </p:blipFill>
        <p:spPr>
          <a:xfrm>
            <a:off x="640080" y="1600200"/>
            <a:ext cx="6126480" cy="3017520"/>
          </a:xfrm>
          <a:prstGeom prst="rect">
            <a:avLst/>
          </a:prstGeom>
        </p:spPr>
      </p:pic>
      <p:sp>
        <p:nvSpPr>
          <p:cNvPr id="8" name="Shape 4"/>
          <p:cNvSpPr/>
          <p:nvPr/>
        </p:nvSpPr>
        <p:spPr>
          <a:xfrm>
            <a:off x="6949440" y="1691640"/>
            <a:ext cx="4599432" cy="457200"/>
          </a:xfrm>
          <a:prstGeom prst="rect">
            <a:avLst/>
          </a:prstGeom>
          <a:solidFill>
            <a:srgbClr val="0F3446"/>
          </a:solidFill>
          <a:ln/>
        </p:spPr>
      </p:sp>
      <p:sp>
        <p:nvSpPr>
          <p:cNvPr id="9" name="Text 5"/>
          <p:cNvSpPr/>
          <p:nvPr/>
        </p:nvSpPr>
        <p:spPr>
          <a:xfrm>
            <a:off x="7059168" y="1691640"/>
            <a:ext cx="1380927" cy="457200"/>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Composite</a:t>
            </a:r>
            <a:endParaRPr lang="en-US" sz="1300" dirty="0"/>
          </a:p>
        </p:txBody>
      </p:sp>
      <p:sp>
        <p:nvSpPr>
          <p:cNvPr id="10" name="Text 6"/>
          <p:cNvSpPr/>
          <p:nvPr/>
        </p:nvSpPr>
        <p:spPr>
          <a:xfrm>
            <a:off x="8622975" y="1691640"/>
            <a:ext cx="828995"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 / Plac</a:t>
            </a:r>
            <a:endParaRPr lang="en-US" sz="1300" dirty="0"/>
          </a:p>
        </p:txBody>
      </p:sp>
      <p:sp>
        <p:nvSpPr>
          <p:cNvPr id="11" name="Text 7"/>
          <p:cNvSpPr/>
          <p:nvPr/>
        </p:nvSpPr>
        <p:spPr>
          <a:xfrm>
            <a:off x="9634850" y="1691640"/>
            <a:ext cx="920984"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HR (95% CI)</a:t>
            </a:r>
            <a:endParaRPr lang="en-US" sz="1300" dirty="0"/>
          </a:p>
        </p:txBody>
      </p:sp>
      <p:sp>
        <p:nvSpPr>
          <p:cNvPr id="12" name="Text 8"/>
          <p:cNvSpPr/>
          <p:nvPr/>
        </p:nvSpPr>
        <p:spPr>
          <a:xfrm>
            <a:off x="10738714" y="1691640"/>
            <a:ext cx="737006"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a:t>
            </a:r>
            <a:endParaRPr lang="en-US" sz="1300" dirty="0"/>
          </a:p>
        </p:txBody>
      </p:sp>
      <p:sp>
        <p:nvSpPr>
          <p:cNvPr id="13" name="Shape 9"/>
          <p:cNvSpPr/>
          <p:nvPr/>
        </p:nvSpPr>
        <p:spPr>
          <a:xfrm>
            <a:off x="6949440" y="2807208"/>
            <a:ext cx="4599432" cy="0"/>
          </a:xfrm>
          <a:prstGeom prst="line">
            <a:avLst/>
          </a:prstGeom>
          <a:noFill/>
          <a:ln w="9525">
            <a:solidFill>
              <a:srgbClr val="CFDDDD"/>
            </a:solidFill>
            <a:prstDash val="solid"/>
          </a:ln>
        </p:spPr>
      </p:sp>
      <p:sp>
        <p:nvSpPr>
          <p:cNvPr id="14" name="Text 10"/>
          <p:cNvSpPr/>
          <p:nvPr/>
        </p:nvSpPr>
        <p:spPr>
          <a:xfrm>
            <a:off x="7059168" y="2148840"/>
            <a:ext cx="1380927" cy="658368"/>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Kidney–CV</a:t>
            </a:r>
            <a:endParaRPr lang="en-US" sz="1250" dirty="0"/>
          </a:p>
        </p:txBody>
      </p:sp>
      <p:sp>
        <p:nvSpPr>
          <p:cNvPr id="15" name="Text 11"/>
          <p:cNvSpPr/>
          <p:nvPr/>
        </p:nvSpPr>
        <p:spPr>
          <a:xfrm>
            <a:off x="8622975" y="2148840"/>
            <a:ext cx="828995"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110 / 134</a:t>
            </a:r>
            <a:endParaRPr lang="en-US" sz="1250" dirty="0"/>
          </a:p>
        </p:txBody>
      </p:sp>
      <p:sp>
        <p:nvSpPr>
          <p:cNvPr id="16" name="Text 12"/>
          <p:cNvSpPr/>
          <p:nvPr/>
        </p:nvSpPr>
        <p:spPr>
          <a:xfrm>
            <a:off x="9634850" y="2148840"/>
            <a:ext cx="920984" cy="658368"/>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0.77 (0.60–0.99)</a:t>
            </a:r>
            <a:endParaRPr lang="en-US" sz="1250" dirty="0"/>
          </a:p>
        </p:txBody>
      </p:sp>
      <p:sp>
        <p:nvSpPr>
          <p:cNvPr id="17" name="Text 13"/>
          <p:cNvSpPr/>
          <p:nvPr/>
        </p:nvSpPr>
        <p:spPr>
          <a:xfrm>
            <a:off x="10738714" y="2148840"/>
            <a:ext cx="737006"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0.04</a:t>
            </a:r>
            <a:endParaRPr lang="en-US" sz="1250" dirty="0"/>
          </a:p>
        </p:txBody>
      </p:sp>
      <p:sp>
        <p:nvSpPr>
          <p:cNvPr id="18" name="Shape 14"/>
          <p:cNvSpPr/>
          <p:nvPr/>
        </p:nvSpPr>
        <p:spPr>
          <a:xfrm>
            <a:off x="6949440" y="3465576"/>
            <a:ext cx="4599432" cy="0"/>
          </a:xfrm>
          <a:prstGeom prst="line">
            <a:avLst/>
          </a:prstGeom>
          <a:noFill/>
          <a:ln w="9525">
            <a:solidFill>
              <a:srgbClr val="CFDDDD"/>
            </a:solidFill>
            <a:prstDash val="solid"/>
          </a:ln>
        </p:spPr>
      </p:sp>
      <p:sp>
        <p:nvSpPr>
          <p:cNvPr id="19" name="Text 15"/>
          <p:cNvSpPr/>
          <p:nvPr/>
        </p:nvSpPr>
        <p:spPr>
          <a:xfrm>
            <a:off x="7059168" y="2807208"/>
            <a:ext cx="1380927" cy="658368"/>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Kidney</a:t>
            </a:r>
            <a:endParaRPr lang="en-US" sz="1250" dirty="0"/>
          </a:p>
        </p:txBody>
      </p:sp>
      <p:sp>
        <p:nvSpPr>
          <p:cNvPr id="20" name="Text 16"/>
          <p:cNvSpPr/>
          <p:nvPr/>
        </p:nvSpPr>
        <p:spPr>
          <a:xfrm>
            <a:off x="8622975" y="2807208"/>
            <a:ext cx="828995"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104 / 125</a:t>
            </a:r>
            <a:endParaRPr lang="en-US" sz="1250" dirty="0"/>
          </a:p>
        </p:txBody>
      </p:sp>
      <p:sp>
        <p:nvSpPr>
          <p:cNvPr id="21" name="Text 17"/>
          <p:cNvSpPr/>
          <p:nvPr/>
        </p:nvSpPr>
        <p:spPr>
          <a:xfrm>
            <a:off x="9634850" y="2807208"/>
            <a:ext cx="920984" cy="658368"/>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0.78 (0.60–1.01)</a:t>
            </a:r>
            <a:endParaRPr lang="en-US" sz="1250" dirty="0"/>
          </a:p>
        </p:txBody>
      </p:sp>
      <p:sp>
        <p:nvSpPr>
          <p:cNvPr id="22" name="Text 18"/>
          <p:cNvSpPr/>
          <p:nvPr/>
        </p:nvSpPr>
        <p:spPr>
          <a:xfrm>
            <a:off x="10738714" y="2807208"/>
            <a:ext cx="737006"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0.06</a:t>
            </a:r>
            <a:endParaRPr lang="en-US" sz="1250" dirty="0"/>
          </a:p>
        </p:txBody>
      </p:sp>
      <p:sp>
        <p:nvSpPr>
          <p:cNvPr id="23" name="Shape 19"/>
          <p:cNvSpPr/>
          <p:nvPr/>
        </p:nvSpPr>
        <p:spPr>
          <a:xfrm>
            <a:off x="6949440" y="4123944"/>
            <a:ext cx="4599432" cy="0"/>
          </a:xfrm>
          <a:prstGeom prst="line">
            <a:avLst/>
          </a:prstGeom>
          <a:noFill/>
          <a:ln w="9525">
            <a:solidFill>
              <a:srgbClr val="CFDDDD"/>
            </a:solidFill>
            <a:prstDash val="solid"/>
          </a:ln>
        </p:spPr>
      </p:sp>
      <p:sp>
        <p:nvSpPr>
          <p:cNvPr id="24" name="Text 20"/>
          <p:cNvSpPr/>
          <p:nvPr/>
        </p:nvSpPr>
        <p:spPr>
          <a:xfrm>
            <a:off x="7059168" y="3465576"/>
            <a:ext cx="1380927" cy="658368"/>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CV</a:t>
            </a:r>
            <a:endParaRPr lang="en-US" sz="1250" dirty="0"/>
          </a:p>
        </p:txBody>
      </p:sp>
      <p:sp>
        <p:nvSpPr>
          <p:cNvPr id="25" name="Text 21"/>
          <p:cNvSpPr/>
          <p:nvPr/>
        </p:nvSpPr>
        <p:spPr>
          <a:xfrm>
            <a:off x="8622975" y="3465576"/>
            <a:ext cx="828995"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10 / 16</a:t>
            </a:r>
            <a:endParaRPr lang="en-US" sz="1250" dirty="0"/>
          </a:p>
        </p:txBody>
      </p:sp>
      <p:sp>
        <p:nvSpPr>
          <p:cNvPr id="26" name="Text 22"/>
          <p:cNvSpPr/>
          <p:nvPr/>
        </p:nvSpPr>
        <p:spPr>
          <a:xfrm>
            <a:off x="9634850" y="3465576"/>
            <a:ext cx="920984" cy="658368"/>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0.60 (0.27–1.33)</a:t>
            </a:r>
            <a:endParaRPr lang="en-US" sz="1250" dirty="0"/>
          </a:p>
        </p:txBody>
      </p:sp>
      <p:sp>
        <p:nvSpPr>
          <p:cNvPr id="27" name="Text 23"/>
          <p:cNvSpPr/>
          <p:nvPr/>
        </p:nvSpPr>
        <p:spPr>
          <a:xfrm>
            <a:off x="10738714" y="3465576"/>
            <a:ext cx="737006"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a:t>
            </a:r>
            <a:endParaRPr lang="en-US" sz="1250" dirty="0"/>
          </a:p>
        </p:txBody>
      </p:sp>
      <p:sp>
        <p:nvSpPr>
          <p:cNvPr id="28" name="Text 24"/>
          <p:cNvSpPr/>
          <p:nvPr/>
        </p:nvSpPr>
        <p:spPr>
          <a:xfrm>
            <a:off x="6949440" y="4306824"/>
            <a:ext cx="4599432" cy="1280160"/>
          </a:xfrm>
          <a:prstGeom prst="rect">
            <a:avLst/>
          </a:prstGeom>
          <a:noFill/>
          <a:ln/>
        </p:spPr>
        <p:txBody>
          <a:bodyPr wrap="square" lIns="0" tIns="0" rIns="0" bIns="0" rtlCol="0" anchor="ctr"/>
          <a:lstStyle/>
          <a:p>
            <a:pPr indent="0" marL="0">
              <a:lnSpc>
                <a:spcPct val="120000"/>
              </a:lnSpc>
              <a:buNone/>
            </a:pPr>
            <a:r>
              <a:rPr lang="en-US" sz="1350" dirty="0">
                <a:solidFill>
                  <a:srgbClr val="13212A"/>
                </a:solidFill>
                <a:latin typeface="Calibri" pitchFamily="34" charset="0"/>
                <a:ea typeface="Calibri" pitchFamily="34" charset="-122"/>
                <a:cs typeface="Calibri" pitchFamily="34" charset="-120"/>
              </a:rPr>
              <a:t>Finerenone vs placebo, n of events. The hierarchy is protected at the kidney–CV composite; P values below it are nominal, and the CV composite rests on only 26 events.</a:t>
            </a:r>
            <a:endParaRPr lang="en-US" sz="1350" dirty="0"/>
          </a:p>
        </p:txBody>
      </p:sp>
      <p:sp>
        <p:nvSpPr>
          <p:cNvPr id="29" name="Text 25"/>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Figure 3, Panel A.  Heerspink et al., N Engl J Med 2026.</a:t>
            </a:r>
            <a:endParaRPr lang="en-US" sz="850" dirty="0"/>
          </a:p>
        </p:txBody>
      </p:sp>
      <p:sp>
        <p:nvSpPr>
          <p:cNvPr id="30" name="Text 26"/>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31" name="Text 27"/>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Albuminuria: an early, large signal</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UACR fell about 41% by month 6 with finerenone, against 9% with placebo.</a:t>
            </a:r>
            <a:endParaRPr lang="en-US" sz="1600" dirty="0"/>
          </a:p>
        </p:txBody>
      </p:sp>
      <p:sp>
        <p:nvSpPr>
          <p:cNvPr id="7" name="Text 4"/>
          <p:cNvSpPr/>
          <p:nvPr/>
        </p:nvSpPr>
        <p:spPr>
          <a:xfrm>
            <a:off x="640080" y="1691640"/>
            <a:ext cx="329184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−41%</a:t>
            </a:r>
            <a:endParaRPr lang="en-US" sz="3400" dirty="0"/>
          </a:p>
        </p:txBody>
      </p:sp>
      <p:sp>
        <p:nvSpPr>
          <p:cNvPr id="8" name="Text 5"/>
          <p:cNvSpPr/>
          <p:nvPr/>
        </p:nvSpPr>
        <p:spPr>
          <a:xfrm>
            <a:off x="640080" y="2276856"/>
            <a:ext cx="329184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UACR change to month 6 with finerenone vs −9% with placebo</a:t>
            </a:r>
            <a:endParaRPr lang="en-US" sz="1350" dirty="0"/>
          </a:p>
        </p:txBody>
      </p:sp>
      <p:sp>
        <p:nvSpPr>
          <p:cNvPr id="9" name="Text 6"/>
          <p:cNvSpPr/>
          <p:nvPr/>
        </p:nvSpPr>
        <p:spPr>
          <a:xfrm>
            <a:off x="640080" y="3383280"/>
            <a:ext cx="329184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3.99</a:t>
            </a:r>
            <a:endParaRPr lang="en-US" sz="3400" dirty="0"/>
          </a:p>
        </p:txBody>
      </p:sp>
      <p:sp>
        <p:nvSpPr>
          <p:cNvPr id="10" name="Text 7"/>
          <p:cNvSpPr/>
          <p:nvPr/>
        </p:nvSpPr>
        <p:spPr>
          <a:xfrm>
            <a:off x="640080" y="3968496"/>
            <a:ext cx="329184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odds of a ≥30% UACR reduction vs placebo (95% CI 3.22–4.95)</a:t>
            </a:r>
            <a:endParaRPr lang="en-US" sz="1350" dirty="0"/>
          </a:p>
        </p:txBody>
      </p:sp>
      <p:sp>
        <p:nvSpPr>
          <p:cNvPr id="11" name="Text 8"/>
          <p:cNvSpPr/>
          <p:nvPr/>
        </p:nvSpPr>
        <p:spPr>
          <a:xfrm>
            <a:off x="4480560" y="1691640"/>
            <a:ext cx="7068312" cy="4023360"/>
          </a:xfrm>
          <a:prstGeom prst="rect">
            <a:avLst/>
          </a:prstGeom>
          <a:noFill/>
          <a:ln/>
        </p:spPr>
        <p:txBody>
          <a:bodyPr wrap="square" lIns="0" tIns="0" rIns="0" bIns="0" rtlCol="0" anchor="t"/>
          <a:lstStyle/>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Relative between-group difference in UACR of about 35% (95% CI 30.9 to 39.6), sustained over time.</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A ≥30% UACR reduction at month 6 in 56.0% of the finerenone group vs 24.4% of placebo.</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Albuminuria lowering is an early, on-treatment marker and tracks with the larger slope benefit in the heavy-albuminuria subgroup.</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This is the mechanistic fingerprint of MR blockade, and it appears within months.</a:t>
            </a:r>
            <a:endParaRPr lang="en-US" sz="1500" dirty="0"/>
          </a:p>
        </p:txBody>
      </p:sp>
      <p:sp>
        <p:nvSpPr>
          <p:cNvPr id="12" name="Text 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1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Blood pressure and other exploratory findings</a:t>
            </a:r>
            <a:endParaRPr lang="en-US" sz="2400" dirty="0"/>
          </a:p>
        </p:txBody>
      </p:sp>
      <p:sp>
        <p:nvSpPr>
          <p:cNvPr id="6" name="Text 3"/>
          <p:cNvSpPr/>
          <p:nvPr/>
        </p:nvSpPr>
        <p:spPr>
          <a:xfrm>
            <a:off x="640080" y="13716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Blood pressure (to month 3)</a:t>
            </a:r>
            <a:endParaRPr lang="en-US" sz="1550" dirty="0"/>
          </a:p>
        </p:txBody>
      </p:sp>
      <p:sp>
        <p:nvSpPr>
          <p:cNvPr id="7" name="Shape 4"/>
          <p:cNvSpPr/>
          <p:nvPr/>
        </p:nvSpPr>
        <p:spPr>
          <a:xfrm>
            <a:off x="640080" y="1737360"/>
            <a:ext cx="5760720" cy="420624"/>
          </a:xfrm>
          <a:prstGeom prst="rect">
            <a:avLst/>
          </a:prstGeom>
          <a:solidFill>
            <a:srgbClr val="0F3446"/>
          </a:solidFill>
          <a:ln/>
        </p:spPr>
      </p:sp>
      <p:sp>
        <p:nvSpPr>
          <p:cNvPr id="8" name="Text 5"/>
          <p:cNvSpPr/>
          <p:nvPr/>
        </p:nvSpPr>
        <p:spPr>
          <a:xfrm>
            <a:off x="749808" y="1737360"/>
            <a:ext cx="246888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Change, mm Hg</a:t>
            </a:r>
            <a:endParaRPr lang="en-US" sz="1300" dirty="0"/>
          </a:p>
        </p:txBody>
      </p:sp>
      <p:sp>
        <p:nvSpPr>
          <p:cNvPr id="9" name="Text 6"/>
          <p:cNvSpPr/>
          <p:nvPr/>
        </p:nvSpPr>
        <p:spPr>
          <a:xfrm>
            <a:off x="3401568" y="1737360"/>
            <a:ext cx="1371600"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Finer.</a:t>
            </a:r>
            <a:endParaRPr lang="en-US" sz="1300" dirty="0"/>
          </a:p>
        </p:txBody>
      </p:sp>
      <p:sp>
        <p:nvSpPr>
          <p:cNvPr id="10" name="Text 7"/>
          <p:cNvSpPr/>
          <p:nvPr/>
        </p:nvSpPr>
        <p:spPr>
          <a:xfrm>
            <a:off x="4956048" y="1737360"/>
            <a:ext cx="1371600"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Placebo</a:t>
            </a:r>
            <a:endParaRPr lang="en-US" sz="1300" dirty="0"/>
          </a:p>
        </p:txBody>
      </p:sp>
      <p:sp>
        <p:nvSpPr>
          <p:cNvPr id="11" name="Shape 8"/>
          <p:cNvSpPr/>
          <p:nvPr/>
        </p:nvSpPr>
        <p:spPr>
          <a:xfrm>
            <a:off x="640080" y="2615184"/>
            <a:ext cx="5760720" cy="0"/>
          </a:xfrm>
          <a:prstGeom prst="line">
            <a:avLst/>
          </a:prstGeom>
          <a:noFill/>
          <a:ln w="9525">
            <a:solidFill>
              <a:srgbClr val="CFDDDD"/>
            </a:solidFill>
            <a:prstDash val="solid"/>
          </a:ln>
        </p:spPr>
      </p:sp>
      <p:sp>
        <p:nvSpPr>
          <p:cNvPr id="12" name="Text 9"/>
          <p:cNvSpPr/>
          <p:nvPr/>
        </p:nvSpPr>
        <p:spPr>
          <a:xfrm>
            <a:off x="749808" y="2157984"/>
            <a:ext cx="2468880" cy="457200"/>
          </a:xfrm>
          <a:prstGeom prst="rect">
            <a:avLst/>
          </a:prstGeom>
          <a:noFill/>
          <a:ln/>
        </p:spPr>
        <p:txBody>
          <a:bodyPr wrap="square" lIns="0" tIns="0" rIns="0" bIns="0" rtlCol="0" anchor="ctr"/>
          <a:lstStyle/>
          <a:p>
            <a:pPr algn="l" indent="0" marL="0">
              <a:lnSpc>
                <a:spcPct val="98000"/>
              </a:lnSpc>
              <a:buNone/>
            </a:pPr>
            <a:r>
              <a:rPr lang="en-US" sz="1350" b="1" dirty="0">
                <a:solidFill>
                  <a:srgbClr val="0F3446"/>
                </a:solidFill>
                <a:latin typeface="Calibri" pitchFamily="34" charset="0"/>
                <a:ea typeface="Calibri" pitchFamily="34" charset="-122"/>
                <a:cs typeface="Calibri" pitchFamily="34" charset="-120"/>
              </a:rPr>
              <a:t>Systolic</a:t>
            </a:r>
            <a:endParaRPr lang="en-US" sz="1350" dirty="0"/>
          </a:p>
        </p:txBody>
      </p:sp>
      <p:sp>
        <p:nvSpPr>
          <p:cNvPr id="13" name="Text 10"/>
          <p:cNvSpPr/>
          <p:nvPr/>
        </p:nvSpPr>
        <p:spPr>
          <a:xfrm>
            <a:off x="3401568" y="21579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−5.1</a:t>
            </a:r>
            <a:endParaRPr lang="en-US" sz="1350" dirty="0"/>
          </a:p>
        </p:txBody>
      </p:sp>
      <p:sp>
        <p:nvSpPr>
          <p:cNvPr id="14" name="Text 11"/>
          <p:cNvSpPr/>
          <p:nvPr/>
        </p:nvSpPr>
        <p:spPr>
          <a:xfrm>
            <a:off x="4956048" y="21579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−0.1</a:t>
            </a:r>
            <a:endParaRPr lang="en-US" sz="1350" dirty="0"/>
          </a:p>
        </p:txBody>
      </p:sp>
      <p:sp>
        <p:nvSpPr>
          <p:cNvPr id="15" name="Shape 12"/>
          <p:cNvSpPr/>
          <p:nvPr/>
        </p:nvSpPr>
        <p:spPr>
          <a:xfrm>
            <a:off x="640080" y="3072384"/>
            <a:ext cx="5760720" cy="0"/>
          </a:xfrm>
          <a:prstGeom prst="line">
            <a:avLst/>
          </a:prstGeom>
          <a:noFill/>
          <a:ln w="9525">
            <a:solidFill>
              <a:srgbClr val="CFDDDD"/>
            </a:solidFill>
            <a:prstDash val="solid"/>
          </a:ln>
        </p:spPr>
      </p:sp>
      <p:sp>
        <p:nvSpPr>
          <p:cNvPr id="16" name="Text 13"/>
          <p:cNvSpPr/>
          <p:nvPr/>
        </p:nvSpPr>
        <p:spPr>
          <a:xfrm>
            <a:off x="749808" y="2615184"/>
            <a:ext cx="2468880" cy="457200"/>
          </a:xfrm>
          <a:prstGeom prst="rect">
            <a:avLst/>
          </a:prstGeom>
          <a:noFill/>
          <a:ln/>
        </p:spPr>
        <p:txBody>
          <a:bodyPr wrap="square" lIns="0" tIns="0" rIns="0" bIns="0" rtlCol="0" anchor="ctr"/>
          <a:lstStyle/>
          <a:p>
            <a:pPr algn="l" indent="0" marL="0">
              <a:lnSpc>
                <a:spcPct val="98000"/>
              </a:lnSpc>
              <a:buNone/>
            </a:pPr>
            <a:r>
              <a:rPr lang="en-US" sz="1350" b="1" dirty="0">
                <a:solidFill>
                  <a:srgbClr val="0F3446"/>
                </a:solidFill>
                <a:latin typeface="Calibri" pitchFamily="34" charset="0"/>
                <a:ea typeface="Calibri" pitchFamily="34" charset="-122"/>
                <a:cs typeface="Calibri" pitchFamily="34" charset="-120"/>
              </a:rPr>
              <a:t>Diastolic</a:t>
            </a:r>
            <a:endParaRPr lang="en-US" sz="1350" dirty="0"/>
          </a:p>
        </p:txBody>
      </p:sp>
      <p:sp>
        <p:nvSpPr>
          <p:cNvPr id="17" name="Text 14"/>
          <p:cNvSpPr/>
          <p:nvPr/>
        </p:nvSpPr>
        <p:spPr>
          <a:xfrm>
            <a:off x="3401568" y="26151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−3.1</a:t>
            </a:r>
            <a:endParaRPr lang="en-US" sz="1350" dirty="0"/>
          </a:p>
        </p:txBody>
      </p:sp>
      <p:sp>
        <p:nvSpPr>
          <p:cNvPr id="18" name="Text 15"/>
          <p:cNvSpPr/>
          <p:nvPr/>
        </p:nvSpPr>
        <p:spPr>
          <a:xfrm>
            <a:off x="4956048" y="26151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&lt;−0.1</a:t>
            </a:r>
            <a:endParaRPr lang="en-US" sz="1350" dirty="0"/>
          </a:p>
        </p:txBody>
      </p:sp>
      <p:sp>
        <p:nvSpPr>
          <p:cNvPr id="19" name="Text 16"/>
          <p:cNvSpPr/>
          <p:nvPr/>
        </p:nvSpPr>
        <p:spPr>
          <a:xfrm>
            <a:off x="640080" y="3300984"/>
            <a:ext cx="5134356" cy="822960"/>
          </a:xfrm>
          <a:prstGeom prst="rect">
            <a:avLst/>
          </a:prstGeom>
          <a:noFill/>
          <a:ln/>
        </p:spPr>
        <p:txBody>
          <a:bodyPr wrap="square" lIns="0" tIns="0" rIns="0" bIns="0" rtlCol="0" anchor="ctr"/>
          <a:lstStyle/>
          <a:p>
            <a:pPr indent="0" marL="0">
              <a:lnSpc>
                <a:spcPct val="120000"/>
              </a:lnSpc>
              <a:buNone/>
            </a:pPr>
            <a:r>
              <a:rPr lang="en-US" sz="1400" i="1" dirty="0">
                <a:solidFill>
                  <a:srgbClr val="4E5E66"/>
                </a:solidFill>
                <a:latin typeface="Calibri" pitchFamily="34" charset="0"/>
                <a:ea typeface="Calibri" pitchFamily="34" charset="-122"/>
                <a:cs typeface="Calibri" pitchFamily="34" charset="-120"/>
              </a:rPr>
              <a:t>A modest BP reduction, in line with the drug's mechanism, but too small to explain the kidney effect on its own.</a:t>
            </a:r>
            <a:endParaRPr lang="en-US" sz="1400" dirty="0"/>
          </a:p>
        </p:txBody>
      </p:sp>
      <p:sp>
        <p:nvSpPr>
          <p:cNvPr id="20" name="Text 17"/>
          <p:cNvSpPr/>
          <p:nvPr/>
        </p:nvSpPr>
        <p:spPr>
          <a:xfrm>
            <a:off x="6414516" y="13716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A broader kidney composite</a:t>
            </a:r>
            <a:endParaRPr lang="en-US" sz="1550" dirty="0"/>
          </a:p>
        </p:txBody>
      </p:sp>
      <p:sp>
        <p:nvSpPr>
          <p:cNvPr id="21" name="Text 18"/>
          <p:cNvSpPr/>
          <p:nvPr/>
        </p:nvSpPr>
        <p:spPr>
          <a:xfrm>
            <a:off x="6414516" y="1783080"/>
            <a:ext cx="5134356"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0.76</a:t>
            </a:r>
            <a:endParaRPr lang="en-US" sz="3400" dirty="0"/>
          </a:p>
        </p:txBody>
      </p:sp>
      <p:sp>
        <p:nvSpPr>
          <p:cNvPr id="22" name="Text 19"/>
          <p:cNvSpPr/>
          <p:nvPr/>
        </p:nvSpPr>
        <p:spPr>
          <a:xfrm>
            <a:off x="6414516" y="2368296"/>
            <a:ext cx="5134356"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hazard ratio for sustained ≥40% eGFR decline or kidney failure (95% CI 0.62–0.93)</a:t>
            </a:r>
            <a:endParaRPr lang="en-US" sz="1350" dirty="0"/>
          </a:p>
        </p:txBody>
      </p:sp>
      <p:sp>
        <p:nvSpPr>
          <p:cNvPr id="23" name="Text 20"/>
          <p:cNvSpPr/>
          <p:nvPr/>
        </p:nvSpPr>
        <p:spPr>
          <a:xfrm>
            <a:off x="6414516" y="2971800"/>
            <a:ext cx="5134356" cy="14630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168 (21.2%) finerenone vs 206 (26.0%) placebo.</a:t>
            </a:r>
            <a:endParaRPr lang="en-US" sz="1400" dirty="0"/>
          </a:p>
          <a:p>
            <a:pPr marL="203200" indent="-203200">
              <a:lnSpc>
                <a:spcPct val="115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The less stringent ≥40% threshold captures more events and points the same way as the primary.</a:t>
            </a:r>
            <a:endParaRPr lang="en-US" sz="1400" dirty="0"/>
          </a:p>
        </p:txBody>
      </p:sp>
      <p:sp>
        <p:nvSpPr>
          <p:cNvPr id="24" name="Text 21"/>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5" name="Text 22"/>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04</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Safety &amp; appraisal</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Hyperkalemia in focus, the strengths and limits, and where this sits among the finerenone trials.</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Safety: hyperkalemia in focus</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Hyperkalemia was the main event, but serious cases were rare and none were fatal.</a:t>
            </a:r>
            <a:endParaRPr lang="en-US" sz="1600" dirty="0"/>
          </a:p>
        </p:txBody>
      </p:sp>
      <p:sp>
        <p:nvSpPr>
          <p:cNvPr id="7" name="Text 4"/>
          <p:cNvSpPr/>
          <p:nvPr/>
        </p:nvSpPr>
        <p:spPr>
          <a:xfrm>
            <a:off x="640080" y="1508760"/>
            <a:ext cx="10908792" cy="457200"/>
          </a:xfrm>
          <a:prstGeom prst="rect">
            <a:avLst/>
          </a:prstGeom>
          <a:noFill/>
          <a:ln/>
        </p:spPr>
        <p:txBody>
          <a:bodyPr wrap="square" lIns="0" tIns="0" rIns="0" bIns="0" rtlCol="0" anchor="ctr"/>
          <a:lstStyle/>
          <a:p>
            <a:pPr indent="0" marL="0">
              <a:lnSpc>
                <a:spcPct val="115000"/>
              </a:lnSpc>
              <a:buNone/>
            </a:pPr>
            <a:r>
              <a:rPr lang="en-US" sz="1450" dirty="0">
                <a:solidFill>
                  <a:srgbClr val="13212A"/>
                </a:solidFill>
                <a:latin typeface="Calibri" pitchFamily="34" charset="0"/>
                <a:ea typeface="Calibri" pitchFamily="34" charset="-122"/>
                <a:cs typeface="Calibri" pitchFamily="34" charset="-120"/>
              </a:rPr>
              <a:t>Overall adverse events (68.3% vs 65.4%) and serious adverse events (20.9% vs 21.2%) were similar. Discontinuations and all-cause death numerically favored finerenone.</a:t>
            </a:r>
            <a:endParaRPr lang="en-US" sz="1450" dirty="0"/>
          </a:p>
        </p:txBody>
      </p:sp>
      <p:graphicFrame>
        <p:nvGraphicFramePr>
          <p:cNvPr id="8" name="Chart 0" descr=""/>
          <p:cNvGraphicFramePr/>
          <p:nvPr/>
        </p:nvGraphicFramePr>
        <p:xfrm>
          <a:off x="640080" y="2103120"/>
          <a:ext cx="7315200" cy="384048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8229600" y="2148840"/>
            <a:ext cx="3319272"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What it means</a:t>
            </a:r>
            <a:endParaRPr lang="en-US" sz="1550" dirty="0"/>
          </a:p>
        </p:txBody>
      </p:sp>
      <p:sp>
        <p:nvSpPr>
          <p:cNvPr id="10" name="Text 6"/>
          <p:cNvSpPr/>
          <p:nvPr/>
        </p:nvSpPr>
        <p:spPr>
          <a:xfrm>
            <a:off x="8229600" y="2560320"/>
            <a:ext cx="3319272" cy="3108960"/>
          </a:xfrm>
          <a:prstGeom prst="rect">
            <a:avLst/>
          </a:prstGeom>
          <a:noFill/>
          <a:ln/>
        </p:spPr>
        <p:txBody>
          <a:bodyPr wrap="square" lIns="0" tIns="0" rIns="0" bIns="0" rtlCol="0" anchor="t"/>
          <a:lstStyle/>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Hyperkalemia was the signature event; the excess was modest.</a:t>
            </a:r>
            <a:endParaRPr lang="en-US" sz="1400" dirty="0"/>
          </a:p>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Discontinuation for K⁺ 1.5% vs 0.1%; hospitalization 0.9% vs 0.6%; no fatal events.</a:t>
            </a:r>
            <a:endParaRPr lang="en-US" sz="1400" dirty="0"/>
          </a:p>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AKI and hypotension low and similar.</a:t>
            </a:r>
            <a:endParaRPr lang="en-US" sz="1400" dirty="0"/>
          </a:p>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No new safety signal versus the diabetes trials.</a:t>
            </a:r>
            <a:endParaRPr lang="en-US" sz="1400" dirty="0"/>
          </a:p>
        </p:txBody>
      </p:sp>
      <p:sp>
        <p:nvSpPr>
          <p:cNvPr id="11" name="Text 7"/>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Adapted from Table 2 and text.</a:t>
            </a:r>
            <a:endParaRPr lang="en-US" sz="850" dirty="0"/>
          </a:p>
        </p:txBody>
      </p:sp>
      <p:sp>
        <p:nvSpPr>
          <p:cNvPr id="12"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3"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Strengths and limitations</a:t>
            </a:r>
            <a:endParaRPr lang="en-US" sz="2400" dirty="0"/>
          </a:p>
        </p:txBody>
      </p:sp>
      <p:sp>
        <p:nvSpPr>
          <p:cNvPr id="6" name="Text 3"/>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Strengths</a:t>
            </a:r>
            <a:endParaRPr lang="en-US" sz="1550" dirty="0"/>
          </a:p>
        </p:txBody>
      </p:sp>
      <p:sp>
        <p:nvSpPr>
          <p:cNvPr id="7" name="Text 4"/>
          <p:cNvSpPr/>
          <p:nvPr/>
        </p:nvSpPr>
        <p:spPr>
          <a:xfrm>
            <a:off x="640080" y="1645920"/>
            <a:ext cx="5134356" cy="40233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First phase 3 RCT of finerenone in CKD without diabetes; fills the largest evidence gap for the drug.</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Double-blind, placebo-controlled, international; sponsor analyses re-run independently at Groningen.</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Endpoint modeled correctly, separating the reversible acute dip from the chronic slope.</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Robust across cystatin C, shared-parameter and tipping-point analyses, and backed by a protected clinical composite.</a:t>
            </a:r>
            <a:endParaRPr lang="en-US" sz="1450" dirty="0"/>
          </a:p>
        </p:txBody>
      </p:sp>
      <p:sp>
        <p:nvSpPr>
          <p:cNvPr id="8" name="Text 5"/>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E86A44"/>
                </a:solidFill>
                <a:latin typeface="Calibri" pitchFamily="34" charset="0"/>
                <a:ea typeface="Calibri" pitchFamily="34" charset="-122"/>
                <a:cs typeface="Calibri" pitchFamily="34" charset="-120"/>
              </a:rPr>
              <a:t>Limitations</a:t>
            </a:r>
            <a:endParaRPr lang="en-US" sz="1550" dirty="0"/>
          </a:p>
        </p:txBody>
      </p:sp>
      <p:sp>
        <p:nvSpPr>
          <p:cNvPr id="9" name="Text 6"/>
          <p:cNvSpPr/>
          <p:nvPr/>
        </p:nvSpPr>
        <p:spPr>
          <a:xfrm>
            <a:off x="6414516" y="1645920"/>
            <a:ext cx="5134356" cy="40233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Primary endpoint is a surrogate; not powered for hard kidney or CV events.</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Two-thirds men, few Black participants, enriched for heavy albuminuria: limited generalizability.</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Only 17% on an SGLT2 inhibitor, so the finerenone-plus-SGLT2i question is not directly answered.</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ADPKD, lupus nephritis and ANCA vasculitis excluded; ~36-month follow-up is short for lifelong CKD.</a:t>
            </a:r>
            <a:endParaRPr lang="en-US" sz="1450" dirty="0"/>
          </a:p>
        </p:txBody>
      </p:sp>
      <p:sp>
        <p:nvSpPr>
          <p:cNvPr id="10" name="Text 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1" name="Text 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In context: same drug, two populations</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The kidney composite is 0.77 in diabetic CKD and 0.78 without diabetes, essentially identical.</a:t>
            </a:r>
            <a:endParaRPr lang="en-US" sz="1600" dirty="0"/>
          </a:p>
        </p:txBody>
      </p:sp>
      <p:sp>
        <p:nvSpPr>
          <p:cNvPr id="7" name="Shape 4"/>
          <p:cNvSpPr/>
          <p:nvPr/>
        </p:nvSpPr>
        <p:spPr>
          <a:xfrm>
            <a:off x="640080" y="1600200"/>
            <a:ext cx="10908792" cy="475488"/>
          </a:xfrm>
          <a:prstGeom prst="rect">
            <a:avLst/>
          </a:prstGeom>
          <a:solidFill>
            <a:srgbClr val="0F3446"/>
          </a:solidFill>
          <a:ln/>
        </p:spPr>
      </p:sp>
      <p:sp>
        <p:nvSpPr>
          <p:cNvPr id="8" name="Text 5"/>
          <p:cNvSpPr/>
          <p:nvPr/>
        </p:nvSpPr>
        <p:spPr>
          <a:xfrm>
            <a:off x="749808" y="1600200"/>
            <a:ext cx="2926080" cy="475488"/>
          </a:xfrm>
          <a:prstGeom prst="rect">
            <a:avLst/>
          </a:prstGeom>
          <a:noFill/>
          <a:ln/>
        </p:spPr>
        <p:txBody>
          <a:bodyPr wrap="square" lIns="0" tIns="0" rIns="0" bIns="0" rtlCol="0" anchor="ctr"/>
          <a:lstStyle/>
          <a:p>
            <a:pPr algn="l" indent="0" marL="0">
              <a:lnSpc>
                <a:spcPct val="98000"/>
              </a:lnSpc>
              <a:buNone/>
            </a:pPr>
            <a:endParaRPr lang="en-US" sz="1300" dirty="0"/>
          </a:p>
        </p:txBody>
      </p:sp>
      <p:sp>
        <p:nvSpPr>
          <p:cNvPr id="9" name="Text 6"/>
          <p:cNvSpPr/>
          <p:nvPr/>
        </p:nvSpPr>
        <p:spPr>
          <a:xfrm>
            <a:off x="3858768" y="1600200"/>
            <a:ext cx="3703320" cy="475488"/>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FIDELITY — diabetic CKD</a:t>
            </a:r>
            <a:endParaRPr lang="en-US" sz="1300" dirty="0"/>
          </a:p>
        </p:txBody>
      </p:sp>
      <p:sp>
        <p:nvSpPr>
          <p:cNvPr id="10" name="Text 7"/>
          <p:cNvSpPr/>
          <p:nvPr/>
        </p:nvSpPr>
        <p:spPr>
          <a:xfrm>
            <a:off x="7744968" y="1600200"/>
            <a:ext cx="3730752" cy="475488"/>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FIND-CKD — no diabetes</a:t>
            </a:r>
            <a:endParaRPr lang="en-US" sz="1300" dirty="0"/>
          </a:p>
        </p:txBody>
      </p:sp>
      <p:sp>
        <p:nvSpPr>
          <p:cNvPr id="11" name="Shape 8"/>
          <p:cNvSpPr/>
          <p:nvPr/>
        </p:nvSpPr>
        <p:spPr>
          <a:xfrm>
            <a:off x="640080" y="2587752"/>
            <a:ext cx="10908792" cy="0"/>
          </a:xfrm>
          <a:prstGeom prst="line">
            <a:avLst/>
          </a:prstGeom>
          <a:noFill/>
          <a:ln w="9525">
            <a:solidFill>
              <a:srgbClr val="CFDDDD"/>
            </a:solidFill>
            <a:prstDash val="solid"/>
          </a:ln>
        </p:spPr>
      </p:sp>
      <p:sp>
        <p:nvSpPr>
          <p:cNvPr id="12" name="Text 9"/>
          <p:cNvSpPr/>
          <p:nvPr/>
        </p:nvSpPr>
        <p:spPr>
          <a:xfrm>
            <a:off x="749808" y="2075688"/>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Pooled / N</a:t>
            </a:r>
            <a:endParaRPr lang="en-US" sz="1300" dirty="0"/>
          </a:p>
        </p:txBody>
      </p:sp>
      <p:sp>
        <p:nvSpPr>
          <p:cNvPr id="13" name="Text 10"/>
          <p:cNvSpPr/>
          <p:nvPr/>
        </p:nvSpPr>
        <p:spPr>
          <a:xfrm>
            <a:off x="3858768" y="2075688"/>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FIDELIO + FIGARO; 13,026</a:t>
            </a:r>
            <a:endParaRPr lang="en-US" sz="1300" dirty="0"/>
          </a:p>
        </p:txBody>
      </p:sp>
      <p:sp>
        <p:nvSpPr>
          <p:cNvPr id="14" name="Text 11"/>
          <p:cNvSpPr/>
          <p:nvPr/>
        </p:nvSpPr>
        <p:spPr>
          <a:xfrm>
            <a:off x="7744968" y="2075688"/>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Single RCT; 1,584</a:t>
            </a:r>
            <a:endParaRPr lang="en-US" sz="1300" dirty="0"/>
          </a:p>
        </p:txBody>
      </p:sp>
      <p:sp>
        <p:nvSpPr>
          <p:cNvPr id="15" name="Shape 12"/>
          <p:cNvSpPr/>
          <p:nvPr/>
        </p:nvSpPr>
        <p:spPr>
          <a:xfrm>
            <a:off x="640080" y="3099816"/>
            <a:ext cx="10908792" cy="0"/>
          </a:xfrm>
          <a:prstGeom prst="line">
            <a:avLst/>
          </a:prstGeom>
          <a:noFill/>
          <a:ln w="9525">
            <a:solidFill>
              <a:srgbClr val="CFDDDD"/>
            </a:solidFill>
            <a:prstDash val="solid"/>
          </a:ln>
        </p:spPr>
      </p:sp>
      <p:sp>
        <p:nvSpPr>
          <p:cNvPr id="16" name="Text 13"/>
          <p:cNvSpPr/>
          <p:nvPr/>
        </p:nvSpPr>
        <p:spPr>
          <a:xfrm>
            <a:off x="749808" y="2587752"/>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Primary endpoint</a:t>
            </a:r>
            <a:endParaRPr lang="en-US" sz="1300" dirty="0"/>
          </a:p>
        </p:txBody>
      </p:sp>
      <p:sp>
        <p:nvSpPr>
          <p:cNvPr id="17" name="Text 14"/>
          <p:cNvSpPr/>
          <p:nvPr/>
        </p:nvSpPr>
        <p:spPr>
          <a:xfrm>
            <a:off x="3858768" y="2587752"/>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CV &amp; kidney composites</a:t>
            </a:r>
            <a:endParaRPr lang="en-US" sz="1300" dirty="0"/>
          </a:p>
        </p:txBody>
      </p:sp>
      <p:sp>
        <p:nvSpPr>
          <p:cNvPr id="18" name="Text 15"/>
          <p:cNvSpPr/>
          <p:nvPr/>
        </p:nvSpPr>
        <p:spPr>
          <a:xfrm>
            <a:off x="7744968" y="2587752"/>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Total eGFR slope</a:t>
            </a:r>
            <a:endParaRPr lang="en-US" sz="1300" dirty="0"/>
          </a:p>
        </p:txBody>
      </p:sp>
      <p:sp>
        <p:nvSpPr>
          <p:cNvPr id="19" name="Shape 16"/>
          <p:cNvSpPr/>
          <p:nvPr/>
        </p:nvSpPr>
        <p:spPr>
          <a:xfrm>
            <a:off x="640080" y="3611880"/>
            <a:ext cx="10908792" cy="0"/>
          </a:xfrm>
          <a:prstGeom prst="line">
            <a:avLst/>
          </a:prstGeom>
          <a:noFill/>
          <a:ln w="9525">
            <a:solidFill>
              <a:srgbClr val="CFDDDD"/>
            </a:solidFill>
            <a:prstDash val="solid"/>
          </a:ln>
        </p:spPr>
      </p:sp>
      <p:sp>
        <p:nvSpPr>
          <p:cNvPr id="20" name="Text 17"/>
          <p:cNvSpPr/>
          <p:nvPr/>
        </p:nvSpPr>
        <p:spPr>
          <a:xfrm>
            <a:off x="749808" y="3099816"/>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Kidney composite (≥57%)</a:t>
            </a:r>
            <a:endParaRPr lang="en-US" sz="1300" dirty="0"/>
          </a:p>
        </p:txBody>
      </p:sp>
      <p:sp>
        <p:nvSpPr>
          <p:cNvPr id="21" name="Text 18"/>
          <p:cNvSpPr/>
          <p:nvPr/>
        </p:nvSpPr>
        <p:spPr>
          <a:xfrm>
            <a:off x="3858768" y="3099816"/>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0.77 (0.67–0.88)</a:t>
            </a:r>
            <a:endParaRPr lang="en-US" sz="1300" dirty="0"/>
          </a:p>
        </p:txBody>
      </p:sp>
      <p:sp>
        <p:nvSpPr>
          <p:cNvPr id="22" name="Text 19"/>
          <p:cNvSpPr/>
          <p:nvPr/>
        </p:nvSpPr>
        <p:spPr>
          <a:xfrm>
            <a:off x="7744968" y="3099816"/>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0.78 (0.60–1.01)</a:t>
            </a:r>
            <a:endParaRPr lang="en-US" sz="1300" dirty="0"/>
          </a:p>
        </p:txBody>
      </p:sp>
      <p:sp>
        <p:nvSpPr>
          <p:cNvPr id="23" name="Shape 20"/>
          <p:cNvSpPr/>
          <p:nvPr/>
        </p:nvSpPr>
        <p:spPr>
          <a:xfrm>
            <a:off x="640080" y="4123944"/>
            <a:ext cx="10908792" cy="0"/>
          </a:xfrm>
          <a:prstGeom prst="line">
            <a:avLst/>
          </a:prstGeom>
          <a:noFill/>
          <a:ln w="9525">
            <a:solidFill>
              <a:srgbClr val="CFDDDD"/>
            </a:solidFill>
            <a:prstDash val="solid"/>
          </a:ln>
        </p:spPr>
      </p:sp>
      <p:sp>
        <p:nvSpPr>
          <p:cNvPr id="24" name="Text 21"/>
          <p:cNvSpPr/>
          <p:nvPr/>
        </p:nvSpPr>
        <p:spPr>
          <a:xfrm>
            <a:off x="749808" y="3611880"/>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Composite kidney–CV</a:t>
            </a:r>
            <a:endParaRPr lang="en-US" sz="1300" dirty="0"/>
          </a:p>
        </p:txBody>
      </p:sp>
      <p:sp>
        <p:nvSpPr>
          <p:cNvPr id="25" name="Text 22"/>
          <p:cNvSpPr/>
          <p:nvPr/>
        </p:nvSpPr>
        <p:spPr>
          <a:xfrm>
            <a:off x="3858768" y="3611880"/>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not reported</a:t>
            </a:r>
            <a:endParaRPr lang="en-US" sz="1300" dirty="0"/>
          </a:p>
        </p:txBody>
      </p:sp>
      <p:sp>
        <p:nvSpPr>
          <p:cNvPr id="26" name="Text 23"/>
          <p:cNvSpPr/>
          <p:nvPr/>
        </p:nvSpPr>
        <p:spPr>
          <a:xfrm>
            <a:off x="7744968" y="3611880"/>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0.77 (0.60–0.99)</a:t>
            </a:r>
            <a:endParaRPr lang="en-US" sz="1300" dirty="0"/>
          </a:p>
        </p:txBody>
      </p:sp>
      <p:sp>
        <p:nvSpPr>
          <p:cNvPr id="27" name="Shape 24"/>
          <p:cNvSpPr/>
          <p:nvPr/>
        </p:nvSpPr>
        <p:spPr>
          <a:xfrm>
            <a:off x="640080" y="4636008"/>
            <a:ext cx="10908792" cy="0"/>
          </a:xfrm>
          <a:prstGeom prst="line">
            <a:avLst/>
          </a:prstGeom>
          <a:noFill/>
          <a:ln w="9525">
            <a:solidFill>
              <a:srgbClr val="CFDDDD"/>
            </a:solidFill>
            <a:prstDash val="solid"/>
          </a:ln>
        </p:spPr>
      </p:sp>
      <p:sp>
        <p:nvSpPr>
          <p:cNvPr id="28" name="Text 25"/>
          <p:cNvSpPr/>
          <p:nvPr/>
        </p:nvSpPr>
        <p:spPr>
          <a:xfrm>
            <a:off x="749808" y="4123944"/>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CV composite</a:t>
            </a:r>
            <a:endParaRPr lang="en-US" sz="1300" dirty="0"/>
          </a:p>
        </p:txBody>
      </p:sp>
      <p:sp>
        <p:nvSpPr>
          <p:cNvPr id="29" name="Text 26"/>
          <p:cNvSpPr/>
          <p:nvPr/>
        </p:nvSpPr>
        <p:spPr>
          <a:xfrm>
            <a:off x="3858768" y="4123944"/>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0.86 (0.78–0.95)</a:t>
            </a:r>
            <a:endParaRPr lang="en-US" sz="1300" dirty="0"/>
          </a:p>
        </p:txBody>
      </p:sp>
      <p:sp>
        <p:nvSpPr>
          <p:cNvPr id="30" name="Text 27"/>
          <p:cNvSpPr/>
          <p:nvPr/>
        </p:nvSpPr>
        <p:spPr>
          <a:xfrm>
            <a:off x="7744968" y="4123944"/>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0.60 (0.27–1.33)</a:t>
            </a:r>
            <a:endParaRPr lang="en-US" sz="1300" dirty="0"/>
          </a:p>
        </p:txBody>
      </p:sp>
      <p:sp>
        <p:nvSpPr>
          <p:cNvPr id="31" name="Shape 28"/>
          <p:cNvSpPr/>
          <p:nvPr/>
        </p:nvSpPr>
        <p:spPr>
          <a:xfrm>
            <a:off x="640080" y="5148072"/>
            <a:ext cx="10908792" cy="0"/>
          </a:xfrm>
          <a:prstGeom prst="line">
            <a:avLst/>
          </a:prstGeom>
          <a:noFill/>
          <a:ln w="9525">
            <a:solidFill>
              <a:srgbClr val="CFDDDD"/>
            </a:solidFill>
            <a:prstDash val="solid"/>
          </a:ln>
        </p:spPr>
      </p:sp>
      <p:sp>
        <p:nvSpPr>
          <p:cNvPr id="32" name="Text 29"/>
          <p:cNvSpPr/>
          <p:nvPr/>
        </p:nvSpPr>
        <p:spPr>
          <a:xfrm>
            <a:off x="749808" y="4636008"/>
            <a:ext cx="2926080" cy="512064"/>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eGFR slope Δ / yr</a:t>
            </a:r>
            <a:endParaRPr lang="en-US" sz="1300" dirty="0"/>
          </a:p>
        </p:txBody>
      </p:sp>
      <p:sp>
        <p:nvSpPr>
          <p:cNvPr id="33" name="Text 30"/>
          <p:cNvSpPr/>
          <p:nvPr/>
        </p:nvSpPr>
        <p:spPr>
          <a:xfrm>
            <a:off x="3858768" y="4636008"/>
            <a:ext cx="3703320" cy="512064"/>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not reported</a:t>
            </a:r>
            <a:endParaRPr lang="en-US" sz="1300" dirty="0"/>
          </a:p>
        </p:txBody>
      </p:sp>
      <p:sp>
        <p:nvSpPr>
          <p:cNvPr id="34" name="Text 31"/>
          <p:cNvSpPr/>
          <p:nvPr/>
        </p:nvSpPr>
        <p:spPr>
          <a:xfrm>
            <a:off x="7744968" y="4636008"/>
            <a:ext cx="3730752" cy="512064"/>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0.7 (chronic 1.2)</a:t>
            </a:r>
            <a:endParaRPr lang="en-US" sz="1300" dirty="0"/>
          </a:p>
        </p:txBody>
      </p:sp>
      <p:sp>
        <p:nvSpPr>
          <p:cNvPr id="35" name="Text 32"/>
          <p:cNvSpPr/>
          <p:nvPr/>
        </p:nvSpPr>
        <p:spPr>
          <a:xfrm>
            <a:off x="640080" y="5376672"/>
            <a:ext cx="10908792" cy="640080"/>
          </a:xfrm>
          <a:prstGeom prst="rect">
            <a:avLst/>
          </a:prstGeom>
          <a:noFill/>
          <a:ln/>
        </p:spPr>
        <p:txBody>
          <a:bodyPr wrap="square" lIns="0" tIns="0" rIns="0" bIns="0" rtlCol="0" anchor="ctr"/>
          <a:lstStyle/>
          <a:p>
            <a:pPr indent="0" marL="0">
              <a:lnSpc>
                <a:spcPct val="120000"/>
              </a:lnSpc>
              <a:buNone/>
            </a:pPr>
            <a:r>
              <a:rPr lang="en-US" sz="1400" dirty="0">
                <a:solidFill>
                  <a:srgbClr val="13212A"/>
                </a:solidFill>
                <a:latin typeface="Calibri" pitchFamily="34" charset="0"/>
                <a:ea typeface="Calibri" pitchFamily="34" charset="-122"/>
                <a:cs typeface="Calibri" pitchFamily="34" charset="-120"/>
              </a:rPr>
              <a:t>Same drug, same ≥57% kidney definition, a population never before tested. FIND-CKD was not powered for cardiovascular events, so its CV estimate is imprecise.</a:t>
            </a:r>
            <a:endParaRPr lang="en-US" sz="1400" dirty="0"/>
          </a:p>
        </p:txBody>
      </p:sp>
      <p:sp>
        <p:nvSpPr>
          <p:cNvPr id="36" name="Text 33"/>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FIDELITY: Agarwal et al., Eur Heart J 2022.  FIND-CKD: Heerspink et al., N Engl J Med 2026.</a:t>
            </a:r>
            <a:endParaRPr lang="en-US" sz="850" dirty="0"/>
          </a:p>
        </p:txBody>
      </p:sp>
      <p:sp>
        <p:nvSpPr>
          <p:cNvPr id="37" name="Text 3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38" name="Text 3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05</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The bottom line</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Where finerenone fits in practice, what is still open, and the take-home.</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Where finerenone fits in practice</a:t>
            </a:r>
            <a:endParaRPr lang="en-US" sz="2400" dirty="0"/>
          </a:p>
        </p:txBody>
      </p:sp>
      <p:sp>
        <p:nvSpPr>
          <p:cNvPr id="6" name="Text 3"/>
          <p:cNvSpPr/>
          <p:nvPr/>
        </p:nvSpPr>
        <p:spPr>
          <a:xfrm>
            <a:off x="640080" y="987552"/>
            <a:ext cx="10908792" cy="420624"/>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A candidate third agent for albuminuric CKD, now with evidence beyond diabetes.</a:t>
            </a:r>
            <a:endParaRPr lang="en-US" sz="1600" dirty="0"/>
          </a:p>
        </p:txBody>
      </p:sp>
      <p:sp>
        <p:nvSpPr>
          <p:cNvPr id="7" name="Shape 4"/>
          <p:cNvSpPr/>
          <p:nvPr/>
        </p:nvSpPr>
        <p:spPr>
          <a:xfrm>
            <a:off x="640080" y="1600200"/>
            <a:ext cx="3331464" cy="1005840"/>
          </a:xfrm>
          <a:prstGeom prst="roundRect">
            <a:avLst>
              <a:gd name="adj" fmla="val 7273"/>
            </a:avLst>
          </a:prstGeom>
          <a:solidFill>
            <a:srgbClr val="E7F4F4"/>
          </a:solidFill>
          <a:ln/>
        </p:spPr>
      </p:sp>
      <p:sp>
        <p:nvSpPr>
          <p:cNvPr id="8" name="Text 5"/>
          <p:cNvSpPr/>
          <p:nvPr/>
        </p:nvSpPr>
        <p:spPr>
          <a:xfrm>
            <a:off x="777240" y="1746504"/>
            <a:ext cx="3057144" cy="365760"/>
          </a:xfrm>
          <a:prstGeom prst="rect">
            <a:avLst/>
          </a:prstGeom>
          <a:noFill/>
          <a:ln/>
        </p:spPr>
        <p:txBody>
          <a:bodyPr wrap="square" lIns="0" tIns="0" rIns="0" bIns="0" rtlCol="0" anchor="ctr"/>
          <a:lstStyle/>
          <a:p>
            <a:pPr algn="ctr" indent="0" marL="0">
              <a:buNone/>
            </a:pPr>
            <a:r>
              <a:rPr lang="en-US" sz="1550" b="1" dirty="0">
                <a:solidFill>
                  <a:srgbClr val="0F3446"/>
                </a:solidFill>
                <a:latin typeface="Calibri" pitchFamily="34" charset="0"/>
                <a:ea typeface="Calibri" pitchFamily="34" charset="-122"/>
                <a:cs typeface="Calibri" pitchFamily="34" charset="-120"/>
              </a:rPr>
              <a:t>RAS inhibitor</a:t>
            </a:r>
            <a:endParaRPr lang="en-US" sz="1550" dirty="0"/>
          </a:p>
        </p:txBody>
      </p:sp>
      <p:sp>
        <p:nvSpPr>
          <p:cNvPr id="9" name="Text 6"/>
          <p:cNvSpPr/>
          <p:nvPr/>
        </p:nvSpPr>
        <p:spPr>
          <a:xfrm>
            <a:off x="777240" y="2112264"/>
            <a:ext cx="3057144" cy="411480"/>
          </a:xfrm>
          <a:prstGeom prst="rect">
            <a:avLst/>
          </a:prstGeom>
          <a:noFill/>
          <a:ln/>
        </p:spPr>
        <p:txBody>
          <a:bodyPr wrap="square" lIns="0" tIns="0" rIns="0" bIns="0" rtlCol="0" anchor="ctr"/>
          <a:lstStyle/>
          <a:p>
            <a:pPr algn="ctr" indent="0" marL="0">
              <a:lnSpc>
                <a:spcPct val="100000"/>
              </a:lnSpc>
              <a:buNone/>
            </a:pPr>
            <a:r>
              <a:rPr lang="en-US" sz="1200" dirty="0">
                <a:solidFill>
                  <a:srgbClr val="4E5E66"/>
                </a:solidFill>
                <a:latin typeface="Calibri" pitchFamily="34" charset="0"/>
                <a:ea typeface="Calibri" pitchFamily="34" charset="-122"/>
                <a:cs typeface="Calibri" pitchFamily="34" charset="-120"/>
              </a:rPr>
              <a:t>foundation, required background</a:t>
            </a:r>
            <a:endParaRPr lang="en-US" sz="1200" dirty="0"/>
          </a:p>
        </p:txBody>
      </p:sp>
      <p:sp>
        <p:nvSpPr>
          <p:cNvPr id="10" name="Shape 7"/>
          <p:cNvSpPr/>
          <p:nvPr/>
        </p:nvSpPr>
        <p:spPr>
          <a:xfrm>
            <a:off x="4428744" y="1600200"/>
            <a:ext cx="3331464" cy="1005840"/>
          </a:xfrm>
          <a:prstGeom prst="roundRect">
            <a:avLst>
              <a:gd name="adj" fmla="val 7273"/>
            </a:avLst>
          </a:prstGeom>
          <a:solidFill>
            <a:srgbClr val="E7F4F4"/>
          </a:solidFill>
          <a:ln/>
        </p:spPr>
      </p:sp>
      <p:sp>
        <p:nvSpPr>
          <p:cNvPr id="11" name="Text 8"/>
          <p:cNvSpPr/>
          <p:nvPr/>
        </p:nvSpPr>
        <p:spPr>
          <a:xfrm>
            <a:off x="4565904" y="1746504"/>
            <a:ext cx="3057144" cy="365760"/>
          </a:xfrm>
          <a:prstGeom prst="rect">
            <a:avLst/>
          </a:prstGeom>
          <a:noFill/>
          <a:ln/>
        </p:spPr>
        <p:txBody>
          <a:bodyPr wrap="square" lIns="0" tIns="0" rIns="0" bIns="0" rtlCol="0" anchor="ctr"/>
          <a:lstStyle/>
          <a:p>
            <a:pPr algn="ctr" indent="0" marL="0">
              <a:buNone/>
            </a:pPr>
            <a:r>
              <a:rPr lang="en-US" sz="1550" b="1" dirty="0">
                <a:solidFill>
                  <a:srgbClr val="0F3446"/>
                </a:solidFill>
                <a:latin typeface="Calibri" pitchFamily="34" charset="0"/>
                <a:ea typeface="Calibri" pitchFamily="34" charset="-122"/>
                <a:cs typeface="Calibri" pitchFamily="34" charset="-120"/>
              </a:rPr>
              <a:t>SGLT2 inhibitor</a:t>
            </a:r>
            <a:endParaRPr lang="en-US" sz="1550" dirty="0"/>
          </a:p>
        </p:txBody>
      </p:sp>
      <p:sp>
        <p:nvSpPr>
          <p:cNvPr id="12" name="Text 9"/>
          <p:cNvSpPr/>
          <p:nvPr/>
        </p:nvSpPr>
        <p:spPr>
          <a:xfrm>
            <a:off x="4565904" y="2112264"/>
            <a:ext cx="3057144" cy="411480"/>
          </a:xfrm>
          <a:prstGeom prst="rect">
            <a:avLst/>
          </a:prstGeom>
          <a:noFill/>
          <a:ln/>
        </p:spPr>
        <p:txBody>
          <a:bodyPr wrap="square" lIns="0" tIns="0" rIns="0" bIns="0" rtlCol="0" anchor="ctr"/>
          <a:lstStyle/>
          <a:p>
            <a:pPr algn="ctr" indent="0" marL="0">
              <a:lnSpc>
                <a:spcPct val="100000"/>
              </a:lnSpc>
              <a:buNone/>
            </a:pPr>
            <a:r>
              <a:rPr lang="en-US" sz="1200" dirty="0">
                <a:solidFill>
                  <a:srgbClr val="4E5E66"/>
                </a:solidFill>
                <a:latin typeface="Calibri" pitchFamily="34" charset="0"/>
                <a:ea typeface="Calibri" pitchFamily="34" charset="-122"/>
                <a:cs typeface="Calibri" pitchFamily="34" charset="-120"/>
              </a:rPr>
              <a:t>guideline-recommended pillar</a:t>
            </a:r>
            <a:endParaRPr lang="en-US" sz="1200" dirty="0"/>
          </a:p>
        </p:txBody>
      </p:sp>
      <p:sp>
        <p:nvSpPr>
          <p:cNvPr id="13" name="Shape 10"/>
          <p:cNvSpPr/>
          <p:nvPr/>
        </p:nvSpPr>
        <p:spPr>
          <a:xfrm>
            <a:off x="8217408" y="1600200"/>
            <a:ext cx="3331464" cy="1005840"/>
          </a:xfrm>
          <a:prstGeom prst="roundRect">
            <a:avLst>
              <a:gd name="adj" fmla="val 7273"/>
            </a:avLst>
          </a:prstGeom>
          <a:solidFill>
            <a:srgbClr val="12A3A6"/>
          </a:solidFill>
          <a:ln/>
        </p:spPr>
      </p:sp>
      <p:sp>
        <p:nvSpPr>
          <p:cNvPr id="14" name="Text 11"/>
          <p:cNvSpPr/>
          <p:nvPr/>
        </p:nvSpPr>
        <p:spPr>
          <a:xfrm>
            <a:off x="8354568" y="1746504"/>
            <a:ext cx="3057144" cy="365760"/>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Finerenone</a:t>
            </a:r>
            <a:endParaRPr lang="en-US" sz="1550" dirty="0"/>
          </a:p>
        </p:txBody>
      </p:sp>
      <p:sp>
        <p:nvSpPr>
          <p:cNvPr id="15" name="Text 12"/>
          <p:cNvSpPr/>
          <p:nvPr/>
        </p:nvSpPr>
        <p:spPr>
          <a:xfrm>
            <a:off x="8354568" y="2112264"/>
            <a:ext cx="3057144" cy="411480"/>
          </a:xfrm>
          <a:prstGeom prst="rect">
            <a:avLst/>
          </a:prstGeom>
          <a:noFill/>
          <a:ln/>
        </p:spPr>
        <p:txBody>
          <a:bodyPr wrap="square" lIns="0" tIns="0" rIns="0" bIns="0" rtlCol="0" anchor="ctr"/>
          <a:lstStyle/>
          <a:p>
            <a:pPr algn="ctr" indent="0" marL="0">
              <a:lnSpc>
                <a:spcPct val="100000"/>
              </a:lnSpc>
              <a:buNone/>
            </a:pPr>
            <a:r>
              <a:rPr lang="en-US" sz="1200" dirty="0">
                <a:solidFill>
                  <a:srgbClr val="E7F4F4"/>
                </a:solidFill>
                <a:latin typeface="Calibri" pitchFamily="34" charset="0"/>
                <a:ea typeface="Calibri" pitchFamily="34" charset="-122"/>
                <a:cs typeface="Calibri" pitchFamily="34" charset="-120"/>
              </a:rPr>
              <a:t>MR blockade, now non-diabetic too</a:t>
            </a:r>
            <a:endParaRPr lang="en-US" sz="1200" dirty="0"/>
          </a:p>
        </p:txBody>
      </p:sp>
      <p:sp>
        <p:nvSpPr>
          <p:cNvPr id="16" name="Text 13"/>
          <p:cNvSpPr/>
          <p:nvPr/>
        </p:nvSpPr>
        <p:spPr>
          <a:xfrm>
            <a:off x="640080" y="301752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Who to consider</a:t>
            </a:r>
            <a:endParaRPr lang="en-US" sz="1550" dirty="0"/>
          </a:p>
        </p:txBody>
      </p:sp>
      <p:sp>
        <p:nvSpPr>
          <p:cNvPr id="17" name="Text 14"/>
          <p:cNvSpPr/>
          <p:nvPr/>
        </p:nvSpPr>
        <p:spPr>
          <a:xfrm>
            <a:off x="640080" y="3383280"/>
            <a:ext cx="5134356" cy="2286000"/>
          </a:xfrm>
          <a:prstGeom prst="rect">
            <a:avLst/>
          </a:prstGeom>
          <a:noFill/>
          <a:ln/>
        </p:spPr>
        <p:txBody>
          <a:bodyPr wrap="square" lIns="0" tIns="0" rIns="0" bIns="0" rtlCol="0" anchor="t"/>
          <a:lstStyle/>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Non-diabetic CKD with persistent albuminuria despite a maximally tolerated RAS inhibitor.</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Greatest expected benefit with UACR &gt;1000 mg/g.</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Serum potassium ≤4.8–5.0 and an eGFR that supports the starting dose.</a:t>
            </a:r>
            <a:endParaRPr lang="en-US" sz="1400" dirty="0"/>
          </a:p>
        </p:txBody>
      </p:sp>
      <p:sp>
        <p:nvSpPr>
          <p:cNvPr id="18" name="Text 15"/>
          <p:cNvSpPr/>
          <p:nvPr/>
        </p:nvSpPr>
        <p:spPr>
          <a:xfrm>
            <a:off x="6414516" y="301752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How to use it safely</a:t>
            </a:r>
            <a:endParaRPr lang="en-US" sz="1550" dirty="0"/>
          </a:p>
        </p:txBody>
      </p:sp>
      <p:sp>
        <p:nvSpPr>
          <p:cNvPr id="19" name="Text 16"/>
          <p:cNvSpPr/>
          <p:nvPr/>
        </p:nvSpPr>
        <p:spPr>
          <a:xfrm>
            <a:off x="6414516" y="3383280"/>
            <a:ext cx="5134356" cy="2286000"/>
          </a:xfrm>
          <a:prstGeom prst="rect">
            <a:avLst/>
          </a:prstGeom>
          <a:noFill/>
          <a:ln/>
        </p:spPr>
        <p:txBody>
          <a:bodyPr wrap="square" lIns="0" tIns="0" rIns="0" bIns="0" rtlCol="0" anchor="t"/>
          <a:lstStyle/>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Check potassium at baseline, at 1 month, and after any dose change.</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Withhold at K⁺ &gt;5.5 and restart at 10 mg once ≤5.0.</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The combination with an SGLT2 inhibitor looks additive, though it was not formally tested here.</a:t>
            </a:r>
            <a:endParaRPr lang="en-US" sz="1400" dirty="0"/>
          </a:p>
        </p:txBody>
      </p:sp>
      <p:sp>
        <p:nvSpPr>
          <p:cNvPr id="20" name="Text 1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1" name="Text 1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868680"/>
          </a:xfrm>
          <a:prstGeom prst="rect">
            <a:avLst/>
          </a:prstGeom>
          <a:solidFill>
            <a:srgbClr val="0F3446"/>
          </a:solidFill>
          <a:ln/>
        </p:spPr>
      </p:sp>
      <p:sp>
        <p:nvSpPr>
          <p:cNvPr id="3" name="Shape 1"/>
          <p:cNvSpPr/>
          <p:nvPr/>
        </p:nvSpPr>
        <p:spPr>
          <a:xfrm>
            <a:off x="640080" y="201168"/>
            <a:ext cx="457200" cy="457200"/>
          </a:xfrm>
          <a:prstGeom prst="roundRect">
            <a:avLst>
              <a:gd name="adj" fmla="val 18000"/>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758952" y="320040"/>
            <a:ext cx="219456" cy="219456"/>
          </a:xfrm>
          <a:prstGeom prst="rect">
            <a:avLst/>
          </a:prstGeom>
        </p:spPr>
      </p:pic>
      <p:sp>
        <p:nvSpPr>
          <p:cNvPr id="5" name="Text 2"/>
          <p:cNvSpPr/>
          <p:nvPr/>
        </p:nvSpPr>
        <p:spPr>
          <a:xfrm>
            <a:off x="1261872" y="0"/>
            <a:ext cx="102870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 is still open</a:t>
            </a:r>
            <a:endParaRPr lang="en-US" sz="2400" dirty="0"/>
          </a:p>
        </p:txBody>
      </p:sp>
      <p:sp>
        <p:nvSpPr>
          <p:cNvPr id="6" name="Text 3"/>
          <p:cNvSpPr/>
          <p:nvPr/>
        </p:nvSpPr>
        <p:spPr>
          <a:xfrm>
            <a:off x="640080" y="1417320"/>
            <a:ext cx="10908792" cy="475488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Hard outcomes. The trial moved a surrogate, not kidney failure or death. A hard-outcome trial in non-diabetic CKD is the missing piece.</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The SGLT2 inhibitor combination. Only 17% were on one; whether finerenone and an SGLT2 inhibitor are truly additive needs a dedicated study.</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Underrepresented groups. Women, Black patients, and low-albuminuria CKD were thin in this cohort.</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Diseases left out. No data in ADPKD, lupus nephritis, or ANCA vasculitis, where the biology and treatment differ.</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Durability. Effects beyond about 36 months, over the decades these patients live with CKD, remain unknown.</a:t>
            </a:r>
            <a:endParaRPr lang="en-US" sz="1600" dirty="0"/>
          </a:p>
        </p:txBody>
      </p:sp>
      <p:sp>
        <p:nvSpPr>
          <p:cNvPr id="7" name="Text 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8" name="Text 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3446"/>
        </a:solidFill>
      </p:bgPr>
    </p:bg>
    <p:spTree>
      <p:nvGrpSpPr>
        <p:cNvPr id="1" name=""/>
        <p:cNvGrpSpPr/>
        <p:nvPr/>
      </p:nvGrpSpPr>
      <p:grpSpPr>
        <a:xfrm>
          <a:off x="0" y="0"/>
          <a:ext cx="0" cy="0"/>
          <a:chOff x="0" y="0"/>
          <a:chExt cx="0" cy="0"/>
        </a:xfrm>
      </p:grpSpPr>
      <p:sp>
        <p:nvSpPr>
          <p:cNvPr id="2" name="Shape 0"/>
          <p:cNvSpPr/>
          <p:nvPr/>
        </p:nvSpPr>
        <p:spPr>
          <a:xfrm>
            <a:off x="640080" y="777240"/>
            <a:ext cx="868680" cy="868680"/>
          </a:xfrm>
          <a:prstGeom prst="roundRect">
            <a:avLst>
              <a:gd name="adj" fmla="val 12632"/>
            </a:avLst>
          </a:prstGeom>
          <a:solidFill>
            <a:srgbClr val="12A3A6"/>
          </a:solidFill>
          <a:ln/>
        </p:spPr>
      </p:sp>
      <p:pic>
        <p:nvPicPr>
          <p:cNvPr id="3" name="Image 0" descr="preencoded.png">    </p:cNvPr>
          <p:cNvPicPr>
            <a:picLocks noChangeAspect="1"/>
          </p:cNvPicPr>
          <p:nvPr/>
        </p:nvPicPr>
        <p:blipFill>
          <a:blip r:embed="rId1"/>
          <a:stretch>
            <a:fillRect/>
          </a:stretch>
        </p:blipFill>
        <p:spPr>
          <a:xfrm>
            <a:off x="859536" y="996696"/>
            <a:ext cx="429768" cy="429768"/>
          </a:xfrm>
          <a:prstGeom prst="rect">
            <a:avLst/>
          </a:prstGeom>
        </p:spPr>
      </p:pic>
      <p:sp>
        <p:nvSpPr>
          <p:cNvPr id="4" name="Text 1"/>
          <p:cNvSpPr/>
          <p:nvPr/>
        </p:nvSpPr>
        <p:spPr>
          <a:xfrm>
            <a:off x="1737360" y="868680"/>
            <a:ext cx="7315200" cy="365760"/>
          </a:xfrm>
          <a:prstGeom prst="rect">
            <a:avLst/>
          </a:prstGeom>
          <a:noFill/>
          <a:ln/>
        </p:spPr>
        <p:txBody>
          <a:bodyPr wrap="square" lIns="0" tIns="0" rIns="0" bIns="0" rtlCol="0" anchor="ctr"/>
          <a:lstStyle/>
          <a:p>
            <a:pPr indent="0" marL="0">
              <a:buNone/>
            </a:pPr>
            <a:r>
              <a:rPr lang="en-US" sz="1550" dirty="0">
                <a:solidFill>
                  <a:srgbClr val="9FBBC6"/>
                </a:solidFill>
                <a:latin typeface="Calibri" pitchFamily="34" charset="0"/>
                <a:ea typeface="Calibri" pitchFamily="34" charset="-122"/>
                <a:cs typeface="Calibri" pitchFamily="34" charset="-120"/>
              </a:rPr>
              <a:t>Conclusions</a:t>
            </a:r>
            <a:endParaRPr lang="en-US" sz="1550" dirty="0"/>
          </a:p>
        </p:txBody>
      </p:sp>
      <p:sp>
        <p:nvSpPr>
          <p:cNvPr id="5" name="Text 2"/>
          <p:cNvSpPr/>
          <p:nvPr/>
        </p:nvSpPr>
        <p:spPr>
          <a:xfrm>
            <a:off x="1737360" y="1188720"/>
            <a:ext cx="9811512" cy="822960"/>
          </a:xfrm>
          <a:prstGeom prst="rect">
            <a:avLst/>
          </a:prstGeom>
          <a:noFill/>
          <a:ln/>
        </p:spPr>
        <p:txBody>
          <a:bodyPr wrap="square" lIns="0" tIns="0" rIns="0" bIns="0" rtlCol="0" anchor="ctr"/>
          <a:lstStyle/>
          <a:p>
            <a:pPr indent="0" marL="0">
              <a:lnSpc>
                <a:spcPct val="100000"/>
              </a:lnSpc>
              <a:buNone/>
            </a:pPr>
            <a:r>
              <a:rPr lang="en-US" sz="2600" b="1" dirty="0">
                <a:solidFill>
                  <a:srgbClr val="FFFFFF"/>
                </a:solidFill>
                <a:latin typeface="Arial" pitchFamily="34" charset="0"/>
                <a:ea typeface="Arial" pitchFamily="34" charset="-122"/>
                <a:cs typeface="Arial" pitchFamily="34" charset="-120"/>
              </a:rPr>
              <a:t>Finerenone slows CKD progression in patients without diabetes</a:t>
            </a:r>
            <a:endParaRPr lang="en-US" sz="2600" dirty="0"/>
          </a:p>
        </p:txBody>
      </p:sp>
      <p:sp>
        <p:nvSpPr>
          <p:cNvPr id="6" name="Text 3"/>
          <p:cNvSpPr/>
          <p:nvPr/>
        </p:nvSpPr>
        <p:spPr>
          <a:xfrm>
            <a:off x="1737360" y="2514600"/>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E7F1F4"/>
                </a:solidFill>
                <a:latin typeface="Calibri" pitchFamily="34" charset="0"/>
                <a:ea typeface="Calibri" pitchFamily="34" charset="-122"/>
                <a:cs typeface="Calibri" pitchFamily="34" charset="-120"/>
              </a:rPr>
              <a:t>Finerenone slowed the total eGFR slope by 0.7 ml/min/1.73 m²/yr (P&lt;0.001), with a chronic slope of 1.2 and a protected kidney–CV composite of 0.77.</a:t>
            </a:r>
            <a:endParaRPr lang="en-US" sz="1650" dirty="0"/>
          </a:p>
        </p:txBody>
      </p:sp>
      <p:sp>
        <p:nvSpPr>
          <p:cNvPr id="7" name="Text 4"/>
          <p:cNvSpPr/>
          <p:nvPr/>
        </p:nvSpPr>
        <p:spPr>
          <a:xfrm>
            <a:off x="1737360" y="3410712"/>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E7F1F4"/>
                </a:solidFill>
                <a:latin typeface="Calibri" pitchFamily="34" charset="0"/>
                <a:ea typeface="Calibri" pitchFamily="34" charset="-122"/>
                <a:cs typeface="Calibri" pitchFamily="34" charset="-120"/>
              </a:rPr>
              <a:t>The candidate is the albuminuric non-diabetic CKD patient on a RAS inhibitor. The effect is largest with UACR &gt;1000 and looks additive to SGLT2 inhibitors.</a:t>
            </a:r>
            <a:endParaRPr lang="en-US" sz="1650" dirty="0"/>
          </a:p>
        </p:txBody>
      </p:sp>
      <p:sp>
        <p:nvSpPr>
          <p:cNvPr id="8" name="Text 5"/>
          <p:cNvSpPr/>
          <p:nvPr/>
        </p:nvSpPr>
        <p:spPr>
          <a:xfrm>
            <a:off x="1737360" y="4306824"/>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E7F1F4"/>
                </a:solidFill>
                <a:latin typeface="Calibri" pitchFamily="34" charset="0"/>
                <a:ea typeface="Calibri" pitchFamily="34" charset="-122"/>
                <a:cs typeface="Calibri" pitchFamily="34" charset="-120"/>
              </a:rPr>
              <a:t>Hyperkalemia is the trade-off: modest, protocol-manageable, no fatal events, no new signal versus the diabetes trials.</a:t>
            </a:r>
            <a:endParaRPr lang="en-US" sz="1650" dirty="0"/>
          </a:p>
        </p:txBody>
      </p:sp>
      <p:sp>
        <p:nvSpPr>
          <p:cNvPr id="9" name="Text 6"/>
          <p:cNvSpPr/>
          <p:nvPr/>
        </p:nvSpPr>
        <p:spPr>
          <a:xfrm>
            <a:off x="1737360" y="5202936"/>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BCD2DA"/>
                </a:solidFill>
                <a:latin typeface="Calibri" pitchFamily="34" charset="0"/>
                <a:ea typeface="Calibri" pitchFamily="34" charset="-122"/>
                <a:cs typeface="Calibri" pitchFamily="34" charset="-120"/>
              </a:rPr>
              <a:t>Read the slope, not just the headline: the primary is a surrogate in an enriched, mostly male cohort, so a hard-outcome trial would still be the definitive word.</a:t>
            </a:r>
            <a:endParaRPr lang="en-US" sz="1650" dirty="0"/>
          </a:p>
        </p:txBody>
      </p:sp>
      <p:sp>
        <p:nvSpPr>
          <p:cNvPr id="10" name="Text 7"/>
          <p:cNvSpPr/>
          <p:nvPr/>
        </p:nvSpPr>
        <p:spPr>
          <a:xfrm>
            <a:off x="640080" y="6446520"/>
            <a:ext cx="10908792" cy="274320"/>
          </a:xfrm>
          <a:prstGeom prst="rect">
            <a:avLst/>
          </a:prstGeom>
          <a:noFill/>
          <a:ln/>
        </p:spPr>
        <p:txBody>
          <a:bodyPr wrap="square" lIns="0" tIns="0" rIns="0" bIns="0" rtlCol="0" anchor="ctr"/>
          <a:lstStyle/>
          <a:p>
            <a:pPr indent="0" marL="0">
              <a:buNone/>
            </a:pPr>
            <a:r>
              <a:rPr lang="en-US" sz="950" dirty="0">
                <a:solidFill>
                  <a:srgbClr val="6E8A96"/>
                </a:solidFill>
                <a:latin typeface="Calibri" pitchFamily="34" charset="0"/>
                <a:ea typeface="Calibri" pitchFamily="34" charset="-122"/>
                <a:cs typeface="Calibri" pitchFamily="34" charset="-120"/>
              </a:rPr>
              <a:t>FIND-CKD  ·  N Engl J Med 2026  ·  DOI 10.1056/NEJMoa2604625  ·  NCT05047263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FIND-CKD</dc:title>
  <dc:subject>PptxGenJS Presentation</dc:subject>
  <dc:creator>FIND-CKD journal club</dc:creator>
  <cp:lastModifiedBy>FIND-CKD journal club</cp:lastModifiedBy>
  <cp:revision>1</cp:revision>
  <dcterms:created xsi:type="dcterms:W3CDTF">2026-07-27T20:05:24Z</dcterms:created>
  <dcterms:modified xsi:type="dcterms:W3CDTF">2026-07-27T20:05:24Z</dcterms:modified>
</cp:coreProperties>
</file>