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12A3A6"/>
            </a:solidFill>
            <a:ln w="4064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C7C84"/>
                    </a:solidFill>
                    <a:latin typeface="Arial"/>
                  </a:defRPr>
                </a:pPr>
                <a:r>
                  <a:rPr sz="1100" b="0" i="0" u="none" strike="noStrike">
                    <a:solidFill>
                      <a:srgbClr val="6C7C84"/>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CF2F2"/>
              </a:solidFill>
              <a:prstDash val="solid"/>
              <a:round/>
            </a:ln>
          </c:spPr>
        </c:majorGridlines>
        <c:title>
          <c:tx>
            <c:rich>
              <a:bodyPr/>
              <a:lstStyle/>
              <a:p>
                <a:pPr>
                  <a:defRPr sz="1100" b="0" i="0" u="none" strike="noStrike">
                    <a:solidFill>
                      <a:srgbClr val="6C7C84"/>
                    </a:solidFill>
                    <a:latin typeface="Arial"/>
                  </a:defRPr>
                </a:pPr>
                <a:r>
                  <a:rPr sz="1100" b="0" i="0" u="none" strike="noStrike">
                    <a:solidFill>
                      <a:srgbClr val="6C7C84"/>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343C"/>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CF2F2"/>
              </a:solidFill>
              <a:prstDash val="solid"/>
              <a:round/>
            </a:ln>
          </c:spPr>
        </c:majorGridlines>
        <c:title>
          <c:tx>
            <c:rich>
              <a:bodyPr/>
              <a:lstStyle/>
              <a:p>
                <a:pPr>
                  <a:defRPr sz="1100" b="0" i="0" u="none" strike="noStrike">
                    <a:solidFill>
                      <a:srgbClr val="6C7C84"/>
                    </a:solidFill>
                    <a:latin typeface="Arial"/>
                  </a:defRPr>
                </a:pPr>
                <a:r>
                  <a:rPr sz="1100" b="0" i="0" u="none" strike="noStrike">
                    <a:solidFill>
                      <a:srgbClr val="6C7C84"/>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F3446"/>
                </a:solidFill>
                <a:latin typeface="Calibri"/>
              </a:defRPr>
            </a:pPr>
            <a:r>
              <a:rPr sz="1300" b="1" i="0" u="none" strike="noStrike">
                <a:solidFill>
                  <a:srgbClr val="0F34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12A3A6"/>
            </a:solidFill>
            <a:ln w="3810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6C7C84"/>
                    </a:solidFill>
                    <a:latin typeface="Arial"/>
                  </a:defRPr>
                </a:pPr>
                <a:r>
                  <a:rPr sz="1050" b="0" i="0" u="none" strike="noStrike">
                    <a:solidFill>
                      <a:srgbClr val="6C7C84"/>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6C7C84"/>
                    </a:solidFill>
                    <a:latin typeface="Arial"/>
                  </a:defRPr>
                </a:pPr>
                <a:r>
                  <a:rPr sz="1050" b="0" i="0" u="none" strike="noStrike">
                    <a:solidFill>
                      <a:srgbClr val="6C7C84"/>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2343C"/>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6C7C84"/>
                    </a:solidFill>
                    <a:latin typeface="Arial"/>
                  </a:defRPr>
                </a:pPr>
                <a:r>
                  <a:rPr sz="1050" b="0" i="0" u="none" strike="noStrike">
                    <a:solidFill>
                      <a:srgbClr val="6C7C84"/>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C7C84"/>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the kidney trial, FIGARO the CV trial, FIDELITY pooled ~13,000 for a kidney composite 0.77. FIDELITY used the same ≥57% decline definition FIND-CKD adopts. All diabetic.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kidney 0.82, FIGARO CV 0.87, FIDELITY kidney 0.77. FIND-CKD, a fifth of that sample, no diabetic patient, gives the same slope 0.7 total and 1.2 chronic plus composite 0.77, in the range of RAS and SGLT2 inhibitors. The mechanistic bet paid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300" dirty="0">
                <a:solidFill>
                  <a:srgbClr val="9FBBC6"/>
                </a:solidFill>
                <a:latin typeface="Calibri" pitchFamily="34" charset="0"/>
                <a:ea typeface="Calibri" pitchFamily="34" charset="-122"/>
                <a:cs typeface="Calibri" pitchFamily="34" charset="-120"/>
              </a:rPr>
              <a:t>Journal club  ·  Nephrology</a:t>
            </a:r>
            <a:endParaRPr lang="en-US" sz="130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35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350" dirty="0"/>
          </a:p>
          <a:p>
            <a:pPr indent="0" marL="0">
              <a:lnSpc>
                <a:spcPct val="120000"/>
              </a:lnSpc>
              <a:buNone/>
            </a:pPr>
            <a:r>
              <a:rPr lang="en-US" sz="120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35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250" dirty="0">
                <a:solidFill>
                  <a:srgbClr val="7FA0AC"/>
                </a:solidFill>
                <a:latin typeface="Calibri" pitchFamily="34" charset="0"/>
                <a:ea typeface="Calibri" pitchFamily="34" charset="-122"/>
                <a:cs typeface="Calibri" pitchFamily="34" charset="-120"/>
              </a:rPr>
              <a:t>Presented by [name], [date]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Why this trial was needed</a:t>
            </a:r>
            <a:endParaRPr lang="en-US" sz="2300" dirty="0"/>
          </a:p>
        </p:txBody>
      </p:sp>
      <p:sp>
        <p:nvSpPr>
          <p:cNvPr id="5" name="Text 2"/>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450" dirty="0">
                <a:solidFill>
                  <a:srgbClr val="22343C"/>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450" dirty="0"/>
          </a:p>
        </p:txBody>
      </p:sp>
      <p:sp>
        <p:nvSpPr>
          <p:cNvPr id="6" name="Text 3"/>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None of that had been tested in CKD without diabetes.</a:t>
            </a:r>
            <a:endParaRPr lang="en-US" sz="1400" dirty="0"/>
          </a:p>
        </p:txBody>
      </p:sp>
      <p:sp>
        <p:nvSpPr>
          <p:cNvPr id="7" name="Shape 4"/>
          <p:cNvSpPr/>
          <p:nvPr/>
        </p:nvSpPr>
        <p:spPr>
          <a:xfrm>
            <a:off x="640080" y="5257800"/>
            <a:ext cx="10908792" cy="777240"/>
          </a:xfrm>
          <a:prstGeom prst="roundRect">
            <a:avLst>
              <a:gd name="adj" fmla="val 9412"/>
            </a:avLst>
          </a:prstGeom>
          <a:solidFill>
            <a:srgbClr val="E7F4F4"/>
          </a:solidFill>
          <a:ln/>
        </p:spPr>
      </p:sp>
      <p:sp>
        <p:nvSpPr>
          <p:cNvPr id="8" name="Text 5"/>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55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55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550" dirty="0"/>
          </a:p>
        </p:txBody>
      </p:sp>
      <p:sp>
        <p:nvSpPr>
          <p:cNvPr id="9" name="Text 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The rationale: a nonsteroidal MR antagonist</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450" dirty="0"/>
          </a:p>
        </p:txBody>
      </p:sp>
      <p:sp>
        <p:nvSpPr>
          <p:cNvPr id="6" name="Text 3"/>
          <p:cNvSpPr/>
          <p:nvPr/>
        </p:nvSpPr>
        <p:spPr>
          <a:xfrm>
            <a:off x="640080" y="16002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the mineralocorticoid receptor</a:t>
            </a:r>
            <a:endParaRPr lang="en-US" sz="1400" dirty="0"/>
          </a:p>
        </p:txBody>
      </p:sp>
      <p:sp>
        <p:nvSpPr>
          <p:cNvPr id="7" name="Text 4"/>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MR overactivation promotes sodium and fluid retention.</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A plausible driver of progression in non-diabetic CKD, not only diabetic disease.</a:t>
            </a:r>
            <a:endParaRPr lang="en-US" sz="1300" dirty="0"/>
          </a:p>
        </p:txBody>
      </p:sp>
      <p:sp>
        <p:nvSpPr>
          <p:cNvPr id="8" name="Text 5"/>
          <p:cNvSpPr/>
          <p:nvPr/>
        </p:nvSpPr>
        <p:spPr>
          <a:xfrm>
            <a:off x="6414516" y="16002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finerenone, not spironolactone</a:t>
            </a:r>
            <a:endParaRPr lang="en-US" sz="1400" dirty="0"/>
          </a:p>
        </p:txBody>
      </p:sp>
      <p:sp>
        <p:nvSpPr>
          <p:cNvPr id="9" name="Text 6"/>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In BARACK-D, over half of CKD patients stopped spironolactone within 6 months on safety grounds, mostly AKI and hyperkalemia.</a:t>
            </a:r>
            <a:endParaRPr lang="en-US" sz="1300" dirty="0"/>
          </a:p>
        </p:txBody>
      </p:sp>
      <p:sp>
        <p:nvSpPr>
          <p:cNvPr id="10" name="Text 7"/>
          <p:cNvSpPr/>
          <p:nvPr/>
        </p:nvSpPr>
        <p:spPr>
          <a:xfrm>
            <a:off x="640080" y="5577840"/>
            <a:ext cx="10908792" cy="457200"/>
          </a:xfrm>
          <a:prstGeom prst="rect">
            <a:avLst/>
          </a:prstGeom>
          <a:noFill/>
          <a:ln/>
        </p:spPr>
        <p:txBody>
          <a:bodyPr wrap="square" lIns="0" tIns="0" rIns="0" bIns="0" rtlCol="0" anchor="ctr"/>
          <a:lstStyle/>
          <a:p>
            <a:pPr indent="0" marL="0">
              <a:buNone/>
            </a:pPr>
            <a:r>
              <a:rPr lang="en-US" sz="1250" i="1" dirty="0">
                <a:solidFill>
                  <a:srgbClr val="6C7C84"/>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250" dirty="0"/>
          </a:p>
        </p:txBody>
      </p:sp>
      <p:sp>
        <p:nvSpPr>
          <p:cNvPr id="11" name="Text 8"/>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What we already knew: finerenone in diabetes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Every phase 3 finerenone kidney trial before FIND-CKD enrolled only patients with type 2 diabetes.</a:t>
            </a:r>
            <a:endParaRPr lang="en-US" sz="1300" dirty="0"/>
          </a:p>
        </p:txBody>
      </p:sp>
      <p:sp>
        <p:nvSpPr>
          <p:cNvPr id="6" name="Shape 3"/>
          <p:cNvSpPr/>
          <p:nvPr/>
        </p:nvSpPr>
        <p:spPr>
          <a:xfrm>
            <a:off x="640080" y="1554480"/>
            <a:ext cx="11055096" cy="457200"/>
          </a:xfrm>
          <a:prstGeom prst="rect">
            <a:avLst/>
          </a:prstGeom>
          <a:solidFill>
            <a:srgbClr val="0F3446"/>
          </a:solidFill>
          <a:ln/>
        </p:spPr>
      </p:sp>
      <p:sp>
        <p:nvSpPr>
          <p:cNvPr id="7" name="Text 4"/>
          <p:cNvSpPr/>
          <p:nvPr/>
        </p:nvSpPr>
        <p:spPr>
          <a:xfrm>
            <a:off x="749808" y="1554480"/>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Trial (year)</a:t>
            </a:r>
            <a:endParaRPr lang="en-US" sz="1200" dirty="0"/>
          </a:p>
        </p:txBody>
      </p:sp>
      <p:sp>
        <p:nvSpPr>
          <p:cNvPr id="8" name="Text 5"/>
          <p:cNvSpPr/>
          <p:nvPr/>
        </p:nvSpPr>
        <p:spPr>
          <a:xfrm>
            <a:off x="3401568" y="1554480"/>
            <a:ext cx="301752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Population</a:t>
            </a:r>
            <a:endParaRPr lang="en-US" sz="1200" dirty="0"/>
          </a:p>
        </p:txBody>
      </p:sp>
      <p:sp>
        <p:nvSpPr>
          <p:cNvPr id="9" name="Text 6"/>
          <p:cNvSpPr/>
          <p:nvPr/>
        </p:nvSpPr>
        <p:spPr>
          <a:xfrm>
            <a:off x="6601968" y="1554480"/>
            <a:ext cx="29260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Primary outcome</a:t>
            </a:r>
            <a:endParaRPr lang="en-US" sz="1200" dirty="0"/>
          </a:p>
        </p:txBody>
      </p:sp>
      <p:sp>
        <p:nvSpPr>
          <p:cNvPr id="10" name="Text 7"/>
          <p:cNvSpPr/>
          <p:nvPr/>
        </p:nvSpPr>
        <p:spPr>
          <a:xfrm>
            <a:off x="9710928" y="1554480"/>
            <a:ext cx="1911096"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11" name="Shape 8"/>
          <p:cNvSpPr/>
          <p:nvPr/>
        </p:nvSpPr>
        <p:spPr>
          <a:xfrm>
            <a:off x="640080" y="2761488"/>
            <a:ext cx="11055096" cy="0"/>
          </a:xfrm>
          <a:prstGeom prst="line">
            <a:avLst/>
          </a:prstGeom>
          <a:noFill/>
          <a:ln w="9525">
            <a:solidFill>
              <a:srgbClr val="CFDDDD"/>
            </a:solidFill>
            <a:prstDash val="solid"/>
          </a:ln>
        </p:spPr>
      </p:sp>
      <p:sp>
        <p:nvSpPr>
          <p:cNvPr id="12" name="Text 9"/>
          <p:cNvSpPr/>
          <p:nvPr/>
        </p:nvSpPr>
        <p:spPr>
          <a:xfrm>
            <a:off x="749808" y="2011680"/>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FIDELIO-DKD (2020)</a:t>
            </a:r>
            <a:endParaRPr lang="en-US" sz="1150" dirty="0"/>
          </a:p>
        </p:txBody>
      </p:sp>
      <p:sp>
        <p:nvSpPr>
          <p:cNvPr id="13" name="Text 10"/>
          <p:cNvSpPr/>
          <p:nvPr/>
        </p:nvSpPr>
        <p:spPr>
          <a:xfrm>
            <a:off x="3401568" y="2011680"/>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T2D + CKD, mostly UACR &gt;300; N=5674</a:t>
            </a:r>
            <a:endParaRPr lang="en-US" sz="1150" dirty="0"/>
          </a:p>
        </p:txBody>
      </p:sp>
      <p:sp>
        <p:nvSpPr>
          <p:cNvPr id="14" name="Text 11"/>
          <p:cNvSpPr/>
          <p:nvPr/>
        </p:nvSpPr>
        <p:spPr>
          <a:xfrm>
            <a:off x="6601968" y="2011680"/>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Kidney: kidney failure, sustained ≥40% eGFR decline, or renal death</a:t>
            </a:r>
            <a:endParaRPr lang="en-US" sz="1150" dirty="0"/>
          </a:p>
        </p:txBody>
      </p:sp>
      <p:sp>
        <p:nvSpPr>
          <p:cNvPr id="15" name="Text 12"/>
          <p:cNvSpPr/>
          <p:nvPr/>
        </p:nvSpPr>
        <p:spPr>
          <a:xfrm>
            <a:off x="9710928" y="2011680"/>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0.82 (0.73–0.93)</a:t>
            </a:r>
            <a:endParaRPr lang="en-US" sz="1150" dirty="0"/>
          </a:p>
        </p:txBody>
      </p:sp>
      <p:sp>
        <p:nvSpPr>
          <p:cNvPr id="16" name="Shape 13"/>
          <p:cNvSpPr/>
          <p:nvPr/>
        </p:nvSpPr>
        <p:spPr>
          <a:xfrm>
            <a:off x="640080" y="3511296"/>
            <a:ext cx="11055096" cy="0"/>
          </a:xfrm>
          <a:prstGeom prst="line">
            <a:avLst/>
          </a:prstGeom>
          <a:noFill/>
          <a:ln w="9525">
            <a:solidFill>
              <a:srgbClr val="CFDDDD"/>
            </a:solidFill>
            <a:prstDash val="solid"/>
          </a:ln>
        </p:spPr>
      </p:sp>
      <p:sp>
        <p:nvSpPr>
          <p:cNvPr id="17" name="Text 14"/>
          <p:cNvSpPr/>
          <p:nvPr/>
        </p:nvSpPr>
        <p:spPr>
          <a:xfrm>
            <a:off x="749808" y="2761488"/>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FIGARO-DKD (2021)</a:t>
            </a:r>
            <a:endParaRPr lang="en-US" sz="1150" dirty="0"/>
          </a:p>
        </p:txBody>
      </p:sp>
      <p:sp>
        <p:nvSpPr>
          <p:cNvPr id="18" name="Text 15"/>
          <p:cNvSpPr/>
          <p:nvPr/>
        </p:nvSpPr>
        <p:spPr>
          <a:xfrm>
            <a:off x="3401568" y="2761488"/>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T2D + CKD, earlier stage; N=7437</a:t>
            </a:r>
            <a:endParaRPr lang="en-US" sz="1150" dirty="0"/>
          </a:p>
        </p:txBody>
      </p:sp>
      <p:sp>
        <p:nvSpPr>
          <p:cNvPr id="19" name="Text 16"/>
          <p:cNvSpPr/>
          <p:nvPr/>
        </p:nvSpPr>
        <p:spPr>
          <a:xfrm>
            <a:off x="6601968" y="2761488"/>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CV: CV death, MI, stroke, or HF hospitalization</a:t>
            </a:r>
            <a:endParaRPr lang="en-US" sz="1150" dirty="0"/>
          </a:p>
        </p:txBody>
      </p:sp>
      <p:sp>
        <p:nvSpPr>
          <p:cNvPr id="20" name="Text 17"/>
          <p:cNvSpPr/>
          <p:nvPr/>
        </p:nvSpPr>
        <p:spPr>
          <a:xfrm>
            <a:off x="9710928" y="2761488"/>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0.87 (0.76–0.98)</a:t>
            </a:r>
            <a:endParaRPr lang="en-US" sz="1150" dirty="0"/>
          </a:p>
        </p:txBody>
      </p:sp>
      <p:sp>
        <p:nvSpPr>
          <p:cNvPr id="21" name="Shape 18"/>
          <p:cNvSpPr/>
          <p:nvPr/>
        </p:nvSpPr>
        <p:spPr>
          <a:xfrm>
            <a:off x="640080" y="4425696"/>
            <a:ext cx="11055096" cy="0"/>
          </a:xfrm>
          <a:prstGeom prst="line">
            <a:avLst/>
          </a:prstGeom>
          <a:noFill/>
          <a:ln w="9525">
            <a:solidFill>
              <a:srgbClr val="CFDDDD"/>
            </a:solidFill>
            <a:prstDash val="solid"/>
          </a:ln>
        </p:spPr>
      </p:sp>
      <p:sp>
        <p:nvSpPr>
          <p:cNvPr id="22" name="Text 19"/>
          <p:cNvSpPr/>
          <p:nvPr/>
        </p:nvSpPr>
        <p:spPr>
          <a:xfrm>
            <a:off x="749808" y="3511296"/>
            <a:ext cx="2468880" cy="91440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FIDELITY (2022)</a:t>
            </a:r>
            <a:endParaRPr lang="en-US" sz="1150" dirty="0"/>
          </a:p>
        </p:txBody>
      </p:sp>
      <p:sp>
        <p:nvSpPr>
          <p:cNvPr id="23" name="Text 20"/>
          <p:cNvSpPr/>
          <p:nvPr/>
        </p:nvSpPr>
        <p:spPr>
          <a:xfrm>
            <a:off x="3401568" y="3511296"/>
            <a:ext cx="3017520" cy="914400"/>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Pre-specified pooling; N=13,026</a:t>
            </a:r>
            <a:endParaRPr lang="en-US" sz="1150" dirty="0"/>
          </a:p>
        </p:txBody>
      </p:sp>
      <p:sp>
        <p:nvSpPr>
          <p:cNvPr id="24" name="Text 21"/>
          <p:cNvSpPr/>
          <p:nvPr/>
        </p:nvSpPr>
        <p:spPr>
          <a:xfrm>
            <a:off x="6601968" y="3511296"/>
            <a:ext cx="2926080" cy="914400"/>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CV composite / kidney composite (≥57% decline)</a:t>
            </a:r>
            <a:endParaRPr lang="en-US" sz="1150" dirty="0"/>
          </a:p>
        </p:txBody>
      </p:sp>
      <p:sp>
        <p:nvSpPr>
          <p:cNvPr id="25" name="Text 22"/>
          <p:cNvSpPr/>
          <p:nvPr/>
        </p:nvSpPr>
        <p:spPr>
          <a:xfrm>
            <a:off x="9710928" y="3511296"/>
            <a:ext cx="1911096" cy="914400"/>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CV 0.86 (0.78–0.95)</a:t>
            </a:r>
            <a:endParaRPr lang="en-US" sz="1150" dirty="0"/>
          </a:p>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Kidney 0.77 (0.67–0.88)</a:t>
            </a:r>
            <a:endParaRPr lang="en-US" sz="1150" dirty="0"/>
          </a:p>
        </p:txBody>
      </p:sp>
      <p:sp>
        <p:nvSpPr>
          <p:cNvPr id="26" name="Text 23"/>
          <p:cNvSpPr/>
          <p:nvPr/>
        </p:nvSpPr>
        <p:spPr>
          <a:xfrm>
            <a:off x="640080" y="4654296"/>
            <a:ext cx="10908792" cy="457200"/>
          </a:xfrm>
          <a:prstGeom prst="rect">
            <a:avLst/>
          </a:prstGeom>
          <a:noFill/>
          <a:ln/>
        </p:spPr>
        <p:txBody>
          <a:bodyPr wrap="square" lIns="0" tIns="0" rIns="0" bIns="0" rtlCol="0" anchor="ctr"/>
          <a:lstStyle/>
          <a:p>
            <a:pPr indent="0" marL="0">
              <a:buNone/>
            </a:pPr>
            <a:r>
              <a:rPr lang="en-US" sz="1350" i="1" dirty="0">
                <a:solidFill>
                  <a:srgbClr val="22343C"/>
                </a:solidFill>
                <a:latin typeface="Calibri" pitchFamily="34" charset="0"/>
                <a:ea typeface="Calibri" pitchFamily="34" charset="-122"/>
                <a:cs typeface="Calibri" pitchFamily="34" charset="-120"/>
              </a:rPr>
              <a:t>Consistent kidney and cardiovascular benefit, and a clear effect on eGFR slope, but only in diabetic CKD.</a:t>
            </a:r>
            <a:endParaRPr lang="en-US" sz="1350" dirty="0"/>
          </a:p>
        </p:txBody>
      </p:sp>
      <p:sp>
        <p:nvSpPr>
          <p:cNvPr id="27" name="Text 2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Trial design</a:t>
            </a:r>
            <a:endParaRPr lang="en-US" sz="2300" dirty="0"/>
          </a:p>
        </p:txBody>
      </p:sp>
      <p:sp>
        <p:nvSpPr>
          <p:cNvPr id="5" name="Text 2"/>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400" dirty="0">
                <a:solidFill>
                  <a:srgbClr val="22343C"/>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400" dirty="0"/>
          </a:p>
        </p:txBody>
      </p:sp>
      <p:sp>
        <p:nvSpPr>
          <p:cNvPr id="6" name="Shape 3"/>
          <p:cNvSpPr/>
          <p:nvPr/>
        </p:nvSpPr>
        <p:spPr>
          <a:xfrm>
            <a:off x="640080" y="1828800"/>
            <a:ext cx="3108960" cy="1051560"/>
          </a:xfrm>
          <a:prstGeom prst="roundRect">
            <a:avLst>
              <a:gd name="adj" fmla="val 6957"/>
            </a:avLst>
          </a:prstGeom>
          <a:solidFill>
            <a:srgbClr val="E7F4F4"/>
          </a:solidFill>
          <a:ln/>
        </p:spPr>
      </p:sp>
      <p:sp>
        <p:nvSpPr>
          <p:cNvPr id="7" name="Text 4"/>
          <p:cNvSpPr/>
          <p:nvPr/>
        </p:nvSpPr>
        <p:spPr>
          <a:xfrm>
            <a:off x="822960" y="1975104"/>
            <a:ext cx="2743200" cy="365760"/>
          </a:xfrm>
          <a:prstGeom prst="rect">
            <a:avLst/>
          </a:prstGeom>
          <a:noFill/>
          <a:ln/>
        </p:spPr>
        <p:txBody>
          <a:bodyPr wrap="square" lIns="0" tIns="0" rIns="0" bIns="0" rtlCol="0" anchor="ctr"/>
          <a:lstStyle/>
          <a:p>
            <a:pPr indent="0" marL="0">
              <a:buNone/>
            </a:pPr>
            <a:r>
              <a:rPr lang="en-US" sz="1500" b="1" dirty="0">
                <a:solidFill>
                  <a:srgbClr val="0F3446"/>
                </a:solidFill>
                <a:latin typeface="Calibri" pitchFamily="34" charset="0"/>
                <a:ea typeface="Calibri" pitchFamily="34" charset="-122"/>
                <a:cs typeface="Calibri" pitchFamily="34" charset="-120"/>
              </a:rPr>
              <a:t>3231 assessed</a:t>
            </a:r>
            <a:endParaRPr lang="en-US" sz="1500" dirty="0"/>
          </a:p>
        </p:txBody>
      </p:sp>
      <p:sp>
        <p:nvSpPr>
          <p:cNvPr id="8" name="Text 5"/>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6C7C84"/>
                </a:solidFill>
                <a:latin typeface="Calibri" pitchFamily="34" charset="0"/>
                <a:ea typeface="Calibri" pitchFamily="34" charset="-122"/>
                <a:cs typeface="Calibri" pitchFamily="34" charset="-120"/>
              </a:rPr>
              <a:t>Sept 2021 – May 2023</a:t>
            </a:r>
            <a:endParaRPr lang="en-US" sz="1050" dirty="0"/>
          </a:p>
        </p:txBody>
      </p:sp>
      <p:sp>
        <p:nvSpPr>
          <p:cNvPr id="9" name="Shape 6"/>
          <p:cNvSpPr/>
          <p:nvPr/>
        </p:nvSpPr>
        <p:spPr>
          <a:xfrm>
            <a:off x="3840480" y="2231136"/>
            <a:ext cx="384048" cy="256032"/>
          </a:xfrm>
          <a:prstGeom prst="rightArrow">
            <a:avLst/>
          </a:prstGeom>
          <a:solidFill>
            <a:srgbClr val="9AA7AD"/>
          </a:solidFill>
          <a:ln/>
        </p:spPr>
      </p:sp>
      <p:sp>
        <p:nvSpPr>
          <p:cNvPr id="10" name="Shape 7"/>
          <p:cNvSpPr/>
          <p:nvPr/>
        </p:nvSpPr>
        <p:spPr>
          <a:xfrm>
            <a:off x="4297680" y="1828800"/>
            <a:ext cx="3108960" cy="1051560"/>
          </a:xfrm>
          <a:prstGeom prst="roundRect">
            <a:avLst>
              <a:gd name="adj" fmla="val 6957"/>
            </a:avLst>
          </a:prstGeom>
          <a:solidFill>
            <a:srgbClr val="0F3446"/>
          </a:solidFill>
          <a:ln/>
        </p:spPr>
      </p:sp>
      <p:sp>
        <p:nvSpPr>
          <p:cNvPr id="11" name="Text 8"/>
          <p:cNvSpPr/>
          <p:nvPr/>
        </p:nvSpPr>
        <p:spPr>
          <a:xfrm>
            <a:off x="4480560" y="1975104"/>
            <a:ext cx="2743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1584 randomized</a:t>
            </a:r>
            <a:endParaRPr lang="en-US" sz="1500" dirty="0"/>
          </a:p>
        </p:txBody>
      </p:sp>
      <p:sp>
        <p:nvSpPr>
          <p:cNvPr id="12" name="Text 9"/>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D2E4E8"/>
                </a:solidFill>
                <a:latin typeface="Calibri" pitchFamily="34" charset="0"/>
                <a:ea typeface="Calibri" pitchFamily="34" charset="-122"/>
                <a:cs typeface="Calibri" pitchFamily="34" charset="-120"/>
              </a:rPr>
              <a:t>Full analysis set (all randomized)</a:t>
            </a:r>
            <a:endParaRPr lang="en-US" sz="1050" dirty="0"/>
          </a:p>
        </p:txBody>
      </p:sp>
      <p:sp>
        <p:nvSpPr>
          <p:cNvPr id="13" name="Shape 10"/>
          <p:cNvSpPr/>
          <p:nvPr/>
        </p:nvSpPr>
        <p:spPr>
          <a:xfrm>
            <a:off x="7498080" y="2231136"/>
            <a:ext cx="384048" cy="256032"/>
          </a:xfrm>
          <a:prstGeom prst="rightArrow">
            <a:avLst/>
          </a:prstGeom>
          <a:solidFill>
            <a:srgbClr val="9AA7AD"/>
          </a:solidFill>
          <a:ln/>
        </p:spPr>
      </p:sp>
      <p:sp>
        <p:nvSpPr>
          <p:cNvPr id="14" name="Shape 11"/>
          <p:cNvSpPr/>
          <p:nvPr/>
        </p:nvSpPr>
        <p:spPr>
          <a:xfrm>
            <a:off x="7955280" y="1828800"/>
            <a:ext cx="3593592" cy="457200"/>
          </a:xfrm>
          <a:prstGeom prst="roundRect">
            <a:avLst>
              <a:gd name="adj" fmla="val 12000"/>
            </a:avLst>
          </a:prstGeom>
          <a:solidFill>
            <a:srgbClr val="12A3A6"/>
          </a:solidFill>
          <a:ln/>
        </p:spPr>
      </p:sp>
      <p:sp>
        <p:nvSpPr>
          <p:cNvPr id="15" name="Text 12"/>
          <p:cNvSpPr/>
          <p:nvPr/>
        </p:nvSpPr>
        <p:spPr>
          <a:xfrm>
            <a:off x="8119872" y="182880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Finerenone  </a:t>
            </a:r>
            <a:pPr indent="0" marL="0">
              <a:buNone/>
            </a:pPr>
            <a:r>
              <a:rPr lang="en-US" sz="1250" dirty="0">
                <a:solidFill>
                  <a:srgbClr val="E7F4F4"/>
                </a:solidFill>
                <a:latin typeface="Calibri" pitchFamily="34" charset="0"/>
                <a:ea typeface="Calibri" pitchFamily="34" charset="-122"/>
                <a:cs typeface="Calibri" pitchFamily="34" charset="-120"/>
              </a:rPr>
              <a:t>793</a:t>
            </a:r>
            <a:endParaRPr lang="en-US" sz="1350" dirty="0"/>
          </a:p>
        </p:txBody>
      </p:sp>
      <p:sp>
        <p:nvSpPr>
          <p:cNvPr id="16" name="Shape 13"/>
          <p:cNvSpPr/>
          <p:nvPr/>
        </p:nvSpPr>
        <p:spPr>
          <a:xfrm>
            <a:off x="7955280" y="2423160"/>
            <a:ext cx="3593592" cy="457200"/>
          </a:xfrm>
          <a:prstGeom prst="roundRect">
            <a:avLst>
              <a:gd name="adj" fmla="val 12000"/>
            </a:avLst>
          </a:prstGeom>
          <a:solidFill>
            <a:srgbClr val="9AA7AD"/>
          </a:solidFill>
          <a:ln/>
        </p:spPr>
      </p:sp>
      <p:sp>
        <p:nvSpPr>
          <p:cNvPr id="17" name="Text 14"/>
          <p:cNvSpPr/>
          <p:nvPr/>
        </p:nvSpPr>
        <p:spPr>
          <a:xfrm>
            <a:off x="8119872" y="242316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Placebo  </a:t>
            </a:r>
            <a:pPr indent="0" marL="0">
              <a:buNone/>
            </a:pPr>
            <a:r>
              <a:rPr lang="en-US" sz="1250" dirty="0">
                <a:solidFill>
                  <a:srgbClr val="F1F5F6"/>
                </a:solidFill>
                <a:latin typeface="Calibri" pitchFamily="34" charset="0"/>
                <a:ea typeface="Calibri" pitchFamily="34" charset="-122"/>
                <a:cs typeface="Calibri" pitchFamily="34" charset="-120"/>
              </a:rPr>
              <a:t>791</a:t>
            </a:r>
            <a:endParaRPr lang="en-US" sz="1350" dirty="0"/>
          </a:p>
        </p:txBody>
      </p:sp>
      <p:sp>
        <p:nvSpPr>
          <p:cNvPr id="18" name="Text 15"/>
          <p:cNvSpPr/>
          <p:nvPr/>
        </p:nvSpPr>
        <p:spPr>
          <a:xfrm>
            <a:off x="640080" y="3383280"/>
            <a:ext cx="518007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Randomization &amp; stratification</a:t>
            </a:r>
            <a:endParaRPr lang="en-US" sz="1400" dirty="0"/>
          </a:p>
        </p:txBody>
      </p:sp>
      <p:sp>
        <p:nvSpPr>
          <p:cNvPr id="19" name="Text 16"/>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Baseline SGLT2 inhibitor use (yes vs. no)</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Screening UACR (≤1000 vs. &gt;1000 mg/g)</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Treatment-policy estimand: eGFR after stopping the regimen still counted in the analysis.</a:t>
            </a:r>
            <a:endParaRPr lang="en-US" sz="1250" dirty="0"/>
          </a:p>
        </p:txBody>
      </p:sp>
      <p:sp>
        <p:nvSpPr>
          <p:cNvPr id="20" name="Text 17"/>
          <p:cNvSpPr/>
          <p:nvPr/>
        </p:nvSpPr>
        <p:spPr>
          <a:xfrm>
            <a:off x="6368796" y="3383280"/>
            <a:ext cx="518007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Oversight</a:t>
            </a:r>
            <a:endParaRPr lang="en-US" sz="1400" dirty="0"/>
          </a:p>
        </p:txBody>
      </p:sp>
      <p:sp>
        <p:nvSpPr>
          <p:cNvPr id="21" name="Text 18"/>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Designed by the steering committee and Bayer (sponsor).</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Independent data and safety monitoring committee throughout.</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Sponsor analyses re-run independently at UMC Groningen on the original data.</a:t>
            </a:r>
            <a:endParaRPr lang="en-US" sz="1250" dirty="0"/>
          </a:p>
        </p:txBody>
      </p:sp>
      <p:sp>
        <p:nvSpPr>
          <p:cNvPr id="22" name="Text 19"/>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Who was studied</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Key inclusion criteria</a:t>
            </a:r>
            <a:endParaRPr lang="en-US" sz="1400" dirty="0"/>
          </a:p>
        </p:txBody>
      </p:sp>
      <p:sp>
        <p:nvSpPr>
          <p:cNvPr id="6" name="Text 3"/>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Adults with a clinical diagnosis of CKD, without diabetes</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eGFR 25 to &lt;60 with UACR 200–500 mg/g, or eGFR 25 to &lt;90 with UACR 500–3500 mg/g</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On a stable ACE inhibitor or ARB for ≥4 weeks</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Serum potassium ≤4.8 mmol/L at screening</a:t>
            </a:r>
            <a:endParaRPr lang="en-US" sz="135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E86A44"/>
                </a:solidFill>
                <a:latin typeface="Calibri" pitchFamily="34" charset="0"/>
                <a:ea typeface="Calibri" pitchFamily="34" charset="-122"/>
                <a:cs typeface="Calibri" pitchFamily="34" charset="-120"/>
              </a:rPr>
              <a:t>Key exclusion criteria</a:t>
            </a:r>
            <a:endParaRPr lang="en-US" sz="1400" dirty="0"/>
          </a:p>
        </p:txBody>
      </p:sp>
      <p:sp>
        <p:nvSpPr>
          <p:cNvPr id="8" name="Text 5"/>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Type 1 or type 2 diabetes, or HbA1c ≥6.5%</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Indication for a steroidal MRA</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Polycystic kidney disease</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Lupus nephritis or ANCA-associated vasculitis</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Immunosuppression within the prior 6 months</a:t>
            </a:r>
            <a:endParaRPr lang="en-US" sz="1350" dirty="0"/>
          </a:p>
        </p:txBody>
      </p:sp>
      <p:sp>
        <p:nvSpPr>
          <p:cNvPr id="9" name="Shape 6"/>
          <p:cNvSpPr/>
          <p:nvPr/>
        </p:nvSpPr>
        <p:spPr>
          <a:xfrm>
            <a:off x="640080" y="5349240"/>
            <a:ext cx="10908792" cy="731520"/>
          </a:xfrm>
          <a:prstGeom prst="roundRect">
            <a:avLst>
              <a:gd name="adj" fmla="val 10000"/>
            </a:avLst>
          </a:prstGeom>
          <a:solidFill>
            <a:srgbClr val="E7F4F4"/>
          </a:solidFill>
          <a:ln/>
        </p:spPr>
      </p:sp>
      <p:sp>
        <p:nvSpPr>
          <p:cNvPr id="10" name="Text 7"/>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250" i="1" dirty="0">
                <a:solidFill>
                  <a:srgbClr val="22343C"/>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250" dirty="0"/>
          </a:p>
        </p:txBody>
      </p:sp>
      <p:sp>
        <p:nvSpPr>
          <p:cNvPr id="11" name="Text 8"/>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Baseline characteristics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Well balanced between the two groups (n = 1584).</a:t>
            </a:r>
            <a:endParaRPr lang="en-US" sz="1300" dirty="0"/>
          </a:p>
        </p:txBody>
      </p:sp>
      <p:sp>
        <p:nvSpPr>
          <p:cNvPr id="6" name="Shape 3"/>
          <p:cNvSpPr/>
          <p:nvPr/>
        </p:nvSpPr>
        <p:spPr>
          <a:xfrm>
            <a:off x="640080" y="1417320"/>
            <a:ext cx="10908792" cy="420624"/>
          </a:xfrm>
          <a:prstGeom prst="rect">
            <a:avLst/>
          </a:prstGeom>
          <a:solidFill>
            <a:srgbClr val="0F3446"/>
          </a:solidFill>
          <a:ln/>
        </p:spPr>
      </p:sp>
      <p:sp>
        <p:nvSpPr>
          <p:cNvPr id="7" name="Text 4"/>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p>
        </p:txBody>
      </p:sp>
      <p:sp>
        <p:nvSpPr>
          <p:cNvPr id="8" name="Text 5"/>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Finerenone (n=793)</a:t>
            </a:r>
            <a:endParaRPr lang="en-US" sz="1200" dirty="0"/>
          </a:p>
        </p:txBody>
      </p:sp>
      <p:sp>
        <p:nvSpPr>
          <p:cNvPr id="9" name="Text 6"/>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Placebo (n=791)</a:t>
            </a:r>
            <a:endParaRPr lang="en-US" sz="1200" dirty="0"/>
          </a:p>
        </p:txBody>
      </p:sp>
      <p:sp>
        <p:nvSpPr>
          <p:cNvPr id="10" name="Shape 7"/>
          <p:cNvSpPr/>
          <p:nvPr/>
        </p:nvSpPr>
        <p:spPr>
          <a:xfrm>
            <a:off x="640080" y="2203704"/>
            <a:ext cx="10908792" cy="0"/>
          </a:xfrm>
          <a:prstGeom prst="line">
            <a:avLst/>
          </a:prstGeom>
          <a:noFill/>
          <a:ln w="9525">
            <a:solidFill>
              <a:srgbClr val="CFDDDD"/>
            </a:solidFill>
            <a:prstDash val="solid"/>
          </a:ln>
        </p:spPr>
      </p:sp>
      <p:sp>
        <p:nvSpPr>
          <p:cNvPr id="11" name="Text 8"/>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Age, yr</a:t>
            </a:r>
            <a:endParaRPr lang="en-US" sz="1150" dirty="0"/>
          </a:p>
        </p:txBody>
      </p:sp>
      <p:sp>
        <p:nvSpPr>
          <p:cNvPr id="12" name="Text 9"/>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54.5</a:t>
            </a:r>
            <a:endParaRPr lang="en-US" sz="1150" dirty="0"/>
          </a:p>
        </p:txBody>
      </p:sp>
      <p:sp>
        <p:nvSpPr>
          <p:cNvPr id="13" name="Text 10"/>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54.8</a:t>
            </a:r>
            <a:endParaRPr lang="en-US" sz="1150" dirty="0"/>
          </a:p>
        </p:txBody>
      </p:sp>
      <p:sp>
        <p:nvSpPr>
          <p:cNvPr id="14" name="Shape 11"/>
          <p:cNvSpPr/>
          <p:nvPr/>
        </p:nvSpPr>
        <p:spPr>
          <a:xfrm>
            <a:off x="640080" y="2569464"/>
            <a:ext cx="10908792" cy="0"/>
          </a:xfrm>
          <a:prstGeom prst="line">
            <a:avLst/>
          </a:prstGeom>
          <a:noFill/>
          <a:ln w="9525">
            <a:solidFill>
              <a:srgbClr val="CFDDDD"/>
            </a:solidFill>
            <a:prstDash val="solid"/>
          </a:ln>
        </p:spPr>
      </p:sp>
      <p:sp>
        <p:nvSpPr>
          <p:cNvPr id="15" name="Text 12"/>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Female, n (%)</a:t>
            </a:r>
            <a:endParaRPr lang="en-US" sz="1150" dirty="0"/>
          </a:p>
        </p:txBody>
      </p:sp>
      <p:sp>
        <p:nvSpPr>
          <p:cNvPr id="16" name="Text 13"/>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275 (34.7)</a:t>
            </a:r>
            <a:endParaRPr lang="en-US" sz="1150" dirty="0"/>
          </a:p>
        </p:txBody>
      </p:sp>
      <p:sp>
        <p:nvSpPr>
          <p:cNvPr id="17" name="Text 14"/>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260 (32.9)</a:t>
            </a:r>
            <a:endParaRPr lang="en-US" sz="1150" dirty="0"/>
          </a:p>
        </p:txBody>
      </p:sp>
      <p:sp>
        <p:nvSpPr>
          <p:cNvPr id="18" name="Shape 15"/>
          <p:cNvSpPr/>
          <p:nvPr/>
        </p:nvSpPr>
        <p:spPr>
          <a:xfrm>
            <a:off x="640080" y="2935224"/>
            <a:ext cx="10908792" cy="0"/>
          </a:xfrm>
          <a:prstGeom prst="line">
            <a:avLst/>
          </a:prstGeom>
          <a:noFill/>
          <a:ln w="9525">
            <a:solidFill>
              <a:srgbClr val="CFDDDD"/>
            </a:solidFill>
            <a:prstDash val="solid"/>
          </a:ln>
        </p:spPr>
      </p:sp>
      <p:sp>
        <p:nvSpPr>
          <p:cNvPr id="19" name="Text 16"/>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eGFR, ml/min/1.73 m²</a:t>
            </a:r>
            <a:endParaRPr lang="en-US" sz="1150" dirty="0"/>
          </a:p>
        </p:txBody>
      </p:sp>
      <p:sp>
        <p:nvSpPr>
          <p:cNvPr id="20" name="Text 17"/>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46.8</a:t>
            </a:r>
            <a:endParaRPr lang="en-US" sz="1150" dirty="0"/>
          </a:p>
        </p:txBody>
      </p:sp>
      <p:sp>
        <p:nvSpPr>
          <p:cNvPr id="21" name="Text 18"/>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46.6</a:t>
            </a:r>
            <a:endParaRPr lang="en-US" sz="1150" dirty="0"/>
          </a:p>
        </p:txBody>
      </p:sp>
      <p:sp>
        <p:nvSpPr>
          <p:cNvPr id="22" name="Shape 19"/>
          <p:cNvSpPr/>
          <p:nvPr/>
        </p:nvSpPr>
        <p:spPr>
          <a:xfrm>
            <a:off x="640080" y="3300984"/>
            <a:ext cx="10908792" cy="0"/>
          </a:xfrm>
          <a:prstGeom prst="line">
            <a:avLst/>
          </a:prstGeom>
          <a:noFill/>
          <a:ln w="9525">
            <a:solidFill>
              <a:srgbClr val="CFDDDD"/>
            </a:solidFill>
            <a:prstDash val="solid"/>
          </a:ln>
        </p:spPr>
      </p:sp>
      <p:sp>
        <p:nvSpPr>
          <p:cNvPr id="23" name="Text 20"/>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eGFR &lt;60 ml/min/1.73 m², %</a:t>
            </a:r>
            <a:endParaRPr lang="en-US" sz="1150" dirty="0"/>
          </a:p>
        </p:txBody>
      </p:sp>
      <p:sp>
        <p:nvSpPr>
          <p:cNvPr id="24" name="Text 21"/>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79.6</a:t>
            </a:r>
            <a:endParaRPr lang="en-US" sz="1150" dirty="0"/>
          </a:p>
        </p:txBody>
      </p:sp>
      <p:sp>
        <p:nvSpPr>
          <p:cNvPr id="25" name="Text 22"/>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80.4</a:t>
            </a:r>
            <a:endParaRPr lang="en-US" sz="1150" dirty="0"/>
          </a:p>
        </p:txBody>
      </p:sp>
      <p:sp>
        <p:nvSpPr>
          <p:cNvPr id="26" name="Shape 23"/>
          <p:cNvSpPr/>
          <p:nvPr/>
        </p:nvSpPr>
        <p:spPr>
          <a:xfrm>
            <a:off x="640080" y="3666744"/>
            <a:ext cx="10908792" cy="0"/>
          </a:xfrm>
          <a:prstGeom prst="line">
            <a:avLst/>
          </a:prstGeom>
          <a:noFill/>
          <a:ln w="9525">
            <a:solidFill>
              <a:srgbClr val="CFDDDD"/>
            </a:solidFill>
            <a:prstDash val="solid"/>
          </a:ln>
        </p:spPr>
      </p:sp>
      <p:sp>
        <p:nvSpPr>
          <p:cNvPr id="27" name="Text 24"/>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UACR, median (mg/g)</a:t>
            </a:r>
            <a:endParaRPr lang="en-US" sz="1150" dirty="0"/>
          </a:p>
        </p:txBody>
      </p:sp>
      <p:sp>
        <p:nvSpPr>
          <p:cNvPr id="28" name="Text 25"/>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827.5</a:t>
            </a:r>
            <a:endParaRPr lang="en-US" sz="1150" dirty="0"/>
          </a:p>
        </p:txBody>
      </p:sp>
      <p:sp>
        <p:nvSpPr>
          <p:cNvPr id="29" name="Text 26"/>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810.7</a:t>
            </a:r>
            <a:endParaRPr lang="en-US" sz="1150" dirty="0"/>
          </a:p>
        </p:txBody>
      </p:sp>
      <p:sp>
        <p:nvSpPr>
          <p:cNvPr id="30" name="Shape 27"/>
          <p:cNvSpPr/>
          <p:nvPr/>
        </p:nvSpPr>
        <p:spPr>
          <a:xfrm>
            <a:off x="640080" y="4032504"/>
            <a:ext cx="10908792" cy="0"/>
          </a:xfrm>
          <a:prstGeom prst="line">
            <a:avLst/>
          </a:prstGeom>
          <a:noFill/>
          <a:ln w="9525">
            <a:solidFill>
              <a:srgbClr val="CFDDDD"/>
            </a:solidFill>
            <a:prstDash val="solid"/>
          </a:ln>
        </p:spPr>
      </p:sp>
      <p:sp>
        <p:nvSpPr>
          <p:cNvPr id="31" name="Text 28"/>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UACR &gt;1000 mg/g, %</a:t>
            </a:r>
            <a:endParaRPr lang="en-US" sz="1150" dirty="0"/>
          </a:p>
        </p:txBody>
      </p:sp>
      <p:sp>
        <p:nvSpPr>
          <p:cNvPr id="32" name="Text 29"/>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39.1</a:t>
            </a:r>
            <a:endParaRPr lang="en-US" sz="1150" dirty="0"/>
          </a:p>
        </p:txBody>
      </p:sp>
      <p:sp>
        <p:nvSpPr>
          <p:cNvPr id="33" name="Text 30"/>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35.7</a:t>
            </a:r>
            <a:endParaRPr lang="en-US" sz="1150" dirty="0"/>
          </a:p>
        </p:txBody>
      </p:sp>
      <p:sp>
        <p:nvSpPr>
          <p:cNvPr id="34" name="Shape 31"/>
          <p:cNvSpPr/>
          <p:nvPr/>
        </p:nvSpPr>
        <p:spPr>
          <a:xfrm>
            <a:off x="640080" y="4398264"/>
            <a:ext cx="10908792" cy="0"/>
          </a:xfrm>
          <a:prstGeom prst="line">
            <a:avLst/>
          </a:prstGeom>
          <a:noFill/>
          <a:ln w="9525">
            <a:solidFill>
              <a:srgbClr val="CFDDDD"/>
            </a:solidFill>
            <a:prstDash val="solid"/>
          </a:ln>
        </p:spPr>
      </p:sp>
      <p:sp>
        <p:nvSpPr>
          <p:cNvPr id="35" name="Text 32"/>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Chronic glomerulonephritis, %</a:t>
            </a:r>
            <a:endParaRPr lang="en-US" sz="1150" dirty="0"/>
          </a:p>
        </p:txBody>
      </p:sp>
      <p:sp>
        <p:nvSpPr>
          <p:cNvPr id="36" name="Text 33"/>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56.2</a:t>
            </a:r>
            <a:endParaRPr lang="en-US" sz="1150" dirty="0"/>
          </a:p>
        </p:txBody>
      </p:sp>
      <p:sp>
        <p:nvSpPr>
          <p:cNvPr id="37" name="Text 34"/>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57.8</a:t>
            </a:r>
            <a:endParaRPr lang="en-US" sz="1150" dirty="0"/>
          </a:p>
        </p:txBody>
      </p:sp>
      <p:sp>
        <p:nvSpPr>
          <p:cNvPr id="38" name="Shape 35"/>
          <p:cNvSpPr/>
          <p:nvPr/>
        </p:nvSpPr>
        <p:spPr>
          <a:xfrm>
            <a:off x="640080" y="4764024"/>
            <a:ext cx="10908792" cy="0"/>
          </a:xfrm>
          <a:prstGeom prst="line">
            <a:avLst/>
          </a:prstGeom>
          <a:noFill/>
          <a:ln w="9525">
            <a:solidFill>
              <a:srgbClr val="CFDDDD"/>
            </a:solidFill>
            <a:prstDash val="solid"/>
          </a:ln>
        </p:spPr>
      </p:sp>
      <p:sp>
        <p:nvSpPr>
          <p:cNvPr id="39" name="Text 36"/>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RAS inhibitor, %</a:t>
            </a:r>
            <a:endParaRPr lang="en-US" sz="1150" dirty="0"/>
          </a:p>
        </p:txBody>
      </p:sp>
      <p:sp>
        <p:nvSpPr>
          <p:cNvPr id="40" name="Text 37"/>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99.6</a:t>
            </a:r>
            <a:endParaRPr lang="en-US" sz="1150" dirty="0"/>
          </a:p>
        </p:txBody>
      </p:sp>
      <p:sp>
        <p:nvSpPr>
          <p:cNvPr id="41" name="Text 38"/>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99.7</a:t>
            </a:r>
            <a:endParaRPr lang="en-US" sz="1150" dirty="0"/>
          </a:p>
        </p:txBody>
      </p:sp>
      <p:sp>
        <p:nvSpPr>
          <p:cNvPr id="42" name="Shape 39"/>
          <p:cNvSpPr/>
          <p:nvPr/>
        </p:nvSpPr>
        <p:spPr>
          <a:xfrm>
            <a:off x="640080" y="5129784"/>
            <a:ext cx="10908792" cy="0"/>
          </a:xfrm>
          <a:prstGeom prst="line">
            <a:avLst/>
          </a:prstGeom>
          <a:noFill/>
          <a:ln w="9525">
            <a:solidFill>
              <a:srgbClr val="CFDDDD"/>
            </a:solidFill>
            <a:prstDash val="solid"/>
          </a:ln>
        </p:spPr>
      </p:sp>
      <p:sp>
        <p:nvSpPr>
          <p:cNvPr id="43" name="Text 40"/>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SGLT2 inhibitor, %</a:t>
            </a:r>
            <a:endParaRPr lang="en-US" sz="1150" dirty="0"/>
          </a:p>
        </p:txBody>
      </p:sp>
      <p:sp>
        <p:nvSpPr>
          <p:cNvPr id="44" name="Text 41"/>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17.0</a:t>
            </a:r>
            <a:endParaRPr lang="en-US" sz="1150" dirty="0"/>
          </a:p>
        </p:txBody>
      </p:sp>
      <p:sp>
        <p:nvSpPr>
          <p:cNvPr id="45" name="Text 42"/>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17.1</a:t>
            </a:r>
            <a:endParaRPr lang="en-US" sz="1150" dirty="0"/>
          </a:p>
        </p:txBody>
      </p:sp>
      <p:sp>
        <p:nvSpPr>
          <p:cNvPr id="46" name="Text 43"/>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250" i="1" dirty="0">
                <a:solidFill>
                  <a:srgbClr val="6C7C84"/>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250" dirty="0"/>
          </a:p>
        </p:txBody>
      </p:sp>
      <p:sp>
        <p:nvSpPr>
          <p:cNvPr id="47" name="Text 4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Intervention, dosing and potassium management</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Starting dose by screening eGFR</a:t>
            </a:r>
            <a:endParaRPr lang="en-US" sz="1400" dirty="0"/>
          </a:p>
        </p:txBody>
      </p:sp>
      <p:sp>
        <p:nvSpPr>
          <p:cNvPr id="6" name="Shape 3"/>
          <p:cNvSpPr/>
          <p:nvPr/>
        </p:nvSpPr>
        <p:spPr>
          <a:xfrm>
            <a:off x="640080" y="1600200"/>
            <a:ext cx="5577840" cy="420624"/>
          </a:xfrm>
          <a:prstGeom prst="rect">
            <a:avLst/>
          </a:prstGeom>
          <a:solidFill>
            <a:srgbClr val="0F3446"/>
          </a:solidFill>
          <a:ln/>
        </p:spPr>
      </p:sp>
      <p:sp>
        <p:nvSpPr>
          <p:cNvPr id="7" name="Text 4"/>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Screening eGFR</a:t>
            </a:r>
            <a:endParaRPr lang="en-US" sz="1200" dirty="0"/>
          </a:p>
        </p:txBody>
      </p:sp>
      <p:sp>
        <p:nvSpPr>
          <p:cNvPr id="8" name="Text 5"/>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Starting dose</a:t>
            </a:r>
            <a:endParaRPr lang="en-US" sz="1200" dirty="0"/>
          </a:p>
        </p:txBody>
      </p:sp>
      <p:sp>
        <p:nvSpPr>
          <p:cNvPr id="9" name="Shape 6"/>
          <p:cNvSpPr/>
          <p:nvPr/>
        </p:nvSpPr>
        <p:spPr>
          <a:xfrm>
            <a:off x="640080" y="2478024"/>
            <a:ext cx="5577840" cy="0"/>
          </a:xfrm>
          <a:prstGeom prst="line">
            <a:avLst/>
          </a:prstGeom>
          <a:noFill/>
          <a:ln w="9525">
            <a:solidFill>
              <a:srgbClr val="CFDDDD"/>
            </a:solidFill>
            <a:prstDash val="solid"/>
          </a:ln>
        </p:spPr>
      </p:sp>
      <p:sp>
        <p:nvSpPr>
          <p:cNvPr id="10" name="Text 7"/>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 60 ml/min/1.73 m²</a:t>
            </a:r>
            <a:endParaRPr lang="en-US" sz="1250" dirty="0"/>
          </a:p>
        </p:txBody>
      </p:sp>
      <p:sp>
        <p:nvSpPr>
          <p:cNvPr id="11" name="Text 8"/>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2343C"/>
                </a:solidFill>
                <a:latin typeface="Calibri" pitchFamily="34" charset="0"/>
                <a:ea typeface="Calibri" pitchFamily="34" charset="-122"/>
                <a:cs typeface="Calibri" pitchFamily="34" charset="-120"/>
              </a:rPr>
              <a:t>20 mg once daily</a:t>
            </a:r>
            <a:endParaRPr lang="en-US" sz="1250" dirty="0"/>
          </a:p>
        </p:txBody>
      </p:sp>
      <p:sp>
        <p:nvSpPr>
          <p:cNvPr id="12" name="Shape 9"/>
          <p:cNvSpPr/>
          <p:nvPr/>
        </p:nvSpPr>
        <p:spPr>
          <a:xfrm>
            <a:off x="640080" y="2935224"/>
            <a:ext cx="5577840" cy="0"/>
          </a:xfrm>
          <a:prstGeom prst="line">
            <a:avLst/>
          </a:prstGeom>
          <a:noFill/>
          <a:ln w="9525">
            <a:solidFill>
              <a:srgbClr val="CFDDDD"/>
            </a:solidFill>
            <a:prstDash val="solid"/>
          </a:ln>
        </p:spPr>
      </p:sp>
      <p:sp>
        <p:nvSpPr>
          <p:cNvPr id="13" name="Text 10"/>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25 to &lt;60 ml/min/1.73 m²</a:t>
            </a:r>
            <a:endParaRPr lang="en-US" sz="1250" dirty="0"/>
          </a:p>
        </p:txBody>
      </p:sp>
      <p:sp>
        <p:nvSpPr>
          <p:cNvPr id="14" name="Text 11"/>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2343C"/>
                </a:solidFill>
                <a:latin typeface="Calibri" pitchFamily="34" charset="0"/>
                <a:ea typeface="Calibri" pitchFamily="34" charset="-122"/>
                <a:cs typeface="Calibri" pitchFamily="34" charset="-120"/>
              </a:rPr>
              <a:t>10 mg once daily</a:t>
            </a:r>
            <a:endParaRPr lang="en-US" sz="1250" dirty="0"/>
          </a:p>
        </p:txBody>
      </p:sp>
      <p:sp>
        <p:nvSpPr>
          <p:cNvPr id="15" name="Text 12"/>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Up-titrate 10 → 20 mg from month 1 if K⁺ ≤4.8 and eGFR is stable.</a:t>
            </a:r>
            <a:endParaRPr lang="en-US" sz="1200" dirty="0"/>
          </a:p>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K⁺ &gt;5.5 mmol/L: withhold for 72 h; restart at 10 mg once K⁺ ≤5.0.</a:t>
            </a:r>
            <a:endParaRPr lang="en-US" sz="1200" dirty="0"/>
          </a:p>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Central-lab potassium at every visit; dose reducible any time for safety.</a:t>
            </a:r>
            <a:endParaRPr lang="en-US" sz="1200" dirty="0"/>
          </a:p>
        </p:txBody>
      </p:sp>
      <p:sp>
        <p:nvSpPr>
          <p:cNvPr id="16" name="Text 13"/>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Visit schedule</a:t>
            </a:r>
            <a:endParaRPr lang="en-US" sz="1400" dirty="0"/>
          </a:p>
        </p:txBody>
      </p:sp>
      <p:sp>
        <p:nvSpPr>
          <p:cNvPr id="17" name="Text 14"/>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250" dirty="0">
                <a:solidFill>
                  <a:srgbClr val="22343C"/>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250" dirty="0"/>
          </a:p>
        </p:txBody>
      </p:sp>
      <p:sp>
        <p:nvSpPr>
          <p:cNvPr id="18" name="Shape 15"/>
          <p:cNvSpPr/>
          <p:nvPr/>
        </p:nvSpPr>
        <p:spPr>
          <a:xfrm>
            <a:off x="6414516" y="3246120"/>
            <a:ext cx="5134356" cy="0"/>
          </a:xfrm>
          <a:prstGeom prst="line">
            <a:avLst/>
          </a:prstGeom>
          <a:noFill/>
          <a:ln w="25400">
            <a:solidFill>
              <a:srgbClr val="9AA7AD"/>
            </a:solidFill>
            <a:prstDash val="solid"/>
          </a:ln>
        </p:spPr>
      </p:sp>
      <p:sp>
        <p:nvSpPr>
          <p:cNvPr id="19" name="Shape 16"/>
          <p:cNvSpPr/>
          <p:nvPr/>
        </p:nvSpPr>
        <p:spPr>
          <a:xfrm>
            <a:off x="6364224" y="3195828"/>
            <a:ext cx="100584" cy="100584"/>
          </a:xfrm>
          <a:prstGeom prst="ellipse">
            <a:avLst/>
          </a:prstGeom>
          <a:solidFill>
            <a:srgbClr val="12A3A6"/>
          </a:solidFill>
          <a:ln/>
        </p:spPr>
      </p:sp>
      <p:sp>
        <p:nvSpPr>
          <p:cNvPr id="20" name="Text 17"/>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Base</a:t>
            </a:r>
            <a:endParaRPr lang="en-US" sz="900" dirty="0"/>
          </a:p>
        </p:txBody>
      </p:sp>
      <p:sp>
        <p:nvSpPr>
          <p:cNvPr id="21" name="Shape 18"/>
          <p:cNvSpPr/>
          <p:nvPr/>
        </p:nvSpPr>
        <p:spPr>
          <a:xfrm>
            <a:off x="7097703" y="3195828"/>
            <a:ext cx="100584" cy="100584"/>
          </a:xfrm>
          <a:prstGeom prst="ellipse">
            <a:avLst/>
          </a:prstGeom>
          <a:solidFill>
            <a:srgbClr val="12A3A6"/>
          </a:solidFill>
          <a:ln/>
        </p:spPr>
      </p:sp>
      <p:sp>
        <p:nvSpPr>
          <p:cNvPr id="22" name="Text 19"/>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M1</a:t>
            </a:r>
            <a:endParaRPr lang="en-US" sz="900" dirty="0"/>
          </a:p>
        </p:txBody>
      </p:sp>
      <p:sp>
        <p:nvSpPr>
          <p:cNvPr id="23" name="Shape 20"/>
          <p:cNvSpPr/>
          <p:nvPr/>
        </p:nvSpPr>
        <p:spPr>
          <a:xfrm>
            <a:off x="7831183" y="3195828"/>
            <a:ext cx="100584" cy="100584"/>
          </a:xfrm>
          <a:prstGeom prst="ellipse">
            <a:avLst/>
          </a:prstGeom>
          <a:solidFill>
            <a:srgbClr val="12A3A6"/>
          </a:solidFill>
          <a:ln/>
        </p:spPr>
      </p:sp>
      <p:sp>
        <p:nvSpPr>
          <p:cNvPr id="24" name="Text 21"/>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M3</a:t>
            </a:r>
            <a:endParaRPr lang="en-US" sz="900" dirty="0"/>
          </a:p>
        </p:txBody>
      </p:sp>
      <p:sp>
        <p:nvSpPr>
          <p:cNvPr id="25" name="Shape 22"/>
          <p:cNvSpPr/>
          <p:nvPr/>
        </p:nvSpPr>
        <p:spPr>
          <a:xfrm>
            <a:off x="8564662" y="3195828"/>
            <a:ext cx="100584" cy="100584"/>
          </a:xfrm>
          <a:prstGeom prst="ellipse">
            <a:avLst/>
          </a:prstGeom>
          <a:solidFill>
            <a:srgbClr val="12A3A6"/>
          </a:solidFill>
          <a:ln/>
        </p:spPr>
      </p:sp>
      <p:sp>
        <p:nvSpPr>
          <p:cNvPr id="26" name="Text 23"/>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M6</a:t>
            </a:r>
            <a:endParaRPr lang="en-US" sz="900" dirty="0"/>
          </a:p>
        </p:txBody>
      </p:sp>
      <p:sp>
        <p:nvSpPr>
          <p:cNvPr id="27" name="Shape 24"/>
          <p:cNvSpPr/>
          <p:nvPr/>
        </p:nvSpPr>
        <p:spPr>
          <a:xfrm>
            <a:off x="9298142" y="3195828"/>
            <a:ext cx="100584" cy="100584"/>
          </a:xfrm>
          <a:prstGeom prst="ellipse">
            <a:avLst/>
          </a:prstGeom>
          <a:solidFill>
            <a:srgbClr val="12A3A6"/>
          </a:solidFill>
          <a:ln/>
        </p:spPr>
      </p:sp>
      <p:sp>
        <p:nvSpPr>
          <p:cNvPr id="28" name="Text 25"/>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M12</a:t>
            </a:r>
            <a:endParaRPr lang="en-US" sz="900" dirty="0"/>
          </a:p>
        </p:txBody>
      </p:sp>
      <p:sp>
        <p:nvSpPr>
          <p:cNvPr id="29" name="Shape 26"/>
          <p:cNvSpPr/>
          <p:nvPr/>
        </p:nvSpPr>
        <p:spPr>
          <a:xfrm>
            <a:off x="10031621" y="3195828"/>
            <a:ext cx="100584" cy="100584"/>
          </a:xfrm>
          <a:prstGeom prst="ellipse">
            <a:avLst/>
          </a:prstGeom>
          <a:solidFill>
            <a:srgbClr val="12A3A6"/>
          </a:solidFill>
          <a:ln/>
        </p:spPr>
      </p:sp>
      <p:sp>
        <p:nvSpPr>
          <p:cNvPr id="30" name="Text 27"/>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q4mo</a:t>
            </a:r>
            <a:endParaRPr lang="en-US" sz="900" dirty="0"/>
          </a:p>
        </p:txBody>
      </p:sp>
      <p:sp>
        <p:nvSpPr>
          <p:cNvPr id="31" name="Shape 28"/>
          <p:cNvSpPr/>
          <p:nvPr/>
        </p:nvSpPr>
        <p:spPr>
          <a:xfrm>
            <a:off x="10765101" y="3195828"/>
            <a:ext cx="100584" cy="100584"/>
          </a:xfrm>
          <a:prstGeom prst="ellipse">
            <a:avLst/>
          </a:prstGeom>
          <a:solidFill>
            <a:srgbClr val="E86A44"/>
          </a:solidFill>
          <a:ln/>
        </p:spPr>
      </p:sp>
      <p:sp>
        <p:nvSpPr>
          <p:cNvPr id="32" name="Text 29"/>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22343C"/>
                </a:solidFill>
                <a:latin typeface="Calibri" pitchFamily="34" charset="0"/>
                <a:ea typeface="Calibri" pitchFamily="34" charset="-122"/>
                <a:cs typeface="Calibri" pitchFamily="34" charset="-120"/>
              </a:rPr>
              <a:t>M32</a:t>
            </a:r>
            <a:endParaRPr lang="en-US" sz="900" dirty="0"/>
          </a:p>
        </p:txBody>
      </p:sp>
      <p:sp>
        <p:nvSpPr>
          <p:cNvPr id="33" name="Shape 30"/>
          <p:cNvSpPr/>
          <p:nvPr/>
        </p:nvSpPr>
        <p:spPr>
          <a:xfrm>
            <a:off x="11498580" y="3195828"/>
            <a:ext cx="100584" cy="100584"/>
          </a:xfrm>
          <a:prstGeom prst="ellipse">
            <a:avLst/>
          </a:prstGeom>
          <a:solidFill>
            <a:srgbClr val="E86A44"/>
          </a:solidFill>
          <a:ln/>
        </p:spPr>
      </p:sp>
      <p:sp>
        <p:nvSpPr>
          <p:cNvPr id="34" name="Text 31"/>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22343C"/>
                </a:solidFill>
                <a:latin typeface="Calibri" pitchFamily="34" charset="0"/>
                <a:ea typeface="Calibri" pitchFamily="34" charset="-122"/>
                <a:cs typeface="Calibri" pitchFamily="34" charset="-120"/>
              </a:rPr>
              <a:t>+4wk</a:t>
            </a:r>
            <a:endParaRPr lang="en-US" sz="900" dirty="0"/>
          </a:p>
        </p:txBody>
      </p:sp>
      <p:sp>
        <p:nvSpPr>
          <p:cNvPr id="35" name="Text 32"/>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100" i="1" dirty="0">
                <a:solidFill>
                  <a:srgbClr val="6C7C84"/>
                </a:solidFill>
                <a:latin typeface="Calibri" pitchFamily="34" charset="0"/>
                <a:ea typeface="Calibri" pitchFamily="34" charset="-122"/>
                <a:cs typeface="Calibri" pitchFamily="34" charset="-120"/>
              </a:rPr>
              <a:t>The off-treatment visit isolates the reversible (hemodynamic) part of the eGFR effect.</a:t>
            </a:r>
            <a:endParaRPr lang="en-US" sz="1100" dirty="0"/>
          </a:p>
        </p:txBody>
      </p:sp>
      <p:sp>
        <p:nvSpPr>
          <p:cNvPr id="36" name="Text 33"/>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Endpoints</a:t>
            </a:r>
            <a:endParaRPr lang="en-US" sz="2300" dirty="0"/>
          </a:p>
        </p:txBody>
      </p:sp>
      <p:sp>
        <p:nvSpPr>
          <p:cNvPr id="5" name="Text 2"/>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50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400" dirty="0">
                <a:solidFill>
                  <a:srgbClr val="22343C"/>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500" dirty="0"/>
          </a:p>
        </p:txBody>
      </p:sp>
      <p:sp>
        <p:nvSpPr>
          <p:cNvPr id="6" name="Text 3"/>
          <p:cNvSpPr/>
          <p:nvPr/>
        </p:nvSpPr>
        <p:spPr>
          <a:xfrm>
            <a:off x="640080" y="2103120"/>
            <a:ext cx="10908792"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Secondary outcomes (pre-specified hierarchical testing)</a:t>
            </a:r>
            <a:endParaRPr lang="en-US" sz="1400" dirty="0"/>
          </a:p>
        </p:txBody>
      </p:sp>
      <p:sp>
        <p:nvSpPr>
          <p:cNvPr id="7" name="Text 4"/>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1.  Composite kidney–CV: sustained ≥57% eGFR decline, kidney failure, HF hospitalization, or CV death</a:t>
            </a:r>
            <a:endParaRPr lang="en-US" sz="1350" dirty="0"/>
          </a:p>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2.  Composite kidney: sustained ≥57% eGFR decline or kidney failure</a:t>
            </a:r>
            <a:endParaRPr lang="en-US" sz="1350" dirty="0"/>
          </a:p>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3.  Composite CV: HF hospitalization or CV death</a:t>
            </a:r>
            <a:endParaRPr lang="en-US" sz="1350" dirty="0"/>
          </a:p>
        </p:txBody>
      </p:sp>
      <p:sp>
        <p:nvSpPr>
          <p:cNvPr id="8" name="Text 5"/>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25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250" dirty="0">
                <a:solidFill>
                  <a:srgbClr val="22343C"/>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250" dirty="0"/>
          </a:p>
        </p:txBody>
      </p:sp>
      <p:sp>
        <p:nvSpPr>
          <p:cNvPr id="9" name="Text 6"/>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25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250" dirty="0">
                <a:solidFill>
                  <a:srgbClr val="22343C"/>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250" dirty="0"/>
          </a:p>
        </p:txBody>
      </p:sp>
      <p:sp>
        <p:nvSpPr>
          <p:cNvPr id="10" name="Text 7"/>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Statistical approach, and why eGFR slope</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The primary model</a:t>
            </a:r>
            <a:endParaRPr lang="en-US" sz="1400" dirty="0"/>
          </a:p>
        </p:txBody>
      </p:sp>
      <p:sp>
        <p:nvSpPr>
          <p:cNvPr id="6" name="Text 3"/>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300" dirty="0"/>
          </a:p>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300" dirty="0"/>
          </a:p>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30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slope, and is it fair</a:t>
            </a:r>
            <a:endParaRPr lang="en-US" sz="1400" dirty="0"/>
          </a:p>
        </p:txBody>
      </p:sp>
      <p:sp>
        <p:nvSpPr>
          <p:cNvPr id="8" name="Text 5"/>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50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500" dirty="0"/>
          </a:p>
        </p:txBody>
      </p:sp>
      <p:sp>
        <p:nvSpPr>
          <p:cNvPr id="9" name="Text 6"/>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300" i="1" dirty="0">
                <a:solidFill>
                  <a:srgbClr val="6C7C84"/>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300" dirty="0"/>
          </a:p>
        </p:txBody>
      </p:sp>
      <p:sp>
        <p:nvSpPr>
          <p:cNvPr id="10" name="Text 7"/>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Primary result: eGFR change over time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450" dirty="0"/>
          </a:p>
        </p:txBody>
      </p:sp>
      <p:graphicFrame>
        <p:nvGraphicFramePr>
          <p:cNvPr id="6" name="Chart 0" descr=""/>
          <p:cNvGraphicFramePr/>
          <p:nvPr/>
        </p:nvGraphicFramePr>
        <p:xfrm>
          <a:off x="640080" y="1554480"/>
          <a:ext cx="7680960" cy="44348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8595360" y="1828800"/>
            <a:ext cx="2953512" cy="1371600"/>
          </a:xfrm>
          <a:prstGeom prst="rect">
            <a:avLst/>
          </a:prstGeom>
          <a:noFill/>
          <a:ln/>
        </p:spPr>
        <p:txBody>
          <a:bodyPr wrap="square" lIns="0" tIns="0" rIns="0" bIns="0" rtlCol="0" anchor="ctr"/>
          <a:lstStyle/>
          <a:p>
            <a:pPr indent="0" marL="0">
              <a:lnSpc>
                <a:spcPct val="120000"/>
              </a:lnSpc>
              <a:buNone/>
            </a:pPr>
            <a:r>
              <a:rPr lang="en-US" sz="1300" b="1" dirty="0">
                <a:solidFill>
                  <a:srgbClr val="E86A44"/>
                </a:solidFill>
                <a:latin typeface="Calibri" pitchFamily="34" charset="0"/>
                <a:ea typeface="Calibri" pitchFamily="34" charset="-122"/>
                <a:cs typeface="Calibri" pitchFamily="34" charset="-120"/>
              </a:rPr>
              <a:t>Early crossover.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Finerenone dips faster through month 3 (reversible hemodynamic effect), then declines more slowly and pulls ahead.</a:t>
            </a:r>
            <a:endParaRPr lang="en-US" sz="1300" dirty="0"/>
          </a:p>
        </p:txBody>
      </p:sp>
      <p:sp>
        <p:nvSpPr>
          <p:cNvPr id="8" name="Text 4"/>
          <p:cNvSpPr/>
          <p:nvPr/>
        </p:nvSpPr>
        <p:spPr>
          <a:xfrm>
            <a:off x="8595360" y="3291840"/>
            <a:ext cx="2953512" cy="822960"/>
          </a:xfrm>
          <a:prstGeom prst="rect">
            <a:avLst/>
          </a:prstGeom>
          <a:noFill/>
          <a:ln/>
        </p:spPr>
        <p:txBody>
          <a:bodyPr wrap="square" lIns="0" tIns="0" rIns="0" bIns="0" rtlCol="0" anchor="ctr"/>
          <a:lstStyle/>
          <a:p>
            <a:pPr indent="0" marL="0">
              <a:lnSpc>
                <a:spcPct val="120000"/>
              </a:lnSpc>
              <a:buNone/>
            </a:pPr>
            <a:r>
              <a:rPr lang="en-US" sz="1300" b="1" dirty="0">
                <a:solidFill>
                  <a:srgbClr val="0E8385"/>
                </a:solidFill>
                <a:latin typeface="Calibri" pitchFamily="34" charset="0"/>
                <a:ea typeface="Calibri" pitchFamily="34" charset="-122"/>
                <a:cs typeface="Calibri" pitchFamily="34" charset="-120"/>
              </a:rPr>
              <a:t>At month 32.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Mean eGFR 39.4 (finerenone) vs 38.1 (placebo).</a:t>
            </a:r>
            <a:endParaRPr lang="en-US" sz="1300" dirty="0"/>
          </a:p>
        </p:txBody>
      </p:sp>
      <p:sp>
        <p:nvSpPr>
          <p:cNvPr id="9" name="Text 5"/>
          <p:cNvSpPr/>
          <p:nvPr/>
        </p:nvSpPr>
        <p:spPr>
          <a:xfrm>
            <a:off x="8595360" y="4251960"/>
            <a:ext cx="2953512" cy="1463040"/>
          </a:xfrm>
          <a:prstGeom prst="rect">
            <a:avLst/>
          </a:prstGeom>
          <a:noFill/>
          <a:ln/>
        </p:spPr>
        <p:txBody>
          <a:bodyPr wrap="square" lIns="0" tIns="0" rIns="0" bIns="0" rtlCol="0" anchor="ctr"/>
          <a:lstStyle/>
          <a:p>
            <a:pPr indent="0" marL="0">
              <a:lnSpc>
                <a:spcPct val="120000"/>
              </a:lnSpc>
              <a:buNone/>
            </a:pPr>
            <a:r>
              <a:rPr lang="en-US" sz="1300" b="1" dirty="0">
                <a:solidFill>
                  <a:srgbClr val="0F3446"/>
                </a:solidFill>
                <a:latin typeface="Calibri" pitchFamily="34" charset="0"/>
                <a:ea typeface="Calibri" pitchFamily="34" charset="-122"/>
                <a:cs typeface="Calibri" pitchFamily="34" charset="-120"/>
              </a:rPr>
              <a:t>Off-treatment.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Four weeks after stopping, eGFR rose with finerenone and kept falling with placebo. The dip reverses.</a:t>
            </a:r>
            <a:endParaRPr lang="en-US" sz="1300" dirty="0"/>
          </a:p>
        </p:txBody>
      </p:sp>
      <p:sp>
        <p:nvSpPr>
          <p:cNvPr id="10" name="Text 6"/>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1A (curve reconstructed from reported values).</a:t>
            </a:r>
            <a:endParaRPr lang="en-US" sz="850" dirty="0"/>
          </a:p>
        </p:txBody>
      </p:sp>
      <p:sp>
        <p:nvSpPr>
          <p:cNvPr id="11" name="Text 7"/>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Reading the eGFR curve: the acute dip is not harm</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450" dirty="0"/>
          </a:p>
        </p:txBody>
      </p:sp>
      <p:sp>
        <p:nvSpPr>
          <p:cNvPr id="6" name="Text 3"/>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7" name="Text 4"/>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steeper acute slope with finerenone over the first 3 months (95% CI −1.7 to −0.6)</a:t>
            </a:r>
            <a:endParaRPr lang="en-US" sz="1200" dirty="0"/>
          </a:p>
        </p:txBody>
      </p:sp>
      <p:sp>
        <p:nvSpPr>
          <p:cNvPr id="8" name="Text 5"/>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9" name="Text 6"/>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less eGFR lost by 4 weeks off-treatment vs placebo (−8.8 vs −11.2 ml/min/1.73 m²)</a:t>
            </a:r>
            <a:endParaRPr lang="en-US" sz="1200" dirty="0"/>
          </a:p>
        </p:txBody>
      </p:sp>
      <p:sp>
        <p:nvSpPr>
          <p:cNvPr id="10" name="Text 7"/>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350" dirty="0"/>
          </a:p>
        </p:txBody>
      </p:sp>
      <p:sp>
        <p:nvSpPr>
          <p:cNvPr id="11" name="Text 8"/>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Primary result: total, acute and chronic slope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450" dirty="0"/>
          </a:p>
        </p:txBody>
      </p:sp>
      <p:graphicFrame>
        <p:nvGraphicFramePr>
          <p:cNvPr id="6" name="Chart 0" descr=""/>
          <p:cNvGraphicFramePr/>
          <p:nvPr/>
        </p:nvGraphicFramePr>
        <p:xfrm>
          <a:off x="640080" y="1554480"/>
          <a:ext cx="7040880" cy="4389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7955280" y="1737360"/>
            <a:ext cx="3593592" cy="420624"/>
          </a:xfrm>
          <a:prstGeom prst="rect">
            <a:avLst/>
          </a:prstGeom>
          <a:solidFill>
            <a:srgbClr val="0F3446"/>
          </a:solidFill>
          <a:ln/>
        </p:spPr>
      </p:sp>
      <p:sp>
        <p:nvSpPr>
          <p:cNvPr id="8" name="Text 4"/>
          <p:cNvSpPr/>
          <p:nvPr/>
        </p:nvSpPr>
        <p:spPr>
          <a:xfrm>
            <a:off x="8065008" y="1737360"/>
            <a:ext cx="1326429"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Difference</a:t>
            </a:r>
            <a:endParaRPr lang="en-US" sz="1200" dirty="0"/>
          </a:p>
        </p:txBody>
      </p:sp>
      <p:sp>
        <p:nvSpPr>
          <p:cNvPr id="9" name="Text 5"/>
          <p:cNvSpPr/>
          <p:nvPr/>
        </p:nvSpPr>
        <p:spPr>
          <a:xfrm>
            <a:off x="9574317" y="1737360"/>
            <a:ext cx="823326"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Estimate</a:t>
            </a:r>
            <a:endParaRPr lang="en-US" sz="1200" dirty="0"/>
          </a:p>
        </p:txBody>
      </p:sp>
      <p:sp>
        <p:nvSpPr>
          <p:cNvPr id="10" name="Text 6"/>
          <p:cNvSpPr/>
          <p:nvPr/>
        </p:nvSpPr>
        <p:spPr>
          <a:xfrm>
            <a:off x="10580522" y="1737360"/>
            <a:ext cx="895198"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95% CI</a:t>
            </a:r>
            <a:endParaRPr lang="en-US" sz="1200" dirty="0"/>
          </a:p>
        </p:txBody>
      </p:sp>
      <p:sp>
        <p:nvSpPr>
          <p:cNvPr id="11" name="Shape 7"/>
          <p:cNvSpPr/>
          <p:nvPr/>
        </p:nvSpPr>
        <p:spPr>
          <a:xfrm>
            <a:off x="7955280" y="2706624"/>
            <a:ext cx="3593592" cy="0"/>
          </a:xfrm>
          <a:prstGeom prst="line">
            <a:avLst/>
          </a:prstGeom>
          <a:noFill/>
          <a:ln w="9525">
            <a:solidFill>
              <a:srgbClr val="CFDDDD"/>
            </a:solidFill>
            <a:prstDash val="solid"/>
          </a:ln>
        </p:spPr>
      </p:sp>
      <p:sp>
        <p:nvSpPr>
          <p:cNvPr id="12" name="Text 8"/>
          <p:cNvSpPr/>
          <p:nvPr/>
        </p:nvSpPr>
        <p:spPr>
          <a:xfrm>
            <a:off x="8065008" y="215798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Total</a:t>
            </a:r>
            <a:endParaRPr lang="en-US" sz="1150" dirty="0"/>
          </a:p>
        </p:txBody>
      </p:sp>
      <p:sp>
        <p:nvSpPr>
          <p:cNvPr id="13" name="Text 9"/>
          <p:cNvSpPr/>
          <p:nvPr/>
        </p:nvSpPr>
        <p:spPr>
          <a:xfrm>
            <a:off x="9574317" y="215798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+0.7</a:t>
            </a:r>
            <a:endParaRPr lang="en-US" sz="1150" dirty="0"/>
          </a:p>
        </p:txBody>
      </p:sp>
      <p:sp>
        <p:nvSpPr>
          <p:cNvPr id="14" name="Text 10"/>
          <p:cNvSpPr/>
          <p:nvPr/>
        </p:nvSpPr>
        <p:spPr>
          <a:xfrm>
            <a:off x="10580522" y="215798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0.3 to 1.1</a:t>
            </a:r>
            <a:endParaRPr lang="en-US" sz="1150" dirty="0"/>
          </a:p>
        </p:txBody>
      </p:sp>
      <p:sp>
        <p:nvSpPr>
          <p:cNvPr id="15" name="Shape 11"/>
          <p:cNvSpPr/>
          <p:nvPr/>
        </p:nvSpPr>
        <p:spPr>
          <a:xfrm>
            <a:off x="7955280" y="3255264"/>
            <a:ext cx="3593592" cy="0"/>
          </a:xfrm>
          <a:prstGeom prst="line">
            <a:avLst/>
          </a:prstGeom>
          <a:noFill/>
          <a:ln w="9525">
            <a:solidFill>
              <a:srgbClr val="CFDDDD"/>
            </a:solidFill>
            <a:prstDash val="solid"/>
          </a:ln>
        </p:spPr>
      </p:sp>
      <p:sp>
        <p:nvSpPr>
          <p:cNvPr id="16" name="Text 12"/>
          <p:cNvSpPr/>
          <p:nvPr/>
        </p:nvSpPr>
        <p:spPr>
          <a:xfrm>
            <a:off x="8065008" y="270662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Acute (0–3 mo)</a:t>
            </a:r>
            <a:endParaRPr lang="en-US" sz="1150" dirty="0"/>
          </a:p>
        </p:txBody>
      </p:sp>
      <p:sp>
        <p:nvSpPr>
          <p:cNvPr id="17" name="Text 13"/>
          <p:cNvSpPr/>
          <p:nvPr/>
        </p:nvSpPr>
        <p:spPr>
          <a:xfrm>
            <a:off x="9574317" y="270662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−1.2</a:t>
            </a:r>
            <a:endParaRPr lang="en-US" sz="1150" dirty="0"/>
          </a:p>
        </p:txBody>
      </p:sp>
      <p:sp>
        <p:nvSpPr>
          <p:cNvPr id="18" name="Text 14"/>
          <p:cNvSpPr/>
          <p:nvPr/>
        </p:nvSpPr>
        <p:spPr>
          <a:xfrm>
            <a:off x="10580522" y="270662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 to −0.6</a:t>
            </a:r>
            <a:endParaRPr lang="en-US" sz="1150" dirty="0"/>
          </a:p>
        </p:txBody>
      </p:sp>
      <p:sp>
        <p:nvSpPr>
          <p:cNvPr id="19" name="Shape 15"/>
          <p:cNvSpPr/>
          <p:nvPr/>
        </p:nvSpPr>
        <p:spPr>
          <a:xfrm>
            <a:off x="7955280" y="3803904"/>
            <a:ext cx="3593592" cy="0"/>
          </a:xfrm>
          <a:prstGeom prst="line">
            <a:avLst/>
          </a:prstGeom>
          <a:noFill/>
          <a:ln w="9525">
            <a:solidFill>
              <a:srgbClr val="CFDDDD"/>
            </a:solidFill>
            <a:prstDash val="solid"/>
          </a:ln>
        </p:spPr>
      </p:sp>
      <p:sp>
        <p:nvSpPr>
          <p:cNvPr id="20" name="Text 16"/>
          <p:cNvSpPr/>
          <p:nvPr/>
        </p:nvSpPr>
        <p:spPr>
          <a:xfrm>
            <a:off x="8065008" y="325526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Chronic slope</a:t>
            </a:r>
            <a:endParaRPr lang="en-US" sz="1150" dirty="0"/>
          </a:p>
        </p:txBody>
      </p:sp>
      <p:sp>
        <p:nvSpPr>
          <p:cNvPr id="21" name="Text 17"/>
          <p:cNvSpPr/>
          <p:nvPr/>
        </p:nvSpPr>
        <p:spPr>
          <a:xfrm>
            <a:off x="9574317" y="325526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+1.2</a:t>
            </a:r>
            <a:endParaRPr lang="en-US" sz="1150" dirty="0"/>
          </a:p>
        </p:txBody>
      </p:sp>
      <p:sp>
        <p:nvSpPr>
          <p:cNvPr id="22" name="Text 18"/>
          <p:cNvSpPr/>
          <p:nvPr/>
        </p:nvSpPr>
        <p:spPr>
          <a:xfrm>
            <a:off x="10580522" y="325526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0.9 to 1.6</a:t>
            </a:r>
            <a:endParaRPr lang="en-US" sz="1150" dirty="0"/>
          </a:p>
        </p:txBody>
      </p:sp>
      <p:sp>
        <p:nvSpPr>
          <p:cNvPr id="23" name="Text 19"/>
          <p:cNvSpPr/>
          <p:nvPr/>
        </p:nvSpPr>
        <p:spPr>
          <a:xfrm>
            <a:off x="7955280" y="3941064"/>
            <a:ext cx="3593592" cy="548640"/>
          </a:xfrm>
          <a:prstGeom prst="rect">
            <a:avLst/>
          </a:prstGeom>
          <a:noFill/>
          <a:ln/>
        </p:spPr>
        <p:txBody>
          <a:bodyPr wrap="square" lIns="0" tIns="0" rIns="0" bIns="0" rtlCol="0" anchor="ctr"/>
          <a:lstStyle/>
          <a:p>
            <a:pPr indent="0" marL="0">
              <a:lnSpc>
                <a:spcPct val="115000"/>
              </a:lnSpc>
              <a:buNone/>
            </a:pPr>
            <a:r>
              <a:rPr lang="en-US" sz="1100" i="1" dirty="0">
                <a:solidFill>
                  <a:srgbClr val="6C7C84"/>
                </a:solidFill>
                <a:latin typeface="Calibri" pitchFamily="34" charset="0"/>
                <a:ea typeface="Calibri" pitchFamily="34" charset="-122"/>
                <a:cs typeface="Calibri" pitchFamily="34" charset="-120"/>
              </a:rPr>
              <a:t>P &lt; 0.001 for the total slope. Difference = finerenone minus placebo; positive favors finerenone.</a:t>
            </a:r>
            <a:endParaRPr lang="en-US" sz="1100" dirty="0"/>
          </a:p>
        </p:txBody>
      </p:sp>
      <p:sp>
        <p:nvSpPr>
          <p:cNvPr id="24" name="Text 20"/>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1B.</a:t>
            </a:r>
            <a:endParaRPr lang="en-US" sz="850" dirty="0"/>
          </a:p>
        </p:txBody>
      </p:sp>
      <p:sp>
        <p:nvSpPr>
          <p:cNvPr id="25" name="Text 21"/>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Consistency across subgroups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Difference in eGFR slope (ml/min/1.73 m² per year). Positive favors finerenone.</a:t>
            </a:r>
            <a:endParaRPr lang="en-US" sz="1300" dirty="0"/>
          </a:p>
        </p:txBody>
      </p:sp>
      <p:sp>
        <p:nvSpPr>
          <p:cNvPr id="6" name="Shape 3"/>
          <p:cNvSpPr/>
          <p:nvPr/>
        </p:nvSpPr>
        <p:spPr>
          <a:xfrm>
            <a:off x="3749040" y="1508760"/>
            <a:ext cx="0" cy="4142232"/>
          </a:xfrm>
          <a:prstGeom prst="line">
            <a:avLst/>
          </a:prstGeom>
          <a:noFill/>
          <a:ln w="12700">
            <a:solidFill>
              <a:srgbClr val="EDF2F2"/>
            </a:solidFill>
            <a:prstDash val="dash"/>
          </a:ln>
        </p:spPr>
      </p:sp>
      <p:sp>
        <p:nvSpPr>
          <p:cNvPr id="7" name="Text 4"/>
          <p:cNvSpPr/>
          <p:nvPr/>
        </p:nvSpPr>
        <p:spPr>
          <a:xfrm>
            <a:off x="3474720"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-1</a:t>
            </a:r>
            <a:endParaRPr lang="en-US" sz="950" dirty="0"/>
          </a:p>
        </p:txBody>
      </p:sp>
      <p:sp>
        <p:nvSpPr>
          <p:cNvPr id="8" name="Shape 5"/>
          <p:cNvSpPr/>
          <p:nvPr/>
        </p:nvSpPr>
        <p:spPr>
          <a:xfrm>
            <a:off x="5739384" y="1508760"/>
            <a:ext cx="0" cy="4142232"/>
          </a:xfrm>
          <a:prstGeom prst="line">
            <a:avLst/>
          </a:prstGeom>
          <a:noFill/>
          <a:ln w="19050">
            <a:solidFill>
              <a:srgbClr val="9AA7AD"/>
            </a:solidFill>
            <a:prstDash val="solid"/>
          </a:ln>
        </p:spPr>
      </p:sp>
      <p:sp>
        <p:nvSpPr>
          <p:cNvPr id="9" name="Text 6"/>
          <p:cNvSpPr/>
          <p:nvPr/>
        </p:nvSpPr>
        <p:spPr>
          <a:xfrm>
            <a:off x="5465064"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0</a:t>
            </a:r>
            <a:endParaRPr lang="en-US" sz="950" dirty="0"/>
          </a:p>
        </p:txBody>
      </p:sp>
      <p:sp>
        <p:nvSpPr>
          <p:cNvPr id="10" name="Shape 7"/>
          <p:cNvSpPr/>
          <p:nvPr/>
        </p:nvSpPr>
        <p:spPr>
          <a:xfrm>
            <a:off x="7729728" y="1508760"/>
            <a:ext cx="0" cy="4142232"/>
          </a:xfrm>
          <a:prstGeom prst="line">
            <a:avLst/>
          </a:prstGeom>
          <a:noFill/>
          <a:ln w="12700">
            <a:solidFill>
              <a:srgbClr val="EDF2F2"/>
            </a:solidFill>
            <a:prstDash val="dash"/>
          </a:ln>
        </p:spPr>
      </p:sp>
      <p:sp>
        <p:nvSpPr>
          <p:cNvPr id="11" name="Text 8"/>
          <p:cNvSpPr/>
          <p:nvPr/>
        </p:nvSpPr>
        <p:spPr>
          <a:xfrm>
            <a:off x="7455408"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1</a:t>
            </a:r>
            <a:endParaRPr lang="en-US" sz="950" dirty="0"/>
          </a:p>
        </p:txBody>
      </p:sp>
      <p:sp>
        <p:nvSpPr>
          <p:cNvPr id="12" name="Shape 9"/>
          <p:cNvSpPr/>
          <p:nvPr/>
        </p:nvSpPr>
        <p:spPr>
          <a:xfrm>
            <a:off x="9720072" y="1508760"/>
            <a:ext cx="0" cy="4142232"/>
          </a:xfrm>
          <a:prstGeom prst="line">
            <a:avLst/>
          </a:prstGeom>
          <a:noFill/>
          <a:ln w="12700">
            <a:solidFill>
              <a:srgbClr val="EDF2F2"/>
            </a:solidFill>
            <a:prstDash val="dash"/>
          </a:ln>
        </p:spPr>
      </p:sp>
      <p:sp>
        <p:nvSpPr>
          <p:cNvPr id="13" name="Text 10"/>
          <p:cNvSpPr/>
          <p:nvPr/>
        </p:nvSpPr>
        <p:spPr>
          <a:xfrm>
            <a:off x="9445752"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2</a:t>
            </a:r>
            <a:endParaRPr lang="en-US" sz="950" dirty="0"/>
          </a:p>
        </p:txBody>
      </p:sp>
      <p:sp>
        <p:nvSpPr>
          <p:cNvPr id="14" name="Text 11"/>
          <p:cNvSpPr/>
          <p:nvPr/>
        </p:nvSpPr>
        <p:spPr>
          <a:xfrm>
            <a:off x="3657600" y="5961888"/>
            <a:ext cx="1828800" cy="219456"/>
          </a:xfrm>
          <a:prstGeom prst="rect">
            <a:avLst/>
          </a:prstGeom>
          <a:noFill/>
          <a:ln/>
        </p:spPr>
        <p:txBody>
          <a:bodyPr wrap="square" lIns="0" tIns="0" rIns="0" bIns="0" rtlCol="0" anchor="ctr"/>
          <a:lstStyle/>
          <a:p>
            <a:pPr indent="0" marL="0">
              <a:buNone/>
            </a:pPr>
            <a:r>
              <a:rPr lang="en-US" sz="950" i="1" dirty="0">
                <a:solidFill>
                  <a:srgbClr val="6C7C84"/>
                </a:solidFill>
                <a:latin typeface="Calibri" pitchFamily="34" charset="0"/>
                <a:ea typeface="Calibri" pitchFamily="34" charset="-122"/>
                <a:cs typeface="Calibri" pitchFamily="34" charset="-120"/>
              </a:rPr>
              <a:t>Favors placebo</a:t>
            </a:r>
            <a:endParaRPr lang="en-US" sz="950" dirty="0"/>
          </a:p>
        </p:txBody>
      </p:sp>
      <p:sp>
        <p:nvSpPr>
          <p:cNvPr id="15" name="Text 12"/>
          <p:cNvSpPr/>
          <p:nvPr/>
        </p:nvSpPr>
        <p:spPr>
          <a:xfrm>
            <a:off x="7982712" y="5961888"/>
            <a:ext cx="1828800" cy="219456"/>
          </a:xfrm>
          <a:prstGeom prst="rect">
            <a:avLst/>
          </a:prstGeom>
          <a:noFill/>
          <a:ln/>
        </p:spPr>
        <p:txBody>
          <a:bodyPr wrap="square" lIns="0" tIns="0" rIns="0" bIns="0" rtlCol="0" anchor="ctr"/>
          <a:lstStyle/>
          <a:p>
            <a:pPr algn="r" indent="0" marL="0">
              <a:buNone/>
            </a:pPr>
            <a:r>
              <a:rPr lang="en-US" sz="950" i="1" dirty="0">
                <a:solidFill>
                  <a:srgbClr val="6C7C84"/>
                </a:solidFill>
                <a:latin typeface="Calibri" pitchFamily="34" charset="0"/>
                <a:ea typeface="Calibri" pitchFamily="34" charset="-122"/>
                <a:cs typeface="Calibri" pitchFamily="34" charset="-120"/>
              </a:rPr>
              <a:t>Favors finerenone</a:t>
            </a:r>
            <a:endParaRPr lang="en-US" sz="950" dirty="0"/>
          </a:p>
        </p:txBody>
      </p:sp>
      <p:sp>
        <p:nvSpPr>
          <p:cNvPr id="16" name="Text 13"/>
          <p:cNvSpPr/>
          <p:nvPr/>
        </p:nvSpPr>
        <p:spPr>
          <a:xfrm>
            <a:off x="640080" y="1597291"/>
            <a:ext cx="3017520" cy="292608"/>
          </a:xfrm>
          <a:prstGeom prst="rect">
            <a:avLst/>
          </a:prstGeom>
          <a:noFill/>
          <a:ln/>
        </p:spPr>
        <p:txBody>
          <a:bodyPr wrap="square" lIns="0" tIns="0" rIns="0" bIns="0" rtlCol="0" anchor="ctr"/>
          <a:lstStyle/>
          <a:p>
            <a:pPr indent="0" marL="0">
              <a:buNone/>
            </a:pPr>
            <a:r>
              <a:rPr lang="en-US" sz="1100" b="1" dirty="0">
                <a:solidFill>
                  <a:srgbClr val="0F3446"/>
                </a:solidFill>
                <a:latin typeface="Calibri" pitchFamily="34" charset="0"/>
                <a:ea typeface="Calibri" pitchFamily="34" charset="-122"/>
                <a:cs typeface="Calibri" pitchFamily="34" charset="-120"/>
              </a:rPr>
              <a:t>Overall</a:t>
            </a:r>
            <a:endParaRPr lang="en-US" sz="1100" dirty="0"/>
          </a:p>
        </p:txBody>
      </p:sp>
      <p:sp>
        <p:nvSpPr>
          <p:cNvPr id="17" name="Shape 14"/>
          <p:cNvSpPr/>
          <p:nvPr/>
        </p:nvSpPr>
        <p:spPr>
          <a:xfrm>
            <a:off x="6376294" y="1743595"/>
            <a:ext cx="1452951" cy="0"/>
          </a:xfrm>
          <a:prstGeom prst="line">
            <a:avLst/>
          </a:prstGeom>
          <a:noFill/>
          <a:ln w="38100">
            <a:solidFill>
              <a:srgbClr val="12A3A6"/>
            </a:solidFill>
            <a:prstDash val="solid"/>
          </a:ln>
        </p:spPr>
      </p:sp>
      <p:sp>
        <p:nvSpPr>
          <p:cNvPr id="18" name="Shape 15"/>
          <p:cNvSpPr/>
          <p:nvPr/>
        </p:nvSpPr>
        <p:spPr>
          <a:xfrm>
            <a:off x="6376294" y="1688731"/>
            <a:ext cx="0" cy="109728"/>
          </a:xfrm>
          <a:prstGeom prst="line">
            <a:avLst/>
          </a:prstGeom>
          <a:noFill/>
          <a:ln w="25400">
            <a:solidFill>
              <a:srgbClr val="12A3A6"/>
            </a:solidFill>
            <a:prstDash val="solid"/>
          </a:ln>
        </p:spPr>
      </p:sp>
      <p:sp>
        <p:nvSpPr>
          <p:cNvPr id="19" name="Shape 16"/>
          <p:cNvSpPr/>
          <p:nvPr/>
        </p:nvSpPr>
        <p:spPr>
          <a:xfrm>
            <a:off x="7829245" y="1688731"/>
            <a:ext cx="0" cy="109728"/>
          </a:xfrm>
          <a:prstGeom prst="line">
            <a:avLst/>
          </a:prstGeom>
          <a:noFill/>
          <a:ln w="25400">
            <a:solidFill>
              <a:srgbClr val="12A3A6"/>
            </a:solidFill>
            <a:prstDash val="solid"/>
          </a:ln>
        </p:spPr>
      </p:sp>
      <p:sp>
        <p:nvSpPr>
          <p:cNvPr id="20" name="Shape 17"/>
          <p:cNvSpPr/>
          <p:nvPr/>
        </p:nvSpPr>
        <p:spPr>
          <a:xfrm>
            <a:off x="7033382" y="1684159"/>
            <a:ext cx="118872" cy="118872"/>
          </a:xfrm>
          <a:prstGeom prst="diamond">
            <a:avLst/>
          </a:prstGeom>
          <a:solidFill>
            <a:srgbClr val="0F3446"/>
          </a:solidFill>
          <a:ln/>
        </p:spPr>
      </p:sp>
      <p:sp>
        <p:nvSpPr>
          <p:cNvPr id="21" name="Text 18"/>
          <p:cNvSpPr/>
          <p:nvPr/>
        </p:nvSpPr>
        <p:spPr>
          <a:xfrm>
            <a:off x="9765792" y="1597291"/>
            <a:ext cx="1783080" cy="292608"/>
          </a:xfrm>
          <a:prstGeom prst="rect">
            <a:avLst/>
          </a:prstGeom>
          <a:noFill/>
          <a:ln/>
        </p:spPr>
        <p:txBody>
          <a:bodyPr wrap="square" lIns="0" tIns="0" rIns="0" bIns="0" rtlCol="0" anchor="ctr"/>
          <a:lstStyle/>
          <a:p>
            <a:pPr indent="0" marL="0">
              <a:buNone/>
            </a:pPr>
            <a:r>
              <a:rPr lang="en-US" sz="950" b="1" dirty="0">
                <a:solidFill>
                  <a:srgbClr val="0F3446"/>
                </a:solidFill>
                <a:latin typeface="Calibri" pitchFamily="34" charset="0"/>
                <a:ea typeface="Calibri" pitchFamily="34" charset="-122"/>
                <a:cs typeface="Calibri" pitchFamily="34" charset="-120"/>
              </a:rPr>
              <a:t>0.68 (0.32 to 1.05)</a:t>
            </a:r>
            <a:endParaRPr lang="en-US" sz="950" dirty="0"/>
          </a:p>
        </p:txBody>
      </p:sp>
      <p:sp>
        <p:nvSpPr>
          <p:cNvPr id="22" name="Text 19"/>
          <p:cNvSpPr/>
          <p:nvPr/>
        </p:nvSpPr>
        <p:spPr>
          <a:xfrm>
            <a:off x="640080" y="1975520"/>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HTN / ischemic</a:t>
            </a:r>
            <a:endParaRPr lang="en-US" sz="1100" dirty="0"/>
          </a:p>
        </p:txBody>
      </p:sp>
      <p:sp>
        <p:nvSpPr>
          <p:cNvPr id="23" name="Shape 20"/>
          <p:cNvSpPr/>
          <p:nvPr/>
        </p:nvSpPr>
        <p:spPr>
          <a:xfrm>
            <a:off x="5739384" y="2121824"/>
            <a:ext cx="2726771" cy="0"/>
          </a:xfrm>
          <a:prstGeom prst="line">
            <a:avLst/>
          </a:prstGeom>
          <a:noFill/>
          <a:ln w="25400">
            <a:solidFill>
              <a:srgbClr val="6FBEC0"/>
            </a:solidFill>
            <a:prstDash val="solid"/>
          </a:ln>
        </p:spPr>
      </p:sp>
      <p:sp>
        <p:nvSpPr>
          <p:cNvPr id="24" name="Shape 21"/>
          <p:cNvSpPr/>
          <p:nvPr/>
        </p:nvSpPr>
        <p:spPr>
          <a:xfrm>
            <a:off x="5739384" y="2066960"/>
            <a:ext cx="0" cy="109728"/>
          </a:xfrm>
          <a:prstGeom prst="line">
            <a:avLst/>
          </a:prstGeom>
          <a:noFill/>
          <a:ln w="25400">
            <a:solidFill>
              <a:srgbClr val="6FBEC0"/>
            </a:solidFill>
            <a:prstDash val="solid"/>
          </a:ln>
        </p:spPr>
      </p:sp>
      <p:sp>
        <p:nvSpPr>
          <p:cNvPr id="25" name="Shape 22"/>
          <p:cNvSpPr/>
          <p:nvPr/>
        </p:nvSpPr>
        <p:spPr>
          <a:xfrm>
            <a:off x="8466155" y="2066960"/>
            <a:ext cx="0" cy="109728"/>
          </a:xfrm>
          <a:prstGeom prst="line">
            <a:avLst/>
          </a:prstGeom>
          <a:noFill/>
          <a:ln w="25400">
            <a:solidFill>
              <a:srgbClr val="6FBEC0"/>
            </a:solidFill>
            <a:prstDash val="solid"/>
          </a:ln>
        </p:spPr>
      </p:sp>
      <p:sp>
        <p:nvSpPr>
          <p:cNvPr id="26" name="Shape 23"/>
          <p:cNvSpPr/>
          <p:nvPr/>
        </p:nvSpPr>
        <p:spPr>
          <a:xfrm>
            <a:off x="7047098" y="2076104"/>
            <a:ext cx="91440" cy="91440"/>
          </a:xfrm>
          <a:prstGeom prst="diamond">
            <a:avLst/>
          </a:prstGeom>
          <a:solidFill>
            <a:srgbClr val="12A3A6"/>
          </a:solidFill>
          <a:ln/>
        </p:spPr>
      </p:sp>
      <p:sp>
        <p:nvSpPr>
          <p:cNvPr id="27" name="Text 24"/>
          <p:cNvSpPr/>
          <p:nvPr/>
        </p:nvSpPr>
        <p:spPr>
          <a:xfrm>
            <a:off x="9765792" y="1975520"/>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0.68 (0.00 to 1.37)</a:t>
            </a:r>
            <a:endParaRPr lang="en-US" sz="950" dirty="0"/>
          </a:p>
        </p:txBody>
      </p:sp>
      <p:sp>
        <p:nvSpPr>
          <p:cNvPr id="28" name="Text 25"/>
          <p:cNvSpPr/>
          <p:nvPr/>
        </p:nvSpPr>
        <p:spPr>
          <a:xfrm>
            <a:off x="640080" y="2353749"/>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chronic GN</a:t>
            </a:r>
            <a:endParaRPr lang="en-US" sz="1100" dirty="0"/>
          </a:p>
        </p:txBody>
      </p:sp>
      <p:sp>
        <p:nvSpPr>
          <p:cNvPr id="29" name="Shape 26"/>
          <p:cNvSpPr/>
          <p:nvPr/>
        </p:nvSpPr>
        <p:spPr>
          <a:xfrm>
            <a:off x="6236970" y="2500053"/>
            <a:ext cx="1930634" cy="0"/>
          </a:xfrm>
          <a:prstGeom prst="line">
            <a:avLst/>
          </a:prstGeom>
          <a:noFill/>
          <a:ln w="25400">
            <a:solidFill>
              <a:srgbClr val="6FBEC0"/>
            </a:solidFill>
            <a:prstDash val="solid"/>
          </a:ln>
        </p:spPr>
      </p:sp>
      <p:sp>
        <p:nvSpPr>
          <p:cNvPr id="30" name="Shape 27"/>
          <p:cNvSpPr/>
          <p:nvPr/>
        </p:nvSpPr>
        <p:spPr>
          <a:xfrm>
            <a:off x="6236970" y="2445189"/>
            <a:ext cx="0" cy="109728"/>
          </a:xfrm>
          <a:prstGeom prst="line">
            <a:avLst/>
          </a:prstGeom>
          <a:noFill/>
          <a:ln w="25400">
            <a:solidFill>
              <a:srgbClr val="6FBEC0"/>
            </a:solidFill>
            <a:prstDash val="solid"/>
          </a:ln>
        </p:spPr>
      </p:sp>
      <p:sp>
        <p:nvSpPr>
          <p:cNvPr id="31" name="Shape 28"/>
          <p:cNvSpPr/>
          <p:nvPr/>
        </p:nvSpPr>
        <p:spPr>
          <a:xfrm>
            <a:off x="8167604" y="2445189"/>
            <a:ext cx="0" cy="109728"/>
          </a:xfrm>
          <a:prstGeom prst="line">
            <a:avLst/>
          </a:prstGeom>
          <a:noFill/>
          <a:ln w="25400">
            <a:solidFill>
              <a:srgbClr val="6FBEC0"/>
            </a:solidFill>
            <a:prstDash val="solid"/>
          </a:ln>
        </p:spPr>
      </p:sp>
      <p:sp>
        <p:nvSpPr>
          <p:cNvPr id="32" name="Shape 29"/>
          <p:cNvSpPr/>
          <p:nvPr/>
        </p:nvSpPr>
        <p:spPr>
          <a:xfrm>
            <a:off x="7146615" y="2454333"/>
            <a:ext cx="91440" cy="91440"/>
          </a:xfrm>
          <a:prstGeom prst="diamond">
            <a:avLst/>
          </a:prstGeom>
          <a:solidFill>
            <a:srgbClr val="12A3A6"/>
          </a:solidFill>
          <a:ln/>
        </p:spPr>
      </p:sp>
      <p:sp>
        <p:nvSpPr>
          <p:cNvPr id="33" name="Text 30"/>
          <p:cNvSpPr/>
          <p:nvPr/>
        </p:nvSpPr>
        <p:spPr>
          <a:xfrm>
            <a:off x="9765792" y="2353749"/>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0.73 (0.25 to 1.22)</a:t>
            </a:r>
            <a:endParaRPr lang="en-US" sz="950" dirty="0"/>
          </a:p>
        </p:txBody>
      </p:sp>
      <p:sp>
        <p:nvSpPr>
          <p:cNvPr id="34" name="Text 31"/>
          <p:cNvSpPr/>
          <p:nvPr/>
        </p:nvSpPr>
        <p:spPr>
          <a:xfrm>
            <a:off x="640080" y="2731978"/>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other / unknown</a:t>
            </a:r>
            <a:endParaRPr lang="en-US" sz="1100" dirty="0"/>
          </a:p>
        </p:txBody>
      </p:sp>
      <p:sp>
        <p:nvSpPr>
          <p:cNvPr id="35" name="Shape 32"/>
          <p:cNvSpPr/>
          <p:nvPr/>
        </p:nvSpPr>
        <p:spPr>
          <a:xfrm>
            <a:off x="4684502" y="2878282"/>
            <a:ext cx="3920978" cy="0"/>
          </a:xfrm>
          <a:prstGeom prst="line">
            <a:avLst/>
          </a:prstGeom>
          <a:noFill/>
          <a:ln w="25400">
            <a:solidFill>
              <a:srgbClr val="6FBEC0"/>
            </a:solidFill>
            <a:prstDash val="solid"/>
          </a:ln>
        </p:spPr>
      </p:sp>
      <p:sp>
        <p:nvSpPr>
          <p:cNvPr id="36" name="Shape 33"/>
          <p:cNvSpPr/>
          <p:nvPr/>
        </p:nvSpPr>
        <p:spPr>
          <a:xfrm>
            <a:off x="4684502" y="2823418"/>
            <a:ext cx="0" cy="109728"/>
          </a:xfrm>
          <a:prstGeom prst="line">
            <a:avLst/>
          </a:prstGeom>
          <a:noFill/>
          <a:ln w="25400">
            <a:solidFill>
              <a:srgbClr val="6FBEC0"/>
            </a:solidFill>
            <a:prstDash val="solid"/>
          </a:ln>
        </p:spPr>
      </p:sp>
      <p:sp>
        <p:nvSpPr>
          <p:cNvPr id="37" name="Shape 34"/>
          <p:cNvSpPr/>
          <p:nvPr/>
        </p:nvSpPr>
        <p:spPr>
          <a:xfrm>
            <a:off x="8605479" y="2823418"/>
            <a:ext cx="0" cy="109728"/>
          </a:xfrm>
          <a:prstGeom prst="line">
            <a:avLst/>
          </a:prstGeom>
          <a:noFill/>
          <a:ln w="25400">
            <a:solidFill>
              <a:srgbClr val="6FBEC0"/>
            </a:solidFill>
            <a:prstDash val="solid"/>
          </a:ln>
        </p:spPr>
      </p:sp>
      <p:sp>
        <p:nvSpPr>
          <p:cNvPr id="38" name="Shape 35"/>
          <p:cNvSpPr/>
          <p:nvPr/>
        </p:nvSpPr>
        <p:spPr>
          <a:xfrm>
            <a:off x="6589319" y="2832562"/>
            <a:ext cx="91440" cy="91440"/>
          </a:xfrm>
          <a:prstGeom prst="diamond">
            <a:avLst/>
          </a:prstGeom>
          <a:solidFill>
            <a:srgbClr val="12A3A6"/>
          </a:solidFill>
          <a:ln/>
        </p:spPr>
      </p:sp>
      <p:sp>
        <p:nvSpPr>
          <p:cNvPr id="39" name="Text 36"/>
          <p:cNvSpPr/>
          <p:nvPr/>
        </p:nvSpPr>
        <p:spPr>
          <a:xfrm>
            <a:off x="9765792" y="2731978"/>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0.45 (-0.53 to 1.44)</a:t>
            </a:r>
            <a:endParaRPr lang="en-US" sz="950" dirty="0"/>
          </a:p>
        </p:txBody>
      </p:sp>
      <p:sp>
        <p:nvSpPr>
          <p:cNvPr id="40" name="Text 37"/>
          <p:cNvSpPr/>
          <p:nvPr/>
        </p:nvSpPr>
        <p:spPr>
          <a:xfrm>
            <a:off x="640080" y="3110207"/>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&lt; 45</a:t>
            </a:r>
            <a:endParaRPr lang="en-US" sz="1100" dirty="0"/>
          </a:p>
        </p:txBody>
      </p:sp>
      <p:sp>
        <p:nvSpPr>
          <p:cNvPr id="41" name="Shape 38"/>
          <p:cNvSpPr/>
          <p:nvPr/>
        </p:nvSpPr>
        <p:spPr>
          <a:xfrm>
            <a:off x="5958322" y="3256511"/>
            <a:ext cx="2010247" cy="0"/>
          </a:xfrm>
          <a:prstGeom prst="line">
            <a:avLst/>
          </a:prstGeom>
          <a:noFill/>
          <a:ln w="25400">
            <a:solidFill>
              <a:srgbClr val="6FBEC0"/>
            </a:solidFill>
            <a:prstDash val="solid"/>
          </a:ln>
        </p:spPr>
      </p:sp>
      <p:sp>
        <p:nvSpPr>
          <p:cNvPr id="42" name="Shape 39"/>
          <p:cNvSpPr/>
          <p:nvPr/>
        </p:nvSpPr>
        <p:spPr>
          <a:xfrm>
            <a:off x="5958322" y="3201647"/>
            <a:ext cx="0" cy="109728"/>
          </a:xfrm>
          <a:prstGeom prst="line">
            <a:avLst/>
          </a:prstGeom>
          <a:noFill/>
          <a:ln w="25400">
            <a:solidFill>
              <a:srgbClr val="6FBEC0"/>
            </a:solidFill>
            <a:prstDash val="solid"/>
          </a:ln>
        </p:spPr>
      </p:sp>
      <p:sp>
        <p:nvSpPr>
          <p:cNvPr id="43" name="Shape 40"/>
          <p:cNvSpPr/>
          <p:nvPr/>
        </p:nvSpPr>
        <p:spPr>
          <a:xfrm>
            <a:off x="7968569" y="3201647"/>
            <a:ext cx="0" cy="109728"/>
          </a:xfrm>
          <a:prstGeom prst="line">
            <a:avLst/>
          </a:prstGeom>
          <a:noFill/>
          <a:ln w="25400">
            <a:solidFill>
              <a:srgbClr val="6FBEC0"/>
            </a:solidFill>
            <a:prstDash val="solid"/>
          </a:ln>
        </p:spPr>
      </p:sp>
      <p:sp>
        <p:nvSpPr>
          <p:cNvPr id="44" name="Shape 41"/>
          <p:cNvSpPr/>
          <p:nvPr/>
        </p:nvSpPr>
        <p:spPr>
          <a:xfrm>
            <a:off x="6907774" y="3210791"/>
            <a:ext cx="91440" cy="91440"/>
          </a:xfrm>
          <a:prstGeom prst="diamond">
            <a:avLst/>
          </a:prstGeom>
          <a:solidFill>
            <a:srgbClr val="12A3A6"/>
          </a:solidFill>
          <a:ln/>
        </p:spPr>
      </p:sp>
      <p:sp>
        <p:nvSpPr>
          <p:cNvPr id="45" name="Text 42"/>
          <p:cNvSpPr/>
          <p:nvPr/>
        </p:nvSpPr>
        <p:spPr>
          <a:xfrm>
            <a:off x="9765792" y="3110207"/>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0.61 (0.11 to 1.12)</a:t>
            </a:r>
            <a:endParaRPr lang="en-US" sz="950" dirty="0"/>
          </a:p>
        </p:txBody>
      </p:sp>
      <p:sp>
        <p:nvSpPr>
          <p:cNvPr id="46" name="Text 43"/>
          <p:cNvSpPr/>
          <p:nvPr/>
        </p:nvSpPr>
        <p:spPr>
          <a:xfrm>
            <a:off x="640080" y="3488436"/>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45 to &lt;60</a:t>
            </a:r>
            <a:endParaRPr lang="en-US" sz="1100" dirty="0"/>
          </a:p>
        </p:txBody>
      </p:sp>
      <p:sp>
        <p:nvSpPr>
          <p:cNvPr id="47" name="Shape 44"/>
          <p:cNvSpPr/>
          <p:nvPr/>
        </p:nvSpPr>
        <p:spPr>
          <a:xfrm>
            <a:off x="6416101" y="3634740"/>
            <a:ext cx="2806385" cy="0"/>
          </a:xfrm>
          <a:prstGeom prst="line">
            <a:avLst/>
          </a:prstGeom>
          <a:noFill/>
          <a:ln w="25400">
            <a:solidFill>
              <a:srgbClr val="6FBEC0"/>
            </a:solidFill>
            <a:prstDash val="solid"/>
          </a:ln>
        </p:spPr>
      </p:sp>
      <p:sp>
        <p:nvSpPr>
          <p:cNvPr id="48" name="Shape 45"/>
          <p:cNvSpPr/>
          <p:nvPr/>
        </p:nvSpPr>
        <p:spPr>
          <a:xfrm>
            <a:off x="6416101" y="3579876"/>
            <a:ext cx="0" cy="109728"/>
          </a:xfrm>
          <a:prstGeom prst="line">
            <a:avLst/>
          </a:prstGeom>
          <a:noFill/>
          <a:ln w="25400">
            <a:solidFill>
              <a:srgbClr val="6FBEC0"/>
            </a:solidFill>
            <a:prstDash val="solid"/>
          </a:ln>
        </p:spPr>
      </p:sp>
      <p:sp>
        <p:nvSpPr>
          <p:cNvPr id="49" name="Shape 46"/>
          <p:cNvSpPr/>
          <p:nvPr/>
        </p:nvSpPr>
        <p:spPr>
          <a:xfrm>
            <a:off x="9222486" y="3579876"/>
            <a:ext cx="0" cy="109728"/>
          </a:xfrm>
          <a:prstGeom prst="line">
            <a:avLst/>
          </a:prstGeom>
          <a:noFill/>
          <a:ln w="25400">
            <a:solidFill>
              <a:srgbClr val="6FBEC0"/>
            </a:solidFill>
            <a:prstDash val="solid"/>
          </a:ln>
        </p:spPr>
      </p:sp>
      <p:sp>
        <p:nvSpPr>
          <p:cNvPr id="50" name="Shape 47"/>
          <p:cNvSpPr/>
          <p:nvPr/>
        </p:nvSpPr>
        <p:spPr>
          <a:xfrm>
            <a:off x="7783525" y="3589020"/>
            <a:ext cx="91440" cy="91440"/>
          </a:xfrm>
          <a:prstGeom prst="diamond">
            <a:avLst/>
          </a:prstGeom>
          <a:solidFill>
            <a:srgbClr val="12A3A6"/>
          </a:solidFill>
          <a:ln/>
        </p:spPr>
      </p:sp>
      <p:sp>
        <p:nvSpPr>
          <p:cNvPr id="51" name="Text 48"/>
          <p:cNvSpPr/>
          <p:nvPr/>
        </p:nvSpPr>
        <p:spPr>
          <a:xfrm>
            <a:off x="9765792" y="3488436"/>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1.05 (0.34 to 1.75)</a:t>
            </a:r>
            <a:endParaRPr lang="en-US" sz="950" dirty="0"/>
          </a:p>
        </p:txBody>
      </p:sp>
      <p:sp>
        <p:nvSpPr>
          <p:cNvPr id="52" name="Text 49"/>
          <p:cNvSpPr/>
          <p:nvPr/>
        </p:nvSpPr>
        <p:spPr>
          <a:xfrm>
            <a:off x="640080" y="3866665"/>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 60</a:t>
            </a:r>
            <a:endParaRPr lang="en-US" sz="1100" dirty="0"/>
          </a:p>
        </p:txBody>
      </p:sp>
      <p:sp>
        <p:nvSpPr>
          <p:cNvPr id="53" name="Shape 50"/>
          <p:cNvSpPr/>
          <p:nvPr/>
        </p:nvSpPr>
        <p:spPr>
          <a:xfrm>
            <a:off x="4943246" y="4012969"/>
            <a:ext cx="3244261" cy="0"/>
          </a:xfrm>
          <a:prstGeom prst="line">
            <a:avLst/>
          </a:prstGeom>
          <a:noFill/>
          <a:ln w="25400">
            <a:solidFill>
              <a:srgbClr val="6FBEC0"/>
            </a:solidFill>
            <a:prstDash val="solid"/>
          </a:ln>
        </p:spPr>
      </p:sp>
      <p:sp>
        <p:nvSpPr>
          <p:cNvPr id="54" name="Shape 51"/>
          <p:cNvSpPr/>
          <p:nvPr/>
        </p:nvSpPr>
        <p:spPr>
          <a:xfrm>
            <a:off x="4943246" y="3958105"/>
            <a:ext cx="0" cy="109728"/>
          </a:xfrm>
          <a:prstGeom prst="line">
            <a:avLst/>
          </a:prstGeom>
          <a:noFill/>
          <a:ln w="25400">
            <a:solidFill>
              <a:srgbClr val="6FBEC0"/>
            </a:solidFill>
            <a:prstDash val="solid"/>
          </a:ln>
        </p:spPr>
      </p:sp>
      <p:sp>
        <p:nvSpPr>
          <p:cNvPr id="55" name="Shape 52"/>
          <p:cNvSpPr/>
          <p:nvPr/>
        </p:nvSpPr>
        <p:spPr>
          <a:xfrm>
            <a:off x="8187507" y="3958105"/>
            <a:ext cx="0" cy="109728"/>
          </a:xfrm>
          <a:prstGeom prst="line">
            <a:avLst/>
          </a:prstGeom>
          <a:noFill/>
          <a:ln w="25400">
            <a:solidFill>
              <a:srgbClr val="6FBEC0"/>
            </a:solidFill>
            <a:prstDash val="solid"/>
          </a:ln>
        </p:spPr>
      </p:sp>
      <p:sp>
        <p:nvSpPr>
          <p:cNvPr id="56" name="Shape 53"/>
          <p:cNvSpPr/>
          <p:nvPr/>
        </p:nvSpPr>
        <p:spPr>
          <a:xfrm>
            <a:off x="6509705" y="3967249"/>
            <a:ext cx="91440" cy="91440"/>
          </a:xfrm>
          <a:prstGeom prst="diamond">
            <a:avLst/>
          </a:prstGeom>
          <a:solidFill>
            <a:srgbClr val="12A3A6"/>
          </a:solidFill>
          <a:ln/>
        </p:spPr>
      </p:sp>
      <p:sp>
        <p:nvSpPr>
          <p:cNvPr id="57" name="Text 54"/>
          <p:cNvSpPr/>
          <p:nvPr/>
        </p:nvSpPr>
        <p:spPr>
          <a:xfrm>
            <a:off x="9765792" y="3866665"/>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0.41 (-0.40 to 1.23)</a:t>
            </a:r>
            <a:endParaRPr lang="en-US" sz="950" dirty="0"/>
          </a:p>
        </p:txBody>
      </p:sp>
      <p:sp>
        <p:nvSpPr>
          <p:cNvPr id="58" name="Text 55"/>
          <p:cNvSpPr/>
          <p:nvPr/>
        </p:nvSpPr>
        <p:spPr>
          <a:xfrm>
            <a:off x="640080" y="4244894"/>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UACR ≤ 1000</a:t>
            </a:r>
            <a:endParaRPr lang="en-US" sz="1100" dirty="0"/>
          </a:p>
        </p:txBody>
      </p:sp>
      <p:sp>
        <p:nvSpPr>
          <p:cNvPr id="59" name="Shape 56"/>
          <p:cNvSpPr/>
          <p:nvPr/>
        </p:nvSpPr>
        <p:spPr>
          <a:xfrm>
            <a:off x="5619963" y="4391198"/>
            <a:ext cx="1851020" cy="0"/>
          </a:xfrm>
          <a:prstGeom prst="line">
            <a:avLst/>
          </a:prstGeom>
          <a:noFill/>
          <a:ln w="25400">
            <a:solidFill>
              <a:srgbClr val="6FBEC0"/>
            </a:solidFill>
            <a:prstDash val="solid"/>
          </a:ln>
        </p:spPr>
      </p:sp>
      <p:sp>
        <p:nvSpPr>
          <p:cNvPr id="60" name="Shape 57"/>
          <p:cNvSpPr/>
          <p:nvPr/>
        </p:nvSpPr>
        <p:spPr>
          <a:xfrm>
            <a:off x="5619963" y="4336334"/>
            <a:ext cx="0" cy="109728"/>
          </a:xfrm>
          <a:prstGeom prst="line">
            <a:avLst/>
          </a:prstGeom>
          <a:noFill/>
          <a:ln w="25400">
            <a:solidFill>
              <a:srgbClr val="6FBEC0"/>
            </a:solidFill>
            <a:prstDash val="solid"/>
          </a:ln>
        </p:spPr>
      </p:sp>
      <p:sp>
        <p:nvSpPr>
          <p:cNvPr id="61" name="Shape 58"/>
          <p:cNvSpPr/>
          <p:nvPr/>
        </p:nvSpPr>
        <p:spPr>
          <a:xfrm>
            <a:off x="7470983" y="4336334"/>
            <a:ext cx="0" cy="109728"/>
          </a:xfrm>
          <a:prstGeom prst="line">
            <a:avLst/>
          </a:prstGeom>
          <a:noFill/>
          <a:ln w="25400">
            <a:solidFill>
              <a:srgbClr val="6FBEC0"/>
            </a:solidFill>
            <a:prstDash val="solid"/>
          </a:ln>
        </p:spPr>
      </p:sp>
      <p:sp>
        <p:nvSpPr>
          <p:cNvPr id="62" name="Shape 59"/>
          <p:cNvSpPr/>
          <p:nvPr/>
        </p:nvSpPr>
        <p:spPr>
          <a:xfrm>
            <a:off x="6489802" y="4345478"/>
            <a:ext cx="91440" cy="91440"/>
          </a:xfrm>
          <a:prstGeom prst="diamond">
            <a:avLst/>
          </a:prstGeom>
          <a:solidFill>
            <a:srgbClr val="12A3A6"/>
          </a:solidFill>
          <a:ln/>
        </p:spPr>
      </p:sp>
      <p:sp>
        <p:nvSpPr>
          <p:cNvPr id="63" name="Text 60"/>
          <p:cNvSpPr/>
          <p:nvPr/>
        </p:nvSpPr>
        <p:spPr>
          <a:xfrm>
            <a:off x="9765792" y="4244894"/>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0.40 (-0.06 to 0.87)</a:t>
            </a:r>
            <a:endParaRPr lang="en-US" sz="950" dirty="0"/>
          </a:p>
        </p:txBody>
      </p:sp>
      <p:sp>
        <p:nvSpPr>
          <p:cNvPr id="64" name="Text 61"/>
          <p:cNvSpPr/>
          <p:nvPr/>
        </p:nvSpPr>
        <p:spPr>
          <a:xfrm>
            <a:off x="640080" y="4623123"/>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UACR &gt; 1000</a:t>
            </a:r>
            <a:endParaRPr lang="en-US" sz="1100" dirty="0"/>
          </a:p>
        </p:txBody>
      </p:sp>
      <p:sp>
        <p:nvSpPr>
          <p:cNvPr id="65" name="Shape 62"/>
          <p:cNvSpPr/>
          <p:nvPr/>
        </p:nvSpPr>
        <p:spPr>
          <a:xfrm>
            <a:off x="6834073" y="4769427"/>
            <a:ext cx="2388413" cy="0"/>
          </a:xfrm>
          <a:prstGeom prst="line">
            <a:avLst/>
          </a:prstGeom>
          <a:noFill/>
          <a:ln w="25400">
            <a:solidFill>
              <a:srgbClr val="6FBEC0"/>
            </a:solidFill>
            <a:prstDash val="solid"/>
          </a:ln>
        </p:spPr>
      </p:sp>
      <p:sp>
        <p:nvSpPr>
          <p:cNvPr id="66" name="Shape 63"/>
          <p:cNvSpPr/>
          <p:nvPr/>
        </p:nvSpPr>
        <p:spPr>
          <a:xfrm>
            <a:off x="6834073" y="4714563"/>
            <a:ext cx="0" cy="109728"/>
          </a:xfrm>
          <a:prstGeom prst="line">
            <a:avLst/>
          </a:prstGeom>
          <a:noFill/>
          <a:ln w="25400">
            <a:solidFill>
              <a:srgbClr val="6FBEC0"/>
            </a:solidFill>
            <a:prstDash val="solid"/>
          </a:ln>
        </p:spPr>
      </p:sp>
      <p:sp>
        <p:nvSpPr>
          <p:cNvPr id="67" name="Shape 64"/>
          <p:cNvSpPr/>
          <p:nvPr/>
        </p:nvSpPr>
        <p:spPr>
          <a:xfrm>
            <a:off x="9222486" y="4714563"/>
            <a:ext cx="0" cy="109728"/>
          </a:xfrm>
          <a:prstGeom prst="line">
            <a:avLst/>
          </a:prstGeom>
          <a:noFill/>
          <a:ln w="25400">
            <a:solidFill>
              <a:srgbClr val="6FBEC0"/>
            </a:solidFill>
            <a:prstDash val="solid"/>
          </a:ln>
        </p:spPr>
      </p:sp>
      <p:sp>
        <p:nvSpPr>
          <p:cNvPr id="68" name="Shape 65"/>
          <p:cNvSpPr/>
          <p:nvPr/>
        </p:nvSpPr>
        <p:spPr>
          <a:xfrm>
            <a:off x="7982560" y="4723707"/>
            <a:ext cx="91440" cy="91440"/>
          </a:xfrm>
          <a:prstGeom prst="diamond">
            <a:avLst/>
          </a:prstGeom>
          <a:solidFill>
            <a:srgbClr val="12A3A6"/>
          </a:solidFill>
          <a:ln/>
        </p:spPr>
      </p:sp>
      <p:sp>
        <p:nvSpPr>
          <p:cNvPr id="69" name="Text 66"/>
          <p:cNvSpPr/>
          <p:nvPr/>
        </p:nvSpPr>
        <p:spPr>
          <a:xfrm>
            <a:off x="9765792" y="4623123"/>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1.15 (0.55 to 1.75)</a:t>
            </a:r>
            <a:endParaRPr lang="en-US" sz="950" dirty="0"/>
          </a:p>
        </p:txBody>
      </p:sp>
      <p:sp>
        <p:nvSpPr>
          <p:cNvPr id="70" name="Text 67"/>
          <p:cNvSpPr/>
          <p:nvPr/>
        </p:nvSpPr>
        <p:spPr>
          <a:xfrm>
            <a:off x="640080" y="5001352"/>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SGLT2i: yes</a:t>
            </a:r>
            <a:endParaRPr lang="en-US" sz="1100" dirty="0"/>
          </a:p>
        </p:txBody>
      </p:sp>
      <p:sp>
        <p:nvSpPr>
          <p:cNvPr id="71" name="Shape 68"/>
          <p:cNvSpPr/>
          <p:nvPr/>
        </p:nvSpPr>
        <p:spPr>
          <a:xfrm>
            <a:off x="5619963" y="5147656"/>
            <a:ext cx="3562716" cy="0"/>
          </a:xfrm>
          <a:prstGeom prst="line">
            <a:avLst/>
          </a:prstGeom>
          <a:noFill/>
          <a:ln w="25400">
            <a:solidFill>
              <a:srgbClr val="6FBEC0"/>
            </a:solidFill>
            <a:prstDash val="solid"/>
          </a:ln>
        </p:spPr>
      </p:sp>
      <p:sp>
        <p:nvSpPr>
          <p:cNvPr id="72" name="Shape 69"/>
          <p:cNvSpPr/>
          <p:nvPr/>
        </p:nvSpPr>
        <p:spPr>
          <a:xfrm>
            <a:off x="5619963" y="5092792"/>
            <a:ext cx="0" cy="109728"/>
          </a:xfrm>
          <a:prstGeom prst="line">
            <a:avLst/>
          </a:prstGeom>
          <a:noFill/>
          <a:ln w="25400">
            <a:solidFill>
              <a:srgbClr val="6FBEC0"/>
            </a:solidFill>
            <a:prstDash val="solid"/>
          </a:ln>
        </p:spPr>
      </p:sp>
      <p:sp>
        <p:nvSpPr>
          <p:cNvPr id="73" name="Shape 70"/>
          <p:cNvSpPr/>
          <p:nvPr/>
        </p:nvSpPr>
        <p:spPr>
          <a:xfrm>
            <a:off x="9182679" y="5092792"/>
            <a:ext cx="0" cy="109728"/>
          </a:xfrm>
          <a:prstGeom prst="line">
            <a:avLst/>
          </a:prstGeom>
          <a:noFill/>
          <a:ln w="25400">
            <a:solidFill>
              <a:srgbClr val="6FBEC0"/>
            </a:solidFill>
            <a:prstDash val="solid"/>
          </a:ln>
        </p:spPr>
      </p:sp>
      <p:sp>
        <p:nvSpPr>
          <p:cNvPr id="74" name="Shape 71"/>
          <p:cNvSpPr/>
          <p:nvPr/>
        </p:nvSpPr>
        <p:spPr>
          <a:xfrm>
            <a:off x="7365553" y="5101936"/>
            <a:ext cx="91440" cy="91440"/>
          </a:xfrm>
          <a:prstGeom prst="diamond">
            <a:avLst/>
          </a:prstGeom>
          <a:solidFill>
            <a:srgbClr val="12A3A6"/>
          </a:solidFill>
          <a:ln/>
        </p:spPr>
      </p:sp>
      <p:sp>
        <p:nvSpPr>
          <p:cNvPr id="75" name="Text 72"/>
          <p:cNvSpPr/>
          <p:nvPr/>
        </p:nvSpPr>
        <p:spPr>
          <a:xfrm>
            <a:off x="9765792" y="5001352"/>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0.84 (-0.06 to 1.73)</a:t>
            </a:r>
            <a:endParaRPr lang="en-US" sz="950" dirty="0"/>
          </a:p>
        </p:txBody>
      </p:sp>
      <p:sp>
        <p:nvSpPr>
          <p:cNvPr id="76" name="Text 73"/>
          <p:cNvSpPr/>
          <p:nvPr/>
        </p:nvSpPr>
        <p:spPr>
          <a:xfrm>
            <a:off x="640080" y="5379581"/>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SGLT2i: no</a:t>
            </a:r>
            <a:endParaRPr lang="en-US" sz="1100" dirty="0"/>
          </a:p>
        </p:txBody>
      </p:sp>
      <p:sp>
        <p:nvSpPr>
          <p:cNvPr id="77" name="Shape 74"/>
          <p:cNvSpPr/>
          <p:nvPr/>
        </p:nvSpPr>
        <p:spPr>
          <a:xfrm>
            <a:off x="6236970" y="5525885"/>
            <a:ext cx="1612179" cy="0"/>
          </a:xfrm>
          <a:prstGeom prst="line">
            <a:avLst/>
          </a:prstGeom>
          <a:noFill/>
          <a:ln w="25400">
            <a:solidFill>
              <a:srgbClr val="6FBEC0"/>
            </a:solidFill>
            <a:prstDash val="solid"/>
          </a:ln>
        </p:spPr>
      </p:sp>
      <p:sp>
        <p:nvSpPr>
          <p:cNvPr id="78" name="Shape 75"/>
          <p:cNvSpPr/>
          <p:nvPr/>
        </p:nvSpPr>
        <p:spPr>
          <a:xfrm>
            <a:off x="6236970" y="5471021"/>
            <a:ext cx="0" cy="109728"/>
          </a:xfrm>
          <a:prstGeom prst="line">
            <a:avLst/>
          </a:prstGeom>
          <a:noFill/>
          <a:ln w="25400">
            <a:solidFill>
              <a:srgbClr val="6FBEC0"/>
            </a:solidFill>
            <a:prstDash val="solid"/>
          </a:ln>
        </p:spPr>
      </p:sp>
      <p:sp>
        <p:nvSpPr>
          <p:cNvPr id="79" name="Shape 76"/>
          <p:cNvSpPr/>
          <p:nvPr/>
        </p:nvSpPr>
        <p:spPr>
          <a:xfrm>
            <a:off x="7849149" y="5471021"/>
            <a:ext cx="0" cy="109728"/>
          </a:xfrm>
          <a:prstGeom prst="line">
            <a:avLst/>
          </a:prstGeom>
          <a:noFill/>
          <a:ln w="25400">
            <a:solidFill>
              <a:srgbClr val="6FBEC0"/>
            </a:solidFill>
            <a:prstDash val="solid"/>
          </a:ln>
        </p:spPr>
      </p:sp>
      <p:sp>
        <p:nvSpPr>
          <p:cNvPr id="80" name="Shape 77"/>
          <p:cNvSpPr/>
          <p:nvPr/>
        </p:nvSpPr>
        <p:spPr>
          <a:xfrm>
            <a:off x="6987388" y="5480165"/>
            <a:ext cx="91440" cy="91440"/>
          </a:xfrm>
          <a:prstGeom prst="diamond">
            <a:avLst/>
          </a:prstGeom>
          <a:solidFill>
            <a:srgbClr val="12A3A6"/>
          </a:solidFill>
          <a:ln/>
        </p:spPr>
      </p:sp>
      <p:sp>
        <p:nvSpPr>
          <p:cNvPr id="81" name="Text 78"/>
          <p:cNvSpPr/>
          <p:nvPr/>
        </p:nvSpPr>
        <p:spPr>
          <a:xfrm>
            <a:off x="9765792" y="5379581"/>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0.65 (0.25 to 1.06)</a:t>
            </a:r>
            <a:endParaRPr lang="en-US" sz="950" dirty="0"/>
          </a:p>
        </p:txBody>
      </p:sp>
      <p:sp>
        <p:nvSpPr>
          <p:cNvPr id="82" name="Text 79"/>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3" name="Text 80"/>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Secondary clinical outcomes</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450" dirty="0"/>
          </a:p>
        </p:txBody>
      </p:sp>
      <p:graphicFrame>
        <p:nvGraphicFramePr>
          <p:cNvPr id="6" name="Chart 0" descr=""/>
          <p:cNvGraphicFramePr/>
          <p:nvPr/>
        </p:nvGraphicFramePr>
        <p:xfrm>
          <a:off x="640080" y="1691640"/>
          <a:ext cx="5943600" cy="402336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949440" y="1691640"/>
            <a:ext cx="4599432" cy="457200"/>
          </a:xfrm>
          <a:prstGeom prst="rect">
            <a:avLst/>
          </a:prstGeom>
          <a:solidFill>
            <a:srgbClr val="0F3446"/>
          </a:solidFill>
          <a:ln/>
        </p:spPr>
      </p:sp>
      <p:sp>
        <p:nvSpPr>
          <p:cNvPr id="8" name="Text 4"/>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Composite</a:t>
            </a:r>
            <a:endParaRPr lang="en-US" sz="1200" dirty="0"/>
          </a:p>
        </p:txBody>
      </p:sp>
      <p:sp>
        <p:nvSpPr>
          <p:cNvPr id="9" name="Text 5"/>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 / Plac</a:t>
            </a:r>
            <a:endParaRPr lang="en-US" sz="1200" dirty="0"/>
          </a:p>
        </p:txBody>
      </p:sp>
      <p:sp>
        <p:nvSpPr>
          <p:cNvPr id="10" name="Text 6"/>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11" name="Text 7"/>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12" name="Shape 8"/>
          <p:cNvSpPr/>
          <p:nvPr/>
        </p:nvSpPr>
        <p:spPr>
          <a:xfrm>
            <a:off x="6949440" y="2807208"/>
            <a:ext cx="4599432" cy="0"/>
          </a:xfrm>
          <a:prstGeom prst="line">
            <a:avLst/>
          </a:prstGeom>
          <a:noFill/>
          <a:ln w="9525">
            <a:solidFill>
              <a:srgbClr val="CFDDDD"/>
            </a:solidFill>
            <a:prstDash val="solid"/>
          </a:ln>
        </p:spPr>
      </p:sp>
      <p:sp>
        <p:nvSpPr>
          <p:cNvPr id="13" name="Text 9"/>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Kidney–CV</a:t>
            </a:r>
            <a:endParaRPr lang="en-US" sz="1100" dirty="0"/>
          </a:p>
        </p:txBody>
      </p:sp>
      <p:sp>
        <p:nvSpPr>
          <p:cNvPr id="14" name="Text 10"/>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110 / 134</a:t>
            </a:r>
            <a:endParaRPr lang="en-US" sz="1100" dirty="0"/>
          </a:p>
        </p:txBody>
      </p:sp>
      <p:sp>
        <p:nvSpPr>
          <p:cNvPr id="15" name="Text 11"/>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0.77 (0.60–0.99)</a:t>
            </a:r>
            <a:endParaRPr lang="en-US" sz="1100" dirty="0"/>
          </a:p>
        </p:txBody>
      </p:sp>
      <p:sp>
        <p:nvSpPr>
          <p:cNvPr id="16" name="Text 12"/>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0.04</a:t>
            </a:r>
            <a:endParaRPr lang="en-US" sz="1100" dirty="0"/>
          </a:p>
        </p:txBody>
      </p:sp>
      <p:sp>
        <p:nvSpPr>
          <p:cNvPr id="17" name="Shape 13"/>
          <p:cNvSpPr/>
          <p:nvPr/>
        </p:nvSpPr>
        <p:spPr>
          <a:xfrm>
            <a:off x="6949440" y="3465576"/>
            <a:ext cx="4599432" cy="0"/>
          </a:xfrm>
          <a:prstGeom prst="line">
            <a:avLst/>
          </a:prstGeom>
          <a:noFill/>
          <a:ln w="9525">
            <a:solidFill>
              <a:srgbClr val="CFDDDD"/>
            </a:solidFill>
            <a:prstDash val="solid"/>
          </a:ln>
        </p:spPr>
      </p:sp>
      <p:sp>
        <p:nvSpPr>
          <p:cNvPr id="18" name="Text 14"/>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Kidney</a:t>
            </a:r>
            <a:endParaRPr lang="en-US" sz="1100" dirty="0"/>
          </a:p>
        </p:txBody>
      </p:sp>
      <p:sp>
        <p:nvSpPr>
          <p:cNvPr id="19" name="Text 15"/>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104 / 125</a:t>
            </a:r>
            <a:endParaRPr lang="en-US" sz="1100" dirty="0"/>
          </a:p>
        </p:txBody>
      </p:sp>
      <p:sp>
        <p:nvSpPr>
          <p:cNvPr id="20" name="Text 16"/>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0.78 (0.60–1.01)</a:t>
            </a:r>
            <a:endParaRPr lang="en-US" sz="1100" dirty="0"/>
          </a:p>
        </p:txBody>
      </p:sp>
      <p:sp>
        <p:nvSpPr>
          <p:cNvPr id="21" name="Text 17"/>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0.06</a:t>
            </a:r>
            <a:endParaRPr lang="en-US" sz="1100" dirty="0"/>
          </a:p>
        </p:txBody>
      </p:sp>
      <p:sp>
        <p:nvSpPr>
          <p:cNvPr id="22" name="Shape 18"/>
          <p:cNvSpPr/>
          <p:nvPr/>
        </p:nvSpPr>
        <p:spPr>
          <a:xfrm>
            <a:off x="6949440" y="4123944"/>
            <a:ext cx="4599432" cy="0"/>
          </a:xfrm>
          <a:prstGeom prst="line">
            <a:avLst/>
          </a:prstGeom>
          <a:noFill/>
          <a:ln w="9525">
            <a:solidFill>
              <a:srgbClr val="CFDDDD"/>
            </a:solidFill>
            <a:prstDash val="solid"/>
          </a:ln>
        </p:spPr>
      </p:sp>
      <p:sp>
        <p:nvSpPr>
          <p:cNvPr id="23" name="Text 19"/>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CV</a:t>
            </a:r>
            <a:endParaRPr lang="en-US" sz="1100" dirty="0"/>
          </a:p>
        </p:txBody>
      </p:sp>
      <p:sp>
        <p:nvSpPr>
          <p:cNvPr id="24" name="Text 20"/>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10 / 16</a:t>
            </a:r>
            <a:endParaRPr lang="en-US" sz="1100" dirty="0"/>
          </a:p>
        </p:txBody>
      </p:sp>
      <p:sp>
        <p:nvSpPr>
          <p:cNvPr id="25" name="Text 21"/>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0.60 (0.27–1.33)</a:t>
            </a:r>
            <a:endParaRPr lang="en-US" sz="1100" dirty="0"/>
          </a:p>
        </p:txBody>
      </p:sp>
      <p:sp>
        <p:nvSpPr>
          <p:cNvPr id="26" name="Text 22"/>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a:t>
            </a:r>
            <a:endParaRPr lang="en-US" sz="1100" dirty="0"/>
          </a:p>
        </p:txBody>
      </p:sp>
      <p:sp>
        <p:nvSpPr>
          <p:cNvPr id="27" name="Text 23"/>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200" dirty="0">
                <a:solidFill>
                  <a:srgbClr val="22343C"/>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200" dirty="0"/>
          </a:p>
        </p:txBody>
      </p:sp>
      <p:sp>
        <p:nvSpPr>
          <p:cNvPr id="28" name="Text 24"/>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3 (cumulative incidence reconstructed).</a:t>
            </a:r>
            <a:endParaRPr lang="en-US" sz="850" dirty="0"/>
          </a:p>
        </p:txBody>
      </p:sp>
      <p:sp>
        <p:nvSpPr>
          <p:cNvPr id="29" name="Text 25"/>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Albuminuria: an early, large signal</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450" dirty="0"/>
          </a:p>
        </p:txBody>
      </p:sp>
      <p:sp>
        <p:nvSpPr>
          <p:cNvPr id="6" name="Text 3"/>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7" name="Text 4"/>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UACR change to month 6 with finerenone vs −9% with placebo</a:t>
            </a:r>
            <a:endParaRPr lang="en-US" sz="1200" dirty="0"/>
          </a:p>
        </p:txBody>
      </p:sp>
      <p:sp>
        <p:nvSpPr>
          <p:cNvPr id="8" name="Text 5"/>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9" name="Text 6"/>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odds of a ≥30% UACR reduction vs placebo (95% CI 3.22–4.95)</a:t>
            </a:r>
            <a:endParaRPr lang="en-US" sz="1200" dirty="0"/>
          </a:p>
        </p:txBody>
      </p:sp>
      <p:sp>
        <p:nvSpPr>
          <p:cNvPr id="10" name="Text 7"/>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Relative between-group difference in UACR of about 35% (95% CI 30.9 to 39.6), sustained over time.</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 ≥30% UACR reduction at month 6 in 56.0% of the finerenone group vs 24.4% of placebo.</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This is the mechanistic fingerprint of MR blockade, and it appears within months.</a:t>
            </a:r>
            <a:endParaRPr lang="en-US" sz="1350" dirty="0"/>
          </a:p>
        </p:txBody>
      </p:sp>
      <p:sp>
        <p:nvSpPr>
          <p:cNvPr id="11" name="Text 8"/>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Blood pressure and other exploratory findings</a:t>
            </a:r>
            <a:endParaRPr lang="en-US" sz="2300" dirty="0"/>
          </a:p>
        </p:txBody>
      </p:sp>
      <p:sp>
        <p:nvSpPr>
          <p:cNvPr id="5" name="Text 2"/>
          <p:cNvSpPr/>
          <p:nvPr/>
        </p:nvSpPr>
        <p:spPr>
          <a:xfrm>
            <a:off x="640080" y="13716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Blood pressure (to month 3)</a:t>
            </a:r>
            <a:endParaRPr lang="en-US" sz="1400" dirty="0"/>
          </a:p>
        </p:txBody>
      </p:sp>
      <p:sp>
        <p:nvSpPr>
          <p:cNvPr id="6" name="Shape 3"/>
          <p:cNvSpPr/>
          <p:nvPr/>
        </p:nvSpPr>
        <p:spPr>
          <a:xfrm>
            <a:off x="640080" y="1737360"/>
            <a:ext cx="5760720" cy="420624"/>
          </a:xfrm>
          <a:prstGeom prst="rect">
            <a:avLst/>
          </a:prstGeom>
          <a:solidFill>
            <a:srgbClr val="0F3446"/>
          </a:solidFill>
          <a:ln/>
        </p:spPr>
      </p:sp>
      <p:sp>
        <p:nvSpPr>
          <p:cNvPr id="7" name="Text 4"/>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Change, mm Hg</a:t>
            </a:r>
            <a:endParaRPr lang="en-US" sz="1200" dirty="0"/>
          </a:p>
        </p:txBody>
      </p:sp>
      <p:sp>
        <p:nvSpPr>
          <p:cNvPr id="8" name="Text 5"/>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Finer.</a:t>
            </a:r>
            <a:endParaRPr lang="en-US" sz="1200" dirty="0"/>
          </a:p>
        </p:txBody>
      </p:sp>
      <p:sp>
        <p:nvSpPr>
          <p:cNvPr id="9" name="Text 6"/>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Placebo</a:t>
            </a:r>
            <a:endParaRPr lang="en-US" sz="1200" dirty="0"/>
          </a:p>
        </p:txBody>
      </p:sp>
      <p:sp>
        <p:nvSpPr>
          <p:cNvPr id="10" name="Shape 7"/>
          <p:cNvSpPr/>
          <p:nvPr/>
        </p:nvSpPr>
        <p:spPr>
          <a:xfrm>
            <a:off x="640080" y="2615184"/>
            <a:ext cx="5760720" cy="0"/>
          </a:xfrm>
          <a:prstGeom prst="line">
            <a:avLst/>
          </a:prstGeom>
          <a:noFill/>
          <a:ln w="9525">
            <a:solidFill>
              <a:srgbClr val="CFDDDD"/>
            </a:solidFill>
            <a:prstDash val="solid"/>
          </a:ln>
        </p:spPr>
      </p:sp>
      <p:sp>
        <p:nvSpPr>
          <p:cNvPr id="11" name="Text 8"/>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0F3446"/>
                </a:solidFill>
                <a:latin typeface="Calibri" pitchFamily="34" charset="0"/>
                <a:ea typeface="Calibri" pitchFamily="34" charset="-122"/>
                <a:cs typeface="Calibri" pitchFamily="34" charset="-120"/>
              </a:rPr>
              <a:t>Systolic</a:t>
            </a:r>
            <a:endParaRPr lang="en-US" sz="1200" dirty="0"/>
          </a:p>
        </p:txBody>
      </p:sp>
      <p:sp>
        <p:nvSpPr>
          <p:cNvPr id="12" name="Text 9"/>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−5.1</a:t>
            </a:r>
            <a:endParaRPr lang="en-US" sz="1200" dirty="0"/>
          </a:p>
        </p:txBody>
      </p:sp>
      <p:sp>
        <p:nvSpPr>
          <p:cNvPr id="13" name="Text 10"/>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−0.1</a:t>
            </a:r>
            <a:endParaRPr lang="en-US" sz="1200" dirty="0"/>
          </a:p>
        </p:txBody>
      </p:sp>
      <p:sp>
        <p:nvSpPr>
          <p:cNvPr id="14" name="Shape 11"/>
          <p:cNvSpPr/>
          <p:nvPr/>
        </p:nvSpPr>
        <p:spPr>
          <a:xfrm>
            <a:off x="640080" y="3072384"/>
            <a:ext cx="5760720" cy="0"/>
          </a:xfrm>
          <a:prstGeom prst="line">
            <a:avLst/>
          </a:prstGeom>
          <a:noFill/>
          <a:ln w="9525">
            <a:solidFill>
              <a:srgbClr val="CFDDDD"/>
            </a:solidFill>
            <a:prstDash val="solid"/>
          </a:ln>
        </p:spPr>
      </p:sp>
      <p:sp>
        <p:nvSpPr>
          <p:cNvPr id="15" name="Text 12"/>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0F3446"/>
                </a:solidFill>
                <a:latin typeface="Calibri" pitchFamily="34" charset="0"/>
                <a:ea typeface="Calibri" pitchFamily="34" charset="-122"/>
                <a:cs typeface="Calibri" pitchFamily="34" charset="-120"/>
              </a:rPr>
              <a:t>Diastolic</a:t>
            </a:r>
            <a:endParaRPr lang="en-US" sz="1200" dirty="0"/>
          </a:p>
        </p:txBody>
      </p:sp>
      <p:sp>
        <p:nvSpPr>
          <p:cNvPr id="16" name="Text 13"/>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−3.1</a:t>
            </a:r>
            <a:endParaRPr lang="en-US" sz="1200" dirty="0"/>
          </a:p>
        </p:txBody>
      </p:sp>
      <p:sp>
        <p:nvSpPr>
          <p:cNvPr id="17" name="Text 14"/>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&lt;−0.1</a:t>
            </a:r>
            <a:endParaRPr lang="en-US" sz="1200" dirty="0"/>
          </a:p>
        </p:txBody>
      </p:sp>
      <p:sp>
        <p:nvSpPr>
          <p:cNvPr id="18" name="Text 15"/>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250" i="1" dirty="0">
                <a:solidFill>
                  <a:srgbClr val="6C7C84"/>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250" dirty="0"/>
          </a:p>
        </p:txBody>
      </p:sp>
      <p:sp>
        <p:nvSpPr>
          <p:cNvPr id="19" name="Text 16"/>
          <p:cNvSpPr/>
          <p:nvPr/>
        </p:nvSpPr>
        <p:spPr>
          <a:xfrm>
            <a:off x="6414516" y="13716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A broader kidney composite</a:t>
            </a:r>
            <a:endParaRPr lang="en-US" sz="1400" dirty="0"/>
          </a:p>
        </p:txBody>
      </p:sp>
      <p:sp>
        <p:nvSpPr>
          <p:cNvPr id="20" name="Text 17"/>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1" name="Text 18"/>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hazard ratio for sustained ≥40% eGFR decline or kidney failure (95% CI 0.62–0.93)</a:t>
            </a:r>
            <a:endParaRPr lang="en-US" sz="1200" dirty="0"/>
          </a:p>
        </p:txBody>
      </p:sp>
      <p:sp>
        <p:nvSpPr>
          <p:cNvPr id="22" name="Text 19"/>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168 (21.2%) finerenone vs 206 (26.0%) placebo.</a:t>
            </a:r>
            <a:endParaRPr lang="en-US" sz="1250" dirty="0"/>
          </a:p>
          <a:p>
            <a:pPr marL="203200" indent="-203200">
              <a:lnSpc>
                <a:spcPct val="115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The less stringent ≥40% threshold captures more events and points the same way as the primary.</a:t>
            </a:r>
            <a:endParaRPr lang="en-US" sz="1250" dirty="0"/>
          </a:p>
        </p:txBody>
      </p:sp>
      <p:sp>
        <p:nvSpPr>
          <p:cNvPr id="23" name="Text 20"/>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Safety: hyperkalemia in focus</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450" dirty="0"/>
          </a:p>
        </p:txBody>
      </p:sp>
      <p:sp>
        <p:nvSpPr>
          <p:cNvPr id="6" name="Text 3"/>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300" dirty="0">
                <a:solidFill>
                  <a:srgbClr val="22343C"/>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300" dirty="0"/>
          </a:p>
        </p:txBody>
      </p:sp>
      <p:graphicFrame>
        <p:nvGraphicFramePr>
          <p:cNvPr id="7"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8229600" y="2148840"/>
            <a:ext cx="3319272"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What it means</a:t>
            </a:r>
            <a:endParaRPr lang="en-US" sz="1400" dirty="0"/>
          </a:p>
        </p:txBody>
      </p:sp>
      <p:sp>
        <p:nvSpPr>
          <p:cNvPr id="9" name="Text 5"/>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Hyperkalemia was the signature event; the excess was modest.</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Discontinuation for K⁺ 1.5% vs 0.1%; hospitalization 0.9% vs 0.6%; no fatal events.</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AKI and hypotension low and similar.</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No new safety signal versus the diabetes trials.</a:t>
            </a:r>
            <a:endParaRPr lang="en-US" sz="1250" dirty="0"/>
          </a:p>
        </p:txBody>
      </p:sp>
      <p:sp>
        <p:nvSpPr>
          <p:cNvPr id="10" name="Text 6"/>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Table 2 and text.</a:t>
            </a:r>
            <a:endParaRPr lang="en-US" sz="850" dirty="0"/>
          </a:p>
        </p:txBody>
      </p:sp>
      <p:sp>
        <p:nvSpPr>
          <p:cNvPr id="11" name="Text 7"/>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Strengths and limitations</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Strengths</a:t>
            </a:r>
            <a:endParaRPr lang="en-US" sz="1400" dirty="0"/>
          </a:p>
        </p:txBody>
      </p:sp>
      <p:sp>
        <p:nvSpPr>
          <p:cNvPr id="6" name="Text 3"/>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Double-blind, placebo-controlled, international; sponsor analyses re-run independently at Groningen.</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Endpoint modeled correctly, separating the reversible acute dip from the chronic slope.</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30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E86A44"/>
                </a:solidFill>
                <a:latin typeface="Calibri" pitchFamily="34" charset="0"/>
                <a:ea typeface="Calibri" pitchFamily="34" charset="-122"/>
                <a:cs typeface="Calibri" pitchFamily="34" charset="-120"/>
              </a:rPr>
              <a:t>Limitations</a:t>
            </a:r>
            <a:endParaRPr lang="en-US" sz="1400" dirty="0"/>
          </a:p>
        </p:txBody>
      </p:sp>
      <p:sp>
        <p:nvSpPr>
          <p:cNvPr id="8" name="Text 5"/>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Primary endpoint is a surrogate; not powered for hard kidney or CV events.</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Two-thirds men, few Black participants, enriched for heavy albuminuria: limited generalizability.</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Only 17% on an SGLT2 inhibitor, so the finerenone-plus-SGLT2i question is not directly answered.</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ADPKD, lupus nephritis and ANCA vasculitis excluded; ~36-month follow-up is short for lifelong CKD.</a:t>
            </a:r>
            <a:endParaRPr lang="en-US" sz="1300" dirty="0"/>
          </a:p>
        </p:txBody>
      </p:sp>
      <p:sp>
        <p:nvSpPr>
          <p:cNvPr id="9" name="Text 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FIND-CKD in context</a:t>
            </a:r>
            <a:endParaRPr lang="en-US" sz="2300" dirty="0"/>
          </a:p>
        </p:txBody>
      </p:sp>
      <p:sp>
        <p:nvSpPr>
          <p:cNvPr id="5" name="Shape 2"/>
          <p:cNvSpPr/>
          <p:nvPr/>
        </p:nvSpPr>
        <p:spPr>
          <a:xfrm>
            <a:off x="640080" y="1371600"/>
            <a:ext cx="10908792" cy="457200"/>
          </a:xfrm>
          <a:prstGeom prst="rect">
            <a:avLst/>
          </a:prstGeom>
          <a:solidFill>
            <a:srgbClr val="0F3446"/>
          </a:solidFill>
          <a:ln/>
        </p:spPr>
      </p:sp>
      <p:sp>
        <p:nvSpPr>
          <p:cNvPr id="6" name="Text 3"/>
          <p:cNvSpPr/>
          <p:nvPr/>
        </p:nvSpPr>
        <p:spPr>
          <a:xfrm>
            <a:off x="749808" y="1371600"/>
            <a:ext cx="2560320" cy="457200"/>
          </a:xfrm>
          <a:prstGeom prst="rect">
            <a:avLst/>
          </a:prstGeom>
          <a:noFill/>
          <a:ln/>
        </p:spPr>
        <p:txBody>
          <a:bodyPr wrap="square" lIns="0" tIns="0" rIns="0" bIns="0" rtlCol="0" anchor="ctr"/>
          <a:lstStyle/>
          <a:p>
            <a:pPr algn="l" indent="0" marL="0">
              <a:lnSpc>
                <a:spcPct val="98000"/>
              </a:lnSpc>
              <a:buNone/>
            </a:pPr>
            <a:endParaRPr lang="en-US" sz="1200" dirty="0"/>
          </a:p>
        </p:txBody>
      </p:sp>
      <p:sp>
        <p:nvSpPr>
          <p:cNvPr id="7" name="Text 4"/>
          <p:cNvSpPr/>
          <p:nvPr/>
        </p:nvSpPr>
        <p:spPr>
          <a:xfrm>
            <a:off x="349300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FIDELIO-DKD</a:t>
            </a:r>
            <a:endParaRPr lang="en-US" sz="1200" dirty="0"/>
          </a:p>
        </p:txBody>
      </p:sp>
      <p:sp>
        <p:nvSpPr>
          <p:cNvPr id="8" name="Text 5"/>
          <p:cNvSpPr/>
          <p:nvPr/>
        </p:nvSpPr>
        <p:spPr>
          <a:xfrm>
            <a:off x="568756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FIGARO-DKD</a:t>
            </a:r>
            <a:endParaRPr lang="en-US" sz="1200" dirty="0"/>
          </a:p>
        </p:txBody>
      </p:sp>
      <p:sp>
        <p:nvSpPr>
          <p:cNvPr id="9" name="Text 6"/>
          <p:cNvSpPr/>
          <p:nvPr/>
        </p:nvSpPr>
        <p:spPr>
          <a:xfrm>
            <a:off x="788212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FIDELITY</a:t>
            </a:r>
            <a:endParaRPr lang="en-US" sz="1200" dirty="0"/>
          </a:p>
        </p:txBody>
      </p:sp>
      <p:sp>
        <p:nvSpPr>
          <p:cNvPr id="10" name="Text 7"/>
          <p:cNvSpPr/>
          <p:nvPr/>
        </p:nvSpPr>
        <p:spPr>
          <a:xfrm>
            <a:off x="10076688" y="1371600"/>
            <a:ext cx="1399032"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FIND-CKD</a:t>
            </a:r>
            <a:endParaRPr lang="en-US" sz="1200" dirty="0"/>
          </a:p>
        </p:txBody>
      </p:sp>
      <p:sp>
        <p:nvSpPr>
          <p:cNvPr id="11" name="Shape 8"/>
          <p:cNvSpPr/>
          <p:nvPr/>
        </p:nvSpPr>
        <p:spPr>
          <a:xfrm>
            <a:off x="640080" y="2377440"/>
            <a:ext cx="10908792" cy="0"/>
          </a:xfrm>
          <a:prstGeom prst="line">
            <a:avLst/>
          </a:prstGeom>
          <a:noFill/>
          <a:ln w="9525">
            <a:solidFill>
              <a:srgbClr val="CFDDDD"/>
            </a:solidFill>
            <a:prstDash val="solid"/>
          </a:ln>
        </p:spPr>
      </p:sp>
      <p:sp>
        <p:nvSpPr>
          <p:cNvPr id="12" name="Text 9"/>
          <p:cNvSpPr/>
          <p:nvPr/>
        </p:nvSpPr>
        <p:spPr>
          <a:xfrm>
            <a:off x="749808" y="182880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Population</a:t>
            </a:r>
            <a:endParaRPr lang="en-US" sz="1100" dirty="0"/>
          </a:p>
        </p:txBody>
      </p:sp>
      <p:sp>
        <p:nvSpPr>
          <p:cNvPr id="13" name="Text 10"/>
          <p:cNvSpPr/>
          <p:nvPr/>
        </p:nvSpPr>
        <p:spPr>
          <a:xfrm>
            <a:off x="349300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a:t>
            </a:r>
            <a:endParaRPr lang="en-US" sz="1100" dirty="0"/>
          </a:p>
        </p:txBody>
      </p:sp>
      <p:sp>
        <p:nvSpPr>
          <p:cNvPr id="14" name="Text 11"/>
          <p:cNvSpPr/>
          <p:nvPr/>
        </p:nvSpPr>
        <p:spPr>
          <a:xfrm>
            <a:off x="568756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 (earlier)</a:t>
            </a:r>
            <a:endParaRPr lang="en-US" sz="1100" dirty="0"/>
          </a:p>
        </p:txBody>
      </p:sp>
      <p:sp>
        <p:nvSpPr>
          <p:cNvPr id="15" name="Text 12"/>
          <p:cNvSpPr/>
          <p:nvPr/>
        </p:nvSpPr>
        <p:spPr>
          <a:xfrm>
            <a:off x="788212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 (pooled)</a:t>
            </a:r>
            <a:endParaRPr lang="en-US" sz="1100" dirty="0"/>
          </a:p>
        </p:txBody>
      </p:sp>
      <p:sp>
        <p:nvSpPr>
          <p:cNvPr id="16" name="Text 13"/>
          <p:cNvSpPr/>
          <p:nvPr/>
        </p:nvSpPr>
        <p:spPr>
          <a:xfrm>
            <a:off x="10076688" y="182880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CKD, no diabetes</a:t>
            </a:r>
            <a:endParaRPr lang="en-US" sz="1100" dirty="0"/>
          </a:p>
        </p:txBody>
      </p:sp>
      <p:sp>
        <p:nvSpPr>
          <p:cNvPr id="17" name="Shape 14"/>
          <p:cNvSpPr/>
          <p:nvPr/>
        </p:nvSpPr>
        <p:spPr>
          <a:xfrm>
            <a:off x="640080" y="2926080"/>
            <a:ext cx="10908792" cy="0"/>
          </a:xfrm>
          <a:prstGeom prst="line">
            <a:avLst/>
          </a:prstGeom>
          <a:noFill/>
          <a:ln w="9525">
            <a:solidFill>
              <a:srgbClr val="CFDDDD"/>
            </a:solidFill>
            <a:prstDash val="solid"/>
          </a:ln>
        </p:spPr>
      </p:sp>
      <p:sp>
        <p:nvSpPr>
          <p:cNvPr id="18" name="Text 15"/>
          <p:cNvSpPr/>
          <p:nvPr/>
        </p:nvSpPr>
        <p:spPr>
          <a:xfrm>
            <a:off x="749808" y="237744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N</a:t>
            </a:r>
            <a:endParaRPr lang="en-US" sz="1100" dirty="0"/>
          </a:p>
        </p:txBody>
      </p:sp>
      <p:sp>
        <p:nvSpPr>
          <p:cNvPr id="19" name="Text 16"/>
          <p:cNvSpPr/>
          <p:nvPr/>
        </p:nvSpPr>
        <p:spPr>
          <a:xfrm>
            <a:off x="349300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5674</a:t>
            </a:r>
            <a:endParaRPr lang="en-US" sz="1100" dirty="0"/>
          </a:p>
        </p:txBody>
      </p:sp>
      <p:sp>
        <p:nvSpPr>
          <p:cNvPr id="20" name="Text 17"/>
          <p:cNvSpPr/>
          <p:nvPr/>
        </p:nvSpPr>
        <p:spPr>
          <a:xfrm>
            <a:off x="568756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7437</a:t>
            </a:r>
            <a:endParaRPr lang="en-US" sz="1100" dirty="0"/>
          </a:p>
        </p:txBody>
      </p:sp>
      <p:sp>
        <p:nvSpPr>
          <p:cNvPr id="21" name="Text 18"/>
          <p:cNvSpPr/>
          <p:nvPr/>
        </p:nvSpPr>
        <p:spPr>
          <a:xfrm>
            <a:off x="788212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13,026</a:t>
            </a:r>
            <a:endParaRPr lang="en-US" sz="1100" dirty="0"/>
          </a:p>
        </p:txBody>
      </p:sp>
      <p:sp>
        <p:nvSpPr>
          <p:cNvPr id="22" name="Text 19"/>
          <p:cNvSpPr/>
          <p:nvPr/>
        </p:nvSpPr>
        <p:spPr>
          <a:xfrm>
            <a:off x="10076688" y="237744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1584</a:t>
            </a:r>
            <a:endParaRPr lang="en-US" sz="1100" dirty="0"/>
          </a:p>
        </p:txBody>
      </p:sp>
      <p:sp>
        <p:nvSpPr>
          <p:cNvPr id="23" name="Shape 20"/>
          <p:cNvSpPr/>
          <p:nvPr/>
        </p:nvSpPr>
        <p:spPr>
          <a:xfrm>
            <a:off x="640080" y="3474720"/>
            <a:ext cx="10908792" cy="0"/>
          </a:xfrm>
          <a:prstGeom prst="line">
            <a:avLst/>
          </a:prstGeom>
          <a:noFill/>
          <a:ln w="9525">
            <a:solidFill>
              <a:srgbClr val="CFDDDD"/>
            </a:solidFill>
            <a:prstDash val="solid"/>
          </a:ln>
        </p:spPr>
      </p:sp>
      <p:sp>
        <p:nvSpPr>
          <p:cNvPr id="24" name="Text 21"/>
          <p:cNvSpPr/>
          <p:nvPr/>
        </p:nvSpPr>
        <p:spPr>
          <a:xfrm>
            <a:off x="749808" y="292608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Primary endpoint</a:t>
            </a:r>
            <a:endParaRPr lang="en-US" sz="1100" dirty="0"/>
          </a:p>
        </p:txBody>
      </p:sp>
      <p:sp>
        <p:nvSpPr>
          <p:cNvPr id="25" name="Text 22"/>
          <p:cNvSpPr/>
          <p:nvPr/>
        </p:nvSpPr>
        <p:spPr>
          <a:xfrm>
            <a:off x="349300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Kidney composite</a:t>
            </a:r>
            <a:endParaRPr lang="en-US" sz="1100" dirty="0"/>
          </a:p>
        </p:txBody>
      </p:sp>
      <p:sp>
        <p:nvSpPr>
          <p:cNvPr id="26" name="Text 23"/>
          <p:cNvSpPr/>
          <p:nvPr/>
        </p:nvSpPr>
        <p:spPr>
          <a:xfrm>
            <a:off x="568756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CV composite</a:t>
            </a:r>
            <a:endParaRPr lang="en-US" sz="1100" dirty="0"/>
          </a:p>
        </p:txBody>
      </p:sp>
      <p:sp>
        <p:nvSpPr>
          <p:cNvPr id="27" name="Text 24"/>
          <p:cNvSpPr/>
          <p:nvPr/>
        </p:nvSpPr>
        <p:spPr>
          <a:xfrm>
            <a:off x="788212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(pooled)</a:t>
            </a:r>
            <a:endParaRPr lang="en-US" sz="1100" dirty="0"/>
          </a:p>
        </p:txBody>
      </p:sp>
      <p:sp>
        <p:nvSpPr>
          <p:cNvPr id="28" name="Text 25"/>
          <p:cNvSpPr/>
          <p:nvPr/>
        </p:nvSpPr>
        <p:spPr>
          <a:xfrm>
            <a:off x="10076688" y="292608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eGFR slope</a:t>
            </a:r>
            <a:endParaRPr lang="en-US" sz="1100" dirty="0"/>
          </a:p>
        </p:txBody>
      </p:sp>
      <p:sp>
        <p:nvSpPr>
          <p:cNvPr id="29" name="Shape 26"/>
          <p:cNvSpPr/>
          <p:nvPr/>
        </p:nvSpPr>
        <p:spPr>
          <a:xfrm>
            <a:off x="640080" y="4023360"/>
            <a:ext cx="10908792" cy="0"/>
          </a:xfrm>
          <a:prstGeom prst="line">
            <a:avLst/>
          </a:prstGeom>
          <a:noFill/>
          <a:ln w="9525">
            <a:solidFill>
              <a:srgbClr val="CFDDDD"/>
            </a:solidFill>
            <a:prstDash val="solid"/>
          </a:ln>
        </p:spPr>
      </p:sp>
      <p:sp>
        <p:nvSpPr>
          <p:cNvPr id="30" name="Text 27"/>
          <p:cNvSpPr/>
          <p:nvPr/>
        </p:nvSpPr>
        <p:spPr>
          <a:xfrm>
            <a:off x="749808" y="347472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Key kidney result</a:t>
            </a:r>
            <a:endParaRPr lang="en-US" sz="1100" dirty="0"/>
          </a:p>
        </p:txBody>
      </p:sp>
      <p:sp>
        <p:nvSpPr>
          <p:cNvPr id="31" name="Text 28"/>
          <p:cNvSpPr/>
          <p:nvPr/>
        </p:nvSpPr>
        <p:spPr>
          <a:xfrm>
            <a:off x="349300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HR 0.82</a:t>
            </a:r>
            <a:endParaRPr lang="en-US" sz="1100" dirty="0"/>
          </a:p>
        </p:txBody>
      </p:sp>
      <p:sp>
        <p:nvSpPr>
          <p:cNvPr id="32" name="Text 29"/>
          <p:cNvSpPr/>
          <p:nvPr/>
        </p:nvSpPr>
        <p:spPr>
          <a:xfrm>
            <a:off x="568756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HR 0.87 (CV)</a:t>
            </a:r>
            <a:endParaRPr lang="en-US" sz="1100" dirty="0"/>
          </a:p>
        </p:txBody>
      </p:sp>
      <p:sp>
        <p:nvSpPr>
          <p:cNvPr id="33" name="Text 30"/>
          <p:cNvSpPr/>
          <p:nvPr/>
        </p:nvSpPr>
        <p:spPr>
          <a:xfrm>
            <a:off x="788212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Kidney 0.77</a:t>
            </a:r>
            <a:endParaRPr lang="en-US" sz="1100" dirty="0"/>
          </a:p>
        </p:txBody>
      </p:sp>
      <p:sp>
        <p:nvSpPr>
          <p:cNvPr id="34" name="Text 31"/>
          <p:cNvSpPr/>
          <p:nvPr/>
        </p:nvSpPr>
        <p:spPr>
          <a:xfrm>
            <a:off x="10076688" y="347472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Slope +0.7; comp. 0.77</a:t>
            </a:r>
            <a:endParaRPr lang="en-US" sz="1100" dirty="0"/>
          </a:p>
        </p:txBody>
      </p:sp>
      <p:sp>
        <p:nvSpPr>
          <p:cNvPr id="35" name="Shape 32"/>
          <p:cNvSpPr/>
          <p:nvPr/>
        </p:nvSpPr>
        <p:spPr>
          <a:xfrm>
            <a:off x="640080" y="4572000"/>
            <a:ext cx="10908792" cy="0"/>
          </a:xfrm>
          <a:prstGeom prst="line">
            <a:avLst/>
          </a:prstGeom>
          <a:noFill/>
          <a:ln w="9525">
            <a:solidFill>
              <a:srgbClr val="CFDDDD"/>
            </a:solidFill>
            <a:prstDash val="solid"/>
          </a:ln>
        </p:spPr>
      </p:sp>
      <p:sp>
        <p:nvSpPr>
          <p:cNvPr id="36" name="Text 33"/>
          <p:cNvSpPr/>
          <p:nvPr/>
        </p:nvSpPr>
        <p:spPr>
          <a:xfrm>
            <a:off x="749808" y="402336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eGFR slope Δ / yr</a:t>
            </a:r>
            <a:endParaRPr lang="en-US" sz="1100" dirty="0"/>
          </a:p>
        </p:txBody>
      </p:sp>
      <p:sp>
        <p:nvSpPr>
          <p:cNvPr id="37" name="Text 34"/>
          <p:cNvSpPr/>
          <p:nvPr/>
        </p:nvSpPr>
        <p:spPr>
          <a:xfrm>
            <a:off x="349300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~0.7</a:t>
            </a:r>
            <a:endParaRPr lang="en-US" sz="1100" dirty="0"/>
          </a:p>
        </p:txBody>
      </p:sp>
      <p:sp>
        <p:nvSpPr>
          <p:cNvPr id="38" name="Text 35"/>
          <p:cNvSpPr/>
          <p:nvPr/>
        </p:nvSpPr>
        <p:spPr>
          <a:xfrm>
            <a:off x="568756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n/r</a:t>
            </a:r>
            <a:endParaRPr lang="en-US" sz="1100" dirty="0"/>
          </a:p>
        </p:txBody>
      </p:sp>
      <p:sp>
        <p:nvSpPr>
          <p:cNvPr id="39" name="Text 36"/>
          <p:cNvSpPr/>
          <p:nvPr/>
        </p:nvSpPr>
        <p:spPr>
          <a:xfrm>
            <a:off x="788212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n/r</a:t>
            </a:r>
            <a:endParaRPr lang="en-US" sz="1100" dirty="0"/>
          </a:p>
        </p:txBody>
      </p:sp>
      <p:sp>
        <p:nvSpPr>
          <p:cNvPr id="40" name="Text 37"/>
          <p:cNvSpPr/>
          <p:nvPr/>
        </p:nvSpPr>
        <p:spPr>
          <a:xfrm>
            <a:off x="10076688" y="402336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 (chronic 1.2)</a:t>
            </a:r>
            <a:endParaRPr lang="en-US" sz="1100" dirty="0"/>
          </a:p>
        </p:txBody>
      </p:sp>
      <p:sp>
        <p:nvSpPr>
          <p:cNvPr id="41" name="Text 38"/>
          <p:cNvSpPr/>
          <p:nvPr/>
        </p:nvSpPr>
        <p:spPr>
          <a:xfrm>
            <a:off x="640080" y="4800600"/>
            <a:ext cx="10908792" cy="822960"/>
          </a:xfrm>
          <a:prstGeom prst="rect">
            <a:avLst/>
          </a:prstGeom>
          <a:noFill/>
          <a:ln/>
        </p:spPr>
        <p:txBody>
          <a:bodyPr wrap="square" lIns="0" tIns="0" rIns="0" bIns="0" rtlCol="0" anchor="ctr"/>
          <a:lstStyle/>
          <a:p>
            <a:pPr indent="0" marL="0">
              <a:lnSpc>
                <a:spcPct val="120000"/>
              </a:lnSpc>
              <a:buNone/>
            </a:pPr>
            <a:r>
              <a:rPr lang="en-US" sz="1350" dirty="0">
                <a:solidFill>
                  <a:srgbClr val="22343C"/>
                </a:solidFill>
                <a:latin typeface="Calibri" pitchFamily="34" charset="0"/>
                <a:ea typeface="Calibri" pitchFamily="34" charset="-122"/>
                <a:cs typeface="Calibri" pitchFamily="34" charset="-120"/>
              </a:rPr>
              <a:t>The ~0.7/yr slope effect finerenone produced in diabetic CKD reproduces almost exactly in non-diabetic CKD, and the chronic slope of 1.2 sits right alongside RAS and SGLT2 inhibitors (0.5–1.0). Same drug, same mechanism, in a population never before tested.</a:t>
            </a:r>
            <a:endParaRPr lang="en-US" sz="1350" dirty="0"/>
          </a:p>
        </p:txBody>
      </p:sp>
      <p:sp>
        <p:nvSpPr>
          <p:cNvPr id="42" name="Text 39"/>
          <p:cNvSpPr/>
          <p:nvPr/>
        </p:nvSpPr>
        <p:spPr>
          <a:xfrm>
            <a:off x="640080" y="6492240"/>
            <a:ext cx="9144000" cy="219456"/>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Diabetes-trial figures from their primary publications, shown for context (no head-to-head).</a:t>
            </a:r>
            <a:endParaRPr lang="en-US" sz="850" dirty="0"/>
          </a:p>
        </p:txBody>
      </p:sp>
      <p:sp>
        <p:nvSpPr>
          <p:cNvPr id="43" name="Text 40"/>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Where finerenone fits in practice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450" dirty="0"/>
          </a:p>
        </p:txBody>
      </p:sp>
      <p:sp>
        <p:nvSpPr>
          <p:cNvPr id="6" name="Shape 3"/>
          <p:cNvSpPr/>
          <p:nvPr/>
        </p:nvSpPr>
        <p:spPr>
          <a:xfrm>
            <a:off x="640080" y="1600200"/>
            <a:ext cx="3331464" cy="1005840"/>
          </a:xfrm>
          <a:prstGeom prst="roundRect">
            <a:avLst>
              <a:gd name="adj" fmla="val 7273"/>
            </a:avLst>
          </a:prstGeom>
          <a:solidFill>
            <a:srgbClr val="E7F4F4"/>
          </a:solidFill>
          <a:ln/>
        </p:spPr>
      </p:sp>
      <p:sp>
        <p:nvSpPr>
          <p:cNvPr id="7" name="Text 4"/>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400" b="1" dirty="0">
                <a:solidFill>
                  <a:srgbClr val="0F3446"/>
                </a:solidFill>
                <a:latin typeface="Calibri" pitchFamily="34" charset="0"/>
                <a:ea typeface="Calibri" pitchFamily="34" charset="-122"/>
                <a:cs typeface="Calibri" pitchFamily="34" charset="-120"/>
              </a:rPr>
              <a:t>RAS inhibitor</a:t>
            </a:r>
            <a:endParaRPr lang="en-US" sz="1400" dirty="0"/>
          </a:p>
        </p:txBody>
      </p:sp>
      <p:sp>
        <p:nvSpPr>
          <p:cNvPr id="8" name="Text 5"/>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6C7C84"/>
                </a:solidFill>
                <a:latin typeface="Calibri" pitchFamily="34" charset="0"/>
                <a:ea typeface="Calibri" pitchFamily="34" charset="-122"/>
                <a:cs typeface="Calibri" pitchFamily="34" charset="-120"/>
              </a:rPr>
              <a:t>foundation, required background</a:t>
            </a:r>
            <a:endParaRPr lang="en-US" sz="1050" dirty="0"/>
          </a:p>
        </p:txBody>
      </p:sp>
      <p:sp>
        <p:nvSpPr>
          <p:cNvPr id="9" name="Shape 6"/>
          <p:cNvSpPr/>
          <p:nvPr/>
        </p:nvSpPr>
        <p:spPr>
          <a:xfrm>
            <a:off x="4428744" y="1600200"/>
            <a:ext cx="3331464" cy="1005840"/>
          </a:xfrm>
          <a:prstGeom prst="roundRect">
            <a:avLst>
              <a:gd name="adj" fmla="val 7273"/>
            </a:avLst>
          </a:prstGeom>
          <a:solidFill>
            <a:srgbClr val="E7F4F4"/>
          </a:solidFill>
          <a:ln/>
        </p:spPr>
      </p:sp>
      <p:sp>
        <p:nvSpPr>
          <p:cNvPr id="10" name="Text 7"/>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400" b="1" dirty="0">
                <a:solidFill>
                  <a:srgbClr val="0F3446"/>
                </a:solidFill>
                <a:latin typeface="Calibri" pitchFamily="34" charset="0"/>
                <a:ea typeface="Calibri" pitchFamily="34" charset="-122"/>
                <a:cs typeface="Calibri" pitchFamily="34" charset="-120"/>
              </a:rPr>
              <a:t>SGLT2 inhibitor</a:t>
            </a:r>
            <a:endParaRPr lang="en-US" sz="1400" dirty="0"/>
          </a:p>
        </p:txBody>
      </p:sp>
      <p:sp>
        <p:nvSpPr>
          <p:cNvPr id="11" name="Text 8"/>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6C7C84"/>
                </a:solidFill>
                <a:latin typeface="Calibri" pitchFamily="34" charset="0"/>
                <a:ea typeface="Calibri" pitchFamily="34" charset="-122"/>
                <a:cs typeface="Calibri" pitchFamily="34" charset="-120"/>
              </a:rPr>
              <a:t>guideline-recommended pillar</a:t>
            </a:r>
            <a:endParaRPr lang="en-US" sz="1050" dirty="0"/>
          </a:p>
        </p:txBody>
      </p:sp>
      <p:sp>
        <p:nvSpPr>
          <p:cNvPr id="12" name="Shape 9"/>
          <p:cNvSpPr/>
          <p:nvPr/>
        </p:nvSpPr>
        <p:spPr>
          <a:xfrm>
            <a:off x="8217408" y="1600200"/>
            <a:ext cx="3331464" cy="1005840"/>
          </a:xfrm>
          <a:prstGeom prst="roundRect">
            <a:avLst>
              <a:gd name="adj" fmla="val 7273"/>
            </a:avLst>
          </a:prstGeom>
          <a:solidFill>
            <a:srgbClr val="12A3A6"/>
          </a:solidFill>
          <a:ln/>
        </p:spPr>
      </p:sp>
      <p:sp>
        <p:nvSpPr>
          <p:cNvPr id="13" name="Text 10"/>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Finerenone</a:t>
            </a:r>
            <a:endParaRPr lang="en-US" sz="1400" dirty="0"/>
          </a:p>
        </p:txBody>
      </p:sp>
      <p:sp>
        <p:nvSpPr>
          <p:cNvPr id="14" name="Text 11"/>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E7F4F4"/>
                </a:solidFill>
                <a:latin typeface="Calibri" pitchFamily="34" charset="0"/>
                <a:ea typeface="Calibri" pitchFamily="34" charset="-122"/>
                <a:cs typeface="Calibri" pitchFamily="34" charset="-120"/>
              </a:rPr>
              <a:t>MR blockade, now non-diabetic too</a:t>
            </a:r>
            <a:endParaRPr lang="en-US" sz="1050" dirty="0"/>
          </a:p>
        </p:txBody>
      </p:sp>
      <p:sp>
        <p:nvSpPr>
          <p:cNvPr id="15" name="Text 12"/>
          <p:cNvSpPr/>
          <p:nvPr/>
        </p:nvSpPr>
        <p:spPr>
          <a:xfrm>
            <a:off x="640080" y="301752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Who to consider</a:t>
            </a:r>
            <a:endParaRPr lang="en-US" sz="1400" dirty="0"/>
          </a:p>
        </p:txBody>
      </p:sp>
      <p:sp>
        <p:nvSpPr>
          <p:cNvPr id="16" name="Text 13"/>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Non-diabetic CKD with persistent albuminuria despite a maximally tolerated RAS inhibitor.</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Greatest expected benefit with UACR &gt;1000 mg/g.</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Serum potassium ≤4.8–5.0 and an eGFR that supports the starting dose.</a:t>
            </a:r>
            <a:endParaRPr lang="en-US" sz="1250" dirty="0"/>
          </a:p>
        </p:txBody>
      </p:sp>
      <p:sp>
        <p:nvSpPr>
          <p:cNvPr id="17" name="Text 14"/>
          <p:cNvSpPr/>
          <p:nvPr/>
        </p:nvSpPr>
        <p:spPr>
          <a:xfrm>
            <a:off x="6414516" y="301752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How to use it safely</a:t>
            </a:r>
            <a:endParaRPr lang="en-US" sz="1400" dirty="0"/>
          </a:p>
        </p:txBody>
      </p:sp>
      <p:sp>
        <p:nvSpPr>
          <p:cNvPr id="18" name="Text 15"/>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Check potassium at baseline, at 1 month, and after any dose change.</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Withhold at K⁺ &gt;5.5 and restart at 10 mg once ≤5.0.</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The combination with an SGLT2 inhibitor looks additive, though it was not formally tested here.</a:t>
            </a:r>
            <a:endParaRPr lang="en-US" sz="1250" dirty="0"/>
          </a:p>
        </p:txBody>
      </p:sp>
      <p:sp>
        <p:nvSpPr>
          <p:cNvPr id="19" name="Text 16"/>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What is still open</a:t>
            </a:r>
            <a:endParaRPr lang="en-US" sz="2300" dirty="0"/>
          </a:p>
        </p:txBody>
      </p:sp>
      <p:sp>
        <p:nvSpPr>
          <p:cNvPr id="5" name="Text 2"/>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Underrepresented groups. Women, Black patients, and low-albuminuria CKD were thin in this cohort.</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450" dirty="0"/>
          </a:p>
        </p:txBody>
      </p:sp>
      <p:sp>
        <p:nvSpPr>
          <p:cNvPr id="6" name="Text 3"/>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AEBEBE"/>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400" dirty="0">
                <a:solidFill>
                  <a:srgbClr val="9FBBC6"/>
                </a:solidFill>
                <a:latin typeface="Calibri" pitchFamily="34" charset="0"/>
                <a:ea typeface="Calibri" pitchFamily="34" charset="-122"/>
                <a:cs typeface="Calibri" pitchFamily="34" charset="-120"/>
              </a:rPr>
              <a:t>Take-home</a:t>
            </a:r>
            <a:endParaRPr lang="en-US" sz="140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50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50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50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50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2026-07-27T05:07:29Z</dcterms:created>
  <dcterms:modified xsi:type="dcterms:W3CDTF">2026-07-27T05:07:29Z</dcterms:modified>
</cp:coreProperties>
</file>