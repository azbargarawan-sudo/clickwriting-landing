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way every congress talk opens. Bayer funded and helped run the trial, but the analyses were reproduced independently at Groningen, which is the mitigation to keep in mind. State your own disclosures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stated up front as grand rounds expect. Keep them in mind as the anchor for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what finerenone showed in diabetic CKD.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them up. FIDELITY, ~13,000 diabetic patients, kidney composite 0.77 and CV composite 0.86. FIND-CKD, a fifth of that sample with no diabetic patient, gives a kidney composite of 0.78, essentially identical, plus a protected kidney-CV composite of 0.77 and a slope of 0.7 (chronic 1.2). Same drug, same mechanism, extended past diabetes. The CV number in FIND-CKD rests on few events, so read it cautiously.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450" dirty="0">
                <a:solidFill>
                  <a:srgbClr val="9FBBC6"/>
                </a:solidFill>
                <a:latin typeface="Calibri" pitchFamily="34" charset="0"/>
                <a:ea typeface="Calibri" pitchFamily="34" charset="-122"/>
                <a:cs typeface="Calibri" pitchFamily="34" charset="-120"/>
              </a:rPr>
              <a:t>Journal club  ·  Nephrology</a:t>
            </a:r>
            <a:endParaRPr lang="en-US" sz="145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50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500" dirty="0"/>
          </a:p>
          <a:p>
            <a:pPr indent="0" marL="0">
              <a:lnSpc>
                <a:spcPct val="120000"/>
              </a:lnSpc>
              <a:buNone/>
            </a:pPr>
            <a:r>
              <a:rPr lang="en-US" sz="135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50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400" dirty="0">
                <a:solidFill>
                  <a:srgbClr val="7FA0AC"/>
                </a:solidFill>
                <a:latin typeface="Calibri" pitchFamily="34" charset="0"/>
                <a:ea typeface="Calibri" pitchFamily="34" charset="-122"/>
                <a:cs typeface="Calibri" pitchFamily="34" charset="-120"/>
              </a:rPr>
              <a:t>Presented by [name],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Disclosures &amp; funding</a:t>
            </a:r>
            <a:endParaRPr lang="en-US" sz="2400" dirty="0"/>
          </a:p>
        </p:txBody>
      </p:sp>
      <p:sp>
        <p:nvSpPr>
          <p:cNvPr id="6" name="Text 3"/>
          <p:cNvSpPr/>
          <p:nvPr/>
        </p:nvSpPr>
        <p:spPr>
          <a:xfrm>
            <a:off x="640080" y="1371600"/>
            <a:ext cx="10908792" cy="420624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FIND-CKD was funded by Bayer, the manufacturer of finerenone.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sponsor took part in trial design and data analysis. The analyses were reproduced independently at University Medical Center Groningen using the original data.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first and last authors had full access to the data and vouch for its accuracy and completeness.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Presenter disclosures: [state relevant relationships, or “none”].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This is an educational journal-club summary, not promotional material.</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Objectives</a:t>
            </a:r>
            <a:endParaRPr lang="en-US" sz="2400" dirty="0"/>
          </a:p>
        </p:txBody>
      </p:sp>
      <p:sp>
        <p:nvSpPr>
          <p:cNvPr id="6" name="Text 3"/>
          <p:cNvSpPr/>
          <p:nvPr/>
        </p:nvSpPr>
        <p:spPr>
          <a:xfrm>
            <a:off x="640080" y="1371600"/>
            <a:ext cx="10908792" cy="438912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Review why finerenone was tested in CKD without diabetes, and how FIND-CKD relates to the finerenone evidence in diabetic CKD (the FIDELITY analysis).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Interpret the primary eGFR-slope result, including its acute (hemodynamic) and chronic components.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Weigh the secondary clinical outcomes, the albuminuria effect and safety, especially hyperkalemia.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Decide where finerenone fits in the non-diabetic CKD treatment pathway, and what remains unanswered.</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Why this trial was needed</a:t>
            </a:r>
            <a:endParaRPr lang="en-US" sz="2400" dirty="0"/>
          </a:p>
        </p:txBody>
      </p:sp>
      <p:sp>
        <p:nvSpPr>
          <p:cNvPr id="6" name="Text 3"/>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600" dirty="0">
                <a:solidFill>
                  <a:srgbClr val="13212A"/>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600" dirty="0"/>
          </a:p>
        </p:txBody>
      </p:sp>
      <p:sp>
        <p:nvSpPr>
          <p:cNvPr id="7" name="Text 4"/>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Finerenone reduced kidney and cardiovascular events in diabetic CKD (FIDELITY pooled analysis; kidney composite HR 0.77).</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None of that had been tested in CKD without diabetes.</a:t>
            </a:r>
            <a:endParaRPr lang="en-US" sz="1550" dirty="0"/>
          </a:p>
        </p:txBody>
      </p:sp>
      <p:sp>
        <p:nvSpPr>
          <p:cNvPr id="8" name="Shape 5"/>
          <p:cNvSpPr/>
          <p:nvPr/>
        </p:nvSpPr>
        <p:spPr>
          <a:xfrm>
            <a:off x="640080" y="5257800"/>
            <a:ext cx="10908792" cy="777240"/>
          </a:xfrm>
          <a:prstGeom prst="roundRect">
            <a:avLst>
              <a:gd name="adj" fmla="val 9412"/>
            </a:avLst>
          </a:prstGeom>
          <a:solidFill>
            <a:srgbClr val="E7F4F4"/>
          </a:solidFill>
          <a:ln/>
        </p:spPr>
      </p:sp>
      <p:sp>
        <p:nvSpPr>
          <p:cNvPr id="9" name="Text 6"/>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70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70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70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rationale: a nonsteroidal MR antagonist</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600" dirty="0"/>
          </a:p>
        </p:txBody>
      </p:sp>
      <p:sp>
        <p:nvSpPr>
          <p:cNvPr id="7" name="Text 4"/>
          <p:cNvSpPr/>
          <p:nvPr/>
        </p:nvSpPr>
        <p:spPr>
          <a:xfrm>
            <a:off x="640080"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the mineralocorticoid receptor</a:t>
            </a:r>
            <a:endParaRPr lang="en-US" sz="1550" dirty="0"/>
          </a:p>
        </p:txBody>
      </p:sp>
      <p:sp>
        <p:nvSpPr>
          <p:cNvPr id="8" name="Text 5"/>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MR overactivation promotes sodium and fluid retention.</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A plausible driver of progression in non-diabetic CKD, not only diabetic disease.</a:t>
            </a:r>
            <a:endParaRPr lang="en-US" sz="1450" dirty="0"/>
          </a:p>
        </p:txBody>
      </p:sp>
      <p:sp>
        <p:nvSpPr>
          <p:cNvPr id="9" name="Text 6"/>
          <p:cNvSpPr/>
          <p:nvPr/>
        </p:nvSpPr>
        <p:spPr>
          <a:xfrm>
            <a:off x="6414516"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finerenone, not spironolactone</a:t>
            </a:r>
            <a:endParaRPr lang="en-US" sz="1550" dirty="0"/>
          </a:p>
        </p:txBody>
      </p:sp>
      <p:sp>
        <p:nvSpPr>
          <p:cNvPr id="10" name="Text 7"/>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In BARACK-D, the steroidal MRA spironolactone did not reduce cardiovascular events in stage 3b CKD (HR 1.05), and about two-thirds of patients stopped it within 6 months, mainly for falling eGFR and hyperkalemia.</a:t>
            </a:r>
            <a:endParaRPr lang="en-US" sz="1450" dirty="0"/>
          </a:p>
        </p:txBody>
      </p:sp>
      <p:sp>
        <p:nvSpPr>
          <p:cNvPr id="11" name="Text 8"/>
          <p:cNvSpPr/>
          <p:nvPr/>
        </p:nvSpPr>
        <p:spPr>
          <a:xfrm>
            <a:off x="640080" y="5577840"/>
            <a:ext cx="10908792" cy="457200"/>
          </a:xfrm>
          <a:prstGeom prst="rect">
            <a:avLst/>
          </a:prstGeom>
          <a:noFill/>
          <a:ln/>
        </p:spPr>
        <p:txBody>
          <a:bodyPr wrap="square" lIns="0" tIns="0" rIns="0" bIns="0" rtlCol="0" anchor="ctr"/>
          <a:lstStyle/>
          <a:p>
            <a:pPr indent="0" marL="0">
              <a:buNone/>
            </a:pPr>
            <a:r>
              <a:rPr lang="en-US" sz="1400" i="1" dirty="0">
                <a:solidFill>
                  <a:srgbClr val="4E5E66"/>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Trial design</a:t>
            </a:r>
            <a:endParaRPr lang="en-US" sz="2400" dirty="0"/>
          </a:p>
        </p:txBody>
      </p:sp>
      <p:sp>
        <p:nvSpPr>
          <p:cNvPr id="6" name="Text 3"/>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550" dirty="0"/>
          </a:p>
        </p:txBody>
      </p:sp>
      <p:sp>
        <p:nvSpPr>
          <p:cNvPr id="7" name="Shape 4"/>
          <p:cNvSpPr/>
          <p:nvPr/>
        </p:nvSpPr>
        <p:spPr>
          <a:xfrm>
            <a:off x="640080" y="1828800"/>
            <a:ext cx="3108960" cy="1051560"/>
          </a:xfrm>
          <a:prstGeom prst="roundRect">
            <a:avLst>
              <a:gd name="adj" fmla="val 6957"/>
            </a:avLst>
          </a:prstGeom>
          <a:solidFill>
            <a:srgbClr val="E7F4F4"/>
          </a:solidFill>
          <a:ln/>
        </p:spPr>
      </p:sp>
      <p:sp>
        <p:nvSpPr>
          <p:cNvPr id="8" name="Text 5"/>
          <p:cNvSpPr/>
          <p:nvPr/>
        </p:nvSpPr>
        <p:spPr>
          <a:xfrm>
            <a:off x="822960" y="1975104"/>
            <a:ext cx="2743200" cy="365760"/>
          </a:xfrm>
          <a:prstGeom prst="rect">
            <a:avLst/>
          </a:prstGeom>
          <a:noFill/>
          <a:ln/>
        </p:spPr>
        <p:txBody>
          <a:bodyPr wrap="square" lIns="0" tIns="0" rIns="0" bIns="0" rtlCol="0" anchor="ctr"/>
          <a:lstStyle/>
          <a:p>
            <a:pPr indent="0" marL="0">
              <a:buNone/>
            </a:pPr>
            <a:r>
              <a:rPr lang="en-US" sz="1650" b="1" dirty="0">
                <a:solidFill>
                  <a:srgbClr val="0F3446"/>
                </a:solidFill>
                <a:latin typeface="Calibri" pitchFamily="34" charset="0"/>
                <a:ea typeface="Calibri" pitchFamily="34" charset="-122"/>
                <a:cs typeface="Calibri" pitchFamily="34" charset="-120"/>
              </a:rPr>
              <a:t>3231 assessed</a:t>
            </a:r>
            <a:endParaRPr lang="en-US" sz="1650" dirty="0"/>
          </a:p>
        </p:txBody>
      </p:sp>
      <p:sp>
        <p:nvSpPr>
          <p:cNvPr id="9" name="Text 6"/>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4E5E66"/>
                </a:solidFill>
                <a:latin typeface="Calibri" pitchFamily="34" charset="0"/>
                <a:ea typeface="Calibri" pitchFamily="34" charset="-122"/>
                <a:cs typeface="Calibri" pitchFamily="34" charset="-120"/>
              </a:rPr>
              <a:t>Sept 2021 – May 2023</a:t>
            </a:r>
            <a:endParaRPr lang="en-US" sz="1200" dirty="0"/>
          </a:p>
        </p:txBody>
      </p:sp>
      <p:sp>
        <p:nvSpPr>
          <p:cNvPr id="10" name="Shape 7"/>
          <p:cNvSpPr/>
          <p:nvPr/>
        </p:nvSpPr>
        <p:spPr>
          <a:xfrm>
            <a:off x="3840480" y="2231136"/>
            <a:ext cx="384048" cy="256032"/>
          </a:xfrm>
          <a:prstGeom prst="rightArrow">
            <a:avLst/>
          </a:prstGeom>
          <a:solidFill>
            <a:srgbClr val="9AA7AD"/>
          </a:solidFill>
          <a:ln/>
        </p:spPr>
      </p:sp>
      <p:sp>
        <p:nvSpPr>
          <p:cNvPr id="11" name="Shape 8"/>
          <p:cNvSpPr/>
          <p:nvPr/>
        </p:nvSpPr>
        <p:spPr>
          <a:xfrm>
            <a:off x="4297680" y="1828800"/>
            <a:ext cx="3108960" cy="1051560"/>
          </a:xfrm>
          <a:prstGeom prst="roundRect">
            <a:avLst>
              <a:gd name="adj" fmla="val 6957"/>
            </a:avLst>
          </a:prstGeom>
          <a:solidFill>
            <a:srgbClr val="0F3446"/>
          </a:solidFill>
          <a:ln/>
        </p:spPr>
      </p:sp>
      <p:sp>
        <p:nvSpPr>
          <p:cNvPr id="12" name="Text 9"/>
          <p:cNvSpPr/>
          <p:nvPr/>
        </p:nvSpPr>
        <p:spPr>
          <a:xfrm>
            <a:off x="4480560" y="1975104"/>
            <a:ext cx="27432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1584 randomized</a:t>
            </a:r>
            <a:endParaRPr lang="en-US" sz="1650" dirty="0"/>
          </a:p>
        </p:txBody>
      </p:sp>
      <p:sp>
        <p:nvSpPr>
          <p:cNvPr id="13" name="Text 10"/>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D2E4E8"/>
                </a:solidFill>
                <a:latin typeface="Calibri" pitchFamily="34" charset="0"/>
                <a:ea typeface="Calibri" pitchFamily="34" charset="-122"/>
                <a:cs typeface="Calibri" pitchFamily="34" charset="-120"/>
              </a:rPr>
              <a:t>Full analysis set (all randomized)</a:t>
            </a:r>
            <a:endParaRPr lang="en-US" sz="1200" dirty="0"/>
          </a:p>
        </p:txBody>
      </p:sp>
      <p:sp>
        <p:nvSpPr>
          <p:cNvPr id="14" name="Shape 11"/>
          <p:cNvSpPr/>
          <p:nvPr/>
        </p:nvSpPr>
        <p:spPr>
          <a:xfrm>
            <a:off x="7498080" y="2231136"/>
            <a:ext cx="384048" cy="256032"/>
          </a:xfrm>
          <a:prstGeom prst="rightArrow">
            <a:avLst/>
          </a:prstGeom>
          <a:solidFill>
            <a:srgbClr val="9AA7AD"/>
          </a:solidFill>
          <a:ln/>
        </p:spPr>
      </p:sp>
      <p:sp>
        <p:nvSpPr>
          <p:cNvPr id="15" name="Shape 12"/>
          <p:cNvSpPr/>
          <p:nvPr/>
        </p:nvSpPr>
        <p:spPr>
          <a:xfrm>
            <a:off x="7955280" y="1828800"/>
            <a:ext cx="3593592" cy="457200"/>
          </a:xfrm>
          <a:prstGeom prst="roundRect">
            <a:avLst>
              <a:gd name="adj" fmla="val 12000"/>
            </a:avLst>
          </a:prstGeom>
          <a:solidFill>
            <a:srgbClr val="12A3A6"/>
          </a:solidFill>
          <a:ln/>
        </p:spPr>
      </p:sp>
      <p:sp>
        <p:nvSpPr>
          <p:cNvPr id="16" name="Text 13"/>
          <p:cNvSpPr/>
          <p:nvPr/>
        </p:nvSpPr>
        <p:spPr>
          <a:xfrm>
            <a:off x="8119872" y="182880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400" dirty="0">
                <a:solidFill>
                  <a:srgbClr val="E7F4F4"/>
                </a:solidFill>
                <a:latin typeface="Calibri" pitchFamily="34" charset="0"/>
                <a:ea typeface="Calibri" pitchFamily="34" charset="-122"/>
                <a:cs typeface="Calibri" pitchFamily="34" charset="-120"/>
              </a:rPr>
              <a:t>793</a:t>
            </a:r>
            <a:endParaRPr lang="en-US" sz="1500" dirty="0"/>
          </a:p>
        </p:txBody>
      </p:sp>
      <p:sp>
        <p:nvSpPr>
          <p:cNvPr id="17" name="Shape 14"/>
          <p:cNvSpPr/>
          <p:nvPr/>
        </p:nvSpPr>
        <p:spPr>
          <a:xfrm>
            <a:off x="7955280" y="2423160"/>
            <a:ext cx="3593592" cy="457200"/>
          </a:xfrm>
          <a:prstGeom prst="roundRect">
            <a:avLst>
              <a:gd name="adj" fmla="val 12000"/>
            </a:avLst>
          </a:prstGeom>
          <a:solidFill>
            <a:srgbClr val="9AA7AD"/>
          </a:solidFill>
          <a:ln/>
        </p:spPr>
      </p:sp>
      <p:sp>
        <p:nvSpPr>
          <p:cNvPr id="18" name="Text 15"/>
          <p:cNvSpPr/>
          <p:nvPr/>
        </p:nvSpPr>
        <p:spPr>
          <a:xfrm>
            <a:off x="8119872" y="242316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400" dirty="0">
                <a:solidFill>
                  <a:srgbClr val="F1F5F6"/>
                </a:solidFill>
                <a:latin typeface="Calibri" pitchFamily="34" charset="0"/>
                <a:ea typeface="Calibri" pitchFamily="34" charset="-122"/>
                <a:cs typeface="Calibri" pitchFamily="34" charset="-120"/>
              </a:rPr>
              <a:t>791</a:t>
            </a:r>
            <a:endParaRPr lang="en-US" sz="1500" dirty="0"/>
          </a:p>
        </p:txBody>
      </p:sp>
      <p:sp>
        <p:nvSpPr>
          <p:cNvPr id="19" name="Text 16"/>
          <p:cNvSpPr/>
          <p:nvPr/>
        </p:nvSpPr>
        <p:spPr>
          <a:xfrm>
            <a:off x="640080"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Randomization &amp; stratification</a:t>
            </a:r>
            <a:endParaRPr lang="en-US" sz="1550" dirty="0"/>
          </a:p>
        </p:txBody>
      </p:sp>
      <p:sp>
        <p:nvSpPr>
          <p:cNvPr id="20" name="Text 17"/>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Baseline SGLT2 inhibitor use (yes vs. no)</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Screening UACR (≤1000 vs. &gt;1000 mg/g)</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Treatment-policy estimand: eGFR after stopping the regimen still counted in the analysis.</a:t>
            </a:r>
            <a:endParaRPr lang="en-US" sz="1400" dirty="0"/>
          </a:p>
        </p:txBody>
      </p:sp>
      <p:sp>
        <p:nvSpPr>
          <p:cNvPr id="21" name="Text 18"/>
          <p:cNvSpPr/>
          <p:nvPr/>
        </p:nvSpPr>
        <p:spPr>
          <a:xfrm>
            <a:off x="6368796"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Oversight</a:t>
            </a:r>
            <a:endParaRPr lang="en-US" sz="1550" dirty="0"/>
          </a:p>
        </p:txBody>
      </p:sp>
      <p:sp>
        <p:nvSpPr>
          <p:cNvPr id="22" name="Text 19"/>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Designed by the steering committee and Bayer (sponsor).</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Independent data and safety monitoring committee throughout.</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Sponsor analyses re-run independently at UMC Groningen on the original data.</a:t>
            </a:r>
            <a:endParaRPr lang="en-US" sz="1400" dirty="0"/>
          </a:p>
        </p:txBody>
      </p:sp>
      <p:sp>
        <p:nvSpPr>
          <p:cNvPr id="23" name="Text 2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4" name="Text 2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Who was studied</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Key inclusion criteria</a:t>
            </a:r>
            <a:endParaRPr lang="en-US" sz="1550" dirty="0"/>
          </a:p>
        </p:txBody>
      </p:sp>
      <p:sp>
        <p:nvSpPr>
          <p:cNvPr id="7" name="Text 4"/>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Adults with a clinical diagnosis of CKD, without diabetes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eGFR 25 to &lt;60 with UACR 200–500 mg/g, or eGFR 25 to &lt;90 with UACR 500–3500 mg/g</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On a stable ACE inhibitor or ARB for ≥4 weeks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Serum potassium ≤4.8 mmol/L at screening</a:t>
            </a:r>
            <a:endParaRPr lang="en-US" sz="150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Key exclusion criteria</a:t>
            </a:r>
            <a:endParaRPr lang="en-US" sz="1550" dirty="0"/>
          </a:p>
        </p:txBody>
      </p:sp>
      <p:sp>
        <p:nvSpPr>
          <p:cNvPr id="9" name="Text 6"/>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Type 1 or type 2 diabetes, or HbA1c ≥6.5%</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Indication for a steroidal MRA</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Polycystic kidney disease</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Lupus nephritis or ANCA-associated vasculitis</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Immunosuppression within the prior 6 months</a:t>
            </a:r>
            <a:endParaRPr lang="en-US" sz="1500" dirty="0"/>
          </a:p>
        </p:txBody>
      </p:sp>
      <p:sp>
        <p:nvSpPr>
          <p:cNvPr id="10" name="Shape 7"/>
          <p:cNvSpPr/>
          <p:nvPr/>
        </p:nvSpPr>
        <p:spPr>
          <a:xfrm>
            <a:off x="640080" y="5349240"/>
            <a:ext cx="10908792" cy="731520"/>
          </a:xfrm>
          <a:prstGeom prst="roundRect">
            <a:avLst>
              <a:gd name="adj" fmla="val 10000"/>
            </a:avLst>
          </a:prstGeom>
          <a:solidFill>
            <a:srgbClr val="E7F4F4"/>
          </a:solidFill>
          <a:ln/>
        </p:spPr>
      </p:sp>
      <p:sp>
        <p:nvSpPr>
          <p:cNvPr id="11" name="Text 8"/>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400" i="1" dirty="0">
                <a:solidFill>
                  <a:srgbClr val="13212A"/>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Baseline characteristics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Well balanced between the two groups (n = 1584).</a:t>
            </a:r>
            <a:endParaRPr lang="en-US" sz="1350" dirty="0"/>
          </a:p>
        </p:txBody>
      </p:sp>
      <p:sp>
        <p:nvSpPr>
          <p:cNvPr id="7" name="Shape 4"/>
          <p:cNvSpPr/>
          <p:nvPr/>
        </p:nvSpPr>
        <p:spPr>
          <a:xfrm>
            <a:off x="640080" y="1417320"/>
            <a:ext cx="10908792" cy="420624"/>
          </a:xfrm>
          <a:prstGeom prst="rect">
            <a:avLst/>
          </a:prstGeom>
          <a:solidFill>
            <a:srgbClr val="0F3446"/>
          </a:solidFill>
          <a:ln/>
        </p:spPr>
      </p:sp>
      <p:sp>
        <p:nvSpPr>
          <p:cNvPr id="8" name="Text 5"/>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Characteristic</a:t>
            </a:r>
            <a:endParaRPr lang="en-US" sz="1300" dirty="0"/>
          </a:p>
        </p:txBody>
      </p:sp>
      <p:sp>
        <p:nvSpPr>
          <p:cNvPr id="9" name="Text 6"/>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Finerenone (n=793)</a:t>
            </a:r>
            <a:endParaRPr lang="en-US" sz="1300" dirty="0"/>
          </a:p>
        </p:txBody>
      </p:sp>
      <p:sp>
        <p:nvSpPr>
          <p:cNvPr id="10" name="Text 7"/>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 (n=791)</a:t>
            </a:r>
            <a:endParaRPr lang="en-US" sz="1300" dirty="0"/>
          </a:p>
        </p:txBody>
      </p:sp>
      <p:sp>
        <p:nvSpPr>
          <p:cNvPr id="11" name="Shape 8"/>
          <p:cNvSpPr/>
          <p:nvPr/>
        </p:nvSpPr>
        <p:spPr>
          <a:xfrm>
            <a:off x="640080" y="2203704"/>
            <a:ext cx="10908792" cy="0"/>
          </a:xfrm>
          <a:prstGeom prst="line">
            <a:avLst/>
          </a:prstGeom>
          <a:noFill/>
          <a:ln w="9525">
            <a:solidFill>
              <a:srgbClr val="CFDDDD"/>
            </a:solidFill>
            <a:prstDash val="solid"/>
          </a:ln>
        </p:spPr>
      </p:sp>
      <p:sp>
        <p:nvSpPr>
          <p:cNvPr id="12" name="Text 9"/>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Age, yr</a:t>
            </a:r>
            <a:endParaRPr lang="en-US" sz="1300" dirty="0"/>
          </a:p>
        </p:txBody>
      </p:sp>
      <p:sp>
        <p:nvSpPr>
          <p:cNvPr id="13" name="Text 10"/>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54.5</a:t>
            </a:r>
            <a:endParaRPr lang="en-US" sz="1300" dirty="0"/>
          </a:p>
        </p:txBody>
      </p:sp>
      <p:sp>
        <p:nvSpPr>
          <p:cNvPr id="14" name="Text 11"/>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54.8</a:t>
            </a:r>
            <a:endParaRPr lang="en-US" sz="1300" dirty="0"/>
          </a:p>
        </p:txBody>
      </p:sp>
      <p:sp>
        <p:nvSpPr>
          <p:cNvPr id="15" name="Shape 12"/>
          <p:cNvSpPr/>
          <p:nvPr/>
        </p:nvSpPr>
        <p:spPr>
          <a:xfrm>
            <a:off x="640080" y="2569464"/>
            <a:ext cx="10908792" cy="0"/>
          </a:xfrm>
          <a:prstGeom prst="line">
            <a:avLst/>
          </a:prstGeom>
          <a:noFill/>
          <a:ln w="9525">
            <a:solidFill>
              <a:srgbClr val="CFDDDD"/>
            </a:solidFill>
            <a:prstDash val="solid"/>
          </a:ln>
        </p:spPr>
      </p:sp>
      <p:sp>
        <p:nvSpPr>
          <p:cNvPr id="16" name="Text 13"/>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Female, n (%)</a:t>
            </a:r>
            <a:endParaRPr lang="en-US" sz="1300" dirty="0"/>
          </a:p>
        </p:txBody>
      </p:sp>
      <p:sp>
        <p:nvSpPr>
          <p:cNvPr id="17" name="Text 14"/>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275 (34.7)</a:t>
            </a:r>
            <a:endParaRPr lang="en-US" sz="1300" dirty="0"/>
          </a:p>
        </p:txBody>
      </p:sp>
      <p:sp>
        <p:nvSpPr>
          <p:cNvPr id="18" name="Text 15"/>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260 (32.9)</a:t>
            </a:r>
            <a:endParaRPr lang="en-US" sz="1300" dirty="0"/>
          </a:p>
        </p:txBody>
      </p:sp>
      <p:sp>
        <p:nvSpPr>
          <p:cNvPr id="19" name="Shape 16"/>
          <p:cNvSpPr/>
          <p:nvPr/>
        </p:nvSpPr>
        <p:spPr>
          <a:xfrm>
            <a:off x="640080" y="2935224"/>
            <a:ext cx="10908792" cy="0"/>
          </a:xfrm>
          <a:prstGeom prst="line">
            <a:avLst/>
          </a:prstGeom>
          <a:noFill/>
          <a:ln w="9525">
            <a:solidFill>
              <a:srgbClr val="CFDDDD"/>
            </a:solidFill>
            <a:prstDash val="solid"/>
          </a:ln>
        </p:spPr>
      </p:sp>
      <p:sp>
        <p:nvSpPr>
          <p:cNvPr id="20" name="Text 17"/>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ml/min/1.73 m²</a:t>
            </a:r>
            <a:endParaRPr lang="en-US" sz="1300" dirty="0"/>
          </a:p>
        </p:txBody>
      </p:sp>
      <p:sp>
        <p:nvSpPr>
          <p:cNvPr id="21" name="Text 18"/>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46.8</a:t>
            </a:r>
            <a:endParaRPr lang="en-US" sz="1300" dirty="0"/>
          </a:p>
        </p:txBody>
      </p:sp>
      <p:sp>
        <p:nvSpPr>
          <p:cNvPr id="22" name="Text 19"/>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46.6</a:t>
            </a:r>
            <a:endParaRPr lang="en-US" sz="1300" dirty="0"/>
          </a:p>
        </p:txBody>
      </p:sp>
      <p:sp>
        <p:nvSpPr>
          <p:cNvPr id="23" name="Shape 20"/>
          <p:cNvSpPr/>
          <p:nvPr/>
        </p:nvSpPr>
        <p:spPr>
          <a:xfrm>
            <a:off x="640080" y="3300984"/>
            <a:ext cx="10908792" cy="0"/>
          </a:xfrm>
          <a:prstGeom prst="line">
            <a:avLst/>
          </a:prstGeom>
          <a:noFill/>
          <a:ln w="9525">
            <a:solidFill>
              <a:srgbClr val="CFDDDD"/>
            </a:solidFill>
            <a:prstDash val="solid"/>
          </a:ln>
        </p:spPr>
      </p:sp>
      <p:sp>
        <p:nvSpPr>
          <p:cNvPr id="24" name="Text 21"/>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&lt;60 ml/min/1.73 m², %</a:t>
            </a:r>
            <a:endParaRPr lang="en-US" sz="1300" dirty="0"/>
          </a:p>
        </p:txBody>
      </p:sp>
      <p:sp>
        <p:nvSpPr>
          <p:cNvPr id="25" name="Text 22"/>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79.6</a:t>
            </a:r>
            <a:endParaRPr lang="en-US" sz="1300" dirty="0"/>
          </a:p>
        </p:txBody>
      </p:sp>
      <p:sp>
        <p:nvSpPr>
          <p:cNvPr id="26" name="Text 23"/>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80.4</a:t>
            </a:r>
            <a:endParaRPr lang="en-US" sz="1300" dirty="0"/>
          </a:p>
        </p:txBody>
      </p:sp>
      <p:sp>
        <p:nvSpPr>
          <p:cNvPr id="27" name="Shape 24"/>
          <p:cNvSpPr/>
          <p:nvPr/>
        </p:nvSpPr>
        <p:spPr>
          <a:xfrm>
            <a:off x="640080" y="3666744"/>
            <a:ext cx="10908792" cy="0"/>
          </a:xfrm>
          <a:prstGeom prst="line">
            <a:avLst/>
          </a:prstGeom>
          <a:noFill/>
          <a:ln w="9525">
            <a:solidFill>
              <a:srgbClr val="CFDDDD"/>
            </a:solidFill>
            <a:prstDash val="solid"/>
          </a:ln>
        </p:spPr>
      </p:sp>
      <p:sp>
        <p:nvSpPr>
          <p:cNvPr id="28" name="Text 25"/>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median (mg/g)</a:t>
            </a:r>
            <a:endParaRPr lang="en-US" sz="1300" dirty="0"/>
          </a:p>
        </p:txBody>
      </p:sp>
      <p:sp>
        <p:nvSpPr>
          <p:cNvPr id="29" name="Text 26"/>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827.5</a:t>
            </a:r>
            <a:endParaRPr lang="en-US" sz="1300" dirty="0"/>
          </a:p>
        </p:txBody>
      </p:sp>
      <p:sp>
        <p:nvSpPr>
          <p:cNvPr id="30" name="Text 27"/>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810.7</a:t>
            </a:r>
            <a:endParaRPr lang="en-US" sz="1300" dirty="0"/>
          </a:p>
        </p:txBody>
      </p:sp>
      <p:sp>
        <p:nvSpPr>
          <p:cNvPr id="31" name="Shape 28"/>
          <p:cNvSpPr/>
          <p:nvPr/>
        </p:nvSpPr>
        <p:spPr>
          <a:xfrm>
            <a:off x="640080" y="4032504"/>
            <a:ext cx="10908792" cy="0"/>
          </a:xfrm>
          <a:prstGeom prst="line">
            <a:avLst/>
          </a:prstGeom>
          <a:noFill/>
          <a:ln w="9525">
            <a:solidFill>
              <a:srgbClr val="CFDDDD"/>
            </a:solidFill>
            <a:prstDash val="solid"/>
          </a:ln>
        </p:spPr>
      </p:sp>
      <p:sp>
        <p:nvSpPr>
          <p:cNvPr id="32" name="Text 29"/>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&gt;1000 mg/g, %</a:t>
            </a:r>
            <a:endParaRPr lang="en-US" sz="1300" dirty="0"/>
          </a:p>
        </p:txBody>
      </p:sp>
      <p:sp>
        <p:nvSpPr>
          <p:cNvPr id="33" name="Text 30"/>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39.1</a:t>
            </a:r>
            <a:endParaRPr lang="en-US" sz="1300" dirty="0"/>
          </a:p>
        </p:txBody>
      </p:sp>
      <p:sp>
        <p:nvSpPr>
          <p:cNvPr id="34" name="Text 31"/>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35.7</a:t>
            </a:r>
            <a:endParaRPr lang="en-US" sz="1300" dirty="0"/>
          </a:p>
        </p:txBody>
      </p:sp>
      <p:sp>
        <p:nvSpPr>
          <p:cNvPr id="35" name="Shape 32"/>
          <p:cNvSpPr/>
          <p:nvPr/>
        </p:nvSpPr>
        <p:spPr>
          <a:xfrm>
            <a:off x="640080" y="4398264"/>
            <a:ext cx="10908792" cy="0"/>
          </a:xfrm>
          <a:prstGeom prst="line">
            <a:avLst/>
          </a:prstGeom>
          <a:noFill/>
          <a:ln w="9525">
            <a:solidFill>
              <a:srgbClr val="CFDDDD"/>
            </a:solidFill>
            <a:prstDash val="solid"/>
          </a:ln>
        </p:spPr>
      </p:sp>
      <p:sp>
        <p:nvSpPr>
          <p:cNvPr id="36" name="Text 33"/>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glomerulonephritis, %</a:t>
            </a:r>
            <a:endParaRPr lang="en-US" sz="1300" dirty="0"/>
          </a:p>
        </p:txBody>
      </p:sp>
      <p:sp>
        <p:nvSpPr>
          <p:cNvPr id="37" name="Text 34"/>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56.2</a:t>
            </a:r>
            <a:endParaRPr lang="en-US" sz="1300" dirty="0"/>
          </a:p>
        </p:txBody>
      </p:sp>
      <p:sp>
        <p:nvSpPr>
          <p:cNvPr id="38" name="Text 35"/>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57.8</a:t>
            </a:r>
            <a:endParaRPr lang="en-US" sz="1300" dirty="0"/>
          </a:p>
        </p:txBody>
      </p:sp>
      <p:sp>
        <p:nvSpPr>
          <p:cNvPr id="39" name="Shape 36"/>
          <p:cNvSpPr/>
          <p:nvPr/>
        </p:nvSpPr>
        <p:spPr>
          <a:xfrm>
            <a:off x="640080" y="4764024"/>
            <a:ext cx="10908792" cy="0"/>
          </a:xfrm>
          <a:prstGeom prst="line">
            <a:avLst/>
          </a:prstGeom>
          <a:noFill/>
          <a:ln w="9525">
            <a:solidFill>
              <a:srgbClr val="CFDDDD"/>
            </a:solidFill>
            <a:prstDash val="solid"/>
          </a:ln>
        </p:spPr>
      </p:sp>
      <p:sp>
        <p:nvSpPr>
          <p:cNvPr id="40" name="Text 37"/>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RAS inhibitor, %</a:t>
            </a:r>
            <a:endParaRPr lang="en-US" sz="1300" dirty="0"/>
          </a:p>
        </p:txBody>
      </p:sp>
      <p:sp>
        <p:nvSpPr>
          <p:cNvPr id="41" name="Text 38"/>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99.6</a:t>
            </a:r>
            <a:endParaRPr lang="en-US" sz="1300" dirty="0"/>
          </a:p>
        </p:txBody>
      </p:sp>
      <p:sp>
        <p:nvSpPr>
          <p:cNvPr id="42" name="Text 39"/>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99.7</a:t>
            </a:r>
            <a:endParaRPr lang="en-US" sz="1300" dirty="0"/>
          </a:p>
        </p:txBody>
      </p:sp>
      <p:sp>
        <p:nvSpPr>
          <p:cNvPr id="43" name="Shape 40"/>
          <p:cNvSpPr/>
          <p:nvPr/>
        </p:nvSpPr>
        <p:spPr>
          <a:xfrm>
            <a:off x="640080" y="5129784"/>
            <a:ext cx="10908792" cy="0"/>
          </a:xfrm>
          <a:prstGeom prst="line">
            <a:avLst/>
          </a:prstGeom>
          <a:noFill/>
          <a:ln w="9525">
            <a:solidFill>
              <a:srgbClr val="CFDDDD"/>
            </a:solidFill>
            <a:prstDash val="solid"/>
          </a:ln>
        </p:spPr>
      </p:sp>
      <p:sp>
        <p:nvSpPr>
          <p:cNvPr id="44" name="Text 41"/>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SGLT2 inhibitor, %</a:t>
            </a:r>
            <a:endParaRPr lang="en-US" sz="1300" dirty="0"/>
          </a:p>
        </p:txBody>
      </p:sp>
      <p:sp>
        <p:nvSpPr>
          <p:cNvPr id="45" name="Text 42"/>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17.0</a:t>
            </a:r>
            <a:endParaRPr lang="en-US" sz="1300" dirty="0"/>
          </a:p>
        </p:txBody>
      </p:sp>
      <p:sp>
        <p:nvSpPr>
          <p:cNvPr id="46" name="Text 43"/>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17.1</a:t>
            </a:r>
            <a:endParaRPr lang="en-US" sz="1300" dirty="0"/>
          </a:p>
        </p:txBody>
      </p:sp>
      <p:sp>
        <p:nvSpPr>
          <p:cNvPr id="47" name="Text 44"/>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400" i="1" dirty="0">
                <a:solidFill>
                  <a:srgbClr val="4E5E66"/>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400" dirty="0"/>
          </a:p>
        </p:txBody>
      </p:sp>
      <p:sp>
        <p:nvSpPr>
          <p:cNvPr id="48" name="Text 4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9" name="Text 4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Intervention, dosing and potassium management</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Starting dose by screening eGFR</a:t>
            </a:r>
            <a:endParaRPr lang="en-US" sz="1550" dirty="0"/>
          </a:p>
        </p:txBody>
      </p:sp>
      <p:sp>
        <p:nvSpPr>
          <p:cNvPr id="7" name="Shape 4"/>
          <p:cNvSpPr/>
          <p:nvPr/>
        </p:nvSpPr>
        <p:spPr>
          <a:xfrm>
            <a:off x="640080" y="1600200"/>
            <a:ext cx="5577840" cy="420624"/>
          </a:xfrm>
          <a:prstGeom prst="rect">
            <a:avLst/>
          </a:prstGeom>
          <a:solidFill>
            <a:srgbClr val="0F3446"/>
          </a:solidFill>
          <a:ln/>
        </p:spPr>
      </p:sp>
      <p:sp>
        <p:nvSpPr>
          <p:cNvPr id="8" name="Text 5"/>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Screening eGFR</a:t>
            </a:r>
            <a:endParaRPr lang="en-US" sz="1300" dirty="0"/>
          </a:p>
        </p:txBody>
      </p:sp>
      <p:sp>
        <p:nvSpPr>
          <p:cNvPr id="9" name="Text 6"/>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Starting dose</a:t>
            </a:r>
            <a:endParaRPr lang="en-US" sz="1300" dirty="0"/>
          </a:p>
        </p:txBody>
      </p:sp>
      <p:sp>
        <p:nvSpPr>
          <p:cNvPr id="10" name="Shape 7"/>
          <p:cNvSpPr/>
          <p:nvPr/>
        </p:nvSpPr>
        <p:spPr>
          <a:xfrm>
            <a:off x="640080" y="2478024"/>
            <a:ext cx="5577840" cy="0"/>
          </a:xfrm>
          <a:prstGeom prst="line">
            <a:avLst/>
          </a:prstGeom>
          <a:noFill/>
          <a:ln w="9525">
            <a:solidFill>
              <a:srgbClr val="CFDDDD"/>
            </a:solidFill>
            <a:prstDash val="solid"/>
          </a:ln>
        </p:spPr>
      </p:sp>
      <p:sp>
        <p:nvSpPr>
          <p:cNvPr id="11" name="Text 8"/>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 60 ml/min/1.73 m²</a:t>
            </a:r>
            <a:endParaRPr lang="en-US" sz="1400" dirty="0"/>
          </a:p>
        </p:txBody>
      </p:sp>
      <p:sp>
        <p:nvSpPr>
          <p:cNvPr id="12" name="Text 9"/>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20 mg once daily</a:t>
            </a:r>
            <a:endParaRPr lang="en-US" sz="1400" dirty="0"/>
          </a:p>
        </p:txBody>
      </p:sp>
      <p:sp>
        <p:nvSpPr>
          <p:cNvPr id="13" name="Shape 10"/>
          <p:cNvSpPr/>
          <p:nvPr/>
        </p:nvSpPr>
        <p:spPr>
          <a:xfrm>
            <a:off x="640080" y="2935224"/>
            <a:ext cx="5577840" cy="0"/>
          </a:xfrm>
          <a:prstGeom prst="line">
            <a:avLst/>
          </a:prstGeom>
          <a:noFill/>
          <a:ln w="9525">
            <a:solidFill>
              <a:srgbClr val="CFDDDD"/>
            </a:solidFill>
            <a:prstDash val="solid"/>
          </a:ln>
        </p:spPr>
      </p:sp>
      <p:sp>
        <p:nvSpPr>
          <p:cNvPr id="14" name="Text 11"/>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25 to &lt;60 ml/min/1.73 m²</a:t>
            </a:r>
            <a:endParaRPr lang="en-US" sz="1400" dirty="0"/>
          </a:p>
        </p:txBody>
      </p:sp>
      <p:sp>
        <p:nvSpPr>
          <p:cNvPr id="15" name="Text 12"/>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10 mg once daily</a:t>
            </a:r>
            <a:endParaRPr lang="en-US" sz="1400" dirty="0"/>
          </a:p>
        </p:txBody>
      </p:sp>
      <p:sp>
        <p:nvSpPr>
          <p:cNvPr id="16" name="Text 13"/>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Up-titrate 10 → 20 mg from month 1 if K⁺ ≤4.8 and eGFR is stable.</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K⁺ &gt;5.5 mmol/L: withhold for 72 h; restart at 10 mg once K⁺ ≤5.0.</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Central-lab potassium at every visit; dose reducible any time for safety.</a:t>
            </a:r>
            <a:endParaRPr lang="en-US" sz="1350" dirty="0"/>
          </a:p>
        </p:txBody>
      </p:sp>
      <p:sp>
        <p:nvSpPr>
          <p:cNvPr id="17" name="Text 1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Visit schedule</a:t>
            </a:r>
            <a:endParaRPr lang="en-US" sz="1550" dirty="0"/>
          </a:p>
        </p:txBody>
      </p:sp>
      <p:sp>
        <p:nvSpPr>
          <p:cNvPr id="18" name="Text 15"/>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400" dirty="0"/>
          </a:p>
        </p:txBody>
      </p:sp>
      <p:sp>
        <p:nvSpPr>
          <p:cNvPr id="19" name="Shape 16"/>
          <p:cNvSpPr/>
          <p:nvPr/>
        </p:nvSpPr>
        <p:spPr>
          <a:xfrm>
            <a:off x="6414516" y="3246120"/>
            <a:ext cx="5134356" cy="0"/>
          </a:xfrm>
          <a:prstGeom prst="line">
            <a:avLst/>
          </a:prstGeom>
          <a:noFill/>
          <a:ln w="25400">
            <a:solidFill>
              <a:srgbClr val="9AA7AD"/>
            </a:solidFill>
            <a:prstDash val="solid"/>
          </a:ln>
        </p:spPr>
      </p:sp>
      <p:sp>
        <p:nvSpPr>
          <p:cNvPr id="20" name="Shape 17"/>
          <p:cNvSpPr/>
          <p:nvPr/>
        </p:nvSpPr>
        <p:spPr>
          <a:xfrm>
            <a:off x="6364224" y="3195828"/>
            <a:ext cx="100584" cy="100584"/>
          </a:xfrm>
          <a:prstGeom prst="ellipse">
            <a:avLst/>
          </a:prstGeom>
          <a:solidFill>
            <a:srgbClr val="12A3A6"/>
          </a:solidFill>
          <a:ln/>
        </p:spPr>
      </p:sp>
      <p:sp>
        <p:nvSpPr>
          <p:cNvPr id="21" name="Text 18"/>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Base</a:t>
            </a:r>
            <a:endParaRPr lang="en-US" sz="900" dirty="0"/>
          </a:p>
        </p:txBody>
      </p:sp>
      <p:sp>
        <p:nvSpPr>
          <p:cNvPr id="22" name="Shape 19"/>
          <p:cNvSpPr/>
          <p:nvPr/>
        </p:nvSpPr>
        <p:spPr>
          <a:xfrm>
            <a:off x="7097703" y="3195828"/>
            <a:ext cx="100584" cy="100584"/>
          </a:xfrm>
          <a:prstGeom prst="ellipse">
            <a:avLst/>
          </a:prstGeom>
          <a:solidFill>
            <a:srgbClr val="12A3A6"/>
          </a:solidFill>
          <a:ln/>
        </p:spPr>
      </p:sp>
      <p:sp>
        <p:nvSpPr>
          <p:cNvPr id="23" name="Text 20"/>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a:t>
            </a:r>
            <a:endParaRPr lang="en-US" sz="900" dirty="0"/>
          </a:p>
        </p:txBody>
      </p:sp>
      <p:sp>
        <p:nvSpPr>
          <p:cNvPr id="24" name="Shape 21"/>
          <p:cNvSpPr/>
          <p:nvPr/>
        </p:nvSpPr>
        <p:spPr>
          <a:xfrm>
            <a:off x="7831183" y="3195828"/>
            <a:ext cx="100584" cy="100584"/>
          </a:xfrm>
          <a:prstGeom prst="ellipse">
            <a:avLst/>
          </a:prstGeom>
          <a:solidFill>
            <a:srgbClr val="12A3A6"/>
          </a:solidFill>
          <a:ln/>
        </p:spPr>
      </p:sp>
      <p:sp>
        <p:nvSpPr>
          <p:cNvPr id="25" name="Text 22"/>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M3</a:t>
            </a:r>
            <a:endParaRPr lang="en-US" sz="900" dirty="0"/>
          </a:p>
        </p:txBody>
      </p:sp>
      <p:sp>
        <p:nvSpPr>
          <p:cNvPr id="26" name="Shape 23"/>
          <p:cNvSpPr/>
          <p:nvPr/>
        </p:nvSpPr>
        <p:spPr>
          <a:xfrm>
            <a:off x="8564662" y="3195828"/>
            <a:ext cx="100584" cy="100584"/>
          </a:xfrm>
          <a:prstGeom prst="ellipse">
            <a:avLst/>
          </a:prstGeom>
          <a:solidFill>
            <a:srgbClr val="12A3A6"/>
          </a:solidFill>
          <a:ln/>
        </p:spPr>
      </p:sp>
      <p:sp>
        <p:nvSpPr>
          <p:cNvPr id="27" name="Text 24"/>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M6</a:t>
            </a:r>
            <a:endParaRPr lang="en-US" sz="900" dirty="0"/>
          </a:p>
        </p:txBody>
      </p:sp>
      <p:sp>
        <p:nvSpPr>
          <p:cNvPr id="28" name="Shape 25"/>
          <p:cNvSpPr/>
          <p:nvPr/>
        </p:nvSpPr>
        <p:spPr>
          <a:xfrm>
            <a:off x="9298142" y="3195828"/>
            <a:ext cx="100584" cy="100584"/>
          </a:xfrm>
          <a:prstGeom prst="ellipse">
            <a:avLst/>
          </a:prstGeom>
          <a:solidFill>
            <a:srgbClr val="12A3A6"/>
          </a:solidFill>
          <a:ln/>
        </p:spPr>
      </p:sp>
      <p:sp>
        <p:nvSpPr>
          <p:cNvPr id="29" name="Text 26"/>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M12</a:t>
            </a:r>
            <a:endParaRPr lang="en-US" sz="900" dirty="0"/>
          </a:p>
        </p:txBody>
      </p:sp>
      <p:sp>
        <p:nvSpPr>
          <p:cNvPr id="30" name="Shape 27"/>
          <p:cNvSpPr/>
          <p:nvPr/>
        </p:nvSpPr>
        <p:spPr>
          <a:xfrm>
            <a:off x="10031621" y="3195828"/>
            <a:ext cx="100584" cy="100584"/>
          </a:xfrm>
          <a:prstGeom prst="ellipse">
            <a:avLst/>
          </a:prstGeom>
          <a:solidFill>
            <a:srgbClr val="12A3A6"/>
          </a:solidFill>
          <a:ln/>
        </p:spPr>
      </p:sp>
      <p:sp>
        <p:nvSpPr>
          <p:cNvPr id="31" name="Text 28"/>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q4mo</a:t>
            </a:r>
            <a:endParaRPr lang="en-US" sz="900" dirty="0"/>
          </a:p>
        </p:txBody>
      </p:sp>
      <p:sp>
        <p:nvSpPr>
          <p:cNvPr id="32" name="Shape 29"/>
          <p:cNvSpPr/>
          <p:nvPr/>
        </p:nvSpPr>
        <p:spPr>
          <a:xfrm>
            <a:off x="10765101" y="3195828"/>
            <a:ext cx="100584" cy="100584"/>
          </a:xfrm>
          <a:prstGeom prst="ellipse">
            <a:avLst/>
          </a:prstGeom>
          <a:solidFill>
            <a:srgbClr val="E86A44"/>
          </a:solidFill>
          <a:ln/>
        </p:spPr>
      </p:sp>
      <p:sp>
        <p:nvSpPr>
          <p:cNvPr id="33" name="Text 30"/>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M32</a:t>
            </a:r>
            <a:endParaRPr lang="en-US" sz="900" dirty="0"/>
          </a:p>
        </p:txBody>
      </p:sp>
      <p:sp>
        <p:nvSpPr>
          <p:cNvPr id="34" name="Shape 31"/>
          <p:cNvSpPr/>
          <p:nvPr/>
        </p:nvSpPr>
        <p:spPr>
          <a:xfrm>
            <a:off x="11498580" y="3195828"/>
            <a:ext cx="100584" cy="100584"/>
          </a:xfrm>
          <a:prstGeom prst="ellipse">
            <a:avLst/>
          </a:prstGeom>
          <a:solidFill>
            <a:srgbClr val="E86A44"/>
          </a:solidFill>
          <a:ln/>
        </p:spPr>
      </p:sp>
      <p:sp>
        <p:nvSpPr>
          <p:cNvPr id="35" name="Text 32"/>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+4wk</a:t>
            </a:r>
            <a:endParaRPr lang="en-US" sz="900" dirty="0"/>
          </a:p>
        </p:txBody>
      </p:sp>
      <p:sp>
        <p:nvSpPr>
          <p:cNvPr id="36" name="Text 33"/>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250" i="1" dirty="0">
                <a:solidFill>
                  <a:srgbClr val="4E5E66"/>
                </a:solidFill>
                <a:latin typeface="Calibri" pitchFamily="34" charset="0"/>
                <a:ea typeface="Calibri" pitchFamily="34" charset="-122"/>
                <a:cs typeface="Calibri" pitchFamily="34" charset="-120"/>
              </a:rPr>
              <a:t>The off-treatment visit isolates the reversible (hemodynamic) part of the eGFR effect.</a:t>
            </a:r>
            <a:endParaRPr lang="en-US" sz="12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Endpoints</a:t>
            </a:r>
            <a:endParaRPr lang="en-US" sz="2400" dirty="0"/>
          </a:p>
        </p:txBody>
      </p:sp>
      <p:sp>
        <p:nvSpPr>
          <p:cNvPr id="6" name="Text 3"/>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65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650" dirty="0"/>
          </a:p>
        </p:txBody>
      </p:sp>
      <p:sp>
        <p:nvSpPr>
          <p:cNvPr id="7" name="Text 4"/>
          <p:cNvSpPr/>
          <p:nvPr/>
        </p:nvSpPr>
        <p:spPr>
          <a:xfrm>
            <a:off x="640080" y="2103120"/>
            <a:ext cx="1090879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Secondary outcomes (pre-specified hierarchical testing)</a:t>
            </a:r>
            <a:endParaRPr lang="en-US" sz="1550" dirty="0"/>
          </a:p>
        </p:txBody>
      </p:sp>
      <p:sp>
        <p:nvSpPr>
          <p:cNvPr id="8" name="Text 5"/>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1.  Composite kidney–CV: sustained ≥57% eGFR decline, kidney failure, HF hospitalization, or CV death</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2.  Composite kidney: sustained ≥57% eGFR decline or kidney failure</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3.  Composite CV: HF hospitalization or CV death</a:t>
            </a:r>
            <a:endParaRPr lang="en-US" sz="1500" dirty="0"/>
          </a:p>
        </p:txBody>
      </p:sp>
      <p:sp>
        <p:nvSpPr>
          <p:cNvPr id="9" name="Text 6"/>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400" dirty="0"/>
          </a:p>
        </p:txBody>
      </p:sp>
      <p:sp>
        <p:nvSpPr>
          <p:cNvPr id="10" name="Text 7"/>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4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Statistical approach, and why eGFR slope</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The primary model</a:t>
            </a:r>
            <a:endParaRPr lang="en-US" sz="1550" dirty="0"/>
          </a:p>
        </p:txBody>
      </p:sp>
      <p:sp>
        <p:nvSpPr>
          <p:cNvPr id="7" name="Text 4"/>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slope, and is it fair</a:t>
            </a:r>
            <a:endParaRPr lang="en-US" sz="1550" dirty="0"/>
          </a:p>
        </p:txBody>
      </p:sp>
      <p:sp>
        <p:nvSpPr>
          <p:cNvPr id="9" name="Text 6"/>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65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650" dirty="0"/>
          </a:p>
        </p:txBody>
      </p:sp>
      <p:sp>
        <p:nvSpPr>
          <p:cNvPr id="10" name="Text 7"/>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450" i="1" dirty="0">
                <a:solidFill>
                  <a:srgbClr val="4E5E66"/>
                </a:solidFill>
                <a:latin typeface="Calibri" pitchFamily="34" charset="0"/>
                <a:ea typeface="Calibri" pitchFamily="34" charset="-122"/>
                <a:cs typeface="Calibri" pitchFamily="34" charset="-120"/>
              </a:rPr>
              <a:t>eGFR slope is increasingly used as a surrogate for kidney-failure risk in CKD trials, and is accepted for that purpose. Still, it is a surrogate, not a hard outcome.</a:t>
            </a:r>
            <a:endParaRPr lang="en-US" sz="14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eGFR change over time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600" dirty="0"/>
          </a:p>
        </p:txBody>
      </p:sp>
      <p:pic>
        <p:nvPicPr>
          <p:cNvPr id="7" name="Image 1" descr="fig1A.png">    </p:cNvPr>
          <p:cNvPicPr>
            <a:picLocks noChangeAspect="1"/>
          </p:cNvPicPr>
          <p:nvPr/>
        </p:nvPicPr>
        <p:blipFill>
          <a:blip r:embed="rId2"/>
          <a:stretch>
            <a:fillRect/>
          </a:stretch>
        </p:blipFill>
        <p:spPr>
          <a:xfrm>
            <a:off x="1435608" y="1572768"/>
            <a:ext cx="9326880" cy="4434840"/>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1A.  Heerspink et al., N Engl J Med 2026.</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Reading the eGFR curve: the acute dip is not harm</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600" dirty="0"/>
          </a:p>
        </p:txBody>
      </p:sp>
      <p:sp>
        <p:nvSpPr>
          <p:cNvPr id="7" name="Text 4"/>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8" name="Text 5"/>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steeper acute slope with finerenone over the first 3 months (95% CI −1.7 to −0.6)</a:t>
            </a:r>
            <a:endParaRPr lang="en-US" sz="1350" dirty="0"/>
          </a:p>
        </p:txBody>
      </p:sp>
      <p:sp>
        <p:nvSpPr>
          <p:cNvPr id="9" name="Text 6"/>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10" name="Text 7"/>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less eGFR lost by 4 weeks off-treatment vs placebo (−8.8 vs −11.2 ml/min/1.73 m²)</a:t>
            </a:r>
            <a:endParaRPr lang="en-US" sz="1350" dirty="0"/>
          </a:p>
        </p:txBody>
      </p:sp>
      <p:sp>
        <p:nvSpPr>
          <p:cNvPr id="11" name="Text 8"/>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total, acute and chronic slope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600" dirty="0"/>
          </a:p>
        </p:txBody>
      </p:sp>
      <p:pic>
        <p:nvPicPr>
          <p:cNvPr id="7" name="Image 1" descr="fig1B.png">    </p:cNvPr>
          <p:cNvPicPr>
            <a:picLocks noChangeAspect="1"/>
          </p:cNvPicPr>
          <p:nvPr/>
        </p:nvPicPr>
        <p:blipFill>
          <a:blip r:embed="rId2"/>
          <a:stretch>
            <a:fillRect/>
          </a:stretch>
        </p:blipFill>
        <p:spPr>
          <a:xfrm>
            <a:off x="1252728" y="1783080"/>
            <a:ext cx="9692640" cy="4041648"/>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1B.  Heerspink et al., N Engl J Med 2026.</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Consistency across subgroups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Every subgroup favors finerenone; the effect is largest with heavy albuminuria (UACR &gt;1000).</a:t>
            </a:r>
            <a:endParaRPr lang="en-US" sz="1600" dirty="0"/>
          </a:p>
        </p:txBody>
      </p:sp>
      <p:pic>
        <p:nvPicPr>
          <p:cNvPr id="7" name="Image 1" descr="fig2.png">    </p:cNvPr>
          <p:cNvPicPr>
            <a:picLocks noChangeAspect="1"/>
          </p:cNvPicPr>
          <p:nvPr/>
        </p:nvPicPr>
        <p:blipFill>
          <a:blip r:embed="rId2"/>
          <a:stretch>
            <a:fillRect/>
          </a:stretch>
        </p:blipFill>
        <p:spPr>
          <a:xfrm>
            <a:off x="886968" y="1536192"/>
            <a:ext cx="10424160" cy="4645152"/>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2.  Heerspink et al., N Engl J Med 2026.  CIs not adjusted for multiplicity.</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Secondary clinical outcomes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600" dirty="0"/>
          </a:p>
        </p:txBody>
      </p:sp>
      <p:pic>
        <p:nvPicPr>
          <p:cNvPr id="7" name="Image 1" descr="fig3A.png">    </p:cNvPr>
          <p:cNvPicPr>
            <a:picLocks noChangeAspect="1"/>
          </p:cNvPicPr>
          <p:nvPr/>
        </p:nvPicPr>
        <p:blipFill>
          <a:blip r:embed="rId2"/>
          <a:stretch>
            <a:fillRect/>
          </a:stretch>
        </p:blipFill>
        <p:spPr>
          <a:xfrm>
            <a:off x="640080" y="1600200"/>
            <a:ext cx="6126480" cy="3017520"/>
          </a:xfrm>
          <a:prstGeom prst="rect">
            <a:avLst/>
          </a:prstGeom>
        </p:spPr>
      </p:pic>
      <p:sp>
        <p:nvSpPr>
          <p:cNvPr id="8" name="Shape 4"/>
          <p:cNvSpPr/>
          <p:nvPr/>
        </p:nvSpPr>
        <p:spPr>
          <a:xfrm>
            <a:off x="6949440" y="1691640"/>
            <a:ext cx="4599432" cy="457200"/>
          </a:xfrm>
          <a:prstGeom prst="rect">
            <a:avLst/>
          </a:prstGeom>
          <a:solidFill>
            <a:srgbClr val="0F3446"/>
          </a:solidFill>
          <a:ln/>
        </p:spPr>
      </p:sp>
      <p:sp>
        <p:nvSpPr>
          <p:cNvPr id="9" name="Text 5"/>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Composite</a:t>
            </a:r>
            <a:endParaRPr lang="en-US" sz="1300" dirty="0"/>
          </a:p>
        </p:txBody>
      </p:sp>
      <p:sp>
        <p:nvSpPr>
          <p:cNvPr id="10" name="Text 6"/>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 Plac</a:t>
            </a:r>
            <a:endParaRPr lang="en-US" sz="1300" dirty="0"/>
          </a:p>
        </p:txBody>
      </p:sp>
      <p:sp>
        <p:nvSpPr>
          <p:cNvPr id="11" name="Text 7"/>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2" name="Text 8"/>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3" name="Shape 9"/>
          <p:cNvSpPr/>
          <p:nvPr/>
        </p:nvSpPr>
        <p:spPr>
          <a:xfrm>
            <a:off x="6949440" y="2807208"/>
            <a:ext cx="4599432" cy="0"/>
          </a:xfrm>
          <a:prstGeom prst="line">
            <a:avLst/>
          </a:prstGeom>
          <a:noFill/>
          <a:ln w="9525">
            <a:solidFill>
              <a:srgbClr val="CFDDDD"/>
            </a:solidFill>
            <a:prstDash val="solid"/>
          </a:ln>
        </p:spPr>
      </p:sp>
      <p:sp>
        <p:nvSpPr>
          <p:cNvPr id="14" name="Text 10"/>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Kidney–CV</a:t>
            </a:r>
            <a:endParaRPr lang="en-US" sz="1250" dirty="0"/>
          </a:p>
        </p:txBody>
      </p:sp>
      <p:sp>
        <p:nvSpPr>
          <p:cNvPr id="15" name="Text 11"/>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110 / 134</a:t>
            </a:r>
            <a:endParaRPr lang="en-US" sz="1250" dirty="0"/>
          </a:p>
        </p:txBody>
      </p:sp>
      <p:sp>
        <p:nvSpPr>
          <p:cNvPr id="16" name="Text 12"/>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(0.60–0.99)</a:t>
            </a:r>
            <a:endParaRPr lang="en-US" sz="1250" dirty="0"/>
          </a:p>
        </p:txBody>
      </p:sp>
      <p:sp>
        <p:nvSpPr>
          <p:cNvPr id="17" name="Text 13"/>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0.04</a:t>
            </a:r>
            <a:endParaRPr lang="en-US" sz="1250" dirty="0"/>
          </a:p>
        </p:txBody>
      </p:sp>
      <p:sp>
        <p:nvSpPr>
          <p:cNvPr id="18" name="Shape 14"/>
          <p:cNvSpPr/>
          <p:nvPr/>
        </p:nvSpPr>
        <p:spPr>
          <a:xfrm>
            <a:off x="6949440" y="3465576"/>
            <a:ext cx="4599432" cy="0"/>
          </a:xfrm>
          <a:prstGeom prst="line">
            <a:avLst/>
          </a:prstGeom>
          <a:noFill/>
          <a:ln w="9525">
            <a:solidFill>
              <a:srgbClr val="CFDDDD"/>
            </a:solidFill>
            <a:prstDash val="solid"/>
          </a:ln>
        </p:spPr>
      </p:sp>
      <p:sp>
        <p:nvSpPr>
          <p:cNvPr id="19" name="Text 15"/>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a:t>
            </a:r>
            <a:endParaRPr lang="en-US" sz="1250" dirty="0"/>
          </a:p>
        </p:txBody>
      </p:sp>
      <p:sp>
        <p:nvSpPr>
          <p:cNvPr id="20" name="Text 16"/>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104 / 125</a:t>
            </a:r>
            <a:endParaRPr lang="en-US" sz="1250" dirty="0"/>
          </a:p>
        </p:txBody>
      </p:sp>
      <p:sp>
        <p:nvSpPr>
          <p:cNvPr id="21" name="Text 17"/>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0.78 (0.60–1.01)</a:t>
            </a:r>
            <a:endParaRPr lang="en-US" sz="1250" dirty="0"/>
          </a:p>
        </p:txBody>
      </p:sp>
      <p:sp>
        <p:nvSpPr>
          <p:cNvPr id="22" name="Text 18"/>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0.06</a:t>
            </a:r>
            <a:endParaRPr lang="en-US" sz="1250" dirty="0"/>
          </a:p>
        </p:txBody>
      </p:sp>
      <p:sp>
        <p:nvSpPr>
          <p:cNvPr id="23" name="Shape 19"/>
          <p:cNvSpPr/>
          <p:nvPr/>
        </p:nvSpPr>
        <p:spPr>
          <a:xfrm>
            <a:off x="6949440" y="4123944"/>
            <a:ext cx="4599432" cy="0"/>
          </a:xfrm>
          <a:prstGeom prst="line">
            <a:avLst/>
          </a:prstGeom>
          <a:noFill/>
          <a:ln w="9525">
            <a:solidFill>
              <a:srgbClr val="CFDDDD"/>
            </a:solidFill>
            <a:prstDash val="solid"/>
          </a:ln>
        </p:spPr>
      </p:sp>
      <p:sp>
        <p:nvSpPr>
          <p:cNvPr id="24" name="Text 20"/>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CV</a:t>
            </a:r>
            <a:endParaRPr lang="en-US" sz="1250" dirty="0"/>
          </a:p>
        </p:txBody>
      </p:sp>
      <p:sp>
        <p:nvSpPr>
          <p:cNvPr id="25" name="Text 21"/>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 / 16</a:t>
            </a:r>
            <a:endParaRPr lang="en-US" sz="1250" dirty="0"/>
          </a:p>
        </p:txBody>
      </p:sp>
      <p:sp>
        <p:nvSpPr>
          <p:cNvPr id="26" name="Text 22"/>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0.60 (0.27–1.33)</a:t>
            </a:r>
            <a:endParaRPr lang="en-US" sz="1250" dirty="0"/>
          </a:p>
        </p:txBody>
      </p:sp>
      <p:sp>
        <p:nvSpPr>
          <p:cNvPr id="27" name="Text 23"/>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a:t>
            </a:r>
            <a:endParaRPr lang="en-US" sz="1250" dirty="0"/>
          </a:p>
        </p:txBody>
      </p:sp>
      <p:sp>
        <p:nvSpPr>
          <p:cNvPr id="28" name="Text 24"/>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350" dirty="0">
                <a:solidFill>
                  <a:srgbClr val="13212A"/>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350" dirty="0"/>
          </a:p>
        </p:txBody>
      </p:sp>
      <p:sp>
        <p:nvSpPr>
          <p:cNvPr id="29" name="Text 25"/>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3, Panel A.  Heerspink et al., N Engl J Med 2026.</a:t>
            </a:r>
            <a:endParaRPr lang="en-US" sz="850" dirty="0"/>
          </a:p>
        </p:txBody>
      </p:sp>
      <p:sp>
        <p:nvSpPr>
          <p:cNvPr id="30" name="Text 2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1" name="Text 2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Albuminuria: an early, large signal</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600" dirty="0"/>
          </a:p>
        </p:txBody>
      </p:sp>
      <p:sp>
        <p:nvSpPr>
          <p:cNvPr id="7" name="Text 4"/>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8" name="Text 5"/>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UACR change to month 6 with finerenone vs −9% with placebo</a:t>
            </a:r>
            <a:endParaRPr lang="en-US" sz="1350" dirty="0"/>
          </a:p>
        </p:txBody>
      </p:sp>
      <p:sp>
        <p:nvSpPr>
          <p:cNvPr id="9" name="Text 6"/>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10" name="Text 7"/>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odds of a ≥30% UACR reduction vs placebo (95% CI 3.22–4.95)</a:t>
            </a:r>
            <a:endParaRPr lang="en-US" sz="1350" dirty="0"/>
          </a:p>
        </p:txBody>
      </p:sp>
      <p:sp>
        <p:nvSpPr>
          <p:cNvPr id="11" name="Text 8"/>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Relative between-group difference in UACR of about 35% (95% CI 30.9 to 39.6), sustained over time.</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 ≥30% UACR reduction at month 6 in 56.0% of the finerenone group vs 24.4% of placebo.</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This is the mechanistic fingerprint of MR blockade, and it appears within months.</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Blood pressure and other exploratory findings</a:t>
            </a:r>
            <a:endParaRPr lang="en-US" sz="2400" dirty="0"/>
          </a:p>
        </p:txBody>
      </p:sp>
      <p:sp>
        <p:nvSpPr>
          <p:cNvPr id="6" name="Text 3"/>
          <p:cNvSpPr/>
          <p:nvPr/>
        </p:nvSpPr>
        <p:spPr>
          <a:xfrm>
            <a:off x="640080"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Blood pressure (to month 3)</a:t>
            </a:r>
            <a:endParaRPr lang="en-US" sz="1550" dirty="0"/>
          </a:p>
        </p:txBody>
      </p:sp>
      <p:sp>
        <p:nvSpPr>
          <p:cNvPr id="7" name="Shape 4"/>
          <p:cNvSpPr/>
          <p:nvPr/>
        </p:nvSpPr>
        <p:spPr>
          <a:xfrm>
            <a:off x="640080" y="1737360"/>
            <a:ext cx="5760720" cy="420624"/>
          </a:xfrm>
          <a:prstGeom prst="rect">
            <a:avLst/>
          </a:prstGeom>
          <a:solidFill>
            <a:srgbClr val="0F3446"/>
          </a:solidFill>
          <a:ln/>
        </p:spPr>
      </p:sp>
      <p:sp>
        <p:nvSpPr>
          <p:cNvPr id="8" name="Text 5"/>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Change, mm Hg</a:t>
            </a:r>
            <a:endParaRPr lang="en-US" sz="1300" dirty="0"/>
          </a:p>
        </p:txBody>
      </p:sp>
      <p:sp>
        <p:nvSpPr>
          <p:cNvPr id="9" name="Text 6"/>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a:t>
            </a:r>
            <a:endParaRPr lang="en-US" sz="1300" dirty="0"/>
          </a:p>
        </p:txBody>
      </p:sp>
      <p:sp>
        <p:nvSpPr>
          <p:cNvPr id="10" name="Text 7"/>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a:t>
            </a:r>
            <a:endParaRPr lang="en-US" sz="1300" dirty="0"/>
          </a:p>
        </p:txBody>
      </p:sp>
      <p:sp>
        <p:nvSpPr>
          <p:cNvPr id="11" name="Shape 8"/>
          <p:cNvSpPr/>
          <p:nvPr/>
        </p:nvSpPr>
        <p:spPr>
          <a:xfrm>
            <a:off x="640080" y="2615184"/>
            <a:ext cx="5760720" cy="0"/>
          </a:xfrm>
          <a:prstGeom prst="line">
            <a:avLst/>
          </a:prstGeom>
          <a:noFill/>
          <a:ln w="9525">
            <a:solidFill>
              <a:srgbClr val="CFDDDD"/>
            </a:solidFill>
            <a:prstDash val="solid"/>
          </a:ln>
        </p:spPr>
      </p:sp>
      <p:sp>
        <p:nvSpPr>
          <p:cNvPr id="12" name="Text 9"/>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Systolic</a:t>
            </a:r>
            <a:endParaRPr lang="en-US" sz="1350" dirty="0"/>
          </a:p>
        </p:txBody>
      </p:sp>
      <p:sp>
        <p:nvSpPr>
          <p:cNvPr id="13" name="Text 10"/>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−5.1</a:t>
            </a:r>
            <a:endParaRPr lang="en-US" sz="1350" dirty="0"/>
          </a:p>
        </p:txBody>
      </p:sp>
      <p:sp>
        <p:nvSpPr>
          <p:cNvPr id="14" name="Text 11"/>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−0.1</a:t>
            </a:r>
            <a:endParaRPr lang="en-US" sz="1350" dirty="0"/>
          </a:p>
        </p:txBody>
      </p:sp>
      <p:sp>
        <p:nvSpPr>
          <p:cNvPr id="15" name="Shape 12"/>
          <p:cNvSpPr/>
          <p:nvPr/>
        </p:nvSpPr>
        <p:spPr>
          <a:xfrm>
            <a:off x="640080" y="3072384"/>
            <a:ext cx="5760720" cy="0"/>
          </a:xfrm>
          <a:prstGeom prst="line">
            <a:avLst/>
          </a:prstGeom>
          <a:noFill/>
          <a:ln w="9525">
            <a:solidFill>
              <a:srgbClr val="CFDDDD"/>
            </a:solidFill>
            <a:prstDash val="solid"/>
          </a:ln>
        </p:spPr>
      </p:sp>
      <p:sp>
        <p:nvSpPr>
          <p:cNvPr id="16" name="Text 13"/>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Diastolic</a:t>
            </a:r>
            <a:endParaRPr lang="en-US" sz="1350" dirty="0"/>
          </a:p>
        </p:txBody>
      </p:sp>
      <p:sp>
        <p:nvSpPr>
          <p:cNvPr id="17" name="Text 14"/>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−3.1</a:t>
            </a:r>
            <a:endParaRPr lang="en-US" sz="1350" dirty="0"/>
          </a:p>
        </p:txBody>
      </p:sp>
      <p:sp>
        <p:nvSpPr>
          <p:cNvPr id="18" name="Text 15"/>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&lt;−0.1</a:t>
            </a:r>
            <a:endParaRPr lang="en-US" sz="1350" dirty="0"/>
          </a:p>
        </p:txBody>
      </p:sp>
      <p:sp>
        <p:nvSpPr>
          <p:cNvPr id="19" name="Text 16"/>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400" i="1" dirty="0">
                <a:solidFill>
                  <a:srgbClr val="4E5E66"/>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400" dirty="0"/>
          </a:p>
        </p:txBody>
      </p:sp>
      <p:sp>
        <p:nvSpPr>
          <p:cNvPr id="20" name="Text 17"/>
          <p:cNvSpPr/>
          <p:nvPr/>
        </p:nvSpPr>
        <p:spPr>
          <a:xfrm>
            <a:off x="6414516"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A broader kidney composite</a:t>
            </a:r>
            <a:endParaRPr lang="en-US" sz="1550" dirty="0"/>
          </a:p>
        </p:txBody>
      </p:sp>
      <p:sp>
        <p:nvSpPr>
          <p:cNvPr id="21" name="Text 18"/>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2" name="Text 19"/>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hazard ratio for sustained ≥40% eGFR decline or kidney failure (95% CI 0.62–0.93)</a:t>
            </a:r>
            <a:endParaRPr lang="en-US" sz="1350" dirty="0"/>
          </a:p>
        </p:txBody>
      </p:sp>
      <p:sp>
        <p:nvSpPr>
          <p:cNvPr id="23" name="Text 20"/>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168 (21.2%) finerenone vs 206 (26.0%) placebo.</a:t>
            </a:r>
            <a:endParaRPr lang="en-US" sz="1400" dirty="0"/>
          </a:p>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The less stringent ≥40% threshold captures more events and points the same way as the primary.</a:t>
            </a:r>
            <a:endParaRPr lang="en-US" sz="140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Safety: hyperkalemia in focus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600" dirty="0"/>
          </a:p>
        </p:txBody>
      </p:sp>
      <p:sp>
        <p:nvSpPr>
          <p:cNvPr id="7" name="Text 4"/>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450" dirty="0">
                <a:solidFill>
                  <a:srgbClr val="13212A"/>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450" dirty="0"/>
          </a:p>
        </p:txBody>
      </p:sp>
      <p:graphicFrame>
        <p:nvGraphicFramePr>
          <p:cNvPr id="8"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0" y="2148840"/>
            <a:ext cx="331927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What it means</a:t>
            </a:r>
            <a:endParaRPr lang="en-US" sz="1550" dirty="0"/>
          </a:p>
        </p:txBody>
      </p:sp>
      <p:sp>
        <p:nvSpPr>
          <p:cNvPr id="10" name="Text 6"/>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Hyperkalemia was the signature event; the excess was modest.</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Discontinuation for K⁺ 1.5% vs 0.1%; hospitalization 0.9% vs 0.6%; no fatal events.</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AKI and hypotension low and similar.</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No new safety signal versus the diabetes trials.</a:t>
            </a:r>
            <a:endParaRPr lang="en-US" sz="1400" dirty="0"/>
          </a:p>
        </p:txBody>
      </p:sp>
      <p:sp>
        <p:nvSpPr>
          <p:cNvPr id="11" name="Text 7"/>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Table 2 and text.</a:t>
            </a:r>
            <a:endParaRPr lang="en-US" sz="850" dirty="0"/>
          </a:p>
        </p:txBody>
      </p:sp>
      <p:sp>
        <p:nvSpPr>
          <p:cNvPr id="12"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Strengths and limitations</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Strengths</a:t>
            </a:r>
            <a:endParaRPr lang="en-US" sz="1550" dirty="0"/>
          </a:p>
        </p:txBody>
      </p:sp>
      <p:sp>
        <p:nvSpPr>
          <p:cNvPr id="7" name="Text 4"/>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Double-blind, placebo-controlled, international; sponsor analyses re-run independently at Groningen.</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Endpoint modeled correctly, separating the reversible acute dip from the chronic slope.</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Limitations</a:t>
            </a:r>
            <a:endParaRPr lang="en-US" sz="1550" dirty="0"/>
          </a:p>
        </p:txBody>
      </p:sp>
      <p:sp>
        <p:nvSpPr>
          <p:cNvPr id="9" name="Text 6"/>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Primary endpoint is a surrogate; not powered for hard kidney or CV events.</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Two-thirds men, few Black participants, enriched for heavy albuminuria: limited generalizability.</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Only 17% on an SGLT2 inhibitor, so the finerenone-plus-SGLT2i question is not directly answered.</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ADPKD, lupus nephritis and ANCA vasculitis excluded; ~36-month follow-up is short for lifelong CKD.</a:t>
            </a:r>
            <a:endParaRPr lang="en-US" sz="145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 context: same drug, two populations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kidney composite is 0.77 in diabetic CKD and 0.78 without diabetes, essentially identical.</a:t>
            </a:r>
            <a:endParaRPr lang="en-US" sz="1600" dirty="0"/>
          </a:p>
        </p:txBody>
      </p:sp>
      <p:sp>
        <p:nvSpPr>
          <p:cNvPr id="7" name="Shape 4"/>
          <p:cNvSpPr/>
          <p:nvPr/>
        </p:nvSpPr>
        <p:spPr>
          <a:xfrm>
            <a:off x="640080" y="1600200"/>
            <a:ext cx="10908792" cy="475488"/>
          </a:xfrm>
          <a:prstGeom prst="rect">
            <a:avLst/>
          </a:prstGeom>
          <a:solidFill>
            <a:srgbClr val="0F3446"/>
          </a:solidFill>
          <a:ln/>
        </p:spPr>
      </p:sp>
      <p:sp>
        <p:nvSpPr>
          <p:cNvPr id="8" name="Text 5"/>
          <p:cNvSpPr/>
          <p:nvPr/>
        </p:nvSpPr>
        <p:spPr>
          <a:xfrm>
            <a:off x="749808" y="1600200"/>
            <a:ext cx="2926080" cy="475488"/>
          </a:xfrm>
          <a:prstGeom prst="rect">
            <a:avLst/>
          </a:prstGeom>
          <a:noFill/>
          <a:ln/>
        </p:spPr>
        <p:txBody>
          <a:bodyPr wrap="square" lIns="0" tIns="0" rIns="0" bIns="0" rtlCol="0" anchor="ctr"/>
          <a:lstStyle/>
          <a:p>
            <a:pPr algn="l" indent="0" marL="0">
              <a:lnSpc>
                <a:spcPct val="98000"/>
              </a:lnSpc>
              <a:buNone/>
            </a:pPr>
            <a:endParaRPr lang="en-US" sz="1300" dirty="0"/>
          </a:p>
        </p:txBody>
      </p:sp>
      <p:sp>
        <p:nvSpPr>
          <p:cNvPr id="9" name="Text 6"/>
          <p:cNvSpPr/>
          <p:nvPr/>
        </p:nvSpPr>
        <p:spPr>
          <a:xfrm>
            <a:off x="3858768" y="1600200"/>
            <a:ext cx="3703320"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FIDELITY — diabetic CKD</a:t>
            </a:r>
            <a:endParaRPr lang="en-US" sz="1300" dirty="0"/>
          </a:p>
        </p:txBody>
      </p:sp>
      <p:sp>
        <p:nvSpPr>
          <p:cNvPr id="10" name="Text 7"/>
          <p:cNvSpPr/>
          <p:nvPr/>
        </p:nvSpPr>
        <p:spPr>
          <a:xfrm>
            <a:off x="7744968" y="1600200"/>
            <a:ext cx="3730752"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FIND-CKD — no diabetes</a:t>
            </a:r>
            <a:endParaRPr lang="en-US" sz="1300" dirty="0"/>
          </a:p>
        </p:txBody>
      </p:sp>
      <p:sp>
        <p:nvSpPr>
          <p:cNvPr id="11" name="Shape 8"/>
          <p:cNvSpPr/>
          <p:nvPr/>
        </p:nvSpPr>
        <p:spPr>
          <a:xfrm>
            <a:off x="640080" y="2587752"/>
            <a:ext cx="10908792" cy="0"/>
          </a:xfrm>
          <a:prstGeom prst="line">
            <a:avLst/>
          </a:prstGeom>
          <a:noFill/>
          <a:ln w="9525">
            <a:solidFill>
              <a:srgbClr val="CFDDDD"/>
            </a:solidFill>
            <a:prstDash val="solid"/>
          </a:ln>
        </p:spPr>
      </p:sp>
      <p:sp>
        <p:nvSpPr>
          <p:cNvPr id="12" name="Text 9"/>
          <p:cNvSpPr/>
          <p:nvPr/>
        </p:nvSpPr>
        <p:spPr>
          <a:xfrm>
            <a:off x="749808" y="207568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Pooled / N</a:t>
            </a:r>
            <a:endParaRPr lang="en-US" sz="1300" dirty="0"/>
          </a:p>
        </p:txBody>
      </p:sp>
      <p:sp>
        <p:nvSpPr>
          <p:cNvPr id="13" name="Text 10"/>
          <p:cNvSpPr/>
          <p:nvPr/>
        </p:nvSpPr>
        <p:spPr>
          <a:xfrm>
            <a:off x="3858768" y="207568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Pooled analysis; 13,026</a:t>
            </a:r>
            <a:endParaRPr lang="en-US" sz="1300" dirty="0"/>
          </a:p>
        </p:txBody>
      </p:sp>
      <p:sp>
        <p:nvSpPr>
          <p:cNvPr id="14" name="Text 11"/>
          <p:cNvSpPr/>
          <p:nvPr/>
        </p:nvSpPr>
        <p:spPr>
          <a:xfrm>
            <a:off x="7744968" y="207568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Single RCT; 1,584</a:t>
            </a:r>
            <a:endParaRPr lang="en-US" sz="1300" dirty="0"/>
          </a:p>
        </p:txBody>
      </p:sp>
      <p:sp>
        <p:nvSpPr>
          <p:cNvPr id="15" name="Shape 12"/>
          <p:cNvSpPr/>
          <p:nvPr/>
        </p:nvSpPr>
        <p:spPr>
          <a:xfrm>
            <a:off x="640080" y="3099816"/>
            <a:ext cx="10908792" cy="0"/>
          </a:xfrm>
          <a:prstGeom prst="line">
            <a:avLst/>
          </a:prstGeom>
          <a:noFill/>
          <a:ln w="9525">
            <a:solidFill>
              <a:srgbClr val="CFDDDD"/>
            </a:solidFill>
            <a:prstDash val="solid"/>
          </a:ln>
        </p:spPr>
      </p:sp>
      <p:sp>
        <p:nvSpPr>
          <p:cNvPr id="16" name="Text 13"/>
          <p:cNvSpPr/>
          <p:nvPr/>
        </p:nvSpPr>
        <p:spPr>
          <a:xfrm>
            <a:off x="749808" y="2587752"/>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Primary endpoint</a:t>
            </a:r>
            <a:endParaRPr lang="en-US" sz="1300" dirty="0"/>
          </a:p>
        </p:txBody>
      </p:sp>
      <p:sp>
        <p:nvSpPr>
          <p:cNvPr id="17" name="Text 14"/>
          <p:cNvSpPr/>
          <p:nvPr/>
        </p:nvSpPr>
        <p:spPr>
          <a:xfrm>
            <a:off x="3858768" y="2587752"/>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CV &amp; kidney composites</a:t>
            </a:r>
            <a:endParaRPr lang="en-US" sz="1300" dirty="0"/>
          </a:p>
        </p:txBody>
      </p:sp>
      <p:sp>
        <p:nvSpPr>
          <p:cNvPr id="18" name="Text 15"/>
          <p:cNvSpPr/>
          <p:nvPr/>
        </p:nvSpPr>
        <p:spPr>
          <a:xfrm>
            <a:off x="7744968" y="2587752"/>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Total eGFR slope</a:t>
            </a:r>
            <a:endParaRPr lang="en-US" sz="1300" dirty="0"/>
          </a:p>
        </p:txBody>
      </p:sp>
      <p:sp>
        <p:nvSpPr>
          <p:cNvPr id="19" name="Shape 16"/>
          <p:cNvSpPr/>
          <p:nvPr/>
        </p:nvSpPr>
        <p:spPr>
          <a:xfrm>
            <a:off x="640080" y="3611880"/>
            <a:ext cx="10908792" cy="0"/>
          </a:xfrm>
          <a:prstGeom prst="line">
            <a:avLst/>
          </a:prstGeom>
          <a:noFill/>
          <a:ln w="9525">
            <a:solidFill>
              <a:srgbClr val="CFDDDD"/>
            </a:solidFill>
            <a:prstDash val="solid"/>
          </a:ln>
        </p:spPr>
      </p:sp>
      <p:sp>
        <p:nvSpPr>
          <p:cNvPr id="20" name="Text 17"/>
          <p:cNvSpPr/>
          <p:nvPr/>
        </p:nvSpPr>
        <p:spPr>
          <a:xfrm>
            <a:off x="749808" y="3099816"/>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Kidney composite (≥57%)</a:t>
            </a:r>
            <a:endParaRPr lang="en-US" sz="1300" dirty="0"/>
          </a:p>
        </p:txBody>
      </p:sp>
      <p:sp>
        <p:nvSpPr>
          <p:cNvPr id="21" name="Text 18"/>
          <p:cNvSpPr/>
          <p:nvPr/>
        </p:nvSpPr>
        <p:spPr>
          <a:xfrm>
            <a:off x="3858768" y="3099816"/>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0.77 (0.67–0.88)</a:t>
            </a:r>
            <a:endParaRPr lang="en-US" sz="1300" dirty="0"/>
          </a:p>
        </p:txBody>
      </p:sp>
      <p:sp>
        <p:nvSpPr>
          <p:cNvPr id="22" name="Text 19"/>
          <p:cNvSpPr/>
          <p:nvPr/>
        </p:nvSpPr>
        <p:spPr>
          <a:xfrm>
            <a:off x="7744968" y="3099816"/>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0.78 (0.60–1.01)</a:t>
            </a:r>
            <a:endParaRPr lang="en-US" sz="1300" dirty="0"/>
          </a:p>
        </p:txBody>
      </p:sp>
      <p:sp>
        <p:nvSpPr>
          <p:cNvPr id="23" name="Shape 20"/>
          <p:cNvSpPr/>
          <p:nvPr/>
        </p:nvSpPr>
        <p:spPr>
          <a:xfrm>
            <a:off x="640080" y="4123944"/>
            <a:ext cx="10908792" cy="0"/>
          </a:xfrm>
          <a:prstGeom prst="line">
            <a:avLst/>
          </a:prstGeom>
          <a:noFill/>
          <a:ln w="9525">
            <a:solidFill>
              <a:srgbClr val="CFDDDD"/>
            </a:solidFill>
            <a:prstDash val="solid"/>
          </a:ln>
        </p:spPr>
      </p:sp>
      <p:sp>
        <p:nvSpPr>
          <p:cNvPr id="24" name="Text 21"/>
          <p:cNvSpPr/>
          <p:nvPr/>
        </p:nvSpPr>
        <p:spPr>
          <a:xfrm>
            <a:off x="749808" y="3611880"/>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Composite kidney–CV</a:t>
            </a:r>
            <a:endParaRPr lang="en-US" sz="1300" dirty="0"/>
          </a:p>
        </p:txBody>
      </p:sp>
      <p:sp>
        <p:nvSpPr>
          <p:cNvPr id="25" name="Text 22"/>
          <p:cNvSpPr/>
          <p:nvPr/>
        </p:nvSpPr>
        <p:spPr>
          <a:xfrm>
            <a:off x="3858768" y="3611880"/>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26" name="Text 23"/>
          <p:cNvSpPr/>
          <p:nvPr/>
        </p:nvSpPr>
        <p:spPr>
          <a:xfrm>
            <a:off x="7744968" y="3611880"/>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0.77 (0.60–0.99)</a:t>
            </a:r>
            <a:endParaRPr lang="en-US" sz="1300" dirty="0"/>
          </a:p>
        </p:txBody>
      </p:sp>
      <p:sp>
        <p:nvSpPr>
          <p:cNvPr id="27" name="Shape 24"/>
          <p:cNvSpPr/>
          <p:nvPr/>
        </p:nvSpPr>
        <p:spPr>
          <a:xfrm>
            <a:off x="640080" y="4636008"/>
            <a:ext cx="10908792" cy="0"/>
          </a:xfrm>
          <a:prstGeom prst="line">
            <a:avLst/>
          </a:prstGeom>
          <a:noFill/>
          <a:ln w="9525">
            <a:solidFill>
              <a:srgbClr val="CFDDDD"/>
            </a:solidFill>
            <a:prstDash val="solid"/>
          </a:ln>
        </p:spPr>
      </p:sp>
      <p:sp>
        <p:nvSpPr>
          <p:cNvPr id="28" name="Text 25"/>
          <p:cNvSpPr/>
          <p:nvPr/>
        </p:nvSpPr>
        <p:spPr>
          <a:xfrm>
            <a:off x="749808" y="4123944"/>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CV composite</a:t>
            </a:r>
            <a:endParaRPr lang="en-US" sz="1300" dirty="0"/>
          </a:p>
        </p:txBody>
      </p:sp>
      <p:sp>
        <p:nvSpPr>
          <p:cNvPr id="29" name="Text 26"/>
          <p:cNvSpPr/>
          <p:nvPr/>
        </p:nvSpPr>
        <p:spPr>
          <a:xfrm>
            <a:off x="3858768" y="4123944"/>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0.86 (0.78–0.95)</a:t>
            </a:r>
            <a:endParaRPr lang="en-US" sz="1300" dirty="0"/>
          </a:p>
        </p:txBody>
      </p:sp>
      <p:sp>
        <p:nvSpPr>
          <p:cNvPr id="30" name="Text 27"/>
          <p:cNvSpPr/>
          <p:nvPr/>
        </p:nvSpPr>
        <p:spPr>
          <a:xfrm>
            <a:off x="7744968" y="4123944"/>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0.60 (0.27–1.33)</a:t>
            </a:r>
            <a:endParaRPr lang="en-US" sz="1300" dirty="0"/>
          </a:p>
        </p:txBody>
      </p:sp>
      <p:sp>
        <p:nvSpPr>
          <p:cNvPr id="31" name="Shape 28"/>
          <p:cNvSpPr/>
          <p:nvPr/>
        </p:nvSpPr>
        <p:spPr>
          <a:xfrm>
            <a:off x="640080" y="5148072"/>
            <a:ext cx="10908792" cy="0"/>
          </a:xfrm>
          <a:prstGeom prst="line">
            <a:avLst/>
          </a:prstGeom>
          <a:noFill/>
          <a:ln w="9525">
            <a:solidFill>
              <a:srgbClr val="CFDDDD"/>
            </a:solidFill>
            <a:prstDash val="solid"/>
          </a:ln>
        </p:spPr>
      </p:sp>
      <p:sp>
        <p:nvSpPr>
          <p:cNvPr id="32" name="Text 29"/>
          <p:cNvSpPr/>
          <p:nvPr/>
        </p:nvSpPr>
        <p:spPr>
          <a:xfrm>
            <a:off x="749808" y="463600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slope Δ / yr</a:t>
            </a:r>
            <a:endParaRPr lang="en-US" sz="1300" dirty="0"/>
          </a:p>
        </p:txBody>
      </p:sp>
      <p:sp>
        <p:nvSpPr>
          <p:cNvPr id="33" name="Text 30"/>
          <p:cNvSpPr/>
          <p:nvPr/>
        </p:nvSpPr>
        <p:spPr>
          <a:xfrm>
            <a:off x="3858768" y="463600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34" name="Text 31"/>
          <p:cNvSpPr/>
          <p:nvPr/>
        </p:nvSpPr>
        <p:spPr>
          <a:xfrm>
            <a:off x="7744968" y="463600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 (chronic 1.2)</a:t>
            </a:r>
            <a:endParaRPr lang="en-US" sz="1300" dirty="0"/>
          </a:p>
        </p:txBody>
      </p:sp>
      <p:sp>
        <p:nvSpPr>
          <p:cNvPr id="35" name="Text 32"/>
          <p:cNvSpPr/>
          <p:nvPr/>
        </p:nvSpPr>
        <p:spPr>
          <a:xfrm>
            <a:off x="640080" y="5376672"/>
            <a:ext cx="10908792" cy="64008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Same drug, same ≥57% kidney definition, a population never before tested. FIND-CKD was not powered for cardiovascular events, so its CV estimate is imprecise.</a:t>
            </a:r>
            <a:endParaRPr lang="en-US" sz="1400" dirty="0"/>
          </a:p>
        </p:txBody>
      </p:sp>
      <p:sp>
        <p:nvSpPr>
          <p:cNvPr id="36" name="Text 33"/>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FIDELITY: Agarwal et al., Eur Heart J 2022.  FIND-CKD: Heerspink et al., N Engl J Med 2026.</a:t>
            </a:r>
            <a:endParaRPr lang="en-US" sz="8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finerenone fits in practice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600" dirty="0"/>
          </a:p>
        </p:txBody>
      </p:sp>
      <p:sp>
        <p:nvSpPr>
          <p:cNvPr id="7" name="Shape 4"/>
          <p:cNvSpPr/>
          <p:nvPr/>
        </p:nvSpPr>
        <p:spPr>
          <a:xfrm>
            <a:off x="640080" y="1600200"/>
            <a:ext cx="3331464" cy="1005840"/>
          </a:xfrm>
          <a:prstGeom prst="roundRect">
            <a:avLst>
              <a:gd name="adj" fmla="val 7273"/>
            </a:avLst>
          </a:prstGeom>
          <a:solidFill>
            <a:srgbClr val="E7F4F4"/>
          </a:solidFill>
          <a:ln/>
        </p:spPr>
      </p:sp>
      <p:sp>
        <p:nvSpPr>
          <p:cNvPr id="8" name="Text 5"/>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RAS inhibitor</a:t>
            </a:r>
            <a:endParaRPr lang="en-US" sz="1550" dirty="0"/>
          </a:p>
        </p:txBody>
      </p:sp>
      <p:sp>
        <p:nvSpPr>
          <p:cNvPr id="9" name="Text 6"/>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foundation, required background</a:t>
            </a:r>
            <a:endParaRPr lang="en-US" sz="1200" dirty="0"/>
          </a:p>
        </p:txBody>
      </p:sp>
      <p:sp>
        <p:nvSpPr>
          <p:cNvPr id="10" name="Shape 7"/>
          <p:cNvSpPr/>
          <p:nvPr/>
        </p:nvSpPr>
        <p:spPr>
          <a:xfrm>
            <a:off x="4428744" y="1600200"/>
            <a:ext cx="3331464" cy="1005840"/>
          </a:xfrm>
          <a:prstGeom prst="roundRect">
            <a:avLst>
              <a:gd name="adj" fmla="val 7273"/>
            </a:avLst>
          </a:prstGeom>
          <a:solidFill>
            <a:srgbClr val="E7F4F4"/>
          </a:solidFill>
          <a:ln/>
        </p:spPr>
      </p:sp>
      <p:sp>
        <p:nvSpPr>
          <p:cNvPr id="11" name="Text 8"/>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SGLT2 inhibitor</a:t>
            </a:r>
            <a:endParaRPr lang="en-US" sz="1550" dirty="0"/>
          </a:p>
        </p:txBody>
      </p:sp>
      <p:sp>
        <p:nvSpPr>
          <p:cNvPr id="12" name="Text 9"/>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guideline-recommended pillar</a:t>
            </a:r>
            <a:endParaRPr lang="en-US" sz="1200" dirty="0"/>
          </a:p>
        </p:txBody>
      </p:sp>
      <p:sp>
        <p:nvSpPr>
          <p:cNvPr id="13" name="Shape 10"/>
          <p:cNvSpPr/>
          <p:nvPr/>
        </p:nvSpPr>
        <p:spPr>
          <a:xfrm>
            <a:off x="8217408" y="1600200"/>
            <a:ext cx="3331464" cy="1005840"/>
          </a:xfrm>
          <a:prstGeom prst="roundRect">
            <a:avLst>
              <a:gd name="adj" fmla="val 7273"/>
            </a:avLst>
          </a:prstGeom>
          <a:solidFill>
            <a:srgbClr val="12A3A6"/>
          </a:solidFill>
          <a:ln/>
        </p:spPr>
      </p:sp>
      <p:sp>
        <p:nvSpPr>
          <p:cNvPr id="14" name="Text 11"/>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Finerenone</a:t>
            </a:r>
            <a:endParaRPr lang="en-US" sz="1550" dirty="0"/>
          </a:p>
        </p:txBody>
      </p:sp>
      <p:sp>
        <p:nvSpPr>
          <p:cNvPr id="15" name="Text 12"/>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E7F4F4"/>
                </a:solidFill>
                <a:latin typeface="Calibri" pitchFamily="34" charset="0"/>
                <a:ea typeface="Calibri" pitchFamily="34" charset="-122"/>
                <a:cs typeface="Calibri" pitchFamily="34" charset="-120"/>
              </a:rPr>
              <a:t>MR blockade, now non-diabetic too</a:t>
            </a:r>
            <a:endParaRPr lang="en-US" sz="1200" dirty="0"/>
          </a:p>
        </p:txBody>
      </p:sp>
      <p:sp>
        <p:nvSpPr>
          <p:cNvPr id="16" name="Text 13"/>
          <p:cNvSpPr/>
          <p:nvPr/>
        </p:nvSpPr>
        <p:spPr>
          <a:xfrm>
            <a:off x="640080"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Who to consider</a:t>
            </a:r>
            <a:endParaRPr lang="en-US" sz="1550" dirty="0"/>
          </a:p>
        </p:txBody>
      </p:sp>
      <p:sp>
        <p:nvSpPr>
          <p:cNvPr id="17" name="Text 14"/>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Non-diabetic CKD with persistent albuminuria despite a maximally tolerated RAS inhibitor.</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Greatest expected benefit with UACR &gt;1000 mg/g.</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Serum potassium ≤4.8–5.0 and an eGFR that supports the starting dose.</a:t>
            </a:r>
            <a:endParaRPr lang="en-US" sz="1400" dirty="0"/>
          </a:p>
        </p:txBody>
      </p:sp>
      <p:sp>
        <p:nvSpPr>
          <p:cNvPr id="18" name="Text 15"/>
          <p:cNvSpPr/>
          <p:nvPr/>
        </p:nvSpPr>
        <p:spPr>
          <a:xfrm>
            <a:off x="6414516"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How to use it safely</a:t>
            </a:r>
            <a:endParaRPr lang="en-US" sz="1550" dirty="0"/>
          </a:p>
        </p:txBody>
      </p:sp>
      <p:sp>
        <p:nvSpPr>
          <p:cNvPr id="19" name="Text 16"/>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Check potassium at baseline, at 1 month, and after any dose change.</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Withhold at K⁺ &gt;5.5 and restart at 10 mg once ≤5.0.</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The combination with an SGLT2 inhibitor looks additive, though it was not formally tested here.</a:t>
            </a:r>
            <a:endParaRPr lang="en-US" sz="1400" dirty="0"/>
          </a:p>
        </p:txBody>
      </p:sp>
      <p:sp>
        <p:nvSpPr>
          <p:cNvPr id="20" name="Text 1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1" name="Text 1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is still open</a:t>
            </a:r>
            <a:endParaRPr lang="en-US" sz="2400" dirty="0"/>
          </a:p>
        </p:txBody>
      </p:sp>
      <p:sp>
        <p:nvSpPr>
          <p:cNvPr id="6" name="Text 3"/>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Underrepresented groups. Women, Black patients, and low-albuminuria CKD were thin in this cohort.</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60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550" dirty="0">
                <a:solidFill>
                  <a:srgbClr val="9FBBC6"/>
                </a:solidFill>
                <a:latin typeface="Calibri" pitchFamily="34" charset="0"/>
                <a:ea typeface="Calibri" pitchFamily="34" charset="-122"/>
                <a:cs typeface="Calibri" pitchFamily="34" charset="-120"/>
              </a:rPr>
              <a:t>Conclusions</a:t>
            </a:r>
            <a:endParaRPr lang="en-US" sz="155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65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65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65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65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2026-07-27T21:34:45Z</dcterms:created>
  <dcterms:modified xsi:type="dcterms:W3CDTF">2026-07-27T21:34:45Z</dcterms:modified>
</cp:coreProperties>
</file>