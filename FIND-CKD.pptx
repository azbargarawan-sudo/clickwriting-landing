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0E7C86"/>
            </a:solidFill>
            <a:ln w="4064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67578"/>
                    </a:solidFill>
                    <a:latin typeface="Arial"/>
                  </a:defRPr>
                </a:pPr>
                <a:r>
                  <a:rPr sz="1100" b="0" i="0" u="none" strike="noStrike">
                    <a:solidFill>
                      <a:srgbClr val="667578"/>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7578"/>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BF0F0"/>
              </a:solidFill>
              <a:prstDash val="solid"/>
              <a:round/>
            </a:ln>
          </c:spPr>
        </c:majorGridlines>
        <c:title>
          <c:tx>
            <c:rich>
              <a:bodyPr/>
              <a:lstStyle/>
              <a:p>
                <a:pPr>
                  <a:defRPr sz="1100" b="0" i="0" u="none" strike="noStrike">
                    <a:solidFill>
                      <a:srgbClr val="667578"/>
                    </a:solidFill>
                    <a:latin typeface="Arial"/>
                  </a:defRPr>
                </a:pPr>
                <a:r>
                  <a:rPr sz="1100" b="0" i="0" u="none" strike="noStrike">
                    <a:solidFill>
                      <a:srgbClr val="667578"/>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7578"/>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20303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0E7C86"/>
            </a:solidFill>
            <a:effectLst/>
          </c:spPr>
          <c:invertIfNegative val="0"/>
          <c:dLbls>
            <c:numFmt formatCode="0.0" sourceLinked="0"/>
            <c:txPr>
              <a:bodyPr/>
              <a:lstStyle/>
              <a:p>
                <a:pPr>
                  <a:defRPr b="1" i="0" strike="noStrike" sz="1200" u="none">
                    <a:solidFill>
                      <a:srgbClr val="203034"/>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203034"/>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203034"/>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03034"/>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BF0F0"/>
              </a:solidFill>
              <a:prstDash val="solid"/>
              <a:round/>
            </a:ln>
          </c:spPr>
        </c:majorGridlines>
        <c:title>
          <c:tx>
            <c:rich>
              <a:bodyPr/>
              <a:lstStyle/>
              <a:p>
                <a:pPr>
                  <a:defRPr sz="1100" b="0" i="0" u="none" strike="noStrike">
                    <a:solidFill>
                      <a:srgbClr val="667578"/>
                    </a:solidFill>
                    <a:latin typeface="Arial"/>
                  </a:defRPr>
                </a:pPr>
                <a:r>
                  <a:rPr sz="1100" b="0" i="0" u="none" strike="noStrike">
                    <a:solidFill>
                      <a:srgbClr val="667578"/>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7578"/>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20303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B3D46"/>
                </a:solidFill>
                <a:latin typeface="Calibri"/>
              </a:defRPr>
            </a:pPr>
            <a:r>
              <a:rPr sz="1300" b="1" i="0" u="none" strike="noStrike">
                <a:solidFill>
                  <a:srgbClr val="0B3D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0E7C86"/>
            </a:solidFill>
            <a:ln w="3810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667578"/>
                    </a:solidFill>
                    <a:latin typeface="Arial"/>
                  </a:defRPr>
                </a:pPr>
                <a:r>
                  <a:rPr sz="1050" b="0" i="0" u="none" strike="noStrike">
                    <a:solidFill>
                      <a:srgbClr val="667578"/>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7578"/>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BF0F0"/>
              </a:solidFill>
              <a:prstDash val="solid"/>
              <a:round/>
            </a:ln>
          </c:spPr>
        </c:majorGridlines>
        <c:title>
          <c:tx>
            <c:rich>
              <a:bodyPr/>
              <a:lstStyle/>
              <a:p>
                <a:pPr>
                  <a:defRPr sz="1050" b="0" i="0" u="none" strike="noStrike">
                    <a:solidFill>
                      <a:srgbClr val="667578"/>
                    </a:solidFill>
                    <a:latin typeface="Arial"/>
                  </a:defRPr>
                </a:pPr>
                <a:r>
                  <a:rPr sz="1050" b="0" i="0" u="none" strike="noStrike">
                    <a:solidFill>
                      <a:srgbClr val="667578"/>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7578"/>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20303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0E7C86"/>
            </a:solidFill>
            <a:effectLst/>
          </c:spPr>
          <c:invertIfNegative val="0"/>
          <c:dLbls>
            <c:numFmt formatCode="0.0&quot;%&quot;" sourceLinked="0"/>
            <c:txPr>
              <a:bodyPr/>
              <a:lstStyle/>
              <a:p>
                <a:pPr>
                  <a:defRPr b="1" i="0" strike="noStrike" sz="1000" u="none">
                    <a:solidFill>
                      <a:srgbClr val="20303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20303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203034"/>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03034"/>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BF0F0"/>
              </a:solidFill>
              <a:prstDash val="solid"/>
              <a:round/>
            </a:ln>
          </c:spPr>
        </c:majorGridlines>
        <c:title>
          <c:tx>
            <c:rich>
              <a:bodyPr/>
              <a:lstStyle/>
              <a:p>
                <a:pPr>
                  <a:defRPr sz="1050" b="0" i="0" u="none" strike="noStrike">
                    <a:solidFill>
                      <a:srgbClr val="667578"/>
                    </a:solidFill>
                    <a:latin typeface="Arial"/>
                  </a:defRPr>
                </a:pPr>
                <a:r>
                  <a:rPr sz="1050" b="0" i="0" u="none" strike="noStrike">
                    <a:solidFill>
                      <a:srgbClr val="667578"/>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67578"/>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20303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CKD is now a disease of ~800 million people and the majority are not diabetic. Our best agents slow but do not stop progression, especially in heavy albuminuria. Finerenone targets MR overactivation, a fibrotic and inflammatory pathway that is not diabetes-specific, and it already showed kidney and CV benefit in diabetic CKD across FIDELIO, FIGARO and the FIDELITY pooling. The whole point of FIND-CKD is that this evidence was written entirely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the audience knows. FIDELIO was the kidney trial, FIGARO the CV trial in earlier but albuminuric patients, FIDELITY pooled ~13,000 for a kidney composite of 0.77. FIDELITY used the same ≥57% eGFR-decline definition FIND-CKD later adopts, so the kidney endpoints line up. Every one of these patients had type 2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architecture. Two points to land: the two stratification factors, SGLT2i use and albuminuria, are the effect-modifiers we care about and were pre-specified; and the estimand is treatment-policy, with the sponsor analyses reproduced independently at Groningen. That matters for a sponsor-analyzed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eligibility window is the practical heart of the trial. Two entry routes, both anchored on albuminuria, so essentially everyone had at least moderate and most had heavy albuminuria. Everyone was on a RAS inhibitor, so this is an add-on question. Note the exclusions: ADPKD, lupus nephritis, ANCA vasculitis, and of course diabetes. The population is enriched for progressive proteinuric CKD.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were balanced. Middle-aged, about a third women, baseline eGFR ~47 with 80% already below 60, median UACR ~819 so heavy albuminuria. Dominant diagnosis chronic glomerulonephritis. The two numbers to anchor: ~100% on a RAS inhibitor but only 17% on an SGLT2 inhibitor, so this mostly answers the finerenone question on a RAS-inhibitor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is eGFR-driven and cautious. The potassium protocol is the operationally important part: central-lab potassium every visit, withhold at &gt;5.5, restart at 10 mg. And note the pre-planned off-treatment visit four weeks after the last dose: that design choice lets us separate the acute reversible dip from the true disease-modifying effect, which is the key to reading the primary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decision that defines the trial: the primary is eGFR slope, a surrogate, not a clinical composite. In a non-diabetic CKD population of this size you cannot power a hard composite, so total slope over 32 months with a two-slope spline. Clinical composites are secondary, in a fixed hierarchy so the trial can make a protected claim on the kidney-CV composite. Note the ≥57% decline definition, steeper than the older 40% and matching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defend. Why slope: a 1500-patient trial cannot power a hard kidney composite in non-diabetic CKD, so they powered for a 0.7/yr slope difference. And the model: a two-slope spline with a change point at month 3 is right because finerenone, like RAS and SGLT2 inhibitors, causes an acute reversible dip that must be separated from the chronic slope. Result held under cystatin C, a shared-parameter model, and tipping-point analyses. The surrogate is credible, per the 66-trial meta-analysis, but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First three months, finerenone falls faster: the expected acute, hemodynamic, reversible dip. After month 3 the finerenone curve is shallower, the lines cross, and finerenone stays above out to month 32, ending 39.4 vs 38.1. Then the off-treatment point: finerenone eGFR rises while placebo keeps dropping. The dip reverses, which tells you the separation reflects real slowing, not just hemodynamics.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to linger on. The headline primary is the total slope difference of 0.7/yr, P&lt;0.001, almost identical to FIDELIO. But the acute period favors placebo by 1.2 because of finerenone's early reversible drop, and that drags the total down. The chronic slope, month 3 onward, is 1.2/yr, nearly double. So the on-treatment disease-modifying effect is larger than the primary number suggests. Judge finerenone by the chronic slope, not just the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every point estimate favors finerenone. Two to name: larger effect in heavy albuminuria, 1.15 for UACR &gt;1000 vs 0.40 below, which fits MR blockade in proteinuric disease; and benefit whether or not on an SGLT2 inhibitor, so it looks additive, though not formally tested. CIs are unadjusted, so read them as consistency, not definitive subgroup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Though not powered for events, the protected secondary hit: kidney or CV events 23% lower, HR 0.77, P 0.04, consistent with what the 0.7 slope predicts. The kidney composite alone was 0.78 but crossed 1.0 at P 0.06; the CV composite 0.60 on only 26 events, encouraging but underpowered. The hierarchy stops at the first composite; the rest is nominal.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and expected. Overall and serious AEs essentially identical; discontinuations and all-cause death numerically favored finerenone. Hyperkalemia is the one signal: 17 vs 13% any, 19 vs 12% for K⁺ &gt;5.5. But clinically: potassium-driven discontinuation 1.5 vs 0.1%, hospitalization under 1%, zero fatal. With protocolized monitoring this is manageable. AKI and hypotension low and balanced. No surprises vs FIDELIO and FIGARO.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appraisal. Plus: the trial the field was missing, methodologically clean, sponsor analyses reproduced, slope modeled correctly and backed by a protected composite. Minus: the primary is a surrogate and it was never powered for hard events, so the CV composite is hypothesis-generating. Population skews male, under-represents Black patients, enriched for heavy albuminuria, exactly where MR blockade shines, so careful generalizing to low-albuminuria CKD.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them up. FIDELIO kidney composite 0.82, FIGARO CV composite 0.87, FIDELITY kidney composite 0.77. FIND-CKD, in a fifth of that sample and with no diabetic patient, gives essentially the same slope effect, 0.7 total and 1.2 chronic, plus a matching composite of 0.77, in the range of RAS and SGLT2 inhibitors. The mechanistic bet paid off: MR overactivation is not a diabetes phenomenon. These diabetes-trial numbers are from their own publications, for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close. Finerenone works in non-diabetic CKD: 0.7 total slope, 1.2 chronic, composite 0.77. The candidate is the albuminuric non-diabetic CKD patient on a RAS inhibitor, largest effect with heavy albuminuria, apparently additive to SGLT2 inhibitors. Hyperkalemia is the manageable trade-off, no fatal events. And the honest caveat: surrogate endpoint, enriched population, so a hard-outcome trial would be the definitive word. Practically, a real reason to consider finerenone in proteinuric non-diabetic CKD.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46"/>
        </a:solidFill>
      </p:bgPr>
    </p:bg>
    <p:spTree>
      <p:nvGrpSpPr>
        <p:cNvPr id="1" name=""/>
        <p:cNvGrpSpPr/>
        <p:nvPr/>
      </p:nvGrpSpPr>
      <p:grpSpPr>
        <a:xfrm>
          <a:off x="0" y="0"/>
          <a:ext cx="0" cy="0"/>
          <a:chOff x="0" y="0"/>
          <a:chExt cx="0" cy="0"/>
        </a:xfrm>
      </p:grpSpPr>
      <p:sp>
        <p:nvSpPr>
          <p:cNvPr id="2" name="Shape 0"/>
          <p:cNvSpPr/>
          <p:nvPr/>
        </p:nvSpPr>
        <p:spPr>
          <a:xfrm>
            <a:off x="9326880" y="-1828800"/>
            <a:ext cx="5120640" cy="5120640"/>
          </a:xfrm>
          <a:prstGeom prst="ellipse">
            <a:avLst/>
          </a:prstGeom>
          <a:solidFill>
            <a:srgbClr val="0E4E58"/>
          </a:solidFill>
          <a:ln/>
        </p:spPr>
      </p:sp>
      <p:sp>
        <p:nvSpPr>
          <p:cNvPr id="3" name="Text 1"/>
          <p:cNvSpPr/>
          <p:nvPr/>
        </p:nvSpPr>
        <p:spPr>
          <a:xfrm>
            <a:off x="640080" y="868680"/>
            <a:ext cx="10058400" cy="292608"/>
          </a:xfrm>
          <a:prstGeom prst="rect">
            <a:avLst/>
          </a:prstGeom>
          <a:noFill/>
          <a:ln/>
        </p:spPr>
        <p:txBody>
          <a:bodyPr wrap="square" lIns="0" tIns="0" rIns="0" bIns="0" rtlCol="0" anchor="ctr"/>
          <a:lstStyle/>
          <a:p>
            <a:pPr indent="0" marL="0">
              <a:buNone/>
            </a:pPr>
            <a:r>
              <a:rPr lang="en-US" sz="1300" dirty="0">
                <a:solidFill>
                  <a:srgbClr val="7FB0B0"/>
                </a:solidFill>
                <a:latin typeface="Calibri" pitchFamily="34" charset="0"/>
                <a:ea typeface="Calibri" pitchFamily="34" charset="-122"/>
                <a:cs typeface="Calibri" pitchFamily="34" charset="-120"/>
              </a:rPr>
              <a:t>Journal club  ·  Nephrology</a:t>
            </a:r>
            <a:endParaRPr lang="en-US" sz="1300" dirty="0"/>
          </a:p>
        </p:txBody>
      </p:sp>
      <p:sp>
        <p:nvSpPr>
          <p:cNvPr id="4" name="Text 2"/>
          <p:cNvSpPr/>
          <p:nvPr/>
        </p:nvSpPr>
        <p:spPr>
          <a:xfrm>
            <a:off x="640080" y="1371600"/>
            <a:ext cx="10515600" cy="109728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FIND-CKD</a:t>
            </a:r>
            <a:endParaRPr lang="en-US" sz="6400" dirty="0"/>
          </a:p>
        </p:txBody>
      </p:sp>
      <p:sp>
        <p:nvSpPr>
          <p:cNvPr id="5" name="Text 3"/>
          <p:cNvSpPr/>
          <p:nvPr/>
        </p:nvSpPr>
        <p:spPr>
          <a:xfrm>
            <a:off x="640080" y="2542032"/>
            <a:ext cx="9692640" cy="868680"/>
          </a:xfrm>
          <a:prstGeom prst="rect">
            <a:avLst/>
          </a:prstGeom>
          <a:noFill/>
          <a:ln/>
        </p:spPr>
        <p:txBody>
          <a:bodyPr wrap="square" lIns="0" tIns="0" rIns="0" bIns="0" rtlCol="0" anchor="ctr"/>
          <a:lstStyle/>
          <a:p>
            <a:pPr indent="0" marL="0">
              <a:buNone/>
            </a:pPr>
            <a:r>
              <a:rPr lang="en-US" sz="2500" dirty="0">
                <a:solidFill>
                  <a:srgbClr val="D7E8E8"/>
                </a:solidFill>
                <a:latin typeface="Cambria" pitchFamily="34" charset="0"/>
                <a:ea typeface="Cambria" pitchFamily="34" charset="-122"/>
                <a:cs typeface="Cambria" pitchFamily="34" charset="-120"/>
              </a:rPr>
              <a:t>Finerenone in Persons with Chronic Kidney Disease without Diabetes</a:t>
            </a:r>
            <a:endParaRPr lang="en-US" sz="2500" dirty="0"/>
          </a:p>
        </p:txBody>
      </p:sp>
      <p:sp>
        <p:nvSpPr>
          <p:cNvPr id="6" name="Text 4"/>
          <p:cNvSpPr/>
          <p:nvPr/>
        </p:nvSpPr>
        <p:spPr>
          <a:xfrm>
            <a:off x="640080" y="4023360"/>
            <a:ext cx="10332720" cy="1005840"/>
          </a:xfrm>
          <a:prstGeom prst="rect">
            <a:avLst/>
          </a:prstGeom>
          <a:noFill/>
          <a:ln/>
        </p:spPr>
        <p:txBody>
          <a:bodyPr wrap="square" lIns="0" tIns="0" rIns="0" bIns="0" rtlCol="0" anchor="ctr"/>
          <a:lstStyle/>
          <a:p>
            <a:pPr indent="0" marL="0">
              <a:lnSpc>
                <a:spcPct val="115000"/>
              </a:lnSpc>
              <a:buNone/>
            </a:pPr>
            <a:r>
              <a:rPr lang="en-US" sz="1400" dirty="0">
                <a:solidFill>
                  <a:srgbClr val="CFE1E1"/>
                </a:solidFill>
                <a:latin typeface="Calibri" pitchFamily="34" charset="0"/>
                <a:ea typeface="Calibri" pitchFamily="34" charset="-122"/>
                <a:cs typeface="Calibri" pitchFamily="34" charset="-120"/>
              </a:rPr>
              <a:t>Heerspink HJL, Neuen BL, Agarwal R, et al., for the FIND-CKD Investigators</a:t>
            </a:r>
            <a:endParaRPr lang="en-US" sz="1400" dirty="0"/>
          </a:p>
          <a:p>
            <a:pPr indent="0" marL="0">
              <a:lnSpc>
                <a:spcPct val="115000"/>
              </a:lnSpc>
              <a:buNone/>
            </a:pPr>
            <a:r>
              <a:rPr lang="en-US" sz="1250" dirty="0">
                <a:solidFill>
                  <a:srgbClr val="9DB9B9"/>
                </a:solidFill>
                <a:latin typeface="Calibri" pitchFamily="34" charset="0"/>
                <a:ea typeface="Calibri" pitchFamily="34" charset="-122"/>
                <a:cs typeface="Calibri" pitchFamily="34" charset="-120"/>
              </a:rPr>
              <a:t>N Engl J Med 2026 (published June 4, updated June 29).  DOI 10.1056/NEJMoa2604625</a:t>
            </a:r>
            <a:endParaRPr lang="en-US" sz="1400" dirty="0"/>
          </a:p>
          <a:p>
            <a:pPr indent="0" marL="0">
              <a:lnSpc>
                <a:spcPct val="115000"/>
              </a:lnSpc>
              <a:buNone/>
            </a:pPr>
            <a:r>
              <a:rPr lang="en-US" sz="1250" dirty="0">
                <a:solidFill>
                  <a:srgbClr val="9DB9B9"/>
                </a:solidFill>
                <a:latin typeface="Calibri" pitchFamily="34" charset="0"/>
                <a:ea typeface="Calibri" pitchFamily="34" charset="-122"/>
                <a:cs typeface="Calibri" pitchFamily="34" charset="-120"/>
              </a:rPr>
              <a:t>ClinicalTrials.gov NCT05047263.  Funded by Bayer.</a:t>
            </a:r>
            <a:endParaRPr lang="en-US" sz="1400" dirty="0"/>
          </a:p>
        </p:txBody>
      </p:sp>
      <p:sp>
        <p:nvSpPr>
          <p:cNvPr id="7" name="Text 5"/>
          <p:cNvSpPr/>
          <p:nvPr/>
        </p:nvSpPr>
        <p:spPr>
          <a:xfrm>
            <a:off x="640080" y="5806440"/>
            <a:ext cx="7315200" cy="310896"/>
          </a:xfrm>
          <a:prstGeom prst="rect">
            <a:avLst/>
          </a:prstGeom>
          <a:noFill/>
          <a:ln/>
        </p:spPr>
        <p:txBody>
          <a:bodyPr wrap="square" lIns="0" tIns="0" rIns="0" bIns="0" rtlCol="0" anchor="ctr"/>
          <a:lstStyle/>
          <a:p>
            <a:pPr indent="0" marL="0">
              <a:buNone/>
            </a:pPr>
            <a:r>
              <a:rPr lang="en-US" sz="1300" i="1" dirty="0">
                <a:solidFill>
                  <a:srgbClr val="7FB0B0"/>
                </a:solidFill>
                <a:latin typeface="Calibri" pitchFamily="34" charset="0"/>
                <a:ea typeface="Calibri" pitchFamily="34" charset="-122"/>
                <a:cs typeface="Calibri" pitchFamily="34" charset="-120"/>
              </a:rPr>
              <a:t>Presented by [name], [date]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Why this trial was needed</a:t>
            </a:r>
            <a:endParaRPr lang="en-US" sz="2700" dirty="0"/>
          </a:p>
        </p:txBody>
      </p:sp>
      <p:sp>
        <p:nvSpPr>
          <p:cNvPr id="3" name="Text 1"/>
          <p:cNvSpPr/>
          <p:nvPr/>
        </p:nvSpPr>
        <p:spPr>
          <a:xfrm>
            <a:off x="640080" y="1234440"/>
            <a:ext cx="10908792" cy="640080"/>
          </a:xfrm>
          <a:prstGeom prst="rect">
            <a:avLst/>
          </a:prstGeom>
          <a:noFill/>
          <a:ln/>
        </p:spPr>
        <p:txBody>
          <a:bodyPr wrap="square" lIns="0" tIns="0" rIns="0" bIns="0" rtlCol="0" anchor="ctr"/>
          <a:lstStyle/>
          <a:p>
            <a:pPr indent="0" marL="0">
              <a:lnSpc>
                <a:spcPct val="120000"/>
              </a:lnSpc>
              <a:buNone/>
            </a:pPr>
            <a:r>
              <a:rPr lang="en-US" sz="1450" dirty="0">
                <a:solidFill>
                  <a:srgbClr val="203034"/>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450" dirty="0"/>
          </a:p>
        </p:txBody>
      </p:sp>
      <p:sp>
        <p:nvSpPr>
          <p:cNvPr id="4" name="Text 2"/>
          <p:cNvSpPr/>
          <p:nvPr/>
        </p:nvSpPr>
        <p:spPr>
          <a:xfrm>
            <a:off x="640080" y="2057400"/>
            <a:ext cx="10908792" cy="365760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00" dirty="0">
                <a:solidFill>
                  <a:srgbClr val="203034"/>
                </a:solidFill>
                <a:latin typeface="Calibri" pitchFamily="34" charset="0"/>
                <a:ea typeface="Calibri" pitchFamily="34" charset="-122"/>
                <a:cs typeface="Calibri" pitchFamily="34" charset="-120"/>
              </a:rPr>
              <a:t>RAS and SGLT2 inhibitors slow CKD with or without diabetes, but progression and cardiovascular events continue, particularly in patients with heavy albuminuria.</a:t>
            </a:r>
            <a:endParaRPr lang="en-US" sz="1400" dirty="0"/>
          </a:p>
          <a:p>
            <a:pPr marL="203200" indent="-203200">
              <a:lnSpc>
                <a:spcPct val="115000"/>
              </a:lnSpc>
              <a:spcAft>
                <a:spcPts val="1100"/>
              </a:spcAft>
              <a:buSzPct val="100000"/>
              <a:buChar char="•"/>
            </a:pPr>
            <a:r>
              <a:rPr lang="en-US" sz="1400" dirty="0">
                <a:solidFill>
                  <a:srgbClr val="203034"/>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400" dirty="0"/>
          </a:p>
          <a:p>
            <a:pPr marL="203200" indent="-203200">
              <a:lnSpc>
                <a:spcPct val="115000"/>
              </a:lnSpc>
              <a:spcAft>
                <a:spcPts val="1100"/>
              </a:spcAft>
              <a:buSzPct val="100000"/>
              <a:buChar char="•"/>
            </a:pPr>
            <a:r>
              <a:rPr lang="en-US" sz="1400" dirty="0">
                <a:solidFill>
                  <a:srgbClr val="203034"/>
                </a:solidFill>
                <a:latin typeface="Calibri" pitchFamily="34" charset="0"/>
                <a:ea typeface="Calibri" pitchFamily="34" charset="-122"/>
                <a:cs typeface="Calibri" pitchFamily="34" charset="-120"/>
              </a:rPr>
              <a:t>Finerenone, a nonsteroidal selective MRA, reduced kidney and cardiovascular events in diabetic CKD (FIDELIO-DKD, FIGARO-DKD, FIDELITY pooled).</a:t>
            </a:r>
            <a:endParaRPr lang="en-US" sz="1400" dirty="0"/>
          </a:p>
          <a:p>
            <a:pPr marL="203200" indent="-203200">
              <a:lnSpc>
                <a:spcPct val="115000"/>
              </a:lnSpc>
              <a:spcAft>
                <a:spcPts val="1100"/>
              </a:spcAft>
              <a:buSzPct val="100000"/>
              <a:buChar char="•"/>
            </a:pPr>
            <a:r>
              <a:rPr lang="en-US" sz="1400" dirty="0">
                <a:solidFill>
                  <a:srgbClr val="203034"/>
                </a:solidFill>
                <a:latin typeface="Calibri" pitchFamily="34" charset="0"/>
                <a:ea typeface="Calibri" pitchFamily="34" charset="-122"/>
                <a:cs typeface="Calibri" pitchFamily="34" charset="-120"/>
              </a:rPr>
              <a:t>None of that had been tested in CKD without diabetes.</a:t>
            </a:r>
            <a:endParaRPr lang="en-US" sz="1400" dirty="0"/>
          </a:p>
        </p:txBody>
      </p:sp>
      <p:sp>
        <p:nvSpPr>
          <p:cNvPr id="5" name="Text 3"/>
          <p:cNvSpPr/>
          <p:nvPr/>
        </p:nvSpPr>
        <p:spPr>
          <a:xfrm>
            <a:off x="640080" y="5394960"/>
            <a:ext cx="10908792" cy="640080"/>
          </a:xfrm>
          <a:prstGeom prst="rect">
            <a:avLst/>
          </a:prstGeom>
          <a:noFill/>
          <a:ln/>
        </p:spPr>
        <p:txBody>
          <a:bodyPr wrap="square" lIns="0" tIns="0" rIns="0" bIns="0" rtlCol="0" anchor="ctr"/>
          <a:lstStyle/>
          <a:p>
            <a:pPr indent="0" marL="0">
              <a:lnSpc>
                <a:spcPct val="110000"/>
              </a:lnSpc>
              <a:buNone/>
            </a:pPr>
            <a:r>
              <a:rPr lang="en-US" sz="1600" b="1" dirty="0">
                <a:solidFill>
                  <a:srgbClr val="0B3D46"/>
                </a:solidFill>
                <a:latin typeface="Calibri" pitchFamily="34" charset="0"/>
                <a:ea typeface="Calibri" pitchFamily="34" charset="-122"/>
                <a:cs typeface="Calibri" pitchFamily="34" charset="-120"/>
              </a:rPr>
              <a:t>The question:  </a:t>
            </a:r>
            <a:pPr indent="0" marL="0">
              <a:lnSpc>
                <a:spcPct val="110000"/>
              </a:lnSpc>
              <a:buNone/>
            </a:pPr>
            <a:r>
              <a:rPr lang="en-US" sz="1600" i="1" dirty="0">
                <a:solidFill>
                  <a:srgbClr val="0E7C86"/>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600" dirty="0"/>
          </a:p>
        </p:txBody>
      </p:sp>
      <p:sp>
        <p:nvSpPr>
          <p:cNvPr id="6"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What we already knew: finerenone in diabetes</a:t>
            </a:r>
            <a:endParaRPr lang="en-US" sz="2700" dirty="0"/>
          </a:p>
        </p:txBody>
      </p:sp>
      <p:sp>
        <p:nvSpPr>
          <p:cNvPr id="3" name="Text 1"/>
          <p:cNvSpPr/>
          <p:nvPr/>
        </p:nvSpPr>
        <p:spPr>
          <a:xfrm>
            <a:off x="640080" y="987552"/>
            <a:ext cx="10908792" cy="310896"/>
          </a:xfrm>
          <a:prstGeom prst="rect">
            <a:avLst/>
          </a:prstGeom>
          <a:noFill/>
          <a:ln/>
        </p:spPr>
        <p:txBody>
          <a:bodyPr wrap="square" lIns="0" tIns="0" rIns="0" bIns="0" rtlCol="0" anchor="ctr"/>
          <a:lstStyle/>
          <a:p>
            <a:pPr indent="0" marL="0">
              <a:buNone/>
            </a:pPr>
            <a:r>
              <a:rPr lang="en-US" sz="1300" i="1" dirty="0">
                <a:solidFill>
                  <a:srgbClr val="667578"/>
                </a:solidFill>
                <a:latin typeface="Calibri" pitchFamily="34" charset="0"/>
                <a:ea typeface="Calibri" pitchFamily="34" charset="-122"/>
                <a:cs typeface="Calibri" pitchFamily="34" charset="-120"/>
              </a:rPr>
              <a:t>Before FIND-CKD, every phase 3 finerenone kidney trial enrolled only patients with type 2 diabetes.</a:t>
            </a:r>
            <a:endParaRPr lang="en-US" sz="1300" dirty="0"/>
          </a:p>
        </p:txBody>
      </p:sp>
      <p:sp>
        <p:nvSpPr>
          <p:cNvPr id="4" name="Shape 2"/>
          <p:cNvSpPr/>
          <p:nvPr/>
        </p:nvSpPr>
        <p:spPr>
          <a:xfrm>
            <a:off x="640080" y="1600200"/>
            <a:ext cx="11055096" cy="457200"/>
          </a:xfrm>
          <a:prstGeom prst="rect">
            <a:avLst/>
          </a:prstGeom>
          <a:solidFill>
            <a:srgbClr val="0B3D46"/>
          </a:solidFill>
          <a:ln/>
        </p:spPr>
      </p:sp>
      <p:sp>
        <p:nvSpPr>
          <p:cNvPr id="5" name="Text 3"/>
          <p:cNvSpPr/>
          <p:nvPr/>
        </p:nvSpPr>
        <p:spPr>
          <a:xfrm>
            <a:off x="749808" y="1600200"/>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Trial (year)</a:t>
            </a:r>
            <a:endParaRPr lang="en-US" sz="1200" dirty="0"/>
          </a:p>
        </p:txBody>
      </p:sp>
      <p:sp>
        <p:nvSpPr>
          <p:cNvPr id="6" name="Text 4"/>
          <p:cNvSpPr/>
          <p:nvPr/>
        </p:nvSpPr>
        <p:spPr>
          <a:xfrm>
            <a:off x="3401568" y="1600200"/>
            <a:ext cx="301752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Population</a:t>
            </a:r>
            <a:endParaRPr lang="en-US" sz="1200" dirty="0"/>
          </a:p>
        </p:txBody>
      </p:sp>
      <p:sp>
        <p:nvSpPr>
          <p:cNvPr id="7" name="Text 5"/>
          <p:cNvSpPr/>
          <p:nvPr/>
        </p:nvSpPr>
        <p:spPr>
          <a:xfrm>
            <a:off x="6601968" y="1600200"/>
            <a:ext cx="29260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Primary outcome</a:t>
            </a:r>
            <a:endParaRPr lang="en-US" sz="1200" dirty="0"/>
          </a:p>
        </p:txBody>
      </p:sp>
      <p:sp>
        <p:nvSpPr>
          <p:cNvPr id="8" name="Text 6"/>
          <p:cNvSpPr/>
          <p:nvPr/>
        </p:nvSpPr>
        <p:spPr>
          <a:xfrm>
            <a:off x="9710928" y="1600200"/>
            <a:ext cx="1911096"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HR (95% CI)</a:t>
            </a:r>
            <a:endParaRPr lang="en-US" sz="1200" dirty="0"/>
          </a:p>
        </p:txBody>
      </p:sp>
      <p:sp>
        <p:nvSpPr>
          <p:cNvPr id="9" name="Shape 7"/>
          <p:cNvSpPr/>
          <p:nvPr/>
        </p:nvSpPr>
        <p:spPr>
          <a:xfrm>
            <a:off x="640080" y="2807208"/>
            <a:ext cx="11055096" cy="0"/>
          </a:xfrm>
          <a:prstGeom prst="line">
            <a:avLst/>
          </a:prstGeom>
          <a:noFill/>
          <a:ln w="9525">
            <a:solidFill>
              <a:srgbClr val="C9D6D6"/>
            </a:solidFill>
            <a:prstDash val="solid"/>
          </a:ln>
        </p:spPr>
      </p:sp>
      <p:sp>
        <p:nvSpPr>
          <p:cNvPr id="10" name="Text 8"/>
          <p:cNvSpPr/>
          <p:nvPr/>
        </p:nvSpPr>
        <p:spPr>
          <a:xfrm>
            <a:off x="749808" y="2057400"/>
            <a:ext cx="2468880" cy="749808"/>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FIDELIO-DKD (2020)</a:t>
            </a:r>
            <a:endParaRPr lang="en-US" sz="1150" dirty="0"/>
          </a:p>
        </p:txBody>
      </p:sp>
      <p:sp>
        <p:nvSpPr>
          <p:cNvPr id="11" name="Text 9"/>
          <p:cNvSpPr/>
          <p:nvPr/>
        </p:nvSpPr>
        <p:spPr>
          <a:xfrm>
            <a:off x="3401568" y="2057400"/>
            <a:ext cx="3017520" cy="749808"/>
          </a:xfrm>
          <a:prstGeom prst="rect">
            <a:avLst/>
          </a:prstGeom>
          <a:noFill/>
          <a:ln/>
        </p:spPr>
        <p:txBody>
          <a:bodyPr wrap="square" lIns="0" tIns="0" rIns="0" bIns="0" rtlCol="0" anchor="ctr"/>
          <a:lstStyle/>
          <a:p>
            <a:pPr algn="l" indent="0" marL="0">
              <a:lnSpc>
                <a:spcPct val="98000"/>
              </a:lnSpc>
              <a:buNone/>
            </a:pPr>
            <a:r>
              <a:rPr lang="en-US" sz="1150" dirty="0">
                <a:solidFill>
                  <a:srgbClr val="203034"/>
                </a:solidFill>
                <a:latin typeface="Calibri" pitchFamily="34" charset="0"/>
                <a:ea typeface="Calibri" pitchFamily="34" charset="-122"/>
                <a:cs typeface="Calibri" pitchFamily="34" charset="-120"/>
              </a:rPr>
              <a:t>T2D + CKD, mostly UACR &gt;300; N=5674</a:t>
            </a:r>
            <a:endParaRPr lang="en-US" sz="1150" dirty="0"/>
          </a:p>
        </p:txBody>
      </p:sp>
      <p:sp>
        <p:nvSpPr>
          <p:cNvPr id="12" name="Text 10"/>
          <p:cNvSpPr/>
          <p:nvPr/>
        </p:nvSpPr>
        <p:spPr>
          <a:xfrm>
            <a:off x="6601968" y="2057400"/>
            <a:ext cx="2926080" cy="749808"/>
          </a:xfrm>
          <a:prstGeom prst="rect">
            <a:avLst/>
          </a:prstGeom>
          <a:noFill/>
          <a:ln/>
        </p:spPr>
        <p:txBody>
          <a:bodyPr wrap="square" lIns="0" tIns="0" rIns="0" bIns="0" rtlCol="0" anchor="ctr"/>
          <a:lstStyle/>
          <a:p>
            <a:pPr algn="l" indent="0" marL="0">
              <a:lnSpc>
                <a:spcPct val="98000"/>
              </a:lnSpc>
              <a:buNone/>
            </a:pPr>
            <a:r>
              <a:rPr lang="en-US" sz="1150" dirty="0">
                <a:solidFill>
                  <a:srgbClr val="203034"/>
                </a:solidFill>
                <a:latin typeface="Calibri" pitchFamily="34" charset="0"/>
                <a:ea typeface="Calibri" pitchFamily="34" charset="-122"/>
                <a:cs typeface="Calibri" pitchFamily="34" charset="-120"/>
              </a:rPr>
              <a:t>Kidney: kidney failure, sustained ≥40% eGFR decline, or renal death</a:t>
            </a:r>
            <a:endParaRPr lang="en-US" sz="1150" dirty="0"/>
          </a:p>
        </p:txBody>
      </p:sp>
      <p:sp>
        <p:nvSpPr>
          <p:cNvPr id="13" name="Text 11"/>
          <p:cNvSpPr/>
          <p:nvPr/>
        </p:nvSpPr>
        <p:spPr>
          <a:xfrm>
            <a:off x="9710928" y="2057400"/>
            <a:ext cx="1911096" cy="749808"/>
          </a:xfrm>
          <a:prstGeom prst="rect">
            <a:avLst/>
          </a:prstGeom>
          <a:noFill/>
          <a:ln/>
        </p:spPr>
        <p:txBody>
          <a:bodyPr wrap="square" lIns="0" tIns="0" rIns="0" bIns="0" rtlCol="0" anchor="ctr"/>
          <a:lstStyle/>
          <a:p>
            <a:pPr algn="l" indent="0" marL="0">
              <a:lnSpc>
                <a:spcPct val="98000"/>
              </a:lnSpc>
              <a:buNone/>
            </a:pPr>
            <a:r>
              <a:rPr lang="en-US" sz="1150" b="1" dirty="0">
                <a:solidFill>
                  <a:srgbClr val="0E7C86"/>
                </a:solidFill>
                <a:latin typeface="Calibri" pitchFamily="34" charset="0"/>
                <a:ea typeface="Calibri" pitchFamily="34" charset="-122"/>
                <a:cs typeface="Calibri" pitchFamily="34" charset="-120"/>
              </a:rPr>
              <a:t>0.82 (0.73–0.93)</a:t>
            </a:r>
            <a:endParaRPr lang="en-US" sz="1150" dirty="0"/>
          </a:p>
        </p:txBody>
      </p:sp>
      <p:sp>
        <p:nvSpPr>
          <p:cNvPr id="14" name="Shape 12"/>
          <p:cNvSpPr/>
          <p:nvPr/>
        </p:nvSpPr>
        <p:spPr>
          <a:xfrm>
            <a:off x="640080" y="3557016"/>
            <a:ext cx="11055096" cy="0"/>
          </a:xfrm>
          <a:prstGeom prst="line">
            <a:avLst/>
          </a:prstGeom>
          <a:noFill/>
          <a:ln w="9525">
            <a:solidFill>
              <a:srgbClr val="C9D6D6"/>
            </a:solidFill>
            <a:prstDash val="solid"/>
          </a:ln>
        </p:spPr>
      </p:sp>
      <p:sp>
        <p:nvSpPr>
          <p:cNvPr id="15" name="Text 13"/>
          <p:cNvSpPr/>
          <p:nvPr/>
        </p:nvSpPr>
        <p:spPr>
          <a:xfrm>
            <a:off x="749808" y="2807208"/>
            <a:ext cx="2468880" cy="749808"/>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FIGARO-DKD (2021)</a:t>
            </a:r>
            <a:endParaRPr lang="en-US" sz="1150" dirty="0"/>
          </a:p>
        </p:txBody>
      </p:sp>
      <p:sp>
        <p:nvSpPr>
          <p:cNvPr id="16" name="Text 14"/>
          <p:cNvSpPr/>
          <p:nvPr/>
        </p:nvSpPr>
        <p:spPr>
          <a:xfrm>
            <a:off x="3401568" y="2807208"/>
            <a:ext cx="3017520" cy="749808"/>
          </a:xfrm>
          <a:prstGeom prst="rect">
            <a:avLst/>
          </a:prstGeom>
          <a:noFill/>
          <a:ln/>
        </p:spPr>
        <p:txBody>
          <a:bodyPr wrap="square" lIns="0" tIns="0" rIns="0" bIns="0" rtlCol="0" anchor="ctr"/>
          <a:lstStyle/>
          <a:p>
            <a:pPr algn="l" indent="0" marL="0">
              <a:lnSpc>
                <a:spcPct val="98000"/>
              </a:lnSpc>
              <a:buNone/>
            </a:pPr>
            <a:r>
              <a:rPr lang="en-US" sz="1150" dirty="0">
                <a:solidFill>
                  <a:srgbClr val="203034"/>
                </a:solidFill>
                <a:latin typeface="Calibri" pitchFamily="34" charset="0"/>
                <a:ea typeface="Calibri" pitchFamily="34" charset="-122"/>
                <a:cs typeface="Calibri" pitchFamily="34" charset="-120"/>
              </a:rPr>
              <a:t>T2D + CKD, earlier stage; N=7437</a:t>
            </a:r>
            <a:endParaRPr lang="en-US" sz="1150" dirty="0"/>
          </a:p>
        </p:txBody>
      </p:sp>
      <p:sp>
        <p:nvSpPr>
          <p:cNvPr id="17" name="Text 15"/>
          <p:cNvSpPr/>
          <p:nvPr/>
        </p:nvSpPr>
        <p:spPr>
          <a:xfrm>
            <a:off x="6601968" y="2807208"/>
            <a:ext cx="2926080" cy="749808"/>
          </a:xfrm>
          <a:prstGeom prst="rect">
            <a:avLst/>
          </a:prstGeom>
          <a:noFill/>
          <a:ln/>
        </p:spPr>
        <p:txBody>
          <a:bodyPr wrap="square" lIns="0" tIns="0" rIns="0" bIns="0" rtlCol="0" anchor="ctr"/>
          <a:lstStyle/>
          <a:p>
            <a:pPr algn="l" indent="0" marL="0">
              <a:lnSpc>
                <a:spcPct val="98000"/>
              </a:lnSpc>
              <a:buNone/>
            </a:pPr>
            <a:r>
              <a:rPr lang="en-US" sz="1150" dirty="0">
                <a:solidFill>
                  <a:srgbClr val="203034"/>
                </a:solidFill>
                <a:latin typeface="Calibri" pitchFamily="34" charset="0"/>
                <a:ea typeface="Calibri" pitchFamily="34" charset="-122"/>
                <a:cs typeface="Calibri" pitchFamily="34" charset="-120"/>
              </a:rPr>
              <a:t>CV: CV death, MI, stroke, or HF hospitalization</a:t>
            </a:r>
            <a:endParaRPr lang="en-US" sz="1150" dirty="0"/>
          </a:p>
        </p:txBody>
      </p:sp>
      <p:sp>
        <p:nvSpPr>
          <p:cNvPr id="18" name="Text 16"/>
          <p:cNvSpPr/>
          <p:nvPr/>
        </p:nvSpPr>
        <p:spPr>
          <a:xfrm>
            <a:off x="9710928" y="2807208"/>
            <a:ext cx="1911096" cy="749808"/>
          </a:xfrm>
          <a:prstGeom prst="rect">
            <a:avLst/>
          </a:prstGeom>
          <a:noFill/>
          <a:ln/>
        </p:spPr>
        <p:txBody>
          <a:bodyPr wrap="square" lIns="0" tIns="0" rIns="0" bIns="0" rtlCol="0" anchor="ctr"/>
          <a:lstStyle/>
          <a:p>
            <a:pPr algn="l" indent="0" marL="0">
              <a:lnSpc>
                <a:spcPct val="98000"/>
              </a:lnSpc>
              <a:buNone/>
            </a:pPr>
            <a:r>
              <a:rPr lang="en-US" sz="1150" b="1" dirty="0">
                <a:solidFill>
                  <a:srgbClr val="0E7C86"/>
                </a:solidFill>
                <a:latin typeface="Calibri" pitchFamily="34" charset="0"/>
                <a:ea typeface="Calibri" pitchFamily="34" charset="-122"/>
                <a:cs typeface="Calibri" pitchFamily="34" charset="-120"/>
              </a:rPr>
              <a:t>0.87 (0.76–0.98)</a:t>
            </a:r>
            <a:endParaRPr lang="en-US" sz="1150" dirty="0"/>
          </a:p>
        </p:txBody>
      </p:sp>
      <p:sp>
        <p:nvSpPr>
          <p:cNvPr id="19" name="Shape 17"/>
          <p:cNvSpPr/>
          <p:nvPr/>
        </p:nvSpPr>
        <p:spPr>
          <a:xfrm>
            <a:off x="640080" y="4471416"/>
            <a:ext cx="11055096" cy="0"/>
          </a:xfrm>
          <a:prstGeom prst="line">
            <a:avLst/>
          </a:prstGeom>
          <a:noFill/>
          <a:ln w="9525">
            <a:solidFill>
              <a:srgbClr val="C9D6D6"/>
            </a:solidFill>
            <a:prstDash val="solid"/>
          </a:ln>
        </p:spPr>
      </p:sp>
      <p:sp>
        <p:nvSpPr>
          <p:cNvPr id="20" name="Text 18"/>
          <p:cNvSpPr/>
          <p:nvPr/>
        </p:nvSpPr>
        <p:spPr>
          <a:xfrm>
            <a:off x="749808" y="3557016"/>
            <a:ext cx="2468880" cy="91440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FIDELITY (2022)</a:t>
            </a:r>
            <a:endParaRPr lang="en-US" sz="1150" dirty="0"/>
          </a:p>
        </p:txBody>
      </p:sp>
      <p:sp>
        <p:nvSpPr>
          <p:cNvPr id="21" name="Text 19"/>
          <p:cNvSpPr/>
          <p:nvPr/>
        </p:nvSpPr>
        <p:spPr>
          <a:xfrm>
            <a:off x="3401568" y="3557016"/>
            <a:ext cx="3017520" cy="914400"/>
          </a:xfrm>
          <a:prstGeom prst="rect">
            <a:avLst/>
          </a:prstGeom>
          <a:noFill/>
          <a:ln/>
        </p:spPr>
        <p:txBody>
          <a:bodyPr wrap="square" lIns="0" tIns="0" rIns="0" bIns="0" rtlCol="0" anchor="ctr"/>
          <a:lstStyle/>
          <a:p>
            <a:pPr algn="l" indent="0" marL="0">
              <a:lnSpc>
                <a:spcPct val="98000"/>
              </a:lnSpc>
              <a:buNone/>
            </a:pPr>
            <a:r>
              <a:rPr lang="en-US" sz="1150" dirty="0">
                <a:solidFill>
                  <a:srgbClr val="203034"/>
                </a:solidFill>
                <a:latin typeface="Calibri" pitchFamily="34" charset="0"/>
                <a:ea typeface="Calibri" pitchFamily="34" charset="-122"/>
                <a:cs typeface="Calibri" pitchFamily="34" charset="-120"/>
              </a:rPr>
              <a:t>Pre-specified pooling; N=13,026</a:t>
            </a:r>
            <a:endParaRPr lang="en-US" sz="1150" dirty="0"/>
          </a:p>
        </p:txBody>
      </p:sp>
      <p:sp>
        <p:nvSpPr>
          <p:cNvPr id="22" name="Text 20"/>
          <p:cNvSpPr/>
          <p:nvPr/>
        </p:nvSpPr>
        <p:spPr>
          <a:xfrm>
            <a:off x="6601968" y="3557016"/>
            <a:ext cx="2926080" cy="914400"/>
          </a:xfrm>
          <a:prstGeom prst="rect">
            <a:avLst/>
          </a:prstGeom>
          <a:noFill/>
          <a:ln/>
        </p:spPr>
        <p:txBody>
          <a:bodyPr wrap="square" lIns="0" tIns="0" rIns="0" bIns="0" rtlCol="0" anchor="ctr"/>
          <a:lstStyle/>
          <a:p>
            <a:pPr algn="l" indent="0" marL="0">
              <a:lnSpc>
                <a:spcPct val="98000"/>
              </a:lnSpc>
              <a:buNone/>
            </a:pPr>
            <a:r>
              <a:rPr lang="en-US" sz="1150" dirty="0">
                <a:solidFill>
                  <a:srgbClr val="203034"/>
                </a:solidFill>
                <a:latin typeface="Calibri" pitchFamily="34" charset="0"/>
                <a:ea typeface="Calibri" pitchFamily="34" charset="-122"/>
                <a:cs typeface="Calibri" pitchFamily="34" charset="-120"/>
              </a:rPr>
              <a:t>CV composite / kidney composite (≥57% decline)</a:t>
            </a:r>
            <a:endParaRPr lang="en-US" sz="1150" dirty="0"/>
          </a:p>
        </p:txBody>
      </p:sp>
      <p:sp>
        <p:nvSpPr>
          <p:cNvPr id="23" name="Text 21"/>
          <p:cNvSpPr/>
          <p:nvPr/>
        </p:nvSpPr>
        <p:spPr>
          <a:xfrm>
            <a:off x="9710928" y="3557016"/>
            <a:ext cx="1911096" cy="914400"/>
          </a:xfrm>
          <a:prstGeom prst="rect">
            <a:avLst/>
          </a:prstGeom>
          <a:noFill/>
          <a:ln/>
        </p:spPr>
        <p:txBody>
          <a:bodyPr wrap="square" lIns="0" tIns="0" rIns="0" bIns="0" rtlCol="0" anchor="ctr"/>
          <a:lstStyle/>
          <a:p>
            <a:pPr algn="l" indent="0" marL="0">
              <a:lnSpc>
                <a:spcPct val="98000"/>
              </a:lnSpc>
              <a:buNone/>
            </a:pPr>
            <a:r>
              <a:rPr lang="en-US" sz="1150" b="1" dirty="0">
                <a:solidFill>
                  <a:srgbClr val="0E7C86"/>
                </a:solidFill>
                <a:latin typeface="Calibri" pitchFamily="34" charset="0"/>
                <a:ea typeface="Calibri" pitchFamily="34" charset="-122"/>
                <a:cs typeface="Calibri" pitchFamily="34" charset="-120"/>
              </a:rPr>
              <a:t>CV 0.86 (0.78–0.95)</a:t>
            </a:r>
            <a:endParaRPr lang="en-US" sz="1150" dirty="0"/>
          </a:p>
          <a:p>
            <a:pPr algn="l" indent="0" marL="0">
              <a:lnSpc>
                <a:spcPct val="98000"/>
              </a:lnSpc>
              <a:buNone/>
            </a:pPr>
            <a:r>
              <a:rPr lang="en-US" sz="1150" b="1" dirty="0">
                <a:solidFill>
                  <a:srgbClr val="0E7C86"/>
                </a:solidFill>
                <a:latin typeface="Calibri" pitchFamily="34" charset="0"/>
                <a:ea typeface="Calibri" pitchFamily="34" charset="-122"/>
                <a:cs typeface="Calibri" pitchFamily="34" charset="-120"/>
              </a:rPr>
              <a:t>Kidney 0.77 (0.67–0.88)</a:t>
            </a:r>
            <a:endParaRPr lang="en-US" sz="1150" dirty="0"/>
          </a:p>
        </p:txBody>
      </p:sp>
      <p:sp>
        <p:nvSpPr>
          <p:cNvPr id="24" name="Text 22"/>
          <p:cNvSpPr/>
          <p:nvPr/>
        </p:nvSpPr>
        <p:spPr>
          <a:xfrm>
            <a:off x="640080" y="4700016"/>
            <a:ext cx="10908792" cy="640080"/>
          </a:xfrm>
          <a:prstGeom prst="rect">
            <a:avLst/>
          </a:prstGeom>
          <a:noFill/>
          <a:ln/>
        </p:spPr>
        <p:txBody>
          <a:bodyPr wrap="square" lIns="0" tIns="0" rIns="0" bIns="0" rtlCol="0" anchor="ctr"/>
          <a:lstStyle/>
          <a:p>
            <a:pPr indent="0" marL="0">
              <a:lnSpc>
                <a:spcPct val="115000"/>
              </a:lnSpc>
              <a:buNone/>
            </a:pPr>
            <a:r>
              <a:rPr lang="en-US" sz="1350" i="1" dirty="0">
                <a:solidFill>
                  <a:srgbClr val="203034"/>
                </a:solidFill>
                <a:latin typeface="Calibri" pitchFamily="34" charset="0"/>
                <a:ea typeface="Calibri" pitchFamily="34" charset="-122"/>
                <a:cs typeface="Calibri" pitchFamily="34" charset="-120"/>
              </a:rPr>
              <a:t>Consistent kidney and cardiovascular benefit, and a clear effect on eGFR slope, but only in diabetic CKD. FIND-CKD was built to test the other half of the CKD population.</a:t>
            </a:r>
            <a:endParaRPr lang="en-US" sz="1350" dirty="0"/>
          </a:p>
        </p:txBody>
      </p:sp>
      <p:sp>
        <p:nvSpPr>
          <p:cNvPr id="25" name="Text 23"/>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Trial design</a:t>
            </a:r>
            <a:endParaRPr lang="en-US" sz="2700" dirty="0"/>
          </a:p>
        </p:txBody>
      </p:sp>
      <p:sp>
        <p:nvSpPr>
          <p:cNvPr id="3" name="Text 1"/>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400" dirty="0">
                <a:solidFill>
                  <a:srgbClr val="203034"/>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400" dirty="0"/>
          </a:p>
        </p:txBody>
      </p:sp>
      <p:sp>
        <p:nvSpPr>
          <p:cNvPr id="4" name="Shape 2"/>
          <p:cNvSpPr/>
          <p:nvPr/>
        </p:nvSpPr>
        <p:spPr>
          <a:xfrm>
            <a:off x="640080" y="1874520"/>
            <a:ext cx="3108960" cy="1051560"/>
          </a:xfrm>
          <a:prstGeom prst="roundRect">
            <a:avLst>
              <a:gd name="adj" fmla="val 5217"/>
            </a:avLst>
          </a:prstGeom>
          <a:solidFill>
            <a:srgbClr val="EEF4F4"/>
          </a:solidFill>
          <a:ln/>
        </p:spPr>
      </p:sp>
      <p:sp>
        <p:nvSpPr>
          <p:cNvPr id="5" name="Text 3"/>
          <p:cNvSpPr/>
          <p:nvPr/>
        </p:nvSpPr>
        <p:spPr>
          <a:xfrm>
            <a:off x="822960" y="2020824"/>
            <a:ext cx="2743200" cy="365760"/>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3231 assessed</a:t>
            </a:r>
            <a:endParaRPr lang="en-US" sz="1500" dirty="0"/>
          </a:p>
        </p:txBody>
      </p:sp>
      <p:sp>
        <p:nvSpPr>
          <p:cNvPr id="6" name="Text 4"/>
          <p:cNvSpPr/>
          <p:nvPr/>
        </p:nvSpPr>
        <p:spPr>
          <a:xfrm>
            <a:off x="822960" y="2377440"/>
            <a:ext cx="2743200" cy="502920"/>
          </a:xfrm>
          <a:prstGeom prst="rect">
            <a:avLst/>
          </a:prstGeom>
          <a:noFill/>
          <a:ln/>
        </p:spPr>
        <p:txBody>
          <a:bodyPr wrap="square" lIns="0" tIns="0" rIns="0" bIns="0" rtlCol="0" anchor="ctr"/>
          <a:lstStyle/>
          <a:p>
            <a:pPr indent="0" marL="0">
              <a:lnSpc>
                <a:spcPct val="100000"/>
              </a:lnSpc>
              <a:buNone/>
            </a:pPr>
            <a:r>
              <a:rPr lang="en-US" sz="1050" dirty="0">
                <a:solidFill>
                  <a:srgbClr val="667578"/>
                </a:solidFill>
                <a:latin typeface="Calibri" pitchFamily="34" charset="0"/>
                <a:ea typeface="Calibri" pitchFamily="34" charset="-122"/>
                <a:cs typeface="Calibri" pitchFamily="34" charset="-120"/>
              </a:rPr>
              <a:t>Sept 2021 – May 2023</a:t>
            </a:r>
            <a:endParaRPr lang="en-US" sz="1050" dirty="0"/>
          </a:p>
        </p:txBody>
      </p:sp>
      <p:sp>
        <p:nvSpPr>
          <p:cNvPr id="7" name="Shape 5"/>
          <p:cNvSpPr/>
          <p:nvPr/>
        </p:nvSpPr>
        <p:spPr>
          <a:xfrm>
            <a:off x="3840480" y="2276856"/>
            <a:ext cx="384048" cy="256032"/>
          </a:xfrm>
          <a:prstGeom prst="rightArrow">
            <a:avLst/>
          </a:prstGeom>
          <a:solidFill>
            <a:srgbClr val="9AA7AD"/>
          </a:solidFill>
          <a:ln/>
        </p:spPr>
      </p:sp>
      <p:sp>
        <p:nvSpPr>
          <p:cNvPr id="8" name="Shape 6"/>
          <p:cNvSpPr/>
          <p:nvPr/>
        </p:nvSpPr>
        <p:spPr>
          <a:xfrm>
            <a:off x="4297680" y="1874520"/>
            <a:ext cx="3108960" cy="1051560"/>
          </a:xfrm>
          <a:prstGeom prst="roundRect">
            <a:avLst>
              <a:gd name="adj" fmla="val 5217"/>
            </a:avLst>
          </a:prstGeom>
          <a:solidFill>
            <a:srgbClr val="0B3D46"/>
          </a:solidFill>
          <a:ln/>
        </p:spPr>
      </p:sp>
      <p:sp>
        <p:nvSpPr>
          <p:cNvPr id="9" name="Text 7"/>
          <p:cNvSpPr/>
          <p:nvPr/>
        </p:nvSpPr>
        <p:spPr>
          <a:xfrm>
            <a:off x="4480560" y="2020824"/>
            <a:ext cx="2743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1584 randomized</a:t>
            </a:r>
            <a:endParaRPr lang="en-US" sz="1500" dirty="0"/>
          </a:p>
        </p:txBody>
      </p:sp>
      <p:sp>
        <p:nvSpPr>
          <p:cNvPr id="10" name="Text 8"/>
          <p:cNvSpPr/>
          <p:nvPr/>
        </p:nvSpPr>
        <p:spPr>
          <a:xfrm>
            <a:off x="4480560" y="2377440"/>
            <a:ext cx="2743200" cy="502920"/>
          </a:xfrm>
          <a:prstGeom prst="rect">
            <a:avLst/>
          </a:prstGeom>
          <a:noFill/>
          <a:ln/>
        </p:spPr>
        <p:txBody>
          <a:bodyPr wrap="square" lIns="0" tIns="0" rIns="0" bIns="0" rtlCol="0" anchor="ctr"/>
          <a:lstStyle/>
          <a:p>
            <a:pPr indent="0" marL="0">
              <a:lnSpc>
                <a:spcPct val="100000"/>
              </a:lnSpc>
              <a:buNone/>
            </a:pPr>
            <a:r>
              <a:rPr lang="en-US" sz="1050" dirty="0">
                <a:solidFill>
                  <a:srgbClr val="D7ECEC"/>
                </a:solidFill>
                <a:latin typeface="Calibri" pitchFamily="34" charset="0"/>
                <a:ea typeface="Calibri" pitchFamily="34" charset="-122"/>
                <a:cs typeface="Calibri" pitchFamily="34" charset="-120"/>
              </a:rPr>
              <a:t>Full analysis set (all randomized)</a:t>
            </a:r>
            <a:endParaRPr lang="en-US" sz="1050" dirty="0"/>
          </a:p>
        </p:txBody>
      </p:sp>
      <p:sp>
        <p:nvSpPr>
          <p:cNvPr id="11" name="Shape 9"/>
          <p:cNvSpPr/>
          <p:nvPr/>
        </p:nvSpPr>
        <p:spPr>
          <a:xfrm>
            <a:off x="7498080" y="2276856"/>
            <a:ext cx="384048" cy="256032"/>
          </a:xfrm>
          <a:prstGeom prst="rightArrow">
            <a:avLst/>
          </a:prstGeom>
          <a:solidFill>
            <a:srgbClr val="9AA7AD"/>
          </a:solidFill>
          <a:ln/>
        </p:spPr>
      </p:sp>
      <p:sp>
        <p:nvSpPr>
          <p:cNvPr id="12" name="Shape 10"/>
          <p:cNvSpPr/>
          <p:nvPr/>
        </p:nvSpPr>
        <p:spPr>
          <a:xfrm>
            <a:off x="7955280" y="1874520"/>
            <a:ext cx="3593592" cy="457200"/>
          </a:xfrm>
          <a:prstGeom prst="roundRect">
            <a:avLst>
              <a:gd name="adj" fmla="val 10000"/>
            </a:avLst>
          </a:prstGeom>
          <a:solidFill>
            <a:srgbClr val="0E7C86"/>
          </a:solidFill>
          <a:ln/>
        </p:spPr>
      </p:sp>
      <p:sp>
        <p:nvSpPr>
          <p:cNvPr id="13" name="Text 11"/>
          <p:cNvSpPr/>
          <p:nvPr/>
        </p:nvSpPr>
        <p:spPr>
          <a:xfrm>
            <a:off x="8119872" y="1874520"/>
            <a:ext cx="3319272"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Finerenone  </a:t>
            </a:r>
            <a:pPr indent="0" marL="0">
              <a:buNone/>
            </a:pPr>
            <a:r>
              <a:rPr lang="en-US" sz="1250" dirty="0">
                <a:solidFill>
                  <a:srgbClr val="E7F4F4"/>
                </a:solidFill>
                <a:latin typeface="Calibri" pitchFamily="34" charset="0"/>
                <a:ea typeface="Calibri" pitchFamily="34" charset="-122"/>
                <a:cs typeface="Calibri" pitchFamily="34" charset="-120"/>
              </a:rPr>
              <a:t>793</a:t>
            </a:r>
            <a:endParaRPr lang="en-US" sz="1350" dirty="0"/>
          </a:p>
        </p:txBody>
      </p:sp>
      <p:sp>
        <p:nvSpPr>
          <p:cNvPr id="14" name="Shape 12"/>
          <p:cNvSpPr/>
          <p:nvPr/>
        </p:nvSpPr>
        <p:spPr>
          <a:xfrm>
            <a:off x="7955280" y="2468880"/>
            <a:ext cx="3593592" cy="457200"/>
          </a:xfrm>
          <a:prstGeom prst="roundRect">
            <a:avLst>
              <a:gd name="adj" fmla="val 10000"/>
            </a:avLst>
          </a:prstGeom>
          <a:solidFill>
            <a:srgbClr val="9AA7AD"/>
          </a:solidFill>
          <a:ln/>
        </p:spPr>
      </p:sp>
      <p:sp>
        <p:nvSpPr>
          <p:cNvPr id="15" name="Text 13"/>
          <p:cNvSpPr/>
          <p:nvPr/>
        </p:nvSpPr>
        <p:spPr>
          <a:xfrm>
            <a:off x="8119872" y="2468880"/>
            <a:ext cx="3319272"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Placebo  </a:t>
            </a:r>
            <a:pPr indent="0" marL="0">
              <a:buNone/>
            </a:pPr>
            <a:r>
              <a:rPr lang="en-US" sz="1250" dirty="0">
                <a:solidFill>
                  <a:srgbClr val="F1F5F6"/>
                </a:solidFill>
                <a:latin typeface="Calibri" pitchFamily="34" charset="0"/>
                <a:ea typeface="Calibri" pitchFamily="34" charset="-122"/>
                <a:cs typeface="Calibri" pitchFamily="34" charset="-120"/>
              </a:rPr>
              <a:t>791</a:t>
            </a:r>
            <a:endParaRPr lang="en-US" sz="1350" dirty="0"/>
          </a:p>
        </p:txBody>
      </p:sp>
      <p:sp>
        <p:nvSpPr>
          <p:cNvPr id="16" name="Text 14"/>
          <p:cNvSpPr/>
          <p:nvPr/>
        </p:nvSpPr>
        <p:spPr>
          <a:xfrm>
            <a:off x="640080" y="3429000"/>
            <a:ext cx="5180076"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Randomization &amp; stratification</a:t>
            </a:r>
            <a:endParaRPr lang="en-US" sz="1400" dirty="0"/>
          </a:p>
        </p:txBody>
      </p:sp>
      <p:sp>
        <p:nvSpPr>
          <p:cNvPr id="17" name="Text 15"/>
          <p:cNvSpPr/>
          <p:nvPr/>
        </p:nvSpPr>
        <p:spPr>
          <a:xfrm>
            <a:off x="640080" y="379476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50" dirty="0">
                <a:solidFill>
                  <a:srgbClr val="203034"/>
                </a:solidFill>
                <a:latin typeface="Calibri" pitchFamily="34" charset="0"/>
                <a:ea typeface="Calibri" pitchFamily="34" charset="-122"/>
                <a:cs typeface="Calibri" pitchFamily="34" charset="-120"/>
              </a:rPr>
              <a:t>Baseline SGLT2 inhibitor use (yes vs. no)</a:t>
            </a:r>
            <a:endParaRPr lang="en-US" sz="1250" dirty="0"/>
          </a:p>
          <a:p>
            <a:pPr marL="203200" indent="-203200">
              <a:lnSpc>
                <a:spcPct val="112000"/>
              </a:lnSpc>
              <a:spcAft>
                <a:spcPts val="800"/>
              </a:spcAft>
              <a:buSzPct val="100000"/>
              <a:buChar char="•"/>
            </a:pPr>
            <a:r>
              <a:rPr lang="en-US" sz="1250" dirty="0">
                <a:solidFill>
                  <a:srgbClr val="203034"/>
                </a:solidFill>
                <a:latin typeface="Calibri" pitchFamily="34" charset="0"/>
                <a:ea typeface="Calibri" pitchFamily="34" charset="-122"/>
                <a:cs typeface="Calibri" pitchFamily="34" charset="-120"/>
              </a:rPr>
              <a:t>Screening UACR (≤1000 vs. &gt;1000 mg/g)</a:t>
            </a:r>
            <a:endParaRPr lang="en-US" sz="1250" dirty="0"/>
          </a:p>
          <a:p>
            <a:pPr marL="203200" indent="-203200">
              <a:lnSpc>
                <a:spcPct val="112000"/>
              </a:lnSpc>
              <a:spcAft>
                <a:spcPts val="800"/>
              </a:spcAft>
              <a:buSzPct val="100000"/>
              <a:buChar char="•"/>
            </a:pPr>
            <a:r>
              <a:rPr lang="en-US" sz="1250" dirty="0">
                <a:solidFill>
                  <a:srgbClr val="203034"/>
                </a:solidFill>
                <a:latin typeface="Calibri" pitchFamily="34" charset="0"/>
                <a:ea typeface="Calibri" pitchFamily="34" charset="-122"/>
                <a:cs typeface="Calibri" pitchFamily="34" charset="-120"/>
              </a:rPr>
              <a:t>Treatment-policy estimand: eGFR after stopping the regimen still counted in the primary analysis.</a:t>
            </a:r>
            <a:endParaRPr lang="en-US" sz="1250" dirty="0"/>
          </a:p>
        </p:txBody>
      </p:sp>
      <p:sp>
        <p:nvSpPr>
          <p:cNvPr id="18" name="Text 16"/>
          <p:cNvSpPr/>
          <p:nvPr/>
        </p:nvSpPr>
        <p:spPr>
          <a:xfrm>
            <a:off x="6368796" y="3429000"/>
            <a:ext cx="5180076"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Oversight</a:t>
            </a:r>
            <a:endParaRPr lang="en-US" sz="1400" dirty="0"/>
          </a:p>
        </p:txBody>
      </p:sp>
      <p:sp>
        <p:nvSpPr>
          <p:cNvPr id="19" name="Text 17"/>
          <p:cNvSpPr/>
          <p:nvPr/>
        </p:nvSpPr>
        <p:spPr>
          <a:xfrm>
            <a:off x="6368796" y="379476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50" dirty="0">
                <a:solidFill>
                  <a:srgbClr val="203034"/>
                </a:solidFill>
                <a:latin typeface="Calibri" pitchFamily="34" charset="0"/>
                <a:ea typeface="Calibri" pitchFamily="34" charset="-122"/>
                <a:cs typeface="Calibri" pitchFamily="34" charset="-120"/>
              </a:rPr>
              <a:t>Designed by the steering committee and Bayer (sponsor).</a:t>
            </a:r>
            <a:endParaRPr lang="en-US" sz="1250" dirty="0"/>
          </a:p>
          <a:p>
            <a:pPr marL="203200" indent="-203200">
              <a:lnSpc>
                <a:spcPct val="112000"/>
              </a:lnSpc>
              <a:spcAft>
                <a:spcPts val="800"/>
              </a:spcAft>
              <a:buSzPct val="100000"/>
              <a:buChar char="•"/>
            </a:pPr>
            <a:r>
              <a:rPr lang="en-US" sz="1250" dirty="0">
                <a:solidFill>
                  <a:srgbClr val="203034"/>
                </a:solidFill>
                <a:latin typeface="Calibri" pitchFamily="34" charset="0"/>
                <a:ea typeface="Calibri" pitchFamily="34" charset="-122"/>
                <a:cs typeface="Calibri" pitchFamily="34" charset="-120"/>
              </a:rPr>
              <a:t>Independent data and safety monitoring committee throughout.</a:t>
            </a:r>
            <a:endParaRPr lang="en-US" sz="1250" dirty="0"/>
          </a:p>
          <a:p>
            <a:pPr marL="203200" indent="-203200">
              <a:lnSpc>
                <a:spcPct val="112000"/>
              </a:lnSpc>
              <a:spcAft>
                <a:spcPts val="800"/>
              </a:spcAft>
              <a:buSzPct val="100000"/>
              <a:buChar char="•"/>
            </a:pPr>
            <a:r>
              <a:rPr lang="en-US" sz="1250" dirty="0">
                <a:solidFill>
                  <a:srgbClr val="203034"/>
                </a:solidFill>
                <a:latin typeface="Calibri" pitchFamily="34" charset="0"/>
                <a:ea typeface="Calibri" pitchFamily="34" charset="-122"/>
                <a:cs typeface="Calibri" pitchFamily="34" charset="-120"/>
              </a:rPr>
              <a:t>Sponsor analyses re-run independently at UMC Groningen on the original data.</a:t>
            </a:r>
            <a:endParaRPr lang="en-US" sz="1250" dirty="0"/>
          </a:p>
        </p:txBody>
      </p:sp>
      <p:sp>
        <p:nvSpPr>
          <p:cNvPr id="20" name="Text 18"/>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Who was studied</a:t>
            </a:r>
            <a:endParaRPr lang="en-US" sz="2700" dirty="0"/>
          </a:p>
        </p:txBody>
      </p:sp>
      <p:sp>
        <p:nvSpPr>
          <p:cNvPr id="3" name="Text 1"/>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Key inclusion criteria</a:t>
            </a:r>
            <a:endParaRPr lang="en-US" sz="1400" dirty="0"/>
          </a:p>
        </p:txBody>
      </p:sp>
      <p:sp>
        <p:nvSpPr>
          <p:cNvPr id="4" name="Text 2"/>
          <p:cNvSpPr/>
          <p:nvPr/>
        </p:nvSpPr>
        <p:spPr>
          <a:xfrm>
            <a:off x="640080" y="1645920"/>
            <a:ext cx="5134356" cy="365760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50" dirty="0">
                <a:solidFill>
                  <a:srgbClr val="203034"/>
                </a:solidFill>
                <a:latin typeface="Calibri" pitchFamily="34" charset="0"/>
                <a:ea typeface="Calibri" pitchFamily="34" charset="-122"/>
                <a:cs typeface="Calibri" pitchFamily="34" charset="-120"/>
              </a:rPr>
              <a:t>Adults with a clinical diagnosis of CKD, without diabetes</a:t>
            </a:r>
            <a:endParaRPr lang="en-US" sz="1350" dirty="0"/>
          </a:p>
          <a:p>
            <a:pPr marL="203200" indent="-203200">
              <a:lnSpc>
                <a:spcPct val="115000"/>
              </a:lnSpc>
              <a:spcAft>
                <a:spcPts val="1200"/>
              </a:spcAft>
              <a:buSzPct val="100000"/>
              <a:buChar char="•"/>
            </a:pPr>
            <a:r>
              <a:rPr lang="en-US" sz="1350" dirty="0">
                <a:solidFill>
                  <a:srgbClr val="203034"/>
                </a:solidFill>
                <a:latin typeface="Calibri" pitchFamily="34" charset="0"/>
                <a:ea typeface="Calibri" pitchFamily="34" charset="-122"/>
                <a:cs typeface="Calibri" pitchFamily="34" charset="-120"/>
              </a:rPr>
              <a:t>eGFR 25 to &lt;60 with UACR 200–500 mg/g, or eGFR 25 to &lt;90 with UACR 500–3500 mg/g</a:t>
            </a:r>
            <a:endParaRPr lang="en-US" sz="1350" dirty="0"/>
          </a:p>
          <a:p>
            <a:pPr marL="203200" indent="-203200">
              <a:lnSpc>
                <a:spcPct val="115000"/>
              </a:lnSpc>
              <a:spcAft>
                <a:spcPts val="1200"/>
              </a:spcAft>
              <a:buSzPct val="100000"/>
              <a:buChar char="•"/>
            </a:pPr>
            <a:r>
              <a:rPr lang="en-US" sz="1350" dirty="0">
                <a:solidFill>
                  <a:srgbClr val="203034"/>
                </a:solidFill>
                <a:latin typeface="Calibri" pitchFamily="34" charset="0"/>
                <a:ea typeface="Calibri" pitchFamily="34" charset="-122"/>
                <a:cs typeface="Calibri" pitchFamily="34" charset="-120"/>
              </a:rPr>
              <a:t>On a stable ACE inhibitor or ARB for ≥4 weeks</a:t>
            </a:r>
            <a:endParaRPr lang="en-US" sz="1350" dirty="0"/>
          </a:p>
          <a:p>
            <a:pPr marL="203200" indent="-203200">
              <a:lnSpc>
                <a:spcPct val="115000"/>
              </a:lnSpc>
              <a:spcAft>
                <a:spcPts val="1200"/>
              </a:spcAft>
              <a:buSzPct val="100000"/>
              <a:buChar char="•"/>
            </a:pPr>
            <a:r>
              <a:rPr lang="en-US" sz="1350" dirty="0">
                <a:solidFill>
                  <a:srgbClr val="203034"/>
                </a:solidFill>
                <a:latin typeface="Calibri" pitchFamily="34" charset="0"/>
                <a:ea typeface="Calibri" pitchFamily="34" charset="-122"/>
                <a:cs typeface="Calibri" pitchFamily="34" charset="-120"/>
              </a:rPr>
              <a:t>Serum potassium ≤4.8 mmol/L at screening</a:t>
            </a:r>
            <a:endParaRPr lang="en-US" sz="1350" dirty="0"/>
          </a:p>
        </p:txBody>
      </p:sp>
      <p:sp>
        <p:nvSpPr>
          <p:cNvPr id="5" name="Text 3"/>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C67A22"/>
                </a:solidFill>
                <a:latin typeface="Calibri" pitchFamily="34" charset="0"/>
                <a:ea typeface="Calibri" pitchFamily="34" charset="-122"/>
                <a:cs typeface="Calibri" pitchFamily="34" charset="-120"/>
              </a:rPr>
              <a:t>Key exclusion criteria</a:t>
            </a:r>
            <a:endParaRPr lang="en-US" sz="1400" dirty="0"/>
          </a:p>
        </p:txBody>
      </p:sp>
      <p:sp>
        <p:nvSpPr>
          <p:cNvPr id="6" name="Text 4"/>
          <p:cNvSpPr/>
          <p:nvPr/>
        </p:nvSpPr>
        <p:spPr>
          <a:xfrm>
            <a:off x="6414516" y="1645920"/>
            <a:ext cx="5134356" cy="365760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350" dirty="0">
                <a:solidFill>
                  <a:srgbClr val="203034"/>
                </a:solidFill>
                <a:latin typeface="Calibri" pitchFamily="34" charset="0"/>
                <a:ea typeface="Calibri" pitchFamily="34" charset="-122"/>
                <a:cs typeface="Calibri" pitchFamily="34" charset="-120"/>
              </a:rPr>
              <a:t>Type 1 or type 2 diabetes, or HbA1c ≥6.5%</a:t>
            </a:r>
            <a:endParaRPr lang="en-US" sz="1350" dirty="0"/>
          </a:p>
          <a:p>
            <a:pPr marL="203200" indent="-203200">
              <a:lnSpc>
                <a:spcPct val="115000"/>
              </a:lnSpc>
              <a:spcAft>
                <a:spcPts val="1000"/>
              </a:spcAft>
              <a:buSzPct val="100000"/>
              <a:buChar char="–"/>
            </a:pPr>
            <a:r>
              <a:rPr lang="en-US" sz="1350" dirty="0">
                <a:solidFill>
                  <a:srgbClr val="203034"/>
                </a:solidFill>
                <a:latin typeface="Calibri" pitchFamily="34" charset="0"/>
                <a:ea typeface="Calibri" pitchFamily="34" charset="-122"/>
                <a:cs typeface="Calibri" pitchFamily="34" charset="-120"/>
              </a:rPr>
              <a:t>Indication for a steroidal MRA</a:t>
            </a:r>
            <a:endParaRPr lang="en-US" sz="1350" dirty="0"/>
          </a:p>
          <a:p>
            <a:pPr marL="203200" indent="-203200">
              <a:lnSpc>
                <a:spcPct val="115000"/>
              </a:lnSpc>
              <a:spcAft>
                <a:spcPts val="1000"/>
              </a:spcAft>
              <a:buSzPct val="100000"/>
              <a:buChar char="–"/>
            </a:pPr>
            <a:r>
              <a:rPr lang="en-US" sz="1350" dirty="0">
                <a:solidFill>
                  <a:srgbClr val="203034"/>
                </a:solidFill>
                <a:latin typeface="Calibri" pitchFamily="34" charset="0"/>
                <a:ea typeface="Calibri" pitchFamily="34" charset="-122"/>
                <a:cs typeface="Calibri" pitchFamily="34" charset="-120"/>
              </a:rPr>
              <a:t>Polycystic kidney disease</a:t>
            </a:r>
            <a:endParaRPr lang="en-US" sz="1350" dirty="0"/>
          </a:p>
          <a:p>
            <a:pPr marL="203200" indent="-203200">
              <a:lnSpc>
                <a:spcPct val="115000"/>
              </a:lnSpc>
              <a:spcAft>
                <a:spcPts val="1000"/>
              </a:spcAft>
              <a:buSzPct val="100000"/>
              <a:buChar char="–"/>
            </a:pPr>
            <a:r>
              <a:rPr lang="en-US" sz="1350" dirty="0">
                <a:solidFill>
                  <a:srgbClr val="203034"/>
                </a:solidFill>
                <a:latin typeface="Calibri" pitchFamily="34" charset="0"/>
                <a:ea typeface="Calibri" pitchFamily="34" charset="-122"/>
                <a:cs typeface="Calibri" pitchFamily="34" charset="-120"/>
              </a:rPr>
              <a:t>Lupus nephritis or ANCA-associated vasculitis</a:t>
            </a:r>
            <a:endParaRPr lang="en-US" sz="1350" dirty="0"/>
          </a:p>
          <a:p>
            <a:pPr marL="203200" indent="-203200">
              <a:lnSpc>
                <a:spcPct val="115000"/>
              </a:lnSpc>
              <a:spcAft>
                <a:spcPts val="1000"/>
              </a:spcAft>
              <a:buSzPct val="100000"/>
              <a:buChar char="–"/>
            </a:pPr>
            <a:r>
              <a:rPr lang="en-US" sz="1350" dirty="0">
                <a:solidFill>
                  <a:srgbClr val="203034"/>
                </a:solidFill>
                <a:latin typeface="Calibri" pitchFamily="34" charset="0"/>
                <a:ea typeface="Calibri" pitchFamily="34" charset="-122"/>
                <a:cs typeface="Calibri" pitchFamily="34" charset="-120"/>
              </a:rPr>
              <a:t>Immunosuppression within the prior 6 months</a:t>
            </a:r>
            <a:endParaRPr lang="en-US" sz="1350" dirty="0"/>
          </a:p>
        </p:txBody>
      </p:sp>
      <p:sp>
        <p:nvSpPr>
          <p:cNvPr id="7" name="Text 5"/>
          <p:cNvSpPr/>
          <p:nvPr/>
        </p:nvSpPr>
        <p:spPr>
          <a:xfrm>
            <a:off x="640080" y="5349240"/>
            <a:ext cx="10908792" cy="640080"/>
          </a:xfrm>
          <a:prstGeom prst="rect">
            <a:avLst/>
          </a:prstGeom>
          <a:noFill/>
          <a:ln/>
        </p:spPr>
        <p:txBody>
          <a:bodyPr wrap="square" lIns="0" tIns="0" rIns="0" bIns="0" rtlCol="0" anchor="ctr"/>
          <a:lstStyle/>
          <a:p>
            <a:pPr indent="0" marL="0">
              <a:lnSpc>
                <a:spcPct val="115000"/>
              </a:lnSpc>
              <a:buNone/>
            </a:pPr>
            <a:r>
              <a:rPr lang="en-US" sz="1300" i="1" dirty="0">
                <a:solidFill>
                  <a:srgbClr val="667578"/>
                </a:solidFill>
                <a:latin typeface="Calibri" pitchFamily="34" charset="0"/>
                <a:ea typeface="Calibri" pitchFamily="34" charset="-122"/>
                <a:cs typeface="Calibri" pitchFamily="34" charset="-120"/>
              </a:rPr>
              <a:t>In practice this is an enriched, higher-risk phenotype: mostly glomerular disease with heavy albuminuria and preserved-to-moderately-reduced eGFR, on a RAS inhibitor, kept clear of diseases that need other therapy.</a:t>
            </a:r>
            <a:endParaRPr lang="en-US" sz="1300" dirty="0"/>
          </a:p>
        </p:txBody>
      </p:sp>
      <p:sp>
        <p:nvSpPr>
          <p:cNvPr id="8" name="Text 6"/>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Baseline characteristics</a:t>
            </a:r>
            <a:endParaRPr lang="en-US" sz="2700" dirty="0"/>
          </a:p>
        </p:txBody>
      </p:sp>
      <p:sp>
        <p:nvSpPr>
          <p:cNvPr id="3" name="Text 1"/>
          <p:cNvSpPr/>
          <p:nvPr/>
        </p:nvSpPr>
        <p:spPr>
          <a:xfrm>
            <a:off x="640080" y="987552"/>
            <a:ext cx="10908792" cy="310896"/>
          </a:xfrm>
          <a:prstGeom prst="rect">
            <a:avLst/>
          </a:prstGeom>
          <a:noFill/>
          <a:ln/>
        </p:spPr>
        <p:txBody>
          <a:bodyPr wrap="square" lIns="0" tIns="0" rIns="0" bIns="0" rtlCol="0" anchor="ctr"/>
          <a:lstStyle/>
          <a:p>
            <a:pPr indent="0" marL="0">
              <a:buNone/>
            </a:pPr>
            <a:r>
              <a:rPr lang="en-US" sz="1300" i="1" dirty="0">
                <a:solidFill>
                  <a:srgbClr val="667578"/>
                </a:solidFill>
                <a:latin typeface="Calibri" pitchFamily="34" charset="0"/>
                <a:ea typeface="Calibri" pitchFamily="34" charset="-122"/>
                <a:cs typeface="Calibri" pitchFamily="34" charset="-120"/>
              </a:rPr>
              <a:t>Well balanced between the two groups (n = 1584).</a:t>
            </a:r>
            <a:endParaRPr lang="en-US" sz="1300" dirty="0"/>
          </a:p>
        </p:txBody>
      </p:sp>
      <p:sp>
        <p:nvSpPr>
          <p:cNvPr id="4" name="Shape 2"/>
          <p:cNvSpPr/>
          <p:nvPr/>
        </p:nvSpPr>
        <p:spPr>
          <a:xfrm>
            <a:off x="640080" y="1463040"/>
            <a:ext cx="10908792" cy="420624"/>
          </a:xfrm>
          <a:prstGeom prst="rect">
            <a:avLst/>
          </a:prstGeom>
          <a:solidFill>
            <a:srgbClr val="0B3D46"/>
          </a:solidFill>
          <a:ln/>
        </p:spPr>
      </p:sp>
      <p:sp>
        <p:nvSpPr>
          <p:cNvPr id="5" name="Text 3"/>
          <p:cNvSpPr/>
          <p:nvPr/>
        </p:nvSpPr>
        <p:spPr>
          <a:xfrm>
            <a:off x="749808" y="1463040"/>
            <a:ext cx="530352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p>
        </p:txBody>
      </p:sp>
      <p:sp>
        <p:nvSpPr>
          <p:cNvPr id="6" name="Text 4"/>
          <p:cNvSpPr/>
          <p:nvPr/>
        </p:nvSpPr>
        <p:spPr>
          <a:xfrm>
            <a:off x="6236208" y="1463040"/>
            <a:ext cx="256032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Finerenone (n=793)</a:t>
            </a:r>
            <a:endParaRPr lang="en-US" sz="1200" dirty="0"/>
          </a:p>
        </p:txBody>
      </p:sp>
      <p:sp>
        <p:nvSpPr>
          <p:cNvPr id="7" name="Text 5"/>
          <p:cNvSpPr/>
          <p:nvPr/>
        </p:nvSpPr>
        <p:spPr>
          <a:xfrm>
            <a:off x="8979408" y="1463040"/>
            <a:ext cx="2496312"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Placebo (n=791)</a:t>
            </a:r>
            <a:endParaRPr lang="en-US" sz="1200" dirty="0"/>
          </a:p>
        </p:txBody>
      </p:sp>
      <p:sp>
        <p:nvSpPr>
          <p:cNvPr id="8" name="Shape 6"/>
          <p:cNvSpPr/>
          <p:nvPr/>
        </p:nvSpPr>
        <p:spPr>
          <a:xfrm>
            <a:off x="640080" y="2249424"/>
            <a:ext cx="10908792" cy="0"/>
          </a:xfrm>
          <a:prstGeom prst="line">
            <a:avLst/>
          </a:prstGeom>
          <a:noFill/>
          <a:ln w="9525">
            <a:solidFill>
              <a:srgbClr val="C9D6D6"/>
            </a:solidFill>
            <a:prstDash val="solid"/>
          </a:ln>
        </p:spPr>
      </p:sp>
      <p:sp>
        <p:nvSpPr>
          <p:cNvPr id="9" name="Text 7"/>
          <p:cNvSpPr/>
          <p:nvPr/>
        </p:nvSpPr>
        <p:spPr>
          <a:xfrm>
            <a:off x="749808" y="188366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Age, yr</a:t>
            </a:r>
            <a:endParaRPr lang="en-US" sz="1150" dirty="0"/>
          </a:p>
        </p:txBody>
      </p:sp>
      <p:sp>
        <p:nvSpPr>
          <p:cNvPr id="10" name="Text 8"/>
          <p:cNvSpPr/>
          <p:nvPr/>
        </p:nvSpPr>
        <p:spPr>
          <a:xfrm>
            <a:off x="6236208" y="188366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54.5</a:t>
            </a:r>
            <a:endParaRPr lang="en-US" sz="1150" dirty="0"/>
          </a:p>
        </p:txBody>
      </p:sp>
      <p:sp>
        <p:nvSpPr>
          <p:cNvPr id="11" name="Text 9"/>
          <p:cNvSpPr/>
          <p:nvPr/>
        </p:nvSpPr>
        <p:spPr>
          <a:xfrm>
            <a:off x="8979408" y="188366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54.8</a:t>
            </a:r>
            <a:endParaRPr lang="en-US" sz="1150" dirty="0"/>
          </a:p>
        </p:txBody>
      </p:sp>
      <p:sp>
        <p:nvSpPr>
          <p:cNvPr id="12" name="Shape 10"/>
          <p:cNvSpPr/>
          <p:nvPr/>
        </p:nvSpPr>
        <p:spPr>
          <a:xfrm>
            <a:off x="640080" y="2615184"/>
            <a:ext cx="10908792" cy="0"/>
          </a:xfrm>
          <a:prstGeom prst="line">
            <a:avLst/>
          </a:prstGeom>
          <a:noFill/>
          <a:ln w="9525">
            <a:solidFill>
              <a:srgbClr val="C9D6D6"/>
            </a:solidFill>
            <a:prstDash val="solid"/>
          </a:ln>
        </p:spPr>
      </p:sp>
      <p:sp>
        <p:nvSpPr>
          <p:cNvPr id="13" name="Text 11"/>
          <p:cNvSpPr/>
          <p:nvPr/>
        </p:nvSpPr>
        <p:spPr>
          <a:xfrm>
            <a:off x="749808" y="224942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Female, n (%)</a:t>
            </a:r>
            <a:endParaRPr lang="en-US" sz="1150" dirty="0"/>
          </a:p>
        </p:txBody>
      </p:sp>
      <p:sp>
        <p:nvSpPr>
          <p:cNvPr id="14" name="Text 12"/>
          <p:cNvSpPr/>
          <p:nvPr/>
        </p:nvSpPr>
        <p:spPr>
          <a:xfrm>
            <a:off x="6236208" y="224942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275 (34.7)</a:t>
            </a:r>
            <a:endParaRPr lang="en-US" sz="1150" dirty="0"/>
          </a:p>
        </p:txBody>
      </p:sp>
      <p:sp>
        <p:nvSpPr>
          <p:cNvPr id="15" name="Text 13"/>
          <p:cNvSpPr/>
          <p:nvPr/>
        </p:nvSpPr>
        <p:spPr>
          <a:xfrm>
            <a:off x="8979408" y="224942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260 (32.9)</a:t>
            </a:r>
            <a:endParaRPr lang="en-US" sz="1150" dirty="0"/>
          </a:p>
        </p:txBody>
      </p:sp>
      <p:sp>
        <p:nvSpPr>
          <p:cNvPr id="16" name="Shape 14"/>
          <p:cNvSpPr/>
          <p:nvPr/>
        </p:nvSpPr>
        <p:spPr>
          <a:xfrm>
            <a:off x="640080" y="2980944"/>
            <a:ext cx="10908792" cy="0"/>
          </a:xfrm>
          <a:prstGeom prst="line">
            <a:avLst/>
          </a:prstGeom>
          <a:noFill/>
          <a:ln w="9525">
            <a:solidFill>
              <a:srgbClr val="C9D6D6"/>
            </a:solidFill>
            <a:prstDash val="solid"/>
          </a:ln>
        </p:spPr>
      </p:sp>
      <p:sp>
        <p:nvSpPr>
          <p:cNvPr id="17" name="Text 15"/>
          <p:cNvSpPr/>
          <p:nvPr/>
        </p:nvSpPr>
        <p:spPr>
          <a:xfrm>
            <a:off x="749808" y="261518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eGFR, ml/min/1.73 m²</a:t>
            </a:r>
            <a:endParaRPr lang="en-US" sz="1150" dirty="0"/>
          </a:p>
        </p:txBody>
      </p:sp>
      <p:sp>
        <p:nvSpPr>
          <p:cNvPr id="18" name="Text 16"/>
          <p:cNvSpPr/>
          <p:nvPr/>
        </p:nvSpPr>
        <p:spPr>
          <a:xfrm>
            <a:off x="6236208" y="261518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46.8</a:t>
            </a:r>
            <a:endParaRPr lang="en-US" sz="1150" dirty="0"/>
          </a:p>
        </p:txBody>
      </p:sp>
      <p:sp>
        <p:nvSpPr>
          <p:cNvPr id="19" name="Text 17"/>
          <p:cNvSpPr/>
          <p:nvPr/>
        </p:nvSpPr>
        <p:spPr>
          <a:xfrm>
            <a:off x="8979408" y="261518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46.6</a:t>
            </a:r>
            <a:endParaRPr lang="en-US" sz="1150" dirty="0"/>
          </a:p>
        </p:txBody>
      </p:sp>
      <p:sp>
        <p:nvSpPr>
          <p:cNvPr id="20" name="Shape 18"/>
          <p:cNvSpPr/>
          <p:nvPr/>
        </p:nvSpPr>
        <p:spPr>
          <a:xfrm>
            <a:off x="640080" y="3346704"/>
            <a:ext cx="10908792" cy="0"/>
          </a:xfrm>
          <a:prstGeom prst="line">
            <a:avLst/>
          </a:prstGeom>
          <a:noFill/>
          <a:ln w="9525">
            <a:solidFill>
              <a:srgbClr val="C9D6D6"/>
            </a:solidFill>
            <a:prstDash val="solid"/>
          </a:ln>
        </p:spPr>
      </p:sp>
      <p:sp>
        <p:nvSpPr>
          <p:cNvPr id="21" name="Text 19"/>
          <p:cNvSpPr/>
          <p:nvPr/>
        </p:nvSpPr>
        <p:spPr>
          <a:xfrm>
            <a:off x="749808" y="298094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eGFR &lt;60 ml/min/1.73 m², %</a:t>
            </a:r>
            <a:endParaRPr lang="en-US" sz="1150" dirty="0"/>
          </a:p>
        </p:txBody>
      </p:sp>
      <p:sp>
        <p:nvSpPr>
          <p:cNvPr id="22" name="Text 20"/>
          <p:cNvSpPr/>
          <p:nvPr/>
        </p:nvSpPr>
        <p:spPr>
          <a:xfrm>
            <a:off x="6236208" y="298094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79.6</a:t>
            </a:r>
            <a:endParaRPr lang="en-US" sz="1150" dirty="0"/>
          </a:p>
        </p:txBody>
      </p:sp>
      <p:sp>
        <p:nvSpPr>
          <p:cNvPr id="23" name="Text 21"/>
          <p:cNvSpPr/>
          <p:nvPr/>
        </p:nvSpPr>
        <p:spPr>
          <a:xfrm>
            <a:off x="8979408" y="298094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80.4</a:t>
            </a:r>
            <a:endParaRPr lang="en-US" sz="1150" dirty="0"/>
          </a:p>
        </p:txBody>
      </p:sp>
      <p:sp>
        <p:nvSpPr>
          <p:cNvPr id="24" name="Shape 22"/>
          <p:cNvSpPr/>
          <p:nvPr/>
        </p:nvSpPr>
        <p:spPr>
          <a:xfrm>
            <a:off x="640080" y="3712464"/>
            <a:ext cx="10908792" cy="0"/>
          </a:xfrm>
          <a:prstGeom prst="line">
            <a:avLst/>
          </a:prstGeom>
          <a:noFill/>
          <a:ln w="9525">
            <a:solidFill>
              <a:srgbClr val="C9D6D6"/>
            </a:solidFill>
            <a:prstDash val="solid"/>
          </a:ln>
        </p:spPr>
      </p:sp>
      <p:sp>
        <p:nvSpPr>
          <p:cNvPr id="25" name="Text 23"/>
          <p:cNvSpPr/>
          <p:nvPr/>
        </p:nvSpPr>
        <p:spPr>
          <a:xfrm>
            <a:off x="749808" y="334670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UACR, median (mg/g)</a:t>
            </a:r>
            <a:endParaRPr lang="en-US" sz="1150" dirty="0"/>
          </a:p>
        </p:txBody>
      </p:sp>
      <p:sp>
        <p:nvSpPr>
          <p:cNvPr id="26" name="Text 24"/>
          <p:cNvSpPr/>
          <p:nvPr/>
        </p:nvSpPr>
        <p:spPr>
          <a:xfrm>
            <a:off x="6236208" y="334670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827.5</a:t>
            </a:r>
            <a:endParaRPr lang="en-US" sz="1150" dirty="0"/>
          </a:p>
        </p:txBody>
      </p:sp>
      <p:sp>
        <p:nvSpPr>
          <p:cNvPr id="27" name="Text 25"/>
          <p:cNvSpPr/>
          <p:nvPr/>
        </p:nvSpPr>
        <p:spPr>
          <a:xfrm>
            <a:off x="8979408" y="334670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810.7</a:t>
            </a:r>
            <a:endParaRPr lang="en-US" sz="1150" dirty="0"/>
          </a:p>
        </p:txBody>
      </p:sp>
      <p:sp>
        <p:nvSpPr>
          <p:cNvPr id="28" name="Shape 26"/>
          <p:cNvSpPr/>
          <p:nvPr/>
        </p:nvSpPr>
        <p:spPr>
          <a:xfrm>
            <a:off x="640080" y="4078224"/>
            <a:ext cx="10908792" cy="0"/>
          </a:xfrm>
          <a:prstGeom prst="line">
            <a:avLst/>
          </a:prstGeom>
          <a:noFill/>
          <a:ln w="9525">
            <a:solidFill>
              <a:srgbClr val="C9D6D6"/>
            </a:solidFill>
            <a:prstDash val="solid"/>
          </a:ln>
        </p:spPr>
      </p:sp>
      <p:sp>
        <p:nvSpPr>
          <p:cNvPr id="29" name="Text 27"/>
          <p:cNvSpPr/>
          <p:nvPr/>
        </p:nvSpPr>
        <p:spPr>
          <a:xfrm>
            <a:off x="749808" y="371246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UACR &gt;1000 mg/g, %</a:t>
            </a:r>
            <a:endParaRPr lang="en-US" sz="1150" dirty="0"/>
          </a:p>
        </p:txBody>
      </p:sp>
      <p:sp>
        <p:nvSpPr>
          <p:cNvPr id="30" name="Text 28"/>
          <p:cNvSpPr/>
          <p:nvPr/>
        </p:nvSpPr>
        <p:spPr>
          <a:xfrm>
            <a:off x="6236208" y="371246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39.1</a:t>
            </a:r>
            <a:endParaRPr lang="en-US" sz="1150" dirty="0"/>
          </a:p>
        </p:txBody>
      </p:sp>
      <p:sp>
        <p:nvSpPr>
          <p:cNvPr id="31" name="Text 29"/>
          <p:cNvSpPr/>
          <p:nvPr/>
        </p:nvSpPr>
        <p:spPr>
          <a:xfrm>
            <a:off x="8979408" y="371246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35.7</a:t>
            </a:r>
            <a:endParaRPr lang="en-US" sz="1150" dirty="0"/>
          </a:p>
        </p:txBody>
      </p:sp>
      <p:sp>
        <p:nvSpPr>
          <p:cNvPr id="32" name="Shape 30"/>
          <p:cNvSpPr/>
          <p:nvPr/>
        </p:nvSpPr>
        <p:spPr>
          <a:xfrm>
            <a:off x="640080" y="4443984"/>
            <a:ext cx="10908792" cy="0"/>
          </a:xfrm>
          <a:prstGeom prst="line">
            <a:avLst/>
          </a:prstGeom>
          <a:noFill/>
          <a:ln w="9525">
            <a:solidFill>
              <a:srgbClr val="C9D6D6"/>
            </a:solidFill>
            <a:prstDash val="solid"/>
          </a:ln>
        </p:spPr>
      </p:sp>
      <p:sp>
        <p:nvSpPr>
          <p:cNvPr id="33" name="Text 31"/>
          <p:cNvSpPr/>
          <p:nvPr/>
        </p:nvSpPr>
        <p:spPr>
          <a:xfrm>
            <a:off x="749808" y="407822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Chronic glomerulonephritis, %</a:t>
            </a:r>
            <a:endParaRPr lang="en-US" sz="1150" dirty="0"/>
          </a:p>
        </p:txBody>
      </p:sp>
      <p:sp>
        <p:nvSpPr>
          <p:cNvPr id="34" name="Text 32"/>
          <p:cNvSpPr/>
          <p:nvPr/>
        </p:nvSpPr>
        <p:spPr>
          <a:xfrm>
            <a:off x="6236208" y="407822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56.2</a:t>
            </a:r>
            <a:endParaRPr lang="en-US" sz="1150" dirty="0"/>
          </a:p>
        </p:txBody>
      </p:sp>
      <p:sp>
        <p:nvSpPr>
          <p:cNvPr id="35" name="Text 33"/>
          <p:cNvSpPr/>
          <p:nvPr/>
        </p:nvSpPr>
        <p:spPr>
          <a:xfrm>
            <a:off x="8979408" y="407822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57.8</a:t>
            </a:r>
            <a:endParaRPr lang="en-US" sz="1150" dirty="0"/>
          </a:p>
        </p:txBody>
      </p:sp>
      <p:sp>
        <p:nvSpPr>
          <p:cNvPr id="36" name="Shape 34"/>
          <p:cNvSpPr/>
          <p:nvPr/>
        </p:nvSpPr>
        <p:spPr>
          <a:xfrm>
            <a:off x="640080" y="4809744"/>
            <a:ext cx="10908792" cy="0"/>
          </a:xfrm>
          <a:prstGeom prst="line">
            <a:avLst/>
          </a:prstGeom>
          <a:noFill/>
          <a:ln w="9525">
            <a:solidFill>
              <a:srgbClr val="C9D6D6"/>
            </a:solidFill>
            <a:prstDash val="solid"/>
          </a:ln>
        </p:spPr>
      </p:sp>
      <p:sp>
        <p:nvSpPr>
          <p:cNvPr id="37" name="Text 35"/>
          <p:cNvSpPr/>
          <p:nvPr/>
        </p:nvSpPr>
        <p:spPr>
          <a:xfrm>
            <a:off x="749808" y="444398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RAS inhibitor, %</a:t>
            </a:r>
            <a:endParaRPr lang="en-US" sz="1150" dirty="0"/>
          </a:p>
        </p:txBody>
      </p:sp>
      <p:sp>
        <p:nvSpPr>
          <p:cNvPr id="38" name="Text 36"/>
          <p:cNvSpPr/>
          <p:nvPr/>
        </p:nvSpPr>
        <p:spPr>
          <a:xfrm>
            <a:off x="6236208" y="444398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99.6</a:t>
            </a:r>
            <a:endParaRPr lang="en-US" sz="1150" dirty="0"/>
          </a:p>
        </p:txBody>
      </p:sp>
      <p:sp>
        <p:nvSpPr>
          <p:cNvPr id="39" name="Text 37"/>
          <p:cNvSpPr/>
          <p:nvPr/>
        </p:nvSpPr>
        <p:spPr>
          <a:xfrm>
            <a:off x="8979408" y="444398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99.7</a:t>
            </a:r>
            <a:endParaRPr lang="en-US" sz="1150" dirty="0"/>
          </a:p>
        </p:txBody>
      </p:sp>
      <p:sp>
        <p:nvSpPr>
          <p:cNvPr id="40" name="Shape 38"/>
          <p:cNvSpPr/>
          <p:nvPr/>
        </p:nvSpPr>
        <p:spPr>
          <a:xfrm>
            <a:off x="640080" y="5175504"/>
            <a:ext cx="10908792" cy="0"/>
          </a:xfrm>
          <a:prstGeom prst="line">
            <a:avLst/>
          </a:prstGeom>
          <a:noFill/>
          <a:ln w="9525">
            <a:solidFill>
              <a:srgbClr val="C9D6D6"/>
            </a:solidFill>
            <a:prstDash val="solid"/>
          </a:ln>
        </p:spPr>
      </p:sp>
      <p:sp>
        <p:nvSpPr>
          <p:cNvPr id="41" name="Text 39"/>
          <p:cNvSpPr/>
          <p:nvPr/>
        </p:nvSpPr>
        <p:spPr>
          <a:xfrm>
            <a:off x="749808" y="480974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SGLT2 inhibitor, %</a:t>
            </a:r>
            <a:endParaRPr lang="en-US" sz="1150" dirty="0"/>
          </a:p>
        </p:txBody>
      </p:sp>
      <p:sp>
        <p:nvSpPr>
          <p:cNvPr id="42" name="Text 40"/>
          <p:cNvSpPr/>
          <p:nvPr/>
        </p:nvSpPr>
        <p:spPr>
          <a:xfrm>
            <a:off x="6236208" y="480974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17.0</a:t>
            </a:r>
            <a:endParaRPr lang="en-US" sz="1150" dirty="0"/>
          </a:p>
        </p:txBody>
      </p:sp>
      <p:sp>
        <p:nvSpPr>
          <p:cNvPr id="43" name="Text 41"/>
          <p:cNvSpPr/>
          <p:nvPr/>
        </p:nvSpPr>
        <p:spPr>
          <a:xfrm>
            <a:off x="8979408" y="480974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17.1</a:t>
            </a:r>
            <a:endParaRPr lang="en-US" sz="1150" dirty="0"/>
          </a:p>
        </p:txBody>
      </p:sp>
      <p:sp>
        <p:nvSpPr>
          <p:cNvPr id="44" name="Text 42"/>
          <p:cNvSpPr/>
          <p:nvPr/>
        </p:nvSpPr>
        <p:spPr>
          <a:xfrm>
            <a:off x="640080" y="5358384"/>
            <a:ext cx="10908792" cy="548640"/>
          </a:xfrm>
          <a:prstGeom prst="rect">
            <a:avLst/>
          </a:prstGeom>
          <a:noFill/>
          <a:ln/>
        </p:spPr>
        <p:txBody>
          <a:bodyPr wrap="square" lIns="0" tIns="0" rIns="0" bIns="0" rtlCol="0" anchor="ctr"/>
          <a:lstStyle/>
          <a:p>
            <a:pPr indent="0" marL="0">
              <a:lnSpc>
                <a:spcPct val="115000"/>
              </a:lnSpc>
              <a:buNone/>
            </a:pPr>
            <a:r>
              <a:rPr lang="en-US" sz="1250" i="1" dirty="0">
                <a:solidFill>
                  <a:srgbClr val="667578"/>
                </a:solidFill>
                <a:latin typeface="Calibri" pitchFamily="34" charset="0"/>
                <a:ea typeface="Calibri" pitchFamily="34" charset="-122"/>
                <a:cs typeface="Calibri" pitchFamily="34" charset="-120"/>
              </a:rPr>
              <a:t>Nearly everyone was on a RAS inhibitor, but only about 1 in 6 was on an SGLT2 inhibitor: this is largely a RAS-inhibitor background. Median UACR ~819 mg/g confirms heavy albuminuria.</a:t>
            </a:r>
            <a:endParaRPr lang="en-US" sz="1250" dirty="0"/>
          </a:p>
        </p:txBody>
      </p:sp>
      <p:sp>
        <p:nvSpPr>
          <p:cNvPr id="45" name="Text 43"/>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Intervention, dosing and potassium management</a:t>
            </a:r>
            <a:endParaRPr lang="en-US" sz="2700" dirty="0"/>
          </a:p>
        </p:txBody>
      </p:sp>
      <p:sp>
        <p:nvSpPr>
          <p:cNvPr id="3" name="Text 1"/>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Starting dose by screening eGFR</a:t>
            </a:r>
            <a:endParaRPr lang="en-US" sz="1400" dirty="0"/>
          </a:p>
        </p:txBody>
      </p:sp>
      <p:sp>
        <p:nvSpPr>
          <p:cNvPr id="4" name="Shape 2"/>
          <p:cNvSpPr/>
          <p:nvPr/>
        </p:nvSpPr>
        <p:spPr>
          <a:xfrm>
            <a:off x="640080" y="1600200"/>
            <a:ext cx="5577840" cy="420624"/>
          </a:xfrm>
          <a:prstGeom prst="rect">
            <a:avLst/>
          </a:prstGeom>
          <a:solidFill>
            <a:srgbClr val="0B3D46"/>
          </a:solidFill>
          <a:ln/>
        </p:spPr>
      </p:sp>
      <p:sp>
        <p:nvSpPr>
          <p:cNvPr id="5" name="Text 3"/>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Screening eGFR</a:t>
            </a:r>
            <a:endParaRPr lang="en-US" sz="1200" dirty="0"/>
          </a:p>
        </p:txBody>
      </p:sp>
      <p:sp>
        <p:nvSpPr>
          <p:cNvPr id="6" name="Text 4"/>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Starting dose</a:t>
            </a:r>
            <a:endParaRPr lang="en-US" sz="1200" dirty="0"/>
          </a:p>
        </p:txBody>
      </p:sp>
      <p:sp>
        <p:nvSpPr>
          <p:cNvPr id="7" name="Shape 5"/>
          <p:cNvSpPr/>
          <p:nvPr/>
        </p:nvSpPr>
        <p:spPr>
          <a:xfrm>
            <a:off x="640080" y="2478024"/>
            <a:ext cx="5577840" cy="0"/>
          </a:xfrm>
          <a:prstGeom prst="line">
            <a:avLst/>
          </a:prstGeom>
          <a:noFill/>
          <a:ln w="9525">
            <a:solidFill>
              <a:srgbClr val="C9D6D6"/>
            </a:solidFill>
            <a:prstDash val="solid"/>
          </a:ln>
        </p:spPr>
      </p:sp>
      <p:sp>
        <p:nvSpPr>
          <p:cNvPr id="8" name="Text 6"/>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250" b="1" dirty="0">
                <a:solidFill>
                  <a:srgbClr val="0B3D46"/>
                </a:solidFill>
                <a:latin typeface="Calibri" pitchFamily="34" charset="0"/>
                <a:ea typeface="Calibri" pitchFamily="34" charset="-122"/>
                <a:cs typeface="Calibri" pitchFamily="34" charset="-120"/>
              </a:rPr>
              <a:t>≥ 60 ml/min/1.73 m²</a:t>
            </a:r>
            <a:endParaRPr lang="en-US" sz="1250" dirty="0"/>
          </a:p>
        </p:txBody>
      </p:sp>
      <p:sp>
        <p:nvSpPr>
          <p:cNvPr id="9" name="Text 7"/>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250" dirty="0">
                <a:solidFill>
                  <a:srgbClr val="203034"/>
                </a:solidFill>
                <a:latin typeface="Calibri" pitchFamily="34" charset="0"/>
                <a:ea typeface="Calibri" pitchFamily="34" charset="-122"/>
                <a:cs typeface="Calibri" pitchFamily="34" charset="-120"/>
              </a:rPr>
              <a:t>20 mg once daily</a:t>
            </a:r>
            <a:endParaRPr lang="en-US" sz="1250" dirty="0"/>
          </a:p>
        </p:txBody>
      </p:sp>
      <p:sp>
        <p:nvSpPr>
          <p:cNvPr id="10" name="Shape 8"/>
          <p:cNvSpPr/>
          <p:nvPr/>
        </p:nvSpPr>
        <p:spPr>
          <a:xfrm>
            <a:off x="640080" y="2935224"/>
            <a:ext cx="5577840" cy="0"/>
          </a:xfrm>
          <a:prstGeom prst="line">
            <a:avLst/>
          </a:prstGeom>
          <a:noFill/>
          <a:ln w="9525">
            <a:solidFill>
              <a:srgbClr val="C9D6D6"/>
            </a:solidFill>
            <a:prstDash val="solid"/>
          </a:ln>
        </p:spPr>
      </p:sp>
      <p:sp>
        <p:nvSpPr>
          <p:cNvPr id="11" name="Text 9"/>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250" b="1" dirty="0">
                <a:solidFill>
                  <a:srgbClr val="0B3D46"/>
                </a:solidFill>
                <a:latin typeface="Calibri" pitchFamily="34" charset="0"/>
                <a:ea typeface="Calibri" pitchFamily="34" charset="-122"/>
                <a:cs typeface="Calibri" pitchFamily="34" charset="-120"/>
              </a:rPr>
              <a:t>25 to &lt;60 ml/min/1.73 m²</a:t>
            </a:r>
            <a:endParaRPr lang="en-US" sz="1250" dirty="0"/>
          </a:p>
        </p:txBody>
      </p:sp>
      <p:sp>
        <p:nvSpPr>
          <p:cNvPr id="12" name="Text 10"/>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250" dirty="0">
                <a:solidFill>
                  <a:srgbClr val="203034"/>
                </a:solidFill>
                <a:latin typeface="Calibri" pitchFamily="34" charset="0"/>
                <a:ea typeface="Calibri" pitchFamily="34" charset="-122"/>
                <a:cs typeface="Calibri" pitchFamily="34" charset="-120"/>
              </a:rPr>
              <a:t>10 mg once daily</a:t>
            </a:r>
            <a:endParaRPr lang="en-US" sz="1250" dirty="0"/>
          </a:p>
        </p:txBody>
      </p:sp>
      <p:sp>
        <p:nvSpPr>
          <p:cNvPr id="13" name="Text 11"/>
          <p:cNvSpPr/>
          <p:nvPr/>
        </p:nvSpPr>
        <p:spPr>
          <a:xfrm>
            <a:off x="640080" y="3163824"/>
            <a:ext cx="5134356" cy="365760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00" dirty="0">
                <a:solidFill>
                  <a:srgbClr val="203034"/>
                </a:solidFill>
                <a:latin typeface="Calibri" pitchFamily="34" charset="0"/>
                <a:ea typeface="Calibri" pitchFamily="34" charset="-122"/>
                <a:cs typeface="Calibri" pitchFamily="34" charset="-120"/>
              </a:rPr>
              <a:t>Up-titrate 10 → 20 mg from month 1 if K⁺ ≤4.8 and eGFR is stable.</a:t>
            </a:r>
            <a:endParaRPr lang="en-US" sz="1200" dirty="0"/>
          </a:p>
          <a:p>
            <a:pPr marL="203200" indent="-203200">
              <a:lnSpc>
                <a:spcPct val="112000"/>
              </a:lnSpc>
              <a:spcAft>
                <a:spcPts val="800"/>
              </a:spcAft>
              <a:buSzPct val="100000"/>
              <a:buChar char="•"/>
            </a:pPr>
            <a:r>
              <a:rPr lang="en-US" sz="1200" dirty="0">
                <a:solidFill>
                  <a:srgbClr val="203034"/>
                </a:solidFill>
                <a:latin typeface="Calibri" pitchFamily="34" charset="0"/>
                <a:ea typeface="Calibri" pitchFamily="34" charset="-122"/>
                <a:cs typeface="Calibri" pitchFamily="34" charset="-120"/>
              </a:rPr>
              <a:t>K⁺ &gt;5.5 mmol/L: withhold for 72 h; restart at 10 mg once K⁺ ≤5.0.</a:t>
            </a:r>
            <a:endParaRPr lang="en-US" sz="1200" dirty="0"/>
          </a:p>
          <a:p>
            <a:pPr marL="203200" indent="-203200">
              <a:lnSpc>
                <a:spcPct val="112000"/>
              </a:lnSpc>
              <a:spcAft>
                <a:spcPts val="800"/>
              </a:spcAft>
              <a:buSzPct val="100000"/>
              <a:buChar char="•"/>
            </a:pPr>
            <a:r>
              <a:rPr lang="en-US" sz="1200" dirty="0">
                <a:solidFill>
                  <a:srgbClr val="203034"/>
                </a:solidFill>
                <a:latin typeface="Calibri" pitchFamily="34" charset="0"/>
                <a:ea typeface="Calibri" pitchFamily="34" charset="-122"/>
                <a:cs typeface="Calibri" pitchFamily="34" charset="-120"/>
              </a:rPr>
              <a:t>Central-lab potassium at every visit; dose reducible any time for safety.</a:t>
            </a:r>
            <a:endParaRPr lang="en-US" sz="1200" dirty="0"/>
          </a:p>
        </p:txBody>
      </p:sp>
      <p:sp>
        <p:nvSpPr>
          <p:cNvPr id="14" name="Text 12"/>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Visit schedule</a:t>
            </a:r>
            <a:endParaRPr lang="en-US" sz="1400" dirty="0"/>
          </a:p>
        </p:txBody>
      </p:sp>
      <p:sp>
        <p:nvSpPr>
          <p:cNvPr id="15" name="Text 13"/>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250" dirty="0">
                <a:solidFill>
                  <a:srgbClr val="203034"/>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250" dirty="0"/>
          </a:p>
        </p:txBody>
      </p:sp>
      <p:sp>
        <p:nvSpPr>
          <p:cNvPr id="16" name="Shape 14"/>
          <p:cNvSpPr/>
          <p:nvPr/>
        </p:nvSpPr>
        <p:spPr>
          <a:xfrm>
            <a:off x="6414516" y="3246120"/>
            <a:ext cx="5134356" cy="0"/>
          </a:xfrm>
          <a:prstGeom prst="line">
            <a:avLst/>
          </a:prstGeom>
          <a:noFill/>
          <a:ln w="25400">
            <a:solidFill>
              <a:srgbClr val="9AA7AD"/>
            </a:solidFill>
            <a:prstDash val="solid"/>
          </a:ln>
        </p:spPr>
      </p:sp>
      <p:sp>
        <p:nvSpPr>
          <p:cNvPr id="17" name="Shape 15"/>
          <p:cNvSpPr/>
          <p:nvPr/>
        </p:nvSpPr>
        <p:spPr>
          <a:xfrm>
            <a:off x="6364224" y="3195828"/>
            <a:ext cx="100584" cy="100584"/>
          </a:xfrm>
          <a:prstGeom prst="ellipse">
            <a:avLst/>
          </a:prstGeom>
          <a:solidFill>
            <a:srgbClr val="0E7C86"/>
          </a:solidFill>
          <a:ln/>
        </p:spPr>
      </p:sp>
      <p:sp>
        <p:nvSpPr>
          <p:cNvPr id="18" name="Text 16"/>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203034"/>
                </a:solidFill>
                <a:latin typeface="Calibri" pitchFamily="34" charset="0"/>
                <a:ea typeface="Calibri" pitchFamily="34" charset="-122"/>
                <a:cs typeface="Calibri" pitchFamily="34" charset="-120"/>
              </a:rPr>
              <a:t>Base</a:t>
            </a:r>
            <a:endParaRPr lang="en-US" sz="900" dirty="0"/>
          </a:p>
        </p:txBody>
      </p:sp>
      <p:sp>
        <p:nvSpPr>
          <p:cNvPr id="19" name="Shape 17"/>
          <p:cNvSpPr/>
          <p:nvPr/>
        </p:nvSpPr>
        <p:spPr>
          <a:xfrm>
            <a:off x="7097703" y="3195828"/>
            <a:ext cx="100584" cy="100584"/>
          </a:xfrm>
          <a:prstGeom prst="ellipse">
            <a:avLst/>
          </a:prstGeom>
          <a:solidFill>
            <a:srgbClr val="0E7C86"/>
          </a:solidFill>
          <a:ln/>
        </p:spPr>
      </p:sp>
      <p:sp>
        <p:nvSpPr>
          <p:cNvPr id="20" name="Text 18"/>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203034"/>
                </a:solidFill>
                <a:latin typeface="Calibri" pitchFamily="34" charset="0"/>
                <a:ea typeface="Calibri" pitchFamily="34" charset="-122"/>
                <a:cs typeface="Calibri" pitchFamily="34" charset="-120"/>
              </a:rPr>
              <a:t>M1</a:t>
            </a:r>
            <a:endParaRPr lang="en-US" sz="900" dirty="0"/>
          </a:p>
        </p:txBody>
      </p:sp>
      <p:sp>
        <p:nvSpPr>
          <p:cNvPr id="21" name="Shape 19"/>
          <p:cNvSpPr/>
          <p:nvPr/>
        </p:nvSpPr>
        <p:spPr>
          <a:xfrm>
            <a:off x="7831183" y="3195828"/>
            <a:ext cx="100584" cy="100584"/>
          </a:xfrm>
          <a:prstGeom prst="ellipse">
            <a:avLst/>
          </a:prstGeom>
          <a:solidFill>
            <a:srgbClr val="0E7C86"/>
          </a:solidFill>
          <a:ln/>
        </p:spPr>
      </p:sp>
      <p:sp>
        <p:nvSpPr>
          <p:cNvPr id="22" name="Text 20"/>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203034"/>
                </a:solidFill>
                <a:latin typeface="Calibri" pitchFamily="34" charset="0"/>
                <a:ea typeface="Calibri" pitchFamily="34" charset="-122"/>
                <a:cs typeface="Calibri" pitchFamily="34" charset="-120"/>
              </a:rPr>
              <a:t>M3</a:t>
            </a:r>
            <a:endParaRPr lang="en-US" sz="900" dirty="0"/>
          </a:p>
        </p:txBody>
      </p:sp>
      <p:sp>
        <p:nvSpPr>
          <p:cNvPr id="23" name="Shape 21"/>
          <p:cNvSpPr/>
          <p:nvPr/>
        </p:nvSpPr>
        <p:spPr>
          <a:xfrm>
            <a:off x="8564662" y="3195828"/>
            <a:ext cx="100584" cy="100584"/>
          </a:xfrm>
          <a:prstGeom prst="ellipse">
            <a:avLst/>
          </a:prstGeom>
          <a:solidFill>
            <a:srgbClr val="0E7C86"/>
          </a:solidFill>
          <a:ln/>
        </p:spPr>
      </p:sp>
      <p:sp>
        <p:nvSpPr>
          <p:cNvPr id="24" name="Text 22"/>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203034"/>
                </a:solidFill>
                <a:latin typeface="Calibri" pitchFamily="34" charset="0"/>
                <a:ea typeface="Calibri" pitchFamily="34" charset="-122"/>
                <a:cs typeface="Calibri" pitchFamily="34" charset="-120"/>
              </a:rPr>
              <a:t>M6</a:t>
            </a:r>
            <a:endParaRPr lang="en-US" sz="900" dirty="0"/>
          </a:p>
        </p:txBody>
      </p:sp>
      <p:sp>
        <p:nvSpPr>
          <p:cNvPr id="25" name="Shape 23"/>
          <p:cNvSpPr/>
          <p:nvPr/>
        </p:nvSpPr>
        <p:spPr>
          <a:xfrm>
            <a:off x="9298142" y="3195828"/>
            <a:ext cx="100584" cy="100584"/>
          </a:xfrm>
          <a:prstGeom prst="ellipse">
            <a:avLst/>
          </a:prstGeom>
          <a:solidFill>
            <a:srgbClr val="0E7C86"/>
          </a:solidFill>
          <a:ln/>
        </p:spPr>
      </p:sp>
      <p:sp>
        <p:nvSpPr>
          <p:cNvPr id="26" name="Text 24"/>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203034"/>
                </a:solidFill>
                <a:latin typeface="Calibri" pitchFamily="34" charset="0"/>
                <a:ea typeface="Calibri" pitchFamily="34" charset="-122"/>
                <a:cs typeface="Calibri" pitchFamily="34" charset="-120"/>
              </a:rPr>
              <a:t>M12</a:t>
            </a:r>
            <a:endParaRPr lang="en-US" sz="900" dirty="0"/>
          </a:p>
        </p:txBody>
      </p:sp>
      <p:sp>
        <p:nvSpPr>
          <p:cNvPr id="27" name="Shape 25"/>
          <p:cNvSpPr/>
          <p:nvPr/>
        </p:nvSpPr>
        <p:spPr>
          <a:xfrm>
            <a:off x="10031621" y="3195828"/>
            <a:ext cx="100584" cy="100584"/>
          </a:xfrm>
          <a:prstGeom prst="ellipse">
            <a:avLst/>
          </a:prstGeom>
          <a:solidFill>
            <a:srgbClr val="0E7C86"/>
          </a:solidFill>
          <a:ln/>
        </p:spPr>
      </p:sp>
      <p:sp>
        <p:nvSpPr>
          <p:cNvPr id="28" name="Text 26"/>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203034"/>
                </a:solidFill>
                <a:latin typeface="Calibri" pitchFamily="34" charset="0"/>
                <a:ea typeface="Calibri" pitchFamily="34" charset="-122"/>
                <a:cs typeface="Calibri" pitchFamily="34" charset="-120"/>
              </a:rPr>
              <a:t>q4mo</a:t>
            </a:r>
            <a:endParaRPr lang="en-US" sz="900" dirty="0"/>
          </a:p>
        </p:txBody>
      </p:sp>
      <p:sp>
        <p:nvSpPr>
          <p:cNvPr id="29" name="Shape 27"/>
          <p:cNvSpPr/>
          <p:nvPr/>
        </p:nvSpPr>
        <p:spPr>
          <a:xfrm>
            <a:off x="10765101" y="3195828"/>
            <a:ext cx="100584" cy="100584"/>
          </a:xfrm>
          <a:prstGeom prst="ellipse">
            <a:avLst/>
          </a:prstGeom>
          <a:solidFill>
            <a:srgbClr val="C67A22"/>
          </a:solidFill>
          <a:ln/>
        </p:spPr>
      </p:sp>
      <p:sp>
        <p:nvSpPr>
          <p:cNvPr id="30" name="Text 28"/>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203034"/>
                </a:solidFill>
                <a:latin typeface="Calibri" pitchFamily="34" charset="0"/>
                <a:ea typeface="Calibri" pitchFamily="34" charset="-122"/>
                <a:cs typeface="Calibri" pitchFamily="34" charset="-120"/>
              </a:rPr>
              <a:t>M32</a:t>
            </a:r>
            <a:endParaRPr lang="en-US" sz="900" dirty="0"/>
          </a:p>
        </p:txBody>
      </p:sp>
      <p:sp>
        <p:nvSpPr>
          <p:cNvPr id="31" name="Shape 29"/>
          <p:cNvSpPr/>
          <p:nvPr/>
        </p:nvSpPr>
        <p:spPr>
          <a:xfrm>
            <a:off x="11498580" y="3195828"/>
            <a:ext cx="100584" cy="100584"/>
          </a:xfrm>
          <a:prstGeom prst="ellipse">
            <a:avLst/>
          </a:prstGeom>
          <a:solidFill>
            <a:srgbClr val="C67A22"/>
          </a:solidFill>
          <a:ln/>
        </p:spPr>
      </p:sp>
      <p:sp>
        <p:nvSpPr>
          <p:cNvPr id="32" name="Text 30"/>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203034"/>
                </a:solidFill>
                <a:latin typeface="Calibri" pitchFamily="34" charset="0"/>
                <a:ea typeface="Calibri" pitchFamily="34" charset="-122"/>
                <a:cs typeface="Calibri" pitchFamily="34" charset="-120"/>
              </a:rPr>
              <a:t>+4wk</a:t>
            </a:r>
            <a:endParaRPr lang="en-US" sz="900" dirty="0"/>
          </a:p>
        </p:txBody>
      </p:sp>
      <p:sp>
        <p:nvSpPr>
          <p:cNvPr id="33" name="Text 31"/>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100" i="1" dirty="0">
                <a:solidFill>
                  <a:srgbClr val="667578"/>
                </a:solidFill>
                <a:latin typeface="Calibri" pitchFamily="34" charset="0"/>
                <a:ea typeface="Calibri" pitchFamily="34" charset="-122"/>
                <a:cs typeface="Calibri" pitchFamily="34" charset="-120"/>
              </a:rPr>
              <a:t>The off-treatment visit isolates the reversible (hemodynamic) part of the eGFR effect.</a:t>
            </a:r>
            <a:endParaRPr lang="en-US" sz="1100" dirty="0"/>
          </a:p>
        </p:txBody>
      </p:sp>
      <p:sp>
        <p:nvSpPr>
          <p:cNvPr id="34" name="Text 32"/>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Endpoints</a:t>
            </a:r>
            <a:endParaRPr lang="en-US" sz="2700" dirty="0"/>
          </a:p>
        </p:txBody>
      </p:sp>
      <p:sp>
        <p:nvSpPr>
          <p:cNvPr id="3" name="Text 1"/>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500" b="1" dirty="0">
                <a:solidFill>
                  <a:srgbClr val="0E7C86"/>
                </a:solidFill>
                <a:latin typeface="Calibri" pitchFamily="34" charset="0"/>
                <a:ea typeface="Calibri" pitchFamily="34" charset="-122"/>
                <a:cs typeface="Calibri" pitchFamily="34" charset="-120"/>
              </a:rPr>
              <a:t>Primary outcome    </a:t>
            </a:r>
            <a:pPr indent="0" marL="0">
              <a:lnSpc>
                <a:spcPct val="115000"/>
              </a:lnSpc>
              <a:buNone/>
            </a:pPr>
            <a:r>
              <a:rPr lang="en-US" sz="1400" dirty="0">
                <a:solidFill>
                  <a:srgbClr val="203034"/>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500" dirty="0"/>
          </a:p>
        </p:txBody>
      </p:sp>
      <p:sp>
        <p:nvSpPr>
          <p:cNvPr id="4" name="Text 2"/>
          <p:cNvSpPr/>
          <p:nvPr/>
        </p:nvSpPr>
        <p:spPr>
          <a:xfrm>
            <a:off x="640080" y="2103120"/>
            <a:ext cx="10908792"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Secondary outcomes (pre-specified hierarchical testing)</a:t>
            </a:r>
            <a:endParaRPr lang="en-US" sz="1400" dirty="0"/>
          </a:p>
        </p:txBody>
      </p:sp>
      <p:sp>
        <p:nvSpPr>
          <p:cNvPr id="5" name="Text 3"/>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350" dirty="0">
                <a:solidFill>
                  <a:srgbClr val="203034"/>
                </a:solidFill>
                <a:latin typeface="Calibri" pitchFamily="34" charset="0"/>
                <a:ea typeface="Calibri" pitchFamily="34" charset="-122"/>
                <a:cs typeface="Calibri" pitchFamily="34" charset="-120"/>
              </a:rPr>
              <a:t>1.  Composite kidney–CV: sustained ≥57% eGFR decline, kidney failure, HF hospitalization, or CV death</a:t>
            </a:r>
            <a:endParaRPr lang="en-US" sz="1350" dirty="0"/>
          </a:p>
          <a:p>
            <a:pPr indent="0" marL="0">
              <a:lnSpc>
                <a:spcPct val="115000"/>
              </a:lnSpc>
              <a:spcAft>
                <a:spcPts val="600"/>
              </a:spcAft>
              <a:buNone/>
            </a:pPr>
            <a:r>
              <a:rPr lang="en-US" sz="1350" dirty="0">
                <a:solidFill>
                  <a:srgbClr val="203034"/>
                </a:solidFill>
                <a:latin typeface="Calibri" pitchFamily="34" charset="0"/>
                <a:ea typeface="Calibri" pitchFamily="34" charset="-122"/>
                <a:cs typeface="Calibri" pitchFamily="34" charset="-120"/>
              </a:rPr>
              <a:t>2.  Composite kidney: sustained ≥57% eGFR decline or kidney failure</a:t>
            </a:r>
            <a:endParaRPr lang="en-US" sz="1350" dirty="0"/>
          </a:p>
          <a:p>
            <a:pPr indent="0" marL="0">
              <a:lnSpc>
                <a:spcPct val="115000"/>
              </a:lnSpc>
              <a:spcAft>
                <a:spcPts val="600"/>
              </a:spcAft>
              <a:buNone/>
            </a:pPr>
            <a:r>
              <a:rPr lang="en-US" sz="1350" dirty="0">
                <a:solidFill>
                  <a:srgbClr val="203034"/>
                </a:solidFill>
                <a:latin typeface="Calibri" pitchFamily="34" charset="0"/>
                <a:ea typeface="Calibri" pitchFamily="34" charset="-122"/>
                <a:cs typeface="Calibri" pitchFamily="34" charset="-120"/>
              </a:rPr>
              <a:t>3.  Composite CV: HF hospitalization or CV death</a:t>
            </a:r>
            <a:endParaRPr lang="en-US" sz="1350" dirty="0"/>
          </a:p>
        </p:txBody>
      </p:sp>
      <p:sp>
        <p:nvSpPr>
          <p:cNvPr id="6" name="Text 4"/>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250" b="1" dirty="0">
                <a:solidFill>
                  <a:srgbClr val="0B3D46"/>
                </a:solidFill>
                <a:latin typeface="Calibri" pitchFamily="34" charset="0"/>
                <a:ea typeface="Calibri" pitchFamily="34" charset="-122"/>
                <a:cs typeface="Calibri" pitchFamily="34" charset="-120"/>
              </a:rPr>
              <a:t>Definitions.  </a:t>
            </a:r>
            <a:pPr indent="0" marL="0">
              <a:lnSpc>
                <a:spcPct val="115000"/>
              </a:lnSpc>
              <a:buNone/>
            </a:pPr>
            <a:r>
              <a:rPr lang="en-US" sz="1250" dirty="0">
                <a:solidFill>
                  <a:srgbClr val="203034"/>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250" dirty="0"/>
          </a:p>
        </p:txBody>
      </p:sp>
      <p:sp>
        <p:nvSpPr>
          <p:cNvPr id="7" name="Text 5"/>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250" b="1" dirty="0">
                <a:solidFill>
                  <a:srgbClr val="0B3D46"/>
                </a:solidFill>
                <a:latin typeface="Calibri" pitchFamily="34" charset="0"/>
                <a:ea typeface="Calibri" pitchFamily="34" charset="-122"/>
                <a:cs typeface="Calibri" pitchFamily="34" charset="-120"/>
              </a:rPr>
              <a:t>Exploratory.  </a:t>
            </a:r>
            <a:pPr indent="0" marL="0">
              <a:lnSpc>
                <a:spcPct val="115000"/>
              </a:lnSpc>
              <a:buNone/>
            </a:pPr>
            <a:r>
              <a:rPr lang="en-US" sz="1250" dirty="0">
                <a:solidFill>
                  <a:srgbClr val="203034"/>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250" dirty="0"/>
          </a:p>
        </p:txBody>
      </p:sp>
      <p:sp>
        <p:nvSpPr>
          <p:cNvPr id="8" name="Text 6"/>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Statistical approach, and why eGFR slope</a:t>
            </a:r>
            <a:endParaRPr lang="en-US" sz="2700" dirty="0"/>
          </a:p>
        </p:txBody>
      </p:sp>
      <p:sp>
        <p:nvSpPr>
          <p:cNvPr id="3" name="Text 1"/>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The primary model</a:t>
            </a:r>
            <a:endParaRPr lang="en-US" sz="1400" dirty="0"/>
          </a:p>
        </p:txBody>
      </p:sp>
      <p:sp>
        <p:nvSpPr>
          <p:cNvPr id="4" name="Text 2"/>
          <p:cNvSpPr/>
          <p:nvPr/>
        </p:nvSpPr>
        <p:spPr>
          <a:xfrm>
            <a:off x="640080" y="1627632"/>
            <a:ext cx="5134356" cy="365760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300" dirty="0">
                <a:solidFill>
                  <a:srgbClr val="203034"/>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300" dirty="0"/>
          </a:p>
          <a:p>
            <a:pPr marL="203200" indent="-203200">
              <a:lnSpc>
                <a:spcPct val="115000"/>
              </a:lnSpc>
              <a:spcAft>
                <a:spcPts val="1100"/>
              </a:spcAft>
              <a:buSzPct val="100000"/>
              <a:buChar char="•"/>
            </a:pPr>
            <a:r>
              <a:rPr lang="en-US" sz="1300" dirty="0">
                <a:solidFill>
                  <a:srgbClr val="203034"/>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300" dirty="0"/>
          </a:p>
          <a:p>
            <a:pPr marL="203200" indent="-203200">
              <a:lnSpc>
                <a:spcPct val="115000"/>
              </a:lnSpc>
              <a:spcAft>
                <a:spcPts val="1100"/>
              </a:spcAft>
              <a:buSzPct val="100000"/>
              <a:buChar char="•"/>
            </a:pPr>
            <a:r>
              <a:rPr lang="en-US" sz="1300" dirty="0">
                <a:solidFill>
                  <a:srgbClr val="203034"/>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300" dirty="0"/>
          </a:p>
        </p:txBody>
      </p:sp>
      <p:sp>
        <p:nvSpPr>
          <p:cNvPr id="5" name="Text 3"/>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Why slope, and is it fair</a:t>
            </a:r>
            <a:endParaRPr lang="en-US" sz="1400" dirty="0"/>
          </a:p>
        </p:txBody>
      </p:sp>
      <p:sp>
        <p:nvSpPr>
          <p:cNvPr id="6" name="Text 4"/>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500" b="1" dirty="0">
                <a:solidFill>
                  <a:srgbClr val="0E7C86"/>
                </a:solidFill>
                <a:latin typeface="Calibri" pitchFamily="34" charset="0"/>
                <a:ea typeface="Calibri" pitchFamily="34" charset="-122"/>
                <a:cs typeface="Calibri" pitchFamily="34" charset="-120"/>
              </a:rPr>
              <a:t>1500 participants </a:t>
            </a:r>
            <a:pPr indent="0" marL="0">
              <a:lnSpc>
                <a:spcPct val="120000"/>
              </a:lnSpc>
              <a:buNone/>
            </a:pPr>
            <a:r>
              <a:rPr lang="en-US" sz="1300" dirty="0">
                <a:solidFill>
                  <a:srgbClr val="203034"/>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500" dirty="0"/>
          </a:p>
        </p:txBody>
      </p:sp>
      <p:sp>
        <p:nvSpPr>
          <p:cNvPr id="7" name="Text 5"/>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300" i="1" dirty="0">
                <a:solidFill>
                  <a:srgbClr val="667578"/>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The slope is an accepted surrogate, but a surrogate all the same.</a:t>
            </a:r>
            <a:endParaRPr lang="en-US" sz="1300" dirty="0"/>
          </a:p>
        </p:txBody>
      </p:sp>
      <p:sp>
        <p:nvSpPr>
          <p:cNvPr id="8" name="Text 6"/>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Primary result: eGFR change over time</a:t>
            </a:r>
            <a:endParaRPr lang="en-US" sz="2700" dirty="0"/>
          </a:p>
        </p:txBody>
      </p:sp>
      <p:graphicFrame>
        <p:nvGraphicFramePr>
          <p:cNvPr id="3" name="Chart 0" descr=""/>
          <p:cNvGraphicFramePr/>
          <p:nvPr/>
        </p:nvGraphicFramePr>
        <p:xfrm>
          <a:off x="640080" y="1234440"/>
          <a:ext cx="76809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8595360" y="1554480"/>
            <a:ext cx="2953512" cy="1371600"/>
          </a:xfrm>
          <a:prstGeom prst="rect">
            <a:avLst/>
          </a:prstGeom>
          <a:noFill/>
          <a:ln/>
        </p:spPr>
        <p:txBody>
          <a:bodyPr wrap="square" lIns="0" tIns="0" rIns="0" bIns="0" rtlCol="0" anchor="ctr"/>
          <a:lstStyle/>
          <a:p>
            <a:pPr indent="0" marL="0">
              <a:lnSpc>
                <a:spcPct val="120000"/>
              </a:lnSpc>
              <a:buNone/>
            </a:pPr>
            <a:r>
              <a:rPr lang="en-US" sz="1300" b="1" dirty="0">
                <a:solidFill>
                  <a:srgbClr val="C67A22"/>
                </a:solidFill>
                <a:latin typeface="Calibri" pitchFamily="34" charset="0"/>
                <a:ea typeface="Calibri" pitchFamily="34" charset="-122"/>
                <a:cs typeface="Calibri" pitchFamily="34" charset="-120"/>
              </a:rPr>
              <a:t>Early crossover.  </a:t>
            </a:r>
            <a:pPr indent="0" marL="0">
              <a:lnSpc>
                <a:spcPct val="120000"/>
              </a:lnSpc>
              <a:buNone/>
            </a:pPr>
            <a:r>
              <a:rPr lang="en-US" sz="1300" dirty="0">
                <a:solidFill>
                  <a:srgbClr val="203034"/>
                </a:solidFill>
                <a:latin typeface="Calibri" pitchFamily="34" charset="0"/>
                <a:ea typeface="Calibri" pitchFamily="34" charset="-122"/>
                <a:cs typeface="Calibri" pitchFamily="34" charset="-120"/>
              </a:rPr>
              <a:t>Finerenone dips faster through month 3 (reversible hemodynamic effect), then declines more slowly and pulls ahead.</a:t>
            </a:r>
            <a:endParaRPr lang="en-US" sz="1300" dirty="0"/>
          </a:p>
        </p:txBody>
      </p:sp>
      <p:sp>
        <p:nvSpPr>
          <p:cNvPr id="5" name="Text 2"/>
          <p:cNvSpPr/>
          <p:nvPr/>
        </p:nvSpPr>
        <p:spPr>
          <a:xfrm>
            <a:off x="8595360" y="3063240"/>
            <a:ext cx="2953512" cy="914400"/>
          </a:xfrm>
          <a:prstGeom prst="rect">
            <a:avLst/>
          </a:prstGeom>
          <a:noFill/>
          <a:ln/>
        </p:spPr>
        <p:txBody>
          <a:bodyPr wrap="square" lIns="0" tIns="0" rIns="0" bIns="0" rtlCol="0" anchor="ctr"/>
          <a:lstStyle/>
          <a:p>
            <a:pPr indent="0" marL="0">
              <a:lnSpc>
                <a:spcPct val="120000"/>
              </a:lnSpc>
              <a:buNone/>
            </a:pPr>
            <a:r>
              <a:rPr lang="en-US" sz="1300" b="1" dirty="0">
                <a:solidFill>
                  <a:srgbClr val="0E7C86"/>
                </a:solidFill>
                <a:latin typeface="Calibri" pitchFamily="34" charset="0"/>
                <a:ea typeface="Calibri" pitchFamily="34" charset="-122"/>
                <a:cs typeface="Calibri" pitchFamily="34" charset="-120"/>
              </a:rPr>
              <a:t>At month 32.  </a:t>
            </a:r>
            <a:pPr indent="0" marL="0">
              <a:lnSpc>
                <a:spcPct val="120000"/>
              </a:lnSpc>
              <a:buNone/>
            </a:pPr>
            <a:r>
              <a:rPr lang="en-US" sz="1300" dirty="0">
                <a:solidFill>
                  <a:srgbClr val="203034"/>
                </a:solidFill>
                <a:latin typeface="Calibri" pitchFamily="34" charset="0"/>
                <a:ea typeface="Calibri" pitchFamily="34" charset="-122"/>
                <a:cs typeface="Calibri" pitchFamily="34" charset="-120"/>
              </a:rPr>
              <a:t>Mean eGFR 39.4 (finerenone) vs 38.1 (placebo).</a:t>
            </a:r>
            <a:endParaRPr lang="en-US" sz="1300" dirty="0"/>
          </a:p>
        </p:txBody>
      </p:sp>
      <p:sp>
        <p:nvSpPr>
          <p:cNvPr id="6" name="Text 3"/>
          <p:cNvSpPr/>
          <p:nvPr/>
        </p:nvSpPr>
        <p:spPr>
          <a:xfrm>
            <a:off x="8595360" y="4114800"/>
            <a:ext cx="2953512" cy="1737360"/>
          </a:xfrm>
          <a:prstGeom prst="rect">
            <a:avLst/>
          </a:prstGeom>
          <a:noFill/>
          <a:ln/>
        </p:spPr>
        <p:txBody>
          <a:bodyPr wrap="square" lIns="0" tIns="0" rIns="0" bIns="0" rtlCol="0" anchor="ctr"/>
          <a:lstStyle/>
          <a:p>
            <a:pPr indent="0" marL="0">
              <a:lnSpc>
                <a:spcPct val="120000"/>
              </a:lnSpc>
              <a:buNone/>
            </a:pPr>
            <a:r>
              <a:rPr lang="en-US" sz="1300" b="1" dirty="0">
                <a:solidFill>
                  <a:srgbClr val="0B3D46"/>
                </a:solidFill>
                <a:latin typeface="Calibri" pitchFamily="34" charset="0"/>
                <a:ea typeface="Calibri" pitchFamily="34" charset="-122"/>
                <a:cs typeface="Calibri" pitchFamily="34" charset="-120"/>
              </a:rPr>
              <a:t>Off-treatment.  </a:t>
            </a:r>
            <a:pPr indent="0" marL="0">
              <a:lnSpc>
                <a:spcPct val="120000"/>
              </a:lnSpc>
              <a:buNone/>
            </a:pPr>
            <a:r>
              <a:rPr lang="en-US" sz="1300" dirty="0">
                <a:solidFill>
                  <a:srgbClr val="203034"/>
                </a:solidFill>
                <a:latin typeface="Calibri" pitchFamily="34" charset="0"/>
                <a:ea typeface="Calibri" pitchFamily="34" charset="-122"/>
                <a:cs typeface="Calibri" pitchFamily="34" charset="-120"/>
              </a:rPr>
              <a:t>Four weeks after stopping, eGFR rose with finerenone and kept falling with placebo (−8.8 vs −11.2; difference 2.4). The dip reverses.</a:t>
            </a:r>
            <a:endParaRPr lang="en-US" sz="1300" dirty="0"/>
          </a:p>
        </p:txBody>
      </p:sp>
      <p:sp>
        <p:nvSpPr>
          <p:cNvPr id="7" name="Text 4"/>
          <p:cNvSpPr/>
          <p:nvPr/>
        </p:nvSpPr>
        <p:spPr>
          <a:xfrm>
            <a:off x="640080" y="6492240"/>
            <a:ext cx="8686800" cy="219456"/>
          </a:xfrm>
          <a:prstGeom prst="rect">
            <a:avLst/>
          </a:prstGeom>
          <a:noFill/>
          <a:ln/>
        </p:spPr>
        <p:txBody>
          <a:bodyPr wrap="square" lIns="0" tIns="0" rIns="0" bIns="0" rtlCol="0" anchor="ctr"/>
          <a:lstStyle/>
          <a:p>
            <a:pPr indent="0" marL="0">
              <a:buNone/>
            </a:pPr>
            <a:r>
              <a:rPr lang="en-US" sz="850" i="1" dirty="0">
                <a:solidFill>
                  <a:srgbClr val="667578"/>
                </a:solidFill>
                <a:latin typeface="Calibri" pitchFamily="34" charset="0"/>
                <a:ea typeface="Calibri" pitchFamily="34" charset="-122"/>
                <a:cs typeface="Calibri" pitchFamily="34" charset="-120"/>
              </a:rPr>
              <a:t>Adapted from Figure 1A (curve reconstructed from reported values).</a:t>
            </a:r>
            <a:endParaRPr lang="en-US" sz="850" dirty="0"/>
          </a:p>
        </p:txBody>
      </p:sp>
      <p:sp>
        <p:nvSpPr>
          <p:cNvPr id="8" name="Text 5"/>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Primary result: total, acute and chronic slope</a:t>
            </a:r>
            <a:endParaRPr lang="en-US" sz="2700" dirty="0"/>
          </a:p>
        </p:txBody>
      </p:sp>
      <p:graphicFrame>
        <p:nvGraphicFramePr>
          <p:cNvPr id="3" name="Chart 0" descr=""/>
          <p:cNvGraphicFramePr/>
          <p:nvPr/>
        </p:nvGraphicFramePr>
        <p:xfrm>
          <a:off x="640080" y="1280160"/>
          <a:ext cx="7040880" cy="4663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955280" y="1554480"/>
            <a:ext cx="3593592" cy="420624"/>
          </a:xfrm>
          <a:prstGeom prst="rect">
            <a:avLst/>
          </a:prstGeom>
          <a:solidFill>
            <a:srgbClr val="0B3D46"/>
          </a:solidFill>
          <a:ln/>
        </p:spPr>
      </p:sp>
      <p:sp>
        <p:nvSpPr>
          <p:cNvPr id="5" name="Text 2"/>
          <p:cNvSpPr/>
          <p:nvPr/>
        </p:nvSpPr>
        <p:spPr>
          <a:xfrm>
            <a:off x="8065008" y="1554480"/>
            <a:ext cx="1326429"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Difference</a:t>
            </a:r>
            <a:endParaRPr lang="en-US" sz="1200" dirty="0"/>
          </a:p>
        </p:txBody>
      </p:sp>
      <p:sp>
        <p:nvSpPr>
          <p:cNvPr id="6" name="Text 3"/>
          <p:cNvSpPr/>
          <p:nvPr/>
        </p:nvSpPr>
        <p:spPr>
          <a:xfrm>
            <a:off x="9574317" y="1554480"/>
            <a:ext cx="823326"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Estimate</a:t>
            </a:r>
            <a:endParaRPr lang="en-US" sz="1200" dirty="0"/>
          </a:p>
        </p:txBody>
      </p:sp>
      <p:sp>
        <p:nvSpPr>
          <p:cNvPr id="7" name="Text 4"/>
          <p:cNvSpPr/>
          <p:nvPr/>
        </p:nvSpPr>
        <p:spPr>
          <a:xfrm>
            <a:off x="10580522" y="1554480"/>
            <a:ext cx="895198"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95% CI</a:t>
            </a:r>
            <a:endParaRPr lang="en-US" sz="1200" dirty="0"/>
          </a:p>
        </p:txBody>
      </p:sp>
      <p:sp>
        <p:nvSpPr>
          <p:cNvPr id="8" name="Shape 5"/>
          <p:cNvSpPr/>
          <p:nvPr/>
        </p:nvSpPr>
        <p:spPr>
          <a:xfrm>
            <a:off x="7955280" y="2542032"/>
            <a:ext cx="3593592" cy="0"/>
          </a:xfrm>
          <a:prstGeom prst="line">
            <a:avLst/>
          </a:prstGeom>
          <a:noFill/>
          <a:ln w="9525">
            <a:solidFill>
              <a:srgbClr val="C9D6D6"/>
            </a:solidFill>
            <a:prstDash val="solid"/>
          </a:ln>
        </p:spPr>
      </p:sp>
      <p:sp>
        <p:nvSpPr>
          <p:cNvPr id="9" name="Text 6"/>
          <p:cNvSpPr/>
          <p:nvPr/>
        </p:nvSpPr>
        <p:spPr>
          <a:xfrm>
            <a:off x="8065008" y="1975104"/>
            <a:ext cx="1326429" cy="566928"/>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Total</a:t>
            </a:r>
            <a:endParaRPr lang="en-US" sz="1150" dirty="0"/>
          </a:p>
        </p:txBody>
      </p:sp>
      <p:sp>
        <p:nvSpPr>
          <p:cNvPr id="10" name="Text 7"/>
          <p:cNvSpPr/>
          <p:nvPr/>
        </p:nvSpPr>
        <p:spPr>
          <a:xfrm>
            <a:off x="9574317" y="1975104"/>
            <a:ext cx="823326" cy="566928"/>
          </a:xfrm>
          <a:prstGeom prst="rect">
            <a:avLst/>
          </a:prstGeom>
          <a:noFill/>
          <a:ln/>
        </p:spPr>
        <p:txBody>
          <a:bodyPr wrap="square" lIns="0" tIns="0" rIns="0" bIns="0" rtlCol="0" anchor="ctr"/>
          <a:lstStyle/>
          <a:p>
            <a:pPr algn="ctr" indent="0" marL="0">
              <a:lnSpc>
                <a:spcPct val="98000"/>
              </a:lnSpc>
              <a:buNone/>
            </a:pPr>
            <a:r>
              <a:rPr lang="en-US" sz="1150" b="1" dirty="0">
                <a:solidFill>
                  <a:srgbClr val="0E7C86"/>
                </a:solidFill>
                <a:latin typeface="Calibri" pitchFamily="34" charset="0"/>
                <a:ea typeface="Calibri" pitchFamily="34" charset="-122"/>
                <a:cs typeface="Calibri" pitchFamily="34" charset="-120"/>
              </a:rPr>
              <a:t>+0.7</a:t>
            </a:r>
            <a:endParaRPr lang="en-US" sz="1150" dirty="0"/>
          </a:p>
        </p:txBody>
      </p:sp>
      <p:sp>
        <p:nvSpPr>
          <p:cNvPr id="11" name="Text 8"/>
          <p:cNvSpPr/>
          <p:nvPr/>
        </p:nvSpPr>
        <p:spPr>
          <a:xfrm>
            <a:off x="10580522" y="1975104"/>
            <a:ext cx="895198" cy="566928"/>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0.3 to 1.1</a:t>
            </a:r>
            <a:endParaRPr lang="en-US" sz="1150" dirty="0"/>
          </a:p>
        </p:txBody>
      </p:sp>
      <p:sp>
        <p:nvSpPr>
          <p:cNvPr id="12" name="Shape 9"/>
          <p:cNvSpPr/>
          <p:nvPr/>
        </p:nvSpPr>
        <p:spPr>
          <a:xfrm>
            <a:off x="7955280" y="3108960"/>
            <a:ext cx="3593592" cy="0"/>
          </a:xfrm>
          <a:prstGeom prst="line">
            <a:avLst/>
          </a:prstGeom>
          <a:noFill/>
          <a:ln w="9525">
            <a:solidFill>
              <a:srgbClr val="C9D6D6"/>
            </a:solidFill>
            <a:prstDash val="solid"/>
          </a:ln>
        </p:spPr>
      </p:sp>
      <p:sp>
        <p:nvSpPr>
          <p:cNvPr id="13" name="Text 10"/>
          <p:cNvSpPr/>
          <p:nvPr/>
        </p:nvSpPr>
        <p:spPr>
          <a:xfrm>
            <a:off x="8065008" y="2542032"/>
            <a:ext cx="1326429" cy="566928"/>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Acute (0–3 mo)</a:t>
            </a:r>
            <a:endParaRPr lang="en-US" sz="1150" dirty="0"/>
          </a:p>
        </p:txBody>
      </p:sp>
      <p:sp>
        <p:nvSpPr>
          <p:cNvPr id="14" name="Text 11"/>
          <p:cNvSpPr/>
          <p:nvPr/>
        </p:nvSpPr>
        <p:spPr>
          <a:xfrm>
            <a:off x="9574317" y="2542032"/>
            <a:ext cx="823326" cy="566928"/>
          </a:xfrm>
          <a:prstGeom prst="rect">
            <a:avLst/>
          </a:prstGeom>
          <a:noFill/>
          <a:ln/>
        </p:spPr>
        <p:txBody>
          <a:bodyPr wrap="square" lIns="0" tIns="0" rIns="0" bIns="0" rtlCol="0" anchor="ctr"/>
          <a:lstStyle/>
          <a:p>
            <a:pPr algn="ctr" indent="0" marL="0">
              <a:lnSpc>
                <a:spcPct val="98000"/>
              </a:lnSpc>
              <a:buNone/>
            </a:pPr>
            <a:r>
              <a:rPr lang="en-US" sz="1150" b="1" dirty="0">
                <a:solidFill>
                  <a:srgbClr val="0E7C86"/>
                </a:solidFill>
                <a:latin typeface="Calibri" pitchFamily="34" charset="0"/>
                <a:ea typeface="Calibri" pitchFamily="34" charset="-122"/>
                <a:cs typeface="Calibri" pitchFamily="34" charset="-120"/>
              </a:rPr>
              <a:t>−1.2</a:t>
            </a:r>
            <a:endParaRPr lang="en-US" sz="1150" dirty="0"/>
          </a:p>
        </p:txBody>
      </p:sp>
      <p:sp>
        <p:nvSpPr>
          <p:cNvPr id="15" name="Text 12"/>
          <p:cNvSpPr/>
          <p:nvPr/>
        </p:nvSpPr>
        <p:spPr>
          <a:xfrm>
            <a:off x="10580522" y="2542032"/>
            <a:ext cx="895198" cy="566928"/>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−1.7 to −0.6</a:t>
            </a:r>
            <a:endParaRPr lang="en-US" sz="1150" dirty="0"/>
          </a:p>
        </p:txBody>
      </p:sp>
      <p:sp>
        <p:nvSpPr>
          <p:cNvPr id="16" name="Shape 13"/>
          <p:cNvSpPr/>
          <p:nvPr/>
        </p:nvSpPr>
        <p:spPr>
          <a:xfrm>
            <a:off x="7955280" y="3675888"/>
            <a:ext cx="3593592" cy="0"/>
          </a:xfrm>
          <a:prstGeom prst="line">
            <a:avLst/>
          </a:prstGeom>
          <a:noFill/>
          <a:ln w="9525">
            <a:solidFill>
              <a:srgbClr val="C9D6D6"/>
            </a:solidFill>
            <a:prstDash val="solid"/>
          </a:ln>
        </p:spPr>
      </p:sp>
      <p:sp>
        <p:nvSpPr>
          <p:cNvPr id="17" name="Text 14"/>
          <p:cNvSpPr/>
          <p:nvPr/>
        </p:nvSpPr>
        <p:spPr>
          <a:xfrm>
            <a:off x="8065008" y="3108960"/>
            <a:ext cx="1326429" cy="566928"/>
          </a:xfrm>
          <a:prstGeom prst="rect">
            <a:avLst/>
          </a:prstGeom>
          <a:noFill/>
          <a:ln/>
        </p:spPr>
        <p:txBody>
          <a:bodyPr wrap="square" lIns="0" tIns="0" rIns="0" bIns="0" rtlCol="0" anchor="ctr"/>
          <a:lstStyle/>
          <a:p>
            <a:pPr algn="l" indent="0" marL="0">
              <a:lnSpc>
                <a:spcPct val="98000"/>
              </a:lnSpc>
              <a:buNone/>
            </a:pPr>
            <a:r>
              <a:rPr lang="en-US" sz="1150" b="1" dirty="0">
                <a:solidFill>
                  <a:srgbClr val="0B3D46"/>
                </a:solidFill>
                <a:latin typeface="Calibri" pitchFamily="34" charset="0"/>
                <a:ea typeface="Calibri" pitchFamily="34" charset="-122"/>
                <a:cs typeface="Calibri" pitchFamily="34" charset="-120"/>
              </a:rPr>
              <a:t>Chronic slope</a:t>
            </a:r>
            <a:endParaRPr lang="en-US" sz="1150" dirty="0"/>
          </a:p>
        </p:txBody>
      </p:sp>
      <p:sp>
        <p:nvSpPr>
          <p:cNvPr id="18" name="Text 15"/>
          <p:cNvSpPr/>
          <p:nvPr/>
        </p:nvSpPr>
        <p:spPr>
          <a:xfrm>
            <a:off x="9574317" y="3108960"/>
            <a:ext cx="823326" cy="566928"/>
          </a:xfrm>
          <a:prstGeom prst="rect">
            <a:avLst/>
          </a:prstGeom>
          <a:noFill/>
          <a:ln/>
        </p:spPr>
        <p:txBody>
          <a:bodyPr wrap="square" lIns="0" tIns="0" rIns="0" bIns="0" rtlCol="0" anchor="ctr"/>
          <a:lstStyle/>
          <a:p>
            <a:pPr algn="ctr" indent="0" marL="0">
              <a:lnSpc>
                <a:spcPct val="98000"/>
              </a:lnSpc>
              <a:buNone/>
            </a:pPr>
            <a:r>
              <a:rPr lang="en-US" sz="1150" b="1" dirty="0">
                <a:solidFill>
                  <a:srgbClr val="0E7C86"/>
                </a:solidFill>
                <a:latin typeface="Calibri" pitchFamily="34" charset="0"/>
                <a:ea typeface="Calibri" pitchFamily="34" charset="-122"/>
                <a:cs typeface="Calibri" pitchFamily="34" charset="-120"/>
              </a:rPr>
              <a:t>+1.2</a:t>
            </a:r>
            <a:endParaRPr lang="en-US" sz="1150" dirty="0"/>
          </a:p>
        </p:txBody>
      </p:sp>
      <p:sp>
        <p:nvSpPr>
          <p:cNvPr id="19" name="Text 16"/>
          <p:cNvSpPr/>
          <p:nvPr/>
        </p:nvSpPr>
        <p:spPr>
          <a:xfrm>
            <a:off x="10580522" y="3108960"/>
            <a:ext cx="895198" cy="566928"/>
          </a:xfrm>
          <a:prstGeom prst="rect">
            <a:avLst/>
          </a:prstGeom>
          <a:noFill/>
          <a:ln/>
        </p:spPr>
        <p:txBody>
          <a:bodyPr wrap="square" lIns="0" tIns="0" rIns="0" bIns="0" rtlCol="0" anchor="ctr"/>
          <a:lstStyle/>
          <a:p>
            <a:pPr algn="ctr" indent="0" marL="0">
              <a:lnSpc>
                <a:spcPct val="98000"/>
              </a:lnSpc>
              <a:buNone/>
            </a:pPr>
            <a:r>
              <a:rPr lang="en-US" sz="1150" dirty="0">
                <a:solidFill>
                  <a:srgbClr val="203034"/>
                </a:solidFill>
                <a:latin typeface="Calibri" pitchFamily="34" charset="0"/>
                <a:ea typeface="Calibri" pitchFamily="34" charset="-122"/>
                <a:cs typeface="Calibri" pitchFamily="34" charset="-120"/>
              </a:rPr>
              <a:t>0.9 to 1.6</a:t>
            </a:r>
            <a:endParaRPr lang="en-US" sz="1150" dirty="0"/>
          </a:p>
        </p:txBody>
      </p:sp>
      <p:sp>
        <p:nvSpPr>
          <p:cNvPr id="20" name="Text 17"/>
          <p:cNvSpPr/>
          <p:nvPr/>
        </p:nvSpPr>
        <p:spPr>
          <a:xfrm>
            <a:off x="7955280" y="3813048"/>
            <a:ext cx="3593592" cy="548640"/>
          </a:xfrm>
          <a:prstGeom prst="rect">
            <a:avLst/>
          </a:prstGeom>
          <a:noFill/>
          <a:ln/>
        </p:spPr>
        <p:txBody>
          <a:bodyPr wrap="square" lIns="0" tIns="0" rIns="0" bIns="0" rtlCol="0" anchor="ctr"/>
          <a:lstStyle/>
          <a:p>
            <a:pPr indent="0" marL="0">
              <a:lnSpc>
                <a:spcPct val="115000"/>
              </a:lnSpc>
              <a:buNone/>
            </a:pPr>
            <a:r>
              <a:rPr lang="en-US" sz="1100" i="1" dirty="0">
                <a:solidFill>
                  <a:srgbClr val="667578"/>
                </a:solidFill>
                <a:latin typeface="Calibri" pitchFamily="34" charset="0"/>
                <a:ea typeface="Calibri" pitchFamily="34" charset="-122"/>
                <a:cs typeface="Calibri" pitchFamily="34" charset="-120"/>
              </a:rPr>
              <a:t>P &lt; 0.001 for the total slope. Difference = finerenone minus placebo; positive favors finerenone.</a:t>
            </a:r>
            <a:endParaRPr lang="en-US" sz="1100" dirty="0"/>
          </a:p>
        </p:txBody>
      </p:sp>
      <p:sp>
        <p:nvSpPr>
          <p:cNvPr id="21" name="Text 18"/>
          <p:cNvSpPr/>
          <p:nvPr/>
        </p:nvSpPr>
        <p:spPr>
          <a:xfrm>
            <a:off x="7955280" y="4453128"/>
            <a:ext cx="3593592" cy="914400"/>
          </a:xfrm>
          <a:prstGeom prst="rect">
            <a:avLst/>
          </a:prstGeom>
          <a:noFill/>
          <a:ln/>
        </p:spPr>
        <p:txBody>
          <a:bodyPr wrap="square" lIns="0" tIns="0" rIns="0" bIns="0" rtlCol="0" anchor="ctr"/>
          <a:lstStyle/>
          <a:p>
            <a:pPr indent="0" marL="0">
              <a:lnSpc>
                <a:spcPct val="120000"/>
              </a:lnSpc>
              <a:buNone/>
            </a:pPr>
            <a:r>
              <a:rPr lang="en-US" sz="1250" dirty="0">
                <a:solidFill>
                  <a:srgbClr val="203034"/>
                </a:solidFill>
                <a:latin typeface="Calibri" pitchFamily="34" charset="0"/>
                <a:ea typeface="Calibri" pitchFamily="34" charset="-122"/>
                <a:cs typeface="Calibri" pitchFamily="34" charset="-120"/>
              </a:rPr>
              <a:t>The acute dip drags the total down. The chronic slope, 1.2/yr, is the disease-modifying signal, nearly double the headline number.</a:t>
            </a:r>
            <a:endParaRPr lang="en-US" sz="1250" dirty="0"/>
          </a:p>
        </p:txBody>
      </p:sp>
      <p:sp>
        <p:nvSpPr>
          <p:cNvPr id="22" name="Text 19"/>
          <p:cNvSpPr/>
          <p:nvPr/>
        </p:nvSpPr>
        <p:spPr>
          <a:xfrm>
            <a:off x="640080" y="6492240"/>
            <a:ext cx="8686800" cy="219456"/>
          </a:xfrm>
          <a:prstGeom prst="rect">
            <a:avLst/>
          </a:prstGeom>
          <a:noFill/>
          <a:ln/>
        </p:spPr>
        <p:txBody>
          <a:bodyPr wrap="square" lIns="0" tIns="0" rIns="0" bIns="0" rtlCol="0" anchor="ctr"/>
          <a:lstStyle/>
          <a:p>
            <a:pPr indent="0" marL="0">
              <a:buNone/>
            </a:pPr>
            <a:r>
              <a:rPr lang="en-US" sz="850" i="1" dirty="0">
                <a:solidFill>
                  <a:srgbClr val="667578"/>
                </a:solidFill>
                <a:latin typeface="Calibri" pitchFamily="34" charset="0"/>
                <a:ea typeface="Calibri" pitchFamily="34" charset="-122"/>
                <a:cs typeface="Calibri" pitchFamily="34" charset="-120"/>
              </a:rPr>
              <a:t>Adapted from Figure 1B.</a:t>
            </a:r>
            <a:endParaRPr lang="en-US" sz="850" dirty="0"/>
          </a:p>
        </p:txBody>
      </p:sp>
      <p:sp>
        <p:nvSpPr>
          <p:cNvPr id="23" name="Text 20"/>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Consistency across subgroups</a:t>
            </a:r>
            <a:endParaRPr lang="en-US" sz="2700" dirty="0"/>
          </a:p>
        </p:txBody>
      </p:sp>
      <p:sp>
        <p:nvSpPr>
          <p:cNvPr id="3" name="Text 1"/>
          <p:cNvSpPr/>
          <p:nvPr/>
        </p:nvSpPr>
        <p:spPr>
          <a:xfrm>
            <a:off x="640080" y="987552"/>
            <a:ext cx="10908792" cy="310896"/>
          </a:xfrm>
          <a:prstGeom prst="rect">
            <a:avLst/>
          </a:prstGeom>
          <a:noFill/>
          <a:ln/>
        </p:spPr>
        <p:txBody>
          <a:bodyPr wrap="square" lIns="0" tIns="0" rIns="0" bIns="0" rtlCol="0" anchor="ctr"/>
          <a:lstStyle/>
          <a:p>
            <a:pPr indent="0" marL="0">
              <a:buNone/>
            </a:pPr>
            <a:r>
              <a:rPr lang="en-US" sz="1300" i="1" dirty="0">
                <a:solidFill>
                  <a:srgbClr val="667578"/>
                </a:solidFill>
                <a:latin typeface="Calibri" pitchFamily="34" charset="0"/>
                <a:ea typeface="Calibri" pitchFamily="34" charset="-122"/>
                <a:cs typeface="Calibri" pitchFamily="34" charset="-120"/>
              </a:rPr>
              <a:t>Difference in eGFR slope (ml/min/1.73 m² per year). Positive favors finerenone.</a:t>
            </a:r>
            <a:endParaRPr lang="en-US" sz="1300" dirty="0"/>
          </a:p>
        </p:txBody>
      </p:sp>
      <p:sp>
        <p:nvSpPr>
          <p:cNvPr id="4" name="Shape 2"/>
          <p:cNvSpPr/>
          <p:nvPr/>
        </p:nvSpPr>
        <p:spPr>
          <a:xfrm>
            <a:off x="3749040" y="1554480"/>
            <a:ext cx="0" cy="4142232"/>
          </a:xfrm>
          <a:prstGeom prst="line">
            <a:avLst/>
          </a:prstGeom>
          <a:noFill/>
          <a:ln w="12700">
            <a:solidFill>
              <a:srgbClr val="EEF1F1"/>
            </a:solidFill>
            <a:prstDash val="dash"/>
          </a:ln>
        </p:spPr>
      </p:sp>
      <p:sp>
        <p:nvSpPr>
          <p:cNvPr id="5" name="Text 3"/>
          <p:cNvSpPr/>
          <p:nvPr/>
        </p:nvSpPr>
        <p:spPr>
          <a:xfrm>
            <a:off x="3474720" y="5760720"/>
            <a:ext cx="548640" cy="219456"/>
          </a:xfrm>
          <a:prstGeom prst="rect">
            <a:avLst/>
          </a:prstGeom>
          <a:noFill/>
          <a:ln/>
        </p:spPr>
        <p:txBody>
          <a:bodyPr wrap="square" lIns="0" tIns="0" rIns="0" bIns="0" rtlCol="0" anchor="ctr"/>
          <a:lstStyle/>
          <a:p>
            <a:pPr algn="ctr" indent="0" marL="0">
              <a:buNone/>
            </a:pPr>
            <a:r>
              <a:rPr lang="en-US" sz="950" dirty="0">
                <a:solidFill>
                  <a:srgbClr val="667578"/>
                </a:solidFill>
                <a:latin typeface="Calibri" pitchFamily="34" charset="0"/>
                <a:ea typeface="Calibri" pitchFamily="34" charset="-122"/>
                <a:cs typeface="Calibri" pitchFamily="34" charset="-120"/>
              </a:rPr>
              <a:t>-1</a:t>
            </a:r>
            <a:endParaRPr lang="en-US" sz="950" dirty="0"/>
          </a:p>
        </p:txBody>
      </p:sp>
      <p:sp>
        <p:nvSpPr>
          <p:cNvPr id="6" name="Shape 4"/>
          <p:cNvSpPr/>
          <p:nvPr/>
        </p:nvSpPr>
        <p:spPr>
          <a:xfrm>
            <a:off x="5739384" y="1554480"/>
            <a:ext cx="0" cy="4142232"/>
          </a:xfrm>
          <a:prstGeom prst="line">
            <a:avLst/>
          </a:prstGeom>
          <a:noFill/>
          <a:ln w="19050">
            <a:solidFill>
              <a:srgbClr val="9AA7AD"/>
            </a:solidFill>
            <a:prstDash val="solid"/>
          </a:ln>
        </p:spPr>
      </p:sp>
      <p:sp>
        <p:nvSpPr>
          <p:cNvPr id="7" name="Text 5"/>
          <p:cNvSpPr/>
          <p:nvPr/>
        </p:nvSpPr>
        <p:spPr>
          <a:xfrm>
            <a:off x="5465064" y="5760720"/>
            <a:ext cx="548640" cy="219456"/>
          </a:xfrm>
          <a:prstGeom prst="rect">
            <a:avLst/>
          </a:prstGeom>
          <a:noFill/>
          <a:ln/>
        </p:spPr>
        <p:txBody>
          <a:bodyPr wrap="square" lIns="0" tIns="0" rIns="0" bIns="0" rtlCol="0" anchor="ctr"/>
          <a:lstStyle/>
          <a:p>
            <a:pPr algn="ctr" indent="0" marL="0">
              <a:buNone/>
            </a:pPr>
            <a:r>
              <a:rPr lang="en-US" sz="950" dirty="0">
                <a:solidFill>
                  <a:srgbClr val="667578"/>
                </a:solidFill>
                <a:latin typeface="Calibri" pitchFamily="34" charset="0"/>
                <a:ea typeface="Calibri" pitchFamily="34" charset="-122"/>
                <a:cs typeface="Calibri" pitchFamily="34" charset="-120"/>
              </a:rPr>
              <a:t>0</a:t>
            </a:r>
            <a:endParaRPr lang="en-US" sz="950" dirty="0"/>
          </a:p>
        </p:txBody>
      </p:sp>
      <p:sp>
        <p:nvSpPr>
          <p:cNvPr id="8" name="Shape 6"/>
          <p:cNvSpPr/>
          <p:nvPr/>
        </p:nvSpPr>
        <p:spPr>
          <a:xfrm>
            <a:off x="7729728" y="1554480"/>
            <a:ext cx="0" cy="4142232"/>
          </a:xfrm>
          <a:prstGeom prst="line">
            <a:avLst/>
          </a:prstGeom>
          <a:noFill/>
          <a:ln w="12700">
            <a:solidFill>
              <a:srgbClr val="EEF1F1"/>
            </a:solidFill>
            <a:prstDash val="dash"/>
          </a:ln>
        </p:spPr>
      </p:sp>
      <p:sp>
        <p:nvSpPr>
          <p:cNvPr id="9" name="Text 7"/>
          <p:cNvSpPr/>
          <p:nvPr/>
        </p:nvSpPr>
        <p:spPr>
          <a:xfrm>
            <a:off x="7455408" y="5760720"/>
            <a:ext cx="548640" cy="219456"/>
          </a:xfrm>
          <a:prstGeom prst="rect">
            <a:avLst/>
          </a:prstGeom>
          <a:noFill/>
          <a:ln/>
        </p:spPr>
        <p:txBody>
          <a:bodyPr wrap="square" lIns="0" tIns="0" rIns="0" bIns="0" rtlCol="0" anchor="ctr"/>
          <a:lstStyle/>
          <a:p>
            <a:pPr algn="ctr" indent="0" marL="0">
              <a:buNone/>
            </a:pPr>
            <a:r>
              <a:rPr lang="en-US" sz="950" dirty="0">
                <a:solidFill>
                  <a:srgbClr val="667578"/>
                </a:solidFill>
                <a:latin typeface="Calibri" pitchFamily="34" charset="0"/>
                <a:ea typeface="Calibri" pitchFamily="34" charset="-122"/>
                <a:cs typeface="Calibri" pitchFamily="34" charset="-120"/>
              </a:rPr>
              <a:t>1</a:t>
            </a:r>
            <a:endParaRPr lang="en-US" sz="950" dirty="0"/>
          </a:p>
        </p:txBody>
      </p:sp>
      <p:sp>
        <p:nvSpPr>
          <p:cNvPr id="10" name="Shape 8"/>
          <p:cNvSpPr/>
          <p:nvPr/>
        </p:nvSpPr>
        <p:spPr>
          <a:xfrm>
            <a:off x="9720072" y="1554480"/>
            <a:ext cx="0" cy="4142232"/>
          </a:xfrm>
          <a:prstGeom prst="line">
            <a:avLst/>
          </a:prstGeom>
          <a:noFill/>
          <a:ln w="12700">
            <a:solidFill>
              <a:srgbClr val="EEF1F1"/>
            </a:solidFill>
            <a:prstDash val="dash"/>
          </a:ln>
        </p:spPr>
      </p:sp>
      <p:sp>
        <p:nvSpPr>
          <p:cNvPr id="11" name="Text 9"/>
          <p:cNvSpPr/>
          <p:nvPr/>
        </p:nvSpPr>
        <p:spPr>
          <a:xfrm>
            <a:off x="9445752" y="5760720"/>
            <a:ext cx="548640" cy="219456"/>
          </a:xfrm>
          <a:prstGeom prst="rect">
            <a:avLst/>
          </a:prstGeom>
          <a:noFill/>
          <a:ln/>
        </p:spPr>
        <p:txBody>
          <a:bodyPr wrap="square" lIns="0" tIns="0" rIns="0" bIns="0" rtlCol="0" anchor="ctr"/>
          <a:lstStyle/>
          <a:p>
            <a:pPr algn="ctr" indent="0" marL="0">
              <a:buNone/>
            </a:pPr>
            <a:r>
              <a:rPr lang="en-US" sz="950" dirty="0">
                <a:solidFill>
                  <a:srgbClr val="667578"/>
                </a:solidFill>
                <a:latin typeface="Calibri" pitchFamily="34" charset="0"/>
                <a:ea typeface="Calibri" pitchFamily="34" charset="-122"/>
                <a:cs typeface="Calibri" pitchFamily="34" charset="-120"/>
              </a:rPr>
              <a:t>2</a:t>
            </a:r>
            <a:endParaRPr lang="en-US" sz="950" dirty="0"/>
          </a:p>
        </p:txBody>
      </p:sp>
      <p:sp>
        <p:nvSpPr>
          <p:cNvPr id="12" name="Text 10"/>
          <p:cNvSpPr/>
          <p:nvPr/>
        </p:nvSpPr>
        <p:spPr>
          <a:xfrm>
            <a:off x="3657600" y="5998464"/>
            <a:ext cx="1828800" cy="219456"/>
          </a:xfrm>
          <a:prstGeom prst="rect">
            <a:avLst/>
          </a:prstGeom>
          <a:noFill/>
          <a:ln/>
        </p:spPr>
        <p:txBody>
          <a:bodyPr wrap="square" lIns="0" tIns="0" rIns="0" bIns="0" rtlCol="0" anchor="ctr"/>
          <a:lstStyle/>
          <a:p>
            <a:pPr indent="0" marL="0">
              <a:buNone/>
            </a:pPr>
            <a:r>
              <a:rPr lang="en-US" sz="950" i="1" dirty="0">
                <a:solidFill>
                  <a:srgbClr val="667578"/>
                </a:solidFill>
                <a:latin typeface="Calibri" pitchFamily="34" charset="0"/>
                <a:ea typeface="Calibri" pitchFamily="34" charset="-122"/>
                <a:cs typeface="Calibri" pitchFamily="34" charset="-120"/>
              </a:rPr>
              <a:t>Favors placebo</a:t>
            </a:r>
            <a:endParaRPr lang="en-US" sz="950" dirty="0"/>
          </a:p>
        </p:txBody>
      </p:sp>
      <p:sp>
        <p:nvSpPr>
          <p:cNvPr id="13" name="Text 11"/>
          <p:cNvSpPr/>
          <p:nvPr/>
        </p:nvSpPr>
        <p:spPr>
          <a:xfrm>
            <a:off x="7982712" y="5998464"/>
            <a:ext cx="1828800" cy="219456"/>
          </a:xfrm>
          <a:prstGeom prst="rect">
            <a:avLst/>
          </a:prstGeom>
          <a:noFill/>
          <a:ln/>
        </p:spPr>
        <p:txBody>
          <a:bodyPr wrap="square" lIns="0" tIns="0" rIns="0" bIns="0" rtlCol="0" anchor="ctr"/>
          <a:lstStyle/>
          <a:p>
            <a:pPr algn="r" indent="0" marL="0">
              <a:buNone/>
            </a:pPr>
            <a:r>
              <a:rPr lang="en-US" sz="950" i="1" dirty="0">
                <a:solidFill>
                  <a:srgbClr val="667578"/>
                </a:solidFill>
                <a:latin typeface="Calibri" pitchFamily="34" charset="0"/>
                <a:ea typeface="Calibri" pitchFamily="34" charset="-122"/>
                <a:cs typeface="Calibri" pitchFamily="34" charset="-120"/>
              </a:rPr>
              <a:t>Favors finerenone</a:t>
            </a:r>
            <a:endParaRPr lang="en-US" sz="950" dirty="0"/>
          </a:p>
        </p:txBody>
      </p:sp>
      <p:sp>
        <p:nvSpPr>
          <p:cNvPr id="14" name="Text 12"/>
          <p:cNvSpPr/>
          <p:nvPr/>
        </p:nvSpPr>
        <p:spPr>
          <a:xfrm>
            <a:off x="640080" y="1643011"/>
            <a:ext cx="3017520" cy="292608"/>
          </a:xfrm>
          <a:prstGeom prst="rect">
            <a:avLst/>
          </a:prstGeom>
          <a:noFill/>
          <a:ln/>
        </p:spPr>
        <p:txBody>
          <a:bodyPr wrap="square" lIns="0" tIns="0" rIns="0" bIns="0" rtlCol="0" anchor="ctr"/>
          <a:lstStyle/>
          <a:p>
            <a:pPr indent="0" marL="0">
              <a:buNone/>
            </a:pPr>
            <a:r>
              <a:rPr lang="en-US" sz="1100" b="1" dirty="0">
                <a:solidFill>
                  <a:srgbClr val="0B3D46"/>
                </a:solidFill>
                <a:latin typeface="Calibri" pitchFamily="34" charset="0"/>
                <a:ea typeface="Calibri" pitchFamily="34" charset="-122"/>
                <a:cs typeface="Calibri" pitchFamily="34" charset="-120"/>
              </a:rPr>
              <a:t>Overall</a:t>
            </a:r>
            <a:endParaRPr lang="en-US" sz="1100" dirty="0"/>
          </a:p>
        </p:txBody>
      </p:sp>
      <p:sp>
        <p:nvSpPr>
          <p:cNvPr id="15" name="Shape 13"/>
          <p:cNvSpPr/>
          <p:nvPr/>
        </p:nvSpPr>
        <p:spPr>
          <a:xfrm>
            <a:off x="6376294" y="1789315"/>
            <a:ext cx="1452951" cy="0"/>
          </a:xfrm>
          <a:prstGeom prst="line">
            <a:avLst/>
          </a:prstGeom>
          <a:noFill/>
          <a:ln w="38100">
            <a:solidFill>
              <a:srgbClr val="0E7C86"/>
            </a:solidFill>
            <a:prstDash val="solid"/>
          </a:ln>
        </p:spPr>
      </p:sp>
      <p:sp>
        <p:nvSpPr>
          <p:cNvPr id="16" name="Shape 14"/>
          <p:cNvSpPr/>
          <p:nvPr/>
        </p:nvSpPr>
        <p:spPr>
          <a:xfrm>
            <a:off x="6376294" y="1734451"/>
            <a:ext cx="0" cy="109728"/>
          </a:xfrm>
          <a:prstGeom prst="line">
            <a:avLst/>
          </a:prstGeom>
          <a:noFill/>
          <a:ln w="25400">
            <a:solidFill>
              <a:srgbClr val="0E7C86"/>
            </a:solidFill>
            <a:prstDash val="solid"/>
          </a:ln>
        </p:spPr>
      </p:sp>
      <p:sp>
        <p:nvSpPr>
          <p:cNvPr id="17" name="Shape 15"/>
          <p:cNvSpPr/>
          <p:nvPr/>
        </p:nvSpPr>
        <p:spPr>
          <a:xfrm>
            <a:off x="7829245" y="1734451"/>
            <a:ext cx="0" cy="109728"/>
          </a:xfrm>
          <a:prstGeom prst="line">
            <a:avLst/>
          </a:prstGeom>
          <a:noFill/>
          <a:ln w="25400">
            <a:solidFill>
              <a:srgbClr val="0E7C86"/>
            </a:solidFill>
            <a:prstDash val="solid"/>
          </a:ln>
        </p:spPr>
      </p:sp>
      <p:sp>
        <p:nvSpPr>
          <p:cNvPr id="18" name="Shape 16"/>
          <p:cNvSpPr/>
          <p:nvPr/>
        </p:nvSpPr>
        <p:spPr>
          <a:xfrm>
            <a:off x="7033382" y="1729879"/>
            <a:ext cx="118872" cy="118872"/>
          </a:xfrm>
          <a:prstGeom prst="diamond">
            <a:avLst/>
          </a:prstGeom>
          <a:solidFill>
            <a:srgbClr val="0B3D46"/>
          </a:solidFill>
          <a:ln/>
        </p:spPr>
      </p:sp>
      <p:sp>
        <p:nvSpPr>
          <p:cNvPr id="19" name="Text 17"/>
          <p:cNvSpPr/>
          <p:nvPr/>
        </p:nvSpPr>
        <p:spPr>
          <a:xfrm>
            <a:off x="9765792" y="1643011"/>
            <a:ext cx="1783080" cy="292608"/>
          </a:xfrm>
          <a:prstGeom prst="rect">
            <a:avLst/>
          </a:prstGeom>
          <a:noFill/>
          <a:ln/>
        </p:spPr>
        <p:txBody>
          <a:bodyPr wrap="square" lIns="0" tIns="0" rIns="0" bIns="0" rtlCol="0" anchor="ctr"/>
          <a:lstStyle/>
          <a:p>
            <a:pPr indent="0" marL="0">
              <a:buNone/>
            </a:pPr>
            <a:r>
              <a:rPr lang="en-US" sz="950" b="1" dirty="0">
                <a:solidFill>
                  <a:srgbClr val="0B3D46"/>
                </a:solidFill>
                <a:latin typeface="Calibri" pitchFamily="34" charset="0"/>
                <a:ea typeface="Calibri" pitchFamily="34" charset="-122"/>
                <a:cs typeface="Calibri" pitchFamily="34" charset="-120"/>
              </a:rPr>
              <a:t>0.68 (0.32 to 1.05)</a:t>
            </a:r>
            <a:endParaRPr lang="en-US" sz="950" dirty="0"/>
          </a:p>
        </p:txBody>
      </p:sp>
      <p:sp>
        <p:nvSpPr>
          <p:cNvPr id="20" name="Text 18"/>
          <p:cNvSpPr/>
          <p:nvPr/>
        </p:nvSpPr>
        <p:spPr>
          <a:xfrm>
            <a:off x="640080" y="2021240"/>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Cause: HTN / ischemic</a:t>
            </a:r>
            <a:endParaRPr lang="en-US" sz="1100" dirty="0"/>
          </a:p>
        </p:txBody>
      </p:sp>
      <p:sp>
        <p:nvSpPr>
          <p:cNvPr id="21" name="Shape 19"/>
          <p:cNvSpPr/>
          <p:nvPr/>
        </p:nvSpPr>
        <p:spPr>
          <a:xfrm>
            <a:off x="5739384" y="2167544"/>
            <a:ext cx="2726771" cy="0"/>
          </a:xfrm>
          <a:prstGeom prst="line">
            <a:avLst/>
          </a:prstGeom>
          <a:noFill/>
          <a:ln w="25400">
            <a:solidFill>
              <a:srgbClr val="57979A"/>
            </a:solidFill>
            <a:prstDash val="solid"/>
          </a:ln>
        </p:spPr>
      </p:sp>
      <p:sp>
        <p:nvSpPr>
          <p:cNvPr id="22" name="Shape 20"/>
          <p:cNvSpPr/>
          <p:nvPr/>
        </p:nvSpPr>
        <p:spPr>
          <a:xfrm>
            <a:off x="5739384" y="2112680"/>
            <a:ext cx="0" cy="109728"/>
          </a:xfrm>
          <a:prstGeom prst="line">
            <a:avLst/>
          </a:prstGeom>
          <a:noFill/>
          <a:ln w="25400">
            <a:solidFill>
              <a:srgbClr val="57979A"/>
            </a:solidFill>
            <a:prstDash val="solid"/>
          </a:ln>
        </p:spPr>
      </p:sp>
      <p:sp>
        <p:nvSpPr>
          <p:cNvPr id="23" name="Shape 21"/>
          <p:cNvSpPr/>
          <p:nvPr/>
        </p:nvSpPr>
        <p:spPr>
          <a:xfrm>
            <a:off x="8466155" y="2112680"/>
            <a:ext cx="0" cy="109728"/>
          </a:xfrm>
          <a:prstGeom prst="line">
            <a:avLst/>
          </a:prstGeom>
          <a:noFill/>
          <a:ln w="25400">
            <a:solidFill>
              <a:srgbClr val="57979A"/>
            </a:solidFill>
            <a:prstDash val="solid"/>
          </a:ln>
        </p:spPr>
      </p:sp>
      <p:sp>
        <p:nvSpPr>
          <p:cNvPr id="24" name="Shape 22"/>
          <p:cNvSpPr/>
          <p:nvPr/>
        </p:nvSpPr>
        <p:spPr>
          <a:xfrm>
            <a:off x="7047098" y="2121824"/>
            <a:ext cx="91440" cy="91440"/>
          </a:xfrm>
          <a:prstGeom prst="diamond">
            <a:avLst/>
          </a:prstGeom>
          <a:solidFill>
            <a:srgbClr val="0E7C86"/>
          </a:solidFill>
          <a:ln/>
        </p:spPr>
      </p:sp>
      <p:sp>
        <p:nvSpPr>
          <p:cNvPr id="25" name="Text 23"/>
          <p:cNvSpPr/>
          <p:nvPr/>
        </p:nvSpPr>
        <p:spPr>
          <a:xfrm>
            <a:off x="9765792" y="2021240"/>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0.68 (0.00 to 1.37)</a:t>
            </a:r>
            <a:endParaRPr lang="en-US" sz="950" dirty="0"/>
          </a:p>
        </p:txBody>
      </p:sp>
      <p:sp>
        <p:nvSpPr>
          <p:cNvPr id="26" name="Text 24"/>
          <p:cNvSpPr/>
          <p:nvPr/>
        </p:nvSpPr>
        <p:spPr>
          <a:xfrm>
            <a:off x="640080" y="2399469"/>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Cause: chronic GN</a:t>
            </a:r>
            <a:endParaRPr lang="en-US" sz="1100" dirty="0"/>
          </a:p>
        </p:txBody>
      </p:sp>
      <p:sp>
        <p:nvSpPr>
          <p:cNvPr id="27" name="Shape 25"/>
          <p:cNvSpPr/>
          <p:nvPr/>
        </p:nvSpPr>
        <p:spPr>
          <a:xfrm>
            <a:off x="6236970" y="2545773"/>
            <a:ext cx="1930634" cy="0"/>
          </a:xfrm>
          <a:prstGeom prst="line">
            <a:avLst/>
          </a:prstGeom>
          <a:noFill/>
          <a:ln w="25400">
            <a:solidFill>
              <a:srgbClr val="57979A"/>
            </a:solidFill>
            <a:prstDash val="solid"/>
          </a:ln>
        </p:spPr>
      </p:sp>
      <p:sp>
        <p:nvSpPr>
          <p:cNvPr id="28" name="Shape 26"/>
          <p:cNvSpPr/>
          <p:nvPr/>
        </p:nvSpPr>
        <p:spPr>
          <a:xfrm>
            <a:off x="6236970" y="2490909"/>
            <a:ext cx="0" cy="109728"/>
          </a:xfrm>
          <a:prstGeom prst="line">
            <a:avLst/>
          </a:prstGeom>
          <a:noFill/>
          <a:ln w="25400">
            <a:solidFill>
              <a:srgbClr val="57979A"/>
            </a:solidFill>
            <a:prstDash val="solid"/>
          </a:ln>
        </p:spPr>
      </p:sp>
      <p:sp>
        <p:nvSpPr>
          <p:cNvPr id="29" name="Shape 27"/>
          <p:cNvSpPr/>
          <p:nvPr/>
        </p:nvSpPr>
        <p:spPr>
          <a:xfrm>
            <a:off x="8167604" y="2490909"/>
            <a:ext cx="0" cy="109728"/>
          </a:xfrm>
          <a:prstGeom prst="line">
            <a:avLst/>
          </a:prstGeom>
          <a:noFill/>
          <a:ln w="25400">
            <a:solidFill>
              <a:srgbClr val="57979A"/>
            </a:solidFill>
            <a:prstDash val="solid"/>
          </a:ln>
        </p:spPr>
      </p:sp>
      <p:sp>
        <p:nvSpPr>
          <p:cNvPr id="30" name="Shape 28"/>
          <p:cNvSpPr/>
          <p:nvPr/>
        </p:nvSpPr>
        <p:spPr>
          <a:xfrm>
            <a:off x="7146615" y="2500053"/>
            <a:ext cx="91440" cy="91440"/>
          </a:xfrm>
          <a:prstGeom prst="diamond">
            <a:avLst/>
          </a:prstGeom>
          <a:solidFill>
            <a:srgbClr val="0E7C86"/>
          </a:solidFill>
          <a:ln/>
        </p:spPr>
      </p:sp>
      <p:sp>
        <p:nvSpPr>
          <p:cNvPr id="31" name="Text 29"/>
          <p:cNvSpPr/>
          <p:nvPr/>
        </p:nvSpPr>
        <p:spPr>
          <a:xfrm>
            <a:off x="9765792" y="2399469"/>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0.73 (0.25 to 1.22)</a:t>
            </a:r>
            <a:endParaRPr lang="en-US" sz="950" dirty="0"/>
          </a:p>
        </p:txBody>
      </p:sp>
      <p:sp>
        <p:nvSpPr>
          <p:cNvPr id="32" name="Text 30"/>
          <p:cNvSpPr/>
          <p:nvPr/>
        </p:nvSpPr>
        <p:spPr>
          <a:xfrm>
            <a:off x="640080" y="2777698"/>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Cause: other / unknown</a:t>
            </a:r>
            <a:endParaRPr lang="en-US" sz="1100" dirty="0"/>
          </a:p>
        </p:txBody>
      </p:sp>
      <p:sp>
        <p:nvSpPr>
          <p:cNvPr id="33" name="Shape 31"/>
          <p:cNvSpPr/>
          <p:nvPr/>
        </p:nvSpPr>
        <p:spPr>
          <a:xfrm>
            <a:off x="4684502" y="2924002"/>
            <a:ext cx="3920978" cy="0"/>
          </a:xfrm>
          <a:prstGeom prst="line">
            <a:avLst/>
          </a:prstGeom>
          <a:noFill/>
          <a:ln w="25400">
            <a:solidFill>
              <a:srgbClr val="57979A"/>
            </a:solidFill>
            <a:prstDash val="solid"/>
          </a:ln>
        </p:spPr>
      </p:sp>
      <p:sp>
        <p:nvSpPr>
          <p:cNvPr id="34" name="Shape 32"/>
          <p:cNvSpPr/>
          <p:nvPr/>
        </p:nvSpPr>
        <p:spPr>
          <a:xfrm>
            <a:off x="4684502" y="2869138"/>
            <a:ext cx="0" cy="109728"/>
          </a:xfrm>
          <a:prstGeom prst="line">
            <a:avLst/>
          </a:prstGeom>
          <a:noFill/>
          <a:ln w="25400">
            <a:solidFill>
              <a:srgbClr val="57979A"/>
            </a:solidFill>
            <a:prstDash val="solid"/>
          </a:ln>
        </p:spPr>
      </p:sp>
      <p:sp>
        <p:nvSpPr>
          <p:cNvPr id="35" name="Shape 33"/>
          <p:cNvSpPr/>
          <p:nvPr/>
        </p:nvSpPr>
        <p:spPr>
          <a:xfrm>
            <a:off x="8605479" y="2869138"/>
            <a:ext cx="0" cy="109728"/>
          </a:xfrm>
          <a:prstGeom prst="line">
            <a:avLst/>
          </a:prstGeom>
          <a:noFill/>
          <a:ln w="25400">
            <a:solidFill>
              <a:srgbClr val="57979A"/>
            </a:solidFill>
            <a:prstDash val="solid"/>
          </a:ln>
        </p:spPr>
      </p:sp>
      <p:sp>
        <p:nvSpPr>
          <p:cNvPr id="36" name="Shape 34"/>
          <p:cNvSpPr/>
          <p:nvPr/>
        </p:nvSpPr>
        <p:spPr>
          <a:xfrm>
            <a:off x="6589319" y="2878282"/>
            <a:ext cx="91440" cy="91440"/>
          </a:xfrm>
          <a:prstGeom prst="diamond">
            <a:avLst/>
          </a:prstGeom>
          <a:solidFill>
            <a:srgbClr val="0E7C86"/>
          </a:solidFill>
          <a:ln/>
        </p:spPr>
      </p:sp>
      <p:sp>
        <p:nvSpPr>
          <p:cNvPr id="37" name="Text 35"/>
          <p:cNvSpPr/>
          <p:nvPr/>
        </p:nvSpPr>
        <p:spPr>
          <a:xfrm>
            <a:off x="9765792" y="2777698"/>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0.45 (-0.53 to 1.44)</a:t>
            </a:r>
            <a:endParaRPr lang="en-US" sz="950" dirty="0"/>
          </a:p>
        </p:txBody>
      </p:sp>
      <p:sp>
        <p:nvSpPr>
          <p:cNvPr id="38" name="Text 36"/>
          <p:cNvSpPr/>
          <p:nvPr/>
        </p:nvSpPr>
        <p:spPr>
          <a:xfrm>
            <a:off x="640080" y="3155927"/>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eGFR &lt; 45</a:t>
            </a:r>
            <a:endParaRPr lang="en-US" sz="1100" dirty="0"/>
          </a:p>
        </p:txBody>
      </p:sp>
      <p:sp>
        <p:nvSpPr>
          <p:cNvPr id="39" name="Shape 37"/>
          <p:cNvSpPr/>
          <p:nvPr/>
        </p:nvSpPr>
        <p:spPr>
          <a:xfrm>
            <a:off x="5958322" y="3302231"/>
            <a:ext cx="2010247" cy="0"/>
          </a:xfrm>
          <a:prstGeom prst="line">
            <a:avLst/>
          </a:prstGeom>
          <a:noFill/>
          <a:ln w="25400">
            <a:solidFill>
              <a:srgbClr val="57979A"/>
            </a:solidFill>
            <a:prstDash val="solid"/>
          </a:ln>
        </p:spPr>
      </p:sp>
      <p:sp>
        <p:nvSpPr>
          <p:cNvPr id="40" name="Shape 38"/>
          <p:cNvSpPr/>
          <p:nvPr/>
        </p:nvSpPr>
        <p:spPr>
          <a:xfrm>
            <a:off x="5958322" y="3247367"/>
            <a:ext cx="0" cy="109728"/>
          </a:xfrm>
          <a:prstGeom prst="line">
            <a:avLst/>
          </a:prstGeom>
          <a:noFill/>
          <a:ln w="25400">
            <a:solidFill>
              <a:srgbClr val="57979A"/>
            </a:solidFill>
            <a:prstDash val="solid"/>
          </a:ln>
        </p:spPr>
      </p:sp>
      <p:sp>
        <p:nvSpPr>
          <p:cNvPr id="41" name="Shape 39"/>
          <p:cNvSpPr/>
          <p:nvPr/>
        </p:nvSpPr>
        <p:spPr>
          <a:xfrm>
            <a:off x="7968569" y="3247367"/>
            <a:ext cx="0" cy="109728"/>
          </a:xfrm>
          <a:prstGeom prst="line">
            <a:avLst/>
          </a:prstGeom>
          <a:noFill/>
          <a:ln w="25400">
            <a:solidFill>
              <a:srgbClr val="57979A"/>
            </a:solidFill>
            <a:prstDash val="solid"/>
          </a:ln>
        </p:spPr>
      </p:sp>
      <p:sp>
        <p:nvSpPr>
          <p:cNvPr id="42" name="Shape 40"/>
          <p:cNvSpPr/>
          <p:nvPr/>
        </p:nvSpPr>
        <p:spPr>
          <a:xfrm>
            <a:off x="6907774" y="3256511"/>
            <a:ext cx="91440" cy="91440"/>
          </a:xfrm>
          <a:prstGeom prst="diamond">
            <a:avLst/>
          </a:prstGeom>
          <a:solidFill>
            <a:srgbClr val="0E7C86"/>
          </a:solidFill>
          <a:ln/>
        </p:spPr>
      </p:sp>
      <p:sp>
        <p:nvSpPr>
          <p:cNvPr id="43" name="Text 41"/>
          <p:cNvSpPr/>
          <p:nvPr/>
        </p:nvSpPr>
        <p:spPr>
          <a:xfrm>
            <a:off x="9765792" y="3155927"/>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0.61 (0.11 to 1.12)</a:t>
            </a:r>
            <a:endParaRPr lang="en-US" sz="950" dirty="0"/>
          </a:p>
        </p:txBody>
      </p:sp>
      <p:sp>
        <p:nvSpPr>
          <p:cNvPr id="44" name="Text 42"/>
          <p:cNvSpPr/>
          <p:nvPr/>
        </p:nvSpPr>
        <p:spPr>
          <a:xfrm>
            <a:off x="640080" y="3534156"/>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eGFR 45 to &lt;60</a:t>
            </a:r>
            <a:endParaRPr lang="en-US" sz="1100" dirty="0"/>
          </a:p>
        </p:txBody>
      </p:sp>
      <p:sp>
        <p:nvSpPr>
          <p:cNvPr id="45" name="Shape 43"/>
          <p:cNvSpPr/>
          <p:nvPr/>
        </p:nvSpPr>
        <p:spPr>
          <a:xfrm>
            <a:off x="6416101" y="3680460"/>
            <a:ext cx="2806385" cy="0"/>
          </a:xfrm>
          <a:prstGeom prst="line">
            <a:avLst/>
          </a:prstGeom>
          <a:noFill/>
          <a:ln w="25400">
            <a:solidFill>
              <a:srgbClr val="57979A"/>
            </a:solidFill>
            <a:prstDash val="solid"/>
          </a:ln>
        </p:spPr>
      </p:sp>
      <p:sp>
        <p:nvSpPr>
          <p:cNvPr id="46" name="Shape 44"/>
          <p:cNvSpPr/>
          <p:nvPr/>
        </p:nvSpPr>
        <p:spPr>
          <a:xfrm>
            <a:off x="6416101" y="3625596"/>
            <a:ext cx="0" cy="109728"/>
          </a:xfrm>
          <a:prstGeom prst="line">
            <a:avLst/>
          </a:prstGeom>
          <a:noFill/>
          <a:ln w="25400">
            <a:solidFill>
              <a:srgbClr val="57979A"/>
            </a:solidFill>
            <a:prstDash val="solid"/>
          </a:ln>
        </p:spPr>
      </p:sp>
      <p:sp>
        <p:nvSpPr>
          <p:cNvPr id="47" name="Shape 45"/>
          <p:cNvSpPr/>
          <p:nvPr/>
        </p:nvSpPr>
        <p:spPr>
          <a:xfrm>
            <a:off x="9222486" y="3625596"/>
            <a:ext cx="0" cy="109728"/>
          </a:xfrm>
          <a:prstGeom prst="line">
            <a:avLst/>
          </a:prstGeom>
          <a:noFill/>
          <a:ln w="25400">
            <a:solidFill>
              <a:srgbClr val="57979A"/>
            </a:solidFill>
            <a:prstDash val="solid"/>
          </a:ln>
        </p:spPr>
      </p:sp>
      <p:sp>
        <p:nvSpPr>
          <p:cNvPr id="48" name="Shape 46"/>
          <p:cNvSpPr/>
          <p:nvPr/>
        </p:nvSpPr>
        <p:spPr>
          <a:xfrm>
            <a:off x="7783525" y="3634740"/>
            <a:ext cx="91440" cy="91440"/>
          </a:xfrm>
          <a:prstGeom prst="diamond">
            <a:avLst/>
          </a:prstGeom>
          <a:solidFill>
            <a:srgbClr val="0E7C86"/>
          </a:solidFill>
          <a:ln/>
        </p:spPr>
      </p:sp>
      <p:sp>
        <p:nvSpPr>
          <p:cNvPr id="49" name="Text 47"/>
          <p:cNvSpPr/>
          <p:nvPr/>
        </p:nvSpPr>
        <p:spPr>
          <a:xfrm>
            <a:off x="9765792" y="3534156"/>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1.05 (0.34 to 1.75)</a:t>
            </a:r>
            <a:endParaRPr lang="en-US" sz="950" dirty="0"/>
          </a:p>
        </p:txBody>
      </p:sp>
      <p:sp>
        <p:nvSpPr>
          <p:cNvPr id="50" name="Text 48"/>
          <p:cNvSpPr/>
          <p:nvPr/>
        </p:nvSpPr>
        <p:spPr>
          <a:xfrm>
            <a:off x="640080" y="3912385"/>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eGFR ≥ 60</a:t>
            </a:r>
            <a:endParaRPr lang="en-US" sz="1100" dirty="0"/>
          </a:p>
        </p:txBody>
      </p:sp>
      <p:sp>
        <p:nvSpPr>
          <p:cNvPr id="51" name="Shape 49"/>
          <p:cNvSpPr/>
          <p:nvPr/>
        </p:nvSpPr>
        <p:spPr>
          <a:xfrm>
            <a:off x="4943246" y="4058689"/>
            <a:ext cx="3244261" cy="0"/>
          </a:xfrm>
          <a:prstGeom prst="line">
            <a:avLst/>
          </a:prstGeom>
          <a:noFill/>
          <a:ln w="25400">
            <a:solidFill>
              <a:srgbClr val="57979A"/>
            </a:solidFill>
            <a:prstDash val="solid"/>
          </a:ln>
        </p:spPr>
      </p:sp>
      <p:sp>
        <p:nvSpPr>
          <p:cNvPr id="52" name="Shape 50"/>
          <p:cNvSpPr/>
          <p:nvPr/>
        </p:nvSpPr>
        <p:spPr>
          <a:xfrm>
            <a:off x="4943246" y="4003825"/>
            <a:ext cx="0" cy="109728"/>
          </a:xfrm>
          <a:prstGeom prst="line">
            <a:avLst/>
          </a:prstGeom>
          <a:noFill/>
          <a:ln w="25400">
            <a:solidFill>
              <a:srgbClr val="57979A"/>
            </a:solidFill>
            <a:prstDash val="solid"/>
          </a:ln>
        </p:spPr>
      </p:sp>
      <p:sp>
        <p:nvSpPr>
          <p:cNvPr id="53" name="Shape 51"/>
          <p:cNvSpPr/>
          <p:nvPr/>
        </p:nvSpPr>
        <p:spPr>
          <a:xfrm>
            <a:off x="8187507" y="4003825"/>
            <a:ext cx="0" cy="109728"/>
          </a:xfrm>
          <a:prstGeom prst="line">
            <a:avLst/>
          </a:prstGeom>
          <a:noFill/>
          <a:ln w="25400">
            <a:solidFill>
              <a:srgbClr val="57979A"/>
            </a:solidFill>
            <a:prstDash val="solid"/>
          </a:ln>
        </p:spPr>
      </p:sp>
      <p:sp>
        <p:nvSpPr>
          <p:cNvPr id="54" name="Shape 52"/>
          <p:cNvSpPr/>
          <p:nvPr/>
        </p:nvSpPr>
        <p:spPr>
          <a:xfrm>
            <a:off x="6509705" y="4012969"/>
            <a:ext cx="91440" cy="91440"/>
          </a:xfrm>
          <a:prstGeom prst="diamond">
            <a:avLst/>
          </a:prstGeom>
          <a:solidFill>
            <a:srgbClr val="0E7C86"/>
          </a:solidFill>
          <a:ln/>
        </p:spPr>
      </p:sp>
      <p:sp>
        <p:nvSpPr>
          <p:cNvPr id="55" name="Text 53"/>
          <p:cNvSpPr/>
          <p:nvPr/>
        </p:nvSpPr>
        <p:spPr>
          <a:xfrm>
            <a:off x="9765792" y="3912385"/>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0.41 (-0.40 to 1.23)</a:t>
            </a:r>
            <a:endParaRPr lang="en-US" sz="950" dirty="0"/>
          </a:p>
        </p:txBody>
      </p:sp>
      <p:sp>
        <p:nvSpPr>
          <p:cNvPr id="56" name="Text 54"/>
          <p:cNvSpPr/>
          <p:nvPr/>
        </p:nvSpPr>
        <p:spPr>
          <a:xfrm>
            <a:off x="640080" y="4290614"/>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UACR ≤ 1000</a:t>
            </a:r>
            <a:endParaRPr lang="en-US" sz="1100" dirty="0"/>
          </a:p>
        </p:txBody>
      </p:sp>
      <p:sp>
        <p:nvSpPr>
          <p:cNvPr id="57" name="Shape 55"/>
          <p:cNvSpPr/>
          <p:nvPr/>
        </p:nvSpPr>
        <p:spPr>
          <a:xfrm>
            <a:off x="5619963" y="4436918"/>
            <a:ext cx="1851020" cy="0"/>
          </a:xfrm>
          <a:prstGeom prst="line">
            <a:avLst/>
          </a:prstGeom>
          <a:noFill/>
          <a:ln w="25400">
            <a:solidFill>
              <a:srgbClr val="57979A"/>
            </a:solidFill>
            <a:prstDash val="solid"/>
          </a:ln>
        </p:spPr>
      </p:sp>
      <p:sp>
        <p:nvSpPr>
          <p:cNvPr id="58" name="Shape 56"/>
          <p:cNvSpPr/>
          <p:nvPr/>
        </p:nvSpPr>
        <p:spPr>
          <a:xfrm>
            <a:off x="5619963" y="4382054"/>
            <a:ext cx="0" cy="109728"/>
          </a:xfrm>
          <a:prstGeom prst="line">
            <a:avLst/>
          </a:prstGeom>
          <a:noFill/>
          <a:ln w="25400">
            <a:solidFill>
              <a:srgbClr val="57979A"/>
            </a:solidFill>
            <a:prstDash val="solid"/>
          </a:ln>
        </p:spPr>
      </p:sp>
      <p:sp>
        <p:nvSpPr>
          <p:cNvPr id="59" name="Shape 57"/>
          <p:cNvSpPr/>
          <p:nvPr/>
        </p:nvSpPr>
        <p:spPr>
          <a:xfrm>
            <a:off x="7470983" y="4382054"/>
            <a:ext cx="0" cy="109728"/>
          </a:xfrm>
          <a:prstGeom prst="line">
            <a:avLst/>
          </a:prstGeom>
          <a:noFill/>
          <a:ln w="25400">
            <a:solidFill>
              <a:srgbClr val="57979A"/>
            </a:solidFill>
            <a:prstDash val="solid"/>
          </a:ln>
        </p:spPr>
      </p:sp>
      <p:sp>
        <p:nvSpPr>
          <p:cNvPr id="60" name="Shape 58"/>
          <p:cNvSpPr/>
          <p:nvPr/>
        </p:nvSpPr>
        <p:spPr>
          <a:xfrm>
            <a:off x="6489802" y="4391198"/>
            <a:ext cx="91440" cy="91440"/>
          </a:xfrm>
          <a:prstGeom prst="diamond">
            <a:avLst/>
          </a:prstGeom>
          <a:solidFill>
            <a:srgbClr val="0E7C86"/>
          </a:solidFill>
          <a:ln/>
        </p:spPr>
      </p:sp>
      <p:sp>
        <p:nvSpPr>
          <p:cNvPr id="61" name="Text 59"/>
          <p:cNvSpPr/>
          <p:nvPr/>
        </p:nvSpPr>
        <p:spPr>
          <a:xfrm>
            <a:off x="9765792" y="4290614"/>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0.40 (-0.06 to 0.87)</a:t>
            </a:r>
            <a:endParaRPr lang="en-US" sz="950" dirty="0"/>
          </a:p>
        </p:txBody>
      </p:sp>
      <p:sp>
        <p:nvSpPr>
          <p:cNvPr id="62" name="Text 60"/>
          <p:cNvSpPr/>
          <p:nvPr/>
        </p:nvSpPr>
        <p:spPr>
          <a:xfrm>
            <a:off x="640080" y="4668843"/>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UACR &gt; 1000</a:t>
            </a:r>
            <a:endParaRPr lang="en-US" sz="1100" dirty="0"/>
          </a:p>
        </p:txBody>
      </p:sp>
      <p:sp>
        <p:nvSpPr>
          <p:cNvPr id="63" name="Shape 61"/>
          <p:cNvSpPr/>
          <p:nvPr/>
        </p:nvSpPr>
        <p:spPr>
          <a:xfrm>
            <a:off x="6834073" y="4815147"/>
            <a:ext cx="2388413" cy="0"/>
          </a:xfrm>
          <a:prstGeom prst="line">
            <a:avLst/>
          </a:prstGeom>
          <a:noFill/>
          <a:ln w="25400">
            <a:solidFill>
              <a:srgbClr val="57979A"/>
            </a:solidFill>
            <a:prstDash val="solid"/>
          </a:ln>
        </p:spPr>
      </p:sp>
      <p:sp>
        <p:nvSpPr>
          <p:cNvPr id="64" name="Shape 62"/>
          <p:cNvSpPr/>
          <p:nvPr/>
        </p:nvSpPr>
        <p:spPr>
          <a:xfrm>
            <a:off x="6834073" y="4760283"/>
            <a:ext cx="0" cy="109728"/>
          </a:xfrm>
          <a:prstGeom prst="line">
            <a:avLst/>
          </a:prstGeom>
          <a:noFill/>
          <a:ln w="25400">
            <a:solidFill>
              <a:srgbClr val="57979A"/>
            </a:solidFill>
            <a:prstDash val="solid"/>
          </a:ln>
        </p:spPr>
      </p:sp>
      <p:sp>
        <p:nvSpPr>
          <p:cNvPr id="65" name="Shape 63"/>
          <p:cNvSpPr/>
          <p:nvPr/>
        </p:nvSpPr>
        <p:spPr>
          <a:xfrm>
            <a:off x="9222486" y="4760283"/>
            <a:ext cx="0" cy="109728"/>
          </a:xfrm>
          <a:prstGeom prst="line">
            <a:avLst/>
          </a:prstGeom>
          <a:noFill/>
          <a:ln w="25400">
            <a:solidFill>
              <a:srgbClr val="57979A"/>
            </a:solidFill>
            <a:prstDash val="solid"/>
          </a:ln>
        </p:spPr>
      </p:sp>
      <p:sp>
        <p:nvSpPr>
          <p:cNvPr id="66" name="Shape 64"/>
          <p:cNvSpPr/>
          <p:nvPr/>
        </p:nvSpPr>
        <p:spPr>
          <a:xfrm>
            <a:off x="7982560" y="4769427"/>
            <a:ext cx="91440" cy="91440"/>
          </a:xfrm>
          <a:prstGeom prst="diamond">
            <a:avLst/>
          </a:prstGeom>
          <a:solidFill>
            <a:srgbClr val="0E7C86"/>
          </a:solidFill>
          <a:ln/>
        </p:spPr>
      </p:sp>
      <p:sp>
        <p:nvSpPr>
          <p:cNvPr id="67" name="Text 65"/>
          <p:cNvSpPr/>
          <p:nvPr/>
        </p:nvSpPr>
        <p:spPr>
          <a:xfrm>
            <a:off x="9765792" y="4668843"/>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1.15 (0.55 to 1.75)</a:t>
            </a:r>
            <a:endParaRPr lang="en-US" sz="950" dirty="0"/>
          </a:p>
        </p:txBody>
      </p:sp>
      <p:sp>
        <p:nvSpPr>
          <p:cNvPr id="68" name="Text 66"/>
          <p:cNvSpPr/>
          <p:nvPr/>
        </p:nvSpPr>
        <p:spPr>
          <a:xfrm>
            <a:off x="640080" y="5047072"/>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SGLT2i: yes</a:t>
            </a:r>
            <a:endParaRPr lang="en-US" sz="1100" dirty="0"/>
          </a:p>
        </p:txBody>
      </p:sp>
      <p:sp>
        <p:nvSpPr>
          <p:cNvPr id="69" name="Shape 67"/>
          <p:cNvSpPr/>
          <p:nvPr/>
        </p:nvSpPr>
        <p:spPr>
          <a:xfrm>
            <a:off x="5619963" y="5193376"/>
            <a:ext cx="3562716" cy="0"/>
          </a:xfrm>
          <a:prstGeom prst="line">
            <a:avLst/>
          </a:prstGeom>
          <a:noFill/>
          <a:ln w="25400">
            <a:solidFill>
              <a:srgbClr val="57979A"/>
            </a:solidFill>
            <a:prstDash val="solid"/>
          </a:ln>
        </p:spPr>
      </p:sp>
      <p:sp>
        <p:nvSpPr>
          <p:cNvPr id="70" name="Shape 68"/>
          <p:cNvSpPr/>
          <p:nvPr/>
        </p:nvSpPr>
        <p:spPr>
          <a:xfrm>
            <a:off x="5619963" y="5138512"/>
            <a:ext cx="0" cy="109728"/>
          </a:xfrm>
          <a:prstGeom prst="line">
            <a:avLst/>
          </a:prstGeom>
          <a:noFill/>
          <a:ln w="25400">
            <a:solidFill>
              <a:srgbClr val="57979A"/>
            </a:solidFill>
            <a:prstDash val="solid"/>
          </a:ln>
        </p:spPr>
      </p:sp>
      <p:sp>
        <p:nvSpPr>
          <p:cNvPr id="71" name="Shape 69"/>
          <p:cNvSpPr/>
          <p:nvPr/>
        </p:nvSpPr>
        <p:spPr>
          <a:xfrm>
            <a:off x="9182679" y="5138512"/>
            <a:ext cx="0" cy="109728"/>
          </a:xfrm>
          <a:prstGeom prst="line">
            <a:avLst/>
          </a:prstGeom>
          <a:noFill/>
          <a:ln w="25400">
            <a:solidFill>
              <a:srgbClr val="57979A"/>
            </a:solidFill>
            <a:prstDash val="solid"/>
          </a:ln>
        </p:spPr>
      </p:sp>
      <p:sp>
        <p:nvSpPr>
          <p:cNvPr id="72" name="Shape 70"/>
          <p:cNvSpPr/>
          <p:nvPr/>
        </p:nvSpPr>
        <p:spPr>
          <a:xfrm>
            <a:off x="7365553" y="5147656"/>
            <a:ext cx="91440" cy="91440"/>
          </a:xfrm>
          <a:prstGeom prst="diamond">
            <a:avLst/>
          </a:prstGeom>
          <a:solidFill>
            <a:srgbClr val="0E7C86"/>
          </a:solidFill>
          <a:ln/>
        </p:spPr>
      </p:sp>
      <p:sp>
        <p:nvSpPr>
          <p:cNvPr id="73" name="Text 71"/>
          <p:cNvSpPr/>
          <p:nvPr/>
        </p:nvSpPr>
        <p:spPr>
          <a:xfrm>
            <a:off x="9765792" y="5047072"/>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0.84 (-0.06 to 1.73)</a:t>
            </a:r>
            <a:endParaRPr lang="en-US" sz="950" dirty="0"/>
          </a:p>
        </p:txBody>
      </p:sp>
      <p:sp>
        <p:nvSpPr>
          <p:cNvPr id="74" name="Text 72"/>
          <p:cNvSpPr/>
          <p:nvPr/>
        </p:nvSpPr>
        <p:spPr>
          <a:xfrm>
            <a:off x="640080" y="5425301"/>
            <a:ext cx="3017520" cy="292608"/>
          </a:xfrm>
          <a:prstGeom prst="rect">
            <a:avLst/>
          </a:prstGeom>
          <a:noFill/>
          <a:ln/>
        </p:spPr>
        <p:txBody>
          <a:bodyPr wrap="square" lIns="0" tIns="0" rIns="0" bIns="0" rtlCol="0" anchor="ctr"/>
          <a:lstStyle/>
          <a:p>
            <a:pPr indent="0" marL="0">
              <a:buNone/>
            </a:pPr>
            <a:r>
              <a:rPr lang="en-US" sz="1100" dirty="0">
                <a:solidFill>
                  <a:srgbClr val="203034"/>
                </a:solidFill>
                <a:latin typeface="Calibri" pitchFamily="34" charset="0"/>
                <a:ea typeface="Calibri" pitchFamily="34" charset="-122"/>
                <a:cs typeface="Calibri" pitchFamily="34" charset="-120"/>
              </a:rPr>
              <a:t>SGLT2i: no</a:t>
            </a:r>
            <a:endParaRPr lang="en-US" sz="1100" dirty="0"/>
          </a:p>
        </p:txBody>
      </p:sp>
      <p:sp>
        <p:nvSpPr>
          <p:cNvPr id="75" name="Shape 73"/>
          <p:cNvSpPr/>
          <p:nvPr/>
        </p:nvSpPr>
        <p:spPr>
          <a:xfrm>
            <a:off x="6236970" y="5571605"/>
            <a:ext cx="1612179" cy="0"/>
          </a:xfrm>
          <a:prstGeom prst="line">
            <a:avLst/>
          </a:prstGeom>
          <a:noFill/>
          <a:ln w="25400">
            <a:solidFill>
              <a:srgbClr val="57979A"/>
            </a:solidFill>
            <a:prstDash val="solid"/>
          </a:ln>
        </p:spPr>
      </p:sp>
      <p:sp>
        <p:nvSpPr>
          <p:cNvPr id="76" name="Shape 74"/>
          <p:cNvSpPr/>
          <p:nvPr/>
        </p:nvSpPr>
        <p:spPr>
          <a:xfrm>
            <a:off x="6236970" y="5516741"/>
            <a:ext cx="0" cy="109728"/>
          </a:xfrm>
          <a:prstGeom prst="line">
            <a:avLst/>
          </a:prstGeom>
          <a:noFill/>
          <a:ln w="25400">
            <a:solidFill>
              <a:srgbClr val="57979A"/>
            </a:solidFill>
            <a:prstDash val="solid"/>
          </a:ln>
        </p:spPr>
      </p:sp>
      <p:sp>
        <p:nvSpPr>
          <p:cNvPr id="77" name="Shape 75"/>
          <p:cNvSpPr/>
          <p:nvPr/>
        </p:nvSpPr>
        <p:spPr>
          <a:xfrm>
            <a:off x="7849149" y="5516741"/>
            <a:ext cx="0" cy="109728"/>
          </a:xfrm>
          <a:prstGeom prst="line">
            <a:avLst/>
          </a:prstGeom>
          <a:noFill/>
          <a:ln w="25400">
            <a:solidFill>
              <a:srgbClr val="57979A"/>
            </a:solidFill>
            <a:prstDash val="solid"/>
          </a:ln>
        </p:spPr>
      </p:sp>
      <p:sp>
        <p:nvSpPr>
          <p:cNvPr id="78" name="Shape 76"/>
          <p:cNvSpPr/>
          <p:nvPr/>
        </p:nvSpPr>
        <p:spPr>
          <a:xfrm>
            <a:off x="6987388" y="5525885"/>
            <a:ext cx="91440" cy="91440"/>
          </a:xfrm>
          <a:prstGeom prst="diamond">
            <a:avLst/>
          </a:prstGeom>
          <a:solidFill>
            <a:srgbClr val="0E7C86"/>
          </a:solidFill>
          <a:ln/>
        </p:spPr>
      </p:sp>
      <p:sp>
        <p:nvSpPr>
          <p:cNvPr id="79" name="Text 77"/>
          <p:cNvSpPr/>
          <p:nvPr/>
        </p:nvSpPr>
        <p:spPr>
          <a:xfrm>
            <a:off x="9765792" y="5425301"/>
            <a:ext cx="1783080" cy="292608"/>
          </a:xfrm>
          <a:prstGeom prst="rect">
            <a:avLst/>
          </a:prstGeom>
          <a:noFill/>
          <a:ln/>
        </p:spPr>
        <p:txBody>
          <a:bodyPr wrap="square" lIns="0" tIns="0" rIns="0" bIns="0" rtlCol="0" anchor="ctr"/>
          <a:lstStyle/>
          <a:p>
            <a:pPr indent="0" marL="0">
              <a:buNone/>
            </a:pPr>
            <a:r>
              <a:rPr lang="en-US" sz="950" dirty="0">
                <a:solidFill>
                  <a:srgbClr val="667578"/>
                </a:solidFill>
                <a:latin typeface="Calibri" pitchFamily="34" charset="0"/>
                <a:ea typeface="Calibri" pitchFamily="34" charset="-122"/>
                <a:cs typeface="Calibri" pitchFamily="34" charset="-120"/>
              </a:rPr>
              <a:t>0.65 (0.25 to 1.06)</a:t>
            </a:r>
            <a:endParaRPr lang="en-US" sz="950" dirty="0"/>
          </a:p>
        </p:txBody>
      </p:sp>
      <p:sp>
        <p:nvSpPr>
          <p:cNvPr id="80" name="Text 78"/>
          <p:cNvSpPr/>
          <p:nvPr/>
        </p:nvSpPr>
        <p:spPr>
          <a:xfrm>
            <a:off x="640080" y="6492240"/>
            <a:ext cx="8686800" cy="219456"/>
          </a:xfrm>
          <a:prstGeom prst="rect">
            <a:avLst/>
          </a:prstGeom>
          <a:noFill/>
          <a:ln/>
        </p:spPr>
        <p:txBody>
          <a:bodyPr wrap="square" lIns="0" tIns="0" rIns="0" bIns="0" rtlCol="0" anchor="ctr"/>
          <a:lstStyle/>
          <a:p>
            <a:pPr indent="0" marL="0">
              <a:buNone/>
            </a:pPr>
            <a:r>
              <a:rPr lang="en-US" sz="850" i="1" dirty="0">
                <a:solidFill>
                  <a:srgbClr val="667578"/>
                </a:solidFill>
                <a:latin typeface="Calibri" pitchFamily="34" charset="0"/>
                <a:ea typeface="Calibri" pitchFamily="34" charset="-122"/>
                <a:cs typeface="Calibri" pitchFamily="34" charset="-120"/>
              </a:rPr>
              <a:t>Adapted from Figure 2. CIs not adjusted for multiplicity.</a:t>
            </a:r>
            <a:endParaRPr lang="en-US" sz="850" dirty="0"/>
          </a:p>
        </p:txBody>
      </p:sp>
      <p:sp>
        <p:nvSpPr>
          <p:cNvPr id="81" name="Text 79"/>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Secondary clinical outcomes</a:t>
            </a:r>
            <a:endParaRPr lang="en-US" sz="2700" dirty="0"/>
          </a:p>
        </p:txBody>
      </p:sp>
      <p:graphicFrame>
        <p:nvGraphicFramePr>
          <p:cNvPr id="3" name="Chart 0" descr=""/>
          <p:cNvGraphicFramePr/>
          <p:nvPr/>
        </p:nvGraphicFramePr>
        <p:xfrm>
          <a:off x="640080" y="1371600"/>
          <a:ext cx="594360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463040"/>
            <a:ext cx="4599432" cy="457200"/>
          </a:xfrm>
          <a:prstGeom prst="rect">
            <a:avLst/>
          </a:prstGeom>
          <a:solidFill>
            <a:srgbClr val="0B3D46"/>
          </a:solidFill>
          <a:ln/>
        </p:spPr>
      </p:sp>
      <p:sp>
        <p:nvSpPr>
          <p:cNvPr id="5" name="Text 2"/>
          <p:cNvSpPr/>
          <p:nvPr/>
        </p:nvSpPr>
        <p:spPr>
          <a:xfrm>
            <a:off x="7059168" y="1463040"/>
            <a:ext cx="1380927"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Composite</a:t>
            </a:r>
            <a:endParaRPr lang="en-US" sz="1200" dirty="0"/>
          </a:p>
        </p:txBody>
      </p:sp>
      <p:sp>
        <p:nvSpPr>
          <p:cNvPr id="6" name="Text 3"/>
          <p:cNvSpPr/>
          <p:nvPr/>
        </p:nvSpPr>
        <p:spPr>
          <a:xfrm>
            <a:off x="8622975" y="1463040"/>
            <a:ext cx="828995"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 / Plac</a:t>
            </a:r>
            <a:endParaRPr lang="en-US" sz="1200" dirty="0"/>
          </a:p>
        </p:txBody>
      </p:sp>
      <p:sp>
        <p:nvSpPr>
          <p:cNvPr id="7" name="Text 4"/>
          <p:cNvSpPr/>
          <p:nvPr/>
        </p:nvSpPr>
        <p:spPr>
          <a:xfrm>
            <a:off x="9634850" y="1463040"/>
            <a:ext cx="920984"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HR (95% CI)</a:t>
            </a:r>
            <a:endParaRPr lang="en-US" sz="1200" dirty="0"/>
          </a:p>
        </p:txBody>
      </p:sp>
      <p:sp>
        <p:nvSpPr>
          <p:cNvPr id="8" name="Text 5"/>
          <p:cNvSpPr/>
          <p:nvPr/>
        </p:nvSpPr>
        <p:spPr>
          <a:xfrm>
            <a:off x="10738714" y="1463040"/>
            <a:ext cx="737006"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a:t>
            </a:r>
            <a:endParaRPr lang="en-US" sz="1200" dirty="0"/>
          </a:p>
        </p:txBody>
      </p:sp>
      <p:sp>
        <p:nvSpPr>
          <p:cNvPr id="9" name="Shape 6"/>
          <p:cNvSpPr/>
          <p:nvPr/>
        </p:nvSpPr>
        <p:spPr>
          <a:xfrm>
            <a:off x="6949440" y="2578608"/>
            <a:ext cx="4599432" cy="0"/>
          </a:xfrm>
          <a:prstGeom prst="line">
            <a:avLst/>
          </a:prstGeom>
          <a:noFill/>
          <a:ln w="9525">
            <a:solidFill>
              <a:srgbClr val="C9D6D6"/>
            </a:solidFill>
            <a:prstDash val="solid"/>
          </a:ln>
        </p:spPr>
      </p:sp>
      <p:sp>
        <p:nvSpPr>
          <p:cNvPr id="10" name="Text 7"/>
          <p:cNvSpPr/>
          <p:nvPr/>
        </p:nvSpPr>
        <p:spPr>
          <a:xfrm>
            <a:off x="7059168" y="1920240"/>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Kidney–CV</a:t>
            </a:r>
            <a:endParaRPr lang="en-US" sz="1100" dirty="0"/>
          </a:p>
        </p:txBody>
      </p:sp>
      <p:sp>
        <p:nvSpPr>
          <p:cNvPr id="11" name="Text 8"/>
          <p:cNvSpPr/>
          <p:nvPr/>
        </p:nvSpPr>
        <p:spPr>
          <a:xfrm>
            <a:off x="8622975" y="1920240"/>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110 / 134</a:t>
            </a:r>
            <a:endParaRPr lang="en-US" sz="1100" dirty="0"/>
          </a:p>
        </p:txBody>
      </p:sp>
      <p:sp>
        <p:nvSpPr>
          <p:cNvPr id="12" name="Text 9"/>
          <p:cNvSpPr/>
          <p:nvPr/>
        </p:nvSpPr>
        <p:spPr>
          <a:xfrm>
            <a:off x="9634850" y="1920240"/>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0.77 (0.60–0.99)</a:t>
            </a:r>
            <a:endParaRPr lang="en-US" sz="1100" dirty="0"/>
          </a:p>
        </p:txBody>
      </p:sp>
      <p:sp>
        <p:nvSpPr>
          <p:cNvPr id="13" name="Text 10"/>
          <p:cNvSpPr/>
          <p:nvPr/>
        </p:nvSpPr>
        <p:spPr>
          <a:xfrm>
            <a:off x="10738714" y="1920240"/>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0.04</a:t>
            </a:r>
            <a:endParaRPr lang="en-US" sz="1100" dirty="0"/>
          </a:p>
        </p:txBody>
      </p:sp>
      <p:sp>
        <p:nvSpPr>
          <p:cNvPr id="14" name="Shape 11"/>
          <p:cNvSpPr/>
          <p:nvPr/>
        </p:nvSpPr>
        <p:spPr>
          <a:xfrm>
            <a:off x="6949440" y="3236976"/>
            <a:ext cx="4599432" cy="0"/>
          </a:xfrm>
          <a:prstGeom prst="line">
            <a:avLst/>
          </a:prstGeom>
          <a:noFill/>
          <a:ln w="9525">
            <a:solidFill>
              <a:srgbClr val="C9D6D6"/>
            </a:solidFill>
            <a:prstDash val="solid"/>
          </a:ln>
        </p:spPr>
      </p:sp>
      <p:sp>
        <p:nvSpPr>
          <p:cNvPr id="15" name="Text 12"/>
          <p:cNvSpPr/>
          <p:nvPr/>
        </p:nvSpPr>
        <p:spPr>
          <a:xfrm>
            <a:off x="7059168" y="2578608"/>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Kidney</a:t>
            </a:r>
            <a:endParaRPr lang="en-US" sz="1100" dirty="0"/>
          </a:p>
        </p:txBody>
      </p:sp>
      <p:sp>
        <p:nvSpPr>
          <p:cNvPr id="16" name="Text 13"/>
          <p:cNvSpPr/>
          <p:nvPr/>
        </p:nvSpPr>
        <p:spPr>
          <a:xfrm>
            <a:off x="8622975" y="2578608"/>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104 / 125</a:t>
            </a:r>
            <a:endParaRPr lang="en-US" sz="1100" dirty="0"/>
          </a:p>
        </p:txBody>
      </p:sp>
      <p:sp>
        <p:nvSpPr>
          <p:cNvPr id="17" name="Text 14"/>
          <p:cNvSpPr/>
          <p:nvPr/>
        </p:nvSpPr>
        <p:spPr>
          <a:xfrm>
            <a:off x="9634850" y="2578608"/>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0.78 (0.60–1.01)</a:t>
            </a:r>
            <a:endParaRPr lang="en-US" sz="1100" dirty="0"/>
          </a:p>
        </p:txBody>
      </p:sp>
      <p:sp>
        <p:nvSpPr>
          <p:cNvPr id="18" name="Text 15"/>
          <p:cNvSpPr/>
          <p:nvPr/>
        </p:nvSpPr>
        <p:spPr>
          <a:xfrm>
            <a:off x="10738714" y="2578608"/>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0.06</a:t>
            </a:r>
            <a:endParaRPr lang="en-US" sz="1100" dirty="0"/>
          </a:p>
        </p:txBody>
      </p:sp>
      <p:sp>
        <p:nvSpPr>
          <p:cNvPr id="19" name="Shape 16"/>
          <p:cNvSpPr/>
          <p:nvPr/>
        </p:nvSpPr>
        <p:spPr>
          <a:xfrm>
            <a:off x="6949440" y="3895344"/>
            <a:ext cx="4599432" cy="0"/>
          </a:xfrm>
          <a:prstGeom prst="line">
            <a:avLst/>
          </a:prstGeom>
          <a:noFill/>
          <a:ln w="9525">
            <a:solidFill>
              <a:srgbClr val="C9D6D6"/>
            </a:solidFill>
            <a:prstDash val="solid"/>
          </a:ln>
        </p:spPr>
      </p:sp>
      <p:sp>
        <p:nvSpPr>
          <p:cNvPr id="20" name="Text 17"/>
          <p:cNvSpPr/>
          <p:nvPr/>
        </p:nvSpPr>
        <p:spPr>
          <a:xfrm>
            <a:off x="7059168" y="3236976"/>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CV</a:t>
            </a:r>
            <a:endParaRPr lang="en-US" sz="1100" dirty="0"/>
          </a:p>
        </p:txBody>
      </p:sp>
      <p:sp>
        <p:nvSpPr>
          <p:cNvPr id="21" name="Text 18"/>
          <p:cNvSpPr/>
          <p:nvPr/>
        </p:nvSpPr>
        <p:spPr>
          <a:xfrm>
            <a:off x="8622975" y="3236976"/>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10 / 16</a:t>
            </a:r>
            <a:endParaRPr lang="en-US" sz="1100" dirty="0"/>
          </a:p>
        </p:txBody>
      </p:sp>
      <p:sp>
        <p:nvSpPr>
          <p:cNvPr id="22" name="Text 19"/>
          <p:cNvSpPr/>
          <p:nvPr/>
        </p:nvSpPr>
        <p:spPr>
          <a:xfrm>
            <a:off x="9634850" y="3236976"/>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0.60 (0.27–1.33)</a:t>
            </a:r>
            <a:endParaRPr lang="en-US" sz="1100" dirty="0"/>
          </a:p>
        </p:txBody>
      </p:sp>
      <p:sp>
        <p:nvSpPr>
          <p:cNvPr id="23" name="Text 20"/>
          <p:cNvSpPr/>
          <p:nvPr/>
        </p:nvSpPr>
        <p:spPr>
          <a:xfrm>
            <a:off x="10738714" y="3236976"/>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a:t>
            </a:r>
            <a:endParaRPr lang="en-US" sz="1100" dirty="0"/>
          </a:p>
        </p:txBody>
      </p:sp>
      <p:sp>
        <p:nvSpPr>
          <p:cNvPr id="24" name="Text 21"/>
          <p:cNvSpPr/>
          <p:nvPr/>
        </p:nvSpPr>
        <p:spPr>
          <a:xfrm>
            <a:off x="6949440" y="4078224"/>
            <a:ext cx="4599432" cy="1463040"/>
          </a:xfrm>
          <a:prstGeom prst="rect">
            <a:avLst/>
          </a:prstGeom>
          <a:noFill/>
          <a:ln/>
        </p:spPr>
        <p:txBody>
          <a:bodyPr wrap="square" lIns="0" tIns="0" rIns="0" bIns="0" rtlCol="0" anchor="ctr"/>
          <a:lstStyle/>
          <a:p>
            <a:pPr indent="0" marL="0">
              <a:lnSpc>
                <a:spcPct val="120000"/>
              </a:lnSpc>
              <a:buNone/>
            </a:pPr>
            <a:r>
              <a:rPr lang="en-US" sz="1200" dirty="0">
                <a:solidFill>
                  <a:srgbClr val="203034"/>
                </a:solidFill>
                <a:latin typeface="Calibri" pitchFamily="34" charset="0"/>
                <a:ea typeface="Calibri" pitchFamily="34" charset="-122"/>
                <a:cs typeface="Calibri" pitchFamily="34" charset="-120"/>
              </a:rPr>
              <a:t>Finerenone vs placebo, n of events. The hierarchy is protected at the kidney–CV composite (23% lower risk); P values below it are nominal, and the CV composite rests on only 26 events.</a:t>
            </a:r>
            <a:endParaRPr lang="en-US" sz="1200" dirty="0"/>
          </a:p>
        </p:txBody>
      </p:sp>
      <p:sp>
        <p:nvSpPr>
          <p:cNvPr id="25" name="Text 22"/>
          <p:cNvSpPr/>
          <p:nvPr/>
        </p:nvSpPr>
        <p:spPr>
          <a:xfrm>
            <a:off x="640080" y="6492240"/>
            <a:ext cx="8686800" cy="219456"/>
          </a:xfrm>
          <a:prstGeom prst="rect">
            <a:avLst/>
          </a:prstGeom>
          <a:noFill/>
          <a:ln/>
        </p:spPr>
        <p:txBody>
          <a:bodyPr wrap="square" lIns="0" tIns="0" rIns="0" bIns="0" rtlCol="0" anchor="ctr"/>
          <a:lstStyle/>
          <a:p>
            <a:pPr indent="0" marL="0">
              <a:buNone/>
            </a:pPr>
            <a:r>
              <a:rPr lang="en-US" sz="850" i="1" dirty="0">
                <a:solidFill>
                  <a:srgbClr val="667578"/>
                </a:solidFill>
                <a:latin typeface="Calibri" pitchFamily="34" charset="0"/>
                <a:ea typeface="Calibri" pitchFamily="34" charset="-122"/>
                <a:cs typeface="Calibri" pitchFamily="34" charset="-120"/>
              </a:rPr>
              <a:t>Adapted from Figure 3 (cumulative incidence reconstructed).</a:t>
            </a:r>
            <a:endParaRPr lang="en-US" sz="850" dirty="0"/>
          </a:p>
        </p:txBody>
      </p:sp>
      <p:sp>
        <p:nvSpPr>
          <p:cNvPr id="26" name="Text 23"/>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Safety: hyperkalemia in focus</a:t>
            </a:r>
            <a:endParaRPr lang="en-US" sz="2700" dirty="0"/>
          </a:p>
        </p:txBody>
      </p:sp>
      <p:sp>
        <p:nvSpPr>
          <p:cNvPr id="3" name="Text 1"/>
          <p:cNvSpPr/>
          <p:nvPr/>
        </p:nvSpPr>
        <p:spPr>
          <a:xfrm>
            <a:off x="640080" y="1188720"/>
            <a:ext cx="10908792" cy="502920"/>
          </a:xfrm>
          <a:prstGeom prst="rect">
            <a:avLst/>
          </a:prstGeom>
          <a:noFill/>
          <a:ln/>
        </p:spPr>
        <p:txBody>
          <a:bodyPr wrap="square" lIns="0" tIns="0" rIns="0" bIns="0" rtlCol="0" anchor="ctr"/>
          <a:lstStyle/>
          <a:p>
            <a:pPr indent="0" marL="0">
              <a:lnSpc>
                <a:spcPct val="115000"/>
              </a:lnSpc>
              <a:buNone/>
            </a:pPr>
            <a:r>
              <a:rPr lang="en-US" sz="1300" dirty="0">
                <a:solidFill>
                  <a:srgbClr val="203034"/>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300" dirty="0"/>
          </a:p>
        </p:txBody>
      </p:sp>
      <p:graphicFrame>
        <p:nvGraphicFramePr>
          <p:cNvPr id="4" name="Chart 0" descr=""/>
          <p:cNvGraphicFramePr/>
          <p:nvPr/>
        </p:nvGraphicFramePr>
        <p:xfrm>
          <a:off x="640080" y="1828800"/>
          <a:ext cx="731520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229600" y="1920240"/>
            <a:ext cx="3319272" cy="292608"/>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What it means</a:t>
            </a:r>
            <a:endParaRPr lang="en-US" sz="1400" dirty="0"/>
          </a:p>
        </p:txBody>
      </p:sp>
      <p:sp>
        <p:nvSpPr>
          <p:cNvPr id="6" name="Text 3"/>
          <p:cNvSpPr/>
          <p:nvPr/>
        </p:nvSpPr>
        <p:spPr>
          <a:xfrm>
            <a:off x="8229600" y="2331720"/>
            <a:ext cx="3319272" cy="365760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250" dirty="0">
                <a:solidFill>
                  <a:srgbClr val="203034"/>
                </a:solidFill>
                <a:latin typeface="Calibri" pitchFamily="34" charset="0"/>
                <a:ea typeface="Calibri" pitchFamily="34" charset="-122"/>
                <a:cs typeface="Calibri" pitchFamily="34" charset="-120"/>
              </a:rPr>
              <a:t>Hyperkalemia was the signature event, but the excess was modest.</a:t>
            </a:r>
            <a:endParaRPr lang="en-US" sz="1250" dirty="0"/>
          </a:p>
          <a:p>
            <a:pPr marL="203200" indent="-203200">
              <a:lnSpc>
                <a:spcPct val="115000"/>
              </a:lnSpc>
              <a:spcAft>
                <a:spcPts val="1000"/>
              </a:spcAft>
              <a:buSzPct val="100000"/>
              <a:buChar char="•"/>
            </a:pPr>
            <a:r>
              <a:rPr lang="en-US" sz="1250" dirty="0">
                <a:solidFill>
                  <a:srgbClr val="203034"/>
                </a:solidFill>
                <a:latin typeface="Calibri" pitchFamily="34" charset="0"/>
                <a:ea typeface="Calibri" pitchFamily="34" charset="-122"/>
                <a:cs typeface="Calibri" pitchFamily="34" charset="-120"/>
              </a:rPr>
              <a:t>Discontinuation for K⁺ 1.5% vs 0.1%; hospitalization 0.9% vs 0.6%; no fatal events.</a:t>
            </a:r>
            <a:endParaRPr lang="en-US" sz="1250" dirty="0"/>
          </a:p>
          <a:p>
            <a:pPr marL="203200" indent="-203200">
              <a:lnSpc>
                <a:spcPct val="115000"/>
              </a:lnSpc>
              <a:spcAft>
                <a:spcPts val="1000"/>
              </a:spcAft>
              <a:buSzPct val="100000"/>
              <a:buChar char="•"/>
            </a:pPr>
            <a:r>
              <a:rPr lang="en-US" sz="1250" dirty="0">
                <a:solidFill>
                  <a:srgbClr val="203034"/>
                </a:solidFill>
                <a:latin typeface="Calibri" pitchFamily="34" charset="0"/>
                <a:ea typeface="Calibri" pitchFamily="34" charset="-122"/>
                <a:cs typeface="Calibri" pitchFamily="34" charset="-120"/>
              </a:rPr>
              <a:t>AKI and hypotension low and similar.</a:t>
            </a:r>
            <a:endParaRPr lang="en-US" sz="1250" dirty="0"/>
          </a:p>
          <a:p>
            <a:pPr marL="203200" indent="-203200">
              <a:lnSpc>
                <a:spcPct val="115000"/>
              </a:lnSpc>
              <a:spcAft>
                <a:spcPts val="1000"/>
              </a:spcAft>
              <a:buSzPct val="100000"/>
              <a:buChar char="•"/>
            </a:pPr>
            <a:r>
              <a:rPr lang="en-US" sz="1250" dirty="0">
                <a:solidFill>
                  <a:srgbClr val="203034"/>
                </a:solidFill>
                <a:latin typeface="Calibri" pitchFamily="34" charset="0"/>
                <a:ea typeface="Calibri" pitchFamily="34" charset="-122"/>
                <a:cs typeface="Calibri" pitchFamily="34" charset="-120"/>
              </a:rPr>
              <a:t>No new safety signal versus the diabetes trials.</a:t>
            </a:r>
            <a:endParaRPr lang="en-US" sz="1250" dirty="0"/>
          </a:p>
        </p:txBody>
      </p:sp>
      <p:sp>
        <p:nvSpPr>
          <p:cNvPr id="7" name="Text 4"/>
          <p:cNvSpPr/>
          <p:nvPr/>
        </p:nvSpPr>
        <p:spPr>
          <a:xfrm>
            <a:off x="640080" y="6492240"/>
            <a:ext cx="8686800" cy="219456"/>
          </a:xfrm>
          <a:prstGeom prst="rect">
            <a:avLst/>
          </a:prstGeom>
          <a:noFill/>
          <a:ln/>
        </p:spPr>
        <p:txBody>
          <a:bodyPr wrap="square" lIns="0" tIns="0" rIns="0" bIns="0" rtlCol="0" anchor="ctr"/>
          <a:lstStyle/>
          <a:p>
            <a:pPr indent="0" marL="0">
              <a:buNone/>
            </a:pPr>
            <a:r>
              <a:rPr lang="en-US" sz="850" i="1" dirty="0">
                <a:solidFill>
                  <a:srgbClr val="667578"/>
                </a:solidFill>
                <a:latin typeface="Calibri" pitchFamily="34" charset="0"/>
                <a:ea typeface="Calibri" pitchFamily="34" charset="-122"/>
                <a:cs typeface="Calibri" pitchFamily="34" charset="-120"/>
              </a:rPr>
              <a:t>Adapted from Table 2 and text.</a:t>
            </a:r>
            <a:endParaRPr lang="en-US" sz="850" dirty="0"/>
          </a:p>
        </p:txBody>
      </p:sp>
      <p:sp>
        <p:nvSpPr>
          <p:cNvPr id="8" name="Text 5"/>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Strengths and limitations</a:t>
            </a:r>
            <a:endParaRPr lang="en-US" sz="2700" dirty="0"/>
          </a:p>
        </p:txBody>
      </p:sp>
      <p:sp>
        <p:nvSpPr>
          <p:cNvPr id="3" name="Text 1"/>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Strengths</a:t>
            </a:r>
            <a:endParaRPr lang="en-US" sz="1400" dirty="0"/>
          </a:p>
        </p:txBody>
      </p:sp>
      <p:sp>
        <p:nvSpPr>
          <p:cNvPr id="4" name="Text 2"/>
          <p:cNvSpPr/>
          <p:nvPr/>
        </p:nvSpPr>
        <p:spPr>
          <a:xfrm>
            <a:off x="640080" y="1645920"/>
            <a:ext cx="5134356" cy="365760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300" dirty="0"/>
          </a:p>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Double-blind, placebo-controlled, international; sponsor analyses re-run independently at Groningen.</a:t>
            </a:r>
            <a:endParaRPr lang="en-US" sz="1300" dirty="0"/>
          </a:p>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Endpoint modeled correctly, separating the reversible acute dip from the chronic slope.</a:t>
            </a:r>
            <a:endParaRPr lang="en-US" sz="1300" dirty="0"/>
          </a:p>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300" dirty="0"/>
          </a:p>
        </p:txBody>
      </p:sp>
      <p:sp>
        <p:nvSpPr>
          <p:cNvPr id="5" name="Text 3"/>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C67A22"/>
                </a:solidFill>
                <a:latin typeface="Calibri" pitchFamily="34" charset="0"/>
                <a:ea typeface="Calibri" pitchFamily="34" charset="-122"/>
                <a:cs typeface="Calibri" pitchFamily="34" charset="-120"/>
              </a:rPr>
              <a:t>Limitations</a:t>
            </a:r>
            <a:endParaRPr lang="en-US" sz="1400" dirty="0"/>
          </a:p>
        </p:txBody>
      </p:sp>
      <p:sp>
        <p:nvSpPr>
          <p:cNvPr id="6" name="Text 4"/>
          <p:cNvSpPr/>
          <p:nvPr/>
        </p:nvSpPr>
        <p:spPr>
          <a:xfrm>
            <a:off x="6414516" y="1645920"/>
            <a:ext cx="5134356" cy="365760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Primary endpoint is a surrogate; not powered for hard kidney or CV events.</a:t>
            </a:r>
            <a:endParaRPr lang="en-US" sz="1300" dirty="0"/>
          </a:p>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Two-thirds men, few Black participants, enriched for heavy albuminuria: limited generalizability.</a:t>
            </a:r>
            <a:endParaRPr lang="en-US" sz="1300" dirty="0"/>
          </a:p>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Only 17% on an SGLT2 inhibitor, so the finerenone-plus-SGLT2i question is not directly answered.</a:t>
            </a:r>
            <a:endParaRPr lang="en-US" sz="1300" dirty="0"/>
          </a:p>
          <a:p>
            <a:pPr marL="203200" indent="-203200">
              <a:lnSpc>
                <a:spcPct val="115000"/>
              </a:lnSpc>
              <a:spcAft>
                <a:spcPts val="1200"/>
              </a:spcAft>
              <a:buSzPct val="100000"/>
              <a:buChar char="–"/>
            </a:pPr>
            <a:r>
              <a:rPr lang="en-US" sz="1300" dirty="0">
                <a:solidFill>
                  <a:srgbClr val="203034"/>
                </a:solidFill>
                <a:latin typeface="Calibri" pitchFamily="34" charset="0"/>
                <a:ea typeface="Calibri" pitchFamily="34" charset="-122"/>
                <a:cs typeface="Calibri" pitchFamily="34" charset="-120"/>
              </a:rPr>
              <a:t>ADPKD, lupus nephritis and ANCA vasculitis excluded; ~36-month follow-up is short for lifelong CKD.</a:t>
            </a:r>
            <a:endParaRPr lang="en-US" sz="1300" dirty="0"/>
          </a:p>
        </p:txBody>
      </p:sp>
      <p:sp>
        <p:nvSpPr>
          <p:cNvPr id="7" name="Text 5"/>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20624"/>
            <a:ext cx="10908792" cy="548640"/>
          </a:xfrm>
          <a:prstGeom prst="rect">
            <a:avLst/>
          </a:prstGeom>
          <a:noFill/>
          <a:ln/>
        </p:spPr>
        <p:txBody>
          <a:bodyPr wrap="square" lIns="0" tIns="0" rIns="0" bIns="0" rtlCol="0" anchor="ctr"/>
          <a:lstStyle/>
          <a:p>
            <a:pPr indent="0" marL="0">
              <a:buNone/>
            </a:pPr>
            <a:r>
              <a:rPr lang="en-US" sz="2700" b="1" dirty="0">
                <a:solidFill>
                  <a:srgbClr val="0B3D46"/>
                </a:solidFill>
                <a:latin typeface="Cambria" pitchFamily="34" charset="0"/>
                <a:ea typeface="Cambria" pitchFamily="34" charset="-122"/>
                <a:cs typeface="Cambria" pitchFamily="34" charset="-120"/>
              </a:rPr>
              <a:t>FIND-CKD in context</a:t>
            </a:r>
            <a:endParaRPr lang="en-US" sz="2700" dirty="0"/>
          </a:p>
        </p:txBody>
      </p:sp>
      <p:sp>
        <p:nvSpPr>
          <p:cNvPr id="3" name="Shape 1"/>
          <p:cNvSpPr/>
          <p:nvPr/>
        </p:nvSpPr>
        <p:spPr>
          <a:xfrm>
            <a:off x="640080" y="1371600"/>
            <a:ext cx="10908792" cy="457200"/>
          </a:xfrm>
          <a:prstGeom prst="rect">
            <a:avLst/>
          </a:prstGeom>
          <a:solidFill>
            <a:srgbClr val="0B3D46"/>
          </a:solidFill>
          <a:ln/>
        </p:spPr>
      </p:sp>
      <p:sp>
        <p:nvSpPr>
          <p:cNvPr id="4" name="Text 2"/>
          <p:cNvSpPr/>
          <p:nvPr/>
        </p:nvSpPr>
        <p:spPr>
          <a:xfrm>
            <a:off x="749808" y="1371600"/>
            <a:ext cx="2560320" cy="457200"/>
          </a:xfrm>
          <a:prstGeom prst="rect">
            <a:avLst/>
          </a:prstGeom>
          <a:noFill/>
          <a:ln/>
        </p:spPr>
        <p:txBody>
          <a:bodyPr wrap="square" lIns="0" tIns="0" rIns="0" bIns="0" rtlCol="0" anchor="ctr"/>
          <a:lstStyle/>
          <a:p>
            <a:pPr algn="l" indent="0" marL="0">
              <a:lnSpc>
                <a:spcPct val="98000"/>
              </a:lnSpc>
              <a:buNone/>
            </a:pPr>
            <a:endParaRPr lang="en-US" sz="1200" dirty="0"/>
          </a:p>
        </p:txBody>
      </p:sp>
      <p:sp>
        <p:nvSpPr>
          <p:cNvPr id="5" name="Text 3"/>
          <p:cNvSpPr/>
          <p:nvPr/>
        </p:nvSpPr>
        <p:spPr>
          <a:xfrm>
            <a:off x="349300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FIDELIO-DKD</a:t>
            </a:r>
            <a:endParaRPr lang="en-US" sz="1200" dirty="0"/>
          </a:p>
        </p:txBody>
      </p:sp>
      <p:sp>
        <p:nvSpPr>
          <p:cNvPr id="6" name="Text 4"/>
          <p:cNvSpPr/>
          <p:nvPr/>
        </p:nvSpPr>
        <p:spPr>
          <a:xfrm>
            <a:off x="568756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FIGARO-DKD</a:t>
            </a:r>
            <a:endParaRPr lang="en-US" sz="1200" dirty="0"/>
          </a:p>
        </p:txBody>
      </p:sp>
      <p:sp>
        <p:nvSpPr>
          <p:cNvPr id="7" name="Text 5"/>
          <p:cNvSpPr/>
          <p:nvPr/>
        </p:nvSpPr>
        <p:spPr>
          <a:xfrm>
            <a:off x="788212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FIDELITY</a:t>
            </a:r>
            <a:endParaRPr lang="en-US" sz="1200" dirty="0"/>
          </a:p>
        </p:txBody>
      </p:sp>
      <p:sp>
        <p:nvSpPr>
          <p:cNvPr id="8" name="Text 6"/>
          <p:cNvSpPr/>
          <p:nvPr/>
        </p:nvSpPr>
        <p:spPr>
          <a:xfrm>
            <a:off x="10076688" y="1371600"/>
            <a:ext cx="1399032"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FIND-CKD</a:t>
            </a:r>
            <a:endParaRPr lang="en-US" sz="1200" dirty="0"/>
          </a:p>
        </p:txBody>
      </p:sp>
      <p:sp>
        <p:nvSpPr>
          <p:cNvPr id="9" name="Shape 7"/>
          <p:cNvSpPr/>
          <p:nvPr/>
        </p:nvSpPr>
        <p:spPr>
          <a:xfrm>
            <a:off x="640080" y="2377440"/>
            <a:ext cx="10908792" cy="0"/>
          </a:xfrm>
          <a:prstGeom prst="line">
            <a:avLst/>
          </a:prstGeom>
          <a:noFill/>
          <a:ln w="9525">
            <a:solidFill>
              <a:srgbClr val="C9D6D6"/>
            </a:solidFill>
            <a:prstDash val="solid"/>
          </a:ln>
        </p:spPr>
      </p:sp>
      <p:sp>
        <p:nvSpPr>
          <p:cNvPr id="10" name="Text 8"/>
          <p:cNvSpPr/>
          <p:nvPr/>
        </p:nvSpPr>
        <p:spPr>
          <a:xfrm>
            <a:off x="749808" y="182880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Population</a:t>
            </a:r>
            <a:endParaRPr lang="en-US" sz="1100" dirty="0"/>
          </a:p>
        </p:txBody>
      </p:sp>
      <p:sp>
        <p:nvSpPr>
          <p:cNvPr id="11" name="Text 9"/>
          <p:cNvSpPr/>
          <p:nvPr/>
        </p:nvSpPr>
        <p:spPr>
          <a:xfrm>
            <a:off x="349300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T2D + CKD</a:t>
            </a:r>
            <a:endParaRPr lang="en-US" sz="1100" dirty="0"/>
          </a:p>
        </p:txBody>
      </p:sp>
      <p:sp>
        <p:nvSpPr>
          <p:cNvPr id="12" name="Text 10"/>
          <p:cNvSpPr/>
          <p:nvPr/>
        </p:nvSpPr>
        <p:spPr>
          <a:xfrm>
            <a:off x="568756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T2D + CKD (earlier)</a:t>
            </a:r>
            <a:endParaRPr lang="en-US" sz="1100" dirty="0"/>
          </a:p>
        </p:txBody>
      </p:sp>
      <p:sp>
        <p:nvSpPr>
          <p:cNvPr id="13" name="Text 11"/>
          <p:cNvSpPr/>
          <p:nvPr/>
        </p:nvSpPr>
        <p:spPr>
          <a:xfrm>
            <a:off x="788212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T2D + CKD (pooled)</a:t>
            </a:r>
            <a:endParaRPr lang="en-US" sz="1100" dirty="0"/>
          </a:p>
        </p:txBody>
      </p:sp>
      <p:sp>
        <p:nvSpPr>
          <p:cNvPr id="14" name="Text 12"/>
          <p:cNvSpPr/>
          <p:nvPr/>
        </p:nvSpPr>
        <p:spPr>
          <a:xfrm>
            <a:off x="10076688" y="182880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CKD, no diabetes</a:t>
            </a:r>
            <a:endParaRPr lang="en-US" sz="1100" dirty="0"/>
          </a:p>
        </p:txBody>
      </p:sp>
      <p:sp>
        <p:nvSpPr>
          <p:cNvPr id="15" name="Shape 13"/>
          <p:cNvSpPr/>
          <p:nvPr/>
        </p:nvSpPr>
        <p:spPr>
          <a:xfrm>
            <a:off x="640080" y="2926080"/>
            <a:ext cx="10908792" cy="0"/>
          </a:xfrm>
          <a:prstGeom prst="line">
            <a:avLst/>
          </a:prstGeom>
          <a:noFill/>
          <a:ln w="9525">
            <a:solidFill>
              <a:srgbClr val="C9D6D6"/>
            </a:solidFill>
            <a:prstDash val="solid"/>
          </a:ln>
        </p:spPr>
      </p:sp>
      <p:sp>
        <p:nvSpPr>
          <p:cNvPr id="16" name="Text 14"/>
          <p:cNvSpPr/>
          <p:nvPr/>
        </p:nvSpPr>
        <p:spPr>
          <a:xfrm>
            <a:off x="749808" y="237744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N</a:t>
            </a:r>
            <a:endParaRPr lang="en-US" sz="1100" dirty="0"/>
          </a:p>
        </p:txBody>
      </p:sp>
      <p:sp>
        <p:nvSpPr>
          <p:cNvPr id="17" name="Text 15"/>
          <p:cNvSpPr/>
          <p:nvPr/>
        </p:nvSpPr>
        <p:spPr>
          <a:xfrm>
            <a:off x="349300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5674</a:t>
            </a:r>
            <a:endParaRPr lang="en-US" sz="1100" dirty="0"/>
          </a:p>
        </p:txBody>
      </p:sp>
      <p:sp>
        <p:nvSpPr>
          <p:cNvPr id="18" name="Text 16"/>
          <p:cNvSpPr/>
          <p:nvPr/>
        </p:nvSpPr>
        <p:spPr>
          <a:xfrm>
            <a:off x="568756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7437</a:t>
            </a:r>
            <a:endParaRPr lang="en-US" sz="1100" dirty="0"/>
          </a:p>
        </p:txBody>
      </p:sp>
      <p:sp>
        <p:nvSpPr>
          <p:cNvPr id="19" name="Text 17"/>
          <p:cNvSpPr/>
          <p:nvPr/>
        </p:nvSpPr>
        <p:spPr>
          <a:xfrm>
            <a:off x="788212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13,026</a:t>
            </a:r>
            <a:endParaRPr lang="en-US" sz="1100" dirty="0"/>
          </a:p>
        </p:txBody>
      </p:sp>
      <p:sp>
        <p:nvSpPr>
          <p:cNvPr id="20" name="Text 18"/>
          <p:cNvSpPr/>
          <p:nvPr/>
        </p:nvSpPr>
        <p:spPr>
          <a:xfrm>
            <a:off x="10076688" y="237744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1584</a:t>
            </a:r>
            <a:endParaRPr lang="en-US" sz="1100" dirty="0"/>
          </a:p>
        </p:txBody>
      </p:sp>
      <p:sp>
        <p:nvSpPr>
          <p:cNvPr id="21" name="Shape 19"/>
          <p:cNvSpPr/>
          <p:nvPr/>
        </p:nvSpPr>
        <p:spPr>
          <a:xfrm>
            <a:off x="640080" y="3474720"/>
            <a:ext cx="10908792" cy="0"/>
          </a:xfrm>
          <a:prstGeom prst="line">
            <a:avLst/>
          </a:prstGeom>
          <a:noFill/>
          <a:ln w="9525">
            <a:solidFill>
              <a:srgbClr val="C9D6D6"/>
            </a:solidFill>
            <a:prstDash val="solid"/>
          </a:ln>
        </p:spPr>
      </p:sp>
      <p:sp>
        <p:nvSpPr>
          <p:cNvPr id="22" name="Text 20"/>
          <p:cNvSpPr/>
          <p:nvPr/>
        </p:nvSpPr>
        <p:spPr>
          <a:xfrm>
            <a:off x="749808" y="292608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Primary endpoint</a:t>
            </a:r>
            <a:endParaRPr lang="en-US" sz="1100" dirty="0"/>
          </a:p>
        </p:txBody>
      </p:sp>
      <p:sp>
        <p:nvSpPr>
          <p:cNvPr id="23" name="Text 21"/>
          <p:cNvSpPr/>
          <p:nvPr/>
        </p:nvSpPr>
        <p:spPr>
          <a:xfrm>
            <a:off x="349300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Kidney composite</a:t>
            </a:r>
            <a:endParaRPr lang="en-US" sz="1100" dirty="0"/>
          </a:p>
        </p:txBody>
      </p:sp>
      <p:sp>
        <p:nvSpPr>
          <p:cNvPr id="24" name="Text 22"/>
          <p:cNvSpPr/>
          <p:nvPr/>
        </p:nvSpPr>
        <p:spPr>
          <a:xfrm>
            <a:off x="568756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CV composite</a:t>
            </a:r>
            <a:endParaRPr lang="en-US" sz="1100" dirty="0"/>
          </a:p>
        </p:txBody>
      </p:sp>
      <p:sp>
        <p:nvSpPr>
          <p:cNvPr id="25" name="Text 23"/>
          <p:cNvSpPr/>
          <p:nvPr/>
        </p:nvSpPr>
        <p:spPr>
          <a:xfrm>
            <a:off x="788212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(pooled)</a:t>
            </a:r>
            <a:endParaRPr lang="en-US" sz="1100" dirty="0"/>
          </a:p>
        </p:txBody>
      </p:sp>
      <p:sp>
        <p:nvSpPr>
          <p:cNvPr id="26" name="Text 24"/>
          <p:cNvSpPr/>
          <p:nvPr/>
        </p:nvSpPr>
        <p:spPr>
          <a:xfrm>
            <a:off x="10076688" y="292608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eGFR slope</a:t>
            </a:r>
            <a:endParaRPr lang="en-US" sz="1100" dirty="0"/>
          </a:p>
        </p:txBody>
      </p:sp>
      <p:sp>
        <p:nvSpPr>
          <p:cNvPr id="27" name="Shape 25"/>
          <p:cNvSpPr/>
          <p:nvPr/>
        </p:nvSpPr>
        <p:spPr>
          <a:xfrm>
            <a:off x="640080" y="4023360"/>
            <a:ext cx="10908792" cy="0"/>
          </a:xfrm>
          <a:prstGeom prst="line">
            <a:avLst/>
          </a:prstGeom>
          <a:noFill/>
          <a:ln w="9525">
            <a:solidFill>
              <a:srgbClr val="C9D6D6"/>
            </a:solidFill>
            <a:prstDash val="solid"/>
          </a:ln>
        </p:spPr>
      </p:sp>
      <p:sp>
        <p:nvSpPr>
          <p:cNvPr id="28" name="Text 26"/>
          <p:cNvSpPr/>
          <p:nvPr/>
        </p:nvSpPr>
        <p:spPr>
          <a:xfrm>
            <a:off x="749808" y="347472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Key kidney result</a:t>
            </a:r>
            <a:endParaRPr lang="en-US" sz="1100" dirty="0"/>
          </a:p>
        </p:txBody>
      </p:sp>
      <p:sp>
        <p:nvSpPr>
          <p:cNvPr id="29" name="Text 27"/>
          <p:cNvSpPr/>
          <p:nvPr/>
        </p:nvSpPr>
        <p:spPr>
          <a:xfrm>
            <a:off x="349300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HR 0.82</a:t>
            </a:r>
            <a:endParaRPr lang="en-US" sz="1100" dirty="0"/>
          </a:p>
        </p:txBody>
      </p:sp>
      <p:sp>
        <p:nvSpPr>
          <p:cNvPr id="30" name="Text 28"/>
          <p:cNvSpPr/>
          <p:nvPr/>
        </p:nvSpPr>
        <p:spPr>
          <a:xfrm>
            <a:off x="568756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HR 0.87 (CV)</a:t>
            </a:r>
            <a:endParaRPr lang="en-US" sz="1100" dirty="0"/>
          </a:p>
        </p:txBody>
      </p:sp>
      <p:sp>
        <p:nvSpPr>
          <p:cNvPr id="31" name="Text 29"/>
          <p:cNvSpPr/>
          <p:nvPr/>
        </p:nvSpPr>
        <p:spPr>
          <a:xfrm>
            <a:off x="788212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Kidney 0.77</a:t>
            </a:r>
            <a:endParaRPr lang="en-US" sz="1100" dirty="0"/>
          </a:p>
        </p:txBody>
      </p:sp>
      <p:sp>
        <p:nvSpPr>
          <p:cNvPr id="32" name="Text 30"/>
          <p:cNvSpPr/>
          <p:nvPr/>
        </p:nvSpPr>
        <p:spPr>
          <a:xfrm>
            <a:off x="10076688" y="347472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Slope +0.7; comp. 0.77</a:t>
            </a:r>
            <a:endParaRPr lang="en-US" sz="1100" dirty="0"/>
          </a:p>
        </p:txBody>
      </p:sp>
      <p:sp>
        <p:nvSpPr>
          <p:cNvPr id="33" name="Shape 31"/>
          <p:cNvSpPr/>
          <p:nvPr/>
        </p:nvSpPr>
        <p:spPr>
          <a:xfrm>
            <a:off x="640080" y="4572000"/>
            <a:ext cx="10908792" cy="0"/>
          </a:xfrm>
          <a:prstGeom prst="line">
            <a:avLst/>
          </a:prstGeom>
          <a:noFill/>
          <a:ln w="9525">
            <a:solidFill>
              <a:srgbClr val="C9D6D6"/>
            </a:solidFill>
            <a:prstDash val="solid"/>
          </a:ln>
        </p:spPr>
      </p:sp>
      <p:sp>
        <p:nvSpPr>
          <p:cNvPr id="34" name="Text 32"/>
          <p:cNvSpPr/>
          <p:nvPr/>
        </p:nvSpPr>
        <p:spPr>
          <a:xfrm>
            <a:off x="749808" y="402336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B3D46"/>
                </a:solidFill>
                <a:latin typeface="Calibri" pitchFamily="34" charset="0"/>
                <a:ea typeface="Calibri" pitchFamily="34" charset="-122"/>
                <a:cs typeface="Calibri" pitchFamily="34" charset="-120"/>
              </a:rPr>
              <a:t>eGFR slope Δ / yr</a:t>
            </a:r>
            <a:endParaRPr lang="en-US" sz="1100" dirty="0"/>
          </a:p>
        </p:txBody>
      </p:sp>
      <p:sp>
        <p:nvSpPr>
          <p:cNvPr id="35" name="Text 33"/>
          <p:cNvSpPr/>
          <p:nvPr/>
        </p:nvSpPr>
        <p:spPr>
          <a:xfrm>
            <a:off x="349300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~0.7</a:t>
            </a:r>
            <a:endParaRPr lang="en-US" sz="1100" dirty="0"/>
          </a:p>
        </p:txBody>
      </p:sp>
      <p:sp>
        <p:nvSpPr>
          <p:cNvPr id="36" name="Text 34"/>
          <p:cNvSpPr/>
          <p:nvPr/>
        </p:nvSpPr>
        <p:spPr>
          <a:xfrm>
            <a:off x="568756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n/r</a:t>
            </a:r>
            <a:endParaRPr lang="en-US" sz="1100" dirty="0"/>
          </a:p>
        </p:txBody>
      </p:sp>
      <p:sp>
        <p:nvSpPr>
          <p:cNvPr id="37" name="Text 35"/>
          <p:cNvSpPr/>
          <p:nvPr/>
        </p:nvSpPr>
        <p:spPr>
          <a:xfrm>
            <a:off x="788212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03034"/>
                </a:solidFill>
                <a:latin typeface="Calibri" pitchFamily="34" charset="0"/>
                <a:ea typeface="Calibri" pitchFamily="34" charset="-122"/>
                <a:cs typeface="Calibri" pitchFamily="34" charset="-120"/>
              </a:rPr>
              <a:t>n/r</a:t>
            </a:r>
            <a:endParaRPr lang="en-US" sz="1100" dirty="0"/>
          </a:p>
        </p:txBody>
      </p:sp>
      <p:sp>
        <p:nvSpPr>
          <p:cNvPr id="38" name="Text 36"/>
          <p:cNvSpPr/>
          <p:nvPr/>
        </p:nvSpPr>
        <p:spPr>
          <a:xfrm>
            <a:off x="10076688" y="402336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7C86"/>
                </a:solidFill>
                <a:latin typeface="Calibri" pitchFamily="34" charset="0"/>
                <a:ea typeface="Calibri" pitchFamily="34" charset="-122"/>
                <a:cs typeface="Calibri" pitchFamily="34" charset="-120"/>
              </a:rPr>
              <a:t>0.7 (chronic 1.2)</a:t>
            </a:r>
            <a:endParaRPr lang="en-US" sz="1100" dirty="0"/>
          </a:p>
        </p:txBody>
      </p:sp>
      <p:sp>
        <p:nvSpPr>
          <p:cNvPr id="39" name="Text 37"/>
          <p:cNvSpPr/>
          <p:nvPr/>
        </p:nvSpPr>
        <p:spPr>
          <a:xfrm>
            <a:off x="640080" y="4800600"/>
            <a:ext cx="10908792" cy="822960"/>
          </a:xfrm>
          <a:prstGeom prst="rect">
            <a:avLst/>
          </a:prstGeom>
          <a:noFill/>
          <a:ln/>
        </p:spPr>
        <p:txBody>
          <a:bodyPr wrap="square" lIns="0" tIns="0" rIns="0" bIns="0" rtlCol="0" anchor="ctr"/>
          <a:lstStyle/>
          <a:p>
            <a:pPr indent="0" marL="0">
              <a:lnSpc>
                <a:spcPct val="120000"/>
              </a:lnSpc>
              <a:buNone/>
            </a:pPr>
            <a:r>
              <a:rPr lang="en-US" sz="1350" dirty="0">
                <a:solidFill>
                  <a:srgbClr val="203034"/>
                </a:solidFill>
                <a:latin typeface="Calibri" pitchFamily="34" charset="0"/>
                <a:ea typeface="Calibri" pitchFamily="34" charset="-122"/>
                <a:cs typeface="Calibri" pitchFamily="34" charset="-120"/>
              </a:rPr>
              <a:t>The ~0.7/yr slope effect finerenone produced in diabetic CKD reproduces almost exactly in non-diabetic CKD, and the chronic slope of 1.2 sits right alongside RAS and SGLT2 inhibitors (0.5–1.0). Same drug, same mechanism, in a population never before tested.</a:t>
            </a:r>
            <a:endParaRPr lang="en-US" sz="1350" dirty="0"/>
          </a:p>
        </p:txBody>
      </p:sp>
      <p:sp>
        <p:nvSpPr>
          <p:cNvPr id="40" name="Text 38"/>
          <p:cNvSpPr/>
          <p:nvPr/>
        </p:nvSpPr>
        <p:spPr>
          <a:xfrm>
            <a:off x="640080" y="6492240"/>
            <a:ext cx="8686800" cy="219456"/>
          </a:xfrm>
          <a:prstGeom prst="rect">
            <a:avLst/>
          </a:prstGeom>
          <a:noFill/>
          <a:ln/>
        </p:spPr>
        <p:txBody>
          <a:bodyPr wrap="square" lIns="0" tIns="0" rIns="0" bIns="0" rtlCol="0" anchor="ctr"/>
          <a:lstStyle/>
          <a:p>
            <a:pPr indent="0" marL="0">
              <a:buNone/>
            </a:pPr>
            <a:r>
              <a:rPr lang="en-US" sz="850" i="1" dirty="0">
                <a:solidFill>
                  <a:srgbClr val="667578"/>
                </a:solidFill>
                <a:latin typeface="Calibri" pitchFamily="34" charset="0"/>
                <a:ea typeface="Calibri" pitchFamily="34" charset="-122"/>
                <a:cs typeface="Calibri" pitchFamily="34" charset="-120"/>
              </a:rPr>
              <a:t>Diabetes-trial figures from their primary publications, shown for context (no head-to-head).</a:t>
            </a:r>
            <a:endParaRPr lang="en-US" sz="850" dirty="0"/>
          </a:p>
        </p:txBody>
      </p:sp>
      <p:sp>
        <p:nvSpPr>
          <p:cNvPr id="41" name="Text 39"/>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8B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D46"/>
        </a:solidFill>
      </p:bgPr>
    </p:bg>
    <p:spTree>
      <p:nvGrpSpPr>
        <p:cNvPr id="1" name=""/>
        <p:cNvGrpSpPr/>
        <p:nvPr/>
      </p:nvGrpSpPr>
      <p:grpSpPr>
        <a:xfrm>
          <a:off x="0" y="0"/>
          <a:ext cx="0" cy="0"/>
          <a:chOff x="0" y="0"/>
          <a:chExt cx="0" cy="0"/>
        </a:xfrm>
      </p:grpSpPr>
      <p:sp>
        <p:nvSpPr>
          <p:cNvPr id="2" name="Shape 0"/>
          <p:cNvSpPr/>
          <p:nvPr/>
        </p:nvSpPr>
        <p:spPr>
          <a:xfrm>
            <a:off x="-1828800" y="4206240"/>
            <a:ext cx="5029200" cy="5029200"/>
          </a:xfrm>
          <a:prstGeom prst="ellipse">
            <a:avLst/>
          </a:prstGeom>
          <a:solidFill>
            <a:srgbClr val="0E4E58"/>
          </a:solidFill>
          <a:ln/>
        </p:spPr>
      </p:sp>
      <p:sp>
        <p:nvSpPr>
          <p:cNvPr id="3" name="Text 1"/>
          <p:cNvSpPr/>
          <p:nvPr/>
        </p:nvSpPr>
        <p:spPr>
          <a:xfrm>
            <a:off x="640080" y="685800"/>
            <a:ext cx="7315200" cy="365760"/>
          </a:xfrm>
          <a:prstGeom prst="rect">
            <a:avLst/>
          </a:prstGeom>
          <a:noFill/>
          <a:ln/>
        </p:spPr>
        <p:txBody>
          <a:bodyPr wrap="square" lIns="0" tIns="0" rIns="0" bIns="0" rtlCol="0" anchor="ctr"/>
          <a:lstStyle/>
          <a:p>
            <a:pPr indent="0" marL="0">
              <a:buNone/>
            </a:pPr>
            <a:r>
              <a:rPr lang="en-US" sz="1400" dirty="0">
                <a:solidFill>
                  <a:srgbClr val="7FB0B0"/>
                </a:solidFill>
                <a:latin typeface="Calibri" pitchFamily="34" charset="0"/>
                <a:ea typeface="Calibri" pitchFamily="34" charset="-122"/>
                <a:cs typeface="Calibri" pitchFamily="34" charset="-120"/>
              </a:rPr>
              <a:t>Take-home</a:t>
            </a:r>
            <a:endParaRPr lang="en-US" sz="1400" dirty="0"/>
          </a:p>
        </p:txBody>
      </p:sp>
      <p:sp>
        <p:nvSpPr>
          <p:cNvPr id="4" name="Text 2"/>
          <p:cNvSpPr/>
          <p:nvPr/>
        </p:nvSpPr>
        <p:spPr>
          <a:xfrm>
            <a:off x="640080" y="1097280"/>
            <a:ext cx="10908792" cy="1051560"/>
          </a:xfrm>
          <a:prstGeom prst="rect">
            <a:avLst/>
          </a:prstGeom>
          <a:noFill/>
          <a:ln/>
        </p:spPr>
        <p:txBody>
          <a:bodyPr wrap="square" lIns="0" tIns="0" rIns="0" bIns="0" rtlCol="0" anchor="ctr"/>
          <a:lstStyle/>
          <a:p>
            <a:pPr indent="0" marL="0">
              <a:lnSpc>
                <a:spcPct val="100000"/>
              </a:lnSpc>
              <a:buNone/>
            </a:pPr>
            <a:r>
              <a:rPr lang="en-US" sz="3100" b="1" dirty="0">
                <a:solidFill>
                  <a:srgbClr val="FFFFFF"/>
                </a:solidFill>
                <a:latin typeface="Cambria" pitchFamily="34" charset="0"/>
                <a:ea typeface="Cambria" pitchFamily="34" charset="-122"/>
                <a:cs typeface="Cambria" pitchFamily="34" charset="-120"/>
              </a:rPr>
              <a:t>Finerenone slows CKD progression in patients without diabetes</a:t>
            </a:r>
            <a:endParaRPr lang="en-US" sz="3100" dirty="0"/>
          </a:p>
        </p:txBody>
      </p:sp>
      <p:sp>
        <p:nvSpPr>
          <p:cNvPr id="5" name="Text 3"/>
          <p:cNvSpPr/>
          <p:nvPr/>
        </p:nvSpPr>
        <p:spPr>
          <a:xfrm>
            <a:off x="640080" y="2468880"/>
            <a:ext cx="10634472" cy="868680"/>
          </a:xfrm>
          <a:prstGeom prst="rect">
            <a:avLst/>
          </a:prstGeom>
          <a:noFill/>
          <a:ln/>
        </p:spPr>
        <p:txBody>
          <a:bodyPr wrap="square" lIns="0" tIns="0" rIns="0" bIns="0" rtlCol="0" anchor="t"/>
          <a:lstStyle/>
          <a:p>
            <a:pPr indent="0" marL="0">
              <a:lnSpc>
                <a:spcPct val="112000"/>
              </a:lnSpc>
              <a:buNone/>
            </a:pPr>
            <a:r>
              <a:rPr lang="en-US" sz="1500" b="1" dirty="0">
                <a:solidFill>
                  <a:srgbClr val="0E7C8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FFFFFF"/>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500" dirty="0"/>
          </a:p>
        </p:txBody>
      </p:sp>
      <p:sp>
        <p:nvSpPr>
          <p:cNvPr id="6" name="Text 4"/>
          <p:cNvSpPr/>
          <p:nvPr/>
        </p:nvSpPr>
        <p:spPr>
          <a:xfrm>
            <a:off x="640080" y="3364992"/>
            <a:ext cx="10634472" cy="868680"/>
          </a:xfrm>
          <a:prstGeom prst="rect">
            <a:avLst/>
          </a:prstGeom>
          <a:noFill/>
          <a:ln/>
        </p:spPr>
        <p:txBody>
          <a:bodyPr wrap="square" lIns="0" tIns="0" rIns="0" bIns="0" rtlCol="0" anchor="t"/>
          <a:lstStyle/>
          <a:p>
            <a:pPr indent="0" marL="0">
              <a:lnSpc>
                <a:spcPct val="112000"/>
              </a:lnSpc>
              <a:buNone/>
            </a:pPr>
            <a:r>
              <a:rPr lang="en-US" sz="1500" b="1" dirty="0">
                <a:solidFill>
                  <a:srgbClr val="0E7C8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FFFFFF"/>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500" dirty="0"/>
          </a:p>
        </p:txBody>
      </p:sp>
      <p:sp>
        <p:nvSpPr>
          <p:cNvPr id="7" name="Text 5"/>
          <p:cNvSpPr/>
          <p:nvPr/>
        </p:nvSpPr>
        <p:spPr>
          <a:xfrm>
            <a:off x="640080" y="4261104"/>
            <a:ext cx="10634472" cy="868680"/>
          </a:xfrm>
          <a:prstGeom prst="rect">
            <a:avLst/>
          </a:prstGeom>
          <a:noFill/>
          <a:ln/>
        </p:spPr>
        <p:txBody>
          <a:bodyPr wrap="square" lIns="0" tIns="0" rIns="0" bIns="0" rtlCol="0" anchor="t"/>
          <a:lstStyle/>
          <a:p>
            <a:pPr indent="0" marL="0">
              <a:lnSpc>
                <a:spcPct val="112000"/>
              </a:lnSpc>
              <a:buNone/>
            </a:pPr>
            <a:r>
              <a:rPr lang="en-US" sz="1500" b="1" dirty="0">
                <a:solidFill>
                  <a:srgbClr val="0E7C8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FFFFFF"/>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500" dirty="0"/>
          </a:p>
        </p:txBody>
      </p:sp>
      <p:sp>
        <p:nvSpPr>
          <p:cNvPr id="8" name="Text 6"/>
          <p:cNvSpPr/>
          <p:nvPr/>
        </p:nvSpPr>
        <p:spPr>
          <a:xfrm>
            <a:off x="640080" y="5157216"/>
            <a:ext cx="10634472" cy="868680"/>
          </a:xfrm>
          <a:prstGeom prst="rect">
            <a:avLst/>
          </a:prstGeom>
          <a:noFill/>
          <a:ln/>
        </p:spPr>
        <p:txBody>
          <a:bodyPr wrap="square" lIns="0" tIns="0" rIns="0" bIns="0" rtlCol="0" anchor="t"/>
          <a:lstStyle/>
          <a:p>
            <a:pPr indent="0" marL="0">
              <a:lnSpc>
                <a:spcPct val="112000"/>
              </a:lnSpc>
              <a:buNone/>
            </a:pPr>
            <a:r>
              <a:rPr lang="en-US" sz="1500" b="1" dirty="0">
                <a:solidFill>
                  <a:srgbClr val="0E7C8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BFD4D4"/>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500" dirty="0"/>
          </a:p>
        </p:txBody>
      </p:sp>
      <p:sp>
        <p:nvSpPr>
          <p:cNvPr id="9"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F9494"/>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2026-07-27T00:46:03Z</dcterms:created>
  <dcterms:modified xsi:type="dcterms:W3CDTF">2026-07-27T00:46:03Z</dcterms:modified>
</cp:coreProperties>
</file>