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Finerenone</c:v>
                </c:pt>
              </c:strCache>
            </c:strRef>
          </c:tx>
          <c:spPr>
            <a:solidFill>
              <a:srgbClr val="0E7C86"/>
            </a:solidFill>
            <a:ln w="40640" cap="flat">
              <a:solidFill>
                <a:srgbClr val="0E7C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E7C86"/>
              </a:solidFill>
              <a:ln w="9525" cap="flat">
                <a:solidFill>
                  <a:srgbClr val="0E7C86"/>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Sheet1!$B$2:$B$14</c:f>
              <c:numCache>
                <c:formatCode>General</c:formatCode>
                <c:ptCount val="13"/>
                <c:pt idx="0">
                  <c:v>0</c:v>
                </c:pt>
                <c:pt idx="1">
                  <c:v>-1.2</c:v>
                </c:pt>
                <c:pt idx="2">
                  <c:v>-2</c:v>
                </c:pt>
                <c:pt idx="3">
                  <c:v>-2.6</c:v>
                </c:pt>
                <c:pt idx="4">
                  <c:v>-3.2</c:v>
                </c:pt>
                <c:pt idx="5">
                  <c:v>-3.9</c:v>
                </c:pt>
                <c:pt idx="6">
                  <c:v>-4.8</c:v>
                </c:pt>
                <c:pt idx="7">
                  <c:v>-5.6</c:v>
                </c:pt>
                <c:pt idx="8">
                  <c:v>-6.3</c:v>
                </c:pt>
                <c:pt idx="9">
                  <c:v>-6.9</c:v>
                </c:pt>
                <c:pt idx="10">
                  <c:v>-7.4</c:v>
                </c:pt>
                <c:pt idx="11">
                  <c:v>-9.6</c:v>
                </c:pt>
                <c:pt idx="12">
                  <c:v>-8.8</c:v>
                </c:pt>
              </c:numCache>
            </c:numRef>
          </c:val>
          <c:smooth val="1"/>
        </c:ser>
        <c:ser>
          <c:idx val="1"/>
          <c:order val="1"/>
          <c:tx>
            <c:strRef>
              <c:f>Sheet1!$C$1</c:f>
              <c:strCache>
                <c:ptCount val="1"/>
                <c:pt idx="0">
                  <c:v>Placebo</c:v>
                </c:pt>
              </c:strCache>
            </c:strRef>
          </c:tx>
          <c:spPr>
            <a:solidFill>
              <a:srgbClr val="9AA7AD"/>
            </a:solidFill>
            <a:ln w="4064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Sheet1!$C$2:$C$14</c:f>
              <c:numCache>
                <c:formatCode>General</c:formatCode>
                <c:ptCount val="13"/>
                <c:pt idx="0">
                  <c:v>0</c:v>
                </c:pt>
                <c:pt idx="1">
                  <c:v>-0.4</c:v>
                </c:pt>
                <c:pt idx="2">
                  <c:v>-0.8</c:v>
                </c:pt>
                <c:pt idx="3">
                  <c:v>-1.8</c:v>
                </c:pt>
                <c:pt idx="4">
                  <c:v>-2.7</c:v>
                </c:pt>
                <c:pt idx="5">
                  <c:v>-3.6</c:v>
                </c:pt>
                <c:pt idx="6">
                  <c:v>-4.8</c:v>
                </c:pt>
                <c:pt idx="7">
                  <c:v>-5.7</c:v>
                </c:pt>
                <c:pt idx="8">
                  <c:v>-6.6</c:v>
                </c:pt>
                <c:pt idx="9">
                  <c:v>-7.5</c:v>
                </c:pt>
                <c:pt idx="10">
                  <c:v>-8.5</c:v>
                </c:pt>
                <c:pt idx="11">
                  <c:v>-10.6</c:v>
                </c:pt>
                <c:pt idx="12">
                  <c:v>-11.2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6B70"/>
                    </a:solidFill>
                    <a:latin typeface="Arial"/>
                  </a:defRPr>
                </a:pPr>
                <a:r>
                  <a:rPr sz="1100" b="0" i="0" u="none" strike="noStrike">
                    <a:solidFill>
                      <a:srgbClr val="5C6B70"/>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B70"/>
                </a:solidFill>
                <a:latin typeface="Calibri"/>
              </a:defRPr>
            </a:pPr>
            <a:endParaRPr lang="en-US"/>
          </a:p>
        </c:txPr>
        <c:crossAx val="2094734552"/>
        <c:crosses val="autoZero"/>
        <c:auto val="1"/>
        <c:lblAlgn val="ctr"/>
        <c:noMultiLvlLbl val="1"/>
      </c:catAx>
      <c:valAx>
        <c:axId val="2094734552"/>
        <c:scaling>
          <c:orientation val="minMax"/>
          <c:max val="2"/>
          <c:min val="-12"/>
        </c:scaling>
        <c:delete val="0"/>
        <c:axPos val="l"/>
        <c:majorGridlines>
          <c:spPr>
            <a:ln w="12700" cap="flat">
              <a:solidFill>
                <a:srgbClr val="E8EEEE"/>
              </a:solidFill>
              <a:prstDash val="solid"/>
              <a:round/>
            </a:ln>
          </c:spPr>
        </c:majorGridlines>
        <c:title>
          <c:tx>
            <c:rich>
              <a:bodyPr/>
              <a:lstStyle/>
              <a:p>
                <a:pPr>
                  <a:defRPr sz="1100" b="0" i="0" u="none" strike="noStrike">
                    <a:solidFill>
                      <a:srgbClr val="5C6B70"/>
                    </a:solidFill>
                    <a:latin typeface="Arial"/>
                  </a:defRPr>
                </a:pPr>
                <a:r>
                  <a:rPr sz="1100" b="0" i="0" u="none" strike="noStrike">
                    <a:solidFill>
                      <a:srgbClr val="5C6B70"/>
                    </a:solidFill>
                    <a:latin typeface="Arial"/>
                  </a:rPr>
                  <a:t>Mean change in eGFR from baseline (ml/min/1.73 m²)</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B70"/>
                </a:solidFill>
                <a:latin typeface="Calibri"/>
              </a:defRPr>
            </a:pPr>
            <a:endParaRPr lang="en-US"/>
          </a:p>
        </c:txPr>
        <c:crossAx val="2094734554"/>
        <c:crosses val="autoZero"/>
        <c:crossBetween val="between"/>
        <c:majorUnit val="2"/>
      </c:valAx>
      <c:spPr>
        <a:noFill/>
        <a:ln>
          <a:noFill/>
        </a:ln>
        <a:effectLst/>
      </c:spPr>
    </c:plotArea>
    <c:legend>
      <c:legendPos val="t"/>
      <c:overlay val="0"/>
      <c:txPr>
        <a:bodyPr/>
        <a:lstStyle/>
        <a:p>
          <a:pPr>
            <a:defRPr sz="1200">
              <a:solidFill>
                <a:srgbClr val="1B2A2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0E7C86"/>
            </a:solidFill>
            <a:effectLst/>
          </c:spPr>
          <c:invertIfNegative val="0"/>
          <c:dLbls>
            <c:numFmt formatCode="0.0" sourceLinked="0"/>
            <c:txPr>
              <a:bodyPr/>
              <a:lstStyle/>
              <a:p>
                <a:pPr>
                  <a:defRPr b="1" i="0" strike="noStrike" sz="1200" u="none">
                    <a:solidFill>
                      <a:srgbClr val="1B2A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Sheet1!$B$2:$B$4</c:f>
              <c:numCache>
                <c:formatCode>General</c:formatCode>
                <c:ptCount val="3"/>
                <c:pt idx="0">
                  <c:v>-3.3</c:v>
                </c:pt>
                <c:pt idx="1">
                  <c:v>-2</c:v>
                </c:pt>
                <c:pt idx="2">
                  <c:v>-2.9</c:v>
                </c:pt>
              </c:numCache>
            </c:numRef>
          </c:val>
        </c:ser>
        <c:ser>
          <c:idx val="1"/>
          <c:order val="1"/>
          <c:tx>
            <c:strRef>
              <c:f>Sheet1!$C$1</c:f>
              <c:strCache>
                <c:ptCount val="1"/>
                <c:pt idx="0">
                  <c:v>Placebo</c:v>
                </c:pt>
              </c:strCache>
            </c:strRef>
          </c:tx>
          <c:spPr>
            <a:solidFill>
              <a:srgbClr val="9AA7AD"/>
            </a:solidFill>
            <a:effectLst/>
          </c:spPr>
          <c:invertIfNegative val="0"/>
          <c:dLbls>
            <c:numFmt formatCode="0.0" sourceLinked="0"/>
            <c:txPr>
              <a:bodyPr/>
              <a:lstStyle/>
              <a:p>
                <a:pPr>
                  <a:defRPr b="1" i="0" strike="noStrike" sz="1200" u="none">
                    <a:solidFill>
                      <a:srgbClr val="1B2A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Sheet1!$C$2:$C$4</c:f>
              <c:numCache>
                <c:formatCode>General</c:formatCode>
                <c:ptCount val="3"/>
                <c:pt idx="0">
                  <c:v>-4</c:v>
                </c:pt>
                <c:pt idx="1">
                  <c:v>-0.8</c:v>
                </c:pt>
                <c:pt idx="2">
                  <c:v>-4.1</c:v>
                </c:pt>
              </c:numCache>
            </c:numRef>
          </c:val>
        </c:ser>
        <c:dLbls>
          <c:numFmt formatCode="0.0" sourceLinked="0"/>
          <c:txPr>
            <a:bodyPr/>
            <a:lstStyle/>
            <a:p>
              <a:pPr>
                <a:defRPr b="1" i="0" strike="noStrike" sz="1200" u="none">
                  <a:solidFill>
                    <a:srgbClr val="1B2A2E"/>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E"/>
                </a:solidFill>
                <a:latin typeface="Calibri"/>
              </a:defRPr>
            </a:pPr>
            <a:endParaRPr lang="en-US"/>
          </a:p>
        </c:txPr>
        <c:crossAx val="2094734552"/>
        <c:crosses val="autoZero"/>
        <c:auto val="1"/>
        <c:lblAlgn val="ctr"/>
        <c:noMultiLvlLbl val="1"/>
      </c:catAx>
      <c:valAx>
        <c:axId val="2094734552"/>
        <c:scaling>
          <c:orientation val="minMax"/>
          <c:max val="0"/>
          <c:min val="-5"/>
        </c:scaling>
        <c:delete val="0"/>
        <c:axPos val="l"/>
        <c:majorGridlines>
          <c:spPr>
            <a:ln w="12700" cap="flat">
              <a:solidFill>
                <a:srgbClr val="E8EEEE"/>
              </a:solidFill>
              <a:prstDash val="solid"/>
              <a:round/>
            </a:ln>
          </c:spPr>
        </c:majorGridlines>
        <c:title>
          <c:tx>
            <c:rich>
              <a:bodyPr/>
              <a:lstStyle/>
              <a:p>
                <a:pPr>
                  <a:defRPr sz="1100" b="0" i="0" u="none" strike="noStrike">
                    <a:solidFill>
                      <a:srgbClr val="5C6B70"/>
                    </a:solidFill>
                    <a:latin typeface="Arial"/>
                  </a:defRPr>
                </a:pPr>
                <a:r>
                  <a:rPr sz="1100" b="0" i="0" u="none" strike="noStrike">
                    <a:solidFill>
                      <a:srgbClr val="5C6B70"/>
                    </a:solidFill>
                    <a:latin typeface="Arial"/>
                  </a:rPr>
                  <a:t>eGFR slope (ml/min/1.73 m² per year)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B70"/>
                </a:solidFill>
                <a:latin typeface="Calibri"/>
              </a:defRPr>
            </a:pPr>
            <a:endParaRPr lang="en-US"/>
          </a:p>
        </c:txPr>
        <c:crossAx val="2094734554"/>
        <c:crosses val="autoZero"/>
        <c:crossBetween val="between"/>
        <c:majorUnit val="1"/>
      </c:valAx>
      <c:spPr>
        <a:noFill/>
        <a:ln>
          <a:noFill/>
        </a:ln>
        <a:effectLst/>
      </c:spPr>
    </c:plotArea>
    <c:legend>
      <c:legendPos val="t"/>
      <c:overlay val="0"/>
      <c:txPr>
        <a:bodyPr/>
        <a:lstStyle/>
        <a:p>
          <a:pPr>
            <a:defRPr sz="1200">
              <a:solidFill>
                <a:srgbClr val="1B2A2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0B3D46"/>
                </a:solidFill>
                <a:latin typeface="Calibri"/>
              </a:defRPr>
            </a:pPr>
            <a:r>
              <a:rPr sz="1300" b="1" i="0" u="none" strike="noStrike">
                <a:solidFill>
                  <a:srgbClr val="0B3D46"/>
                </a:solidFill>
                <a:latin typeface="Calibri"/>
              </a:rPr>
              <a:t>Composite kidney–CV outcome</a:t>
            </a:r>
          </a:p>
        </c:rich>
      </c:tx>
      <c:layout/>
      <c:overlay val="0"/>
    </c:title>
    <c:autoTitleDeleted val="0"/>
    <c:plotArea>
      <c:layout/>
      <c:lineChart>
        <c:varyColors val="0"/>
        <c:ser>
          <c:idx val="0"/>
          <c:order val="0"/>
          <c:tx>
            <c:strRef>
              <c:f>Sheet1!$B$1</c:f>
              <c:strCache>
                <c:ptCount val="1"/>
                <c:pt idx="0">
                  <c:v>Finerenone</c:v>
                </c:pt>
              </c:strCache>
            </c:strRef>
          </c:tx>
          <c:spPr>
            <a:solidFill>
              <a:srgbClr val="0E7C86"/>
            </a:solidFill>
            <a:ln w="38100" cap="flat">
              <a:solidFill>
                <a:srgbClr val="0E7C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E7C86"/>
              </a:solidFill>
              <a:ln w="9525" cap="flat">
                <a:solidFill>
                  <a:srgbClr val="0E7C86"/>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Sheet1!$B$2:$B$8</c:f>
              <c:numCache>
                <c:formatCode>General</c:formatCode>
                <c:ptCount val="7"/>
                <c:pt idx="0">
                  <c:v>0</c:v>
                </c:pt>
                <c:pt idx="1">
                  <c:v>2</c:v>
                </c:pt>
                <c:pt idx="2">
                  <c:v>4.2</c:v>
                </c:pt>
                <c:pt idx="3">
                  <c:v>6.8</c:v>
                </c:pt>
                <c:pt idx="4">
                  <c:v>9.5</c:v>
                </c:pt>
                <c:pt idx="5">
                  <c:v>12.3</c:v>
                </c:pt>
                <c:pt idx="6">
                  <c:v>13.9</c:v>
                </c:pt>
              </c:numCache>
            </c:numRef>
          </c:val>
          <c:smooth val="1"/>
        </c:ser>
        <c:ser>
          <c:idx val="1"/>
          <c:order val="1"/>
          <c:tx>
            <c:strRef>
              <c:f>Sheet1!$C$1</c:f>
              <c:strCache>
                <c:ptCount val="1"/>
                <c:pt idx="0">
                  <c:v>Placebo</c:v>
                </c:pt>
              </c:strCache>
            </c:strRef>
          </c:tx>
          <c:spPr>
            <a:solidFill>
              <a:srgbClr val="9AA7AD"/>
            </a:solidFill>
            <a:ln w="3810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Sheet1!$C$2:$C$8</c:f>
              <c:numCache>
                <c:formatCode>General</c:formatCode>
                <c:ptCount val="7"/>
                <c:pt idx="0">
                  <c:v>0</c:v>
                </c:pt>
                <c:pt idx="1">
                  <c:v>2.5</c:v>
                </c:pt>
                <c:pt idx="2">
                  <c:v>5.2</c:v>
                </c:pt>
                <c:pt idx="3">
                  <c:v>8.5</c:v>
                </c:pt>
                <c:pt idx="4">
                  <c:v>11.8</c:v>
                </c:pt>
                <c:pt idx="5">
                  <c:v>15</c:v>
                </c:pt>
                <c:pt idx="6">
                  <c:v>16.9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5C6B70"/>
                    </a:solidFill>
                    <a:latin typeface="Arial"/>
                  </a:defRPr>
                </a:pPr>
                <a:r>
                  <a:rPr sz="1050" b="0" i="0" u="none" strike="noStrike">
                    <a:solidFill>
                      <a:srgbClr val="5C6B70"/>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B7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12700" cap="flat">
              <a:solidFill>
                <a:srgbClr val="E8EEEE"/>
              </a:solidFill>
              <a:prstDash val="solid"/>
              <a:round/>
            </a:ln>
          </c:spPr>
        </c:majorGridlines>
        <c:title>
          <c:tx>
            <c:rich>
              <a:bodyPr/>
              <a:lstStyle/>
              <a:p>
                <a:pPr>
                  <a:defRPr sz="1050" b="0" i="0" u="none" strike="noStrike">
                    <a:solidFill>
                      <a:srgbClr val="5C6B70"/>
                    </a:solidFill>
                    <a:latin typeface="Arial"/>
                  </a:defRPr>
                </a:pPr>
                <a:r>
                  <a:rPr sz="1050" b="0" i="0" u="none" strike="noStrike">
                    <a:solidFill>
                      <a:srgbClr val="5C6B70"/>
                    </a:solidFill>
                    <a:latin typeface="Arial"/>
                  </a:rPr>
                  <a:t>Cumulative incidence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B70"/>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B2A2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0E7C86"/>
            </a:solidFill>
            <a:effectLst/>
          </c:spPr>
          <c:invertIfNegative val="0"/>
          <c:dLbls>
            <c:numFmt formatCode="0.0&quot;%&quot;" sourceLinked="0"/>
            <c:txPr>
              <a:bodyPr/>
              <a:lstStyle/>
              <a:p>
                <a:pPr>
                  <a:defRPr b="1" i="0" strike="noStrike" sz="1000" u="none">
                    <a:solidFill>
                      <a:srgbClr val="1B2A2E"/>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discontinuation</c:v>
                  </c:pt>
                  <c:pt idx="4">
                    <c:v>Hospitalization</c:v>
                  </c:pt>
                  <c:pt idx="5">
                    <c:v>Fatal</c:v>
                  </c:pt>
                </c:lvl>
              </c:multiLvlStrCache>
            </c:multiLvlStrRef>
          </c:cat>
          <c:val>
            <c:numRef>
              <c:f>Sheet1!$B$2:$B$7</c:f>
              <c:numCache>
                <c:formatCode>General</c:formatCode>
                <c:ptCount val="6"/>
                <c:pt idx="0">
                  <c:v>17</c:v>
                </c:pt>
                <c:pt idx="1">
                  <c:v>18.8</c:v>
                </c:pt>
                <c:pt idx="2">
                  <c:v>4.3</c:v>
                </c:pt>
                <c:pt idx="3">
                  <c:v>1.5</c:v>
                </c:pt>
                <c:pt idx="4">
                  <c:v>0.9</c:v>
                </c:pt>
                <c:pt idx="5">
                  <c:v>0</c:v>
                </c:pt>
              </c:numCache>
            </c:numRef>
          </c:val>
        </c:ser>
        <c:ser>
          <c:idx val="1"/>
          <c:order val="1"/>
          <c:tx>
            <c:strRef>
              <c:f>Sheet1!$C$1</c:f>
              <c:strCache>
                <c:ptCount val="1"/>
                <c:pt idx="0">
                  <c:v>Placebo</c:v>
                </c:pt>
              </c:strCache>
            </c:strRef>
          </c:tx>
          <c:spPr>
            <a:solidFill>
              <a:srgbClr val="9AA7AD"/>
            </a:solidFill>
            <a:effectLst/>
          </c:spPr>
          <c:invertIfNegative val="0"/>
          <c:dLbls>
            <c:numFmt formatCode="0.0&quot;%&quot;" sourceLinked="0"/>
            <c:txPr>
              <a:bodyPr/>
              <a:lstStyle/>
              <a:p>
                <a:pPr>
                  <a:defRPr b="1" i="0" strike="noStrike" sz="1000" u="none">
                    <a:solidFill>
                      <a:srgbClr val="1B2A2E"/>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discontinuation</c:v>
                  </c:pt>
                  <c:pt idx="4">
                    <c:v>Hospitalization</c:v>
                  </c:pt>
                  <c:pt idx="5">
                    <c:v>Fatal</c:v>
                  </c:pt>
                </c:lvl>
              </c:multiLvlStrCache>
            </c:multiLvlStrRef>
          </c:cat>
          <c:val>
            <c:numRef>
              <c:f>Sheet1!$C$2:$C$7</c:f>
              <c:numCache>
                <c:formatCode>General</c:formatCode>
                <c:ptCount val="6"/>
                <c:pt idx="0">
                  <c:v>13.3</c:v>
                </c:pt>
                <c:pt idx="1">
                  <c:v>12.2</c:v>
                </c:pt>
                <c:pt idx="2">
                  <c:v>2.3</c:v>
                </c:pt>
                <c:pt idx="3">
                  <c:v>0.1</c:v>
                </c:pt>
                <c:pt idx="4">
                  <c:v>0.6</c:v>
                </c:pt>
                <c:pt idx="5">
                  <c:v>0</c:v>
                </c:pt>
              </c:numCache>
            </c:numRef>
          </c:val>
        </c:ser>
        <c:dLbls>
          <c:numFmt formatCode="0.0&quot;%&quot;" sourceLinked="0"/>
          <c:txPr>
            <a:bodyPr/>
            <a:lstStyle/>
            <a:p>
              <a:pPr>
                <a:defRPr b="1" i="0" strike="noStrike" sz="1000" u="none">
                  <a:solidFill>
                    <a:srgbClr val="1B2A2E"/>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A2E"/>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12700" cap="flat">
              <a:solidFill>
                <a:srgbClr val="E8EEEE"/>
              </a:solidFill>
              <a:prstDash val="solid"/>
              <a:round/>
            </a:ln>
          </c:spPr>
        </c:majorGridlines>
        <c:title>
          <c:tx>
            <c:rich>
              <a:bodyPr/>
              <a:lstStyle/>
              <a:p>
                <a:pPr>
                  <a:defRPr sz="1050" b="0" i="0" u="none" strike="noStrike">
                    <a:solidFill>
                      <a:srgbClr val="5C6B70"/>
                    </a:solidFill>
                    <a:latin typeface="Arial"/>
                  </a:defRPr>
                </a:pPr>
                <a:r>
                  <a:rPr sz="1050" b="0" i="0" u="none" strike="noStrike">
                    <a:solidFill>
                      <a:srgbClr val="5C6B70"/>
                    </a:solidFill>
                    <a:latin typeface="Arial"/>
                  </a:rPr>
                  <a:t>Participants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C6B70"/>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B2A2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CKD is now a disease of ~800 million people and the majority are not diabetic. Our best agents, RAS and SGLT2 inhibitors, slow but do not stop progression, especially in heavy albuminuria. Finerenone, a nonsteroidal selective MRA, targets a pathway (MR overactivation driving fibrosis and inflammation) that is not diabetes-specific. The whole point of FIND-CKD is that the finerenone kidney story so far was written entirely in diabetic patients. This trial asks whether it carries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frame the audience already knows. FIDELIO was the kidney trial, FIGARO the cardiovascular trial in earlier-stage but more albuminuric patients, and FIDELITY pooled the two for ~13,000 patients, giving a kidney composite HR of 0.77 and a CV composite of 0.86. Worth flagging: FIDELITY used the same ≥57% eGFR decline definition that FIND-CKD later adopts for its kidney composite, so the endpoints line up. Every one of these patients had type 2 diabetes. That is the single-sentence justification for FIND-CKD.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high-quality phase 3 architecture: double-blind, placebo-controlled, 1:1, international, event-driven with at least 32 months of planned treatment. Two points worth landing for this audience. First, the two stratification factors, baseline SGLT2i use and screening albuminuria, are exactly the effect-modifiers we care about, and they were pre-specified. Second, the estimand: a treatment-policy strategy kept people in follow-up after they stopped drug, and an independent group at Groningen re-ran the sponsor's analyses on the original data. That matters for a sponsor-analyzed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eligibility window is the practical heart of the trial. Two entry routes, both anchored on albuminuria, so essentially everyone had at least moderate albuminuria and most had heavy albuminuria. Everyone was already on a RAS inhibitor, which makes finerenone an add-on question, not a monotherapy question. Note who was left out: ADPKD, lupus nephritis, ANCA vasculitis, and of course anyone with diabetes or an HbA1c at the diabetic threshold. So the population is enriched for progressive proteinuric CKD, and the exclusions matter when we talk about generalizability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were well balanced, so I will read across both. Middle-aged cohort, mean 55, about a third women. Baseline eGFR ~47 with 80% already below 60, and a median UACR around 819 mg/g, so heavy albuminuria. The dominant diagnosis was chronic glomerulonephritis at ~57%, then hypertensive or ischemic nephropathy at ~29%. Two numbers to anchor for the discussion: nearly everyone was on a RAS inhibitor as required, but only 17% were on an SGLT2 inhibitor. So when we ask about finerenone on top of contemporary quadruple therapy, this trial mostly answers it on a RAS-inhibitor backbone.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Dosing was eGFR-driven and cautious: 20 mg if eGFR was at least 60, 10 mg below that, with optional up-titration only if potassium and eGFR allowed. The potassium protocol is the operationally important bit for us: central-lab potassium at every visit, withhold at &gt;5.5, restart at 10 mg once back to 5.0 or under. Finally, note the pre-planned off-treatment visit four weeks after the last dose. That design choice lets them separate the acute reversible eGFR dip from the true disease-modifying effect, which becomes the key to reading the primary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decision that defines this trial: the primary endpoint is eGFR slope, a surrogate, not a clinical composite. That is deliberate. In a non-diabetic CKD population of this size you will not accrue enough kidney-failure events to power a hard composite, so they used total eGFR slope over 32 months, estimated with a two-slope spline that models the early period and the chronic period separately. The clinical composites are secondary, tested in a fixed hierarchy so the trial can make a protected claim on the kidney-CV composite. Keep the ≥57% decline definition in mind; it is a steeper, more failure-like threshold than the older 40%, and it matches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defend here. First, why slope: a 1500-patient trial cannot power a hard kidney composite in non-diabetic CKD, so they powered for a 0.7 per year slope difference and got over 90% power. Second, the model. A two-slope spline with a fixed change point at month 3 is the right tool because finerenone, like RAS and SGLT2 inhibitors, causes an acute reversible eGFR drop; you must separate that from the chronic slope or you underestimate the true benefit. The estimand is treatment-policy, and the result held up under cystatin C, a shared-parameter model, and tipping-point analyses. The surrogate is credible, backed by the 66-trial meta-analysis, but I will still call it a surrogate.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whole trial in one figure. Watch the first three months: finerenone falls faster. That is the expected acute, hemodynamic, reversible dip we also see with RAS and SGLT2 inhibitors. After month 3 the finerenone curve is shallower, the lines cross, and finerenone stays above placebo out to month 32, ending at 39.4 versus 38.1. Then the punchline on the right: at the off-treatment visit finerenone eGFR actually rises while placebo keeps dropping. The acute dip reverses, which tells you the on-treatment separation was not just hemodynamic noise, it reflects a real slowing of structural decline.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decomposition is the slide to linger on with this audience. The headline primary is the total slope difference of 0.7 per year, P below 0.001, and that 0.7 is almost identical to what FIDELIO showed in diabetes. But look at the three panels together. The acute period actually favors placebo by 1.2, because finerenone causes that early reversible drop. That acute dip drags the total slope down. Once you look at the chronic slope, month 3 onward, the difference is 1.2 per year, nearly double the total. So the on-treatment disease-modifying effect is larger than the primary number suggests. For a nephrology forum that is the key nuance: judge finerenone by the chronic slope, not just the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effect is directionally consistent everywhere. Every point estimate favors finerenone. Two subgroups are worth naming. The effect is larger in heavy albuminuria: UACR above 1000 gives a 1.15 slope difference versus only 0.40 in the lower-albuminuria group, which fits everything we know about MR blockade and proteinuric disease. And the benefit is present whether or not patients were on an SGLT2 inhibitor, 0.84 versus 0.65, so finerenone appears additive to SGLT2 inhibition, though the trial was not designed to test that combination formally. These CIs are unadjusted for multiplicity, so read them as consistency, not as definitive subgroup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though the trial was not powered for events, the protected secondary hit: the composite of kidney or cardiovascular events was 23% lower with finerenone, HR 0.77, P 0.04. That is consistent with what the 0.7 slope difference predicts from the meta-analysis. Below it, the kidney composite alone was HR 0.78 but crossed 1.0 at P 0.06, and the cardiovascular composite was 0.60 with wide confidence intervals on only 26 total events, so directionally encouraging but underpowered. The formal hierarchy stops at the first composite; everything below is nominal. So the honest read is a real signal on the combined endpoint, with the individual components hypothesis-generating.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is reassuring and, frankly, the story we expected. Overall AE and serious AE rates were essentially identical, and both discontinuations and all-cause death actually numerically favored finerenone. Hyperkalemia is the one real signal: 17 versus 13% for any hyperkalemia, and about 19 versus 12% for a central-lab potassium above 5.5. But look at what that translated into clinically: potassium-driven discontinuation was 1.5% versus 0.1%, hospitalization under 1%, and zero fatal events. With protocolized potassium monitoring this is a manageable signal, and AKI and hypotension were low and balanced. No surprises relative to FIDELIO and FIGARO.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appraisal for a senior audience. On the plus side: this is the trial the field was missing, it is methodologically clean, the sponsor analyses were independently reproduced, and crucially they modeled the slope the right way and then backed it with a protected clinical composite. On the other side: the primary is still a surrogate and the trial was never powered for hard events, so the CV composite in particular is hypothesis-generating. The population skews male, under-represents Black patients, and is enriched for heavy albuminuria, which is exactly where MR blockade shines, so be careful generalizing to low-albuminuria CKD. Only 17% were on an SGLT2 inhibitor, the excluded diseases are excluded, and 36 months is short. None of this sinks the trial; it just bounds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line them up. FIDELIO gave a kidney composite of 0.82 in diabetic CKD, FIGARO a CV composite of 0.87 in earlier but albuminuric diabetic CKD, and FIDELITY pooled 13,000 patients for a kidney composite of 0.77. FIND-CKD, in a fifth of that sample and without a single diabetic patient, delivers essentially the same slope effect, 0.7 total and 1.2 chronic, plus a matching composite of 0.77. The magnitude is right in the range of RAS and SGLT2 inhibitors. So the mechanistic bet paid off: MR overactivation is not a diabetes phenomenon, and blocking it helps non-diabetic CKD too. The comparison numbers for the diabetes trials are from their primary publications, shown here for context since FIND-CKD did not include a head-to-head.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to close. One: finerenone works in non-diabetic CKD, slowing the eGFR slope by 0.7 overall and 1.2 in the chronic phase, with a protected composite of 0.77. Two: the ideal candidate is the albuminuric non-diabetic CKD patient already on a RAS inhibitor, and the benefit looks additive to SGLT2 inhibitors. Three: hyperkalemia is the manageable trade-off, no fatal events with protocolized monitoring. Four, the honest caveat: this is a surrogate endpoint in an enriched population, so it extends the finerenone story into non-diabetic CKD convincingly, but a hard-outcome trial would still be the definitive word. Practically, this gives us a real reason to consider finerenone in proteinuric non-diabetic CKD.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46"/>
        </a:solidFill>
      </p:bgPr>
    </p:bg>
    <p:spTree>
      <p:nvGrpSpPr>
        <p:cNvPr id="1" name=""/>
        <p:cNvGrpSpPr/>
        <p:nvPr/>
      </p:nvGrpSpPr>
      <p:grpSpPr>
        <a:xfrm>
          <a:off x="0" y="0"/>
          <a:ext cx="0" cy="0"/>
          <a:chOff x="0" y="0"/>
          <a:chExt cx="0" cy="0"/>
        </a:xfrm>
      </p:grpSpPr>
      <p:sp>
        <p:nvSpPr>
          <p:cNvPr id="2" name="Shape 0"/>
          <p:cNvSpPr/>
          <p:nvPr/>
        </p:nvSpPr>
        <p:spPr>
          <a:xfrm>
            <a:off x="8869680" y="-2011680"/>
            <a:ext cx="5669280" cy="5669280"/>
          </a:xfrm>
          <a:prstGeom prst="ellipse">
            <a:avLst/>
          </a:prstGeom>
          <a:solidFill>
            <a:srgbClr val="0E4E58"/>
          </a:solidFill>
          <a:ln/>
        </p:spPr>
      </p:sp>
      <p:sp>
        <p:nvSpPr>
          <p:cNvPr id="3" name="Shape 1"/>
          <p:cNvSpPr/>
          <p:nvPr/>
        </p:nvSpPr>
        <p:spPr>
          <a:xfrm>
            <a:off x="10241280" y="3566160"/>
            <a:ext cx="4206240" cy="4206240"/>
          </a:xfrm>
          <a:prstGeom prst="ellipse">
            <a:avLst/>
          </a:prstGeom>
          <a:solidFill>
            <a:srgbClr val="0C454F"/>
          </a:solidFill>
          <a:ln/>
        </p:spPr>
      </p:sp>
      <p:sp>
        <p:nvSpPr>
          <p:cNvPr id="4" name="Text 2"/>
          <p:cNvSpPr/>
          <p:nvPr/>
        </p:nvSpPr>
        <p:spPr>
          <a:xfrm>
            <a:off x="566928" y="960120"/>
            <a:ext cx="10058400" cy="274320"/>
          </a:xfrm>
          <a:prstGeom prst="rect">
            <a:avLst/>
          </a:prstGeom>
          <a:noFill/>
          <a:ln/>
        </p:spPr>
        <p:txBody>
          <a:bodyPr wrap="square" lIns="0" tIns="0" rIns="0" bIns="0" rtlCol="0" anchor="ctr"/>
          <a:lstStyle/>
          <a:p>
            <a:pPr indent="0" marL="0">
              <a:buNone/>
            </a:pPr>
            <a:r>
              <a:rPr lang="en-US" sz="1300" b="1" spc="200" kern="0" dirty="0">
                <a:solidFill>
                  <a:srgbClr val="3AA6A0"/>
                </a:solidFill>
                <a:latin typeface="Calibri" pitchFamily="34" charset="0"/>
                <a:ea typeface="Calibri" pitchFamily="34" charset="-122"/>
                <a:cs typeface="Calibri" pitchFamily="34" charset="-120"/>
              </a:rPr>
              <a:t>PHASE 3 RANDOMIZED CONTROLLED TRIAL  ·  NEJM 2026</a:t>
            </a:r>
            <a:endParaRPr lang="en-US" sz="1300" dirty="0"/>
          </a:p>
        </p:txBody>
      </p:sp>
      <p:sp>
        <p:nvSpPr>
          <p:cNvPr id="5" name="Text 3"/>
          <p:cNvSpPr/>
          <p:nvPr/>
        </p:nvSpPr>
        <p:spPr>
          <a:xfrm>
            <a:off x="566928" y="1371600"/>
            <a:ext cx="10515600" cy="105156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FIND-CKD</a:t>
            </a:r>
            <a:endParaRPr lang="en-US" sz="6600" dirty="0"/>
          </a:p>
        </p:txBody>
      </p:sp>
      <p:sp>
        <p:nvSpPr>
          <p:cNvPr id="6" name="Text 4"/>
          <p:cNvSpPr/>
          <p:nvPr/>
        </p:nvSpPr>
        <p:spPr>
          <a:xfrm>
            <a:off x="566928" y="2514600"/>
            <a:ext cx="9784080" cy="868680"/>
          </a:xfrm>
          <a:prstGeom prst="rect">
            <a:avLst/>
          </a:prstGeom>
          <a:noFill/>
          <a:ln/>
        </p:spPr>
        <p:txBody>
          <a:bodyPr wrap="square" lIns="0" tIns="0" rIns="0" bIns="0" rtlCol="0" anchor="ctr"/>
          <a:lstStyle/>
          <a:p>
            <a:pPr indent="0" marL="0">
              <a:buNone/>
            </a:pPr>
            <a:r>
              <a:rPr lang="en-US" sz="2600" dirty="0">
                <a:solidFill>
                  <a:srgbClr val="D7E8E8"/>
                </a:solidFill>
                <a:latin typeface="Cambria" pitchFamily="34" charset="0"/>
                <a:ea typeface="Cambria" pitchFamily="34" charset="-122"/>
                <a:cs typeface="Cambria" pitchFamily="34" charset="-120"/>
              </a:rPr>
              <a:t>Finerenone in Persons with Chronic Kidney Disease without Diabetes</a:t>
            </a:r>
            <a:endParaRPr lang="en-US" sz="2600" dirty="0"/>
          </a:p>
        </p:txBody>
      </p:sp>
      <p:sp>
        <p:nvSpPr>
          <p:cNvPr id="7" name="Text 5"/>
          <p:cNvSpPr/>
          <p:nvPr/>
        </p:nvSpPr>
        <p:spPr>
          <a:xfrm>
            <a:off x="566928" y="3977640"/>
            <a:ext cx="10332720" cy="1005840"/>
          </a:xfrm>
          <a:prstGeom prst="rect">
            <a:avLst/>
          </a:prstGeom>
          <a:noFill/>
          <a:ln/>
        </p:spPr>
        <p:txBody>
          <a:bodyPr wrap="square" lIns="0" tIns="0" rIns="0" bIns="0" rtlCol="0" anchor="ctr"/>
          <a:lstStyle/>
          <a:p>
            <a:pPr indent="0" marL="0">
              <a:lnSpc>
                <a:spcPct val="112000"/>
              </a:lnSpc>
              <a:buNone/>
            </a:pPr>
            <a:r>
              <a:rPr lang="en-US" sz="1400" dirty="0">
                <a:solidFill>
                  <a:srgbClr val="CFE1E1"/>
                </a:solidFill>
                <a:latin typeface="Calibri" pitchFamily="34" charset="0"/>
                <a:ea typeface="Calibri" pitchFamily="34" charset="-122"/>
                <a:cs typeface="Calibri" pitchFamily="34" charset="-120"/>
              </a:rPr>
              <a:t>Heerspink HJL, Neuen BL, Agarwal R, et al., for the FIND-CKD Investigators</a:t>
            </a:r>
            <a:endParaRPr lang="en-US" sz="1400" dirty="0"/>
          </a:p>
          <a:p>
            <a:pPr indent="0" marL="0">
              <a:lnSpc>
                <a:spcPct val="112000"/>
              </a:lnSpc>
              <a:buNone/>
            </a:pPr>
            <a:r>
              <a:rPr lang="en-US" sz="1250" dirty="0">
                <a:solidFill>
                  <a:srgbClr val="9DB9B9"/>
                </a:solidFill>
                <a:latin typeface="Calibri" pitchFamily="34" charset="0"/>
                <a:ea typeface="Calibri" pitchFamily="34" charset="-122"/>
                <a:cs typeface="Calibri" pitchFamily="34" charset="-120"/>
              </a:rPr>
              <a:t>N Engl J Med. Published June 4, 2026 (updated June 29, 2026).  DOI: 10.1056/NEJMoa2604625</a:t>
            </a:r>
            <a:endParaRPr lang="en-US" sz="1400" dirty="0"/>
          </a:p>
          <a:p>
            <a:pPr indent="0" marL="0">
              <a:lnSpc>
                <a:spcPct val="112000"/>
              </a:lnSpc>
              <a:buNone/>
            </a:pPr>
            <a:r>
              <a:rPr lang="en-US" sz="1250" dirty="0">
                <a:solidFill>
                  <a:srgbClr val="9DB9B9"/>
                </a:solidFill>
                <a:latin typeface="Calibri" pitchFamily="34" charset="0"/>
                <a:ea typeface="Calibri" pitchFamily="34" charset="-122"/>
                <a:cs typeface="Calibri" pitchFamily="34" charset="-120"/>
              </a:rPr>
              <a:t>ClinicalTrials.gov NCT05047263  ·  Funded by Bayer</a:t>
            </a:r>
            <a:endParaRPr lang="en-US" sz="1400" dirty="0"/>
          </a:p>
        </p:txBody>
      </p:sp>
      <p:sp>
        <p:nvSpPr>
          <p:cNvPr id="8" name="Shape 6"/>
          <p:cNvSpPr/>
          <p:nvPr/>
        </p:nvSpPr>
        <p:spPr>
          <a:xfrm>
            <a:off x="566928" y="5623560"/>
            <a:ext cx="5852160" cy="658368"/>
          </a:xfrm>
          <a:prstGeom prst="roundRect">
            <a:avLst>
              <a:gd name="adj" fmla="val 12500"/>
            </a:avLst>
          </a:prstGeom>
          <a:solidFill>
            <a:srgbClr val="0C4A54"/>
          </a:solidFill>
          <a:ln/>
        </p:spPr>
      </p:sp>
      <p:sp>
        <p:nvSpPr>
          <p:cNvPr id="9" name="Text 7"/>
          <p:cNvSpPr/>
          <p:nvPr/>
        </p:nvSpPr>
        <p:spPr>
          <a:xfrm>
            <a:off x="795528" y="5623560"/>
            <a:ext cx="5486400" cy="658368"/>
          </a:xfrm>
          <a:prstGeom prst="rect">
            <a:avLst/>
          </a:prstGeom>
          <a:noFill/>
          <a:ln/>
        </p:spPr>
        <p:txBody>
          <a:bodyPr wrap="square" lIns="0" tIns="0" rIns="0" bIns="0" rtlCol="0" anchor="ctr"/>
          <a:lstStyle/>
          <a:p>
            <a:pPr indent="0" marL="0">
              <a:buNone/>
            </a:pPr>
            <a:r>
              <a:rPr lang="en-US" sz="1300" dirty="0">
                <a:solidFill>
                  <a:srgbClr val="9DB9B9"/>
                </a:solidFill>
                <a:latin typeface="Calibri" pitchFamily="34" charset="0"/>
                <a:ea typeface="Calibri" pitchFamily="34" charset="-122"/>
                <a:cs typeface="Calibri" pitchFamily="34" charset="-120"/>
              </a:rPr>
              <a:t>Nephrology grand rounds  ·  </a:t>
            </a:r>
            <a:pPr indent="0" marL="0">
              <a:buNone/>
            </a:pPr>
            <a:r>
              <a:rPr lang="en-US" sz="1300" b="1" dirty="0">
                <a:solidFill>
                  <a:srgbClr val="FFFFFF"/>
                </a:solidFill>
                <a:latin typeface="Calibri" pitchFamily="34" charset="0"/>
                <a:ea typeface="Calibri" pitchFamily="34" charset="-122"/>
                <a:cs typeface="Calibri" pitchFamily="34" charset="-120"/>
              </a:rPr>
              <a:t>[Presenter] </a:t>
            </a:r>
            <a:pPr indent="0" marL="0">
              <a:buNone/>
            </a:pPr>
            <a:r>
              <a:rPr lang="en-US" sz="1300" dirty="0">
                <a:solidFill>
                  <a:srgbClr val="9DB9B9"/>
                </a:solidFill>
                <a:latin typeface="Calibri" pitchFamily="34" charset="0"/>
                <a:ea typeface="Calibri" pitchFamily="34" charset="-122"/>
                <a:cs typeface="Calibri" pitchFamily="34" charset="-120"/>
              </a:rPr>
              <a:t>·  [Date]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Why this trial was needed</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BACKGROUND &amp; RATIONALE</a:t>
            </a:r>
            <a:endParaRPr lang="en-US" sz="1150" dirty="0"/>
          </a:p>
        </p:txBody>
      </p:sp>
      <p:sp>
        <p:nvSpPr>
          <p:cNvPr id="4" name="Shape 2"/>
          <p:cNvSpPr/>
          <p:nvPr/>
        </p:nvSpPr>
        <p:spPr>
          <a:xfrm>
            <a:off x="566928" y="1417320"/>
            <a:ext cx="5806440" cy="1371600"/>
          </a:xfrm>
          <a:prstGeom prst="roundRect">
            <a:avLst>
              <a:gd name="adj" fmla="val 6000"/>
            </a:avLst>
          </a:prstGeom>
          <a:solidFill>
            <a:srgbClr val="F1F6F6"/>
          </a:solidFill>
          <a:ln/>
          <a:effectLst>
            <a:outerShdw sx="100000" sy="100000" kx="0" ky="0" algn="bl" rotWithShape="0" blurRad="88900" dist="25400" dir="5400000">
              <a:srgbClr val="9BB0B0">
                <a:alpha val="28000"/>
              </a:srgbClr>
            </a:outerShdw>
          </a:effectLst>
        </p:spPr>
      </p:sp>
      <p:sp>
        <p:nvSpPr>
          <p:cNvPr id="5" name="Shape 3"/>
          <p:cNvSpPr/>
          <p:nvPr/>
        </p:nvSpPr>
        <p:spPr>
          <a:xfrm>
            <a:off x="822960" y="1673352"/>
            <a:ext cx="164592" cy="164592"/>
          </a:xfrm>
          <a:prstGeom prst="ellipse">
            <a:avLst/>
          </a:prstGeom>
          <a:solidFill>
            <a:srgbClr val="0E7C86"/>
          </a:solidFill>
          <a:ln/>
        </p:spPr>
      </p:sp>
      <p:sp>
        <p:nvSpPr>
          <p:cNvPr id="6" name="Text 4"/>
          <p:cNvSpPr/>
          <p:nvPr/>
        </p:nvSpPr>
        <p:spPr>
          <a:xfrm>
            <a:off x="822960" y="1673352"/>
            <a:ext cx="164592"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 name="Text 5"/>
          <p:cNvSpPr/>
          <p:nvPr/>
        </p:nvSpPr>
        <p:spPr>
          <a:xfrm>
            <a:off x="1133856" y="1563624"/>
            <a:ext cx="5029200" cy="310896"/>
          </a:xfrm>
          <a:prstGeom prst="rect">
            <a:avLst/>
          </a:prstGeom>
          <a:noFill/>
          <a:ln/>
        </p:spPr>
        <p:txBody>
          <a:bodyPr wrap="square" lIns="0" tIns="0" rIns="0" bIns="0" rtlCol="0" anchor="ctr"/>
          <a:lstStyle/>
          <a:p>
            <a:pPr indent="0" marL="0">
              <a:buNone/>
            </a:pPr>
            <a:r>
              <a:rPr lang="en-US" sz="1500" b="1" dirty="0">
                <a:solidFill>
                  <a:srgbClr val="0B3D46"/>
                </a:solidFill>
                <a:latin typeface="Calibri" pitchFamily="34" charset="0"/>
                <a:ea typeface="Calibri" pitchFamily="34" charset="-122"/>
                <a:cs typeface="Calibri" pitchFamily="34" charset="-120"/>
              </a:rPr>
              <a:t>A large, undertreated population</a:t>
            </a:r>
            <a:endParaRPr lang="en-US" sz="1500" dirty="0"/>
          </a:p>
        </p:txBody>
      </p:sp>
      <p:sp>
        <p:nvSpPr>
          <p:cNvPr id="8" name="Text 6"/>
          <p:cNvSpPr/>
          <p:nvPr/>
        </p:nvSpPr>
        <p:spPr>
          <a:xfrm>
            <a:off x="1133856" y="1892808"/>
            <a:ext cx="5029200" cy="822960"/>
          </a:xfrm>
          <a:prstGeom prst="rect">
            <a:avLst/>
          </a:prstGeom>
          <a:noFill/>
          <a:ln/>
        </p:spPr>
        <p:txBody>
          <a:bodyPr wrap="square" lIns="0" tIns="0" rIns="0" bIns="0" rtlCol="0" anchor="ctr"/>
          <a:lstStyle/>
          <a:p>
            <a:pPr indent="0" marL="0">
              <a:lnSpc>
                <a:spcPct val="103000"/>
              </a:lnSpc>
              <a:buNone/>
            </a:pPr>
            <a:r>
              <a:rPr lang="en-US" sz="1150" dirty="0">
                <a:solidFill>
                  <a:srgbClr val="1B2A2E"/>
                </a:solidFill>
                <a:latin typeface="Calibri" pitchFamily="34" charset="0"/>
                <a:ea typeface="Calibri" pitchFamily="34" charset="-122"/>
                <a:cs typeface="Calibri" pitchFamily="34" charset="-120"/>
              </a:rPr>
              <a:t>CKD prevalence has more than doubled since 1990: ~800 million adults worldwide in 2023. More than half of CKD is not caused by diabetes, yet the pivotal MRA trials studied only diabetic kidney disease.</a:t>
            </a:r>
            <a:endParaRPr lang="en-US" sz="1150" dirty="0"/>
          </a:p>
        </p:txBody>
      </p:sp>
      <p:sp>
        <p:nvSpPr>
          <p:cNvPr id="9" name="Shape 7"/>
          <p:cNvSpPr/>
          <p:nvPr/>
        </p:nvSpPr>
        <p:spPr>
          <a:xfrm>
            <a:off x="566928" y="2916936"/>
            <a:ext cx="5806440" cy="1371600"/>
          </a:xfrm>
          <a:prstGeom prst="roundRect">
            <a:avLst>
              <a:gd name="adj" fmla="val 6000"/>
            </a:avLst>
          </a:prstGeom>
          <a:solidFill>
            <a:srgbClr val="F1F6F6"/>
          </a:solidFill>
          <a:ln/>
          <a:effectLst>
            <a:outerShdw sx="100000" sy="100000" kx="0" ky="0" algn="bl" rotWithShape="0" blurRad="88900" dist="25400" dir="5400000">
              <a:srgbClr val="9BB0B0">
                <a:alpha val="28000"/>
              </a:srgbClr>
            </a:outerShdw>
          </a:effectLst>
        </p:spPr>
      </p:sp>
      <p:sp>
        <p:nvSpPr>
          <p:cNvPr id="10" name="Shape 8"/>
          <p:cNvSpPr/>
          <p:nvPr/>
        </p:nvSpPr>
        <p:spPr>
          <a:xfrm>
            <a:off x="822960" y="3172968"/>
            <a:ext cx="164592" cy="164592"/>
          </a:xfrm>
          <a:prstGeom prst="ellipse">
            <a:avLst/>
          </a:prstGeom>
          <a:solidFill>
            <a:srgbClr val="0E7C86"/>
          </a:solidFill>
          <a:ln/>
        </p:spPr>
      </p:sp>
      <p:sp>
        <p:nvSpPr>
          <p:cNvPr id="11" name="Text 9"/>
          <p:cNvSpPr/>
          <p:nvPr/>
        </p:nvSpPr>
        <p:spPr>
          <a:xfrm>
            <a:off x="822960" y="3172968"/>
            <a:ext cx="164592"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2" name="Text 10"/>
          <p:cNvSpPr/>
          <p:nvPr/>
        </p:nvSpPr>
        <p:spPr>
          <a:xfrm>
            <a:off x="1133856" y="3063240"/>
            <a:ext cx="5029200" cy="310896"/>
          </a:xfrm>
          <a:prstGeom prst="rect">
            <a:avLst/>
          </a:prstGeom>
          <a:noFill/>
          <a:ln/>
        </p:spPr>
        <p:txBody>
          <a:bodyPr wrap="square" lIns="0" tIns="0" rIns="0" bIns="0" rtlCol="0" anchor="ctr"/>
          <a:lstStyle/>
          <a:p>
            <a:pPr indent="0" marL="0">
              <a:buNone/>
            </a:pPr>
            <a:r>
              <a:rPr lang="en-US" sz="1500" b="1" dirty="0">
                <a:solidFill>
                  <a:srgbClr val="0B3D46"/>
                </a:solidFill>
                <a:latin typeface="Calibri" pitchFamily="34" charset="0"/>
                <a:ea typeface="Calibri" pitchFamily="34" charset="-122"/>
                <a:cs typeface="Calibri" pitchFamily="34" charset="-120"/>
              </a:rPr>
              <a:t>Residual risk on current therapy</a:t>
            </a:r>
            <a:endParaRPr lang="en-US" sz="1500" dirty="0"/>
          </a:p>
        </p:txBody>
      </p:sp>
      <p:sp>
        <p:nvSpPr>
          <p:cNvPr id="13" name="Text 11"/>
          <p:cNvSpPr/>
          <p:nvPr/>
        </p:nvSpPr>
        <p:spPr>
          <a:xfrm>
            <a:off x="1133856" y="3392424"/>
            <a:ext cx="5029200" cy="822960"/>
          </a:xfrm>
          <a:prstGeom prst="rect">
            <a:avLst/>
          </a:prstGeom>
          <a:noFill/>
          <a:ln/>
        </p:spPr>
        <p:txBody>
          <a:bodyPr wrap="square" lIns="0" tIns="0" rIns="0" bIns="0" rtlCol="0" anchor="ctr"/>
          <a:lstStyle/>
          <a:p>
            <a:pPr indent="0" marL="0">
              <a:lnSpc>
                <a:spcPct val="103000"/>
              </a:lnSpc>
              <a:buNone/>
            </a:pPr>
            <a:r>
              <a:rPr lang="en-US" sz="1150" dirty="0">
                <a:solidFill>
                  <a:srgbClr val="1B2A2E"/>
                </a:solidFill>
                <a:latin typeface="Calibri" pitchFamily="34" charset="0"/>
                <a:ea typeface="Calibri" pitchFamily="34" charset="-122"/>
                <a:cs typeface="Calibri" pitchFamily="34" charset="-120"/>
              </a:rPr>
              <a:t>Even on RAS inhibitors and SGLT2 inhibitors, patients with CKD and heavy albuminuria keep losing kidney function and accrue cardiovascular events. There is a real gap to fill.</a:t>
            </a:r>
            <a:endParaRPr lang="en-US" sz="1150" dirty="0"/>
          </a:p>
        </p:txBody>
      </p:sp>
      <p:sp>
        <p:nvSpPr>
          <p:cNvPr id="14" name="Shape 12"/>
          <p:cNvSpPr/>
          <p:nvPr/>
        </p:nvSpPr>
        <p:spPr>
          <a:xfrm>
            <a:off x="566928" y="4416552"/>
            <a:ext cx="5806440" cy="1371600"/>
          </a:xfrm>
          <a:prstGeom prst="roundRect">
            <a:avLst>
              <a:gd name="adj" fmla="val 6000"/>
            </a:avLst>
          </a:prstGeom>
          <a:solidFill>
            <a:srgbClr val="F1F6F6"/>
          </a:solidFill>
          <a:ln/>
          <a:effectLst>
            <a:outerShdw sx="100000" sy="100000" kx="0" ky="0" algn="bl" rotWithShape="0" blurRad="88900" dist="25400" dir="5400000">
              <a:srgbClr val="9BB0B0">
                <a:alpha val="28000"/>
              </a:srgbClr>
            </a:outerShdw>
          </a:effectLst>
        </p:spPr>
      </p:sp>
      <p:sp>
        <p:nvSpPr>
          <p:cNvPr id="15" name="Shape 13"/>
          <p:cNvSpPr/>
          <p:nvPr/>
        </p:nvSpPr>
        <p:spPr>
          <a:xfrm>
            <a:off x="822960" y="4672584"/>
            <a:ext cx="164592" cy="164592"/>
          </a:xfrm>
          <a:prstGeom prst="ellipse">
            <a:avLst/>
          </a:prstGeom>
          <a:solidFill>
            <a:srgbClr val="0E7C86"/>
          </a:solidFill>
          <a:ln/>
        </p:spPr>
      </p:sp>
      <p:sp>
        <p:nvSpPr>
          <p:cNvPr id="16" name="Text 14"/>
          <p:cNvSpPr/>
          <p:nvPr/>
        </p:nvSpPr>
        <p:spPr>
          <a:xfrm>
            <a:off x="822960" y="4672584"/>
            <a:ext cx="164592"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5"/>
          <p:cNvSpPr/>
          <p:nvPr/>
        </p:nvSpPr>
        <p:spPr>
          <a:xfrm>
            <a:off x="1133856" y="4562856"/>
            <a:ext cx="5029200" cy="310896"/>
          </a:xfrm>
          <a:prstGeom prst="rect">
            <a:avLst/>
          </a:prstGeom>
          <a:noFill/>
          <a:ln/>
        </p:spPr>
        <p:txBody>
          <a:bodyPr wrap="square" lIns="0" tIns="0" rIns="0" bIns="0" rtlCol="0" anchor="ctr"/>
          <a:lstStyle/>
          <a:p>
            <a:pPr indent="0" marL="0">
              <a:buNone/>
            </a:pPr>
            <a:r>
              <a:rPr lang="en-US" sz="1500" b="1" dirty="0">
                <a:solidFill>
                  <a:srgbClr val="0B3D46"/>
                </a:solidFill>
                <a:latin typeface="Calibri" pitchFamily="34" charset="0"/>
                <a:ea typeface="Calibri" pitchFamily="34" charset="-122"/>
                <a:cs typeface="Calibri" pitchFamily="34" charset="-120"/>
              </a:rPr>
              <a:t>A mechanistic rationale for MR blockade</a:t>
            </a:r>
            <a:endParaRPr lang="en-US" sz="1500" dirty="0"/>
          </a:p>
        </p:txBody>
      </p:sp>
      <p:sp>
        <p:nvSpPr>
          <p:cNvPr id="18" name="Text 16"/>
          <p:cNvSpPr/>
          <p:nvPr/>
        </p:nvSpPr>
        <p:spPr>
          <a:xfrm>
            <a:off x="1133856" y="4892040"/>
            <a:ext cx="5029200" cy="822960"/>
          </a:xfrm>
          <a:prstGeom prst="rect">
            <a:avLst/>
          </a:prstGeom>
          <a:noFill/>
          <a:ln/>
        </p:spPr>
        <p:txBody>
          <a:bodyPr wrap="square" lIns="0" tIns="0" rIns="0" bIns="0" rtlCol="0" anchor="ctr"/>
          <a:lstStyle/>
          <a:p>
            <a:pPr indent="0" marL="0">
              <a:lnSpc>
                <a:spcPct val="103000"/>
              </a:lnSpc>
              <a:buNone/>
            </a:pPr>
            <a:r>
              <a:rPr lang="en-US" sz="1150" dirty="0">
                <a:solidFill>
                  <a:srgbClr val="1B2A2E"/>
                </a:solidFill>
                <a:latin typeface="Calibri" pitchFamily="34" charset="0"/>
                <a:ea typeface="Calibri" pitchFamily="34" charset="-122"/>
                <a:cs typeface="Calibri" pitchFamily="34" charset="-120"/>
              </a:rPr>
              <a:t>Mineralocorticoid receptor overactivation drives sodium and fluid retention plus inflammation and fibrosis. This pathway operates in non-diabetic CKD too, so the benefit seen in diabetes was plausible here but unproven.</a:t>
            </a:r>
            <a:endParaRPr lang="en-US" sz="1150" dirty="0"/>
          </a:p>
        </p:txBody>
      </p:sp>
      <p:sp>
        <p:nvSpPr>
          <p:cNvPr id="19" name="Shape 17"/>
          <p:cNvSpPr/>
          <p:nvPr/>
        </p:nvSpPr>
        <p:spPr>
          <a:xfrm>
            <a:off x="6739128" y="1417320"/>
            <a:ext cx="4882896" cy="2148840"/>
          </a:xfrm>
          <a:prstGeom prst="roundRect">
            <a:avLst>
              <a:gd name="adj" fmla="val 3830"/>
            </a:avLst>
          </a:prstGeom>
          <a:solidFill>
            <a:srgbClr val="0B3D46"/>
          </a:solidFill>
          <a:ln/>
          <a:effectLst>
            <a:outerShdw sx="100000" sy="100000" kx="0" ky="0" algn="bl" rotWithShape="0" blurRad="88900" dist="25400" dir="5400000">
              <a:srgbClr val="9BB0B0">
                <a:alpha val="28000"/>
              </a:srgbClr>
            </a:outerShdw>
          </a:effectLst>
        </p:spPr>
      </p:sp>
      <p:sp>
        <p:nvSpPr>
          <p:cNvPr id="20" name="Text 18"/>
          <p:cNvSpPr/>
          <p:nvPr/>
        </p:nvSpPr>
        <p:spPr>
          <a:xfrm>
            <a:off x="7013448" y="1627632"/>
            <a:ext cx="4334256" cy="274320"/>
          </a:xfrm>
          <a:prstGeom prst="rect">
            <a:avLst/>
          </a:prstGeom>
          <a:noFill/>
          <a:ln/>
        </p:spPr>
        <p:txBody>
          <a:bodyPr wrap="square" lIns="0" tIns="0" rIns="0" bIns="0" rtlCol="0" anchor="ctr"/>
          <a:lstStyle/>
          <a:p>
            <a:pPr indent="0" marL="0">
              <a:buNone/>
            </a:pPr>
            <a:r>
              <a:rPr lang="en-US" sz="1200" b="1" spc="150" kern="0" dirty="0">
                <a:solidFill>
                  <a:srgbClr val="3AA6A0"/>
                </a:solidFill>
                <a:latin typeface="Calibri" pitchFamily="34" charset="0"/>
                <a:ea typeface="Calibri" pitchFamily="34" charset="-122"/>
                <a:cs typeface="Calibri" pitchFamily="34" charset="-120"/>
              </a:rPr>
              <a:t>THE OPEN QUESTION</a:t>
            </a:r>
            <a:endParaRPr lang="en-US" sz="1200" dirty="0"/>
          </a:p>
        </p:txBody>
      </p:sp>
      <p:sp>
        <p:nvSpPr>
          <p:cNvPr id="21" name="Text 19"/>
          <p:cNvSpPr/>
          <p:nvPr/>
        </p:nvSpPr>
        <p:spPr>
          <a:xfrm>
            <a:off x="7013448" y="1965960"/>
            <a:ext cx="4334256" cy="1463040"/>
          </a:xfrm>
          <a:prstGeom prst="rect">
            <a:avLst/>
          </a:prstGeom>
          <a:noFill/>
          <a:ln/>
        </p:spPr>
        <p:txBody>
          <a:bodyPr wrap="square" lIns="0" tIns="0" rIns="0" bIns="0" rtlCol="0" anchor="ctr"/>
          <a:lstStyle/>
          <a:p>
            <a:pPr indent="0" marL="0">
              <a:lnSpc>
                <a:spcPct val="105000"/>
              </a:lnSpc>
              <a:buNone/>
            </a:pPr>
            <a:r>
              <a:rPr lang="en-US" sz="1900" dirty="0">
                <a:solidFill>
                  <a:srgbClr val="FFFFFF"/>
                </a:solidFill>
                <a:latin typeface="Cambria" pitchFamily="34" charset="0"/>
                <a:ea typeface="Cambria" pitchFamily="34" charset="-122"/>
                <a:cs typeface="Cambria" pitchFamily="34" charset="-120"/>
              </a:rPr>
              <a:t>Does finerenone protect the kidney in CKD without diabetes, the way it does in diabetic kidney disease?</a:t>
            </a:r>
            <a:endParaRPr lang="en-US" sz="1900" dirty="0"/>
          </a:p>
        </p:txBody>
      </p:sp>
      <p:sp>
        <p:nvSpPr>
          <p:cNvPr id="22" name="Shape 20"/>
          <p:cNvSpPr/>
          <p:nvPr/>
        </p:nvSpPr>
        <p:spPr>
          <a:xfrm>
            <a:off x="6739128" y="3767328"/>
            <a:ext cx="4882896" cy="1170432"/>
          </a:xfrm>
          <a:prstGeom prst="roundRect">
            <a:avLst>
              <a:gd name="adj" fmla="val 7031"/>
            </a:avLst>
          </a:prstGeom>
          <a:solidFill>
            <a:srgbClr val="E4EEEE"/>
          </a:solidFill>
          <a:ln/>
          <a:effectLst>
            <a:outerShdw sx="100000" sy="100000" kx="0" ky="0" algn="bl" rotWithShape="0" blurRad="88900" dist="25400" dir="5400000">
              <a:srgbClr val="9BB0B0">
                <a:alpha val="28000"/>
              </a:srgbClr>
            </a:outerShdw>
          </a:effectLst>
        </p:spPr>
      </p:sp>
      <p:sp>
        <p:nvSpPr>
          <p:cNvPr id="23" name="Text 21"/>
          <p:cNvSpPr/>
          <p:nvPr/>
        </p:nvSpPr>
        <p:spPr>
          <a:xfrm>
            <a:off x="7013448" y="3877056"/>
            <a:ext cx="4334256" cy="640080"/>
          </a:xfrm>
          <a:prstGeom prst="rect">
            <a:avLst/>
          </a:prstGeom>
          <a:noFill/>
          <a:ln/>
        </p:spPr>
        <p:txBody>
          <a:bodyPr wrap="square" lIns="0" tIns="0" rIns="0" bIns="0" rtlCol="0" anchor="ctr"/>
          <a:lstStyle/>
          <a:p>
            <a:pPr indent="0" marL="0">
              <a:buNone/>
            </a:pPr>
            <a:r>
              <a:rPr lang="en-US" sz="4000" b="1" dirty="0">
                <a:solidFill>
                  <a:srgbClr val="0E7C86"/>
                </a:solidFill>
                <a:latin typeface="Calibri" pitchFamily="34" charset="0"/>
                <a:ea typeface="Calibri" pitchFamily="34" charset="-122"/>
                <a:cs typeface="Calibri" pitchFamily="34" charset="-120"/>
              </a:rPr>
              <a:t>&gt;50%</a:t>
            </a:r>
            <a:pPr indent="0" marL="0">
              <a:buNone/>
            </a:pPr>
            <a:r>
              <a:rPr lang="en-US" sz="1500" dirty="0">
                <a:solidFill>
                  <a:srgbClr val="1B2A2E"/>
                </a:solidFill>
                <a:latin typeface="Calibri" pitchFamily="34" charset="0"/>
                <a:ea typeface="Calibri" pitchFamily="34" charset="-122"/>
                <a:cs typeface="Calibri" pitchFamily="34" charset="-120"/>
              </a:rPr>
              <a:t>  of CKD</a:t>
            </a:r>
            <a:endParaRPr lang="en-US" sz="4000" dirty="0"/>
          </a:p>
        </p:txBody>
      </p:sp>
      <p:sp>
        <p:nvSpPr>
          <p:cNvPr id="24" name="Text 22"/>
          <p:cNvSpPr/>
          <p:nvPr/>
        </p:nvSpPr>
        <p:spPr>
          <a:xfrm>
            <a:off x="7013448" y="4443984"/>
            <a:ext cx="4334256" cy="457200"/>
          </a:xfrm>
          <a:prstGeom prst="rect">
            <a:avLst/>
          </a:prstGeom>
          <a:noFill/>
          <a:ln/>
        </p:spPr>
        <p:txBody>
          <a:bodyPr wrap="square" lIns="0" tIns="0" rIns="0" bIns="0" rtlCol="0" anchor="ctr"/>
          <a:lstStyle/>
          <a:p>
            <a:pPr indent="0" marL="0">
              <a:lnSpc>
                <a:spcPct val="100000"/>
              </a:lnSpc>
              <a:buNone/>
            </a:pPr>
            <a:r>
              <a:rPr lang="en-US" sz="1150" dirty="0">
                <a:solidFill>
                  <a:srgbClr val="1B2A2E"/>
                </a:solidFill>
                <a:latin typeface="Calibri" pitchFamily="34" charset="0"/>
                <a:ea typeface="Calibri" pitchFamily="34" charset="-122"/>
                <a:cs typeface="Calibri" pitchFamily="34" charset="-120"/>
              </a:rPr>
              <a:t>occurs in people without diabetes, a group excluded from FIDELIO and FIGARO.</a:t>
            </a:r>
            <a:endParaRPr lang="en-US" sz="1150" dirty="0"/>
          </a:p>
        </p:txBody>
      </p:sp>
      <p:sp>
        <p:nvSpPr>
          <p:cNvPr id="26" name="Text 23"/>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27" name="Text 24"/>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What we already knew: finerenone in diabetes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PRIOR EVIDENCE</a:t>
            </a:r>
            <a:endParaRPr lang="en-US" sz="1150" dirty="0"/>
          </a:p>
        </p:txBody>
      </p:sp>
      <p:sp>
        <p:nvSpPr>
          <p:cNvPr id="4" name="Text 2"/>
          <p:cNvSpPr/>
          <p:nvPr/>
        </p:nvSpPr>
        <p:spPr>
          <a:xfrm>
            <a:off x="566928" y="1170432"/>
            <a:ext cx="11055096" cy="320040"/>
          </a:xfrm>
          <a:prstGeom prst="rect">
            <a:avLst/>
          </a:prstGeom>
          <a:noFill/>
          <a:ln/>
        </p:spPr>
        <p:txBody>
          <a:bodyPr wrap="square" lIns="0" tIns="0" rIns="0" bIns="0" rtlCol="0" anchor="ctr"/>
          <a:lstStyle/>
          <a:p>
            <a:pPr indent="0" marL="0">
              <a:buNone/>
            </a:pPr>
            <a:r>
              <a:rPr lang="en-US" sz="1300" i="1" dirty="0">
                <a:solidFill>
                  <a:srgbClr val="5C6B70"/>
                </a:solidFill>
                <a:latin typeface="Calibri" pitchFamily="34" charset="0"/>
                <a:ea typeface="Calibri" pitchFamily="34" charset="-122"/>
                <a:cs typeface="Calibri" pitchFamily="34" charset="-120"/>
              </a:rPr>
              <a:t>Before FIND-CKD, every phase 3 finerenone kidney trial enrolled only patients with type 2 diabetes.</a:t>
            </a:r>
            <a:endParaRPr lang="en-US" sz="1300" dirty="0"/>
          </a:p>
        </p:txBody>
      </p:sp>
      <p:sp>
        <p:nvSpPr>
          <p:cNvPr id="5" name="Shape 3"/>
          <p:cNvSpPr/>
          <p:nvPr/>
        </p:nvSpPr>
        <p:spPr>
          <a:xfrm>
            <a:off x="566928" y="1691640"/>
            <a:ext cx="11055096" cy="457200"/>
          </a:xfrm>
          <a:prstGeom prst="rect">
            <a:avLst/>
          </a:prstGeom>
          <a:solidFill>
            <a:srgbClr val="0B3D46"/>
          </a:solidFill>
          <a:ln/>
        </p:spPr>
      </p:sp>
      <p:sp>
        <p:nvSpPr>
          <p:cNvPr id="6" name="Text 4"/>
          <p:cNvSpPr/>
          <p:nvPr/>
        </p:nvSpPr>
        <p:spPr>
          <a:xfrm>
            <a:off x="676656" y="1691640"/>
            <a:ext cx="2470343"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Trial (year)</a:t>
            </a:r>
            <a:endParaRPr lang="en-US" sz="1250" dirty="0"/>
          </a:p>
        </p:txBody>
      </p:sp>
      <p:sp>
        <p:nvSpPr>
          <p:cNvPr id="7" name="Text 5"/>
          <p:cNvSpPr/>
          <p:nvPr/>
        </p:nvSpPr>
        <p:spPr>
          <a:xfrm>
            <a:off x="3329879" y="1691640"/>
            <a:ext cx="1917588"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p>
        </p:txBody>
      </p:sp>
      <p:sp>
        <p:nvSpPr>
          <p:cNvPr id="8" name="Text 6"/>
          <p:cNvSpPr/>
          <p:nvPr/>
        </p:nvSpPr>
        <p:spPr>
          <a:xfrm>
            <a:off x="5430347" y="1691640"/>
            <a:ext cx="3575853"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Primary outcome</a:t>
            </a:r>
            <a:endParaRPr lang="en-US" sz="1250" dirty="0"/>
          </a:p>
        </p:txBody>
      </p:sp>
      <p:sp>
        <p:nvSpPr>
          <p:cNvPr id="9" name="Text 7"/>
          <p:cNvSpPr/>
          <p:nvPr/>
        </p:nvSpPr>
        <p:spPr>
          <a:xfrm>
            <a:off x="9189080" y="1691640"/>
            <a:ext cx="2359792"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Result (HR, 95% CI)</a:t>
            </a:r>
            <a:endParaRPr lang="en-US" sz="1250" dirty="0"/>
          </a:p>
        </p:txBody>
      </p:sp>
      <p:sp>
        <p:nvSpPr>
          <p:cNvPr id="10" name="Shape 8"/>
          <p:cNvSpPr/>
          <p:nvPr/>
        </p:nvSpPr>
        <p:spPr>
          <a:xfrm>
            <a:off x="566928" y="2148840"/>
            <a:ext cx="11055096" cy="749808"/>
          </a:xfrm>
          <a:prstGeom prst="rect">
            <a:avLst/>
          </a:prstGeom>
          <a:solidFill>
            <a:srgbClr val="FFFFFF"/>
          </a:solidFill>
          <a:ln w="9525">
            <a:solidFill>
              <a:srgbClr val="CBD9D9"/>
            </a:solidFill>
            <a:prstDash val="solid"/>
          </a:ln>
        </p:spPr>
      </p:sp>
      <p:sp>
        <p:nvSpPr>
          <p:cNvPr id="11" name="Text 9"/>
          <p:cNvSpPr/>
          <p:nvPr/>
        </p:nvSpPr>
        <p:spPr>
          <a:xfrm>
            <a:off x="676656" y="2148840"/>
            <a:ext cx="2470343" cy="749808"/>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FIDELIO-DKD (2020)</a:t>
            </a:r>
            <a:endParaRPr lang="en-US" sz="1250" dirty="0"/>
          </a:p>
        </p:txBody>
      </p:sp>
      <p:sp>
        <p:nvSpPr>
          <p:cNvPr id="12" name="Text 10"/>
          <p:cNvSpPr/>
          <p:nvPr/>
        </p:nvSpPr>
        <p:spPr>
          <a:xfrm>
            <a:off x="3329879" y="2148840"/>
            <a:ext cx="1917588" cy="74980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T2D + CKD, mostly UACR &gt;300; N=5674</a:t>
            </a:r>
            <a:endParaRPr lang="en-US" sz="1100" dirty="0"/>
          </a:p>
        </p:txBody>
      </p:sp>
      <p:sp>
        <p:nvSpPr>
          <p:cNvPr id="13" name="Text 11"/>
          <p:cNvSpPr/>
          <p:nvPr/>
        </p:nvSpPr>
        <p:spPr>
          <a:xfrm>
            <a:off x="5430347" y="2148840"/>
            <a:ext cx="3575853" cy="74980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Kidney composite: kidney failure, sustained ≥40% eGFR decline, or renal death</a:t>
            </a:r>
            <a:endParaRPr lang="en-US" sz="1100" dirty="0"/>
          </a:p>
        </p:txBody>
      </p:sp>
      <p:sp>
        <p:nvSpPr>
          <p:cNvPr id="14" name="Text 12"/>
          <p:cNvSpPr/>
          <p:nvPr/>
        </p:nvSpPr>
        <p:spPr>
          <a:xfrm>
            <a:off x="9189080" y="2148840"/>
            <a:ext cx="2359792" cy="749808"/>
          </a:xfrm>
          <a:prstGeom prst="rect">
            <a:avLst/>
          </a:prstGeom>
          <a:noFill/>
          <a:ln/>
        </p:spPr>
        <p:txBody>
          <a:bodyPr wrap="square" lIns="0" tIns="0" rIns="0" bIns="0" rtlCol="0" anchor="ctr"/>
          <a:lstStyle/>
          <a:p>
            <a:pPr indent="0" marL="0">
              <a:lnSpc>
                <a:spcPct val="98000"/>
              </a:lnSpc>
              <a:buNone/>
            </a:pPr>
            <a:r>
              <a:rPr lang="en-US" sz="1250" b="1" dirty="0">
                <a:solidFill>
                  <a:srgbClr val="0E7C86"/>
                </a:solidFill>
                <a:latin typeface="Calibri" pitchFamily="34" charset="0"/>
                <a:ea typeface="Calibri" pitchFamily="34" charset="-122"/>
                <a:cs typeface="Calibri" pitchFamily="34" charset="-120"/>
              </a:rPr>
              <a:t>0.82 (0.73–0.93)</a:t>
            </a:r>
            <a:endParaRPr lang="en-US" sz="1250" dirty="0"/>
          </a:p>
        </p:txBody>
      </p:sp>
      <p:sp>
        <p:nvSpPr>
          <p:cNvPr id="15" name="Shape 13"/>
          <p:cNvSpPr/>
          <p:nvPr/>
        </p:nvSpPr>
        <p:spPr>
          <a:xfrm>
            <a:off x="566928" y="2898648"/>
            <a:ext cx="11055096" cy="749808"/>
          </a:xfrm>
          <a:prstGeom prst="rect">
            <a:avLst/>
          </a:prstGeom>
          <a:solidFill>
            <a:srgbClr val="F1F6F6"/>
          </a:solidFill>
          <a:ln w="9525">
            <a:solidFill>
              <a:srgbClr val="CBD9D9"/>
            </a:solidFill>
            <a:prstDash val="solid"/>
          </a:ln>
        </p:spPr>
      </p:sp>
      <p:sp>
        <p:nvSpPr>
          <p:cNvPr id="16" name="Text 14"/>
          <p:cNvSpPr/>
          <p:nvPr/>
        </p:nvSpPr>
        <p:spPr>
          <a:xfrm>
            <a:off x="676656" y="2898648"/>
            <a:ext cx="2470343" cy="749808"/>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FIGARO-DKD (2021)</a:t>
            </a:r>
            <a:endParaRPr lang="en-US" sz="1250" dirty="0"/>
          </a:p>
        </p:txBody>
      </p:sp>
      <p:sp>
        <p:nvSpPr>
          <p:cNvPr id="17" name="Text 15"/>
          <p:cNvSpPr/>
          <p:nvPr/>
        </p:nvSpPr>
        <p:spPr>
          <a:xfrm>
            <a:off x="3329879" y="2898648"/>
            <a:ext cx="1917588" cy="74980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T2D + CKD, earlier stage / more albuminuria A2; N=7437</a:t>
            </a:r>
            <a:endParaRPr lang="en-US" sz="1100" dirty="0"/>
          </a:p>
        </p:txBody>
      </p:sp>
      <p:sp>
        <p:nvSpPr>
          <p:cNvPr id="18" name="Text 16"/>
          <p:cNvSpPr/>
          <p:nvPr/>
        </p:nvSpPr>
        <p:spPr>
          <a:xfrm>
            <a:off x="5430347" y="2898648"/>
            <a:ext cx="3575853" cy="74980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CV composite: CV death, MI, stroke, or HF hospitalization</a:t>
            </a:r>
            <a:endParaRPr lang="en-US" sz="1100" dirty="0"/>
          </a:p>
        </p:txBody>
      </p:sp>
      <p:sp>
        <p:nvSpPr>
          <p:cNvPr id="19" name="Text 17"/>
          <p:cNvSpPr/>
          <p:nvPr/>
        </p:nvSpPr>
        <p:spPr>
          <a:xfrm>
            <a:off x="9189080" y="2898648"/>
            <a:ext cx="2359792" cy="749808"/>
          </a:xfrm>
          <a:prstGeom prst="rect">
            <a:avLst/>
          </a:prstGeom>
          <a:noFill/>
          <a:ln/>
        </p:spPr>
        <p:txBody>
          <a:bodyPr wrap="square" lIns="0" tIns="0" rIns="0" bIns="0" rtlCol="0" anchor="ctr"/>
          <a:lstStyle/>
          <a:p>
            <a:pPr indent="0" marL="0">
              <a:lnSpc>
                <a:spcPct val="98000"/>
              </a:lnSpc>
              <a:buNone/>
            </a:pPr>
            <a:r>
              <a:rPr lang="en-US" sz="1250" b="1" dirty="0">
                <a:solidFill>
                  <a:srgbClr val="0E7C86"/>
                </a:solidFill>
                <a:latin typeface="Calibri" pitchFamily="34" charset="0"/>
                <a:ea typeface="Calibri" pitchFamily="34" charset="-122"/>
                <a:cs typeface="Calibri" pitchFamily="34" charset="-120"/>
              </a:rPr>
              <a:t>0.87 (0.76–0.98)</a:t>
            </a:r>
            <a:endParaRPr lang="en-US" sz="1250" dirty="0"/>
          </a:p>
        </p:txBody>
      </p:sp>
      <p:sp>
        <p:nvSpPr>
          <p:cNvPr id="20" name="Shape 18"/>
          <p:cNvSpPr/>
          <p:nvPr/>
        </p:nvSpPr>
        <p:spPr>
          <a:xfrm>
            <a:off x="566928" y="3648456"/>
            <a:ext cx="11055096" cy="841248"/>
          </a:xfrm>
          <a:prstGeom prst="rect">
            <a:avLst/>
          </a:prstGeom>
          <a:solidFill>
            <a:srgbClr val="FFFFFF"/>
          </a:solidFill>
          <a:ln w="9525">
            <a:solidFill>
              <a:srgbClr val="CBD9D9"/>
            </a:solidFill>
            <a:prstDash val="solid"/>
          </a:ln>
        </p:spPr>
      </p:sp>
      <p:sp>
        <p:nvSpPr>
          <p:cNvPr id="21" name="Text 19"/>
          <p:cNvSpPr/>
          <p:nvPr/>
        </p:nvSpPr>
        <p:spPr>
          <a:xfrm>
            <a:off x="676656" y="3648456"/>
            <a:ext cx="2470343" cy="841248"/>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FIDELITY pooled (2022)</a:t>
            </a:r>
            <a:endParaRPr lang="en-US" sz="1250" dirty="0"/>
          </a:p>
        </p:txBody>
      </p:sp>
      <p:sp>
        <p:nvSpPr>
          <p:cNvPr id="22" name="Text 20"/>
          <p:cNvSpPr/>
          <p:nvPr/>
        </p:nvSpPr>
        <p:spPr>
          <a:xfrm>
            <a:off x="3329879" y="3648456"/>
            <a:ext cx="1917588" cy="84124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Pre-specified pooled analysis; N=13,026</a:t>
            </a:r>
            <a:endParaRPr lang="en-US" sz="1100" dirty="0"/>
          </a:p>
        </p:txBody>
      </p:sp>
      <p:sp>
        <p:nvSpPr>
          <p:cNvPr id="23" name="Text 21"/>
          <p:cNvSpPr/>
          <p:nvPr/>
        </p:nvSpPr>
        <p:spPr>
          <a:xfrm>
            <a:off x="5430347" y="3648456"/>
            <a:ext cx="3575853" cy="841248"/>
          </a:xfrm>
          <a:prstGeom prst="rect">
            <a:avLst/>
          </a:prstGeom>
          <a:noFill/>
          <a:ln/>
        </p:spPr>
        <p:txBody>
          <a:bodyPr wrap="square" lIns="0" tIns="0" rIns="0" bIns="0" rtlCol="0" anchor="ctr"/>
          <a:lstStyle/>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CV composite</a:t>
            </a:r>
            <a:endParaRPr lang="en-US" sz="1100" dirty="0"/>
          </a:p>
          <a:p>
            <a:pPr indent="0" marL="0">
              <a:lnSpc>
                <a:spcPct val="98000"/>
              </a:lnSpc>
              <a:buNone/>
            </a:pPr>
            <a:r>
              <a:rPr lang="en-US" sz="1100" dirty="0">
                <a:solidFill>
                  <a:srgbClr val="1B2A2E"/>
                </a:solidFill>
                <a:latin typeface="Calibri" pitchFamily="34" charset="0"/>
                <a:ea typeface="Calibri" pitchFamily="34" charset="-122"/>
                <a:cs typeface="Calibri" pitchFamily="34" charset="-120"/>
              </a:rPr>
              <a:t>Kidney composite (≥57% eGFR decline)</a:t>
            </a:r>
            <a:endParaRPr lang="en-US" sz="1100" dirty="0"/>
          </a:p>
        </p:txBody>
      </p:sp>
      <p:sp>
        <p:nvSpPr>
          <p:cNvPr id="24" name="Text 22"/>
          <p:cNvSpPr/>
          <p:nvPr/>
        </p:nvSpPr>
        <p:spPr>
          <a:xfrm>
            <a:off x="9189080" y="3648456"/>
            <a:ext cx="2359792" cy="841248"/>
          </a:xfrm>
          <a:prstGeom prst="rect">
            <a:avLst/>
          </a:prstGeom>
          <a:noFill/>
          <a:ln/>
        </p:spPr>
        <p:txBody>
          <a:bodyPr wrap="square" lIns="0" tIns="0" rIns="0" bIns="0" rtlCol="0" anchor="ctr"/>
          <a:lstStyle/>
          <a:p>
            <a:pPr indent="0" marL="0">
              <a:lnSpc>
                <a:spcPct val="98000"/>
              </a:lnSpc>
              <a:buNone/>
            </a:pPr>
            <a:r>
              <a:rPr lang="en-US" sz="1250" b="1" dirty="0">
                <a:solidFill>
                  <a:srgbClr val="0E7C86"/>
                </a:solidFill>
                <a:latin typeface="Calibri" pitchFamily="34" charset="0"/>
                <a:ea typeface="Calibri" pitchFamily="34" charset="-122"/>
                <a:cs typeface="Calibri" pitchFamily="34" charset="-120"/>
              </a:rPr>
              <a:t>CV 0.86 (0.78–0.95)</a:t>
            </a:r>
            <a:endParaRPr lang="en-US" sz="1250" dirty="0"/>
          </a:p>
          <a:p>
            <a:pPr indent="0" marL="0">
              <a:lnSpc>
                <a:spcPct val="98000"/>
              </a:lnSpc>
              <a:buNone/>
            </a:pPr>
            <a:r>
              <a:rPr lang="en-US" sz="1250" b="1" dirty="0">
                <a:solidFill>
                  <a:srgbClr val="0E7C86"/>
                </a:solidFill>
                <a:latin typeface="Calibri" pitchFamily="34" charset="0"/>
                <a:ea typeface="Calibri" pitchFamily="34" charset="-122"/>
                <a:cs typeface="Calibri" pitchFamily="34" charset="-120"/>
              </a:rPr>
              <a:t>Kidney 0.77 (0.67–0.88)</a:t>
            </a:r>
            <a:endParaRPr lang="en-US" sz="1250" dirty="0"/>
          </a:p>
        </p:txBody>
      </p:sp>
      <p:sp>
        <p:nvSpPr>
          <p:cNvPr id="25" name="Shape 23"/>
          <p:cNvSpPr/>
          <p:nvPr/>
        </p:nvSpPr>
        <p:spPr>
          <a:xfrm>
            <a:off x="566928" y="4654296"/>
            <a:ext cx="11055096" cy="868680"/>
          </a:xfrm>
          <a:prstGeom prst="roundRect">
            <a:avLst>
              <a:gd name="adj" fmla="val 9474"/>
            </a:avLst>
          </a:prstGeom>
          <a:solidFill>
            <a:srgbClr val="E4EEEE"/>
          </a:solidFill>
          <a:ln/>
        </p:spPr>
      </p:sp>
      <p:sp>
        <p:nvSpPr>
          <p:cNvPr id="26" name="Shape 24"/>
          <p:cNvSpPr/>
          <p:nvPr/>
        </p:nvSpPr>
        <p:spPr>
          <a:xfrm>
            <a:off x="822960" y="4910328"/>
            <a:ext cx="182880" cy="182880"/>
          </a:xfrm>
          <a:prstGeom prst="ellipse">
            <a:avLst/>
          </a:prstGeom>
          <a:solidFill>
            <a:srgbClr val="E08A2E"/>
          </a:solidFill>
          <a:ln/>
        </p:spPr>
      </p:sp>
      <p:sp>
        <p:nvSpPr>
          <p:cNvPr id="27" name="Text 25"/>
          <p:cNvSpPr/>
          <p:nvPr/>
        </p:nvSpPr>
        <p:spPr>
          <a:xfrm>
            <a:off x="1133856" y="4654296"/>
            <a:ext cx="10232136" cy="868680"/>
          </a:xfrm>
          <a:prstGeom prst="rect">
            <a:avLst/>
          </a:prstGeom>
          <a:noFill/>
          <a:ln/>
        </p:spPr>
        <p:txBody>
          <a:bodyPr wrap="square" lIns="0" tIns="0" rIns="0" bIns="0" rtlCol="0" anchor="ctr"/>
          <a:lstStyle/>
          <a:p>
            <a:pPr indent="0" marL="0">
              <a:lnSpc>
                <a:spcPct val="102000"/>
              </a:lnSpc>
              <a:buNone/>
            </a:pPr>
            <a:r>
              <a:rPr lang="en-US" sz="1250" b="1" dirty="0">
                <a:solidFill>
                  <a:srgbClr val="0B3D46"/>
                </a:solidFill>
                <a:latin typeface="Calibri" pitchFamily="34" charset="0"/>
                <a:ea typeface="Calibri" pitchFamily="34" charset="-122"/>
                <a:cs typeface="Calibri" pitchFamily="34" charset="-120"/>
              </a:rPr>
              <a:t>The gap:  </a:t>
            </a:r>
            <a:pPr indent="0" marL="0">
              <a:lnSpc>
                <a:spcPct val="102000"/>
              </a:lnSpc>
              <a:buNone/>
            </a:pPr>
            <a:r>
              <a:rPr lang="en-US" sz="1250" dirty="0">
                <a:solidFill>
                  <a:srgbClr val="1B2A2E"/>
                </a:solidFill>
                <a:latin typeface="Calibri" pitchFamily="34" charset="0"/>
                <a:ea typeface="Calibri" pitchFamily="34" charset="-122"/>
                <a:cs typeface="Calibri" pitchFamily="34" charset="-120"/>
              </a:rPr>
              <a:t>consistent kidney and cardiovascular benefit in diabetic CKD, and a clean signal that finerenone bends the eGFR slope. None of it tested in the non-diabetic half of the CKD population. FIND-CKD was built to close that gap.</a:t>
            </a:r>
            <a:endParaRPr lang="en-US" sz="1250" dirty="0"/>
          </a:p>
        </p:txBody>
      </p:sp>
      <p:sp>
        <p:nvSpPr>
          <p:cNvPr id="29" name="Text 26"/>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30" name="Text 27"/>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Trial design</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METHODS</a:t>
            </a:r>
            <a:endParaRPr lang="en-US" sz="1150" dirty="0"/>
          </a:p>
        </p:txBody>
      </p:sp>
      <p:sp>
        <p:nvSpPr>
          <p:cNvPr id="4" name="Shape 2"/>
          <p:cNvSpPr/>
          <p:nvPr/>
        </p:nvSpPr>
        <p:spPr>
          <a:xfrm>
            <a:off x="566928" y="1234440"/>
            <a:ext cx="914400" cy="402336"/>
          </a:xfrm>
          <a:prstGeom prst="roundRect">
            <a:avLst>
              <a:gd name="adj" fmla="val 50000"/>
            </a:avLst>
          </a:prstGeom>
          <a:solidFill>
            <a:srgbClr val="F1F6F6"/>
          </a:solidFill>
          <a:ln w="12700">
            <a:solidFill>
              <a:srgbClr val="CBD9D9"/>
            </a:solidFill>
            <a:prstDash val="solid"/>
          </a:ln>
        </p:spPr>
      </p:sp>
      <p:sp>
        <p:nvSpPr>
          <p:cNvPr id="5" name="Text 3"/>
          <p:cNvSpPr/>
          <p:nvPr/>
        </p:nvSpPr>
        <p:spPr>
          <a:xfrm>
            <a:off x="566928" y="1234440"/>
            <a:ext cx="91440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Phase 3</a:t>
            </a:r>
            <a:endParaRPr lang="en-US" sz="1150" dirty="0"/>
          </a:p>
        </p:txBody>
      </p:sp>
      <p:sp>
        <p:nvSpPr>
          <p:cNvPr id="6" name="Shape 4"/>
          <p:cNvSpPr/>
          <p:nvPr/>
        </p:nvSpPr>
        <p:spPr>
          <a:xfrm>
            <a:off x="1627632" y="1234440"/>
            <a:ext cx="2651760" cy="402336"/>
          </a:xfrm>
          <a:prstGeom prst="roundRect">
            <a:avLst>
              <a:gd name="adj" fmla="val 50000"/>
            </a:avLst>
          </a:prstGeom>
          <a:solidFill>
            <a:srgbClr val="F1F6F6"/>
          </a:solidFill>
          <a:ln w="12700">
            <a:solidFill>
              <a:srgbClr val="CBD9D9"/>
            </a:solidFill>
            <a:prstDash val="solid"/>
          </a:ln>
        </p:spPr>
      </p:sp>
      <p:sp>
        <p:nvSpPr>
          <p:cNvPr id="7" name="Text 5"/>
          <p:cNvSpPr/>
          <p:nvPr/>
        </p:nvSpPr>
        <p:spPr>
          <a:xfrm>
            <a:off x="1627632" y="1234440"/>
            <a:ext cx="265176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International, multicenter</a:t>
            </a:r>
            <a:endParaRPr lang="en-US" sz="1150" dirty="0"/>
          </a:p>
        </p:txBody>
      </p:sp>
      <p:sp>
        <p:nvSpPr>
          <p:cNvPr id="8" name="Shape 6"/>
          <p:cNvSpPr/>
          <p:nvPr/>
        </p:nvSpPr>
        <p:spPr>
          <a:xfrm>
            <a:off x="4425696" y="1234440"/>
            <a:ext cx="1371600" cy="402336"/>
          </a:xfrm>
          <a:prstGeom prst="roundRect">
            <a:avLst>
              <a:gd name="adj" fmla="val 50000"/>
            </a:avLst>
          </a:prstGeom>
          <a:solidFill>
            <a:srgbClr val="F1F6F6"/>
          </a:solidFill>
          <a:ln w="12700">
            <a:solidFill>
              <a:srgbClr val="CBD9D9"/>
            </a:solidFill>
            <a:prstDash val="solid"/>
          </a:ln>
        </p:spPr>
      </p:sp>
      <p:sp>
        <p:nvSpPr>
          <p:cNvPr id="9" name="Text 7"/>
          <p:cNvSpPr/>
          <p:nvPr/>
        </p:nvSpPr>
        <p:spPr>
          <a:xfrm>
            <a:off x="4425696" y="1234440"/>
            <a:ext cx="137160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Double-blind</a:t>
            </a:r>
            <a:endParaRPr lang="en-US" sz="1150" dirty="0"/>
          </a:p>
        </p:txBody>
      </p:sp>
      <p:sp>
        <p:nvSpPr>
          <p:cNvPr id="10" name="Shape 8"/>
          <p:cNvSpPr/>
          <p:nvPr/>
        </p:nvSpPr>
        <p:spPr>
          <a:xfrm>
            <a:off x="5943600" y="1234440"/>
            <a:ext cx="1920240" cy="402336"/>
          </a:xfrm>
          <a:prstGeom prst="roundRect">
            <a:avLst>
              <a:gd name="adj" fmla="val 50000"/>
            </a:avLst>
          </a:prstGeom>
          <a:solidFill>
            <a:srgbClr val="F1F6F6"/>
          </a:solidFill>
          <a:ln w="12700">
            <a:solidFill>
              <a:srgbClr val="CBD9D9"/>
            </a:solidFill>
            <a:prstDash val="solid"/>
          </a:ln>
        </p:spPr>
      </p:sp>
      <p:sp>
        <p:nvSpPr>
          <p:cNvPr id="11" name="Text 9"/>
          <p:cNvSpPr/>
          <p:nvPr/>
        </p:nvSpPr>
        <p:spPr>
          <a:xfrm>
            <a:off x="5943600" y="1234440"/>
            <a:ext cx="192024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Placebo-controlled</a:t>
            </a:r>
            <a:endParaRPr lang="en-US" sz="1150" dirty="0"/>
          </a:p>
        </p:txBody>
      </p:sp>
      <p:sp>
        <p:nvSpPr>
          <p:cNvPr id="12" name="Shape 10"/>
          <p:cNvSpPr/>
          <p:nvPr/>
        </p:nvSpPr>
        <p:spPr>
          <a:xfrm>
            <a:off x="8010144" y="1234440"/>
            <a:ext cx="1828800" cy="402336"/>
          </a:xfrm>
          <a:prstGeom prst="roundRect">
            <a:avLst>
              <a:gd name="adj" fmla="val 50000"/>
            </a:avLst>
          </a:prstGeom>
          <a:solidFill>
            <a:srgbClr val="F1F6F6"/>
          </a:solidFill>
          <a:ln w="12700">
            <a:solidFill>
              <a:srgbClr val="CBD9D9"/>
            </a:solidFill>
            <a:prstDash val="solid"/>
          </a:ln>
        </p:spPr>
      </p:sp>
      <p:sp>
        <p:nvSpPr>
          <p:cNvPr id="13" name="Text 11"/>
          <p:cNvSpPr/>
          <p:nvPr/>
        </p:nvSpPr>
        <p:spPr>
          <a:xfrm>
            <a:off x="8010144" y="1234440"/>
            <a:ext cx="182880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1:1 randomization</a:t>
            </a:r>
            <a:endParaRPr lang="en-US" sz="1150" dirty="0"/>
          </a:p>
        </p:txBody>
      </p:sp>
      <p:sp>
        <p:nvSpPr>
          <p:cNvPr id="14" name="Shape 12"/>
          <p:cNvSpPr/>
          <p:nvPr/>
        </p:nvSpPr>
        <p:spPr>
          <a:xfrm>
            <a:off x="566928" y="1764792"/>
            <a:ext cx="3383280" cy="402336"/>
          </a:xfrm>
          <a:prstGeom prst="roundRect">
            <a:avLst>
              <a:gd name="adj" fmla="val 50000"/>
            </a:avLst>
          </a:prstGeom>
          <a:solidFill>
            <a:srgbClr val="F1F6F6"/>
          </a:solidFill>
          <a:ln w="12700">
            <a:solidFill>
              <a:srgbClr val="CBD9D9"/>
            </a:solidFill>
            <a:prstDash val="solid"/>
          </a:ln>
        </p:spPr>
      </p:sp>
      <p:sp>
        <p:nvSpPr>
          <p:cNvPr id="15" name="Text 13"/>
          <p:cNvSpPr/>
          <p:nvPr/>
        </p:nvSpPr>
        <p:spPr>
          <a:xfrm>
            <a:off x="566928" y="1764792"/>
            <a:ext cx="3383280" cy="402336"/>
          </a:xfrm>
          <a:prstGeom prst="rect">
            <a:avLst/>
          </a:prstGeom>
          <a:noFill/>
          <a:ln/>
        </p:spPr>
        <p:txBody>
          <a:bodyPr wrap="square" lIns="0" tIns="0" rIns="0" bIns="0" rtlCol="0" anchor="ctr"/>
          <a:lstStyle/>
          <a:p>
            <a:pPr algn="ctr" indent="0" marL="0">
              <a:buNone/>
            </a:pPr>
            <a:r>
              <a:rPr lang="en-US" sz="1150" b="1" dirty="0">
                <a:solidFill>
                  <a:srgbClr val="0B3D46"/>
                </a:solidFill>
                <a:latin typeface="Calibri" pitchFamily="34" charset="0"/>
                <a:ea typeface="Calibri" pitchFamily="34" charset="-122"/>
                <a:cs typeface="Calibri" pitchFamily="34" charset="-120"/>
              </a:rPr>
              <a:t>Event-driven, ≥32 months treatment</a:t>
            </a:r>
            <a:endParaRPr lang="en-US" sz="1150" dirty="0"/>
          </a:p>
        </p:txBody>
      </p:sp>
      <p:sp>
        <p:nvSpPr>
          <p:cNvPr id="16" name="Shape 14"/>
          <p:cNvSpPr/>
          <p:nvPr/>
        </p:nvSpPr>
        <p:spPr>
          <a:xfrm>
            <a:off x="566928" y="2395728"/>
            <a:ext cx="2926080" cy="1737360"/>
          </a:xfrm>
          <a:prstGeom prst="roundRect">
            <a:avLst>
              <a:gd name="adj" fmla="val 4737"/>
            </a:avLst>
          </a:prstGeom>
          <a:solidFill>
            <a:srgbClr val="F1F6F6"/>
          </a:solidFill>
          <a:ln/>
          <a:effectLst>
            <a:outerShdw sx="100000" sy="100000" kx="0" ky="0" algn="bl" rotWithShape="0" blurRad="88900" dist="25400" dir="5400000">
              <a:srgbClr val="9BB0B0">
                <a:alpha val="28000"/>
              </a:srgbClr>
            </a:outerShdw>
          </a:effectLst>
        </p:spPr>
      </p:sp>
      <p:sp>
        <p:nvSpPr>
          <p:cNvPr id="17" name="Text 15"/>
          <p:cNvSpPr/>
          <p:nvPr/>
        </p:nvSpPr>
        <p:spPr>
          <a:xfrm>
            <a:off x="749808" y="2596896"/>
            <a:ext cx="2560320" cy="822960"/>
          </a:xfrm>
          <a:prstGeom prst="rect">
            <a:avLst/>
          </a:prstGeom>
          <a:noFill/>
          <a:ln/>
        </p:spPr>
        <p:txBody>
          <a:bodyPr wrap="square" lIns="0" tIns="0" rIns="0" bIns="0" rtlCol="0" anchor="t"/>
          <a:lstStyle/>
          <a:p>
            <a:pPr indent="0" marL="0">
              <a:lnSpc>
                <a:spcPct val="98000"/>
              </a:lnSpc>
              <a:buNone/>
            </a:pPr>
            <a:r>
              <a:rPr lang="en-US" sz="1600" b="1" dirty="0">
                <a:solidFill>
                  <a:srgbClr val="0B3D46"/>
                </a:solidFill>
                <a:latin typeface="Cambria" pitchFamily="34" charset="0"/>
                <a:ea typeface="Cambria" pitchFamily="34" charset="-122"/>
                <a:cs typeface="Cambria" pitchFamily="34" charset="-120"/>
              </a:rPr>
              <a:t>3231 assessed</a:t>
            </a:r>
            <a:endParaRPr lang="en-US" sz="1600" dirty="0"/>
          </a:p>
          <a:p>
            <a:pPr indent="0" marL="0">
              <a:lnSpc>
                <a:spcPct val="98000"/>
              </a:lnSpc>
              <a:buNone/>
            </a:pPr>
            <a:r>
              <a:rPr lang="en-US" sz="1600" b="1" dirty="0">
                <a:solidFill>
                  <a:srgbClr val="0B3D46"/>
                </a:solidFill>
                <a:latin typeface="Cambria" pitchFamily="34" charset="0"/>
                <a:ea typeface="Cambria" pitchFamily="34" charset="-122"/>
                <a:cs typeface="Cambria" pitchFamily="34" charset="-120"/>
              </a:rPr>
              <a:t>for eligibility</a:t>
            </a:r>
            <a:endParaRPr lang="en-US" sz="1600" dirty="0"/>
          </a:p>
        </p:txBody>
      </p:sp>
      <p:sp>
        <p:nvSpPr>
          <p:cNvPr id="18" name="Text 16"/>
          <p:cNvSpPr/>
          <p:nvPr/>
        </p:nvSpPr>
        <p:spPr>
          <a:xfrm>
            <a:off x="749808" y="3328416"/>
            <a:ext cx="2560320" cy="731520"/>
          </a:xfrm>
          <a:prstGeom prst="rect">
            <a:avLst/>
          </a:prstGeom>
          <a:noFill/>
          <a:ln/>
        </p:spPr>
        <p:txBody>
          <a:bodyPr wrap="square" lIns="0" tIns="0" rIns="0" bIns="0" rtlCol="0" anchor="t"/>
          <a:lstStyle/>
          <a:p>
            <a:pPr indent="0" marL="0">
              <a:lnSpc>
                <a:spcPct val="100000"/>
              </a:lnSpc>
              <a:buNone/>
            </a:pPr>
            <a:r>
              <a:rPr lang="en-US" sz="1100" dirty="0">
                <a:solidFill>
                  <a:srgbClr val="1B2A2E"/>
                </a:solidFill>
                <a:latin typeface="Calibri" pitchFamily="34" charset="0"/>
                <a:ea typeface="Calibri" pitchFamily="34" charset="-122"/>
                <a:cs typeface="Calibri" pitchFamily="34" charset="-120"/>
              </a:rPr>
              <a:t>Sept 2021 – May 2023. Adults without diabetes, CKD on a stable RAS inhibitor.</a:t>
            </a:r>
            <a:endParaRPr lang="en-US" sz="1100" dirty="0"/>
          </a:p>
        </p:txBody>
      </p:sp>
      <p:sp>
        <p:nvSpPr>
          <p:cNvPr id="19" name="Shape 17"/>
          <p:cNvSpPr/>
          <p:nvPr/>
        </p:nvSpPr>
        <p:spPr>
          <a:xfrm>
            <a:off x="3566160" y="3108960"/>
            <a:ext cx="457200" cy="310896"/>
          </a:xfrm>
          <a:prstGeom prst="rightArrow">
            <a:avLst/>
          </a:prstGeom>
          <a:solidFill>
            <a:srgbClr val="3AA6A0"/>
          </a:solidFill>
          <a:ln/>
        </p:spPr>
      </p:sp>
      <p:sp>
        <p:nvSpPr>
          <p:cNvPr id="20" name="Shape 18"/>
          <p:cNvSpPr/>
          <p:nvPr/>
        </p:nvSpPr>
        <p:spPr>
          <a:xfrm>
            <a:off x="4096512" y="2395728"/>
            <a:ext cx="2926080" cy="1737360"/>
          </a:xfrm>
          <a:prstGeom prst="roundRect">
            <a:avLst>
              <a:gd name="adj" fmla="val 4737"/>
            </a:avLst>
          </a:prstGeom>
          <a:solidFill>
            <a:srgbClr val="0B3D46"/>
          </a:solidFill>
          <a:ln/>
          <a:effectLst>
            <a:outerShdw sx="100000" sy="100000" kx="0" ky="0" algn="bl" rotWithShape="0" blurRad="88900" dist="25400" dir="5400000">
              <a:srgbClr val="9BB0B0">
                <a:alpha val="28000"/>
              </a:srgbClr>
            </a:outerShdw>
          </a:effectLst>
        </p:spPr>
      </p:sp>
      <p:sp>
        <p:nvSpPr>
          <p:cNvPr id="21" name="Text 19"/>
          <p:cNvSpPr/>
          <p:nvPr/>
        </p:nvSpPr>
        <p:spPr>
          <a:xfrm>
            <a:off x="4279392" y="2596896"/>
            <a:ext cx="2560320" cy="822960"/>
          </a:xfrm>
          <a:prstGeom prst="rect">
            <a:avLst/>
          </a:prstGeom>
          <a:noFill/>
          <a:ln/>
        </p:spPr>
        <p:txBody>
          <a:bodyPr wrap="square" lIns="0" tIns="0" rIns="0" bIns="0" rtlCol="0" anchor="t"/>
          <a:lstStyle/>
          <a:p>
            <a:pPr indent="0" marL="0">
              <a:lnSpc>
                <a:spcPct val="98000"/>
              </a:lnSpc>
              <a:buNone/>
            </a:pPr>
            <a:r>
              <a:rPr lang="en-US" sz="1600" b="1" dirty="0">
                <a:solidFill>
                  <a:srgbClr val="FFFFFF"/>
                </a:solidFill>
                <a:latin typeface="Cambria" pitchFamily="34" charset="0"/>
                <a:ea typeface="Cambria" pitchFamily="34" charset="-122"/>
                <a:cs typeface="Cambria" pitchFamily="34" charset="-120"/>
              </a:rPr>
              <a:t>1584 randomized</a:t>
            </a:r>
            <a:endParaRPr lang="en-US" sz="1600" dirty="0"/>
          </a:p>
        </p:txBody>
      </p:sp>
      <p:sp>
        <p:nvSpPr>
          <p:cNvPr id="22" name="Text 20"/>
          <p:cNvSpPr/>
          <p:nvPr/>
        </p:nvSpPr>
        <p:spPr>
          <a:xfrm>
            <a:off x="4279392" y="3328416"/>
            <a:ext cx="2560320" cy="731520"/>
          </a:xfrm>
          <a:prstGeom prst="rect">
            <a:avLst/>
          </a:prstGeom>
          <a:noFill/>
          <a:ln/>
        </p:spPr>
        <p:txBody>
          <a:bodyPr wrap="square" lIns="0" tIns="0" rIns="0" bIns="0" rtlCol="0" anchor="t"/>
          <a:lstStyle/>
          <a:p>
            <a:pPr indent="0" marL="0">
              <a:lnSpc>
                <a:spcPct val="100000"/>
              </a:lnSpc>
              <a:buNone/>
            </a:pPr>
            <a:r>
              <a:rPr lang="en-US" sz="1100" dirty="0">
                <a:solidFill>
                  <a:srgbClr val="DDECEC"/>
                </a:solidFill>
                <a:latin typeface="Calibri" pitchFamily="34" charset="0"/>
                <a:ea typeface="Calibri" pitchFamily="34" charset="-122"/>
                <a:cs typeface="Calibri" pitchFamily="34" charset="-120"/>
              </a:rPr>
              <a:t>Full analysis set = all randomized participants (ITT-style).</a:t>
            </a:r>
            <a:endParaRPr lang="en-US" sz="1100" dirty="0"/>
          </a:p>
        </p:txBody>
      </p:sp>
      <p:sp>
        <p:nvSpPr>
          <p:cNvPr id="23" name="Shape 21"/>
          <p:cNvSpPr/>
          <p:nvPr/>
        </p:nvSpPr>
        <p:spPr>
          <a:xfrm>
            <a:off x="7095744" y="3108960"/>
            <a:ext cx="457200" cy="310896"/>
          </a:xfrm>
          <a:prstGeom prst="rightArrow">
            <a:avLst/>
          </a:prstGeom>
          <a:solidFill>
            <a:srgbClr val="3AA6A0"/>
          </a:solidFill>
          <a:ln/>
        </p:spPr>
      </p:sp>
      <p:sp>
        <p:nvSpPr>
          <p:cNvPr id="24" name="Shape 22"/>
          <p:cNvSpPr/>
          <p:nvPr/>
        </p:nvSpPr>
        <p:spPr>
          <a:xfrm>
            <a:off x="7626096" y="2395728"/>
            <a:ext cx="3995928" cy="804672"/>
          </a:xfrm>
          <a:prstGeom prst="roundRect">
            <a:avLst>
              <a:gd name="adj" fmla="val 10227"/>
            </a:avLst>
          </a:prstGeom>
          <a:solidFill>
            <a:srgbClr val="0E7C86"/>
          </a:solidFill>
          <a:ln/>
          <a:effectLst>
            <a:outerShdw sx="100000" sy="100000" kx="0" ky="0" algn="bl" rotWithShape="0" blurRad="88900" dist="25400" dir="5400000">
              <a:srgbClr val="9BB0B0">
                <a:alpha val="28000"/>
              </a:srgbClr>
            </a:outerShdw>
          </a:effectLst>
        </p:spPr>
      </p:sp>
      <p:sp>
        <p:nvSpPr>
          <p:cNvPr id="25" name="Text 23"/>
          <p:cNvSpPr/>
          <p:nvPr/>
        </p:nvSpPr>
        <p:spPr>
          <a:xfrm>
            <a:off x="7808976" y="2395728"/>
            <a:ext cx="3630168" cy="8046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Finerenone  </a:t>
            </a:r>
            <a:pPr indent="0" marL="0">
              <a:buNone/>
            </a:pPr>
            <a:r>
              <a:rPr lang="en-US" sz="1300" dirty="0">
                <a:solidFill>
                  <a:srgbClr val="E7F4F4"/>
                </a:solidFill>
                <a:latin typeface="Calibri" pitchFamily="34" charset="0"/>
                <a:ea typeface="Calibri" pitchFamily="34" charset="-122"/>
                <a:cs typeface="Calibri" pitchFamily="34" charset="-120"/>
              </a:rPr>
              <a:t>n = 793</a:t>
            </a:r>
            <a:endParaRPr lang="en-US" sz="1500" dirty="0"/>
          </a:p>
        </p:txBody>
      </p:sp>
      <p:sp>
        <p:nvSpPr>
          <p:cNvPr id="26" name="Shape 24"/>
          <p:cNvSpPr/>
          <p:nvPr/>
        </p:nvSpPr>
        <p:spPr>
          <a:xfrm>
            <a:off x="7626096" y="3328416"/>
            <a:ext cx="3995928" cy="804672"/>
          </a:xfrm>
          <a:prstGeom prst="roundRect">
            <a:avLst>
              <a:gd name="adj" fmla="val 10227"/>
            </a:avLst>
          </a:prstGeom>
          <a:solidFill>
            <a:srgbClr val="9AA7AD"/>
          </a:solidFill>
          <a:ln/>
          <a:effectLst>
            <a:outerShdw sx="100000" sy="100000" kx="0" ky="0" algn="bl" rotWithShape="0" blurRad="88900" dist="25400" dir="5400000">
              <a:srgbClr val="9BB0B0">
                <a:alpha val="28000"/>
              </a:srgbClr>
            </a:outerShdw>
          </a:effectLst>
        </p:spPr>
      </p:sp>
      <p:sp>
        <p:nvSpPr>
          <p:cNvPr id="27" name="Text 25"/>
          <p:cNvSpPr/>
          <p:nvPr/>
        </p:nvSpPr>
        <p:spPr>
          <a:xfrm>
            <a:off x="7808976" y="3328416"/>
            <a:ext cx="3630168" cy="8046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Placebo  </a:t>
            </a:r>
            <a:pPr indent="0" marL="0">
              <a:buNone/>
            </a:pPr>
            <a:r>
              <a:rPr lang="en-US" sz="1300" dirty="0">
                <a:solidFill>
                  <a:srgbClr val="F1F5F6"/>
                </a:solidFill>
                <a:latin typeface="Calibri" pitchFamily="34" charset="0"/>
                <a:ea typeface="Calibri" pitchFamily="34" charset="-122"/>
                <a:cs typeface="Calibri" pitchFamily="34" charset="-120"/>
              </a:rPr>
              <a:t>n = 791</a:t>
            </a:r>
            <a:endParaRPr lang="en-US" sz="1500" dirty="0"/>
          </a:p>
        </p:txBody>
      </p:sp>
      <p:sp>
        <p:nvSpPr>
          <p:cNvPr id="28" name="Shape 26"/>
          <p:cNvSpPr/>
          <p:nvPr/>
        </p:nvSpPr>
        <p:spPr>
          <a:xfrm>
            <a:off x="566928" y="4343400"/>
            <a:ext cx="5806440" cy="1600200"/>
          </a:xfrm>
          <a:prstGeom prst="roundRect">
            <a:avLst>
              <a:gd name="adj" fmla="val 5143"/>
            </a:avLst>
          </a:prstGeom>
          <a:solidFill>
            <a:srgbClr val="F1F6F6"/>
          </a:solidFill>
          <a:ln/>
          <a:effectLst>
            <a:outerShdw sx="100000" sy="100000" kx="0" ky="0" algn="bl" rotWithShape="0" blurRad="88900" dist="25400" dir="5400000">
              <a:srgbClr val="9BB0B0">
                <a:alpha val="28000"/>
              </a:srgbClr>
            </a:outerShdw>
          </a:effectLst>
        </p:spPr>
      </p:sp>
      <p:sp>
        <p:nvSpPr>
          <p:cNvPr id="29" name="Text 27"/>
          <p:cNvSpPr/>
          <p:nvPr/>
        </p:nvSpPr>
        <p:spPr>
          <a:xfrm>
            <a:off x="795528" y="4489704"/>
            <a:ext cx="5486400" cy="274320"/>
          </a:xfrm>
          <a:prstGeom prst="rect">
            <a:avLst/>
          </a:prstGeom>
          <a:noFill/>
          <a:ln/>
        </p:spPr>
        <p:txBody>
          <a:bodyPr wrap="square" lIns="0" tIns="0" rIns="0" bIns="0" rtlCol="0" anchor="ctr"/>
          <a:lstStyle/>
          <a:p>
            <a:pPr indent="0" marL="0">
              <a:buNone/>
            </a:pPr>
            <a:r>
              <a:rPr lang="en-US" sz="1350" b="1" dirty="0">
                <a:solidFill>
                  <a:srgbClr val="0B3D46"/>
                </a:solidFill>
                <a:latin typeface="Calibri" pitchFamily="34" charset="0"/>
                <a:ea typeface="Calibri" pitchFamily="34" charset="-122"/>
                <a:cs typeface="Calibri" pitchFamily="34" charset="-120"/>
              </a:rPr>
              <a:t>Randomization &amp; stratification</a:t>
            </a:r>
            <a:endParaRPr lang="en-US" sz="1350" dirty="0"/>
          </a:p>
        </p:txBody>
      </p:sp>
      <p:sp>
        <p:nvSpPr>
          <p:cNvPr id="30" name="Text 28"/>
          <p:cNvSpPr/>
          <p:nvPr/>
        </p:nvSpPr>
        <p:spPr>
          <a:xfrm>
            <a:off x="795528" y="4846320"/>
            <a:ext cx="5486400" cy="640080"/>
          </a:xfrm>
          <a:prstGeom prst="rect">
            <a:avLst/>
          </a:prstGeom>
          <a:noFill/>
          <a:ln/>
        </p:spPr>
        <p:txBody>
          <a:bodyPr wrap="square" lIns="0" tIns="0" rIns="0" bIns="0" rtlCol="0" anchor="ctr"/>
          <a:lstStyle/>
          <a:p>
            <a:pPr marL="152400" indent="-152400">
              <a:lnSpc>
                <a:spcPct val="110000"/>
              </a:lnSpc>
              <a:buSzPct val="100000"/>
              <a:buChar char="•"/>
            </a:pPr>
            <a:r>
              <a:rPr lang="en-US" sz="1200" dirty="0">
                <a:solidFill>
                  <a:srgbClr val="1B2A2E"/>
                </a:solidFill>
                <a:latin typeface="Calibri" pitchFamily="34" charset="0"/>
                <a:ea typeface="Calibri" pitchFamily="34" charset="-122"/>
                <a:cs typeface="Calibri" pitchFamily="34" charset="-120"/>
              </a:rPr>
              <a:t>Baseline SGLT2 inhibitor use (yes vs. no)</a:t>
            </a:r>
            <a:endParaRPr lang="en-US" sz="1200" dirty="0"/>
          </a:p>
          <a:p>
            <a:pPr indent="0" marL="0">
              <a:lnSpc>
                <a:spcPct val="110000"/>
              </a:lnSpc>
              <a:buNone/>
            </a:pPr>
            <a:r>
              <a:rPr lang="en-US" sz="1200" dirty="0">
                <a:solidFill>
                  <a:srgbClr val="1B2A2E"/>
                </a:solidFill>
                <a:latin typeface="Calibri" pitchFamily="34" charset="0"/>
                <a:ea typeface="Calibri" pitchFamily="34" charset="-122"/>
                <a:cs typeface="Calibri" pitchFamily="34" charset="-120"/>
              </a:rPr>
              <a:t>Screening UACR (≤1000 vs. &gt;1000 mg/g)</a:t>
            </a:r>
            <a:endParaRPr lang="en-US" sz="1200" dirty="0"/>
          </a:p>
        </p:txBody>
      </p:sp>
      <p:sp>
        <p:nvSpPr>
          <p:cNvPr id="31" name="Text 29"/>
          <p:cNvSpPr/>
          <p:nvPr/>
        </p:nvSpPr>
        <p:spPr>
          <a:xfrm>
            <a:off x="795528" y="5404104"/>
            <a:ext cx="5486400" cy="457200"/>
          </a:xfrm>
          <a:prstGeom prst="rect">
            <a:avLst/>
          </a:prstGeom>
          <a:noFill/>
          <a:ln/>
        </p:spPr>
        <p:txBody>
          <a:bodyPr wrap="square" lIns="0" tIns="0" rIns="0" bIns="0" rtlCol="0" anchor="ctr"/>
          <a:lstStyle/>
          <a:p>
            <a:pPr indent="0" marL="0">
              <a:lnSpc>
                <a:spcPct val="100000"/>
              </a:lnSpc>
              <a:buNone/>
            </a:pPr>
            <a:r>
              <a:rPr lang="en-US" sz="1050" i="1" dirty="0">
                <a:solidFill>
                  <a:srgbClr val="5C6B70"/>
                </a:solidFill>
                <a:latin typeface="Calibri" pitchFamily="34" charset="0"/>
                <a:ea typeface="Calibri" pitchFamily="34" charset="-122"/>
                <a:cs typeface="Calibri" pitchFamily="34" charset="-120"/>
              </a:rPr>
              <a:t>Treatment policy estimand: participants stayed in follow-up after stopping the regimen; their eGFR values counted in the primary analysis.</a:t>
            </a:r>
            <a:endParaRPr lang="en-US" sz="1050" dirty="0"/>
          </a:p>
        </p:txBody>
      </p:sp>
      <p:sp>
        <p:nvSpPr>
          <p:cNvPr id="32" name="Shape 30"/>
          <p:cNvSpPr/>
          <p:nvPr/>
        </p:nvSpPr>
        <p:spPr>
          <a:xfrm>
            <a:off x="6739128" y="4343400"/>
            <a:ext cx="4882896" cy="1600200"/>
          </a:xfrm>
          <a:prstGeom prst="roundRect">
            <a:avLst>
              <a:gd name="adj" fmla="val 5143"/>
            </a:avLst>
          </a:prstGeom>
          <a:solidFill>
            <a:srgbClr val="F1F6F6"/>
          </a:solidFill>
          <a:ln/>
          <a:effectLst>
            <a:outerShdw sx="100000" sy="100000" kx="0" ky="0" algn="bl" rotWithShape="0" blurRad="88900" dist="25400" dir="5400000">
              <a:srgbClr val="9BB0B0">
                <a:alpha val="28000"/>
              </a:srgbClr>
            </a:outerShdw>
          </a:effectLst>
        </p:spPr>
      </p:sp>
      <p:sp>
        <p:nvSpPr>
          <p:cNvPr id="33" name="Text 31"/>
          <p:cNvSpPr/>
          <p:nvPr/>
        </p:nvSpPr>
        <p:spPr>
          <a:xfrm>
            <a:off x="6967728" y="4489704"/>
            <a:ext cx="4572000" cy="274320"/>
          </a:xfrm>
          <a:prstGeom prst="rect">
            <a:avLst/>
          </a:prstGeom>
          <a:noFill/>
          <a:ln/>
        </p:spPr>
        <p:txBody>
          <a:bodyPr wrap="square" lIns="0" tIns="0" rIns="0" bIns="0" rtlCol="0" anchor="ctr"/>
          <a:lstStyle/>
          <a:p>
            <a:pPr indent="0" marL="0">
              <a:buNone/>
            </a:pPr>
            <a:r>
              <a:rPr lang="en-US" sz="1350" b="1" dirty="0">
                <a:solidFill>
                  <a:srgbClr val="0B3D46"/>
                </a:solidFill>
                <a:latin typeface="Calibri" pitchFamily="34" charset="0"/>
                <a:ea typeface="Calibri" pitchFamily="34" charset="-122"/>
                <a:cs typeface="Calibri" pitchFamily="34" charset="-120"/>
              </a:rPr>
              <a:t>Oversight</a:t>
            </a:r>
            <a:endParaRPr lang="en-US" sz="1350" dirty="0"/>
          </a:p>
        </p:txBody>
      </p:sp>
      <p:sp>
        <p:nvSpPr>
          <p:cNvPr id="34" name="Text 32"/>
          <p:cNvSpPr/>
          <p:nvPr/>
        </p:nvSpPr>
        <p:spPr>
          <a:xfrm>
            <a:off x="6967728" y="4846320"/>
            <a:ext cx="4425696" cy="1005840"/>
          </a:xfrm>
          <a:prstGeom prst="rect">
            <a:avLst/>
          </a:prstGeom>
          <a:noFill/>
          <a:ln/>
        </p:spPr>
        <p:txBody>
          <a:bodyPr wrap="square" lIns="0" tIns="0" rIns="0" bIns="0" rtlCol="0" anchor="ctr"/>
          <a:lstStyle/>
          <a:p>
            <a:pPr marL="152400" indent="-152400">
              <a:lnSpc>
                <a:spcPct val="108000"/>
              </a:lnSpc>
              <a:buSzPct val="100000"/>
              <a:buChar char="•"/>
            </a:pPr>
            <a:r>
              <a:rPr lang="en-US" sz="1150" dirty="0">
                <a:solidFill>
                  <a:srgbClr val="1B2A2E"/>
                </a:solidFill>
                <a:latin typeface="Calibri" pitchFamily="34" charset="0"/>
                <a:ea typeface="Calibri" pitchFamily="34" charset="-122"/>
                <a:cs typeface="Calibri" pitchFamily="34" charset="-120"/>
              </a:rPr>
              <a:t>Designed by steering committee + Bayer (sponsor)</a:t>
            </a:r>
            <a:endParaRPr lang="en-US" sz="1150" dirty="0"/>
          </a:p>
          <a:p>
            <a:pPr indent="0" marL="0">
              <a:lnSpc>
                <a:spcPct val="108000"/>
              </a:lnSpc>
              <a:buNone/>
            </a:pPr>
            <a:r>
              <a:rPr lang="en-US" sz="1150" dirty="0">
                <a:solidFill>
                  <a:srgbClr val="1B2A2E"/>
                </a:solidFill>
                <a:latin typeface="Calibri" pitchFamily="34" charset="0"/>
                <a:ea typeface="Calibri" pitchFamily="34" charset="-122"/>
                <a:cs typeface="Calibri" pitchFamily="34" charset="-120"/>
              </a:rPr>
              <a:t>Independent DSMB throughout</a:t>
            </a:r>
            <a:endParaRPr lang="en-US" sz="1150" dirty="0"/>
          </a:p>
          <a:p>
            <a:pPr indent="0" marL="0">
              <a:lnSpc>
                <a:spcPct val="108000"/>
              </a:lnSpc>
              <a:buNone/>
            </a:pPr>
            <a:r>
              <a:rPr lang="en-US" sz="1150" dirty="0">
                <a:solidFill>
                  <a:srgbClr val="1B2A2E"/>
                </a:solidFill>
                <a:latin typeface="Calibri" pitchFamily="34" charset="0"/>
                <a:ea typeface="Calibri" pitchFamily="34" charset="-122"/>
                <a:cs typeface="Calibri" pitchFamily="34" charset="-120"/>
              </a:rPr>
              <a:t>Analyses re-run independently at UMC Groningen on source data</a:t>
            </a:r>
            <a:endParaRPr lang="en-US" sz="1150" dirty="0"/>
          </a:p>
        </p:txBody>
      </p:sp>
      <p:sp>
        <p:nvSpPr>
          <p:cNvPr id="36" name="Text 33"/>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37" name="Text 34"/>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Who was studied</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POPULATION</a:t>
            </a:r>
            <a:endParaRPr lang="en-US" sz="1150" dirty="0"/>
          </a:p>
        </p:txBody>
      </p:sp>
      <p:sp>
        <p:nvSpPr>
          <p:cNvPr id="4" name="Shape 2"/>
          <p:cNvSpPr/>
          <p:nvPr/>
        </p:nvSpPr>
        <p:spPr>
          <a:xfrm>
            <a:off x="566928" y="1280160"/>
            <a:ext cx="5344668" cy="3794760"/>
          </a:xfrm>
          <a:prstGeom prst="roundRect">
            <a:avLst>
              <a:gd name="adj" fmla="val 2169"/>
            </a:avLst>
          </a:prstGeom>
          <a:solidFill>
            <a:srgbClr val="F1F6F6"/>
          </a:solidFill>
          <a:ln/>
          <a:effectLst>
            <a:outerShdw sx="100000" sy="100000" kx="0" ky="0" algn="bl" rotWithShape="0" blurRad="88900" dist="25400" dir="5400000">
              <a:srgbClr val="9BB0B0">
                <a:alpha val="28000"/>
              </a:srgbClr>
            </a:outerShdw>
          </a:effectLst>
        </p:spPr>
      </p:sp>
      <p:sp>
        <p:nvSpPr>
          <p:cNvPr id="5" name="Text 3"/>
          <p:cNvSpPr/>
          <p:nvPr/>
        </p:nvSpPr>
        <p:spPr>
          <a:xfrm>
            <a:off x="822960" y="1463040"/>
            <a:ext cx="4887468" cy="32918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Key inclusion criteria</a:t>
            </a:r>
            <a:endParaRPr lang="en-US" sz="1500" dirty="0"/>
          </a:p>
        </p:txBody>
      </p:sp>
      <p:sp>
        <p:nvSpPr>
          <p:cNvPr id="6" name="Text 4"/>
          <p:cNvSpPr/>
          <p:nvPr/>
        </p:nvSpPr>
        <p:spPr>
          <a:xfrm>
            <a:off x="822960" y="1874520"/>
            <a:ext cx="4841748" cy="3017520"/>
          </a:xfrm>
          <a:prstGeom prst="rect">
            <a:avLst/>
          </a:prstGeom>
          <a:noFill/>
          <a:ln/>
        </p:spPr>
        <p:txBody>
          <a:bodyPr wrap="square" lIns="0" tIns="0" rIns="0" bIns="0" rtlCol="0" anchor="ctr"/>
          <a:lstStyle/>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Adults with a clinical diagnosis of CKD, no diabetes</a:t>
            </a:r>
            <a:endParaRPr lang="en-US" sz="1300" dirty="0"/>
          </a:p>
          <a:p>
            <a:pPr indent="0" marL="0">
              <a:lnSpc>
                <a:spcPct val="135000"/>
              </a:lnSpc>
              <a:spcAft>
                <a:spcPts val="800"/>
              </a:spcAft>
              <a:buNone/>
            </a:pPr>
            <a:r>
              <a:rPr lang="en-US" sz="1300" dirty="0">
                <a:solidFill>
                  <a:srgbClr val="1B2A2E"/>
                </a:solidFill>
                <a:latin typeface="Calibri" pitchFamily="34" charset="0"/>
                <a:ea typeface="Calibri" pitchFamily="34" charset="-122"/>
                <a:cs typeface="Calibri" pitchFamily="34" charset="-120"/>
              </a:rPr>
              <a:t>eGFR 25 to &lt;60 with UACR 200–500 mg/g,  OR</a:t>
            </a:r>
            <a:endParaRPr lang="en-US" sz="1300" dirty="0"/>
          </a:p>
          <a:p>
            <a:pPr indent="0" marL="0">
              <a:lnSpc>
                <a:spcPct val="135000"/>
              </a:lnSpc>
              <a:spcAft>
                <a:spcPts val="800"/>
              </a:spcAft>
              <a:buNone/>
            </a:pPr>
            <a:r>
              <a:rPr lang="en-US" sz="1300" dirty="0">
                <a:solidFill>
                  <a:srgbClr val="1B2A2E"/>
                </a:solidFill>
                <a:latin typeface="Calibri" pitchFamily="34" charset="0"/>
                <a:ea typeface="Calibri" pitchFamily="34" charset="-122"/>
                <a:cs typeface="Calibri" pitchFamily="34" charset="-120"/>
              </a:rPr>
              <a:t>eGFR 25 to &lt;90 with UACR 500–3500 mg/g</a:t>
            </a:r>
            <a:endParaRPr lang="en-US" sz="1300" dirty="0"/>
          </a:p>
          <a:p>
            <a:pPr indent="0" marL="0">
              <a:lnSpc>
                <a:spcPct val="135000"/>
              </a:lnSpc>
              <a:spcAft>
                <a:spcPts val="800"/>
              </a:spcAft>
              <a:buNone/>
            </a:pPr>
            <a:r>
              <a:rPr lang="en-US" sz="1300" dirty="0">
                <a:solidFill>
                  <a:srgbClr val="1B2A2E"/>
                </a:solidFill>
                <a:latin typeface="Calibri" pitchFamily="34" charset="0"/>
                <a:ea typeface="Calibri" pitchFamily="34" charset="-122"/>
                <a:cs typeface="Calibri" pitchFamily="34" charset="-120"/>
              </a:rPr>
              <a:t>On a stable ACE inhibitor or ARB ≥4 weeks</a:t>
            </a:r>
            <a:endParaRPr lang="en-US" sz="1300" dirty="0"/>
          </a:p>
          <a:p>
            <a:pPr indent="0" marL="0">
              <a:lnSpc>
                <a:spcPct val="135000"/>
              </a:lnSpc>
              <a:spcAft>
                <a:spcPts val="800"/>
              </a:spcAft>
              <a:buNone/>
            </a:pPr>
            <a:r>
              <a:rPr lang="en-US" sz="1300" dirty="0">
                <a:solidFill>
                  <a:srgbClr val="1B2A2E"/>
                </a:solidFill>
                <a:latin typeface="Calibri" pitchFamily="34" charset="0"/>
                <a:ea typeface="Calibri" pitchFamily="34" charset="-122"/>
                <a:cs typeface="Calibri" pitchFamily="34" charset="-120"/>
              </a:rPr>
              <a:t>Serum potassium ≤4.8 mmol/L at screening</a:t>
            </a:r>
            <a:endParaRPr lang="en-US" sz="1300" dirty="0"/>
          </a:p>
        </p:txBody>
      </p:sp>
      <p:sp>
        <p:nvSpPr>
          <p:cNvPr id="7" name="Shape 5"/>
          <p:cNvSpPr/>
          <p:nvPr/>
        </p:nvSpPr>
        <p:spPr>
          <a:xfrm>
            <a:off x="6277356" y="1280160"/>
            <a:ext cx="5344668" cy="3794760"/>
          </a:xfrm>
          <a:prstGeom prst="roundRect">
            <a:avLst>
              <a:gd name="adj" fmla="val 2169"/>
            </a:avLst>
          </a:prstGeom>
          <a:solidFill>
            <a:srgbClr val="FFFFFF"/>
          </a:solidFill>
          <a:ln w="12700">
            <a:solidFill>
              <a:srgbClr val="CBD9D9"/>
            </a:solidFill>
            <a:prstDash val="solid"/>
          </a:ln>
          <a:effectLst>
            <a:outerShdw sx="100000" sy="100000" kx="0" ky="0" algn="bl" rotWithShape="0" blurRad="88900" dist="25400" dir="5400000">
              <a:srgbClr val="9BB0B0">
                <a:alpha val="28000"/>
              </a:srgbClr>
            </a:outerShdw>
          </a:effectLst>
        </p:spPr>
      </p:sp>
      <p:sp>
        <p:nvSpPr>
          <p:cNvPr id="8" name="Text 6"/>
          <p:cNvSpPr/>
          <p:nvPr/>
        </p:nvSpPr>
        <p:spPr>
          <a:xfrm>
            <a:off x="6533388" y="1463040"/>
            <a:ext cx="4887468" cy="329184"/>
          </a:xfrm>
          <a:prstGeom prst="rect">
            <a:avLst/>
          </a:prstGeom>
          <a:noFill/>
          <a:ln/>
        </p:spPr>
        <p:txBody>
          <a:bodyPr wrap="square" lIns="0" tIns="0" rIns="0" bIns="0" rtlCol="0" anchor="ctr"/>
          <a:lstStyle/>
          <a:p>
            <a:pPr indent="0" marL="0">
              <a:buNone/>
            </a:pPr>
            <a:r>
              <a:rPr lang="en-US" sz="1500" b="1" dirty="0">
                <a:solidFill>
                  <a:srgbClr val="E08A2E"/>
                </a:solidFill>
                <a:latin typeface="Calibri" pitchFamily="34" charset="0"/>
                <a:ea typeface="Calibri" pitchFamily="34" charset="-122"/>
                <a:cs typeface="Calibri" pitchFamily="34" charset="-120"/>
              </a:rPr>
              <a:t>Key exclusion criteria</a:t>
            </a:r>
            <a:endParaRPr lang="en-US" sz="1500" dirty="0"/>
          </a:p>
        </p:txBody>
      </p:sp>
      <p:sp>
        <p:nvSpPr>
          <p:cNvPr id="9" name="Text 7"/>
          <p:cNvSpPr/>
          <p:nvPr/>
        </p:nvSpPr>
        <p:spPr>
          <a:xfrm>
            <a:off x="6533388" y="1874520"/>
            <a:ext cx="4841748" cy="3017520"/>
          </a:xfrm>
          <a:prstGeom prst="rect">
            <a:avLst/>
          </a:prstGeom>
          <a:noFill/>
          <a:ln/>
        </p:spPr>
        <p:txBody>
          <a:bodyPr wrap="square" lIns="0" tIns="0" rIns="0" bIns="0" rtlCol="0" anchor="ctr"/>
          <a:lstStyle/>
          <a:p>
            <a:pPr marL="203200" indent="-203200">
              <a:lnSpc>
                <a:spcPct val="135000"/>
              </a:lnSpc>
              <a:spcAft>
                <a:spcPts val="800"/>
              </a:spcAft>
              <a:buSzPct val="100000"/>
              <a:buChar char="✕"/>
            </a:pPr>
            <a:r>
              <a:rPr lang="en-US" sz="1300" dirty="0">
                <a:solidFill>
                  <a:srgbClr val="1B2A2E"/>
                </a:solidFill>
                <a:latin typeface="Calibri" pitchFamily="34" charset="0"/>
                <a:ea typeface="Calibri" pitchFamily="34" charset="-122"/>
                <a:cs typeface="Calibri" pitchFamily="34" charset="-120"/>
              </a:rPr>
              <a:t>Type 1 or type 2 diabetes, or HbA1c ≥6.5%</a:t>
            </a:r>
            <a:endParaRPr lang="en-US" sz="1300" dirty="0"/>
          </a:p>
          <a:p>
            <a:pPr indent="0" marL="0">
              <a:lnSpc>
                <a:spcPct val="135000"/>
              </a:lnSpc>
              <a:spcAft>
                <a:spcPts val="800"/>
              </a:spcAft>
              <a:buNone/>
            </a:pPr>
            <a:r>
              <a:rPr lang="en-US" sz="1300" dirty="0">
                <a:solidFill>
                  <a:srgbClr val="1B2A2E"/>
                </a:solidFill>
                <a:latin typeface="Calibri" pitchFamily="34" charset="0"/>
                <a:ea typeface="Calibri" pitchFamily="34" charset="-122"/>
                <a:cs typeface="Calibri" pitchFamily="34" charset="-120"/>
              </a:rPr>
              <a:t>Indication for a steroidal MRA</a:t>
            </a:r>
            <a:endParaRPr lang="en-US" sz="1300" dirty="0"/>
          </a:p>
          <a:p>
            <a:pPr indent="0" marL="0">
              <a:lnSpc>
                <a:spcPct val="135000"/>
              </a:lnSpc>
              <a:spcAft>
                <a:spcPts val="800"/>
              </a:spcAft>
              <a:buNone/>
            </a:pPr>
            <a:r>
              <a:rPr lang="en-US" sz="1300" dirty="0">
                <a:solidFill>
                  <a:srgbClr val="1B2A2E"/>
                </a:solidFill>
                <a:latin typeface="Calibri" pitchFamily="34" charset="0"/>
                <a:ea typeface="Calibri" pitchFamily="34" charset="-122"/>
                <a:cs typeface="Calibri" pitchFamily="34" charset="-120"/>
              </a:rPr>
              <a:t>Polycystic kidney disease</a:t>
            </a:r>
            <a:endParaRPr lang="en-US" sz="1300" dirty="0"/>
          </a:p>
          <a:p>
            <a:pPr indent="0" marL="0">
              <a:lnSpc>
                <a:spcPct val="135000"/>
              </a:lnSpc>
              <a:spcAft>
                <a:spcPts val="800"/>
              </a:spcAft>
              <a:buNone/>
            </a:pPr>
            <a:r>
              <a:rPr lang="en-US" sz="1300" dirty="0">
                <a:solidFill>
                  <a:srgbClr val="1B2A2E"/>
                </a:solidFill>
                <a:latin typeface="Calibri" pitchFamily="34" charset="0"/>
                <a:ea typeface="Calibri" pitchFamily="34" charset="-122"/>
                <a:cs typeface="Calibri" pitchFamily="34" charset="-120"/>
              </a:rPr>
              <a:t>Lupus nephritis or ANCA-associated vasculitis</a:t>
            </a:r>
            <a:endParaRPr lang="en-US" sz="1300" dirty="0"/>
          </a:p>
          <a:p>
            <a:pPr indent="0" marL="0">
              <a:lnSpc>
                <a:spcPct val="135000"/>
              </a:lnSpc>
              <a:spcAft>
                <a:spcPts val="800"/>
              </a:spcAft>
              <a:buNone/>
            </a:pPr>
            <a:r>
              <a:rPr lang="en-US" sz="1300" dirty="0">
                <a:solidFill>
                  <a:srgbClr val="1B2A2E"/>
                </a:solidFill>
                <a:latin typeface="Calibri" pitchFamily="34" charset="0"/>
                <a:ea typeface="Calibri" pitchFamily="34" charset="-122"/>
                <a:cs typeface="Calibri" pitchFamily="34" charset="-120"/>
              </a:rPr>
              <a:t>Immunosuppression within prior 6 months</a:t>
            </a:r>
            <a:endParaRPr lang="en-US" sz="1300" dirty="0"/>
          </a:p>
        </p:txBody>
      </p:sp>
      <p:sp>
        <p:nvSpPr>
          <p:cNvPr id="10" name="Shape 8"/>
          <p:cNvSpPr/>
          <p:nvPr/>
        </p:nvSpPr>
        <p:spPr>
          <a:xfrm>
            <a:off x="566928" y="5257800"/>
            <a:ext cx="11055096" cy="749808"/>
          </a:xfrm>
          <a:prstGeom prst="roundRect">
            <a:avLst>
              <a:gd name="adj" fmla="val 10976"/>
            </a:avLst>
          </a:prstGeom>
          <a:solidFill>
            <a:srgbClr val="E4EEEE"/>
          </a:solidFill>
          <a:ln/>
        </p:spPr>
      </p:sp>
      <p:sp>
        <p:nvSpPr>
          <p:cNvPr id="11" name="Text 9"/>
          <p:cNvSpPr/>
          <p:nvPr/>
        </p:nvSpPr>
        <p:spPr>
          <a:xfrm>
            <a:off x="841248" y="5257800"/>
            <a:ext cx="10506456" cy="749808"/>
          </a:xfrm>
          <a:prstGeom prst="rect">
            <a:avLst/>
          </a:prstGeom>
          <a:noFill/>
          <a:ln/>
        </p:spPr>
        <p:txBody>
          <a:bodyPr wrap="square" lIns="0" tIns="0" rIns="0" bIns="0" rtlCol="0" anchor="ctr"/>
          <a:lstStyle/>
          <a:p>
            <a:pPr indent="0" marL="0">
              <a:lnSpc>
                <a:spcPct val="102000"/>
              </a:lnSpc>
              <a:buNone/>
            </a:pPr>
            <a:r>
              <a:rPr lang="en-US" sz="1250" b="1" dirty="0">
                <a:solidFill>
                  <a:srgbClr val="0B3D46"/>
                </a:solidFill>
                <a:latin typeface="Calibri" pitchFamily="34" charset="0"/>
                <a:ea typeface="Calibri" pitchFamily="34" charset="-122"/>
                <a:cs typeface="Calibri" pitchFamily="34" charset="-120"/>
              </a:rPr>
              <a:t>Read this as: </a:t>
            </a:r>
            <a:pPr indent="0" marL="0">
              <a:lnSpc>
                <a:spcPct val="102000"/>
              </a:lnSpc>
              <a:buNone/>
            </a:pPr>
            <a:r>
              <a:rPr lang="en-US" sz="1250" dirty="0">
                <a:solidFill>
                  <a:srgbClr val="1B2A2E"/>
                </a:solidFill>
                <a:latin typeface="Calibri" pitchFamily="34" charset="0"/>
                <a:ea typeface="Calibri" pitchFamily="34" charset="-122"/>
                <a:cs typeface="Calibri" pitchFamily="34" charset="-120"/>
              </a:rPr>
              <a:t>an enriched, higher-risk CKD phenotype, mostly glomerular disease with heavy albuminuria and preserved-to-moderately-reduced eGFR, deliberately kept clear of ADPKD and immune-mediated GN that would need other therapy.</a:t>
            </a:r>
            <a:endParaRPr lang="en-US" sz="1250" dirty="0"/>
          </a:p>
        </p:txBody>
      </p:sp>
      <p:sp>
        <p:nvSpPr>
          <p:cNvPr id="13" name="Text 10"/>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14" name="Text 11"/>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Baseline characteristics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POPULATION  ·  BALANCED BETWEEN GROUPS</a:t>
            </a:r>
            <a:endParaRPr lang="en-US" sz="1150" dirty="0"/>
          </a:p>
        </p:txBody>
      </p:sp>
      <p:sp>
        <p:nvSpPr>
          <p:cNvPr id="4" name="Shape 2"/>
          <p:cNvSpPr/>
          <p:nvPr/>
        </p:nvSpPr>
        <p:spPr>
          <a:xfrm>
            <a:off x="566928" y="1280160"/>
            <a:ext cx="2558034" cy="1234440"/>
          </a:xfrm>
          <a:prstGeom prst="roundRect">
            <a:avLst>
              <a:gd name="adj" fmla="val 6667"/>
            </a:avLst>
          </a:prstGeom>
          <a:solidFill>
            <a:srgbClr val="0B3D46"/>
          </a:solidFill>
          <a:ln/>
          <a:effectLst>
            <a:outerShdw sx="100000" sy="100000" kx="0" ky="0" algn="bl" rotWithShape="0" blurRad="88900" dist="25400" dir="5400000">
              <a:srgbClr val="9BB0B0">
                <a:alpha val="28000"/>
              </a:srgbClr>
            </a:outerShdw>
          </a:effectLst>
        </p:spPr>
      </p:sp>
      <p:sp>
        <p:nvSpPr>
          <p:cNvPr id="5" name="Text 3"/>
          <p:cNvSpPr/>
          <p:nvPr/>
        </p:nvSpPr>
        <p:spPr>
          <a:xfrm>
            <a:off x="704088" y="1371600"/>
            <a:ext cx="2283714" cy="566928"/>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1584</a:t>
            </a:r>
            <a:endParaRPr lang="en-US" sz="3200" dirty="0"/>
          </a:p>
        </p:txBody>
      </p:sp>
      <p:sp>
        <p:nvSpPr>
          <p:cNvPr id="6" name="Text 4"/>
          <p:cNvSpPr/>
          <p:nvPr/>
        </p:nvSpPr>
        <p:spPr>
          <a:xfrm>
            <a:off x="704088" y="1938528"/>
            <a:ext cx="2283714" cy="25603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randomized</a:t>
            </a:r>
            <a:endParaRPr lang="en-US" sz="1250" dirty="0"/>
          </a:p>
        </p:txBody>
      </p:sp>
      <p:sp>
        <p:nvSpPr>
          <p:cNvPr id="7" name="Text 5"/>
          <p:cNvSpPr/>
          <p:nvPr/>
        </p:nvSpPr>
        <p:spPr>
          <a:xfrm>
            <a:off x="704088" y="2194560"/>
            <a:ext cx="2283714" cy="256032"/>
          </a:xfrm>
          <a:prstGeom prst="rect">
            <a:avLst/>
          </a:prstGeom>
          <a:noFill/>
          <a:ln/>
        </p:spPr>
        <p:txBody>
          <a:bodyPr wrap="square" lIns="0" tIns="0" rIns="0" bIns="0" rtlCol="0" anchor="ctr"/>
          <a:lstStyle/>
          <a:p>
            <a:pPr algn="ctr" indent="0" marL="0">
              <a:buNone/>
            </a:pPr>
            <a:r>
              <a:rPr lang="en-US" sz="1050" dirty="0">
                <a:solidFill>
                  <a:srgbClr val="9DB9B9"/>
                </a:solidFill>
                <a:latin typeface="Calibri" pitchFamily="34" charset="0"/>
                <a:ea typeface="Calibri" pitchFamily="34" charset="-122"/>
                <a:cs typeface="Calibri" pitchFamily="34" charset="-120"/>
              </a:rPr>
              <a:t>(793 / 791)</a:t>
            </a:r>
            <a:endParaRPr lang="en-US" sz="1050" dirty="0"/>
          </a:p>
        </p:txBody>
      </p:sp>
      <p:sp>
        <p:nvSpPr>
          <p:cNvPr id="8" name="Shape 6"/>
          <p:cNvSpPr/>
          <p:nvPr/>
        </p:nvSpPr>
        <p:spPr>
          <a:xfrm>
            <a:off x="3399282" y="1280160"/>
            <a:ext cx="2558034" cy="1234440"/>
          </a:xfrm>
          <a:prstGeom prst="roundRect">
            <a:avLst>
              <a:gd name="adj" fmla="val 6667"/>
            </a:avLst>
          </a:prstGeom>
          <a:solidFill>
            <a:srgbClr val="0B3D46"/>
          </a:solidFill>
          <a:ln/>
          <a:effectLst>
            <a:outerShdw sx="100000" sy="100000" kx="0" ky="0" algn="bl" rotWithShape="0" blurRad="88900" dist="25400" dir="5400000">
              <a:srgbClr val="9BB0B0">
                <a:alpha val="28000"/>
              </a:srgbClr>
            </a:outerShdw>
          </a:effectLst>
        </p:spPr>
      </p:sp>
      <p:sp>
        <p:nvSpPr>
          <p:cNvPr id="9" name="Text 7"/>
          <p:cNvSpPr/>
          <p:nvPr/>
        </p:nvSpPr>
        <p:spPr>
          <a:xfrm>
            <a:off x="3536442" y="1371600"/>
            <a:ext cx="2283714" cy="566928"/>
          </a:xfrm>
          <a:prstGeom prst="rect">
            <a:avLst/>
          </a:prstGeom>
          <a:noFill/>
          <a:ln/>
        </p:spPr>
        <p:txBody>
          <a:bodyPr wrap="square" lIns="0" tIns="0" rIns="0" bIns="0" rtlCol="0" anchor="ctr"/>
          <a:lstStyle/>
          <a:p>
            <a:pPr algn="ctr" indent="0" marL="0">
              <a:buNone/>
            </a:pPr>
            <a:r>
              <a:rPr lang="en-US" sz="3200" b="1" dirty="0">
                <a:solidFill>
                  <a:srgbClr val="3AA6A0"/>
                </a:solidFill>
                <a:latin typeface="Cambria" pitchFamily="34" charset="0"/>
                <a:ea typeface="Cambria" pitchFamily="34" charset="-122"/>
                <a:cs typeface="Cambria" pitchFamily="34" charset="-120"/>
              </a:rPr>
              <a:t>54.7 y</a:t>
            </a:r>
            <a:endParaRPr lang="en-US" sz="3200" dirty="0"/>
          </a:p>
        </p:txBody>
      </p:sp>
      <p:sp>
        <p:nvSpPr>
          <p:cNvPr id="10" name="Text 8"/>
          <p:cNvSpPr/>
          <p:nvPr/>
        </p:nvSpPr>
        <p:spPr>
          <a:xfrm>
            <a:off x="3536442" y="1938528"/>
            <a:ext cx="2283714" cy="25603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mean age</a:t>
            </a:r>
            <a:endParaRPr lang="en-US" sz="1250" dirty="0"/>
          </a:p>
        </p:txBody>
      </p:sp>
      <p:sp>
        <p:nvSpPr>
          <p:cNvPr id="11" name="Text 9"/>
          <p:cNvSpPr/>
          <p:nvPr/>
        </p:nvSpPr>
        <p:spPr>
          <a:xfrm>
            <a:off x="3536442" y="2194560"/>
            <a:ext cx="2283714" cy="256032"/>
          </a:xfrm>
          <a:prstGeom prst="rect">
            <a:avLst/>
          </a:prstGeom>
          <a:noFill/>
          <a:ln/>
        </p:spPr>
        <p:txBody>
          <a:bodyPr wrap="square" lIns="0" tIns="0" rIns="0" bIns="0" rtlCol="0" anchor="ctr"/>
          <a:lstStyle/>
          <a:p>
            <a:pPr algn="ctr" indent="0" marL="0">
              <a:buNone/>
            </a:pPr>
            <a:r>
              <a:rPr lang="en-US" sz="1050" dirty="0">
                <a:solidFill>
                  <a:srgbClr val="9DB9B9"/>
                </a:solidFill>
                <a:latin typeface="Calibri" pitchFamily="34" charset="0"/>
                <a:ea typeface="Calibri" pitchFamily="34" charset="-122"/>
                <a:cs typeface="Calibri" pitchFamily="34" charset="-120"/>
              </a:rPr>
              <a:t>33.8% women</a:t>
            </a:r>
            <a:endParaRPr lang="en-US" sz="1050" dirty="0"/>
          </a:p>
        </p:txBody>
      </p:sp>
      <p:sp>
        <p:nvSpPr>
          <p:cNvPr id="12" name="Shape 10"/>
          <p:cNvSpPr/>
          <p:nvPr/>
        </p:nvSpPr>
        <p:spPr>
          <a:xfrm>
            <a:off x="6231636" y="1280160"/>
            <a:ext cx="2558034" cy="1234440"/>
          </a:xfrm>
          <a:prstGeom prst="roundRect">
            <a:avLst>
              <a:gd name="adj" fmla="val 6667"/>
            </a:avLst>
          </a:prstGeom>
          <a:solidFill>
            <a:srgbClr val="0B3D46"/>
          </a:solidFill>
          <a:ln/>
          <a:effectLst>
            <a:outerShdw sx="100000" sy="100000" kx="0" ky="0" algn="bl" rotWithShape="0" blurRad="88900" dist="25400" dir="5400000">
              <a:srgbClr val="9BB0B0">
                <a:alpha val="28000"/>
              </a:srgbClr>
            </a:outerShdw>
          </a:effectLst>
        </p:spPr>
      </p:sp>
      <p:sp>
        <p:nvSpPr>
          <p:cNvPr id="13" name="Text 11"/>
          <p:cNvSpPr/>
          <p:nvPr/>
        </p:nvSpPr>
        <p:spPr>
          <a:xfrm>
            <a:off x="6368796" y="1371600"/>
            <a:ext cx="2283714" cy="566928"/>
          </a:xfrm>
          <a:prstGeom prst="rect">
            <a:avLst/>
          </a:prstGeom>
          <a:noFill/>
          <a:ln/>
        </p:spPr>
        <p:txBody>
          <a:bodyPr wrap="square" lIns="0" tIns="0" rIns="0" bIns="0" rtlCol="0" anchor="ctr"/>
          <a:lstStyle/>
          <a:p>
            <a:pPr algn="ctr" indent="0" marL="0">
              <a:buNone/>
            </a:pPr>
            <a:r>
              <a:rPr lang="en-US" sz="3200" b="1" dirty="0">
                <a:solidFill>
                  <a:srgbClr val="3AA6A0"/>
                </a:solidFill>
                <a:latin typeface="Cambria" pitchFamily="34" charset="0"/>
                <a:ea typeface="Cambria" pitchFamily="34" charset="-122"/>
                <a:cs typeface="Cambria" pitchFamily="34" charset="-120"/>
              </a:rPr>
              <a:t>46.8</a:t>
            </a:r>
            <a:endParaRPr lang="en-US" sz="3200" dirty="0"/>
          </a:p>
        </p:txBody>
      </p:sp>
      <p:sp>
        <p:nvSpPr>
          <p:cNvPr id="14" name="Text 12"/>
          <p:cNvSpPr/>
          <p:nvPr/>
        </p:nvSpPr>
        <p:spPr>
          <a:xfrm>
            <a:off x="6368796" y="1938528"/>
            <a:ext cx="2283714" cy="25603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mean eGFR</a:t>
            </a:r>
            <a:endParaRPr lang="en-US" sz="1250" dirty="0"/>
          </a:p>
        </p:txBody>
      </p:sp>
      <p:sp>
        <p:nvSpPr>
          <p:cNvPr id="15" name="Text 13"/>
          <p:cNvSpPr/>
          <p:nvPr/>
        </p:nvSpPr>
        <p:spPr>
          <a:xfrm>
            <a:off x="6368796" y="2194560"/>
            <a:ext cx="2283714" cy="256032"/>
          </a:xfrm>
          <a:prstGeom prst="rect">
            <a:avLst/>
          </a:prstGeom>
          <a:noFill/>
          <a:ln/>
        </p:spPr>
        <p:txBody>
          <a:bodyPr wrap="square" lIns="0" tIns="0" rIns="0" bIns="0" rtlCol="0" anchor="ctr"/>
          <a:lstStyle/>
          <a:p>
            <a:pPr algn="ctr" indent="0" marL="0">
              <a:buNone/>
            </a:pPr>
            <a:r>
              <a:rPr lang="en-US" sz="1050" dirty="0">
                <a:solidFill>
                  <a:srgbClr val="9DB9B9"/>
                </a:solidFill>
                <a:latin typeface="Calibri" pitchFamily="34" charset="0"/>
                <a:ea typeface="Calibri" pitchFamily="34" charset="-122"/>
                <a:cs typeface="Calibri" pitchFamily="34" charset="-120"/>
              </a:rPr>
              <a:t>ml/min/1.73 m²</a:t>
            </a:r>
            <a:endParaRPr lang="en-US" sz="1050" dirty="0"/>
          </a:p>
        </p:txBody>
      </p:sp>
      <p:sp>
        <p:nvSpPr>
          <p:cNvPr id="16" name="Shape 14"/>
          <p:cNvSpPr/>
          <p:nvPr/>
        </p:nvSpPr>
        <p:spPr>
          <a:xfrm>
            <a:off x="9063990" y="1280160"/>
            <a:ext cx="2558034" cy="1234440"/>
          </a:xfrm>
          <a:prstGeom prst="roundRect">
            <a:avLst>
              <a:gd name="adj" fmla="val 6667"/>
            </a:avLst>
          </a:prstGeom>
          <a:solidFill>
            <a:srgbClr val="0B3D46"/>
          </a:solidFill>
          <a:ln/>
          <a:effectLst>
            <a:outerShdw sx="100000" sy="100000" kx="0" ky="0" algn="bl" rotWithShape="0" blurRad="88900" dist="25400" dir="5400000">
              <a:srgbClr val="9BB0B0">
                <a:alpha val="28000"/>
              </a:srgbClr>
            </a:outerShdw>
          </a:effectLst>
        </p:spPr>
      </p:sp>
      <p:sp>
        <p:nvSpPr>
          <p:cNvPr id="17" name="Text 15"/>
          <p:cNvSpPr/>
          <p:nvPr/>
        </p:nvSpPr>
        <p:spPr>
          <a:xfrm>
            <a:off x="9201150" y="1371600"/>
            <a:ext cx="2283714" cy="566928"/>
          </a:xfrm>
          <a:prstGeom prst="rect">
            <a:avLst/>
          </a:prstGeom>
          <a:noFill/>
          <a:ln/>
        </p:spPr>
        <p:txBody>
          <a:bodyPr wrap="square" lIns="0" tIns="0" rIns="0" bIns="0" rtlCol="0" anchor="ctr"/>
          <a:lstStyle/>
          <a:p>
            <a:pPr algn="ctr" indent="0" marL="0">
              <a:buNone/>
            </a:pPr>
            <a:r>
              <a:rPr lang="en-US" sz="3200" b="1" dirty="0">
                <a:solidFill>
                  <a:srgbClr val="3AA6A0"/>
                </a:solidFill>
                <a:latin typeface="Cambria" pitchFamily="34" charset="0"/>
                <a:ea typeface="Cambria" pitchFamily="34" charset="-122"/>
                <a:cs typeface="Cambria" pitchFamily="34" charset="-120"/>
              </a:rPr>
              <a:t>819</a:t>
            </a:r>
            <a:endParaRPr lang="en-US" sz="3200" dirty="0"/>
          </a:p>
        </p:txBody>
      </p:sp>
      <p:sp>
        <p:nvSpPr>
          <p:cNvPr id="18" name="Text 16"/>
          <p:cNvSpPr/>
          <p:nvPr/>
        </p:nvSpPr>
        <p:spPr>
          <a:xfrm>
            <a:off x="9201150" y="1938528"/>
            <a:ext cx="2283714" cy="25603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median UACR</a:t>
            </a:r>
            <a:endParaRPr lang="en-US" sz="1250" dirty="0"/>
          </a:p>
        </p:txBody>
      </p:sp>
      <p:sp>
        <p:nvSpPr>
          <p:cNvPr id="19" name="Text 17"/>
          <p:cNvSpPr/>
          <p:nvPr/>
        </p:nvSpPr>
        <p:spPr>
          <a:xfrm>
            <a:off x="9201150" y="2194560"/>
            <a:ext cx="2283714" cy="256032"/>
          </a:xfrm>
          <a:prstGeom prst="rect">
            <a:avLst/>
          </a:prstGeom>
          <a:noFill/>
          <a:ln/>
        </p:spPr>
        <p:txBody>
          <a:bodyPr wrap="square" lIns="0" tIns="0" rIns="0" bIns="0" rtlCol="0" anchor="ctr"/>
          <a:lstStyle/>
          <a:p>
            <a:pPr algn="ctr" indent="0" marL="0">
              <a:buNone/>
            </a:pPr>
            <a:r>
              <a:rPr lang="en-US" sz="1050" dirty="0">
                <a:solidFill>
                  <a:srgbClr val="9DB9B9"/>
                </a:solidFill>
                <a:latin typeface="Calibri" pitchFamily="34" charset="0"/>
                <a:ea typeface="Calibri" pitchFamily="34" charset="-122"/>
                <a:cs typeface="Calibri" pitchFamily="34" charset="-120"/>
              </a:rPr>
              <a:t>mg/g</a:t>
            </a:r>
            <a:endParaRPr lang="en-US" sz="1050" dirty="0"/>
          </a:p>
        </p:txBody>
      </p:sp>
      <p:sp>
        <p:nvSpPr>
          <p:cNvPr id="20" name="Shape 18"/>
          <p:cNvSpPr/>
          <p:nvPr/>
        </p:nvSpPr>
        <p:spPr>
          <a:xfrm>
            <a:off x="566928" y="2724912"/>
            <a:ext cx="6309360" cy="3063240"/>
          </a:xfrm>
          <a:prstGeom prst="roundRect">
            <a:avLst>
              <a:gd name="adj" fmla="val 2687"/>
            </a:avLst>
          </a:prstGeom>
          <a:solidFill>
            <a:srgbClr val="F1F6F6"/>
          </a:solidFill>
          <a:ln/>
          <a:effectLst>
            <a:outerShdw sx="100000" sy="100000" kx="0" ky="0" algn="bl" rotWithShape="0" blurRad="88900" dist="25400" dir="5400000">
              <a:srgbClr val="9BB0B0">
                <a:alpha val="28000"/>
              </a:srgbClr>
            </a:outerShdw>
          </a:effectLst>
        </p:spPr>
      </p:sp>
      <p:sp>
        <p:nvSpPr>
          <p:cNvPr id="21" name="Text 19"/>
          <p:cNvSpPr/>
          <p:nvPr/>
        </p:nvSpPr>
        <p:spPr>
          <a:xfrm>
            <a:off x="822960" y="2871216"/>
            <a:ext cx="5852160" cy="292608"/>
          </a:xfrm>
          <a:prstGeom prst="rect">
            <a:avLst/>
          </a:prstGeom>
          <a:noFill/>
          <a:ln/>
        </p:spPr>
        <p:txBody>
          <a:bodyPr wrap="square" lIns="0" tIns="0" rIns="0" bIns="0" rtlCol="0" anchor="ctr"/>
          <a:lstStyle/>
          <a:p>
            <a:pPr indent="0" marL="0">
              <a:buNone/>
            </a:pPr>
            <a:r>
              <a:rPr lang="en-US" sz="1350" b="1" dirty="0">
                <a:solidFill>
                  <a:srgbClr val="0B3D46"/>
                </a:solidFill>
                <a:latin typeface="Calibri" pitchFamily="34" charset="0"/>
                <a:ea typeface="Calibri" pitchFamily="34" charset="-122"/>
                <a:cs typeface="Calibri" pitchFamily="34" charset="-120"/>
              </a:rPr>
              <a:t>Composition of the cohort</a:t>
            </a:r>
            <a:endParaRPr lang="en-US" sz="1350" dirty="0"/>
          </a:p>
        </p:txBody>
      </p:sp>
      <p:sp>
        <p:nvSpPr>
          <p:cNvPr id="22" name="Shape 20"/>
          <p:cNvSpPr/>
          <p:nvPr/>
        </p:nvSpPr>
        <p:spPr>
          <a:xfrm>
            <a:off x="768096" y="3246120"/>
            <a:ext cx="5907024" cy="384048"/>
          </a:xfrm>
          <a:prstGeom prst="rect">
            <a:avLst/>
          </a:prstGeom>
          <a:solidFill>
            <a:srgbClr val="FFFFFF"/>
          </a:solidFill>
          <a:ln/>
        </p:spPr>
      </p:sp>
      <p:sp>
        <p:nvSpPr>
          <p:cNvPr id="23" name="Text 21"/>
          <p:cNvSpPr/>
          <p:nvPr/>
        </p:nvSpPr>
        <p:spPr>
          <a:xfrm>
            <a:off x="859536" y="3246120"/>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Primary cause: chronic glomerulonephritis</a:t>
            </a:r>
            <a:endParaRPr lang="en-US" sz="1200" dirty="0"/>
          </a:p>
        </p:txBody>
      </p:sp>
      <p:sp>
        <p:nvSpPr>
          <p:cNvPr id="24" name="Text 22"/>
          <p:cNvSpPr/>
          <p:nvPr/>
        </p:nvSpPr>
        <p:spPr>
          <a:xfrm>
            <a:off x="5504688" y="3246120"/>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~57%</a:t>
            </a:r>
            <a:endParaRPr lang="en-US" sz="1250" dirty="0"/>
          </a:p>
        </p:txBody>
      </p:sp>
      <p:sp>
        <p:nvSpPr>
          <p:cNvPr id="25" name="Text 23"/>
          <p:cNvSpPr/>
          <p:nvPr/>
        </p:nvSpPr>
        <p:spPr>
          <a:xfrm>
            <a:off x="859536" y="3648456"/>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Primary cause: hypertensive / ischemic</a:t>
            </a:r>
            <a:endParaRPr lang="en-US" sz="1200" dirty="0"/>
          </a:p>
        </p:txBody>
      </p:sp>
      <p:sp>
        <p:nvSpPr>
          <p:cNvPr id="26" name="Text 24"/>
          <p:cNvSpPr/>
          <p:nvPr/>
        </p:nvSpPr>
        <p:spPr>
          <a:xfrm>
            <a:off x="5504688" y="3648456"/>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~29%</a:t>
            </a:r>
            <a:endParaRPr lang="en-US" sz="1250" dirty="0"/>
          </a:p>
        </p:txBody>
      </p:sp>
      <p:sp>
        <p:nvSpPr>
          <p:cNvPr id="27" name="Shape 25"/>
          <p:cNvSpPr/>
          <p:nvPr/>
        </p:nvSpPr>
        <p:spPr>
          <a:xfrm>
            <a:off x="768096" y="4050792"/>
            <a:ext cx="5907024" cy="384048"/>
          </a:xfrm>
          <a:prstGeom prst="rect">
            <a:avLst/>
          </a:prstGeom>
          <a:solidFill>
            <a:srgbClr val="FFFFFF"/>
          </a:solidFill>
          <a:ln/>
        </p:spPr>
      </p:sp>
      <p:sp>
        <p:nvSpPr>
          <p:cNvPr id="28" name="Text 26"/>
          <p:cNvSpPr/>
          <p:nvPr/>
        </p:nvSpPr>
        <p:spPr>
          <a:xfrm>
            <a:off x="859536" y="4050792"/>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eGFR &lt;60 ml/min/1.73 m²</a:t>
            </a:r>
            <a:endParaRPr lang="en-US" sz="1200" dirty="0"/>
          </a:p>
        </p:txBody>
      </p:sp>
      <p:sp>
        <p:nvSpPr>
          <p:cNvPr id="29" name="Text 27"/>
          <p:cNvSpPr/>
          <p:nvPr/>
        </p:nvSpPr>
        <p:spPr>
          <a:xfrm>
            <a:off x="5504688" y="4050792"/>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~80%</a:t>
            </a:r>
            <a:endParaRPr lang="en-US" sz="1250" dirty="0"/>
          </a:p>
        </p:txBody>
      </p:sp>
      <p:sp>
        <p:nvSpPr>
          <p:cNvPr id="30" name="Text 28"/>
          <p:cNvSpPr/>
          <p:nvPr/>
        </p:nvSpPr>
        <p:spPr>
          <a:xfrm>
            <a:off x="859536" y="4453128"/>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UACR &gt;1000 mg/g</a:t>
            </a:r>
            <a:endParaRPr lang="en-US" sz="1200" dirty="0"/>
          </a:p>
        </p:txBody>
      </p:sp>
      <p:sp>
        <p:nvSpPr>
          <p:cNvPr id="31" name="Text 29"/>
          <p:cNvSpPr/>
          <p:nvPr/>
        </p:nvSpPr>
        <p:spPr>
          <a:xfrm>
            <a:off x="5504688" y="4453128"/>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~38%</a:t>
            </a:r>
            <a:endParaRPr lang="en-US" sz="1250" dirty="0"/>
          </a:p>
        </p:txBody>
      </p:sp>
      <p:sp>
        <p:nvSpPr>
          <p:cNvPr id="32" name="Shape 30"/>
          <p:cNvSpPr/>
          <p:nvPr/>
        </p:nvSpPr>
        <p:spPr>
          <a:xfrm>
            <a:off x="768096" y="4855464"/>
            <a:ext cx="5907024" cy="384048"/>
          </a:xfrm>
          <a:prstGeom prst="rect">
            <a:avLst/>
          </a:prstGeom>
          <a:solidFill>
            <a:srgbClr val="FFFFFF"/>
          </a:solidFill>
          <a:ln/>
        </p:spPr>
      </p:sp>
      <p:sp>
        <p:nvSpPr>
          <p:cNvPr id="33" name="Text 31"/>
          <p:cNvSpPr/>
          <p:nvPr/>
        </p:nvSpPr>
        <p:spPr>
          <a:xfrm>
            <a:off x="859536" y="4855464"/>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Asian / White / Black</a:t>
            </a:r>
            <a:endParaRPr lang="en-US" sz="1200" dirty="0"/>
          </a:p>
        </p:txBody>
      </p:sp>
      <p:sp>
        <p:nvSpPr>
          <p:cNvPr id="34" name="Text 32"/>
          <p:cNvSpPr/>
          <p:nvPr/>
        </p:nvSpPr>
        <p:spPr>
          <a:xfrm>
            <a:off x="5504688" y="4855464"/>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55% / 41% / 2%</a:t>
            </a:r>
            <a:endParaRPr lang="en-US" sz="1250" dirty="0"/>
          </a:p>
        </p:txBody>
      </p:sp>
      <p:sp>
        <p:nvSpPr>
          <p:cNvPr id="35" name="Text 33"/>
          <p:cNvSpPr/>
          <p:nvPr/>
        </p:nvSpPr>
        <p:spPr>
          <a:xfrm>
            <a:off x="859536" y="5257800"/>
            <a:ext cx="4663440" cy="384048"/>
          </a:xfrm>
          <a:prstGeom prst="rect">
            <a:avLst/>
          </a:prstGeom>
          <a:noFill/>
          <a:ln/>
        </p:spPr>
        <p:txBody>
          <a:bodyPr wrap="square" lIns="0" tIns="0" rIns="0" bIns="0" rtlCol="0" anchor="ctr"/>
          <a:lstStyle/>
          <a:p>
            <a:pPr indent="0" marL="0">
              <a:buNone/>
            </a:pPr>
            <a:r>
              <a:rPr lang="en-US" sz="1200" dirty="0">
                <a:solidFill>
                  <a:srgbClr val="1B2A2E"/>
                </a:solidFill>
                <a:latin typeface="Calibri" pitchFamily="34" charset="0"/>
                <a:ea typeface="Calibri" pitchFamily="34" charset="-122"/>
                <a:cs typeface="Calibri" pitchFamily="34" charset="-120"/>
              </a:rPr>
              <a:t>Hypertension</a:t>
            </a:r>
            <a:endParaRPr lang="en-US" sz="1200" dirty="0"/>
          </a:p>
        </p:txBody>
      </p:sp>
      <p:sp>
        <p:nvSpPr>
          <p:cNvPr id="36" name="Text 34"/>
          <p:cNvSpPr/>
          <p:nvPr/>
        </p:nvSpPr>
        <p:spPr>
          <a:xfrm>
            <a:off x="5504688" y="5257800"/>
            <a:ext cx="1170432" cy="384048"/>
          </a:xfrm>
          <a:prstGeom prst="rect">
            <a:avLst/>
          </a:prstGeom>
          <a:noFill/>
          <a:ln/>
        </p:spPr>
        <p:txBody>
          <a:bodyPr wrap="square" lIns="0" tIns="0" rIns="0" bIns="0" rtlCol="0" anchor="ctr"/>
          <a:lstStyle/>
          <a:p>
            <a:pPr algn="r" indent="0" marL="0">
              <a:buNone/>
            </a:pPr>
            <a:r>
              <a:rPr lang="en-US" sz="1250" b="1" dirty="0">
                <a:solidFill>
                  <a:srgbClr val="0E7C86"/>
                </a:solidFill>
                <a:latin typeface="Calibri" pitchFamily="34" charset="0"/>
                <a:ea typeface="Calibri" pitchFamily="34" charset="-122"/>
                <a:cs typeface="Calibri" pitchFamily="34" charset="-120"/>
              </a:rPr>
              <a:t>~89%</a:t>
            </a:r>
            <a:endParaRPr lang="en-US" sz="1250" dirty="0"/>
          </a:p>
        </p:txBody>
      </p:sp>
      <p:sp>
        <p:nvSpPr>
          <p:cNvPr id="37" name="Shape 35"/>
          <p:cNvSpPr/>
          <p:nvPr/>
        </p:nvSpPr>
        <p:spPr>
          <a:xfrm>
            <a:off x="7104888" y="2724912"/>
            <a:ext cx="4517136" cy="3063240"/>
          </a:xfrm>
          <a:prstGeom prst="roundRect">
            <a:avLst>
              <a:gd name="adj" fmla="val 2687"/>
            </a:avLst>
          </a:prstGeom>
          <a:solidFill>
            <a:srgbClr val="0E7C86"/>
          </a:solidFill>
          <a:ln/>
          <a:effectLst>
            <a:outerShdw sx="100000" sy="100000" kx="0" ky="0" algn="bl" rotWithShape="0" blurRad="88900" dist="25400" dir="5400000">
              <a:srgbClr val="9BB0B0">
                <a:alpha val="28000"/>
              </a:srgbClr>
            </a:outerShdw>
          </a:effectLst>
        </p:spPr>
      </p:sp>
      <p:sp>
        <p:nvSpPr>
          <p:cNvPr id="38" name="Text 36"/>
          <p:cNvSpPr/>
          <p:nvPr/>
        </p:nvSpPr>
        <p:spPr>
          <a:xfrm>
            <a:off x="7333488" y="2871216"/>
            <a:ext cx="411480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Background therapy</a:t>
            </a:r>
            <a:endParaRPr lang="en-US" sz="1350" dirty="0"/>
          </a:p>
        </p:txBody>
      </p:sp>
      <p:sp>
        <p:nvSpPr>
          <p:cNvPr id="39" name="Text 37"/>
          <p:cNvSpPr/>
          <p:nvPr/>
        </p:nvSpPr>
        <p:spPr>
          <a:xfrm>
            <a:off x="7333488" y="3310128"/>
            <a:ext cx="155448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99.7%</a:t>
            </a:r>
            <a:endParaRPr lang="en-US" sz="2600" dirty="0"/>
          </a:p>
        </p:txBody>
      </p:sp>
      <p:sp>
        <p:nvSpPr>
          <p:cNvPr id="40" name="Text 38"/>
          <p:cNvSpPr/>
          <p:nvPr/>
        </p:nvSpPr>
        <p:spPr>
          <a:xfrm>
            <a:off x="8842248" y="3374136"/>
            <a:ext cx="2688336" cy="457200"/>
          </a:xfrm>
          <a:prstGeom prst="rect">
            <a:avLst/>
          </a:prstGeom>
          <a:noFill/>
          <a:ln/>
        </p:spPr>
        <p:txBody>
          <a:bodyPr wrap="square" lIns="0" tIns="0" rIns="0" bIns="0" rtlCol="0" anchor="ctr"/>
          <a:lstStyle/>
          <a:p>
            <a:pPr indent="0" marL="0">
              <a:buNone/>
            </a:pPr>
            <a:r>
              <a:rPr lang="en-US" sz="1250" dirty="0">
                <a:solidFill>
                  <a:srgbClr val="E7F4F4"/>
                </a:solidFill>
                <a:latin typeface="Calibri" pitchFamily="34" charset="0"/>
                <a:ea typeface="Calibri" pitchFamily="34" charset="-122"/>
                <a:cs typeface="Calibri" pitchFamily="34" charset="-120"/>
              </a:rPr>
              <a:t>on a RAS inhibitor</a:t>
            </a:r>
            <a:endParaRPr lang="en-US" sz="1250" dirty="0"/>
          </a:p>
        </p:txBody>
      </p:sp>
      <p:sp>
        <p:nvSpPr>
          <p:cNvPr id="41" name="Text 39"/>
          <p:cNvSpPr/>
          <p:nvPr/>
        </p:nvSpPr>
        <p:spPr>
          <a:xfrm>
            <a:off x="7333488" y="3968496"/>
            <a:ext cx="155448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17.0%</a:t>
            </a:r>
            <a:endParaRPr lang="en-US" sz="2600" dirty="0"/>
          </a:p>
        </p:txBody>
      </p:sp>
      <p:sp>
        <p:nvSpPr>
          <p:cNvPr id="42" name="Text 40"/>
          <p:cNvSpPr/>
          <p:nvPr/>
        </p:nvSpPr>
        <p:spPr>
          <a:xfrm>
            <a:off x="8842248" y="4032504"/>
            <a:ext cx="2688336" cy="457200"/>
          </a:xfrm>
          <a:prstGeom prst="rect">
            <a:avLst/>
          </a:prstGeom>
          <a:noFill/>
          <a:ln/>
        </p:spPr>
        <p:txBody>
          <a:bodyPr wrap="square" lIns="0" tIns="0" rIns="0" bIns="0" rtlCol="0" anchor="ctr"/>
          <a:lstStyle/>
          <a:p>
            <a:pPr indent="0" marL="0">
              <a:buNone/>
            </a:pPr>
            <a:r>
              <a:rPr lang="en-US" sz="1250" dirty="0">
                <a:solidFill>
                  <a:srgbClr val="E7F4F4"/>
                </a:solidFill>
                <a:latin typeface="Calibri" pitchFamily="34" charset="0"/>
                <a:ea typeface="Calibri" pitchFamily="34" charset="-122"/>
                <a:cs typeface="Calibri" pitchFamily="34" charset="-120"/>
              </a:rPr>
              <a:t>on an SGLT2 inhibitor</a:t>
            </a:r>
            <a:endParaRPr lang="en-US" sz="1250" dirty="0"/>
          </a:p>
        </p:txBody>
      </p:sp>
      <p:sp>
        <p:nvSpPr>
          <p:cNvPr id="43" name="Text 41"/>
          <p:cNvSpPr/>
          <p:nvPr/>
        </p:nvSpPr>
        <p:spPr>
          <a:xfrm>
            <a:off x="7333488" y="4626864"/>
            <a:ext cx="155448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44" name="Text 42"/>
          <p:cNvSpPr/>
          <p:nvPr/>
        </p:nvSpPr>
        <p:spPr>
          <a:xfrm>
            <a:off x="8842248" y="4690872"/>
            <a:ext cx="2688336" cy="457200"/>
          </a:xfrm>
          <a:prstGeom prst="rect">
            <a:avLst/>
          </a:prstGeom>
          <a:noFill/>
          <a:ln/>
        </p:spPr>
        <p:txBody>
          <a:bodyPr wrap="square" lIns="0" tIns="0" rIns="0" bIns="0" rtlCol="0" anchor="ctr"/>
          <a:lstStyle/>
          <a:p>
            <a:pPr indent="0" marL="0">
              <a:buNone/>
            </a:pPr>
            <a:r>
              <a:rPr lang="en-US" sz="1250" dirty="0">
                <a:solidFill>
                  <a:srgbClr val="E7F4F4"/>
                </a:solidFill>
                <a:latin typeface="Calibri" pitchFamily="34" charset="0"/>
                <a:ea typeface="Calibri" pitchFamily="34" charset="-122"/>
                <a:cs typeface="Calibri" pitchFamily="34" charset="-120"/>
              </a:rPr>
              <a:t>on a diuretic</a:t>
            </a:r>
            <a:endParaRPr lang="en-US" sz="1250" dirty="0"/>
          </a:p>
        </p:txBody>
      </p:sp>
      <p:sp>
        <p:nvSpPr>
          <p:cNvPr id="45" name="Text 43"/>
          <p:cNvSpPr/>
          <p:nvPr/>
        </p:nvSpPr>
        <p:spPr>
          <a:xfrm>
            <a:off x="7333488" y="5257800"/>
            <a:ext cx="4151376" cy="457200"/>
          </a:xfrm>
          <a:prstGeom prst="rect">
            <a:avLst/>
          </a:prstGeom>
          <a:noFill/>
          <a:ln/>
        </p:spPr>
        <p:txBody>
          <a:bodyPr wrap="square" lIns="0" tIns="0" rIns="0" bIns="0" rtlCol="0" anchor="ctr"/>
          <a:lstStyle/>
          <a:p>
            <a:pPr indent="0" marL="0">
              <a:lnSpc>
                <a:spcPct val="100000"/>
              </a:lnSpc>
              <a:buNone/>
            </a:pPr>
            <a:r>
              <a:rPr lang="en-US" sz="1100" i="1" dirty="0">
                <a:solidFill>
                  <a:srgbClr val="D7ECEC"/>
                </a:solidFill>
                <a:latin typeface="Calibri" pitchFamily="34" charset="0"/>
                <a:ea typeface="Calibri" pitchFamily="34" charset="-122"/>
                <a:cs typeface="Calibri" pitchFamily="34" charset="-120"/>
              </a:rPr>
              <a:t>Only 1 in 6 was taking an SGLT2 inhibitor, so this is largely a RAS-inhibitor background.</a:t>
            </a:r>
            <a:endParaRPr lang="en-US" sz="1100" dirty="0"/>
          </a:p>
        </p:txBody>
      </p:sp>
      <p:sp>
        <p:nvSpPr>
          <p:cNvPr id="47" name="Text 44"/>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48" name="Text 45"/>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Intervention, dosing &amp; potassium management</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METHODS</a:t>
            </a:r>
            <a:endParaRPr lang="en-US" sz="1150" dirty="0"/>
          </a:p>
        </p:txBody>
      </p:sp>
      <p:sp>
        <p:nvSpPr>
          <p:cNvPr id="4" name="Shape 2"/>
          <p:cNvSpPr/>
          <p:nvPr/>
        </p:nvSpPr>
        <p:spPr>
          <a:xfrm>
            <a:off x="566928" y="1325880"/>
            <a:ext cx="5806440" cy="2148840"/>
          </a:xfrm>
          <a:prstGeom prst="roundRect">
            <a:avLst>
              <a:gd name="adj" fmla="val 3830"/>
            </a:avLst>
          </a:prstGeom>
          <a:solidFill>
            <a:srgbClr val="F1F6F6"/>
          </a:solidFill>
          <a:ln/>
          <a:effectLst>
            <a:outerShdw sx="100000" sy="100000" kx="0" ky="0" algn="bl" rotWithShape="0" blurRad="88900" dist="25400" dir="5400000">
              <a:srgbClr val="9BB0B0">
                <a:alpha val="28000"/>
              </a:srgbClr>
            </a:outerShdw>
          </a:effectLst>
        </p:spPr>
      </p:sp>
      <p:sp>
        <p:nvSpPr>
          <p:cNvPr id="5" name="Text 3"/>
          <p:cNvSpPr/>
          <p:nvPr/>
        </p:nvSpPr>
        <p:spPr>
          <a:xfrm>
            <a:off x="822960" y="1481328"/>
            <a:ext cx="5486400" cy="292608"/>
          </a:xfrm>
          <a:prstGeom prst="rect">
            <a:avLst/>
          </a:prstGeom>
          <a:noFill/>
          <a:ln/>
        </p:spPr>
        <p:txBody>
          <a:bodyPr wrap="square" lIns="0" tIns="0" rIns="0" bIns="0" rtlCol="0" anchor="ctr"/>
          <a:lstStyle/>
          <a:p>
            <a:pPr indent="0" marL="0">
              <a:buNone/>
            </a:pPr>
            <a:r>
              <a:rPr lang="en-US" sz="1400" b="1" dirty="0">
                <a:solidFill>
                  <a:srgbClr val="0B3D46"/>
                </a:solidFill>
                <a:latin typeface="Calibri" pitchFamily="34" charset="0"/>
                <a:ea typeface="Calibri" pitchFamily="34" charset="-122"/>
                <a:cs typeface="Calibri" pitchFamily="34" charset="-120"/>
              </a:rPr>
              <a:t>Starting dose by screening eGFR</a:t>
            </a:r>
            <a:endParaRPr lang="en-US" sz="1400" dirty="0"/>
          </a:p>
        </p:txBody>
      </p:sp>
      <p:sp>
        <p:nvSpPr>
          <p:cNvPr id="6" name="Shape 4"/>
          <p:cNvSpPr/>
          <p:nvPr/>
        </p:nvSpPr>
        <p:spPr>
          <a:xfrm>
            <a:off x="822960" y="1901952"/>
            <a:ext cx="5303520" cy="658368"/>
          </a:xfrm>
          <a:prstGeom prst="roundRect">
            <a:avLst>
              <a:gd name="adj" fmla="val 12500"/>
            </a:avLst>
          </a:prstGeom>
          <a:solidFill>
            <a:srgbClr val="FFFFFF"/>
          </a:solidFill>
          <a:ln w="12700">
            <a:solidFill>
              <a:srgbClr val="CBD9D9"/>
            </a:solidFill>
            <a:prstDash val="solid"/>
          </a:ln>
        </p:spPr>
      </p:sp>
      <p:sp>
        <p:nvSpPr>
          <p:cNvPr id="7" name="Text 5"/>
          <p:cNvSpPr/>
          <p:nvPr/>
        </p:nvSpPr>
        <p:spPr>
          <a:xfrm>
            <a:off x="1024128" y="1901952"/>
            <a:ext cx="2377440" cy="658368"/>
          </a:xfrm>
          <a:prstGeom prst="rect">
            <a:avLst/>
          </a:prstGeom>
          <a:noFill/>
          <a:ln/>
        </p:spPr>
        <p:txBody>
          <a:bodyPr wrap="square" lIns="0" tIns="0" rIns="0" bIns="0" rtlCol="0" anchor="ctr"/>
          <a:lstStyle/>
          <a:p>
            <a:pPr indent="0" marL="0">
              <a:buNone/>
            </a:pPr>
            <a:r>
              <a:rPr lang="en-US" sz="1400" b="1" dirty="0">
                <a:solidFill>
                  <a:srgbClr val="1B2A2E"/>
                </a:solidFill>
                <a:latin typeface="Calibri" pitchFamily="34" charset="0"/>
                <a:ea typeface="Calibri" pitchFamily="34" charset="-122"/>
                <a:cs typeface="Calibri" pitchFamily="34" charset="-120"/>
              </a:rPr>
              <a:t>eGFR ≥ 60</a:t>
            </a:r>
            <a:endParaRPr lang="en-US" sz="1400" dirty="0"/>
          </a:p>
        </p:txBody>
      </p:sp>
      <p:sp>
        <p:nvSpPr>
          <p:cNvPr id="8" name="Shape 6"/>
          <p:cNvSpPr/>
          <p:nvPr/>
        </p:nvSpPr>
        <p:spPr>
          <a:xfrm>
            <a:off x="3218688" y="2139696"/>
            <a:ext cx="365760" cy="201168"/>
          </a:xfrm>
          <a:prstGeom prst="rightArrow">
            <a:avLst/>
          </a:prstGeom>
          <a:solidFill>
            <a:srgbClr val="3AA6A0"/>
          </a:solidFill>
          <a:ln/>
        </p:spPr>
      </p:sp>
      <p:sp>
        <p:nvSpPr>
          <p:cNvPr id="9" name="Text 7"/>
          <p:cNvSpPr/>
          <p:nvPr/>
        </p:nvSpPr>
        <p:spPr>
          <a:xfrm>
            <a:off x="3675888" y="1901952"/>
            <a:ext cx="2377440" cy="658368"/>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20 mg once daily</a:t>
            </a:r>
            <a:endParaRPr lang="en-US" sz="1400" dirty="0"/>
          </a:p>
        </p:txBody>
      </p:sp>
      <p:sp>
        <p:nvSpPr>
          <p:cNvPr id="10" name="Shape 8"/>
          <p:cNvSpPr/>
          <p:nvPr/>
        </p:nvSpPr>
        <p:spPr>
          <a:xfrm>
            <a:off x="822960" y="2651760"/>
            <a:ext cx="5303520" cy="658368"/>
          </a:xfrm>
          <a:prstGeom prst="roundRect">
            <a:avLst>
              <a:gd name="adj" fmla="val 12500"/>
            </a:avLst>
          </a:prstGeom>
          <a:solidFill>
            <a:srgbClr val="FFFFFF"/>
          </a:solidFill>
          <a:ln w="12700">
            <a:solidFill>
              <a:srgbClr val="CBD9D9"/>
            </a:solidFill>
            <a:prstDash val="solid"/>
          </a:ln>
        </p:spPr>
      </p:sp>
      <p:sp>
        <p:nvSpPr>
          <p:cNvPr id="11" name="Text 9"/>
          <p:cNvSpPr/>
          <p:nvPr/>
        </p:nvSpPr>
        <p:spPr>
          <a:xfrm>
            <a:off x="1024128" y="2651760"/>
            <a:ext cx="2377440" cy="658368"/>
          </a:xfrm>
          <a:prstGeom prst="rect">
            <a:avLst/>
          </a:prstGeom>
          <a:noFill/>
          <a:ln/>
        </p:spPr>
        <p:txBody>
          <a:bodyPr wrap="square" lIns="0" tIns="0" rIns="0" bIns="0" rtlCol="0" anchor="ctr"/>
          <a:lstStyle/>
          <a:p>
            <a:pPr indent="0" marL="0">
              <a:buNone/>
            </a:pPr>
            <a:r>
              <a:rPr lang="en-US" sz="1400" b="1" dirty="0">
                <a:solidFill>
                  <a:srgbClr val="1B2A2E"/>
                </a:solidFill>
                <a:latin typeface="Calibri" pitchFamily="34" charset="0"/>
                <a:ea typeface="Calibri" pitchFamily="34" charset="-122"/>
                <a:cs typeface="Calibri" pitchFamily="34" charset="-120"/>
              </a:rPr>
              <a:t>eGFR 25 to &lt;60</a:t>
            </a:r>
            <a:endParaRPr lang="en-US" sz="1400" dirty="0"/>
          </a:p>
        </p:txBody>
      </p:sp>
      <p:sp>
        <p:nvSpPr>
          <p:cNvPr id="12" name="Shape 10"/>
          <p:cNvSpPr/>
          <p:nvPr/>
        </p:nvSpPr>
        <p:spPr>
          <a:xfrm>
            <a:off x="3218688" y="2889504"/>
            <a:ext cx="365760" cy="201168"/>
          </a:xfrm>
          <a:prstGeom prst="rightArrow">
            <a:avLst/>
          </a:prstGeom>
          <a:solidFill>
            <a:srgbClr val="3AA6A0"/>
          </a:solidFill>
          <a:ln/>
        </p:spPr>
      </p:sp>
      <p:sp>
        <p:nvSpPr>
          <p:cNvPr id="13" name="Text 11"/>
          <p:cNvSpPr/>
          <p:nvPr/>
        </p:nvSpPr>
        <p:spPr>
          <a:xfrm>
            <a:off x="3675888" y="2651760"/>
            <a:ext cx="2377440" cy="658368"/>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10 mg once daily</a:t>
            </a:r>
            <a:endParaRPr lang="en-US" sz="1400" dirty="0"/>
          </a:p>
        </p:txBody>
      </p:sp>
      <p:sp>
        <p:nvSpPr>
          <p:cNvPr id="14" name="Text 12"/>
          <p:cNvSpPr/>
          <p:nvPr/>
        </p:nvSpPr>
        <p:spPr>
          <a:xfrm>
            <a:off x="822960" y="3127248"/>
            <a:ext cx="5486400" cy="292608"/>
          </a:xfrm>
          <a:prstGeom prst="rect">
            <a:avLst/>
          </a:prstGeom>
          <a:noFill/>
          <a:ln/>
        </p:spPr>
        <p:txBody>
          <a:bodyPr wrap="square" lIns="0" tIns="0" rIns="0" bIns="0" rtlCol="0" anchor="ctr"/>
          <a:lstStyle/>
          <a:p>
            <a:pPr indent="0" marL="0">
              <a:buNone/>
            </a:pPr>
            <a:r>
              <a:rPr lang="en-US" sz="1050" i="1" dirty="0">
                <a:solidFill>
                  <a:srgbClr val="5C6B70"/>
                </a:solidFill>
                <a:latin typeface="Calibri" pitchFamily="34" charset="0"/>
                <a:ea typeface="Calibri" pitchFamily="34" charset="-122"/>
                <a:cs typeface="Calibri" pitchFamily="34" charset="-120"/>
              </a:rPr>
              <a:t>Up-titrate 10 → 20 mg from month 1 if K⁺ ≤4.8 and eGFR stable (drop ≤30%).</a:t>
            </a:r>
            <a:endParaRPr lang="en-US" sz="1050" dirty="0"/>
          </a:p>
        </p:txBody>
      </p:sp>
      <p:sp>
        <p:nvSpPr>
          <p:cNvPr id="15" name="Shape 13"/>
          <p:cNvSpPr/>
          <p:nvPr/>
        </p:nvSpPr>
        <p:spPr>
          <a:xfrm>
            <a:off x="6739128" y="1325880"/>
            <a:ext cx="4882896" cy="2148840"/>
          </a:xfrm>
          <a:prstGeom prst="roundRect">
            <a:avLst>
              <a:gd name="adj" fmla="val 3830"/>
            </a:avLst>
          </a:prstGeom>
          <a:solidFill>
            <a:srgbClr val="0B3D46"/>
          </a:solidFill>
          <a:ln/>
          <a:effectLst>
            <a:outerShdw sx="100000" sy="100000" kx="0" ky="0" algn="bl" rotWithShape="0" blurRad="88900" dist="25400" dir="5400000">
              <a:srgbClr val="9BB0B0">
                <a:alpha val="28000"/>
              </a:srgbClr>
            </a:outerShdw>
          </a:effectLst>
        </p:spPr>
      </p:sp>
      <p:sp>
        <p:nvSpPr>
          <p:cNvPr id="16" name="Text 14"/>
          <p:cNvSpPr/>
          <p:nvPr/>
        </p:nvSpPr>
        <p:spPr>
          <a:xfrm>
            <a:off x="6967728" y="1481328"/>
            <a:ext cx="4572000" cy="292608"/>
          </a:xfrm>
          <a:prstGeom prst="rect">
            <a:avLst/>
          </a:prstGeom>
          <a:noFill/>
          <a:ln/>
        </p:spPr>
        <p:txBody>
          <a:bodyPr wrap="square" lIns="0" tIns="0" rIns="0" bIns="0" rtlCol="0" anchor="ctr"/>
          <a:lstStyle/>
          <a:p>
            <a:pPr indent="0" marL="0">
              <a:buNone/>
            </a:pPr>
            <a:r>
              <a:rPr lang="en-US" sz="1400" b="1" dirty="0">
                <a:solidFill>
                  <a:srgbClr val="3AA6A0"/>
                </a:solidFill>
                <a:latin typeface="Calibri" pitchFamily="34" charset="0"/>
                <a:ea typeface="Calibri" pitchFamily="34" charset="-122"/>
                <a:cs typeface="Calibri" pitchFamily="34" charset="-120"/>
              </a:rPr>
              <a:t>Protocol-driven K⁺ safety rule</a:t>
            </a:r>
            <a:endParaRPr lang="en-US" sz="1400" dirty="0"/>
          </a:p>
        </p:txBody>
      </p:sp>
      <p:sp>
        <p:nvSpPr>
          <p:cNvPr id="17" name="Text 15"/>
          <p:cNvSpPr/>
          <p:nvPr/>
        </p:nvSpPr>
        <p:spPr>
          <a:xfrm>
            <a:off x="6967728" y="1920240"/>
            <a:ext cx="45720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 &gt; 5.5 mmol/L  →  </a:t>
            </a:r>
            <a:pPr indent="0" marL="0">
              <a:buNone/>
            </a:pPr>
            <a:r>
              <a:rPr lang="en-US" sz="1300" dirty="0">
                <a:solidFill>
                  <a:srgbClr val="DDECEC"/>
                </a:solidFill>
                <a:latin typeface="Calibri" pitchFamily="34" charset="0"/>
                <a:ea typeface="Calibri" pitchFamily="34" charset="-122"/>
                <a:cs typeface="Calibri" pitchFamily="34" charset="-120"/>
              </a:rPr>
              <a:t>withhold drug for 72 h</a:t>
            </a:r>
            <a:endParaRPr lang="en-US" sz="1300" dirty="0"/>
          </a:p>
        </p:txBody>
      </p:sp>
      <p:sp>
        <p:nvSpPr>
          <p:cNvPr id="18" name="Text 16"/>
          <p:cNvSpPr/>
          <p:nvPr/>
        </p:nvSpPr>
        <p:spPr>
          <a:xfrm>
            <a:off x="6967728" y="2331720"/>
            <a:ext cx="45720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 ≤ 5.0  →  </a:t>
            </a:r>
            <a:pPr indent="0" marL="0">
              <a:buNone/>
            </a:pPr>
            <a:r>
              <a:rPr lang="en-US" sz="1300" dirty="0">
                <a:solidFill>
                  <a:srgbClr val="DDECEC"/>
                </a:solidFill>
                <a:latin typeface="Calibri" pitchFamily="34" charset="0"/>
                <a:ea typeface="Calibri" pitchFamily="34" charset="-122"/>
                <a:cs typeface="Calibri" pitchFamily="34" charset="-120"/>
              </a:rPr>
              <a:t>restart at 10 mg daily</a:t>
            </a:r>
            <a:endParaRPr lang="en-US" sz="1300" dirty="0"/>
          </a:p>
        </p:txBody>
      </p:sp>
      <p:sp>
        <p:nvSpPr>
          <p:cNvPr id="19" name="Text 17"/>
          <p:cNvSpPr/>
          <p:nvPr/>
        </p:nvSpPr>
        <p:spPr>
          <a:xfrm>
            <a:off x="6967728" y="2788920"/>
            <a:ext cx="4425696" cy="548640"/>
          </a:xfrm>
          <a:prstGeom prst="rect">
            <a:avLst/>
          </a:prstGeom>
          <a:noFill/>
          <a:ln/>
        </p:spPr>
        <p:txBody>
          <a:bodyPr wrap="square" lIns="0" tIns="0" rIns="0" bIns="0" rtlCol="0" anchor="ctr"/>
          <a:lstStyle/>
          <a:p>
            <a:pPr indent="0" marL="0">
              <a:lnSpc>
                <a:spcPct val="100000"/>
              </a:lnSpc>
              <a:buNone/>
            </a:pPr>
            <a:r>
              <a:rPr lang="en-US" sz="1100" i="1" dirty="0">
                <a:solidFill>
                  <a:srgbClr val="9DB9B9"/>
                </a:solidFill>
                <a:latin typeface="Calibri" pitchFamily="34" charset="0"/>
                <a:ea typeface="Calibri" pitchFamily="34" charset="-122"/>
                <a:cs typeface="Calibri" pitchFamily="34" charset="-120"/>
              </a:rPr>
              <a:t>Central-lab potassium at every visit. Dose could be reduced any time for safety.</a:t>
            </a:r>
            <a:endParaRPr lang="en-US" sz="1100" dirty="0"/>
          </a:p>
        </p:txBody>
      </p:sp>
      <p:sp>
        <p:nvSpPr>
          <p:cNvPr id="20" name="Shape 18"/>
          <p:cNvSpPr/>
          <p:nvPr/>
        </p:nvSpPr>
        <p:spPr>
          <a:xfrm>
            <a:off x="566928" y="3703320"/>
            <a:ext cx="11055096" cy="2148840"/>
          </a:xfrm>
          <a:prstGeom prst="roundRect">
            <a:avLst>
              <a:gd name="adj" fmla="val 3830"/>
            </a:avLst>
          </a:prstGeom>
          <a:solidFill>
            <a:srgbClr val="F1F6F6"/>
          </a:solidFill>
          <a:ln/>
          <a:effectLst>
            <a:outerShdw sx="100000" sy="100000" kx="0" ky="0" algn="bl" rotWithShape="0" blurRad="88900" dist="25400" dir="5400000">
              <a:srgbClr val="9BB0B0">
                <a:alpha val="28000"/>
              </a:srgbClr>
            </a:outerShdw>
          </a:effectLst>
        </p:spPr>
      </p:sp>
      <p:sp>
        <p:nvSpPr>
          <p:cNvPr id="21" name="Text 19"/>
          <p:cNvSpPr/>
          <p:nvPr/>
        </p:nvSpPr>
        <p:spPr>
          <a:xfrm>
            <a:off x="822960" y="3858768"/>
            <a:ext cx="7315200" cy="292608"/>
          </a:xfrm>
          <a:prstGeom prst="rect">
            <a:avLst/>
          </a:prstGeom>
          <a:noFill/>
          <a:ln/>
        </p:spPr>
        <p:txBody>
          <a:bodyPr wrap="square" lIns="0" tIns="0" rIns="0" bIns="0" rtlCol="0" anchor="ctr"/>
          <a:lstStyle/>
          <a:p>
            <a:pPr indent="0" marL="0">
              <a:buNone/>
            </a:pPr>
            <a:r>
              <a:rPr lang="en-US" sz="1400" b="1" dirty="0">
                <a:solidFill>
                  <a:srgbClr val="0B3D46"/>
                </a:solidFill>
                <a:latin typeface="Calibri" pitchFamily="34" charset="0"/>
                <a:ea typeface="Calibri" pitchFamily="34" charset="-122"/>
                <a:cs typeface="Calibri" pitchFamily="34" charset="-120"/>
              </a:rPr>
              <a:t>Visit schedule &amp; follow-up</a:t>
            </a:r>
            <a:endParaRPr lang="en-US" sz="1400" dirty="0"/>
          </a:p>
        </p:txBody>
      </p:sp>
      <p:sp>
        <p:nvSpPr>
          <p:cNvPr id="22" name="Shape 20"/>
          <p:cNvSpPr/>
          <p:nvPr/>
        </p:nvSpPr>
        <p:spPr>
          <a:xfrm>
            <a:off x="1161288" y="4892040"/>
            <a:ext cx="9866376" cy="0"/>
          </a:xfrm>
          <a:prstGeom prst="line">
            <a:avLst/>
          </a:prstGeom>
          <a:noFill/>
          <a:ln w="25400">
            <a:solidFill>
              <a:srgbClr val="9AA7AD"/>
            </a:solidFill>
            <a:prstDash val="solid"/>
          </a:ln>
        </p:spPr>
      </p:sp>
      <p:sp>
        <p:nvSpPr>
          <p:cNvPr id="23" name="Shape 21"/>
          <p:cNvSpPr/>
          <p:nvPr/>
        </p:nvSpPr>
        <p:spPr>
          <a:xfrm>
            <a:off x="1106424" y="4837176"/>
            <a:ext cx="109728" cy="109728"/>
          </a:xfrm>
          <a:prstGeom prst="ellipse">
            <a:avLst/>
          </a:prstGeom>
          <a:solidFill>
            <a:srgbClr val="0E7C86"/>
          </a:solidFill>
          <a:ln/>
        </p:spPr>
      </p:sp>
      <p:sp>
        <p:nvSpPr>
          <p:cNvPr id="24" name="Text 22"/>
          <p:cNvSpPr/>
          <p:nvPr/>
        </p:nvSpPr>
        <p:spPr>
          <a:xfrm>
            <a:off x="612648"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Screen</a:t>
            </a:r>
            <a:endParaRPr lang="en-US" sz="900" dirty="0"/>
          </a:p>
        </p:txBody>
      </p:sp>
      <p:sp>
        <p:nvSpPr>
          <p:cNvPr id="25" name="Shape 23"/>
          <p:cNvSpPr/>
          <p:nvPr/>
        </p:nvSpPr>
        <p:spPr>
          <a:xfrm>
            <a:off x="2339721" y="4837176"/>
            <a:ext cx="109728" cy="109728"/>
          </a:xfrm>
          <a:prstGeom prst="ellipse">
            <a:avLst/>
          </a:prstGeom>
          <a:solidFill>
            <a:srgbClr val="0E7C86"/>
          </a:solidFill>
          <a:ln/>
        </p:spPr>
      </p:sp>
      <p:sp>
        <p:nvSpPr>
          <p:cNvPr id="26" name="Text 24"/>
          <p:cNvSpPr/>
          <p:nvPr/>
        </p:nvSpPr>
        <p:spPr>
          <a:xfrm>
            <a:off x="1845945"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Baseline</a:t>
            </a:r>
            <a:endParaRPr lang="en-US" sz="900" dirty="0"/>
          </a:p>
        </p:txBody>
      </p:sp>
      <p:sp>
        <p:nvSpPr>
          <p:cNvPr id="27" name="Shape 25"/>
          <p:cNvSpPr/>
          <p:nvPr/>
        </p:nvSpPr>
        <p:spPr>
          <a:xfrm>
            <a:off x="3573018" y="4837176"/>
            <a:ext cx="109728" cy="109728"/>
          </a:xfrm>
          <a:prstGeom prst="ellipse">
            <a:avLst/>
          </a:prstGeom>
          <a:solidFill>
            <a:srgbClr val="0E7C86"/>
          </a:solidFill>
          <a:ln/>
        </p:spPr>
      </p:sp>
      <p:sp>
        <p:nvSpPr>
          <p:cNvPr id="28" name="Text 26"/>
          <p:cNvSpPr/>
          <p:nvPr/>
        </p:nvSpPr>
        <p:spPr>
          <a:xfrm>
            <a:off x="3079242"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M1</a:t>
            </a:r>
            <a:endParaRPr lang="en-US" sz="900" dirty="0"/>
          </a:p>
        </p:txBody>
      </p:sp>
      <p:sp>
        <p:nvSpPr>
          <p:cNvPr id="29" name="Shape 27"/>
          <p:cNvSpPr/>
          <p:nvPr/>
        </p:nvSpPr>
        <p:spPr>
          <a:xfrm>
            <a:off x="4806315" y="4837176"/>
            <a:ext cx="109728" cy="109728"/>
          </a:xfrm>
          <a:prstGeom prst="ellipse">
            <a:avLst/>
          </a:prstGeom>
          <a:solidFill>
            <a:srgbClr val="0E7C86"/>
          </a:solidFill>
          <a:ln/>
        </p:spPr>
      </p:sp>
      <p:sp>
        <p:nvSpPr>
          <p:cNvPr id="30" name="Text 28"/>
          <p:cNvSpPr/>
          <p:nvPr/>
        </p:nvSpPr>
        <p:spPr>
          <a:xfrm>
            <a:off x="4312539"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M3</a:t>
            </a:r>
            <a:endParaRPr lang="en-US" sz="900" dirty="0"/>
          </a:p>
        </p:txBody>
      </p:sp>
      <p:sp>
        <p:nvSpPr>
          <p:cNvPr id="31" name="Shape 29"/>
          <p:cNvSpPr/>
          <p:nvPr/>
        </p:nvSpPr>
        <p:spPr>
          <a:xfrm>
            <a:off x="6039612" y="4837176"/>
            <a:ext cx="109728" cy="109728"/>
          </a:xfrm>
          <a:prstGeom prst="ellipse">
            <a:avLst/>
          </a:prstGeom>
          <a:solidFill>
            <a:srgbClr val="0E7C86"/>
          </a:solidFill>
          <a:ln/>
        </p:spPr>
      </p:sp>
      <p:sp>
        <p:nvSpPr>
          <p:cNvPr id="32" name="Text 30"/>
          <p:cNvSpPr/>
          <p:nvPr/>
        </p:nvSpPr>
        <p:spPr>
          <a:xfrm>
            <a:off x="5545836"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M6</a:t>
            </a:r>
            <a:endParaRPr lang="en-US" sz="900" dirty="0"/>
          </a:p>
        </p:txBody>
      </p:sp>
      <p:sp>
        <p:nvSpPr>
          <p:cNvPr id="33" name="Shape 31"/>
          <p:cNvSpPr/>
          <p:nvPr/>
        </p:nvSpPr>
        <p:spPr>
          <a:xfrm>
            <a:off x="7272909" y="4837176"/>
            <a:ext cx="109728" cy="109728"/>
          </a:xfrm>
          <a:prstGeom prst="ellipse">
            <a:avLst/>
          </a:prstGeom>
          <a:solidFill>
            <a:srgbClr val="0E7C86"/>
          </a:solidFill>
          <a:ln/>
        </p:spPr>
      </p:sp>
      <p:sp>
        <p:nvSpPr>
          <p:cNvPr id="34" name="Text 32"/>
          <p:cNvSpPr/>
          <p:nvPr/>
        </p:nvSpPr>
        <p:spPr>
          <a:xfrm>
            <a:off x="6779133"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M12</a:t>
            </a:r>
            <a:endParaRPr lang="en-US" sz="900" dirty="0"/>
          </a:p>
        </p:txBody>
      </p:sp>
      <p:sp>
        <p:nvSpPr>
          <p:cNvPr id="35" name="Shape 33"/>
          <p:cNvSpPr/>
          <p:nvPr/>
        </p:nvSpPr>
        <p:spPr>
          <a:xfrm>
            <a:off x="8506206" y="4837176"/>
            <a:ext cx="109728" cy="109728"/>
          </a:xfrm>
          <a:prstGeom prst="ellipse">
            <a:avLst/>
          </a:prstGeom>
          <a:solidFill>
            <a:srgbClr val="0E7C86"/>
          </a:solidFill>
          <a:ln/>
        </p:spPr>
      </p:sp>
      <p:sp>
        <p:nvSpPr>
          <p:cNvPr id="36" name="Text 34"/>
          <p:cNvSpPr/>
          <p:nvPr/>
        </p:nvSpPr>
        <p:spPr>
          <a:xfrm>
            <a:off x="8012430" y="5001768"/>
            <a:ext cx="1097280" cy="402336"/>
          </a:xfrm>
          <a:prstGeom prst="rect">
            <a:avLst/>
          </a:prstGeom>
          <a:noFill/>
          <a:ln/>
        </p:spPr>
        <p:txBody>
          <a:bodyPr wrap="square" lIns="0" tIns="0" rIns="0" bIns="0" rtlCol="0" anchor="t"/>
          <a:lstStyle/>
          <a:p>
            <a:pPr algn="ctr" indent="0" marL="0">
              <a:lnSpc>
                <a:spcPct val="90000"/>
              </a:lnSpc>
              <a:buNone/>
            </a:pPr>
            <a:r>
              <a:rPr lang="en-US" sz="900" dirty="0">
                <a:solidFill>
                  <a:srgbClr val="1B2A2E"/>
                </a:solidFill>
                <a:latin typeface="Calibri" pitchFamily="34" charset="0"/>
                <a:ea typeface="Calibri" pitchFamily="34" charset="-122"/>
                <a:cs typeface="Calibri" pitchFamily="34" charset="-120"/>
              </a:rPr>
              <a:t>then q4 mo</a:t>
            </a:r>
            <a:endParaRPr lang="en-US" sz="900" dirty="0"/>
          </a:p>
        </p:txBody>
      </p:sp>
      <p:sp>
        <p:nvSpPr>
          <p:cNvPr id="37" name="Shape 35"/>
          <p:cNvSpPr/>
          <p:nvPr/>
        </p:nvSpPr>
        <p:spPr>
          <a:xfrm>
            <a:off x="9739503" y="4837176"/>
            <a:ext cx="109728" cy="109728"/>
          </a:xfrm>
          <a:prstGeom prst="ellipse">
            <a:avLst/>
          </a:prstGeom>
          <a:solidFill>
            <a:srgbClr val="E08A2E"/>
          </a:solidFill>
          <a:ln/>
        </p:spPr>
      </p:sp>
      <p:sp>
        <p:nvSpPr>
          <p:cNvPr id="38" name="Text 36"/>
          <p:cNvSpPr/>
          <p:nvPr/>
        </p:nvSpPr>
        <p:spPr>
          <a:xfrm>
            <a:off x="9245727" y="5001768"/>
            <a:ext cx="1097280" cy="402336"/>
          </a:xfrm>
          <a:prstGeom prst="rect">
            <a:avLst/>
          </a:prstGeom>
          <a:noFill/>
          <a:ln/>
        </p:spPr>
        <p:txBody>
          <a:bodyPr wrap="square" lIns="0" tIns="0" rIns="0" bIns="0" rtlCol="0" anchor="t"/>
          <a:lstStyle/>
          <a:p>
            <a:pPr algn="ctr" indent="0" marL="0">
              <a:lnSpc>
                <a:spcPct val="90000"/>
              </a:lnSpc>
              <a:buNone/>
            </a:pPr>
            <a:r>
              <a:rPr lang="en-US" sz="900" b="1" dirty="0">
                <a:solidFill>
                  <a:srgbClr val="1B2A2E"/>
                </a:solidFill>
                <a:latin typeface="Calibri" pitchFamily="34" charset="0"/>
                <a:ea typeface="Calibri" pitchFamily="34" charset="-122"/>
                <a:cs typeface="Calibri" pitchFamily="34" charset="-120"/>
              </a:rPr>
              <a:t>≥ M32 EOT</a:t>
            </a:r>
            <a:endParaRPr lang="en-US" sz="900" dirty="0"/>
          </a:p>
        </p:txBody>
      </p:sp>
      <p:sp>
        <p:nvSpPr>
          <p:cNvPr id="39" name="Shape 37"/>
          <p:cNvSpPr/>
          <p:nvPr/>
        </p:nvSpPr>
        <p:spPr>
          <a:xfrm>
            <a:off x="10972800" y="4837176"/>
            <a:ext cx="109728" cy="109728"/>
          </a:xfrm>
          <a:prstGeom prst="ellipse">
            <a:avLst/>
          </a:prstGeom>
          <a:solidFill>
            <a:srgbClr val="E08A2E"/>
          </a:solidFill>
          <a:ln/>
        </p:spPr>
      </p:sp>
      <p:sp>
        <p:nvSpPr>
          <p:cNvPr id="40" name="Text 38"/>
          <p:cNvSpPr/>
          <p:nvPr/>
        </p:nvSpPr>
        <p:spPr>
          <a:xfrm>
            <a:off x="10479024" y="5001768"/>
            <a:ext cx="1097280" cy="402336"/>
          </a:xfrm>
          <a:prstGeom prst="rect">
            <a:avLst/>
          </a:prstGeom>
          <a:noFill/>
          <a:ln/>
        </p:spPr>
        <p:txBody>
          <a:bodyPr wrap="square" lIns="0" tIns="0" rIns="0" bIns="0" rtlCol="0" anchor="t"/>
          <a:lstStyle/>
          <a:p>
            <a:pPr algn="ctr" indent="0" marL="0">
              <a:lnSpc>
                <a:spcPct val="90000"/>
              </a:lnSpc>
              <a:buNone/>
            </a:pPr>
            <a:r>
              <a:rPr lang="en-US" sz="900" b="1" dirty="0">
                <a:solidFill>
                  <a:srgbClr val="1B2A2E"/>
                </a:solidFill>
                <a:latin typeface="Calibri" pitchFamily="34" charset="0"/>
                <a:ea typeface="Calibri" pitchFamily="34" charset="-122"/>
                <a:cs typeface="Calibri" pitchFamily="34" charset="-120"/>
              </a:rPr>
              <a:t>+4 wk off</a:t>
            </a:r>
            <a:endParaRPr lang="en-US" sz="900" dirty="0"/>
          </a:p>
        </p:txBody>
      </p:sp>
      <p:sp>
        <p:nvSpPr>
          <p:cNvPr id="41" name="Text 39"/>
          <p:cNvSpPr/>
          <p:nvPr/>
        </p:nvSpPr>
        <p:spPr>
          <a:xfrm>
            <a:off x="822960" y="5486400"/>
            <a:ext cx="10597896" cy="310896"/>
          </a:xfrm>
          <a:prstGeom prst="rect">
            <a:avLst/>
          </a:prstGeom>
          <a:noFill/>
          <a:ln/>
        </p:spPr>
        <p:txBody>
          <a:bodyPr wrap="square" lIns="0" tIns="0" rIns="0" bIns="0" rtlCol="0" anchor="ctr"/>
          <a:lstStyle/>
          <a:p>
            <a:pPr indent="0" marL="0">
              <a:buNone/>
            </a:pPr>
            <a:r>
              <a:rPr lang="en-US" sz="1050" i="1" dirty="0">
                <a:solidFill>
                  <a:srgbClr val="5C6B70"/>
                </a:solidFill>
                <a:latin typeface="Calibri" pitchFamily="34" charset="0"/>
                <a:ea typeface="Calibri" pitchFamily="34" charset="-122"/>
                <a:cs typeface="Calibri" pitchFamily="34" charset="-120"/>
              </a:rPr>
              <a:t>An off-treatment visit 4 weeks after stopping isolated the reversible (hemodynamic) component of the eGFR effect.</a:t>
            </a:r>
            <a:endParaRPr lang="en-US" sz="1050" dirty="0"/>
          </a:p>
        </p:txBody>
      </p:sp>
      <p:sp>
        <p:nvSpPr>
          <p:cNvPr id="43" name="Text 40"/>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44" name="Text 41"/>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Endpoints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OUTCOMES</a:t>
            </a:r>
            <a:endParaRPr lang="en-US" sz="1150" dirty="0"/>
          </a:p>
        </p:txBody>
      </p:sp>
      <p:sp>
        <p:nvSpPr>
          <p:cNvPr id="4" name="Shape 2"/>
          <p:cNvSpPr/>
          <p:nvPr/>
        </p:nvSpPr>
        <p:spPr>
          <a:xfrm>
            <a:off x="566928" y="1280160"/>
            <a:ext cx="4663440" cy="1965960"/>
          </a:xfrm>
          <a:prstGeom prst="roundRect">
            <a:avLst>
              <a:gd name="adj" fmla="val 4186"/>
            </a:avLst>
          </a:prstGeom>
          <a:solidFill>
            <a:srgbClr val="0E7C86"/>
          </a:solidFill>
          <a:ln/>
          <a:effectLst>
            <a:outerShdw sx="100000" sy="100000" kx="0" ky="0" algn="bl" rotWithShape="0" blurRad="88900" dist="25400" dir="5400000">
              <a:srgbClr val="9BB0B0">
                <a:alpha val="28000"/>
              </a:srgbClr>
            </a:outerShdw>
          </a:effectLst>
        </p:spPr>
      </p:sp>
      <p:sp>
        <p:nvSpPr>
          <p:cNvPr id="5" name="Text 3"/>
          <p:cNvSpPr/>
          <p:nvPr/>
        </p:nvSpPr>
        <p:spPr>
          <a:xfrm>
            <a:off x="822960" y="1444752"/>
            <a:ext cx="4114800" cy="256032"/>
          </a:xfrm>
          <a:prstGeom prst="rect">
            <a:avLst/>
          </a:prstGeom>
          <a:noFill/>
          <a:ln/>
        </p:spPr>
        <p:txBody>
          <a:bodyPr wrap="square" lIns="0" tIns="0" rIns="0" bIns="0" rtlCol="0" anchor="ctr"/>
          <a:lstStyle/>
          <a:p>
            <a:pPr indent="0" marL="0">
              <a:buNone/>
            </a:pPr>
            <a:r>
              <a:rPr lang="en-US" sz="1200" b="1" spc="200" kern="0" dirty="0">
                <a:solidFill>
                  <a:srgbClr val="CDECEC"/>
                </a:solidFill>
                <a:latin typeface="Calibri" pitchFamily="34" charset="0"/>
                <a:ea typeface="Calibri" pitchFamily="34" charset="-122"/>
                <a:cs typeface="Calibri" pitchFamily="34" charset="-120"/>
              </a:rPr>
              <a:t>PRIMARY</a:t>
            </a:r>
            <a:endParaRPr lang="en-US" sz="1200" dirty="0"/>
          </a:p>
        </p:txBody>
      </p:sp>
      <p:sp>
        <p:nvSpPr>
          <p:cNvPr id="6" name="Text 4"/>
          <p:cNvSpPr/>
          <p:nvPr/>
        </p:nvSpPr>
        <p:spPr>
          <a:xfrm>
            <a:off x="822960" y="1700784"/>
            <a:ext cx="420624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Total eGFR slope</a:t>
            </a:r>
            <a:endParaRPr lang="en-US" sz="2300" dirty="0"/>
          </a:p>
        </p:txBody>
      </p:sp>
      <p:sp>
        <p:nvSpPr>
          <p:cNvPr id="7" name="Text 5"/>
          <p:cNvSpPr/>
          <p:nvPr/>
        </p:nvSpPr>
        <p:spPr>
          <a:xfrm>
            <a:off x="822960" y="2212848"/>
            <a:ext cx="4206240" cy="914400"/>
          </a:xfrm>
          <a:prstGeom prst="rect">
            <a:avLst/>
          </a:prstGeom>
          <a:noFill/>
          <a:ln/>
        </p:spPr>
        <p:txBody>
          <a:bodyPr wrap="square" lIns="0" tIns="0" rIns="0" bIns="0" rtlCol="0" anchor="ctr"/>
          <a:lstStyle/>
          <a:p>
            <a:pPr indent="0" marL="0">
              <a:lnSpc>
                <a:spcPct val="105000"/>
              </a:lnSpc>
              <a:buNone/>
            </a:pPr>
            <a:r>
              <a:rPr lang="en-US" sz="1250" dirty="0">
                <a:solidFill>
                  <a:srgbClr val="E7F4F4"/>
                </a:solidFill>
                <a:latin typeface="Calibri" pitchFamily="34" charset="0"/>
                <a:ea typeface="Calibri" pitchFamily="34" charset="-122"/>
                <a:cs typeface="Calibri" pitchFamily="34" charset="-120"/>
              </a:rPr>
              <a:t>Mean annual rate of change in eGFR from baseline to month 32, via a two-slope linear spline mixed model.</a:t>
            </a:r>
            <a:endParaRPr lang="en-US" sz="1250" dirty="0"/>
          </a:p>
        </p:txBody>
      </p:sp>
      <p:sp>
        <p:nvSpPr>
          <p:cNvPr id="8" name="Shape 6"/>
          <p:cNvSpPr/>
          <p:nvPr/>
        </p:nvSpPr>
        <p:spPr>
          <a:xfrm>
            <a:off x="5458968" y="1280160"/>
            <a:ext cx="6163056" cy="1965960"/>
          </a:xfrm>
          <a:prstGeom prst="roundRect">
            <a:avLst>
              <a:gd name="adj" fmla="val 4186"/>
            </a:avLst>
          </a:prstGeom>
          <a:solidFill>
            <a:srgbClr val="F1F6F6"/>
          </a:solidFill>
          <a:ln/>
          <a:effectLst>
            <a:outerShdw sx="100000" sy="100000" kx="0" ky="0" algn="bl" rotWithShape="0" blurRad="88900" dist="25400" dir="5400000">
              <a:srgbClr val="9BB0B0">
                <a:alpha val="28000"/>
              </a:srgbClr>
            </a:outerShdw>
          </a:effectLst>
        </p:spPr>
      </p:sp>
      <p:sp>
        <p:nvSpPr>
          <p:cNvPr id="9" name="Text 7"/>
          <p:cNvSpPr/>
          <p:nvPr/>
        </p:nvSpPr>
        <p:spPr>
          <a:xfrm>
            <a:off x="5687568" y="1444752"/>
            <a:ext cx="5486400" cy="256032"/>
          </a:xfrm>
          <a:prstGeom prst="rect">
            <a:avLst/>
          </a:prstGeom>
          <a:noFill/>
          <a:ln/>
        </p:spPr>
        <p:txBody>
          <a:bodyPr wrap="square" lIns="0" tIns="0" rIns="0" bIns="0" rtlCol="0" anchor="ctr"/>
          <a:lstStyle/>
          <a:p>
            <a:pPr indent="0" marL="0">
              <a:buNone/>
            </a:pPr>
            <a:r>
              <a:rPr lang="en-US" sz="1150" b="1" spc="100" kern="0" dirty="0">
                <a:solidFill>
                  <a:srgbClr val="0E7C86"/>
                </a:solidFill>
                <a:latin typeface="Calibri" pitchFamily="34" charset="0"/>
                <a:ea typeface="Calibri" pitchFamily="34" charset="-122"/>
                <a:cs typeface="Calibri" pitchFamily="34" charset="-120"/>
              </a:rPr>
              <a:t>SECONDARY  ·  pre-specified hierarchical testing</a:t>
            </a:r>
            <a:endParaRPr lang="en-US" sz="1150" dirty="0"/>
          </a:p>
        </p:txBody>
      </p:sp>
      <p:sp>
        <p:nvSpPr>
          <p:cNvPr id="10" name="Text 8"/>
          <p:cNvSpPr/>
          <p:nvPr/>
        </p:nvSpPr>
        <p:spPr>
          <a:xfrm>
            <a:off x="5687568" y="1755648"/>
            <a:ext cx="5705856" cy="1371600"/>
          </a:xfrm>
          <a:prstGeom prst="rect">
            <a:avLst/>
          </a:prstGeom>
          <a:noFill/>
          <a:ln/>
        </p:spPr>
        <p:txBody>
          <a:bodyPr wrap="square" lIns="0" tIns="0" rIns="0" bIns="0" rtlCol="0" anchor="ctr"/>
          <a:lstStyle/>
          <a:p>
            <a:pPr indent="0" marL="0">
              <a:lnSpc>
                <a:spcPct val="105000"/>
              </a:lnSpc>
              <a:spcAft>
                <a:spcPts val="700"/>
              </a:spcAft>
              <a:buNone/>
            </a:pPr>
            <a:r>
              <a:rPr lang="en-US" sz="1200" dirty="0">
                <a:solidFill>
                  <a:srgbClr val="1B2A2E"/>
                </a:solidFill>
                <a:latin typeface="Calibri" pitchFamily="34" charset="0"/>
                <a:ea typeface="Calibri" pitchFamily="34" charset="-122"/>
                <a:cs typeface="Calibri" pitchFamily="34" charset="-120"/>
              </a:rPr>
              <a:t>1.  Composite kidney–CV: ≥57% eGFR decline, kidney failure, HF hospitalization, or CV death</a:t>
            </a:r>
            <a:endParaRPr lang="en-US" sz="1200" dirty="0"/>
          </a:p>
          <a:p>
            <a:pPr indent="0" marL="0">
              <a:lnSpc>
                <a:spcPct val="105000"/>
              </a:lnSpc>
              <a:spcAft>
                <a:spcPts val="700"/>
              </a:spcAft>
              <a:buNone/>
            </a:pPr>
            <a:r>
              <a:rPr lang="en-US" sz="1200" dirty="0">
                <a:solidFill>
                  <a:srgbClr val="1B2A2E"/>
                </a:solidFill>
                <a:latin typeface="Calibri" pitchFamily="34" charset="0"/>
                <a:ea typeface="Calibri" pitchFamily="34" charset="-122"/>
                <a:cs typeface="Calibri" pitchFamily="34" charset="-120"/>
              </a:rPr>
              <a:t>2.  Composite kidney: ≥57% eGFR decline or kidney failure</a:t>
            </a:r>
            <a:endParaRPr lang="en-US" sz="1200" dirty="0"/>
          </a:p>
          <a:p>
            <a:pPr indent="0" marL="0">
              <a:lnSpc>
                <a:spcPct val="105000"/>
              </a:lnSpc>
              <a:spcAft>
                <a:spcPts val="700"/>
              </a:spcAft>
              <a:buNone/>
            </a:pPr>
            <a:r>
              <a:rPr lang="en-US" sz="1200" dirty="0">
                <a:solidFill>
                  <a:srgbClr val="1B2A2E"/>
                </a:solidFill>
                <a:latin typeface="Calibri" pitchFamily="34" charset="0"/>
                <a:ea typeface="Calibri" pitchFamily="34" charset="-122"/>
                <a:cs typeface="Calibri" pitchFamily="34" charset="-120"/>
              </a:rPr>
              <a:t>3.  Composite CV: HF hospitalization or CV death</a:t>
            </a:r>
            <a:endParaRPr lang="en-US" sz="1200" dirty="0"/>
          </a:p>
        </p:txBody>
      </p:sp>
      <p:sp>
        <p:nvSpPr>
          <p:cNvPr id="11" name="Shape 9"/>
          <p:cNvSpPr/>
          <p:nvPr/>
        </p:nvSpPr>
        <p:spPr>
          <a:xfrm>
            <a:off x="566928" y="3429000"/>
            <a:ext cx="11055096" cy="1234440"/>
          </a:xfrm>
          <a:prstGeom prst="roundRect">
            <a:avLst>
              <a:gd name="adj" fmla="val 6667"/>
            </a:avLst>
          </a:prstGeom>
          <a:solidFill>
            <a:srgbClr val="FFFFFF"/>
          </a:solidFill>
          <a:ln w="12700">
            <a:solidFill>
              <a:srgbClr val="CBD9D9"/>
            </a:solidFill>
            <a:prstDash val="solid"/>
          </a:ln>
          <a:effectLst>
            <a:outerShdw sx="100000" sy="100000" kx="0" ky="0" algn="bl" rotWithShape="0" blurRad="88900" dist="25400" dir="5400000">
              <a:srgbClr val="9BB0B0">
                <a:alpha val="28000"/>
              </a:srgbClr>
            </a:outerShdw>
          </a:effectLst>
        </p:spPr>
      </p:sp>
      <p:sp>
        <p:nvSpPr>
          <p:cNvPr id="12" name="Text 10"/>
          <p:cNvSpPr/>
          <p:nvPr/>
        </p:nvSpPr>
        <p:spPr>
          <a:xfrm>
            <a:off x="822960" y="3566160"/>
            <a:ext cx="7315200" cy="274320"/>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How the hard endpoints were defined</a:t>
            </a:r>
            <a:endParaRPr lang="en-US" sz="1250" dirty="0"/>
          </a:p>
        </p:txBody>
      </p:sp>
      <p:sp>
        <p:nvSpPr>
          <p:cNvPr id="13" name="Text 11"/>
          <p:cNvSpPr/>
          <p:nvPr/>
        </p:nvSpPr>
        <p:spPr>
          <a:xfrm>
            <a:off x="822960" y="3886200"/>
            <a:ext cx="10597896" cy="685800"/>
          </a:xfrm>
          <a:prstGeom prst="rect">
            <a:avLst/>
          </a:prstGeom>
          <a:noFill/>
          <a:ln/>
        </p:spPr>
        <p:txBody>
          <a:bodyPr wrap="square" lIns="0" tIns="0" rIns="0" bIns="0" rtlCol="0" anchor="t"/>
          <a:lstStyle/>
          <a:p>
            <a:pPr indent="0" marL="0">
              <a:lnSpc>
                <a:spcPct val="110000"/>
              </a:lnSpc>
              <a:buNone/>
            </a:pPr>
            <a:r>
              <a:rPr lang="en-US" sz="1200" b="1" dirty="0">
                <a:solidFill>
                  <a:srgbClr val="0E7C86"/>
                </a:solidFill>
                <a:latin typeface="Calibri" pitchFamily="34" charset="0"/>
                <a:ea typeface="Calibri" pitchFamily="34" charset="-122"/>
                <a:cs typeface="Calibri" pitchFamily="34" charset="-120"/>
              </a:rPr>
              <a:t>Kidney failure:  </a:t>
            </a:r>
            <a:pPr indent="0" marL="0">
              <a:lnSpc>
                <a:spcPct val="110000"/>
              </a:lnSpc>
              <a:buNone/>
            </a:pPr>
            <a:r>
              <a:rPr lang="en-US" sz="1200" dirty="0">
                <a:solidFill>
                  <a:srgbClr val="1B2A2E"/>
                </a:solidFill>
                <a:latin typeface="Calibri" pitchFamily="34" charset="0"/>
                <a:ea typeface="Calibri" pitchFamily="34" charset="-122"/>
                <a:cs typeface="Calibri" pitchFamily="34" charset="-120"/>
              </a:rPr>
              <a:t>confirmed eGFR &lt;15, chronic dialysis ≥30 days, or transplant.    </a:t>
            </a:r>
            <a:pPr indent="0" marL="0">
              <a:lnSpc>
                <a:spcPct val="110000"/>
              </a:lnSpc>
              <a:buNone/>
            </a:pPr>
            <a:r>
              <a:rPr lang="en-US" sz="1200" b="1" dirty="0">
                <a:solidFill>
                  <a:srgbClr val="0E7C86"/>
                </a:solidFill>
                <a:latin typeface="Calibri" pitchFamily="34" charset="0"/>
                <a:ea typeface="Calibri" pitchFamily="34" charset="-122"/>
                <a:cs typeface="Calibri" pitchFamily="34" charset="-120"/>
              </a:rPr>
              <a:t>Sustained decline:  </a:t>
            </a:r>
            <a:pPr indent="0" marL="0">
              <a:lnSpc>
                <a:spcPct val="110000"/>
              </a:lnSpc>
              <a:buNone/>
            </a:pPr>
            <a:r>
              <a:rPr lang="en-US" sz="1200" dirty="0">
                <a:solidFill>
                  <a:srgbClr val="1B2A2E"/>
                </a:solidFill>
                <a:latin typeface="Calibri" pitchFamily="34" charset="0"/>
                <a:ea typeface="Calibri" pitchFamily="34" charset="-122"/>
                <a:cs typeface="Calibri" pitchFamily="34" charset="-120"/>
              </a:rPr>
              <a:t>a drop from baseline held for ≥4 weeks.</a:t>
            </a:r>
            <a:endParaRPr lang="en-US" sz="1200" dirty="0"/>
          </a:p>
        </p:txBody>
      </p:sp>
      <p:sp>
        <p:nvSpPr>
          <p:cNvPr id="14" name="Shape 12"/>
          <p:cNvSpPr/>
          <p:nvPr/>
        </p:nvSpPr>
        <p:spPr>
          <a:xfrm>
            <a:off x="566928" y="4846320"/>
            <a:ext cx="11055096" cy="1188720"/>
          </a:xfrm>
          <a:prstGeom prst="roundRect">
            <a:avLst>
              <a:gd name="adj" fmla="val 6923"/>
            </a:avLst>
          </a:prstGeom>
          <a:solidFill>
            <a:srgbClr val="E4EEEE"/>
          </a:solidFill>
          <a:ln/>
        </p:spPr>
      </p:sp>
      <p:sp>
        <p:nvSpPr>
          <p:cNvPr id="15" name="Text 13"/>
          <p:cNvSpPr/>
          <p:nvPr/>
        </p:nvSpPr>
        <p:spPr>
          <a:xfrm>
            <a:off x="822960" y="4974336"/>
            <a:ext cx="5486400" cy="274320"/>
          </a:xfrm>
          <a:prstGeom prst="rect">
            <a:avLst/>
          </a:prstGeom>
          <a:noFill/>
          <a:ln/>
        </p:spPr>
        <p:txBody>
          <a:bodyPr wrap="square" lIns="0" tIns="0" rIns="0" bIns="0" rtlCol="0" anchor="ctr"/>
          <a:lstStyle/>
          <a:p>
            <a:pPr indent="0" marL="0">
              <a:buNone/>
            </a:pPr>
            <a:r>
              <a:rPr lang="en-US" sz="1200" b="1" dirty="0">
                <a:solidFill>
                  <a:srgbClr val="0B3D46"/>
                </a:solidFill>
                <a:latin typeface="Calibri" pitchFamily="34" charset="0"/>
                <a:ea typeface="Calibri" pitchFamily="34" charset="-122"/>
                <a:cs typeface="Calibri" pitchFamily="34" charset="-120"/>
              </a:rPr>
              <a:t>Exploratory (not part of the hierarchy):</a:t>
            </a:r>
            <a:endParaRPr lang="en-US" sz="1200" dirty="0"/>
          </a:p>
        </p:txBody>
      </p:sp>
      <p:sp>
        <p:nvSpPr>
          <p:cNvPr id="16" name="Text 14"/>
          <p:cNvSpPr/>
          <p:nvPr/>
        </p:nvSpPr>
        <p:spPr>
          <a:xfrm>
            <a:off x="822960" y="5285232"/>
            <a:ext cx="10597896" cy="685800"/>
          </a:xfrm>
          <a:prstGeom prst="rect">
            <a:avLst/>
          </a:prstGeom>
          <a:noFill/>
          <a:ln/>
        </p:spPr>
        <p:txBody>
          <a:bodyPr wrap="square" lIns="0" tIns="0" rIns="0" bIns="0" rtlCol="0" anchor="ctr"/>
          <a:lstStyle/>
          <a:p>
            <a:pPr indent="0" marL="0">
              <a:lnSpc>
                <a:spcPct val="105000"/>
              </a:lnSpc>
              <a:buNone/>
            </a:pPr>
            <a:r>
              <a:rPr lang="en-US" sz="1200" dirty="0">
                <a:solidFill>
                  <a:srgbClr val="1B2A2E"/>
                </a:solidFill>
                <a:latin typeface="Calibri" pitchFamily="34" charset="0"/>
                <a:ea typeface="Calibri" pitchFamily="34" charset="-122"/>
                <a:cs typeface="Calibri" pitchFamily="34" charset="-120"/>
              </a:rPr>
              <a:t>Chronic eGFR slope (month 3 → end of treatment)  ·  acute change (baseline → month 3)  ·  off-treatment eGFR change  ·  UACR change at month 6  ·  ≥40% eGFR-decline composite</a:t>
            </a:r>
            <a:endParaRPr lang="en-US" sz="1200" dirty="0"/>
          </a:p>
        </p:txBody>
      </p:sp>
      <p:sp>
        <p:nvSpPr>
          <p:cNvPr id="18" name="Text 15"/>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19" name="Text 16"/>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Statistical approach &amp; why eGFR slope</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METHODS</a:t>
            </a:r>
            <a:endParaRPr lang="en-US" sz="1150" dirty="0"/>
          </a:p>
        </p:txBody>
      </p:sp>
      <p:sp>
        <p:nvSpPr>
          <p:cNvPr id="4" name="Shape 2"/>
          <p:cNvSpPr/>
          <p:nvPr/>
        </p:nvSpPr>
        <p:spPr>
          <a:xfrm>
            <a:off x="566928" y="1325880"/>
            <a:ext cx="5852160" cy="4572000"/>
          </a:xfrm>
          <a:prstGeom prst="roundRect">
            <a:avLst>
              <a:gd name="adj" fmla="val 1800"/>
            </a:avLst>
          </a:prstGeom>
          <a:solidFill>
            <a:srgbClr val="F1F6F6"/>
          </a:solidFill>
          <a:ln/>
          <a:effectLst>
            <a:outerShdw sx="100000" sy="100000" kx="0" ky="0" algn="bl" rotWithShape="0" blurRad="88900" dist="25400" dir="5400000">
              <a:srgbClr val="9BB0B0">
                <a:alpha val="28000"/>
              </a:srgbClr>
            </a:outerShdw>
          </a:effectLst>
        </p:spPr>
      </p:sp>
      <p:sp>
        <p:nvSpPr>
          <p:cNvPr id="5" name="Text 3"/>
          <p:cNvSpPr/>
          <p:nvPr/>
        </p:nvSpPr>
        <p:spPr>
          <a:xfrm>
            <a:off x="822960" y="1481328"/>
            <a:ext cx="5486400" cy="292608"/>
          </a:xfrm>
          <a:prstGeom prst="rect">
            <a:avLst/>
          </a:prstGeom>
          <a:noFill/>
          <a:ln/>
        </p:spPr>
        <p:txBody>
          <a:bodyPr wrap="square" lIns="0" tIns="0" rIns="0" bIns="0" rtlCol="0" anchor="ctr"/>
          <a:lstStyle/>
          <a:p>
            <a:pPr indent="0" marL="0">
              <a:buNone/>
            </a:pPr>
            <a:r>
              <a:rPr lang="en-US" sz="1450" b="1" dirty="0">
                <a:solidFill>
                  <a:srgbClr val="0B3D46"/>
                </a:solidFill>
                <a:latin typeface="Calibri" pitchFamily="34" charset="0"/>
                <a:ea typeface="Calibri" pitchFamily="34" charset="-122"/>
                <a:cs typeface="Calibri" pitchFamily="34" charset="-120"/>
              </a:rPr>
              <a:t>The primary model</a:t>
            </a:r>
            <a:endParaRPr lang="en-US" sz="1450" dirty="0"/>
          </a:p>
        </p:txBody>
      </p:sp>
      <p:sp>
        <p:nvSpPr>
          <p:cNvPr id="6" name="Text 4"/>
          <p:cNvSpPr/>
          <p:nvPr/>
        </p:nvSpPr>
        <p:spPr>
          <a:xfrm>
            <a:off x="822960" y="1874520"/>
            <a:ext cx="5486400" cy="3840480"/>
          </a:xfrm>
          <a:prstGeom prst="rect">
            <a:avLst/>
          </a:prstGeom>
          <a:noFill/>
          <a:ln/>
        </p:spPr>
        <p:txBody>
          <a:bodyPr wrap="square" lIns="0" tIns="0" rIns="0" bIns="0" rtlCol="0" anchor="ctr"/>
          <a:lstStyle/>
          <a:p>
            <a:pPr indent="0" marL="0">
              <a:lnSpc>
                <a:spcPct val="112000"/>
              </a:lnSpc>
              <a:buNone/>
            </a:pPr>
            <a:r>
              <a:rPr lang="en-US" sz="1250" b="1" dirty="0">
                <a:solidFill>
                  <a:srgbClr val="1B2A2E"/>
                </a:solidFill>
                <a:latin typeface="Calibri" pitchFamily="34" charset="0"/>
                <a:ea typeface="Calibri" pitchFamily="34" charset="-122"/>
                <a:cs typeface="Calibri" pitchFamily="34" charset="-120"/>
              </a:rPr>
              <a:t>Two-slope linear spline mixed-effects model</a:t>
            </a:r>
            <a:endParaRPr lang="en-US" sz="1250" dirty="0"/>
          </a:p>
          <a:p>
            <a:pPr indent="0" marL="0">
              <a:lnSpc>
                <a:spcPct val="112000"/>
              </a:lnSpc>
              <a:buNone/>
            </a:pPr>
            <a:r>
              <a:rPr lang="en-US" sz="1250" dirty="0">
                <a:solidFill>
                  <a:srgbClr val="1B2A2E"/>
                </a:solidFill>
                <a:latin typeface="Calibri" pitchFamily="34" charset="0"/>
                <a:ea typeface="Calibri" pitchFamily="34" charset="-122"/>
                <a:cs typeface="Calibri" pitchFamily="34" charset="-120"/>
              </a:rPr>
              <a:t>Fixed change point at month 3 splits the early hemodynamic effect from the chronic slope.</a:t>
            </a:r>
            <a:endParaRPr lang="en-US" sz="1250" dirty="0"/>
          </a:p>
          <a:p>
            <a:pPr indent="0" marL="0">
              <a:lnSpc>
                <a:spcPct val="112000"/>
              </a:lnSpc>
              <a:buNone/>
            </a:pPr>
            <a:endParaRPr lang="en-US" sz="1250" dirty="0"/>
          </a:p>
          <a:p>
            <a:pPr indent="0" marL="0">
              <a:lnSpc>
                <a:spcPct val="112000"/>
              </a:lnSpc>
              <a:buNone/>
            </a:pPr>
            <a:r>
              <a:rPr lang="en-US" sz="1250" b="1" dirty="0">
                <a:solidFill>
                  <a:srgbClr val="1B2A2E"/>
                </a:solidFill>
                <a:latin typeface="Calibri" pitchFamily="34" charset="0"/>
                <a:ea typeface="Calibri" pitchFamily="34" charset="-122"/>
                <a:cs typeface="Calibri" pitchFamily="34" charset="-120"/>
              </a:rPr>
              <a:t>Treatment-policy estimand</a:t>
            </a:r>
            <a:endParaRPr lang="en-US" sz="1250" dirty="0"/>
          </a:p>
          <a:p>
            <a:pPr indent="0" marL="0">
              <a:lnSpc>
                <a:spcPct val="112000"/>
              </a:lnSpc>
              <a:buNone/>
            </a:pPr>
            <a:r>
              <a:rPr lang="en-US" sz="1250" dirty="0">
                <a:solidFill>
                  <a:srgbClr val="1B2A2E"/>
                </a:solidFill>
                <a:latin typeface="Calibri" pitchFamily="34" charset="0"/>
                <a:ea typeface="Calibri" pitchFamily="34" charset="-122"/>
                <a:cs typeface="Calibri" pitchFamily="34" charset="-120"/>
              </a:rPr>
              <a:t>eGFR collected after stopping the regimen still counts; intercurrent events (dialysis, transplant, death) handled by multiple imputation from an unfavorable-value pool.</a:t>
            </a:r>
            <a:endParaRPr lang="en-US" sz="1250" dirty="0"/>
          </a:p>
          <a:p>
            <a:pPr indent="0" marL="0">
              <a:lnSpc>
                <a:spcPct val="112000"/>
              </a:lnSpc>
              <a:buNone/>
            </a:pPr>
            <a:endParaRPr lang="en-US" sz="1250" dirty="0"/>
          </a:p>
          <a:p>
            <a:pPr indent="0" marL="0">
              <a:lnSpc>
                <a:spcPct val="112000"/>
              </a:lnSpc>
              <a:buNone/>
            </a:pPr>
            <a:r>
              <a:rPr lang="en-US" sz="1250" b="1" dirty="0">
                <a:solidFill>
                  <a:srgbClr val="1B2A2E"/>
                </a:solidFill>
                <a:latin typeface="Calibri" pitchFamily="34" charset="0"/>
                <a:ea typeface="Calibri" pitchFamily="34" charset="-122"/>
                <a:cs typeface="Calibri" pitchFamily="34" charset="-120"/>
              </a:rPr>
              <a:t>Robustness</a:t>
            </a:r>
            <a:endParaRPr lang="en-US" sz="1250" dirty="0"/>
          </a:p>
          <a:p>
            <a:pPr indent="0" marL="0">
              <a:lnSpc>
                <a:spcPct val="112000"/>
              </a:lnSpc>
              <a:buNone/>
            </a:pPr>
            <a:r>
              <a:rPr lang="en-US" sz="1250" dirty="0">
                <a:solidFill>
                  <a:srgbClr val="1B2A2E"/>
                </a:solidFill>
                <a:latin typeface="Calibri" pitchFamily="34" charset="0"/>
                <a:ea typeface="Calibri" pitchFamily="34" charset="-122"/>
                <a:cs typeface="Calibri" pitchFamily="34" charset="-120"/>
              </a:rPr>
              <a:t>Confirmed with cystatin C–based eGFR, a shared-parameter model, tipping-point and multiple-imputation sensitivity analyses.</a:t>
            </a:r>
            <a:endParaRPr lang="en-US" sz="1250" dirty="0"/>
          </a:p>
        </p:txBody>
      </p:sp>
      <p:sp>
        <p:nvSpPr>
          <p:cNvPr id="7" name="Shape 5"/>
          <p:cNvSpPr/>
          <p:nvPr/>
        </p:nvSpPr>
        <p:spPr>
          <a:xfrm>
            <a:off x="6784848" y="1325880"/>
            <a:ext cx="4837176" cy="2148840"/>
          </a:xfrm>
          <a:prstGeom prst="roundRect">
            <a:avLst>
              <a:gd name="adj" fmla="val 3830"/>
            </a:avLst>
          </a:prstGeom>
          <a:solidFill>
            <a:srgbClr val="0B3D46"/>
          </a:solidFill>
          <a:ln/>
          <a:effectLst>
            <a:outerShdw sx="100000" sy="100000" kx="0" ky="0" algn="bl" rotWithShape="0" blurRad="88900" dist="25400" dir="5400000">
              <a:srgbClr val="9BB0B0">
                <a:alpha val="28000"/>
              </a:srgbClr>
            </a:outerShdw>
          </a:effectLst>
        </p:spPr>
      </p:sp>
      <p:sp>
        <p:nvSpPr>
          <p:cNvPr id="8" name="Text 6"/>
          <p:cNvSpPr/>
          <p:nvPr/>
        </p:nvSpPr>
        <p:spPr>
          <a:xfrm>
            <a:off x="7013448" y="1481328"/>
            <a:ext cx="4572000" cy="292608"/>
          </a:xfrm>
          <a:prstGeom prst="rect">
            <a:avLst/>
          </a:prstGeom>
          <a:noFill/>
          <a:ln/>
        </p:spPr>
        <p:txBody>
          <a:bodyPr wrap="square" lIns="0" tIns="0" rIns="0" bIns="0" rtlCol="0" anchor="ctr"/>
          <a:lstStyle/>
          <a:p>
            <a:pPr indent="0" marL="0">
              <a:buNone/>
            </a:pPr>
            <a:r>
              <a:rPr lang="en-US" sz="1350" b="1" dirty="0">
                <a:solidFill>
                  <a:srgbClr val="3AA6A0"/>
                </a:solidFill>
                <a:latin typeface="Calibri" pitchFamily="34" charset="0"/>
                <a:ea typeface="Calibri" pitchFamily="34" charset="-122"/>
                <a:cs typeface="Calibri" pitchFamily="34" charset="-120"/>
              </a:rPr>
              <a:t>Powered for slope, not events</a:t>
            </a:r>
            <a:endParaRPr lang="en-US" sz="1350" dirty="0"/>
          </a:p>
        </p:txBody>
      </p:sp>
      <p:sp>
        <p:nvSpPr>
          <p:cNvPr id="9" name="Text 7"/>
          <p:cNvSpPr/>
          <p:nvPr/>
        </p:nvSpPr>
        <p:spPr>
          <a:xfrm>
            <a:off x="7013448" y="1847088"/>
            <a:ext cx="4572000" cy="54864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1500 </a:t>
            </a:r>
            <a:pPr indent="0" marL="0">
              <a:buNone/>
            </a:pPr>
            <a:r>
              <a:rPr lang="en-US" sz="1300" dirty="0">
                <a:solidFill>
                  <a:srgbClr val="DDECEC"/>
                </a:solidFill>
                <a:latin typeface="Calibri" pitchFamily="34" charset="0"/>
                <a:ea typeface="Calibri" pitchFamily="34" charset="-122"/>
                <a:cs typeface="Calibri" pitchFamily="34" charset="-120"/>
              </a:rPr>
              <a:t>participants gave </a:t>
            </a:r>
            <a:pPr indent="0" marL="0">
              <a:buNone/>
            </a:pPr>
            <a:r>
              <a:rPr lang="en-US" sz="1300" b="1" dirty="0">
                <a:solidFill>
                  <a:srgbClr val="FFFFFF"/>
                </a:solidFill>
                <a:latin typeface="Calibri" pitchFamily="34" charset="0"/>
                <a:ea typeface="Calibri" pitchFamily="34" charset="-122"/>
                <a:cs typeface="Calibri" pitchFamily="34" charset="-120"/>
              </a:rPr>
              <a:t>&gt;90% power</a:t>
            </a:r>
            <a:endParaRPr lang="en-US" sz="3000" dirty="0"/>
          </a:p>
        </p:txBody>
      </p:sp>
      <p:sp>
        <p:nvSpPr>
          <p:cNvPr id="10" name="Text 8"/>
          <p:cNvSpPr/>
          <p:nvPr/>
        </p:nvSpPr>
        <p:spPr>
          <a:xfrm>
            <a:off x="7013448" y="2468880"/>
            <a:ext cx="4379976" cy="822960"/>
          </a:xfrm>
          <a:prstGeom prst="rect">
            <a:avLst/>
          </a:prstGeom>
          <a:noFill/>
          <a:ln/>
        </p:spPr>
        <p:txBody>
          <a:bodyPr wrap="square" lIns="0" tIns="0" rIns="0" bIns="0" rtlCol="0" anchor="ctr"/>
          <a:lstStyle/>
          <a:p>
            <a:pPr indent="0" marL="0">
              <a:lnSpc>
                <a:spcPct val="105000"/>
              </a:lnSpc>
              <a:buNone/>
            </a:pPr>
            <a:r>
              <a:rPr lang="en-US" sz="1200" dirty="0">
                <a:solidFill>
                  <a:srgbClr val="DDECEC"/>
                </a:solidFill>
                <a:latin typeface="Calibri" pitchFamily="34" charset="0"/>
                <a:ea typeface="Calibri" pitchFamily="34" charset="-122"/>
                <a:cs typeface="Calibri" pitchFamily="34" charset="-120"/>
              </a:rPr>
              <a:t>to detect a 0.7 ml/min/1.73 m² per year difference in eGFR slope (two-sided α = 0.05).</a:t>
            </a:r>
            <a:endParaRPr lang="en-US" sz="1200" dirty="0"/>
          </a:p>
        </p:txBody>
      </p:sp>
      <p:sp>
        <p:nvSpPr>
          <p:cNvPr id="11" name="Shape 9"/>
          <p:cNvSpPr/>
          <p:nvPr/>
        </p:nvSpPr>
        <p:spPr>
          <a:xfrm>
            <a:off x="6784848" y="3749040"/>
            <a:ext cx="4837176" cy="2148840"/>
          </a:xfrm>
          <a:prstGeom prst="roundRect">
            <a:avLst>
              <a:gd name="adj" fmla="val 3830"/>
            </a:avLst>
          </a:prstGeom>
          <a:solidFill>
            <a:srgbClr val="E4EEEE"/>
          </a:solidFill>
          <a:ln/>
        </p:spPr>
      </p:sp>
      <p:sp>
        <p:nvSpPr>
          <p:cNvPr id="12" name="Shape 10"/>
          <p:cNvSpPr/>
          <p:nvPr/>
        </p:nvSpPr>
        <p:spPr>
          <a:xfrm>
            <a:off x="7040880" y="3986784"/>
            <a:ext cx="182880" cy="182880"/>
          </a:xfrm>
          <a:prstGeom prst="ellipse">
            <a:avLst/>
          </a:prstGeom>
          <a:solidFill>
            <a:srgbClr val="E08A2E"/>
          </a:solidFill>
          <a:ln/>
        </p:spPr>
      </p:sp>
      <p:sp>
        <p:nvSpPr>
          <p:cNvPr id="13" name="Text 11"/>
          <p:cNvSpPr/>
          <p:nvPr/>
        </p:nvSpPr>
        <p:spPr>
          <a:xfrm>
            <a:off x="7333488" y="3895344"/>
            <a:ext cx="4572000" cy="310896"/>
          </a:xfrm>
          <a:prstGeom prst="rect">
            <a:avLst/>
          </a:prstGeom>
          <a:noFill/>
          <a:ln/>
        </p:spPr>
        <p:txBody>
          <a:bodyPr wrap="square" lIns="0" tIns="0" rIns="0" bIns="0" rtlCol="0" anchor="ctr"/>
          <a:lstStyle/>
          <a:p>
            <a:pPr indent="0" marL="0">
              <a:buNone/>
            </a:pPr>
            <a:r>
              <a:rPr lang="en-US" sz="1350" b="1" dirty="0">
                <a:solidFill>
                  <a:srgbClr val="0B3D46"/>
                </a:solidFill>
                <a:latin typeface="Calibri" pitchFamily="34" charset="0"/>
                <a:ea typeface="Calibri" pitchFamily="34" charset="-122"/>
                <a:cs typeface="Calibri" pitchFamily="34" charset="-120"/>
              </a:rPr>
              <a:t>Is slope a fair surrogate?</a:t>
            </a:r>
            <a:endParaRPr lang="en-US" sz="1350" dirty="0"/>
          </a:p>
        </p:txBody>
      </p:sp>
      <p:sp>
        <p:nvSpPr>
          <p:cNvPr id="14" name="Text 12"/>
          <p:cNvSpPr/>
          <p:nvPr/>
        </p:nvSpPr>
        <p:spPr>
          <a:xfrm>
            <a:off x="7013448" y="4261104"/>
            <a:ext cx="4379976" cy="1554480"/>
          </a:xfrm>
          <a:prstGeom prst="rect">
            <a:avLst/>
          </a:prstGeom>
          <a:noFill/>
          <a:ln/>
        </p:spPr>
        <p:txBody>
          <a:bodyPr wrap="square" lIns="0" tIns="0" rIns="0" bIns="0" rtlCol="0" anchor="ctr"/>
          <a:lstStyle/>
          <a:p>
            <a:pPr indent="0" marL="0">
              <a:lnSpc>
                <a:spcPct val="110000"/>
              </a:lnSpc>
              <a:buNone/>
            </a:pPr>
            <a:r>
              <a:rPr lang="en-US" sz="1200" dirty="0">
                <a:solidFill>
                  <a:srgbClr val="1B2A2E"/>
                </a:solidFill>
                <a:latin typeface="Calibri" pitchFamily="34" charset="0"/>
                <a:ea typeface="Calibri" pitchFamily="34" charset="-122"/>
                <a:cs typeface="Calibri" pitchFamily="34" charset="-120"/>
              </a:rPr>
              <a:t>A meta-analysis of 66 RCTs found that slowing eGFR decline by ~0.75 per year predicts a 23% lower risk of hard kidney outcomes. The slope is accepted, but it is still a surrogate.</a:t>
            </a:r>
            <a:endParaRPr lang="en-US" sz="1200" dirty="0"/>
          </a:p>
        </p:txBody>
      </p:sp>
      <p:sp>
        <p:nvSpPr>
          <p:cNvPr id="16" name="Text 13"/>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17" name="Text 14"/>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Primary result: eGFR change over time</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PRIMARY OUTCOME  ·  FIGURE 1A</a:t>
            </a:r>
            <a:endParaRPr lang="en-US" sz="1150" dirty="0"/>
          </a:p>
        </p:txBody>
      </p:sp>
      <p:graphicFrame>
        <p:nvGraphicFramePr>
          <p:cNvPr id="4" name="Chart 0" descr=""/>
          <p:cNvGraphicFramePr/>
          <p:nvPr/>
        </p:nvGraphicFramePr>
        <p:xfrm>
          <a:off x="566928" y="137160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339328" y="1554480"/>
            <a:ext cx="3282696" cy="1234440"/>
          </a:xfrm>
          <a:prstGeom prst="roundRect">
            <a:avLst>
              <a:gd name="adj" fmla="val 6667"/>
            </a:avLst>
          </a:prstGeom>
          <a:solidFill>
            <a:srgbClr val="F1F6F6"/>
          </a:solidFill>
          <a:ln/>
          <a:effectLst>
            <a:outerShdw sx="100000" sy="100000" kx="0" ky="0" algn="bl" rotWithShape="0" blurRad="88900" dist="25400" dir="5400000">
              <a:srgbClr val="9BB0B0">
                <a:alpha val="28000"/>
              </a:srgbClr>
            </a:outerShdw>
          </a:effectLst>
        </p:spPr>
      </p:sp>
      <p:sp>
        <p:nvSpPr>
          <p:cNvPr id="6" name="Text 3"/>
          <p:cNvSpPr/>
          <p:nvPr/>
        </p:nvSpPr>
        <p:spPr>
          <a:xfrm>
            <a:off x="8540496" y="1682496"/>
            <a:ext cx="2916936" cy="274320"/>
          </a:xfrm>
          <a:prstGeom prst="rect">
            <a:avLst/>
          </a:prstGeom>
          <a:noFill/>
          <a:ln/>
        </p:spPr>
        <p:txBody>
          <a:bodyPr wrap="square" lIns="0" tIns="0" rIns="0" bIns="0" rtlCol="0" anchor="ctr"/>
          <a:lstStyle/>
          <a:p>
            <a:pPr indent="0" marL="0">
              <a:buNone/>
            </a:pPr>
            <a:r>
              <a:rPr lang="en-US" sz="1300" b="1" dirty="0">
                <a:solidFill>
                  <a:srgbClr val="E08A2E"/>
                </a:solidFill>
                <a:latin typeface="Calibri" pitchFamily="34" charset="0"/>
                <a:ea typeface="Calibri" pitchFamily="34" charset="-122"/>
                <a:cs typeface="Calibri" pitchFamily="34" charset="-120"/>
              </a:rPr>
              <a:t>Early crossover</a:t>
            </a:r>
            <a:endParaRPr lang="en-US" sz="1300" dirty="0"/>
          </a:p>
        </p:txBody>
      </p:sp>
      <p:sp>
        <p:nvSpPr>
          <p:cNvPr id="7" name="Text 4"/>
          <p:cNvSpPr/>
          <p:nvPr/>
        </p:nvSpPr>
        <p:spPr>
          <a:xfrm>
            <a:off x="8540496" y="1993392"/>
            <a:ext cx="2898648" cy="777240"/>
          </a:xfrm>
          <a:prstGeom prst="rect">
            <a:avLst/>
          </a:prstGeom>
          <a:noFill/>
          <a:ln/>
        </p:spPr>
        <p:txBody>
          <a:bodyPr wrap="square" lIns="0" tIns="0" rIns="0" bIns="0" rtlCol="0" anchor="ctr"/>
          <a:lstStyle/>
          <a:p>
            <a:pPr indent="0" marL="0">
              <a:lnSpc>
                <a:spcPct val="105000"/>
              </a:lnSpc>
              <a:buNone/>
            </a:pPr>
            <a:r>
              <a:rPr lang="en-US" sz="1150" dirty="0">
                <a:solidFill>
                  <a:srgbClr val="1B2A2E"/>
                </a:solidFill>
                <a:latin typeface="Calibri" pitchFamily="34" charset="0"/>
                <a:ea typeface="Calibri" pitchFamily="34" charset="-122"/>
                <a:cs typeface="Calibri" pitchFamily="34" charset="-120"/>
              </a:rPr>
              <a:t>Finerenone dips faster to month 3 (reversible hemodynamic effect), then declines more slowly and pulls ahead.</a:t>
            </a:r>
            <a:endParaRPr lang="en-US" sz="1150" dirty="0"/>
          </a:p>
        </p:txBody>
      </p:sp>
      <p:sp>
        <p:nvSpPr>
          <p:cNvPr id="8" name="Shape 5"/>
          <p:cNvSpPr/>
          <p:nvPr/>
        </p:nvSpPr>
        <p:spPr>
          <a:xfrm>
            <a:off x="8339328" y="2926080"/>
            <a:ext cx="3282696" cy="1280160"/>
          </a:xfrm>
          <a:prstGeom prst="roundRect">
            <a:avLst>
              <a:gd name="adj" fmla="val 6429"/>
            </a:avLst>
          </a:prstGeom>
          <a:solidFill>
            <a:srgbClr val="F1F6F6"/>
          </a:solidFill>
          <a:ln/>
          <a:effectLst>
            <a:outerShdw sx="100000" sy="100000" kx="0" ky="0" algn="bl" rotWithShape="0" blurRad="88900" dist="25400" dir="5400000">
              <a:srgbClr val="9BB0B0">
                <a:alpha val="28000"/>
              </a:srgbClr>
            </a:outerShdw>
          </a:effectLst>
        </p:spPr>
      </p:sp>
      <p:sp>
        <p:nvSpPr>
          <p:cNvPr id="9" name="Text 6"/>
          <p:cNvSpPr/>
          <p:nvPr/>
        </p:nvSpPr>
        <p:spPr>
          <a:xfrm>
            <a:off x="8540496" y="3054096"/>
            <a:ext cx="2916936" cy="27432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Month 32</a:t>
            </a:r>
            <a:endParaRPr lang="en-US" sz="1300" dirty="0"/>
          </a:p>
        </p:txBody>
      </p:sp>
      <p:sp>
        <p:nvSpPr>
          <p:cNvPr id="10" name="Text 7"/>
          <p:cNvSpPr/>
          <p:nvPr/>
        </p:nvSpPr>
        <p:spPr>
          <a:xfrm>
            <a:off x="8540496" y="3346704"/>
            <a:ext cx="2916936" cy="411480"/>
          </a:xfrm>
          <a:prstGeom prst="rect">
            <a:avLst/>
          </a:prstGeom>
          <a:noFill/>
          <a:ln/>
        </p:spPr>
        <p:txBody>
          <a:bodyPr wrap="square" lIns="0" tIns="0" rIns="0" bIns="0" rtlCol="0" anchor="ctr"/>
          <a:lstStyle/>
          <a:p>
            <a:pPr indent="0" marL="0">
              <a:buNone/>
            </a:pPr>
            <a:r>
              <a:rPr lang="en-US" sz="2000" b="1" dirty="0">
                <a:solidFill>
                  <a:srgbClr val="0E7C86"/>
                </a:solidFill>
                <a:latin typeface="Calibri" pitchFamily="34" charset="0"/>
                <a:ea typeface="Calibri" pitchFamily="34" charset="-122"/>
                <a:cs typeface="Calibri" pitchFamily="34" charset="-120"/>
              </a:rPr>
              <a:t>39.4 </a:t>
            </a:r>
            <a:pPr indent="0" marL="0">
              <a:buNone/>
            </a:pPr>
            <a:r>
              <a:rPr lang="en-US" sz="1300" dirty="0">
                <a:solidFill>
                  <a:srgbClr val="5C6B70"/>
                </a:solidFill>
                <a:latin typeface="Calibri" pitchFamily="34" charset="0"/>
                <a:ea typeface="Calibri" pitchFamily="34" charset="-122"/>
                <a:cs typeface="Calibri" pitchFamily="34" charset="-120"/>
              </a:rPr>
              <a:t>vs </a:t>
            </a:r>
            <a:pPr indent="0" marL="0">
              <a:buNone/>
            </a:pPr>
            <a:r>
              <a:rPr lang="en-US" sz="2000" b="1" dirty="0">
                <a:solidFill>
                  <a:srgbClr val="9AA7AD"/>
                </a:solidFill>
                <a:latin typeface="Calibri" pitchFamily="34" charset="0"/>
                <a:ea typeface="Calibri" pitchFamily="34" charset="-122"/>
                <a:cs typeface="Calibri" pitchFamily="34" charset="-120"/>
              </a:rPr>
              <a:t>38.1</a:t>
            </a:r>
            <a:endParaRPr lang="en-US" sz="2000" dirty="0"/>
          </a:p>
        </p:txBody>
      </p:sp>
      <p:sp>
        <p:nvSpPr>
          <p:cNvPr id="11" name="Text 8"/>
          <p:cNvSpPr/>
          <p:nvPr/>
        </p:nvSpPr>
        <p:spPr>
          <a:xfrm>
            <a:off x="8540496" y="3749040"/>
            <a:ext cx="2898648" cy="411480"/>
          </a:xfrm>
          <a:prstGeom prst="rect">
            <a:avLst/>
          </a:prstGeom>
          <a:noFill/>
          <a:ln/>
        </p:spPr>
        <p:txBody>
          <a:bodyPr wrap="square" lIns="0" tIns="0" rIns="0" bIns="0" rtlCol="0" anchor="ctr"/>
          <a:lstStyle/>
          <a:p>
            <a:pPr indent="0" marL="0">
              <a:buNone/>
            </a:pPr>
            <a:r>
              <a:rPr lang="en-US" sz="1050" dirty="0">
                <a:solidFill>
                  <a:srgbClr val="5C6B70"/>
                </a:solidFill>
                <a:latin typeface="Calibri" pitchFamily="34" charset="0"/>
                <a:ea typeface="Calibri" pitchFamily="34" charset="-122"/>
                <a:cs typeface="Calibri" pitchFamily="34" charset="-120"/>
              </a:rPr>
              <a:t>mean eGFR (fine vs placebo)</a:t>
            </a:r>
            <a:endParaRPr lang="en-US" sz="1050" dirty="0"/>
          </a:p>
        </p:txBody>
      </p:sp>
      <p:sp>
        <p:nvSpPr>
          <p:cNvPr id="12" name="Shape 9"/>
          <p:cNvSpPr/>
          <p:nvPr/>
        </p:nvSpPr>
        <p:spPr>
          <a:xfrm>
            <a:off x="8339328" y="4343400"/>
            <a:ext cx="3282696" cy="1600200"/>
          </a:xfrm>
          <a:prstGeom prst="roundRect">
            <a:avLst>
              <a:gd name="adj" fmla="val 5143"/>
            </a:avLst>
          </a:prstGeom>
          <a:solidFill>
            <a:srgbClr val="0B3D46"/>
          </a:solidFill>
          <a:ln/>
          <a:effectLst>
            <a:outerShdw sx="100000" sy="100000" kx="0" ky="0" algn="bl" rotWithShape="0" blurRad="88900" dist="25400" dir="5400000">
              <a:srgbClr val="9BB0B0">
                <a:alpha val="28000"/>
              </a:srgbClr>
            </a:outerShdw>
          </a:effectLst>
        </p:spPr>
      </p:sp>
      <p:sp>
        <p:nvSpPr>
          <p:cNvPr id="13" name="Text 10"/>
          <p:cNvSpPr/>
          <p:nvPr/>
        </p:nvSpPr>
        <p:spPr>
          <a:xfrm>
            <a:off x="8540496" y="4480560"/>
            <a:ext cx="2916936" cy="274320"/>
          </a:xfrm>
          <a:prstGeom prst="rect">
            <a:avLst/>
          </a:prstGeom>
          <a:noFill/>
          <a:ln/>
        </p:spPr>
        <p:txBody>
          <a:bodyPr wrap="square" lIns="0" tIns="0" rIns="0" bIns="0" rtlCol="0" anchor="ctr"/>
          <a:lstStyle/>
          <a:p>
            <a:pPr indent="0" marL="0">
              <a:buNone/>
            </a:pPr>
            <a:r>
              <a:rPr lang="en-US" sz="1300" b="1" dirty="0">
                <a:solidFill>
                  <a:srgbClr val="3AA6A0"/>
                </a:solidFill>
                <a:latin typeface="Calibri" pitchFamily="34" charset="0"/>
                <a:ea typeface="Calibri" pitchFamily="34" charset="-122"/>
                <a:cs typeface="Calibri" pitchFamily="34" charset="-120"/>
              </a:rPr>
              <a:t>Off-treatment rebound</a:t>
            </a:r>
            <a:endParaRPr lang="en-US" sz="1300" dirty="0"/>
          </a:p>
        </p:txBody>
      </p:sp>
      <p:sp>
        <p:nvSpPr>
          <p:cNvPr id="14" name="Text 11"/>
          <p:cNvSpPr/>
          <p:nvPr/>
        </p:nvSpPr>
        <p:spPr>
          <a:xfrm>
            <a:off x="8540496" y="4791456"/>
            <a:ext cx="2898648" cy="1051560"/>
          </a:xfrm>
          <a:prstGeom prst="rect">
            <a:avLst/>
          </a:prstGeom>
          <a:noFill/>
          <a:ln/>
        </p:spPr>
        <p:txBody>
          <a:bodyPr wrap="square" lIns="0" tIns="0" rIns="0" bIns="0" rtlCol="0" anchor="ctr"/>
          <a:lstStyle/>
          <a:p>
            <a:pPr indent="0" marL="0">
              <a:lnSpc>
                <a:spcPct val="108000"/>
              </a:lnSpc>
              <a:buNone/>
            </a:pPr>
            <a:r>
              <a:rPr lang="en-US" sz="1150" dirty="0">
                <a:solidFill>
                  <a:srgbClr val="DDECEC"/>
                </a:solidFill>
                <a:latin typeface="Calibri" pitchFamily="34" charset="0"/>
                <a:ea typeface="Calibri" pitchFamily="34" charset="-122"/>
                <a:cs typeface="Calibri" pitchFamily="34" charset="-120"/>
              </a:rPr>
              <a:t>Four weeks after stopping, eGFR rose with finerenone and kept falling with placebo (−8.8 vs −11.2; difference 2.4).</a:t>
            </a:r>
            <a:endParaRPr lang="en-US" sz="1150" dirty="0"/>
          </a:p>
        </p:txBody>
      </p:sp>
      <p:sp>
        <p:nvSpPr>
          <p:cNvPr id="16" name="Text 12"/>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17" name="Text 13"/>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Primary result: total, acute &amp; chronic slope</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PRIMARY OUTCOME  ·  FIGURE 1B</a:t>
            </a:r>
            <a:endParaRPr lang="en-US" sz="1150" dirty="0"/>
          </a:p>
        </p:txBody>
      </p:sp>
      <p:graphicFrame>
        <p:nvGraphicFramePr>
          <p:cNvPr id="4" name="Chart 0" descr=""/>
          <p:cNvGraphicFramePr/>
          <p:nvPr/>
        </p:nvGraphicFramePr>
        <p:xfrm>
          <a:off x="566928" y="1417320"/>
          <a:ext cx="722376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65008" y="1554480"/>
            <a:ext cx="3557016" cy="1371600"/>
          </a:xfrm>
          <a:prstGeom prst="roundRect">
            <a:avLst>
              <a:gd name="adj" fmla="val 6000"/>
            </a:avLst>
          </a:prstGeom>
          <a:solidFill>
            <a:srgbClr val="F1F6F6"/>
          </a:solidFill>
          <a:ln/>
          <a:effectLst>
            <a:outerShdw sx="100000" sy="100000" kx="0" ky="0" algn="bl" rotWithShape="0" blurRad="88900" dist="25400" dir="5400000">
              <a:srgbClr val="9BB0B0">
                <a:alpha val="28000"/>
              </a:srgbClr>
            </a:outerShdw>
          </a:effectLst>
        </p:spPr>
      </p:sp>
      <p:sp>
        <p:nvSpPr>
          <p:cNvPr id="6" name="Text 3"/>
          <p:cNvSpPr/>
          <p:nvPr/>
        </p:nvSpPr>
        <p:spPr>
          <a:xfrm>
            <a:off x="8284464" y="1682496"/>
            <a:ext cx="3099816" cy="274320"/>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Total</a:t>
            </a:r>
            <a:endParaRPr lang="en-US" sz="1250" dirty="0"/>
          </a:p>
        </p:txBody>
      </p:sp>
      <p:sp>
        <p:nvSpPr>
          <p:cNvPr id="7" name="Text 4"/>
          <p:cNvSpPr/>
          <p:nvPr/>
        </p:nvSpPr>
        <p:spPr>
          <a:xfrm>
            <a:off x="8284464" y="1938528"/>
            <a:ext cx="3099816" cy="548640"/>
          </a:xfrm>
          <a:prstGeom prst="rect">
            <a:avLst/>
          </a:prstGeom>
          <a:noFill/>
          <a:ln/>
        </p:spPr>
        <p:txBody>
          <a:bodyPr wrap="square" lIns="0" tIns="0" rIns="0" bIns="0" rtlCol="0" anchor="ctr"/>
          <a:lstStyle/>
          <a:p>
            <a:pPr indent="0" marL="0">
              <a:buNone/>
            </a:pPr>
            <a:r>
              <a:rPr lang="en-US" sz="3400" b="1" dirty="0">
                <a:solidFill>
                  <a:srgbClr val="0E7C86"/>
                </a:solidFill>
                <a:latin typeface="Cambria" pitchFamily="34" charset="0"/>
                <a:ea typeface="Cambria" pitchFamily="34" charset="-122"/>
                <a:cs typeface="Cambria" pitchFamily="34" charset="-120"/>
              </a:rPr>
              <a:t>+0.7</a:t>
            </a:r>
            <a:endParaRPr lang="en-US" sz="3400" dirty="0"/>
          </a:p>
        </p:txBody>
      </p:sp>
      <p:sp>
        <p:nvSpPr>
          <p:cNvPr id="8" name="Text 5"/>
          <p:cNvSpPr/>
          <p:nvPr/>
        </p:nvSpPr>
        <p:spPr>
          <a:xfrm>
            <a:off x="8284464" y="2523744"/>
            <a:ext cx="3145536" cy="320040"/>
          </a:xfrm>
          <a:prstGeom prst="rect">
            <a:avLst/>
          </a:prstGeom>
          <a:noFill/>
          <a:ln/>
        </p:spPr>
        <p:txBody>
          <a:bodyPr wrap="square" lIns="0" tIns="0" rIns="0" bIns="0" rtlCol="0" anchor="ctr"/>
          <a:lstStyle/>
          <a:p>
            <a:pPr indent="0" marL="0">
              <a:buNone/>
            </a:pPr>
            <a:r>
              <a:rPr lang="en-US" sz="1050" dirty="0">
                <a:solidFill>
                  <a:srgbClr val="5C6B70"/>
                </a:solidFill>
                <a:latin typeface="Calibri" pitchFamily="34" charset="0"/>
                <a:ea typeface="Calibri" pitchFamily="34" charset="-122"/>
                <a:cs typeface="Calibri" pitchFamily="34" charset="-120"/>
              </a:rPr>
              <a:t>95% CI 0.3 to 1.1   </a:t>
            </a:r>
            <a:pPr indent="0" marL="0">
              <a:buNone/>
            </a:pPr>
            <a:r>
              <a:rPr lang="en-US" sz="1100" b="1" dirty="0">
                <a:solidFill>
                  <a:srgbClr val="0E7C86"/>
                </a:solidFill>
                <a:latin typeface="Calibri" pitchFamily="34" charset="0"/>
                <a:ea typeface="Calibri" pitchFamily="34" charset="-122"/>
                <a:cs typeface="Calibri" pitchFamily="34" charset="-120"/>
              </a:rPr>
              <a:t>P &lt; 0.001</a:t>
            </a:r>
            <a:endParaRPr lang="en-US" sz="1050" dirty="0"/>
          </a:p>
        </p:txBody>
      </p:sp>
      <p:sp>
        <p:nvSpPr>
          <p:cNvPr id="9" name="Shape 6"/>
          <p:cNvSpPr/>
          <p:nvPr/>
        </p:nvSpPr>
        <p:spPr>
          <a:xfrm>
            <a:off x="8065008" y="3035808"/>
            <a:ext cx="3557016" cy="1371600"/>
          </a:xfrm>
          <a:prstGeom prst="roundRect">
            <a:avLst>
              <a:gd name="adj" fmla="val 6000"/>
            </a:avLst>
          </a:prstGeom>
          <a:solidFill>
            <a:srgbClr val="E4EEEE"/>
          </a:solidFill>
          <a:ln/>
        </p:spPr>
      </p:sp>
      <p:sp>
        <p:nvSpPr>
          <p:cNvPr id="10" name="Text 7"/>
          <p:cNvSpPr/>
          <p:nvPr/>
        </p:nvSpPr>
        <p:spPr>
          <a:xfrm>
            <a:off x="8284464" y="3163824"/>
            <a:ext cx="3099816" cy="274320"/>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Acute (0–3 mo)</a:t>
            </a:r>
            <a:endParaRPr lang="en-US" sz="1250" dirty="0"/>
          </a:p>
        </p:txBody>
      </p:sp>
      <p:sp>
        <p:nvSpPr>
          <p:cNvPr id="11" name="Text 8"/>
          <p:cNvSpPr/>
          <p:nvPr/>
        </p:nvSpPr>
        <p:spPr>
          <a:xfrm>
            <a:off x="8284464" y="3419856"/>
            <a:ext cx="3099816" cy="548640"/>
          </a:xfrm>
          <a:prstGeom prst="rect">
            <a:avLst/>
          </a:prstGeom>
          <a:noFill/>
          <a:ln/>
        </p:spPr>
        <p:txBody>
          <a:bodyPr wrap="square" lIns="0" tIns="0" rIns="0" bIns="0" rtlCol="0" anchor="ctr"/>
          <a:lstStyle/>
          <a:p>
            <a:pPr indent="0" marL="0">
              <a:buNone/>
            </a:pPr>
            <a:r>
              <a:rPr lang="en-US" sz="3400" b="1" dirty="0">
                <a:solidFill>
                  <a:srgbClr val="E08A2E"/>
                </a:solidFill>
                <a:latin typeface="Cambria" pitchFamily="34" charset="0"/>
                <a:ea typeface="Cambria" pitchFamily="34" charset="-122"/>
                <a:cs typeface="Cambria" pitchFamily="34" charset="-120"/>
              </a:rPr>
              <a:t>−1.2</a:t>
            </a:r>
            <a:endParaRPr lang="en-US" sz="3400" dirty="0"/>
          </a:p>
        </p:txBody>
      </p:sp>
      <p:sp>
        <p:nvSpPr>
          <p:cNvPr id="12" name="Text 9"/>
          <p:cNvSpPr/>
          <p:nvPr/>
        </p:nvSpPr>
        <p:spPr>
          <a:xfrm>
            <a:off x="8284464" y="4005072"/>
            <a:ext cx="3145536" cy="320040"/>
          </a:xfrm>
          <a:prstGeom prst="rect">
            <a:avLst/>
          </a:prstGeom>
          <a:noFill/>
          <a:ln/>
        </p:spPr>
        <p:txBody>
          <a:bodyPr wrap="square" lIns="0" tIns="0" rIns="0" bIns="0" rtlCol="0" anchor="ctr"/>
          <a:lstStyle/>
          <a:p>
            <a:pPr indent="0" marL="0">
              <a:buNone/>
            </a:pPr>
            <a:r>
              <a:rPr lang="en-US" sz="1050" dirty="0">
                <a:solidFill>
                  <a:srgbClr val="5C6B70"/>
                </a:solidFill>
                <a:latin typeface="Calibri" pitchFamily="34" charset="0"/>
                <a:ea typeface="Calibri" pitchFamily="34" charset="-122"/>
                <a:cs typeface="Calibri" pitchFamily="34" charset="-120"/>
              </a:rPr>
              <a:t>95% CI −1.7 to −0.6   </a:t>
            </a:r>
            <a:pPr indent="0" marL="0">
              <a:buNone/>
            </a:pPr>
            <a:r>
              <a:rPr lang="en-US" sz="1100" b="1" dirty="0">
                <a:solidFill>
                  <a:srgbClr val="E08A2E"/>
                </a:solidFill>
                <a:latin typeface="Calibri" pitchFamily="34" charset="0"/>
                <a:ea typeface="Calibri" pitchFamily="34" charset="-122"/>
                <a:cs typeface="Calibri" pitchFamily="34" charset="-120"/>
              </a:rPr>
              <a:t>expected dip</a:t>
            </a:r>
            <a:endParaRPr lang="en-US" sz="1050" dirty="0"/>
          </a:p>
        </p:txBody>
      </p:sp>
      <p:sp>
        <p:nvSpPr>
          <p:cNvPr id="13" name="Shape 10"/>
          <p:cNvSpPr/>
          <p:nvPr/>
        </p:nvSpPr>
        <p:spPr>
          <a:xfrm>
            <a:off x="8065008" y="4517136"/>
            <a:ext cx="3557016" cy="1371600"/>
          </a:xfrm>
          <a:prstGeom prst="roundRect">
            <a:avLst>
              <a:gd name="adj" fmla="val 6000"/>
            </a:avLst>
          </a:prstGeom>
          <a:solidFill>
            <a:srgbClr val="F1F6F6"/>
          </a:solidFill>
          <a:ln/>
          <a:effectLst>
            <a:outerShdw sx="100000" sy="100000" kx="0" ky="0" algn="bl" rotWithShape="0" blurRad="88900" dist="25400" dir="5400000">
              <a:srgbClr val="9BB0B0">
                <a:alpha val="28000"/>
              </a:srgbClr>
            </a:outerShdw>
          </a:effectLst>
        </p:spPr>
      </p:sp>
      <p:sp>
        <p:nvSpPr>
          <p:cNvPr id="14" name="Text 11"/>
          <p:cNvSpPr/>
          <p:nvPr/>
        </p:nvSpPr>
        <p:spPr>
          <a:xfrm>
            <a:off x="8284464" y="4645152"/>
            <a:ext cx="3099816" cy="274320"/>
          </a:xfrm>
          <a:prstGeom prst="rect">
            <a:avLst/>
          </a:prstGeom>
          <a:noFill/>
          <a:ln/>
        </p:spPr>
        <p:txBody>
          <a:bodyPr wrap="square" lIns="0" tIns="0" rIns="0" bIns="0" rtlCol="0" anchor="ctr"/>
          <a:lstStyle/>
          <a:p>
            <a:pPr indent="0" marL="0">
              <a:buNone/>
            </a:pPr>
            <a:r>
              <a:rPr lang="en-US" sz="1250" b="1" dirty="0">
                <a:solidFill>
                  <a:srgbClr val="0B3D46"/>
                </a:solidFill>
                <a:latin typeface="Calibri" pitchFamily="34" charset="0"/>
                <a:ea typeface="Calibri" pitchFamily="34" charset="-122"/>
                <a:cs typeface="Calibri" pitchFamily="34" charset="-120"/>
              </a:rPr>
              <a:t>Chronic slope</a:t>
            </a:r>
            <a:endParaRPr lang="en-US" sz="1250" dirty="0"/>
          </a:p>
        </p:txBody>
      </p:sp>
      <p:sp>
        <p:nvSpPr>
          <p:cNvPr id="15" name="Text 12"/>
          <p:cNvSpPr/>
          <p:nvPr/>
        </p:nvSpPr>
        <p:spPr>
          <a:xfrm>
            <a:off x="8284464" y="4901184"/>
            <a:ext cx="3099816" cy="548640"/>
          </a:xfrm>
          <a:prstGeom prst="rect">
            <a:avLst/>
          </a:prstGeom>
          <a:noFill/>
          <a:ln/>
        </p:spPr>
        <p:txBody>
          <a:bodyPr wrap="square" lIns="0" tIns="0" rIns="0" bIns="0" rtlCol="0" anchor="ctr"/>
          <a:lstStyle/>
          <a:p>
            <a:pPr indent="0" marL="0">
              <a:buNone/>
            </a:pPr>
            <a:r>
              <a:rPr lang="en-US" sz="3400" b="1" dirty="0">
                <a:solidFill>
                  <a:srgbClr val="0E7C86"/>
                </a:solidFill>
                <a:latin typeface="Cambria" pitchFamily="34" charset="0"/>
                <a:ea typeface="Cambria" pitchFamily="34" charset="-122"/>
                <a:cs typeface="Cambria" pitchFamily="34" charset="-120"/>
              </a:rPr>
              <a:t>+1.2</a:t>
            </a:r>
            <a:endParaRPr lang="en-US" sz="3400" dirty="0"/>
          </a:p>
        </p:txBody>
      </p:sp>
      <p:sp>
        <p:nvSpPr>
          <p:cNvPr id="16" name="Text 13"/>
          <p:cNvSpPr/>
          <p:nvPr/>
        </p:nvSpPr>
        <p:spPr>
          <a:xfrm>
            <a:off x="8284464" y="5486400"/>
            <a:ext cx="3145536" cy="320040"/>
          </a:xfrm>
          <a:prstGeom prst="rect">
            <a:avLst/>
          </a:prstGeom>
          <a:noFill/>
          <a:ln/>
        </p:spPr>
        <p:txBody>
          <a:bodyPr wrap="square" lIns="0" tIns="0" rIns="0" bIns="0" rtlCol="0" anchor="ctr"/>
          <a:lstStyle/>
          <a:p>
            <a:pPr indent="0" marL="0">
              <a:buNone/>
            </a:pPr>
            <a:r>
              <a:rPr lang="en-US" sz="1050" dirty="0">
                <a:solidFill>
                  <a:srgbClr val="5C6B70"/>
                </a:solidFill>
                <a:latin typeface="Calibri" pitchFamily="34" charset="0"/>
                <a:ea typeface="Calibri" pitchFamily="34" charset="-122"/>
                <a:cs typeface="Calibri" pitchFamily="34" charset="-120"/>
              </a:rPr>
              <a:t>95% CI 0.9 to 1.6   </a:t>
            </a:r>
            <a:pPr indent="0" marL="0">
              <a:buNone/>
            </a:pPr>
            <a:r>
              <a:rPr lang="en-US" sz="1100" b="1" dirty="0">
                <a:solidFill>
                  <a:srgbClr val="0E7C86"/>
                </a:solidFill>
                <a:latin typeface="Calibri" pitchFamily="34" charset="0"/>
                <a:ea typeface="Calibri" pitchFamily="34" charset="-122"/>
                <a:cs typeface="Calibri" pitchFamily="34" charset="-120"/>
              </a:rPr>
              <a:t>the real signal</a:t>
            </a:r>
            <a:endParaRPr lang="en-US" sz="1050" dirty="0"/>
          </a:p>
        </p:txBody>
      </p:sp>
      <p:sp>
        <p:nvSpPr>
          <p:cNvPr id="17" name="Text 14"/>
          <p:cNvSpPr/>
          <p:nvPr/>
        </p:nvSpPr>
        <p:spPr>
          <a:xfrm>
            <a:off x="566928" y="5989320"/>
            <a:ext cx="7315200" cy="274320"/>
          </a:xfrm>
          <a:prstGeom prst="rect">
            <a:avLst/>
          </a:prstGeom>
          <a:noFill/>
          <a:ln/>
        </p:spPr>
        <p:txBody>
          <a:bodyPr wrap="square" lIns="0" tIns="0" rIns="0" bIns="0" rtlCol="0" anchor="ctr"/>
          <a:lstStyle/>
          <a:p>
            <a:pPr indent="0" marL="0">
              <a:buNone/>
            </a:pPr>
            <a:r>
              <a:rPr lang="en-US" sz="1050" i="1" dirty="0">
                <a:solidFill>
                  <a:srgbClr val="5C6B70"/>
                </a:solidFill>
                <a:latin typeface="Calibri" pitchFamily="34" charset="0"/>
                <a:ea typeface="Calibri" pitchFamily="34" charset="-122"/>
                <a:cs typeface="Calibri" pitchFamily="34" charset="-120"/>
              </a:rPr>
              <a:t>Difference = finerenone minus placebo. Positive favors finerenone (slower decline).</a:t>
            </a:r>
            <a:endParaRPr lang="en-US" sz="1050" dirty="0"/>
          </a:p>
        </p:txBody>
      </p:sp>
      <p:sp>
        <p:nvSpPr>
          <p:cNvPr id="19" name="Text 15"/>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20" name="Text 16"/>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Consistency across subgroups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PRIMARY OUTCOME  ·  FIGURE 2</a:t>
            </a:r>
            <a:endParaRPr lang="en-US" sz="1150" dirty="0"/>
          </a:p>
        </p:txBody>
      </p:sp>
      <p:sp>
        <p:nvSpPr>
          <p:cNvPr id="4" name="Text 2"/>
          <p:cNvSpPr/>
          <p:nvPr/>
        </p:nvSpPr>
        <p:spPr>
          <a:xfrm>
            <a:off x="566928" y="1133856"/>
            <a:ext cx="11055096" cy="274320"/>
          </a:xfrm>
          <a:prstGeom prst="rect">
            <a:avLst/>
          </a:prstGeom>
          <a:noFill/>
          <a:ln/>
        </p:spPr>
        <p:txBody>
          <a:bodyPr wrap="square" lIns="0" tIns="0" rIns="0" bIns="0" rtlCol="0" anchor="ctr"/>
          <a:lstStyle/>
          <a:p>
            <a:pPr indent="0" marL="0">
              <a:buNone/>
            </a:pPr>
            <a:r>
              <a:rPr lang="en-US" sz="1200" i="1" dirty="0">
                <a:solidFill>
                  <a:srgbClr val="5C6B70"/>
                </a:solidFill>
                <a:latin typeface="Calibri" pitchFamily="34" charset="0"/>
                <a:ea typeface="Calibri" pitchFamily="34" charset="-122"/>
                <a:cs typeface="Calibri" pitchFamily="34" charset="-120"/>
              </a:rPr>
              <a:t>Difference in eGFR slope (ml/min/1.73 m² per year). Positive favors finerenone.</a:t>
            </a:r>
            <a:endParaRPr lang="en-US" sz="1200" dirty="0"/>
          </a:p>
        </p:txBody>
      </p:sp>
      <p:sp>
        <p:nvSpPr>
          <p:cNvPr id="5" name="Shape 3"/>
          <p:cNvSpPr/>
          <p:nvPr/>
        </p:nvSpPr>
        <p:spPr>
          <a:xfrm>
            <a:off x="3675888" y="1554480"/>
            <a:ext cx="0" cy="4160520"/>
          </a:xfrm>
          <a:prstGeom prst="line">
            <a:avLst/>
          </a:prstGeom>
          <a:noFill/>
          <a:ln w="12700">
            <a:solidFill>
              <a:srgbClr val="EDEFEF"/>
            </a:solidFill>
            <a:prstDash val="dash"/>
          </a:ln>
        </p:spPr>
      </p:sp>
      <p:sp>
        <p:nvSpPr>
          <p:cNvPr id="6" name="Text 4"/>
          <p:cNvSpPr/>
          <p:nvPr/>
        </p:nvSpPr>
        <p:spPr>
          <a:xfrm>
            <a:off x="3401568" y="5779008"/>
            <a:ext cx="548640" cy="219456"/>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-1</a:t>
            </a:r>
            <a:endParaRPr lang="en-US" sz="950" dirty="0"/>
          </a:p>
        </p:txBody>
      </p:sp>
      <p:sp>
        <p:nvSpPr>
          <p:cNvPr id="7" name="Shape 5"/>
          <p:cNvSpPr/>
          <p:nvPr/>
        </p:nvSpPr>
        <p:spPr>
          <a:xfrm>
            <a:off x="5715000" y="1554480"/>
            <a:ext cx="0" cy="4160520"/>
          </a:xfrm>
          <a:prstGeom prst="line">
            <a:avLst/>
          </a:prstGeom>
          <a:noFill/>
          <a:ln w="19050">
            <a:solidFill>
              <a:srgbClr val="9AA7AD"/>
            </a:solidFill>
            <a:prstDash val="solid"/>
          </a:ln>
        </p:spPr>
      </p:sp>
      <p:sp>
        <p:nvSpPr>
          <p:cNvPr id="8" name="Text 6"/>
          <p:cNvSpPr/>
          <p:nvPr/>
        </p:nvSpPr>
        <p:spPr>
          <a:xfrm>
            <a:off x="5440680" y="5779008"/>
            <a:ext cx="548640" cy="219456"/>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0</a:t>
            </a:r>
            <a:endParaRPr lang="en-US" sz="950" dirty="0"/>
          </a:p>
        </p:txBody>
      </p:sp>
      <p:sp>
        <p:nvSpPr>
          <p:cNvPr id="9" name="Shape 7"/>
          <p:cNvSpPr/>
          <p:nvPr/>
        </p:nvSpPr>
        <p:spPr>
          <a:xfrm>
            <a:off x="7754112" y="1554480"/>
            <a:ext cx="0" cy="4160520"/>
          </a:xfrm>
          <a:prstGeom prst="line">
            <a:avLst/>
          </a:prstGeom>
          <a:noFill/>
          <a:ln w="12700">
            <a:solidFill>
              <a:srgbClr val="EDEFEF"/>
            </a:solidFill>
            <a:prstDash val="dash"/>
          </a:ln>
        </p:spPr>
      </p:sp>
      <p:sp>
        <p:nvSpPr>
          <p:cNvPr id="10" name="Text 8"/>
          <p:cNvSpPr/>
          <p:nvPr/>
        </p:nvSpPr>
        <p:spPr>
          <a:xfrm>
            <a:off x="7479792" y="5779008"/>
            <a:ext cx="548640" cy="219456"/>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1</a:t>
            </a:r>
            <a:endParaRPr lang="en-US" sz="950" dirty="0"/>
          </a:p>
        </p:txBody>
      </p:sp>
      <p:sp>
        <p:nvSpPr>
          <p:cNvPr id="11" name="Shape 9"/>
          <p:cNvSpPr/>
          <p:nvPr/>
        </p:nvSpPr>
        <p:spPr>
          <a:xfrm>
            <a:off x="9793224" y="1554480"/>
            <a:ext cx="0" cy="4160520"/>
          </a:xfrm>
          <a:prstGeom prst="line">
            <a:avLst/>
          </a:prstGeom>
          <a:noFill/>
          <a:ln w="12700">
            <a:solidFill>
              <a:srgbClr val="EDEFEF"/>
            </a:solidFill>
            <a:prstDash val="dash"/>
          </a:ln>
        </p:spPr>
      </p:sp>
      <p:sp>
        <p:nvSpPr>
          <p:cNvPr id="12" name="Text 10"/>
          <p:cNvSpPr/>
          <p:nvPr/>
        </p:nvSpPr>
        <p:spPr>
          <a:xfrm>
            <a:off x="9518904" y="5779008"/>
            <a:ext cx="548640" cy="219456"/>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2</a:t>
            </a:r>
            <a:endParaRPr lang="en-US" sz="950" dirty="0"/>
          </a:p>
        </p:txBody>
      </p:sp>
      <p:sp>
        <p:nvSpPr>
          <p:cNvPr id="13" name="Text 11"/>
          <p:cNvSpPr/>
          <p:nvPr/>
        </p:nvSpPr>
        <p:spPr>
          <a:xfrm>
            <a:off x="3584448" y="6016752"/>
            <a:ext cx="1828800" cy="219456"/>
          </a:xfrm>
          <a:prstGeom prst="rect">
            <a:avLst/>
          </a:prstGeom>
          <a:noFill/>
          <a:ln/>
        </p:spPr>
        <p:txBody>
          <a:bodyPr wrap="square" lIns="0" tIns="0" rIns="0" bIns="0" rtlCol="0" anchor="ctr"/>
          <a:lstStyle/>
          <a:p>
            <a:pPr indent="0" marL="0">
              <a:buNone/>
            </a:pPr>
            <a:r>
              <a:rPr lang="en-US" sz="950" i="1" dirty="0">
                <a:solidFill>
                  <a:srgbClr val="5C6B70"/>
                </a:solidFill>
                <a:latin typeface="Calibri" pitchFamily="34" charset="0"/>
                <a:ea typeface="Calibri" pitchFamily="34" charset="-122"/>
                <a:cs typeface="Calibri" pitchFamily="34" charset="-120"/>
              </a:rPr>
              <a:t>Favors placebo</a:t>
            </a:r>
            <a:endParaRPr lang="en-US" sz="950" dirty="0"/>
          </a:p>
        </p:txBody>
      </p:sp>
      <p:sp>
        <p:nvSpPr>
          <p:cNvPr id="14" name="Text 12"/>
          <p:cNvSpPr/>
          <p:nvPr/>
        </p:nvSpPr>
        <p:spPr>
          <a:xfrm>
            <a:off x="8055864" y="6016752"/>
            <a:ext cx="1828800" cy="219456"/>
          </a:xfrm>
          <a:prstGeom prst="rect">
            <a:avLst/>
          </a:prstGeom>
          <a:noFill/>
          <a:ln/>
        </p:spPr>
        <p:txBody>
          <a:bodyPr wrap="square" lIns="0" tIns="0" rIns="0" bIns="0" rtlCol="0" anchor="ctr"/>
          <a:lstStyle/>
          <a:p>
            <a:pPr algn="r" indent="0" marL="0">
              <a:buNone/>
            </a:pPr>
            <a:r>
              <a:rPr lang="en-US" sz="950" i="1" dirty="0">
                <a:solidFill>
                  <a:srgbClr val="5C6B70"/>
                </a:solidFill>
                <a:latin typeface="Calibri" pitchFamily="34" charset="0"/>
                <a:ea typeface="Calibri" pitchFamily="34" charset="-122"/>
                <a:cs typeface="Calibri" pitchFamily="34" charset="-120"/>
              </a:rPr>
              <a:t>Favors finerenone</a:t>
            </a:r>
            <a:endParaRPr lang="en-US" sz="950" dirty="0"/>
          </a:p>
        </p:txBody>
      </p:sp>
      <p:sp>
        <p:nvSpPr>
          <p:cNvPr id="15" name="Text 13"/>
          <p:cNvSpPr/>
          <p:nvPr/>
        </p:nvSpPr>
        <p:spPr>
          <a:xfrm>
            <a:off x="566928" y="1645089"/>
            <a:ext cx="3017520" cy="292608"/>
          </a:xfrm>
          <a:prstGeom prst="rect">
            <a:avLst/>
          </a:prstGeom>
          <a:noFill/>
          <a:ln/>
        </p:spPr>
        <p:txBody>
          <a:bodyPr wrap="square" lIns="0" tIns="0" rIns="0" bIns="0" rtlCol="0" anchor="ctr"/>
          <a:lstStyle/>
          <a:p>
            <a:pPr indent="0" marL="0">
              <a:buNone/>
            </a:pPr>
            <a:r>
              <a:rPr lang="en-US" sz="1100" b="1" dirty="0">
                <a:solidFill>
                  <a:srgbClr val="0B3D46"/>
                </a:solidFill>
                <a:latin typeface="Calibri" pitchFamily="34" charset="0"/>
                <a:ea typeface="Calibri" pitchFamily="34" charset="-122"/>
                <a:cs typeface="Calibri" pitchFamily="34" charset="-120"/>
              </a:rPr>
              <a:t>Overall</a:t>
            </a:r>
            <a:endParaRPr lang="en-US" sz="1100" dirty="0"/>
          </a:p>
        </p:txBody>
      </p:sp>
      <p:sp>
        <p:nvSpPr>
          <p:cNvPr id="16" name="Shape 14"/>
          <p:cNvSpPr/>
          <p:nvPr/>
        </p:nvSpPr>
        <p:spPr>
          <a:xfrm>
            <a:off x="6367516" y="1791393"/>
            <a:ext cx="1488552" cy="0"/>
          </a:xfrm>
          <a:prstGeom prst="line">
            <a:avLst/>
          </a:prstGeom>
          <a:noFill/>
          <a:ln w="38100">
            <a:solidFill>
              <a:srgbClr val="0E7C86"/>
            </a:solidFill>
            <a:prstDash val="solid"/>
          </a:ln>
        </p:spPr>
      </p:sp>
      <p:sp>
        <p:nvSpPr>
          <p:cNvPr id="17" name="Shape 15"/>
          <p:cNvSpPr/>
          <p:nvPr/>
        </p:nvSpPr>
        <p:spPr>
          <a:xfrm>
            <a:off x="6367516" y="1736529"/>
            <a:ext cx="0" cy="109728"/>
          </a:xfrm>
          <a:prstGeom prst="line">
            <a:avLst/>
          </a:prstGeom>
          <a:noFill/>
          <a:ln w="25400">
            <a:solidFill>
              <a:srgbClr val="0E7C86"/>
            </a:solidFill>
            <a:prstDash val="solid"/>
          </a:ln>
        </p:spPr>
      </p:sp>
      <p:sp>
        <p:nvSpPr>
          <p:cNvPr id="18" name="Shape 16"/>
          <p:cNvSpPr/>
          <p:nvPr/>
        </p:nvSpPr>
        <p:spPr>
          <a:xfrm>
            <a:off x="7856068" y="1736529"/>
            <a:ext cx="0" cy="109728"/>
          </a:xfrm>
          <a:prstGeom prst="line">
            <a:avLst/>
          </a:prstGeom>
          <a:noFill/>
          <a:ln w="25400">
            <a:solidFill>
              <a:srgbClr val="0E7C86"/>
            </a:solidFill>
            <a:prstDash val="solid"/>
          </a:ln>
        </p:spPr>
      </p:sp>
      <p:sp>
        <p:nvSpPr>
          <p:cNvPr id="19" name="Shape 17"/>
          <p:cNvSpPr/>
          <p:nvPr/>
        </p:nvSpPr>
        <p:spPr>
          <a:xfrm>
            <a:off x="7042160" y="1731957"/>
            <a:ext cx="118872" cy="118872"/>
          </a:xfrm>
          <a:prstGeom prst="diamond">
            <a:avLst/>
          </a:prstGeom>
          <a:solidFill>
            <a:srgbClr val="0B3D46"/>
          </a:solidFill>
          <a:ln/>
        </p:spPr>
      </p:sp>
      <p:sp>
        <p:nvSpPr>
          <p:cNvPr id="20" name="Text 18"/>
          <p:cNvSpPr/>
          <p:nvPr/>
        </p:nvSpPr>
        <p:spPr>
          <a:xfrm>
            <a:off x="9838944" y="1645089"/>
            <a:ext cx="1783080" cy="292608"/>
          </a:xfrm>
          <a:prstGeom prst="rect">
            <a:avLst/>
          </a:prstGeom>
          <a:noFill/>
          <a:ln/>
        </p:spPr>
        <p:txBody>
          <a:bodyPr wrap="square" lIns="0" tIns="0" rIns="0" bIns="0" rtlCol="0" anchor="ctr"/>
          <a:lstStyle/>
          <a:p>
            <a:pPr algn="l" indent="0" marL="0">
              <a:buNone/>
            </a:pPr>
            <a:r>
              <a:rPr lang="en-US" sz="950" b="1" dirty="0">
                <a:solidFill>
                  <a:srgbClr val="0B3D46"/>
                </a:solidFill>
                <a:latin typeface="Calibri" pitchFamily="34" charset="0"/>
                <a:ea typeface="Calibri" pitchFamily="34" charset="-122"/>
                <a:cs typeface="Calibri" pitchFamily="34" charset="-120"/>
              </a:rPr>
              <a:t>0.68 (0.32 to 1.05)</a:t>
            </a:r>
            <a:endParaRPr lang="en-US" sz="950" dirty="0"/>
          </a:p>
        </p:txBody>
      </p:sp>
      <p:sp>
        <p:nvSpPr>
          <p:cNvPr id="21" name="Text 19"/>
          <p:cNvSpPr/>
          <p:nvPr/>
        </p:nvSpPr>
        <p:spPr>
          <a:xfrm>
            <a:off x="566928" y="2027474"/>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Cause: HTN / ischemic</a:t>
            </a:r>
            <a:endParaRPr lang="en-US" sz="1100" dirty="0"/>
          </a:p>
        </p:txBody>
      </p:sp>
      <p:sp>
        <p:nvSpPr>
          <p:cNvPr id="22" name="Shape 20"/>
          <p:cNvSpPr/>
          <p:nvPr/>
        </p:nvSpPr>
        <p:spPr>
          <a:xfrm>
            <a:off x="5715000" y="2173778"/>
            <a:ext cx="2793583" cy="0"/>
          </a:xfrm>
          <a:prstGeom prst="line">
            <a:avLst/>
          </a:prstGeom>
          <a:noFill/>
          <a:ln w="25400">
            <a:solidFill>
              <a:srgbClr val="3AA6A0"/>
            </a:solidFill>
            <a:prstDash val="solid"/>
          </a:ln>
        </p:spPr>
      </p:sp>
      <p:sp>
        <p:nvSpPr>
          <p:cNvPr id="23" name="Shape 21"/>
          <p:cNvSpPr/>
          <p:nvPr/>
        </p:nvSpPr>
        <p:spPr>
          <a:xfrm>
            <a:off x="5715000" y="2118914"/>
            <a:ext cx="0" cy="109728"/>
          </a:xfrm>
          <a:prstGeom prst="line">
            <a:avLst/>
          </a:prstGeom>
          <a:noFill/>
          <a:ln w="25400">
            <a:solidFill>
              <a:srgbClr val="3AA6A0"/>
            </a:solidFill>
            <a:prstDash val="solid"/>
          </a:ln>
        </p:spPr>
      </p:sp>
      <p:sp>
        <p:nvSpPr>
          <p:cNvPr id="24" name="Shape 22"/>
          <p:cNvSpPr/>
          <p:nvPr/>
        </p:nvSpPr>
        <p:spPr>
          <a:xfrm>
            <a:off x="8508583" y="2118914"/>
            <a:ext cx="0" cy="109728"/>
          </a:xfrm>
          <a:prstGeom prst="line">
            <a:avLst/>
          </a:prstGeom>
          <a:noFill/>
          <a:ln w="25400">
            <a:solidFill>
              <a:srgbClr val="3AA6A0"/>
            </a:solidFill>
            <a:prstDash val="solid"/>
          </a:ln>
        </p:spPr>
      </p:sp>
      <p:sp>
        <p:nvSpPr>
          <p:cNvPr id="25" name="Shape 23"/>
          <p:cNvSpPr/>
          <p:nvPr/>
        </p:nvSpPr>
        <p:spPr>
          <a:xfrm>
            <a:off x="7055876" y="2128058"/>
            <a:ext cx="91440" cy="91440"/>
          </a:xfrm>
          <a:prstGeom prst="diamond">
            <a:avLst/>
          </a:prstGeom>
          <a:solidFill>
            <a:srgbClr val="0E7C86"/>
          </a:solidFill>
          <a:ln/>
        </p:spPr>
      </p:sp>
      <p:sp>
        <p:nvSpPr>
          <p:cNvPr id="26" name="Text 24"/>
          <p:cNvSpPr/>
          <p:nvPr/>
        </p:nvSpPr>
        <p:spPr>
          <a:xfrm>
            <a:off x="9838944" y="2027474"/>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0.68 (0.00 to 1.37)</a:t>
            </a:r>
            <a:endParaRPr lang="en-US" sz="950" dirty="0"/>
          </a:p>
        </p:txBody>
      </p:sp>
      <p:sp>
        <p:nvSpPr>
          <p:cNvPr id="27" name="Text 25"/>
          <p:cNvSpPr/>
          <p:nvPr/>
        </p:nvSpPr>
        <p:spPr>
          <a:xfrm>
            <a:off x="566928" y="2409860"/>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Cause: chronic GN</a:t>
            </a:r>
            <a:endParaRPr lang="en-US" sz="1100" dirty="0"/>
          </a:p>
        </p:txBody>
      </p:sp>
      <p:sp>
        <p:nvSpPr>
          <p:cNvPr id="28" name="Shape 26"/>
          <p:cNvSpPr/>
          <p:nvPr/>
        </p:nvSpPr>
        <p:spPr>
          <a:xfrm>
            <a:off x="6224778" y="2556164"/>
            <a:ext cx="1977939" cy="0"/>
          </a:xfrm>
          <a:prstGeom prst="line">
            <a:avLst/>
          </a:prstGeom>
          <a:noFill/>
          <a:ln w="25400">
            <a:solidFill>
              <a:srgbClr val="3AA6A0"/>
            </a:solidFill>
            <a:prstDash val="solid"/>
          </a:ln>
        </p:spPr>
      </p:sp>
      <p:sp>
        <p:nvSpPr>
          <p:cNvPr id="29" name="Shape 27"/>
          <p:cNvSpPr/>
          <p:nvPr/>
        </p:nvSpPr>
        <p:spPr>
          <a:xfrm>
            <a:off x="6224778" y="2501300"/>
            <a:ext cx="0" cy="109728"/>
          </a:xfrm>
          <a:prstGeom prst="line">
            <a:avLst/>
          </a:prstGeom>
          <a:noFill/>
          <a:ln w="25400">
            <a:solidFill>
              <a:srgbClr val="3AA6A0"/>
            </a:solidFill>
            <a:prstDash val="solid"/>
          </a:ln>
        </p:spPr>
      </p:sp>
      <p:sp>
        <p:nvSpPr>
          <p:cNvPr id="30" name="Shape 28"/>
          <p:cNvSpPr/>
          <p:nvPr/>
        </p:nvSpPr>
        <p:spPr>
          <a:xfrm>
            <a:off x="8202717" y="2501300"/>
            <a:ext cx="0" cy="109728"/>
          </a:xfrm>
          <a:prstGeom prst="line">
            <a:avLst/>
          </a:prstGeom>
          <a:noFill/>
          <a:ln w="25400">
            <a:solidFill>
              <a:srgbClr val="3AA6A0"/>
            </a:solidFill>
            <a:prstDash val="solid"/>
          </a:ln>
        </p:spPr>
      </p:sp>
      <p:sp>
        <p:nvSpPr>
          <p:cNvPr id="31" name="Shape 29"/>
          <p:cNvSpPr/>
          <p:nvPr/>
        </p:nvSpPr>
        <p:spPr>
          <a:xfrm>
            <a:off x="7157832" y="2510444"/>
            <a:ext cx="91440" cy="91440"/>
          </a:xfrm>
          <a:prstGeom prst="diamond">
            <a:avLst/>
          </a:prstGeom>
          <a:solidFill>
            <a:srgbClr val="0E7C86"/>
          </a:solidFill>
          <a:ln/>
        </p:spPr>
      </p:sp>
      <p:sp>
        <p:nvSpPr>
          <p:cNvPr id="32" name="Text 30"/>
          <p:cNvSpPr/>
          <p:nvPr/>
        </p:nvSpPr>
        <p:spPr>
          <a:xfrm>
            <a:off x="9838944" y="2409860"/>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0.73 (0.25 to 1.22)</a:t>
            </a:r>
            <a:endParaRPr lang="en-US" sz="950" dirty="0"/>
          </a:p>
        </p:txBody>
      </p:sp>
      <p:sp>
        <p:nvSpPr>
          <p:cNvPr id="33" name="Text 31"/>
          <p:cNvSpPr/>
          <p:nvPr/>
        </p:nvSpPr>
        <p:spPr>
          <a:xfrm>
            <a:off x="566928" y="2792245"/>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Cause: other / unknown</a:t>
            </a:r>
            <a:endParaRPr lang="en-US" sz="1100" dirty="0"/>
          </a:p>
        </p:txBody>
      </p:sp>
      <p:sp>
        <p:nvSpPr>
          <p:cNvPr id="34" name="Shape 32"/>
          <p:cNvSpPr/>
          <p:nvPr/>
        </p:nvSpPr>
        <p:spPr>
          <a:xfrm>
            <a:off x="4634271" y="2938549"/>
            <a:ext cx="4017051" cy="0"/>
          </a:xfrm>
          <a:prstGeom prst="line">
            <a:avLst/>
          </a:prstGeom>
          <a:noFill/>
          <a:ln w="25400">
            <a:solidFill>
              <a:srgbClr val="3AA6A0"/>
            </a:solidFill>
            <a:prstDash val="solid"/>
          </a:ln>
        </p:spPr>
      </p:sp>
      <p:sp>
        <p:nvSpPr>
          <p:cNvPr id="35" name="Shape 33"/>
          <p:cNvSpPr/>
          <p:nvPr/>
        </p:nvSpPr>
        <p:spPr>
          <a:xfrm>
            <a:off x="4634271" y="2883685"/>
            <a:ext cx="0" cy="109728"/>
          </a:xfrm>
          <a:prstGeom prst="line">
            <a:avLst/>
          </a:prstGeom>
          <a:noFill/>
          <a:ln w="25400">
            <a:solidFill>
              <a:srgbClr val="3AA6A0"/>
            </a:solidFill>
            <a:prstDash val="solid"/>
          </a:ln>
        </p:spPr>
      </p:sp>
      <p:sp>
        <p:nvSpPr>
          <p:cNvPr id="36" name="Shape 34"/>
          <p:cNvSpPr/>
          <p:nvPr/>
        </p:nvSpPr>
        <p:spPr>
          <a:xfrm>
            <a:off x="8651321" y="2883685"/>
            <a:ext cx="0" cy="109728"/>
          </a:xfrm>
          <a:prstGeom prst="line">
            <a:avLst/>
          </a:prstGeom>
          <a:noFill/>
          <a:ln w="25400">
            <a:solidFill>
              <a:srgbClr val="3AA6A0"/>
            </a:solidFill>
            <a:prstDash val="solid"/>
          </a:ln>
        </p:spPr>
      </p:sp>
      <p:sp>
        <p:nvSpPr>
          <p:cNvPr id="37" name="Shape 35"/>
          <p:cNvSpPr/>
          <p:nvPr/>
        </p:nvSpPr>
        <p:spPr>
          <a:xfrm>
            <a:off x="6586880" y="2892829"/>
            <a:ext cx="91440" cy="91440"/>
          </a:xfrm>
          <a:prstGeom prst="diamond">
            <a:avLst/>
          </a:prstGeom>
          <a:solidFill>
            <a:srgbClr val="0E7C86"/>
          </a:solidFill>
          <a:ln/>
        </p:spPr>
      </p:sp>
      <p:sp>
        <p:nvSpPr>
          <p:cNvPr id="38" name="Text 36"/>
          <p:cNvSpPr/>
          <p:nvPr/>
        </p:nvSpPr>
        <p:spPr>
          <a:xfrm>
            <a:off x="9838944" y="2792245"/>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0.45 (-0.53 to 1.44)</a:t>
            </a:r>
            <a:endParaRPr lang="en-US" sz="950" dirty="0"/>
          </a:p>
        </p:txBody>
      </p:sp>
      <p:sp>
        <p:nvSpPr>
          <p:cNvPr id="39" name="Text 37"/>
          <p:cNvSpPr/>
          <p:nvPr/>
        </p:nvSpPr>
        <p:spPr>
          <a:xfrm>
            <a:off x="566928" y="3174631"/>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eGFR &lt; 45</a:t>
            </a:r>
            <a:endParaRPr lang="en-US" sz="1100" dirty="0"/>
          </a:p>
        </p:txBody>
      </p:sp>
      <p:sp>
        <p:nvSpPr>
          <p:cNvPr id="40" name="Shape 38"/>
          <p:cNvSpPr/>
          <p:nvPr/>
        </p:nvSpPr>
        <p:spPr>
          <a:xfrm>
            <a:off x="5939302" y="3320935"/>
            <a:ext cx="2059503" cy="0"/>
          </a:xfrm>
          <a:prstGeom prst="line">
            <a:avLst/>
          </a:prstGeom>
          <a:noFill/>
          <a:ln w="25400">
            <a:solidFill>
              <a:srgbClr val="3AA6A0"/>
            </a:solidFill>
            <a:prstDash val="solid"/>
          </a:ln>
        </p:spPr>
      </p:sp>
      <p:sp>
        <p:nvSpPr>
          <p:cNvPr id="41" name="Shape 39"/>
          <p:cNvSpPr/>
          <p:nvPr/>
        </p:nvSpPr>
        <p:spPr>
          <a:xfrm>
            <a:off x="5939302" y="3266071"/>
            <a:ext cx="0" cy="109728"/>
          </a:xfrm>
          <a:prstGeom prst="line">
            <a:avLst/>
          </a:prstGeom>
          <a:noFill/>
          <a:ln w="25400">
            <a:solidFill>
              <a:srgbClr val="3AA6A0"/>
            </a:solidFill>
            <a:prstDash val="solid"/>
          </a:ln>
        </p:spPr>
      </p:sp>
      <p:sp>
        <p:nvSpPr>
          <p:cNvPr id="42" name="Shape 40"/>
          <p:cNvSpPr/>
          <p:nvPr/>
        </p:nvSpPr>
        <p:spPr>
          <a:xfrm>
            <a:off x="7998805" y="3266071"/>
            <a:ext cx="0" cy="109728"/>
          </a:xfrm>
          <a:prstGeom prst="line">
            <a:avLst/>
          </a:prstGeom>
          <a:noFill/>
          <a:ln w="25400">
            <a:solidFill>
              <a:srgbClr val="3AA6A0"/>
            </a:solidFill>
            <a:prstDash val="solid"/>
          </a:ln>
        </p:spPr>
      </p:sp>
      <p:sp>
        <p:nvSpPr>
          <p:cNvPr id="43" name="Shape 41"/>
          <p:cNvSpPr/>
          <p:nvPr/>
        </p:nvSpPr>
        <p:spPr>
          <a:xfrm>
            <a:off x="6913138" y="3275215"/>
            <a:ext cx="91440" cy="91440"/>
          </a:xfrm>
          <a:prstGeom prst="diamond">
            <a:avLst/>
          </a:prstGeom>
          <a:solidFill>
            <a:srgbClr val="0E7C86"/>
          </a:solidFill>
          <a:ln/>
        </p:spPr>
      </p:sp>
      <p:sp>
        <p:nvSpPr>
          <p:cNvPr id="44" name="Text 42"/>
          <p:cNvSpPr/>
          <p:nvPr/>
        </p:nvSpPr>
        <p:spPr>
          <a:xfrm>
            <a:off x="9838944" y="3174631"/>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0.61 (0.11 to 1.12)</a:t>
            </a:r>
            <a:endParaRPr lang="en-US" sz="950" dirty="0"/>
          </a:p>
        </p:txBody>
      </p:sp>
      <p:sp>
        <p:nvSpPr>
          <p:cNvPr id="45" name="Text 43"/>
          <p:cNvSpPr/>
          <p:nvPr/>
        </p:nvSpPr>
        <p:spPr>
          <a:xfrm>
            <a:off x="566928" y="3557016"/>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eGFR 45 to &lt;60</a:t>
            </a:r>
            <a:endParaRPr lang="en-US" sz="1100" dirty="0"/>
          </a:p>
        </p:txBody>
      </p:sp>
      <p:sp>
        <p:nvSpPr>
          <p:cNvPr id="46" name="Shape 44"/>
          <p:cNvSpPr/>
          <p:nvPr/>
        </p:nvSpPr>
        <p:spPr>
          <a:xfrm>
            <a:off x="6408298" y="3703320"/>
            <a:ext cx="2875148" cy="0"/>
          </a:xfrm>
          <a:prstGeom prst="line">
            <a:avLst/>
          </a:prstGeom>
          <a:noFill/>
          <a:ln w="25400">
            <a:solidFill>
              <a:srgbClr val="3AA6A0"/>
            </a:solidFill>
            <a:prstDash val="solid"/>
          </a:ln>
        </p:spPr>
      </p:sp>
      <p:sp>
        <p:nvSpPr>
          <p:cNvPr id="47" name="Shape 45"/>
          <p:cNvSpPr/>
          <p:nvPr/>
        </p:nvSpPr>
        <p:spPr>
          <a:xfrm>
            <a:off x="6408298" y="3648456"/>
            <a:ext cx="0" cy="109728"/>
          </a:xfrm>
          <a:prstGeom prst="line">
            <a:avLst/>
          </a:prstGeom>
          <a:noFill/>
          <a:ln w="25400">
            <a:solidFill>
              <a:srgbClr val="3AA6A0"/>
            </a:solidFill>
            <a:prstDash val="solid"/>
          </a:ln>
        </p:spPr>
      </p:sp>
      <p:sp>
        <p:nvSpPr>
          <p:cNvPr id="48" name="Shape 46"/>
          <p:cNvSpPr/>
          <p:nvPr/>
        </p:nvSpPr>
        <p:spPr>
          <a:xfrm>
            <a:off x="9283446" y="3648456"/>
            <a:ext cx="0" cy="109728"/>
          </a:xfrm>
          <a:prstGeom prst="line">
            <a:avLst/>
          </a:prstGeom>
          <a:noFill/>
          <a:ln w="25400">
            <a:solidFill>
              <a:srgbClr val="3AA6A0"/>
            </a:solidFill>
            <a:prstDash val="solid"/>
          </a:ln>
        </p:spPr>
      </p:sp>
      <p:sp>
        <p:nvSpPr>
          <p:cNvPr id="49" name="Shape 47"/>
          <p:cNvSpPr/>
          <p:nvPr/>
        </p:nvSpPr>
        <p:spPr>
          <a:xfrm>
            <a:off x="7810348" y="3657600"/>
            <a:ext cx="91440" cy="91440"/>
          </a:xfrm>
          <a:prstGeom prst="diamond">
            <a:avLst/>
          </a:prstGeom>
          <a:solidFill>
            <a:srgbClr val="0E7C86"/>
          </a:solidFill>
          <a:ln/>
        </p:spPr>
      </p:sp>
      <p:sp>
        <p:nvSpPr>
          <p:cNvPr id="50" name="Text 48"/>
          <p:cNvSpPr/>
          <p:nvPr/>
        </p:nvSpPr>
        <p:spPr>
          <a:xfrm>
            <a:off x="9838944" y="3557016"/>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1.05 (0.34 to 1.75)</a:t>
            </a:r>
            <a:endParaRPr lang="en-US" sz="950" dirty="0"/>
          </a:p>
        </p:txBody>
      </p:sp>
      <p:sp>
        <p:nvSpPr>
          <p:cNvPr id="51" name="Text 49"/>
          <p:cNvSpPr/>
          <p:nvPr/>
        </p:nvSpPr>
        <p:spPr>
          <a:xfrm>
            <a:off x="566928" y="3939401"/>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eGFR ≥ 60</a:t>
            </a:r>
            <a:endParaRPr lang="en-US" sz="1100" dirty="0"/>
          </a:p>
        </p:txBody>
      </p:sp>
      <p:sp>
        <p:nvSpPr>
          <p:cNvPr id="52" name="Shape 50"/>
          <p:cNvSpPr/>
          <p:nvPr/>
        </p:nvSpPr>
        <p:spPr>
          <a:xfrm>
            <a:off x="4899355" y="4085705"/>
            <a:ext cx="3323753" cy="0"/>
          </a:xfrm>
          <a:prstGeom prst="line">
            <a:avLst/>
          </a:prstGeom>
          <a:noFill/>
          <a:ln w="25400">
            <a:solidFill>
              <a:srgbClr val="3AA6A0"/>
            </a:solidFill>
            <a:prstDash val="solid"/>
          </a:ln>
        </p:spPr>
      </p:sp>
      <p:sp>
        <p:nvSpPr>
          <p:cNvPr id="53" name="Shape 51"/>
          <p:cNvSpPr/>
          <p:nvPr/>
        </p:nvSpPr>
        <p:spPr>
          <a:xfrm>
            <a:off x="4899355" y="4030841"/>
            <a:ext cx="0" cy="109728"/>
          </a:xfrm>
          <a:prstGeom prst="line">
            <a:avLst/>
          </a:prstGeom>
          <a:noFill/>
          <a:ln w="25400">
            <a:solidFill>
              <a:srgbClr val="3AA6A0"/>
            </a:solidFill>
            <a:prstDash val="solid"/>
          </a:ln>
        </p:spPr>
      </p:sp>
      <p:sp>
        <p:nvSpPr>
          <p:cNvPr id="54" name="Shape 52"/>
          <p:cNvSpPr/>
          <p:nvPr/>
        </p:nvSpPr>
        <p:spPr>
          <a:xfrm>
            <a:off x="8223108" y="4030841"/>
            <a:ext cx="0" cy="109728"/>
          </a:xfrm>
          <a:prstGeom prst="line">
            <a:avLst/>
          </a:prstGeom>
          <a:noFill/>
          <a:ln w="25400">
            <a:solidFill>
              <a:srgbClr val="3AA6A0"/>
            </a:solidFill>
            <a:prstDash val="solid"/>
          </a:ln>
        </p:spPr>
      </p:sp>
      <p:sp>
        <p:nvSpPr>
          <p:cNvPr id="55" name="Shape 53"/>
          <p:cNvSpPr/>
          <p:nvPr/>
        </p:nvSpPr>
        <p:spPr>
          <a:xfrm>
            <a:off x="6505316" y="4039985"/>
            <a:ext cx="91440" cy="91440"/>
          </a:xfrm>
          <a:prstGeom prst="diamond">
            <a:avLst/>
          </a:prstGeom>
          <a:solidFill>
            <a:srgbClr val="0E7C86"/>
          </a:solidFill>
          <a:ln/>
        </p:spPr>
      </p:sp>
      <p:sp>
        <p:nvSpPr>
          <p:cNvPr id="56" name="Text 54"/>
          <p:cNvSpPr/>
          <p:nvPr/>
        </p:nvSpPr>
        <p:spPr>
          <a:xfrm>
            <a:off x="9838944" y="3939401"/>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0.41 (-0.40 to 1.23)</a:t>
            </a:r>
            <a:endParaRPr lang="en-US" sz="950" dirty="0"/>
          </a:p>
        </p:txBody>
      </p:sp>
      <p:sp>
        <p:nvSpPr>
          <p:cNvPr id="57" name="Text 55"/>
          <p:cNvSpPr/>
          <p:nvPr/>
        </p:nvSpPr>
        <p:spPr>
          <a:xfrm>
            <a:off x="566928" y="4321787"/>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UACR ≤ 1000</a:t>
            </a:r>
            <a:endParaRPr lang="en-US" sz="1100" dirty="0"/>
          </a:p>
        </p:txBody>
      </p:sp>
      <p:sp>
        <p:nvSpPr>
          <p:cNvPr id="58" name="Shape 56"/>
          <p:cNvSpPr/>
          <p:nvPr/>
        </p:nvSpPr>
        <p:spPr>
          <a:xfrm>
            <a:off x="5592653" y="4468091"/>
            <a:ext cx="1896374" cy="0"/>
          </a:xfrm>
          <a:prstGeom prst="line">
            <a:avLst/>
          </a:prstGeom>
          <a:noFill/>
          <a:ln w="25400">
            <a:solidFill>
              <a:srgbClr val="3AA6A0"/>
            </a:solidFill>
            <a:prstDash val="solid"/>
          </a:ln>
        </p:spPr>
      </p:sp>
      <p:sp>
        <p:nvSpPr>
          <p:cNvPr id="59" name="Shape 57"/>
          <p:cNvSpPr/>
          <p:nvPr/>
        </p:nvSpPr>
        <p:spPr>
          <a:xfrm>
            <a:off x="5592653" y="4413227"/>
            <a:ext cx="0" cy="109728"/>
          </a:xfrm>
          <a:prstGeom prst="line">
            <a:avLst/>
          </a:prstGeom>
          <a:noFill/>
          <a:ln w="25400">
            <a:solidFill>
              <a:srgbClr val="3AA6A0"/>
            </a:solidFill>
            <a:prstDash val="solid"/>
          </a:ln>
        </p:spPr>
      </p:sp>
      <p:sp>
        <p:nvSpPr>
          <p:cNvPr id="60" name="Shape 58"/>
          <p:cNvSpPr/>
          <p:nvPr/>
        </p:nvSpPr>
        <p:spPr>
          <a:xfrm>
            <a:off x="7489027" y="4413227"/>
            <a:ext cx="0" cy="109728"/>
          </a:xfrm>
          <a:prstGeom prst="line">
            <a:avLst/>
          </a:prstGeom>
          <a:noFill/>
          <a:ln w="25400">
            <a:solidFill>
              <a:srgbClr val="3AA6A0"/>
            </a:solidFill>
            <a:prstDash val="solid"/>
          </a:ln>
        </p:spPr>
      </p:sp>
      <p:sp>
        <p:nvSpPr>
          <p:cNvPr id="61" name="Shape 59"/>
          <p:cNvSpPr/>
          <p:nvPr/>
        </p:nvSpPr>
        <p:spPr>
          <a:xfrm>
            <a:off x="6484925" y="4422371"/>
            <a:ext cx="91440" cy="91440"/>
          </a:xfrm>
          <a:prstGeom prst="diamond">
            <a:avLst/>
          </a:prstGeom>
          <a:solidFill>
            <a:srgbClr val="0E7C86"/>
          </a:solidFill>
          <a:ln/>
        </p:spPr>
      </p:sp>
      <p:sp>
        <p:nvSpPr>
          <p:cNvPr id="62" name="Text 60"/>
          <p:cNvSpPr/>
          <p:nvPr/>
        </p:nvSpPr>
        <p:spPr>
          <a:xfrm>
            <a:off x="9838944" y="4321787"/>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0.40 (-0.06 to 0.87)</a:t>
            </a:r>
            <a:endParaRPr lang="en-US" sz="950" dirty="0"/>
          </a:p>
        </p:txBody>
      </p:sp>
      <p:sp>
        <p:nvSpPr>
          <p:cNvPr id="63" name="Text 61"/>
          <p:cNvSpPr/>
          <p:nvPr/>
        </p:nvSpPr>
        <p:spPr>
          <a:xfrm>
            <a:off x="566928" y="4704172"/>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UACR &gt; 1000</a:t>
            </a:r>
            <a:endParaRPr lang="en-US" sz="1100" dirty="0"/>
          </a:p>
        </p:txBody>
      </p:sp>
      <p:sp>
        <p:nvSpPr>
          <p:cNvPr id="64" name="Shape 62"/>
          <p:cNvSpPr/>
          <p:nvPr/>
        </p:nvSpPr>
        <p:spPr>
          <a:xfrm>
            <a:off x="6836512" y="4850476"/>
            <a:ext cx="2446934" cy="0"/>
          </a:xfrm>
          <a:prstGeom prst="line">
            <a:avLst/>
          </a:prstGeom>
          <a:noFill/>
          <a:ln w="25400">
            <a:solidFill>
              <a:srgbClr val="3AA6A0"/>
            </a:solidFill>
            <a:prstDash val="solid"/>
          </a:ln>
        </p:spPr>
      </p:sp>
      <p:sp>
        <p:nvSpPr>
          <p:cNvPr id="65" name="Shape 63"/>
          <p:cNvSpPr/>
          <p:nvPr/>
        </p:nvSpPr>
        <p:spPr>
          <a:xfrm>
            <a:off x="6836512" y="4795612"/>
            <a:ext cx="0" cy="109728"/>
          </a:xfrm>
          <a:prstGeom prst="line">
            <a:avLst/>
          </a:prstGeom>
          <a:noFill/>
          <a:ln w="25400">
            <a:solidFill>
              <a:srgbClr val="3AA6A0"/>
            </a:solidFill>
            <a:prstDash val="solid"/>
          </a:ln>
        </p:spPr>
      </p:sp>
      <p:sp>
        <p:nvSpPr>
          <p:cNvPr id="66" name="Shape 64"/>
          <p:cNvSpPr/>
          <p:nvPr/>
        </p:nvSpPr>
        <p:spPr>
          <a:xfrm>
            <a:off x="9283446" y="4795612"/>
            <a:ext cx="0" cy="109728"/>
          </a:xfrm>
          <a:prstGeom prst="line">
            <a:avLst/>
          </a:prstGeom>
          <a:noFill/>
          <a:ln w="25400">
            <a:solidFill>
              <a:srgbClr val="3AA6A0"/>
            </a:solidFill>
            <a:prstDash val="solid"/>
          </a:ln>
        </p:spPr>
      </p:sp>
      <p:sp>
        <p:nvSpPr>
          <p:cNvPr id="67" name="Shape 65"/>
          <p:cNvSpPr/>
          <p:nvPr/>
        </p:nvSpPr>
        <p:spPr>
          <a:xfrm>
            <a:off x="8014259" y="4804756"/>
            <a:ext cx="91440" cy="91440"/>
          </a:xfrm>
          <a:prstGeom prst="diamond">
            <a:avLst/>
          </a:prstGeom>
          <a:solidFill>
            <a:srgbClr val="0E7C86"/>
          </a:solidFill>
          <a:ln/>
        </p:spPr>
      </p:sp>
      <p:sp>
        <p:nvSpPr>
          <p:cNvPr id="68" name="Text 66"/>
          <p:cNvSpPr/>
          <p:nvPr/>
        </p:nvSpPr>
        <p:spPr>
          <a:xfrm>
            <a:off x="9838944" y="4704172"/>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1.15 (0.55 to 1.75)</a:t>
            </a:r>
            <a:endParaRPr lang="en-US" sz="950" dirty="0"/>
          </a:p>
        </p:txBody>
      </p:sp>
      <p:sp>
        <p:nvSpPr>
          <p:cNvPr id="69" name="Text 67"/>
          <p:cNvSpPr/>
          <p:nvPr/>
        </p:nvSpPr>
        <p:spPr>
          <a:xfrm>
            <a:off x="566928" y="5086558"/>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SGLT2i: yes</a:t>
            </a:r>
            <a:endParaRPr lang="en-US" sz="1100" dirty="0"/>
          </a:p>
        </p:txBody>
      </p:sp>
      <p:sp>
        <p:nvSpPr>
          <p:cNvPr id="70" name="Shape 68"/>
          <p:cNvSpPr/>
          <p:nvPr/>
        </p:nvSpPr>
        <p:spPr>
          <a:xfrm>
            <a:off x="5592653" y="5232862"/>
            <a:ext cx="3650010" cy="0"/>
          </a:xfrm>
          <a:prstGeom prst="line">
            <a:avLst/>
          </a:prstGeom>
          <a:noFill/>
          <a:ln w="25400">
            <a:solidFill>
              <a:srgbClr val="3AA6A0"/>
            </a:solidFill>
            <a:prstDash val="solid"/>
          </a:ln>
        </p:spPr>
      </p:sp>
      <p:sp>
        <p:nvSpPr>
          <p:cNvPr id="71" name="Shape 69"/>
          <p:cNvSpPr/>
          <p:nvPr/>
        </p:nvSpPr>
        <p:spPr>
          <a:xfrm>
            <a:off x="5592653" y="5177998"/>
            <a:ext cx="0" cy="109728"/>
          </a:xfrm>
          <a:prstGeom prst="line">
            <a:avLst/>
          </a:prstGeom>
          <a:noFill/>
          <a:ln w="25400">
            <a:solidFill>
              <a:srgbClr val="3AA6A0"/>
            </a:solidFill>
            <a:prstDash val="solid"/>
          </a:ln>
        </p:spPr>
      </p:sp>
      <p:sp>
        <p:nvSpPr>
          <p:cNvPr id="72" name="Shape 70"/>
          <p:cNvSpPr/>
          <p:nvPr/>
        </p:nvSpPr>
        <p:spPr>
          <a:xfrm>
            <a:off x="9242664" y="5177998"/>
            <a:ext cx="0" cy="109728"/>
          </a:xfrm>
          <a:prstGeom prst="line">
            <a:avLst/>
          </a:prstGeom>
          <a:noFill/>
          <a:ln w="25400">
            <a:solidFill>
              <a:srgbClr val="3AA6A0"/>
            </a:solidFill>
            <a:prstDash val="solid"/>
          </a:ln>
        </p:spPr>
      </p:sp>
      <p:sp>
        <p:nvSpPr>
          <p:cNvPr id="73" name="Shape 71"/>
          <p:cNvSpPr/>
          <p:nvPr/>
        </p:nvSpPr>
        <p:spPr>
          <a:xfrm>
            <a:off x="7382134" y="5187142"/>
            <a:ext cx="91440" cy="91440"/>
          </a:xfrm>
          <a:prstGeom prst="diamond">
            <a:avLst/>
          </a:prstGeom>
          <a:solidFill>
            <a:srgbClr val="0E7C86"/>
          </a:solidFill>
          <a:ln/>
        </p:spPr>
      </p:sp>
      <p:sp>
        <p:nvSpPr>
          <p:cNvPr id="74" name="Text 72"/>
          <p:cNvSpPr/>
          <p:nvPr/>
        </p:nvSpPr>
        <p:spPr>
          <a:xfrm>
            <a:off x="9838944" y="5086558"/>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0.84 (-0.06 to 1.73)</a:t>
            </a:r>
            <a:endParaRPr lang="en-US" sz="950" dirty="0"/>
          </a:p>
        </p:txBody>
      </p:sp>
      <p:sp>
        <p:nvSpPr>
          <p:cNvPr id="75" name="Text 73"/>
          <p:cNvSpPr/>
          <p:nvPr/>
        </p:nvSpPr>
        <p:spPr>
          <a:xfrm>
            <a:off x="566928" y="5468943"/>
            <a:ext cx="3017520" cy="292608"/>
          </a:xfrm>
          <a:prstGeom prst="rect">
            <a:avLst/>
          </a:prstGeom>
          <a:noFill/>
          <a:ln/>
        </p:spPr>
        <p:txBody>
          <a:bodyPr wrap="square" lIns="0" tIns="0" rIns="0" bIns="0" rtlCol="0" anchor="ctr"/>
          <a:lstStyle/>
          <a:p>
            <a:pPr indent="0" marL="0">
              <a:buNone/>
            </a:pPr>
            <a:r>
              <a:rPr lang="en-US" sz="1100" dirty="0">
                <a:solidFill>
                  <a:srgbClr val="1B2A2E"/>
                </a:solidFill>
                <a:latin typeface="Calibri" pitchFamily="34" charset="0"/>
                <a:ea typeface="Calibri" pitchFamily="34" charset="-122"/>
                <a:cs typeface="Calibri" pitchFamily="34" charset="-120"/>
              </a:rPr>
              <a:t>SGLT2i: no</a:t>
            </a:r>
            <a:endParaRPr lang="en-US" sz="1100" dirty="0"/>
          </a:p>
        </p:txBody>
      </p:sp>
      <p:sp>
        <p:nvSpPr>
          <p:cNvPr id="76" name="Shape 74"/>
          <p:cNvSpPr/>
          <p:nvPr/>
        </p:nvSpPr>
        <p:spPr>
          <a:xfrm>
            <a:off x="6224778" y="5615247"/>
            <a:ext cx="1651681" cy="0"/>
          </a:xfrm>
          <a:prstGeom prst="line">
            <a:avLst/>
          </a:prstGeom>
          <a:noFill/>
          <a:ln w="25400">
            <a:solidFill>
              <a:srgbClr val="3AA6A0"/>
            </a:solidFill>
            <a:prstDash val="solid"/>
          </a:ln>
        </p:spPr>
      </p:sp>
      <p:sp>
        <p:nvSpPr>
          <p:cNvPr id="77" name="Shape 75"/>
          <p:cNvSpPr/>
          <p:nvPr/>
        </p:nvSpPr>
        <p:spPr>
          <a:xfrm>
            <a:off x="6224778" y="5560383"/>
            <a:ext cx="0" cy="109728"/>
          </a:xfrm>
          <a:prstGeom prst="line">
            <a:avLst/>
          </a:prstGeom>
          <a:noFill/>
          <a:ln w="25400">
            <a:solidFill>
              <a:srgbClr val="3AA6A0"/>
            </a:solidFill>
            <a:prstDash val="solid"/>
          </a:ln>
        </p:spPr>
      </p:sp>
      <p:sp>
        <p:nvSpPr>
          <p:cNvPr id="78" name="Shape 76"/>
          <p:cNvSpPr/>
          <p:nvPr/>
        </p:nvSpPr>
        <p:spPr>
          <a:xfrm>
            <a:off x="7876459" y="5560383"/>
            <a:ext cx="0" cy="109728"/>
          </a:xfrm>
          <a:prstGeom prst="line">
            <a:avLst/>
          </a:prstGeom>
          <a:noFill/>
          <a:ln w="25400">
            <a:solidFill>
              <a:srgbClr val="3AA6A0"/>
            </a:solidFill>
            <a:prstDash val="solid"/>
          </a:ln>
        </p:spPr>
      </p:sp>
      <p:sp>
        <p:nvSpPr>
          <p:cNvPr id="79" name="Shape 77"/>
          <p:cNvSpPr/>
          <p:nvPr/>
        </p:nvSpPr>
        <p:spPr>
          <a:xfrm>
            <a:off x="6994703" y="5569527"/>
            <a:ext cx="91440" cy="91440"/>
          </a:xfrm>
          <a:prstGeom prst="diamond">
            <a:avLst/>
          </a:prstGeom>
          <a:solidFill>
            <a:srgbClr val="0E7C86"/>
          </a:solidFill>
          <a:ln/>
        </p:spPr>
      </p:sp>
      <p:sp>
        <p:nvSpPr>
          <p:cNvPr id="80" name="Text 78"/>
          <p:cNvSpPr/>
          <p:nvPr/>
        </p:nvSpPr>
        <p:spPr>
          <a:xfrm>
            <a:off x="9838944" y="5468943"/>
            <a:ext cx="1783080" cy="292608"/>
          </a:xfrm>
          <a:prstGeom prst="rect">
            <a:avLst/>
          </a:prstGeom>
          <a:noFill/>
          <a:ln/>
        </p:spPr>
        <p:txBody>
          <a:bodyPr wrap="square" lIns="0" tIns="0" rIns="0" bIns="0" rtlCol="0" anchor="ctr"/>
          <a:lstStyle/>
          <a:p>
            <a:pPr algn="l" indent="0" marL="0">
              <a:buNone/>
            </a:pPr>
            <a:r>
              <a:rPr lang="en-US" sz="950" dirty="0">
                <a:solidFill>
                  <a:srgbClr val="5C6B70"/>
                </a:solidFill>
                <a:latin typeface="Calibri" pitchFamily="34" charset="0"/>
                <a:ea typeface="Calibri" pitchFamily="34" charset="-122"/>
                <a:cs typeface="Calibri" pitchFamily="34" charset="-120"/>
              </a:rPr>
              <a:t>0.65 (0.25 to 1.06)</a:t>
            </a:r>
            <a:endParaRPr lang="en-US" sz="950" dirty="0"/>
          </a:p>
        </p:txBody>
      </p:sp>
      <p:sp>
        <p:nvSpPr>
          <p:cNvPr id="82" name="Text 79"/>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83" name="Text 80"/>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Secondary clinical outcomes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SECONDARY  ·  FIGURE 3</a:t>
            </a:r>
            <a:endParaRPr lang="en-US" sz="1150" dirty="0"/>
          </a:p>
        </p:txBody>
      </p:sp>
      <p:graphicFrame>
        <p:nvGraphicFramePr>
          <p:cNvPr id="4" name="Chart 0" descr=""/>
          <p:cNvGraphicFramePr/>
          <p:nvPr/>
        </p:nvGraphicFramePr>
        <p:xfrm>
          <a:off x="566928" y="1417320"/>
          <a:ext cx="5943600" cy="4023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66928" y="5486400"/>
            <a:ext cx="5943600" cy="274320"/>
          </a:xfrm>
          <a:prstGeom prst="rect">
            <a:avLst/>
          </a:prstGeom>
          <a:noFill/>
          <a:ln/>
        </p:spPr>
        <p:txBody>
          <a:bodyPr wrap="square" lIns="0" tIns="0" rIns="0" bIns="0" rtlCol="0" anchor="ctr"/>
          <a:lstStyle/>
          <a:p>
            <a:pPr indent="0" marL="0">
              <a:buNone/>
            </a:pPr>
            <a:r>
              <a:rPr lang="en-US" sz="900" i="1" dirty="0">
                <a:solidFill>
                  <a:srgbClr val="5C6B70"/>
                </a:solidFill>
                <a:latin typeface="Calibri" pitchFamily="34" charset="0"/>
                <a:ea typeface="Calibri" pitchFamily="34" charset="-122"/>
                <a:cs typeface="Calibri" pitchFamily="34" charset="-120"/>
              </a:rPr>
              <a:t>Cumulative incidence reconstructed from reported event rates for illustration.</a:t>
            </a:r>
            <a:endParaRPr lang="en-US" sz="900" dirty="0"/>
          </a:p>
        </p:txBody>
      </p:sp>
      <p:sp>
        <p:nvSpPr>
          <p:cNvPr id="6" name="Shape 3"/>
          <p:cNvSpPr/>
          <p:nvPr/>
        </p:nvSpPr>
        <p:spPr>
          <a:xfrm>
            <a:off x="6830568" y="1417320"/>
            <a:ext cx="4791456" cy="1298448"/>
          </a:xfrm>
          <a:prstGeom prst="roundRect">
            <a:avLst>
              <a:gd name="adj" fmla="val 6338"/>
            </a:avLst>
          </a:prstGeom>
          <a:solidFill>
            <a:srgbClr val="F1F6F6"/>
          </a:solidFill>
          <a:ln/>
          <a:effectLst>
            <a:outerShdw sx="100000" sy="100000" kx="0" ky="0" algn="bl" rotWithShape="0" blurRad="88900" dist="25400" dir="5400000">
              <a:srgbClr val="9BB0B0">
                <a:alpha val="28000"/>
              </a:srgbClr>
            </a:outerShdw>
          </a:effectLst>
        </p:spPr>
      </p:sp>
      <p:sp>
        <p:nvSpPr>
          <p:cNvPr id="7" name="Text 4"/>
          <p:cNvSpPr/>
          <p:nvPr/>
        </p:nvSpPr>
        <p:spPr>
          <a:xfrm>
            <a:off x="7050024" y="1527048"/>
            <a:ext cx="3054096" cy="310896"/>
          </a:xfrm>
          <a:prstGeom prst="rect">
            <a:avLst/>
          </a:prstGeom>
          <a:noFill/>
          <a:ln/>
        </p:spPr>
        <p:txBody>
          <a:bodyPr wrap="square" lIns="0" tIns="0" rIns="0" bIns="0" rtlCol="0" anchor="ctr"/>
          <a:lstStyle/>
          <a:p>
            <a:pPr indent="0" marL="0">
              <a:buNone/>
            </a:pPr>
            <a:r>
              <a:rPr lang="en-US" sz="1300" b="1" dirty="0">
                <a:solidFill>
                  <a:srgbClr val="0B3D46"/>
                </a:solidFill>
                <a:latin typeface="Calibri" pitchFamily="34" charset="0"/>
                <a:ea typeface="Calibri" pitchFamily="34" charset="-122"/>
                <a:cs typeface="Calibri" pitchFamily="34" charset="-120"/>
              </a:rPr>
              <a:t>Composite kidney–CV</a:t>
            </a:r>
            <a:endParaRPr lang="en-US" sz="1300" dirty="0"/>
          </a:p>
        </p:txBody>
      </p:sp>
      <p:sp>
        <p:nvSpPr>
          <p:cNvPr id="8" name="Text 5"/>
          <p:cNvSpPr/>
          <p:nvPr/>
        </p:nvSpPr>
        <p:spPr>
          <a:xfrm>
            <a:off x="9976104" y="1490472"/>
            <a:ext cx="1463040" cy="457200"/>
          </a:xfrm>
          <a:prstGeom prst="rect">
            <a:avLst/>
          </a:prstGeom>
          <a:noFill/>
          <a:ln/>
        </p:spPr>
        <p:txBody>
          <a:bodyPr wrap="square" lIns="0" tIns="0" rIns="0" bIns="0" rtlCol="0" anchor="ctr"/>
          <a:lstStyle/>
          <a:p>
            <a:pPr algn="r" indent="0" marL="0">
              <a:buNone/>
            </a:pPr>
            <a:r>
              <a:rPr lang="en-US" sz="1200" dirty="0">
                <a:solidFill>
                  <a:srgbClr val="5C6B70"/>
                </a:solidFill>
                <a:latin typeface="Calibri" pitchFamily="34" charset="0"/>
                <a:ea typeface="Calibri" pitchFamily="34" charset="-122"/>
                <a:cs typeface="Calibri" pitchFamily="34" charset="-120"/>
              </a:rPr>
              <a:t>HR </a:t>
            </a:r>
            <a:pPr algn="r" indent="0" marL="0">
              <a:buNone/>
            </a:pPr>
            <a:r>
              <a:rPr lang="en-US" sz="2400" b="1" dirty="0">
                <a:solidFill>
                  <a:srgbClr val="0E7C86"/>
                </a:solidFill>
                <a:latin typeface="Calibri" pitchFamily="34" charset="0"/>
                <a:ea typeface="Calibri" pitchFamily="34" charset="-122"/>
                <a:cs typeface="Calibri" pitchFamily="34" charset="-120"/>
              </a:rPr>
              <a:t>0.77</a:t>
            </a:r>
            <a:endParaRPr lang="en-US" sz="1200" dirty="0"/>
          </a:p>
        </p:txBody>
      </p:sp>
      <p:sp>
        <p:nvSpPr>
          <p:cNvPr id="9" name="Text 6"/>
          <p:cNvSpPr/>
          <p:nvPr/>
        </p:nvSpPr>
        <p:spPr>
          <a:xfrm>
            <a:off x="7050024" y="1911096"/>
            <a:ext cx="4334256" cy="292608"/>
          </a:xfrm>
          <a:prstGeom prst="rect">
            <a:avLst/>
          </a:prstGeom>
          <a:noFill/>
          <a:ln/>
        </p:spPr>
        <p:txBody>
          <a:bodyPr wrap="square" lIns="0" tIns="0" rIns="0" bIns="0" rtlCol="0" anchor="ctr"/>
          <a:lstStyle/>
          <a:p>
            <a:pPr indent="0" marL="0">
              <a:buNone/>
            </a:pPr>
            <a:r>
              <a:rPr lang="en-US" sz="1100" dirty="0">
                <a:solidFill>
                  <a:srgbClr val="5C6B70"/>
                </a:solidFill>
                <a:latin typeface="Calibri" pitchFamily="34" charset="0"/>
                <a:ea typeface="Calibri" pitchFamily="34" charset="-122"/>
                <a:cs typeface="Calibri" pitchFamily="34" charset="-120"/>
              </a:rPr>
              <a:t>Finerenone </a:t>
            </a:r>
            <a:pPr indent="0" marL="0">
              <a:buNone/>
            </a:pPr>
            <a:r>
              <a:rPr lang="en-US" sz="1100" b="1" dirty="0">
                <a:solidFill>
                  <a:srgbClr val="1B2A2E"/>
                </a:solidFill>
                <a:latin typeface="Calibri" pitchFamily="34" charset="0"/>
                <a:ea typeface="Calibri" pitchFamily="34" charset="-122"/>
                <a:cs typeface="Calibri" pitchFamily="34" charset="-120"/>
              </a:rPr>
              <a:t>110 (13.9%)    </a:t>
            </a:r>
            <a:pPr indent="0" marL="0">
              <a:buNone/>
            </a:pPr>
            <a:r>
              <a:rPr lang="en-US" sz="1100" dirty="0">
                <a:solidFill>
                  <a:srgbClr val="5C6B70"/>
                </a:solidFill>
                <a:latin typeface="Calibri" pitchFamily="34" charset="0"/>
                <a:ea typeface="Calibri" pitchFamily="34" charset="-122"/>
                <a:cs typeface="Calibri" pitchFamily="34" charset="-120"/>
              </a:rPr>
              <a:t>Placebo </a:t>
            </a:r>
            <a:pPr indent="0" marL="0">
              <a:buNone/>
            </a:pPr>
            <a:r>
              <a:rPr lang="en-US" sz="1100" b="1" dirty="0">
                <a:solidFill>
                  <a:srgbClr val="1B2A2E"/>
                </a:solidFill>
                <a:latin typeface="Calibri" pitchFamily="34" charset="0"/>
                <a:ea typeface="Calibri" pitchFamily="34" charset="-122"/>
                <a:cs typeface="Calibri" pitchFamily="34" charset="-120"/>
              </a:rPr>
              <a:t>134 (16.9%)</a:t>
            </a:r>
            <a:endParaRPr lang="en-US" sz="1100" dirty="0"/>
          </a:p>
        </p:txBody>
      </p:sp>
      <p:sp>
        <p:nvSpPr>
          <p:cNvPr id="10" name="Text 7"/>
          <p:cNvSpPr/>
          <p:nvPr/>
        </p:nvSpPr>
        <p:spPr>
          <a:xfrm>
            <a:off x="7050024" y="2276856"/>
            <a:ext cx="4334256" cy="32004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95% CI 0.60–0.99    </a:t>
            </a:r>
            <a:pPr indent="0" marL="0">
              <a:buNone/>
            </a:pPr>
            <a:r>
              <a:rPr lang="en-US" sz="1150" b="1" dirty="0">
                <a:solidFill>
                  <a:srgbClr val="0E7C86"/>
                </a:solidFill>
                <a:latin typeface="Calibri" pitchFamily="34" charset="0"/>
                <a:ea typeface="Calibri" pitchFamily="34" charset="-122"/>
                <a:cs typeface="Calibri" pitchFamily="34" charset="-120"/>
              </a:rPr>
              <a:t>P = 0.04</a:t>
            </a:r>
            <a:endParaRPr lang="en-US" sz="1150" dirty="0"/>
          </a:p>
        </p:txBody>
      </p:sp>
      <p:sp>
        <p:nvSpPr>
          <p:cNvPr id="11" name="Shape 8"/>
          <p:cNvSpPr/>
          <p:nvPr/>
        </p:nvSpPr>
        <p:spPr>
          <a:xfrm>
            <a:off x="6830568" y="2825496"/>
            <a:ext cx="4791456" cy="1298448"/>
          </a:xfrm>
          <a:prstGeom prst="roundRect">
            <a:avLst>
              <a:gd name="adj" fmla="val 6338"/>
            </a:avLst>
          </a:prstGeom>
          <a:solidFill>
            <a:srgbClr val="FFFFFF"/>
          </a:solidFill>
          <a:ln w="12700">
            <a:solidFill>
              <a:srgbClr val="CBD9D9"/>
            </a:solidFill>
            <a:prstDash val="solid"/>
          </a:ln>
        </p:spPr>
      </p:sp>
      <p:sp>
        <p:nvSpPr>
          <p:cNvPr id="12" name="Text 9"/>
          <p:cNvSpPr/>
          <p:nvPr/>
        </p:nvSpPr>
        <p:spPr>
          <a:xfrm>
            <a:off x="7050024" y="2935224"/>
            <a:ext cx="3054096" cy="310896"/>
          </a:xfrm>
          <a:prstGeom prst="rect">
            <a:avLst/>
          </a:prstGeom>
          <a:noFill/>
          <a:ln/>
        </p:spPr>
        <p:txBody>
          <a:bodyPr wrap="square" lIns="0" tIns="0" rIns="0" bIns="0" rtlCol="0" anchor="ctr"/>
          <a:lstStyle/>
          <a:p>
            <a:pPr indent="0" marL="0">
              <a:buNone/>
            </a:pPr>
            <a:r>
              <a:rPr lang="en-US" sz="1300" b="1" dirty="0">
                <a:solidFill>
                  <a:srgbClr val="0B3D46"/>
                </a:solidFill>
                <a:latin typeface="Calibri" pitchFamily="34" charset="0"/>
                <a:ea typeface="Calibri" pitchFamily="34" charset="-122"/>
                <a:cs typeface="Calibri" pitchFamily="34" charset="-120"/>
              </a:rPr>
              <a:t>Composite kidney</a:t>
            </a:r>
            <a:endParaRPr lang="en-US" sz="1300" dirty="0"/>
          </a:p>
        </p:txBody>
      </p:sp>
      <p:sp>
        <p:nvSpPr>
          <p:cNvPr id="13" name="Text 10"/>
          <p:cNvSpPr/>
          <p:nvPr/>
        </p:nvSpPr>
        <p:spPr>
          <a:xfrm>
            <a:off x="9976104" y="2898648"/>
            <a:ext cx="1463040" cy="457200"/>
          </a:xfrm>
          <a:prstGeom prst="rect">
            <a:avLst/>
          </a:prstGeom>
          <a:noFill/>
          <a:ln/>
        </p:spPr>
        <p:txBody>
          <a:bodyPr wrap="square" lIns="0" tIns="0" rIns="0" bIns="0" rtlCol="0" anchor="ctr"/>
          <a:lstStyle/>
          <a:p>
            <a:pPr algn="r" indent="0" marL="0">
              <a:buNone/>
            </a:pPr>
            <a:r>
              <a:rPr lang="en-US" sz="1200" dirty="0">
                <a:solidFill>
                  <a:srgbClr val="5C6B70"/>
                </a:solidFill>
                <a:latin typeface="Calibri" pitchFamily="34" charset="0"/>
                <a:ea typeface="Calibri" pitchFamily="34" charset="-122"/>
                <a:cs typeface="Calibri" pitchFamily="34" charset="-120"/>
              </a:rPr>
              <a:t>HR </a:t>
            </a:r>
            <a:pPr algn="r" indent="0" marL="0">
              <a:buNone/>
            </a:pPr>
            <a:r>
              <a:rPr lang="en-US" sz="2400" b="1" dirty="0">
                <a:solidFill>
                  <a:srgbClr val="E08A2E"/>
                </a:solidFill>
                <a:latin typeface="Calibri" pitchFamily="34" charset="0"/>
                <a:ea typeface="Calibri" pitchFamily="34" charset="-122"/>
                <a:cs typeface="Calibri" pitchFamily="34" charset="-120"/>
              </a:rPr>
              <a:t>0.78</a:t>
            </a:r>
            <a:endParaRPr lang="en-US" sz="1200" dirty="0"/>
          </a:p>
        </p:txBody>
      </p:sp>
      <p:sp>
        <p:nvSpPr>
          <p:cNvPr id="14" name="Text 11"/>
          <p:cNvSpPr/>
          <p:nvPr/>
        </p:nvSpPr>
        <p:spPr>
          <a:xfrm>
            <a:off x="7050024" y="3319272"/>
            <a:ext cx="4334256" cy="292608"/>
          </a:xfrm>
          <a:prstGeom prst="rect">
            <a:avLst/>
          </a:prstGeom>
          <a:noFill/>
          <a:ln/>
        </p:spPr>
        <p:txBody>
          <a:bodyPr wrap="square" lIns="0" tIns="0" rIns="0" bIns="0" rtlCol="0" anchor="ctr"/>
          <a:lstStyle/>
          <a:p>
            <a:pPr indent="0" marL="0">
              <a:buNone/>
            </a:pPr>
            <a:r>
              <a:rPr lang="en-US" sz="1100" dirty="0">
                <a:solidFill>
                  <a:srgbClr val="5C6B70"/>
                </a:solidFill>
                <a:latin typeface="Calibri" pitchFamily="34" charset="0"/>
                <a:ea typeface="Calibri" pitchFamily="34" charset="-122"/>
                <a:cs typeface="Calibri" pitchFamily="34" charset="-120"/>
              </a:rPr>
              <a:t>Finerenone </a:t>
            </a:r>
            <a:pPr indent="0" marL="0">
              <a:buNone/>
            </a:pPr>
            <a:r>
              <a:rPr lang="en-US" sz="1100" b="1" dirty="0">
                <a:solidFill>
                  <a:srgbClr val="1B2A2E"/>
                </a:solidFill>
                <a:latin typeface="Calibri" pitchFamily="34" charset="0"/>
                <a:ea typeface="Calibri" pitchFamily="34" charset="-122"/>
                <a:cs typeface="Calibri" pitchFamily="34" charset="-120"/>
              </a:rPr>
              <a:t>104 (13.1%)    </a:t>
            </a:r>
            <a:pPr indent="0" marL="0">
              <a:buNone/>
            </a:pPr>
            <a:r>
              <a:rPr lang="en-US" sz="1100" dirty="0">
                <a:solidFill>
                  <a:srgbClr val="5C6B70"/>
                </a:solidFill>
                <a:latin typeface="Calibri" pitchFamily="34" charset="0"/>
                <a:ea typeface="Calibri" pitchFamily="34" charset="-122"/>
                <a:cs typeface="Calibri" pitchFamily="34" charset="-120"/>
              </a:rPr>
              <a:t>Placebo </a:t>
            </a:r>
            <a:pPr indent="0" marL="0">
              <a:buNone/>
            </a:pPr>
            <a:r>
              <a:rPr lang="en-US" sz="1100" b="1" dirty="0">
                <a:solidFill>
                  <a:srgbClr val="1B2A2E"/>
                </a:solidFill>
                <a:latin typeface="Calibri" pitchFamily="34" charset="0"/>
                <a:ea typeface="Calibri" pitchFamily="34" charset="-122"/>
                <a:cs typeface="Calibri" pitchFamily="34" charset="-120"/>
              </a:rPr>
              <a:t>125 (15.8%)</a:t>
            </a:r>
            <a:endParaRPr lang="en-US" sz="1100" dirty="0"/>
          </a:p>
        </p:txBody>
      </p:sp>
      <p:sp>
        <p:nvSpPr>
          <p:cNvPr id="15" name="Text 12"/>
          <p:cNvSpPr/>
          <p:nvPr/>
        </p:nvSpPr>
        <p:spPr>
          <a:xfrm>
            <a:off x="7050024" y="3685032"/>
            <a:ext cx="4334256" cy="32004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95% CI 0.60–1.01    </a:t>
            </a:r>
            <a:pPr indent="0" marL="0">
              <a:buNone/>
            </a:pPr>
            <a:r>
              <a:rPr lang="en-US" sz="1150" b="1" dirty="0">
                <a:solidFill>
                  <a:srgbClr val="E08A2E"/>
                </a:solidFill>
                <a:latin typeface="Calibri" pitchFamily="34" charset="0"/>
                <a:ea typeface="Calibri" pitchFamily="34" charset="-122"/>
                <a:cs typeface="Calibri" pitchFamily="34" charset="-120"/>
              </a:rPr>
              <a:t>P = 0.06</a:t>
            </a:r>
            <a:endParaRPr lang="en-US" sz="1150" dirty="0"/>
          </a:p>
        </p:txBody>
      </p:sp>
      <p:sp>
        <p:nvSpPr>
          <p:cNvPr id="16" name="Shape 13"/>
          <p:cNvSpPr/>
          <p:nvPr/>
        </p:nvSpPr>
        <p:spPr>
          <a:xfrm>
            <a:off x="6830568" y="4233672"/>
            <a:ext cx="4791456" cy="1298448"/>
          </a:xfrm>
          <a:prstGeom prst="roundRect">
            <a:avLst>
              <a:gd name="adj" fmla="val 6338"/>
            </a:avLst>
          </a:prstGeom>
          <a:solidFill>
            <a:srgbClr val="FFFFFF"/>
          </a:solidFill>
          <a:ln w="12700">
            <a:solidFill>
              <a:srgbClr val="CBD9D9"/>
            </a:solidFill>
            <a:prstDash val="solid"/>
          </a:ln>
        </p:spPr>
      </p:sp>
      <p:sp>
        <p:nvSpPr>
          <p:cNvPr id="17" name="Text 14"/>
          <p:cNvSpPr/>
          <p:nvPr/>
        </p:nvSpPr>
        <p:spPr>
          <a:xfrm>
            <a:off x="7050024" y="4343400"/>
            <a:ext cx="3054096" cy="310896"/>
          </a:xfrm>
          <a:prstGeom prst="rect">
            <a:avLst/>
          </a:prstGeom>
          <a:noFill/>
          <a:ln/>
        </p:spPr>
        <p:txBody>
          <a:bodyPr wrap="square" lIns="0" tIns="0" rIns="0" bIns="0" rtlCol="0" anchor="ctr"/>
          <a:lstStyle/>
          <a:p>
            <a:pPr indent="0" marL="0">
              <a:buNone/>
            </a:pPr>
            <a:r>
              <a:rPr lang="en-US" sz="1300" b="1" dirty="0">
                <a:solidFill>
                  <a:srgbClr val="0B3D46"/>
                </a:solidFill>
                <a:latin typeface="Calibri" pitchFamily="34" charset="0"/>
                <a:ea typeface="Calibri" pitchFamily="34" charset="-122"/>
                <a:cs typeface="Calibri" pitchFamily="34" charset="-120"/>
              </a:rPr>
              <a:t>Composite CV</a:t>
            </a:r>
            <a:endParaRPr lang="en-US" sz="1300" dirty="0"/>
          </a:p>
        </p:txBody>
      </p:sp>
      <p:sp>
        <p:nvSpPr>
          <p:cNvPr id="18" name="Text 15"/>
          <p:cNvSpPr/>
          <p:nvPr/>
        </p:nvSpPr>
        <p:spPr>
          <a:xfrm>
            <a:off x="9976104" y="4306824"/>
            <a:ext cx="1463040" cy="457200"/>
          </a:xfrm>
          <a:prstGeom prst="rect">
            <a:avLst/>
          </a:prstGeom>
          <a:noFill/>
          <a:ln/>
        </p:spPr>
        <p:txBody>
          <a:bodyPr wrap="square" lIns="0" tIns="0" rIns="0" bIns="0" rtlCol="0" anchor="ctr"/>
          <a:lstStyle/>
          <a:p>
            <a:pPr algn="r" indent="0" marL="0">
              <a:buNone/>
            </a:pPr>
            <a:r>
              <a:rPr lang="en-US" sz="1200" dirty="0">
                <a:solidFill>
                  <a:srgbClr val="5C6B70"/>
                </a:solidFill>
                <a:latin typeface="Calibri" pitchFamily="34" charset="0"/>
                <a:ea typeface="Calibri" pitchFamily="34" charset="-122"/>
                <a:cs typeface="Calibri" pitchFamily="34" charset="-120"/>
              </a:rPr>
              <a:t>HR </a:t>
            </a:r>
            <a:pPr algn="r" indent="0" marL="0">
              <a:buNone/>
            </a:pPr>
            <a:r>
              <a:rPr lang="en-US" sz="2400" b="1" dirty="0">
                <a:solidFill>
                  <a:srgbClr val="9AA7AD"/>
                </a:solidFill>
                <a:latin typeface="Calibri" pitchFamily="34" charset="0"/>
                <a:ea typeface="Calibri" pitchFamily="34" charset="-122"/>
                <a:cs typeface="Calibri" pitchFamily="34" charset="-120"/>
              </a:rPr>
              <a:t>0.60</a:t>
            </a:r>
            <a:endParaRPr lang="en-US" sz="1200" dirty="0"/>
          </a:p>
        </p:txBody>
      </p:sp>
      <p:sp>
        <p:nvSpPr>
          <p:cNvPr id="19" name="Text 16"/>
          <p:cNvSpPr/>
          <p:nvPr/>
        </p:nvSpPr>
        <p:spPr>
          <a:xfrm>
            <a:off x="7050024" y="4727448"/>
            <a:ext cx="4334256" cy="292608"/>
          </a:xfrm>
          <a:prstGeom prst="rect">
            <a:avLst/>
          </a:prstGeom>
          <a:noFill/>
          <a:ln/>
        </p:spPr>
        <p:txBody>
          <a:bodyPr wrap="square" lIns="0" tIns="0" rIns="0" bIns="0" rtlCol="0" anchor="ctr"/>
          <a:lstStyle/>
          <a:p>
            <a:pPr indent="0" marL="0">
              <a:buNone/>
            </a:pPr>
            <a:r>
              <a:rPr lang="en-US" sz="1100" dirty="0">
                <a:solidFill>
                  <a:srgbClr val="5C6B70"/>
                </a:solidFill>
                <a:latin typeface="Calibri" pitchFamily="34" charset="0"/>
                <a:ea typeface="Calibri" pitchFamily="34" charset="-122"/>
                <a:cs typeface="Calibri" pitchFamily="34" charset="-120"/>
              </a:rPr>
              <a:t>Finerenone </a:t>
            </a:r>
            <a:pPr indent="0" marL="0">
              <a:buNone/>
            </a:pPr>
            <a:r>
              <a:rPr lang="en-US" sz="1100" b="1" dirty="0">
                <a:solidFill>
                  <a:srgbClr val="1B2A2E"/>
                </a:solidFill>
                <a:latin typeface="Calibri" pitchFamily="34" charset="0"/>
                <a:ea typeface="Calibri" pitchFamily="34" charset="-122"/>
                <a:cs typeface="Calibri" pitchFamily="34" charset="-120"/>
              </a:rPr>
              <a:t>10 (1.3%)    </a:t>
            </a:r>
            <a:pPr indent="0" marL="0">
              <a:buNone/>
            </a:pPr>
            <a:r>
              <a:rPr lang="en-US" sz="1100" dirty="0">
                <a:solidFill>
                  <a:srgbClr val="5C6B70"/>
                </a:solidFill>
                <a:latin typeface="Calibri" pitchFamily="34" charset="0"/>
                <a:ea typeface="Calibri" pitchFamily="34" charset="-122"/>
                <a:cs typeface="Calibri" pitchFamily="34" charset="-120"/>
              </a:rPr>
              <a:t>Placebo </a:t>
            </a:r>
            <a:pPr indent="0" marL="0">
              <a:buNone/>
            </a:pPr>
            <a:r>
              <a:rPr lang="en-US" sz="1100" b="1" dirty="0">
                <a:solidFill>
                  <a:srgbClr val="1B2A2E"/>
                </a:solidFill>
                <a:latin typeface="Calibri" pitchFamily="34" charset="0"/>
                <a:ea typeface="Calibri" pitchFamily="34" charset="-122"/>
                <a:cs typeface="Calibri" pitchFamily="34" charset="-120"/>
              </a:rPr>
              <a:t>16 (2.0%)</a:t>
            </a:r>
            <a:endParaRPr lang="en-US" sz="1100" dirty="0"/>
          </a:p>
        </p:txBody>
      </p:sp>
      <p:sp>
        <p:nvSpPr>
          <p:cNvPr id="20" name="Text 17"/>
          <p:cNvSpPr/>
          <p:nvPr/>
        </p:nvSpPr>
        <p:spPr>
          <a:xfrm>
            <a:off x="7050024" y="5093208"/>
            <a:ext cx="4334256" cy="32004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95% CI 0.27–1.33    </a:t>
            </a:r>
            <a:pPr indent="0" marL="0">
              <a:buNone/>
            </a:pPr>
            <a:r>
              <a:rPr lang="en-US" sz="1150" b="1" dirty="0">
                <a:solidFill>
                  <a:srgbClr val="9AA7AD"/>
                </a:solidFill>
                <a:latin typeface="Calibri" pitchFamily="34" charset="0"/>
                <a:ea typeface="Calibri" pitchFamily="34" charset="-122"/>
                <a:cs typeface="Calibri" pitchFamily="34" charset="-120"/>
              </a:rPr>
              <a:t>few events</a:t>
            </a:r>
            <a:endParaRPr lang="en-US" sz="1150" dirty="0"/>
          </a:p>
        </p:txBody>
      </p:sp>
      <p:sp>
        <p:nvSpPr>
          <p:cNvPr id="21" name="Text 18"/>
          <p:cNvSpPr/>
          <p:nvPr/>
        </p:nvSpPr>
        <p:spPr>
          <a:xfrm>
            <a:off x="6830568" y="5669280"/>
            <a:ext cx="4791456" cy="274320"/>
          </a:xfrm>
          <a:prstGeom prst="rect">
            <a:avLst/>
          </a:prstGeom>
          <a:noFill/>
          <a:ln/>
        </p:spPr>
        <p:txBody>
          <a:bodyPr wrap="square" lIns="0" tIns="0" rIns="0" bIns="0" rtlCol="0" anchor="ctr"/>
          <a:lstStyle/>
          <a:p>
            <a:pPr indent="0" marL="0">
              <a:buNone/>
            </a:pPr>
            <a:r>
              <a:rPr lang="en-US" sz="950" i="1" dirty="0">
                <a:solidFill>
                  <a:srgbClr val="5C6B70"/>
                </a:solidFill>
                <a:latin typeface="Calibri" pitchFamily="34" charset="0"/>
                <a:ea typeface="Calibri" pitchFamily="34" charset="-122"/>
                <a:cs typeface="Calibri" pitchFamily="34" charset="-120"/>
              </a:rPr>
              <a:t>Hierarchy held at the kidney–CV composite; downstream P values are nominal.</a:t>
            </a:r>
            <a:endParaRPr lang="en-US" sz="950" dirty="0"/>
          </a:p>
        </p:txBody>
      </p:sp>
      <p:sp>
        <p:nvSpPr>
          <p:cNvPr id="23" name="Text 19"/>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24" name="Text 20"/>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Safety: hyperkalemia in focus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SAFETY</a:t>
            </a:r>
            <a:endParaRPr lang="en-US" sz="1150" dirty="0"/>
          </a:p>
        </p:txBody>
      </p:sp>
      <p:sp>
        <p:nvSpPr>
          <p:cNvPr id="4" name="Shape 2"/>
          <p:cNvSpPr/>
          <p:nvPr/>
        </p:nvSpPr>
        <p:spPr>
          <a:xfrm>
            <a:off x="566928" y="1280160"/>
            <a:ext cx="2558034" cy="1097280"/>
          </a:xfrm>
          <a:prstGeom prst="roundRect">
            <a:avLst>
              <a:gd name="adj" fmla="val 7500"/>
            </a:avLst>
          </a:prstGeom>
          <a:solidFill>
            <a:srgbClr val="F1F6F6"/>
          </a:solidFill>
          <a:ln/>
          <a:effectLst>
            <a:outerShdw sx="100000" sy="100000" kx="0" ky="0" algn="bl" rotWithShape="0" blurRad="88900" dist="25400" dir="5400000">
              <a:srgbClr val="9BB0B0">
                <a:alpha val="28000"/>
              </a:srgbClr>
            </a:outerShdw>
          </a:effectLst>
        </p:spPr>
      </p:sp>
      <p:sp>
        <p:nvSpPr>
          <p:cNvPr id="5" name="Text 3"/>
          <p:cNvSpPr/>
          <p:nvPr/>
        </p:nvSpPr>
        <p:spPr>
          <a:xfrm>
            <a:off x="676656" y="1371600"/>
            <a:ext cx="2338578" cy="384048"/>
          </a:xfrm>
          <a:prstGeom prst="rect">
            <a:avLst/>
          </a:prstGeom>
          <a:noFill/>
          <a:ln/>
        </p:spPr>
        <p:txBody>
          <a:bodyPr wrap="square" lIns="0" tIns="0" rIns="0" bIns="0" rtlCol="0" anchor="ctr"/>
          <a:lstStyle/>
          <a:p>
            <a:pPr algn="ctr" indent="0" marL="0">
              <a:buNone/>
            </a:pPr>
            <a:r>
              <a:rPr lang="en-US" sz="1900" b="1" dirty="0">
                <a:solidFill>
                  <a:srgbClr val="0B3D46"/>
                </a:solidFill>
                <a:latin typeface="Cambria" pitchFamily="34" charset="0"/>
                <a:ea typeface="Cambria" pitchFamily="34" charset="-122"/>
                <a:cs typeface="Cambria" pitchFamily="34" charset="-120"/>
              </a:rPr>
              <a:t>68.3% / 65.4%</a:t>
            </a:r>
            <a:endParaRPr lang="en-US" sz="1900" dirty="0"/>
          </a:p>
        </p:txBody>
      </p:sp>
      <p:sp>
        <p:nvSpPr>
          <p:cNvPr id="6" name="Text 4"/>
          <p:cNvSpPr/>
          <p:nvPr/>
        </p:nvSpPr>
        <p:spPr>
          <a:xfrm>
            <a:off x="676656" y="1773936"/>
            <a:ext cx="2338578" cy="274320"/>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Any adverse event</a:t>
            </a:r>
            <a:endParaRPr lang="en-US" sz="1150" dirty="0"/>
          </a:p>
        </p:txBody>
      </p:sp>
      <p:sp>
        <p:nvSpPr>
          <p:cNvPr id="7" name="Text 5"/>
          <p:cNvSpPr/>
          <p:nvPr/>
        </p:nvSpPr>
        <p:spPr>
          <a:xfrm>
            <a:off x="676656" y="2048256"/>
            <a:ext cx="2338578" cy="256032"/>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fine / placebo</a:t>
            </a:r>
            <a:endParaRPr lang="en-US" sz="950" dirty="0"/>
          </a:p>
        </p:txBody>
      </p:sp>
      <p:sp>
        <p:nvSpPr>
          <p:cNvPr id="8" name="Shape 6"/>
          <p:cNvSpPr/>
          <p:nvPr/>
        </p:nvSpPr>
        <p:spPr>
          <a:xfrm>
            <a:off x="3399282" y="1280160"/>
            <a:ext cx="2558034" cy="1097280"/>
          </a:xfrm>
          <a:prstGeom prst="roundRect">
            <a:avLst>
              <a:gd name="adj" fmla="val 7500"/>
            </a:avLst>
          </a:prstGeom>
          <a:solidFill>
            <a:srgbClr val="F1F6F6"/>
          </a:solidFill>
          <a:ln/>
          <a:effectLst>
            <a:outerShdw sx="100000" sy="100000" kx="0" ky="0" algn="bl" rotWithShape="0" blurRad="88900" dist="25400" dir="5400000">
              <a:srgbClr val="9BB0B0">
                <a:alpha val="28000"/>
              </a:srgbClr>
            </a:outerShdw>
          </a:effectLst>
        </p:spPr>
      </p:sp>
      <p:sp>
        <p:nvSpPr>
          <p:cNvPr id="9" name="Text 7"/>
          <p:cNvSpPr/>
          <p:nvPr/>
        </p:nvSpPr>
        <p:spPr>
          <a:xfrm>
            <a:off x="3509010" y="1371600"/>
            <a:ext cx="2338578" cy="384048"/>
          </a:xfrm>
          <a:prstGeom prst="rect">
            <a:avLst/>
          </a:prstGeom>
          <a:noFill/>
          <a:ln/>
        </p:spPr>
        <p:txBody>
          <a:bodyPr wrap="square" lIns="0" tIns="0" rIns="0" bIns="0" rtlCol="0" anchor="ctr"/>
          <a:lstStyle/>
          <a:p>
            <a:pPr algn="ctr" indent="0" marL="0">
              <a:buNone/>
            </a:pPr>
            <a:r>
              <a:rPr lang="en-US" sz="1900" b="1" dirty="0">
                <a:solidFill>
                  <a:srgbClr val="0B3D46"/>
                </a:solidFill>
                <a:latin typeface="Cambria" pitchFamily="34" charset="0"/>
                <a:ea typeface="Cambria" pitchFamily="34" charset="-122"/>
                <a:cs typeface="Cambria" pitchFamily="34" charset="-120"/>
              </a:rPr>
              <a:t>20.9% / 21.2%</a:t>
            </a:r>
            <a:endParaRPr lang="en-US" sz="1900" dirty="0"/>
          </a:p>
        </p:txBody>
      </p:sp>
      <p:sp>
        <p:nvSpPr>
          <p:cNvPr id="10" name="Text 8"/>
          <p:cNvSpPr/>
          <p:nvPr/>
        </p:nvSpPr>
        <p:spPr>
          <a:xfrm>
            <a:off x="3509010" y="1773936"/>
            <a:ext cx="2338578" cy="274320"/>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Serious AE</a:t>
            </a:r>
            <a:endParaRPr lang="en-US" sz="1150" dirty="0"/>
          </a:p>
        </p:txBody>
      </p:sp>
      <p:sp>
        <p:nvSpPr>
          <p:cNvPr id="11" name="Text 9"/>
          <p:cNvSpPr/>
          <p:nvPr/>
        </p:nvSpPr>
        <p:spPr>
          <a:xfrm>
            <a:off x="3509010" y="2048256"/>
            <a:ext cx="2338578" cy="256032"/>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similar</a:t>
            </a:r>
            <a:endParaRPr lang="en-US" sz="950" dirty="0"/>
          </a:p>
        </p:txBody>
      </p:sp>
      <p:sp>
        <p:nvSpPr>
          <p:cNvPr id="12" name="Shape 10"/>
          <p:cNvSpPr/>
          <p:nvPr/>
        </p:nvSpPr>
        <p:spPr>
          <a:xfrm>
            <a:off x="6231636" y="1280160"/>
            <a:ext cx="2558034" cy="1097280"/>
          </a:xfrm>
          <a:prstGeom prst="roundRect">
            <a:avLst>
              <a:gd name="adj" fmla="val 7500"/>
            </a:avLst>
          </a:prstGeom>
          <a:solidFill>
            <a:srgbClr val="F1F6F6"/>
          </a:solidFill>
          <a:ln/>
          <a:effectLst>
            <a:outerShdw sx="100000" sy="100000" kx="0" ky="0" algn="bl" rotWithShape="0" blurRad="88900" dist="25400" dir="5400000">
              <a:srgbClr val="9BB0B0">
                <a:alpha val="28000"/>
              </a:srgbClr>
            </a:outerShdw>
          </a:effectLst>
        </p:spPr>
      </p:sp>
      <p:sp>
        <p:nvSpPr>
          <p:cNvPr id="13" name="Text 11"/>
          <p:cNvSpPr/>
          <p:nvPr/>
        </p:nvSpPr>
        <p:spPr>
          <a:xfrm>
            <a:off x="6341364" y="1371600"/>
            <a:ext cx="2338578" cy="384048"/>
          </a:xfrm>
          <a:prstGeom prst="rect">
            <a:avLst/>
          </a:prstGeom>
          <a:noFill/>
          <a:ln/>
        </p:spPr>
        <p:txBody>
          <a:bodyPr wrap="square" lIns="0" tIns="0" rIns="0" bIns="0" rtlCol="0" anchor="ctr"/>
          <a:lstStyle/>
          <a:p>
            <a:pPr algn="ctr" indent="0" marL="0">
              <a:buNone/>
            </a:pPr>
            <a:r>
              <a:rPr lang="en-US" sz="1900" b="1" dirty="0">
                <a:solidFill>
                  <a:srgbClr val="0B3D46"/>
                </a:solidFill>
                <a:latin typeface="Cambria" pitchFamily="34" charset="0"/>
                <a:ea typeface="Cambria" pitchFamily="34" charset="-122"/>
                <a:cs typeface="Cambria" pitchFamily="34" charset="-120"/>
              </a:rPr>
              <a:t>2.1% / 2.9%</a:t>
            </a:r>
            <a:endParaRPr lang="en-US" sz="1900" dirty="0"/>
          </a:p>
        </p:txBody>
      </p:sp>
      <p:sp>
        <p:nvSpPr>
          <p:cNvPr id="14" name="Text 12"/>
          <p:cNvSpPr/>
          <p:nvPr/>
        </p:nvSpPr>
        <p:spPr>
          <a:xfrm>
            <a:off x="6341364" y="1773936"/>
            <a:ext cx="2338578" cy="274320"/>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AE discontinuation</a:t>
            </a:r>
            <a:endParaRPr lang="en-US" sz="1150" dirty="0"/>
          </a:p>
        </p:txBody>
      </p:sp>
      <p:sp>
        <p:nvSpPr>
          <p:cNvPr id="15" name="Text 13"/>
          <p:cNvSpPr/>
          <p:nvPr/>
        </p:nvSpPr>
        <p:spPr>
          <a:xfrm>
            <a:off x="6341364" y="2048256"/>
            <a:ext cx="2338578" cy="256032"/>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fewer with fine</a:t>
            </a:r>
            <a:endParaRPr lang="en-US" sz="950" dirty="0"/>
          </a:p>
        </p:txBody>
      </p:sp>
      <p:sp>
        <p:nvSpPr>
          <p:cNvPr id="16" name="Shape 14"/>
          <p:cNvSpPr/>
          <p:nvPr/>
        </p:nvSpPr>
        <p:spPr>
          <a:xfrm>
            <a:off x="9063990" y="1280160"/>
            <a:ext cx="2558034" cy="1097280"/>
          </a:xfrm>
          <a:prstGeom prst="roundRect">
            <a:avLst>
              <a:gd name="adj" fmla="val 7500"/>
            </a:avLst>
          </a:prstGeom>
          <a:solidFill>
            <a:srgbClr val="F1F6F6"/>
          </a:solidFill>
          <a:ln/>
          <a:effectLst>
            <a:outerShdw sx="100000" sy="100000" kx="0" ky="0" algn="bl" rotWithShape="0" blurRad="88900" dist="25400" dir="5400000">
              <a:srgbClr val="9BB0B0">
                <a:alpha val="28000"/>
              </a:srgbClr>
            </a:outerShdw>
          </a:effectLst>
        </p:spPr>
      </p:sp>
      <p:sp>
        <p:nvSpPr>
          <p:cNvPr id="17" name="Text 15"/>
          <p:cNvSpPr/>
          <p:nvPr/>
        </p:nvSpPr>
        <p:spPr>
          <a:xfrm>
            <a:off x="9173718" y="1371600"/>
            <a:ext cx="2338578" cy="384048"/>
          </a:xfrm>
          <a:prstGeom prst="rect">
            <a:avLst/>
          </a:prstGeom>
          <a:noFill/>
          <a:ln/>
        </p:spPr>
        <p:txBody>
          <a:bodyPr wrap="square" lIns="0" tIns="0" rIns="0" bIns="0" rtlCol="0" anchor="ctr"/>
          <a:lstStyle/>
          <a:p>
            <a:pPr algn="ctr" indent="0" marL="0">
              <a:buNone/>
            </a:pPr>
            <a:r>
              <a:rPr lang="en-US" sz="1900" b="1" dirty="0">
                <a:solidFill>
                  <a:srgbClr val="0B3D46"/>
                </a:solidFill>
                <a:latin typeface="Cambria" pitchFamily="34" charset="0"/>
                <a:ea typeface="Cambria" pitchFamily="34" charset="-122"/>
                <a:cs typeface="Cambria" pitchFamily="34" charset="-120"/>
              </a:rPr>
              <a:t>2.4% / 3.5%</a:t>
            </a:r>
            <a:endParaRPr lang="en-US" sz="1900" dirty="0"/>
          </a:p>
        </p:txBody>
      </p:sp>
      <p:sp>
        <p:nvSpPr>
          <p:cNvPr id="18" name="Text 16"/>
          <p:cNvSpPr/>
          <p:nvPr/>
        </p:nvSpPr>
        <p:spPr>
          <a:xfrm>
            <a:off x="9173718" y="1773936"/>
            <a:ext cx="2338578" cy="274320"/>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Death (any cause)</a:t>
            </a:r>
            <a:endParaRPr lang="en-US" sz="1150" dirty="0"/>
          </a:p>
        </p:txBody>
      </p:sp>
      <p:sp>
        <p:nvSpPr>
          <p:cNvPr id="19" name="Text 17"/>
          <p:cNvSpPr/>
          <p:nvPr/>
        </p:nvSpPr>
        <p:spPr>
          <a:xfrm>
            <a:off x="9173718" y="2048256"/>
            <a:ext cx="2338578" cy="256032"/>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fewer with fine</a:t>
            </a:r>
            <a:endParaRPr lang="en-US" sz="950" dirty="0"/>
          </a:p>
        </p:txBody>
      </p:sp>
      <p:graphicFrame>
        <p:nvGraphicFramePr>
          <p:cNvPr id="20" name="Chart 0" descr=""/>
          <p:cNvGraphicFramePr/>
          <p:nvPr/>
        </p:nvGraphicFramePr>
        <p:xfrm>
          <a:off x="566928" y="2606040"/>
          <a:ext cx="7315200" cy="329184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8156448" y="2606040"/>
            <a:ext cx="3465576" cy="3291840"/>
          </a:xfrm>
          <a:prstGeom prst="roundRect">
            <a:avLst>
              <a:gd name="adj" fmla="val 2500"/>
            </a:avLst>
          </a:prstGeom>
          <a:solidFill>
            <a:srgbClr val="0B3D46"/>
          </a:solidFill>
          <a:ln/>
          <a:effectLst>
            <a:outerShdw sx="100000" sy="100000" kx="0" ky="0" algn="bl" rotWithShape="0" blurRad="88900" dist="25400" dir="5400000">
              <a:srgbClr val="9BB0B0">
                <a:alpha val="28000"/>
              </a:srgbClr>
            </a:outerShdw>
          </a:effectLst>
        </p:spPr>
      </p:sp>
      <p:sp>
        <p:nvSpPr>
          <p:cNvPr id="22" name="Text 19"/>
          <p:cNvSpPr/>
          <p:nvPr/>
        </p:nvSpPr>
        <p:spPr>
          <a:xfrm>
            <a:off x="8375904" y="2761488"/>
            <a:ext cx="3008376" cy="292608"/>
          </a:xfrm>
          <a:prstGeom prst="rect">
            <a:avLst/>
          </a:prstGeom>
          <a:noFill/>
          <a:ln/>
        </p:spPr>
        <p:txBody>
          <a:bodyPr wrap="square" lIns="0" tIns="0" rIns="0" bIns="0" rtlCol="0" anchor="ctr"/>
          <a:lstStyle/>
          <a:p>
            <a:pPr indent="0" marL="0">
              <a:buNone/>
            </a:pPr>
            <a:r>
              <a:rPr lang="en-US" sz="1400" b="1" dirty="0">
                <a:solidFill>
                  <a:srgbClr val="3AA6A0"/>
                </a:solidFill>
                <a:latin typeface="Calibri" pitchFamily="34" charset="0"/>
                <a:ea typeface="Calibri" pitchFamily="34" charset="-122"/>
                <a:cs typeface="Calibri" pitchFamily="34" charset="-120"/>
              </a:rPr>
              <a:t>What it means</a:t>
            </a:r>
            <a:endParaRPr lang="en-US" sz="1400" dirty="0"/>
          </a:p>
        </p:txBody>
      </p:sp>
      <p:sp>
        <p:nvSpPr>
          <p:cNvPr id="23" name="Text 20"/>
          <p:cNvSpPr/>
          <p:nvPr/>
        </p:nvSpPr>
        <p:spPr>
          <a:xfrm>
            <a:off x="8375904" y="3127248"/>
            <a:ext cx="3008376" cy="2697480"/>
          </a:xfrm>
          <a:prstGeom prst="rect">
            <a:avLst/>
          </a:prstGeom>
          <a:noFill/>
          <a:ln/>
        </p:spPr>
        <p:txBody>
          <a:bodyPr wrap="square" lIns="0" tIns="0" rIns="0" bIns="0" rtlCol="0" anchor="ctr"/>
          <a:lstStyle/>
          <a:p>
            <a:pPr indent="0" marL="0">
              <a:lnSpc>
                <a:spcPct val="108000"/>
              </a:lnSpc>
              <a:buNone/>
            </a:pPr>
            <a:r>
              <a:rPr lang="en-US" sz="1150" b="1" dirty="0">
                <a:solidFill>
                  <a:srgbClr val="FFFFFF"/>
                </a:solidFill>
                <a:latin typeface="Calibri" pitchFamily="34" charset="0"/>
                <a:ea typeface="Calibri" pitchFamily="34" charset="-122"/>
                <a:cs typeface="Calibri" pitchFamily="34" charset="-120"/>
              </a:rPr>
              <a:t>Hyperkalemia was the signature adverse event, but the excess was modest.</a:t>
            </a:r>
            <a:endParaRPr lang="en-US" sz="1150" dirty="0"/>
          </a:p>
          <a:p>
            <a:pPr indent="0" marL="0">
              <a:lnSpc>
                <a:spcPct val="108000"/>
              </a:lnSpc>
              <a:buNone/>
            </a:pPr>
            <a:endParaRPr lang="en-US" sz="1150" dirty="0"/>
          </a:p>
          <a:p>
            <a:pPr indent="0" marL="0">
              <a:lnSpc>
                <a:spcPct val="108000"/>
              </a:lnSpc>
              <a:buNone/>
            </a:pPr>
            <a:r>
              <a:rPr lang="en-US" sz="1150" dirty="0">
                <a:solidFill>
                  <a:srgbClr val="DDECEC"/>
                </a:solidFill>
                <a:latin typeface="Calibri" pitchFamily="34" charset="0"/>
                <a:ea typeface="Calibri" pitchFamily="34" charset="-122"/>
                <a:cs typeface="Calibri" pitchFamily="34" charset="-120"/>
              </a:rPr>
              <a:t>Discontinuation for K⁺:  1.5% vs 0.1%</a:t>
            </a:r>
            <a:endParaRPr lang="en-US" sz="1150" dirty="0"/>
          </a:p>
          <a:p>
            <a:pPr indent="0" marL="0">
              <a:lnSpc>
                <a:spcPct val="108000"/>
              </a:lnSpc>
              <a:buNone/>
            </a:pPr>
            <a:r>
              <a:rPr lang="en-US" sz="1150" dirty="0">
                <a:solidFill>
                  <a:srgbClr val="DDECEC"/>
                </a:solidFill>
                <a:latin typeface="Calibri" pitchFamily="34" charset="0"/>
                <a:ea typeface="Calibri" pitchFamily="34" charset="-122"/>
                <a:cs typeface="Calibri" pitchFamily="34" charset="-120"/>
              </a:rPr>
              <a:t>K⁺ hospitalization:  0.9% vs 0.6%</a:t>
            </a:r>
            <a:endParaRPr lang="en-US" sz="1150" dirty="0"/>
          </a:p>
          <a:p>
            <a:pPr indent="0" marL="0">
              <a:lnSpc>
                <a:spcPct val="108000"/>
              </a:lnSpc>
              <a:buNone/>
            </a:pPr>
            <a:r>
              <a:rPr lang="en-US" sz="1150" dirty="0">
                <a:solidFill>
                  <a:srgbClr val="DDECEC"/>
                </a:solidFill>
                <a:latin typeface="Calibri" pitchFamily="34" charset="0"/>
                <a:ea typeface="Calibri" pitchFamily="34" charset="-122"/>
                <a:cs typeface="Calibri" pitchFamily="34" charset="-120"/>
              </a:rPr>
              <a:t>No fatal hyperkalemia in either arm</a:t>
            </a:r>
            <a:endParaRPr lang="en-US" sz="1150" dirty="0"/>
          </a:p>
          <a:p>
            <a:pPr indent="0" marL="0">
              <a:lnSpc>
                <a:spcPct val="108000"/>
              </a:lnSpc>
              <a:buNone/>
            </a:pPr>
            <a:endParaRPr lang="en-US" sz="1150" dirty="0"/>
          </a:p>
          <a:p>
            <a:pPr indent="0" marL="0">
              <a:lnSpc>
                <a:spcPct val="108000"/>
              </a:lnSpc>
              <a:buNone/>
            </a:pPr>
            <a:r>
              <a:rPr lang="en-US" sz="1150" dirty="0">
                <a:solidFill>
                  <a:srgbClr val="DDECEC"/>
                </a:solidFill>
                <a:latin typeface="Calibri" pitchFamily="34" charset="0"/>
                <a:ea typeface="Calibri" pitchFamily="34" charset="-122"/>
                <a:cs typeface="Calibri" pitchFamily="34" charset="-120"/>
              </a:rPr>
              <a:t>AKI and hypotension were low and similar. No new safety signal versus the diabetes trials.</a:t>
            </a:r>
            <a:endParaRPr lang="en-US" sz="1150" dirty="0"/>
          </a:p>
        </p:txBody>
      </p:sp>
      <p:sp>
        <p:nvSpPr>
          <p:cNvPr id="25" name="Text 21"/>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26" name="Text 22"/>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Strengths &amp; limitations</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CRITICAL APPRAISAL</a:t>
            </a:r>
            <a:endParaRPr lang="en-US" sz="1150" dirty="0"/>
          </a:p>
        </p:txBody>
      </p:sp>
      <p:sp>
        <p:nvSpPr>
          <p:cNvPr id="4" name="Shape 2"/>
          <p:cNvSpPr/>
          <p:nvPr/>
        </p:nvSpPr>
        <p:spPr>
          <a:xfrm>
            <a:off x="566928" y="1325880"/>
            <a:ext cx="5344668" cy="4617720"/>
          </a:xfrm>
          <a:prstGeom prst="roundRect">
            <a:avLst>
              <a:gd name="adj" fmla="val 1782"/>
            </a:avLst>
          </a:prstGeom>
          <a:solidFill>
            <a:srgbClr val="F1F6F6"/>
          </a:solidFill>
          <a:ln/>
          <a:effectLst>
            <a:outerShdw sx="100000" sy="100000" kx="0" ky="0" algn="bl" rotWithShape="0" blurRad="88900" dist="25400" dir="5400000">
              <a:srgbClr val="9BB0B0">
                <a:alpha val="28000"/>
              </a:srgbClr>
            </a:outerShdw>
          </a:effectLst>
        </p:spPr>
      </p:sp>
      <p:sp>
        <p:nvSpPr>
          <p:cNvPr id="5" name="Text 3"/>
          <p:cNvSpPr/>
          <p:nvPr/>
        </p:nvSpPr>
        <p:spPr>
          <a:xfrm>
            <a:off x="841248" y="1481328"/>
            <a:ext cx="4887468" cy="329184"/>
          </a:xfrm>
          <a:prstGeom prst="rect">
            <a:avLst/>
          </a:prstGeom>
          <a:noFill/>
          <a:ln/>
        </p:spPr>
        <p:txBody>
          <a:bodyPr wrap="square" lIns="0" tIns="0" rIns="0" bIns="0" rtlCol="0" anchor="ctr"/>
          <a:lstStyle/>
          <a:p>
            <a:pPr indent="0" marL="0">
              <a:buNone/>
            </a:pPr>
            <a:r>
              <a:rPr lang="en-US" sz="1600" b="1" dirty="0">
                <a:solidFill>
                  <a:srgbClr val="0E7C86"/>
                </a:solidFill>
                <a:latin typeface="Calibri" pitchFamily="34" charset="0"/>
                <a:ea typeface="Calibri" pitchFamily="34" charset="-122"/>
                <a:cs typeface="Calibri" pitchFamily="34" charset="-120"/>
              </a:rPr>
              <a:t>Strengths</a:t>
            </a:r>
            <a:endParaRPr lang="en-US" sz="1600" dirty="0"/>
          </a:p>
        </p:txBody>
      </p:sp>
      <p:sp>
        <p:nvSpPr>
          <p:cNvPr id="6" name="Text 4"/>
          <p:cNvSpPr/>
          <p:nvPr/>
        </p:nvSpPr>
        <p:spPr>
          <a:xfrm>
            <a:off x="841248" y="1901952"/>
            <a:ext cx="4796028" cy="3931920"/>
          </a:xfrm>
          <a:prstGeom prst="rect">
            <a:avLst/>
          </a:prstGeom>
          <a:noFill/>
          <a:ln/>
        </p:spPr>
        <p:txBody>
          <a:bodyPr wrap="square" lIns="0" tIns="0" rIns="0" bIns="0" rtlCol="0" anchor="ctr"/>
          <a:lstStyle/>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First phase 3 RCT of finerenone in CKD without diabetes: fills the largest evidence gap for the drug.</a:t>
            </a:r>
            <a:endParaRPr lang="en-US" sz="1250" dirty="0"/>
          </a:p>
          <a:p>
            <a:pPr indent="0" marL="0">
              <a:lnSpc>
                <a:spcPct val="105000"/>
              </a:lnSpc>
              <a:spcAft>
                <a:spcPts val="900"/>
              </a:spcAft>
              <a:buNone/>
            </a:pPr>
            <a:r>
              <a:rPr lang="en-US" sz="1250" dirty="0">
                <a:solidFill>
                  <a:srgbClr val="1B2A2E"/>
                </a:solidFill>
                <a:latin typeface="Calibri" pitchFamily="34" charset="0"/>
                <a:ea typeface="Calibri" pitchFamily="34" charset="-122"/>
                <a:cs typeface="Calibri" pitchFamily="34" charset="-120"/>
              </a:rPr>
              <a:t>Double-blind, placebo-controlled, international; sponsor analyses independently re-run at Groningen.</a:t>
            </a:r>
            <a:endParaRPr lang="en-US" sz="1250" dirty="0"/>
          </a:p>
          <a:p>
            <a:pPr indent="0" marL="0">
              <a:lnSpc>
                <a:spcPct val="105000"/>
              </a:lnSpc>
              <a:spcAft>
                <a:spcPts val="900"/>
              </a:spcAft>
              <a:buNone/>
            </a:pPr>
            <a:r>
              <a:rPr lang="en-US" sz="1250" dirty="0">
                <a:solidFill>
                  <a:srgbClr val="1B2A2E"/>
                </a:solidFill>
                <a:latin typeface="Calibri" pitchFamily="34" charset="0"/>
                <a:ea typeface="Calibri" pitchFamily="34" charset="-122"/>
                <a:cs typeface="Calibri" pitchFamily="34" charset="-120"/>
              </a:rPr>
              <a:t>Endpoint modeled correctly: two-slope spline separates the reversible acute dip from the chronic slope.</a:t>
            </a:r>
            <a:endParaRPr lang="en-US" sz="1250" dirty="0"/>
          </a:p>
          <a:p>
            <a:pPr indent="0" marL="0">
              <a:lnSpc>
                <a:spcPct val="105000"/>
              </a:lnSpc>
              <a:spcAft>
                <a:spcPts val="900"/>
              </a:spcAft>
              <a:buNone/>
            </a:pPr>
            <a:r>
              <a:rPr lang="en-US" sz="1250" dirty="0">
                <a:solidFill>
                  <a:srgbClr val="1B2A2E"/>
                </a:solidFill>
                <a:latin typeface="Calibri" pitchFamily="34" charset="0"/>
                <a:ea typeface="Calibri" pitchFamily="34" charset="-122"/>
                <a:cs typeface="Calibri" pitchFamily="34" charset="-120"/>
              </a:rPr>
              <a:t>Result robust across cystatin C, shared-parameter, and tipping-point sensitivity analyses.</a:t>
            </a:r>
            <a:endParaRPr lang="en-US" sz="1250" dirty="0"/>
          </a:p>
          <a:p>
            <a:pPr indent="0" marL="0">
              <a:lnSpc>
                <a:spcPct val="105000"/>
              </a:lnSpc>
              <a:spcAft>
                <a:spcPts val="900"/>
              </a:spcAft>
              <a:buNone/>
            </a:pPr>
            <a:r>
              <a:rPr lang="en-US" sz="1250" dirty="0">
                <a:solidFill>
                  <a:srgbClr val="1B2A2E"/>
                </a:solidFill>
                <a:latin typeface="Calibri" pitchFamily="34" charset="0"/>
                <a:ea typeface="Calibri" pitchFamily="34" charset="-122"/>
                <a:cs typeface="Calibri" pitchFamily="34" charset="-120"/>
              </a:rPr>
              <a:t>Effect confirmed by a protected clinical composite, not slope alone.</a:t>
            </a:r>
            <a:endParaRPr lang="en-US" sz="1250" dirty="0"/>
          </a:p>
        </p:txBody>
      </p:sp>
      <p:sp>
        <p:nvSpPr>
          <p:cNvPr id="7" name="Shape 5"/>
          <p:cNvSpPr/>
          <p:nvPr/>
        </p:nvSpPr>
        <p:spPr>
          <a:xfrm>
            <a:off x="6277356" y="1325880"/>
            <a:ext cx="5344668" cy="4617720"/>
          </a:xfrm>
          <a:prstGeom prst="roundRect">
            <a:avLst>
              <a:gd name="adj" fmla="val 1782"/>
            </a:avLst>
          </a:prstGeom>
          <a:solidFill>
            <a:srgbClr val="FFFFFF"/>
          </a:solidFill>
          <a:ln w="12700">
            <a:solidFill>
              <a:srgbClr val="CBD9D9"/>
            </a:solidFill>
            <a:prstDash val="solid"/>
          </a:ln>
          <a:effectLst>
            <a:outerShdw sx="100000" sy="100000" kx="0" ky="0" algn="bl" rotWithShape="0" blurRad="88900" dist="25400" dir="5400000">
              <a:srgbClr val="9BB0B0">
                <a:alpha val="28000"/>
              </a:srgbClr>
            </a:outerShdw>
          </a:effectLst>
        </p:spPr>
      </p:sp>
      <p:sp>
        <p:nvSpPr>
          <p:cNvPr id="8" name="Text 6"/>
          <p:cNvSpPr/>
          <p:nvPr/>
        </p:nvSpPr>
        <p:spPr>
          <a:xfrm>
            <a:off x="6551676" y="1481328"/>
            <a:ext cx="4887468" cy="329184"/>
          </a:xfrm>
          <a:prstGeom prst="rect">
            <a:avLst/>
          </a:prstGeom>
          <a:noFill/>
          <a:ln/>
        </p:spPr>
        <p:txBody>
          <a:bodyPr wrap="square" lIns="0" tIns="0" rIns="0" bIns="0" rtlCol="0" anchor="ctr"/>
          <a:lstStyle/>
          <a:p>
            <a:pPr indent="0" marL="0">
              <a:buNone/>
            </a:pPr>
            <a:r>
              <a:rPr lang="en-US" sz="1600" b="1" dirty="0">
                <a:solidFill>
                  <a:srgbClr val="E08A2E"/>
                </a:solidFill>
                <a:latin typeface="Calibri" pitchFamily="34" charset="0"/>
                <a:ea typeface="Calibri" pitchFamily="34" charset="-122"/>
                <a:cs typeface="Calibri" pitchFamily="34" charset="-120"/>
              </a:rPr>
              <a:t>Limitations</a:t>
            </a:r>
            <a:endParaRPr lang="en-US" sz="1600" dirty="0"/>
          </a:p>
        </p:txBody>
      </p:sp>
      <p:sp>
        <p:nvSpPr>
          <p:cNvPr id="9" name="Text 7"/>
          <p:cNvSpPr/>
          <p:nvPr/>
        </p:nvSpPr>
        <p:spPr>
          <a:xfrm>
            <a:off x="6551676" y="1901952"/>
            <a:ext cx="4796028" cy="3931920"/>
          </a:xfrm>
          <a:prstGeom prst="rect">
            <a:avLst/>
          </a:prstGeom>
          <a:noFill/>
          <a:ln/>
        </p:spPr>
        <p:txBody>
          <a:bodyPr wrap="square" lIns="0" tIns="0" rIns="0" bIns="0" rtlCol="0" anchor="ctr"/>
          <a:lstStyle/>
          <a:p>
            <a:pPr marL="203200" indent="-203200">
              <a:lnSpc>
                <a:spcPct val="105000"/>
              </a:lnSpc>
              <a:spcAft>
                <a:spcPts val="900"/>
              </a:spcAft>
              <a:buSzPct val="100000"/>
              <a:buChar char="✕"/>
            </a:pPr>
            <a:r>
              <a:rPr lang="en-US" sz="1250" dirty="0">
                <a:solidFill>
                  <a:srgbClr val="1B2A2E"/>
                </a:solidFill>
                <a:latin typeface="Calibri" pitchFamily="34" charset="0"/>
                <a:ea typeface="Calibri" pitchFamily="34" charset="-122"/>
                <a:cs typeface="Calibri" pitchFamily="34" charset="-120"/>
              </a:rPr>
              <a:t>Primary endpoint is a surrogate (eGFR slope); the trial was not powered for hard kidney or CV events.</a:t>
            </a:r>
            <a:endParaRPr lang="en-US" sz="1250" dirty="0"/>
          </a:p>
          <a:p>
            <a:pPr indent="0" marL="0">
              <a:lnSpc>
                <a:spcPct val="105000"/>
              </a:lnSpc>
              <a:spcAft>
                <a:spcPts val="900"/>
              </a:spcAft>
              <a:buNone/>
            </a:pPr>
            <a:r>
              <a:rPr lang="en-US" sz="1250" dirty="0">
                <a:solidFill>
                  <a:srgbClr val="1B2A2E"/>
                </a:solidFill>
                <a:latin typeface="Calibri" pitchFamily="34" charset="0"/>
                <a:ea typeface="Calibri" pitchFamily="34" charset="-122"/>
                <a:cs typeface="Calibri" pitchFamily="34" charset="-120"/>
              </a:rPr>
              <a:t>Two-thirds men, few Black participants, and an enriched heavy-albuminuria phenotype: limited generalizability.</a:t>
            </a:r>
            <a:endParaRPr lang="en-US" sz="1250" dirty="0"/>
          </a:p>
          <a:p>
            <a:pPr indent="0" marL="0">
              <a:lnSpc>
                <a:spcPct val="105000"/>
              </a:lnSpc>
              <a:spcAft>
                <a:spcPts val="900"/>
              </a:spcAft>
              <a:buNone/>
            </a:pPr>
            <a:r>
              <a:rPr lang="en-US" sz="1250" dirty="0">
                <a:solidFill>
                  <a:srgbClr val="1B2A2E"/>
                </a:solidFill>
                <a:latin typeface="Calibri" pitchFamily="34" charset="0"/>
                <a:ea typeface="Calibri" pitchFamily="34" charset="-122"/>
                <a:cs typeface="Calibri" pitchFamily="34" charset="-120"/>
              </a:rPr>
              <a:t>Only 17% on an SGLT2 inhibitor, so the finerenone-plus-SGLT2i question is not directly answered.</a:t>
            </a:r>
            <a:endParaRPr lang="en-US" sz="1250" dirty="0"/>
          </a:p>
          <a:p>
            <a:pPr indent="0" marL="0">
              <a:lnSpc>
                <a:spcPct val="105000"/>
              </a:lnSpc>
              <a:spcAft>
                <a:spcPts val="900"/>
              </a:spcAft>
              <a:buNone/>
            </a:pPr>
            <a:r>
              <a:rPr lang="en-US" sz="1250" dirty="0">
                <a:solidFill>
                  <a:srgbClr val="1B2A2E"/>
                </a:solidFill>
                <a:latin typeface="Calibri" pitchFamily="34" charset="0"/>
                <a:ea typeface="Calibri" pitchFamily="34" charset="-122"/>
                <a:cs typeface="Calibri" pitchFamily="34" charset="-120"/>
              </a:rPr>
              <a:t>ADPKD, lupus nephritis, and ANCA vasculitis were excluded: no read-across to those diseases.</a:t>
            </a:r>
            <a:endParaRPr lang="en-US" sz="1250" dirty="0"/>
          </a:p>
          <a:p>
            <a:pPr indent="0" marL="0">
              <a:lnSpc>
                <a:spcPct val="105000"/>
              </a:lnSpc>
              <a:spcAft>
                <a:spcPts val="900"/>
              </a:spcAft>
              <a:buNone/>
            </a:pPr>
            <a:r>
              <a:rPr lang="en-US" sz="1250" dirty="0">
                <a:solidFill>
                  <a:srgbClr val="1B2A2E"/>
                </a:solidFill>
                <a:latin typeface="Calibri" pitchFamily="34" charset="0"/>
                <a:ea typeface="Calibri" pitchFamily="34" charset="-122"/>
                <a:cs typeface="Calibri" pitchFamily="34" charset="-120"/>
              </a:rPr>
              <a:t>Sponsor-designed and analyzed; ~36-month follow-up is short for lifelong CKD.</a:t>
            </a:r>
            <a:endParaRPr lang="en-US" sz="1250" dirty="0"/>
          </a:p>
        </p:txBody>
      </p:sp>
      <p:sp>
        <p:nvSpPr>
          <p:cNvPr id="11" name="Text 8"/>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12" name="Text 9"/>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lIns="0" tIns="0" rIns="0" bIns="0" rtlCol="0" anchor="ctr"/>
          <a:lstStyle/>
          <a:p>
            <a:pPr algn="l" indent="0" marL="0">
              <a:buNone/>
            </a:pPr>
            <a:r>
              <a:rPr lang="en-US" sz="2900" b="1" dirty="0">
                <a:solidFill>
                  <a:srgbClr val="0B3D46"/>
                </a:solidFill>
                <a:latin typeface="Cambria" pitchFamily="34" charset="0"/>
                <a:ea typeface="Cambria" pitchFamily="34" charset="-122"/>
                <a:cs typeface="Cambria" pitchFamily="34" charset="-120"/>
              </a:rPr>
              <a:t>FIND-CKD in context</a:t>
            </a:r>
            <a:endParaRPr lang="en-US" sz="2900" dirty="0"/>
          </a:p>
        </p:txBody>
      </p:sp>
      <p:sp>
        <p:nvSpPr>
          <p:cNvPr id="3" name="Text 1"/>
          <p:cNvSpPr/>
          <p:nvPr/>
        </p:nvSpPr>
        <p:spPr>
          <a:xfrm>
            <a:off x="566928" y="146304"/>
            <a:ext cx="11055096" cy="237744"/>
          </a:xfrm>
          <a:prstGeom prst="rect">
            <a:avLst/>
          </a:prstGeom>
          <a:noFill/>
          <a:ln/>
        </p:spPr>
        <p:txBody>
          <a:bodyPr wrap="square" lIns="0" tIns="0" rIns="0" bIns="0" rtlCol="0" anchor="ctr"/>
          <a:lstStyle/>
          <a:p>
            <a:pPr indent="0" marL="0">
              <a:buNone/>
            </a:pPr>
            <a:r>
              <a:rPr lang="en-US" sz="1150" b="1" spc="200" kern="0" dirty="0">
                <a:solidFill>
                  <a:srgbClr val="0E7C86"/>
                </a:solidFill>
                <a:latin typeface="Calibri" pitchFamily="34" charset="0"/>
                <a:ea typeface="Calibri" pitchFamily="34" charset="-122"/>
                <a:cs typeface="Calibri" pitchFamily="34" charset="-120"/>
              </a:rPr>
              <a:t>PUTTING IT TOGETHER</a:t>
            </a:r>
            <a:endParaRPr lang="en-US" sz="1150" dirty="0"/>
          </a:p>
        </p:txBody>
      </p:sp>
      <p:sp>
        <p:nvSpPr>
          <p:cNvPr id="4" name="Shape 2"/>
          <p:cNvSpPr/>
          <p:nvPr/>
        </p:nvSpPr>
        <p:spPr>
          <a:xfrm>
            <a:off x="566928" y="1371600"/>
            <a:ext cx="11055096" cy="502920"/>
          </a:xfrm>
          <a:prstGeom prst="rect">
            <a:avLst/>
          </a:prstGeom>
          <a:solidFill>
            <a:srgbClr val="0B3D46"/>
          </a:solidFill>
          <a:ln/>
        </p:spPr>
      </p:sp>
      <p:sp>
        <p:nvSpPr>
          <p:cNvPr id="5" name="Text 3"/>
          <p:cNvSpPr/>
          <p:nvPr/>
        </p:nvSpPr>
        <p:spPr>
          <a:xfrm>
            <a:off x="676656" y="1371600"/>
            <a:ext cx="2691445" cy="502920"/>
          </a:xfrm>
          <a:prstGeom prst="rect">
            <a:avLst/>
          </a:prstGeom>
          <a:noFill/>
          <a:ln/>
        </p:spPr>
        <p:txBody>
          <a:bodyPr wrap="square" lIns="0" tIns="0" rIns="0" bIns="0" rtlCol="0" anchor="ctr"/>
          <a:lstStyle/>
          <a:p>
            <a:pPr algn="l" indent="0" marL="0">
              <a:buNone/>
            </a:pPr>
            <a:endParaRPr lang="en-US" sz="1250" dirty="0"/>
          </a:p>
        </p:txBody>
      </p:sp>
      <p:sp>
        <p:nvSpPr>
          <p:cNvPr id="6" name="Text 4"/>
          <p:cNvSpPr/>
          <p:nvPr/>
        </p:nvSpPr>
        <p:spPr>
          <a:xfrm>
            <a:off x="3550981" y="1371600"/>
            <a:ext cx="1862313"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FIDELIO-DKD</a:t>
            </a:r>
            <a:endParaRPr lang="en-US" sz="1250" dirty="0"/>
          </a:p>
        </p:txBody>
      </p:sp>
      <p:sp>
        <p:nvSpPr>
          <p:cNvPr id="7" name="Text 5"/>
          <p:cNvSpPr/>
          <p:nvPr/>
        </p:nvSpPr>
        <p:spPr>
          <a:xfrm>
            <a:off x="5596174" y="1371600"/>
            <a:ext cx="1862313"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FIGARO-DKD</a:t>
            </a:r>
            <a:endParaRPr lang="en-US" sz="1250" dirty="0"/>
          </a:p>
        </p:txBody>
      </p:sp>
      <p:sp>
        <p:nvSpPr>
          <p:cNvPr id="8" name="Text 6"/>
          <p:cNvSpPr/>
          <p:nvPr/>
        </p:nvSpPr>
        <p:spPr>
          <a:xfrm>
            <a:off x="7641366" y="1371600"/>
            <a:ext cx="1862313"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FIDELITY</a:t>
            </a:r>
            <a:endParaRPr lang="en-US" sz="1250" dirty="0"/>
          </a:p>
        </p:txBody>
      </p:sp>
      <p:sp>
        <p:nvSpPr>
          <p:cNvPr id="9" name="Text 7"/>
          <p:cNvSpPr/>
          <p:nvPr/>
        </p:nvSpPr>
        <p:spPr>
          <a:xfrm>
            <a:off x="9686559" y="1371600"/>
            <a:ext cx="1862313" cy="502920"/>
          </a:xfrm>
          <a:prstGeom prst="rect">
            <a:avLst/>
          </a:prstGeom>
          <a:noFill/>
          <a:ln/>
        </p:spPr>
        <p:txBody>
          <a:bodyPr wrap="square" lIns="0" tIns="0" rIns="0" bIns="0" rtlCol="0" anchor="ctr"/>
          <a:lstStyle/>
          <a:p>
            <a:pPr algn="ctr" indent="0" marL="0">
              <a:buNone/>
            </a:pPr>
            <a:r>
              <a:rPr lang="en-US" sz="1350" b="1" dirty="0">
                <a:solidFill>
                  <a:srgbClr val="3AA6A0"/>
                </a:solidFill>
                <a:latin typeface="Calibri" pitchFamily="34" charset="0"/>
                <a:ea typeface="Calibri" pitchFamily="34" charset="-122"/>
                <a:cs typeface="Calibri" pitchFamily="34" charset="-120"/>
              </a:rPr>
              <a:t>FIND-CKD</a:t>
            </a:r>
            <a:endParaRPr lang="en-US" sz="1350" dirty="0"/>
          </a:p>
        </p:txBody>
      </p:sp>
      <p:sp>
        <p:nvSpPr>
          <p:cNvPr id="10" name="Shape 8"/>
          <p:cNvSpPr/>
          <p:nvPr/>
        </p:nvSpPr>
        <p:spPr>
          <a:xfrm>
            <a:off x="566928" y="1874520"/>
            <a:ext cx="11055096" cy="566928"/>
          </a:xfrm>
          <a:prstGeom prst="rect">
            <a:avLst/>
          </a:prstGeom>
          <a:solidFill>
            <a:srgbClr val="FFFFFF"/>
          </a:solidFill>
          <a:ln w="9525">
            <a:solidFill>
              <a:srgbClr val="CBD9D9"/>
            </a:solidFill>
            <a:prstDash val="solid"/>
          </a:ln>
        </p:spPr>
      </p:sp>
      <p:sp>
        <p:nvSpPr>
          <p:cNvPr id="11" name="Shape 9"/>
          <p:cNvSpPr/>
          <p:nvPr/>
        </p:nvSpPr>
        <p:spPr>
          <a:xfrm>
            <a:off x="9576831" y="1874520"/>
            <a:ext cx="2045193" cy="566928"/>
          </a:xfrm>
          <a:prstGeom prst="rect">
            <a:avLst/>
          </a:prstGeom>
          <a:solidFill>
            <a:srgbClr val="E9F3F3"/>
          </a:solidFill>
          <a:ln w="9525">
            <a:solidFill>
              <a:srgbClr val="CBD9D9"/>
            </a:solidFill>
            <a:prstDash val="solid"/>
          </a:ln>
        </p:spPr>
      </p:sp>
      <p:sp>
        <p:nvSpPr>
          <p:cNvPr id="12" name="Text 10"/>
          <p:cNvSpPr/>
          <p:nvPr/>
        </p:nvSpPr>
        <p:spPr>
          <a:xfrm>
            <a:off x="676656" y="1874520"/>
            <a:ext cx="2691445" cy="566928"/>
          </a:xfrm>
          <a:prstGeom prst="rect">
            <a:avLst/>
          </a:prstGeom>
          <a:noFill/>
          <a:ln/>
        </p:spPr>
        <p:txBody>
          <a:bodyPr wrap="square" lIns="0" tIns="0" rIns="0" bIns="0" rtlCol="0" anchor="ctr"/>
          <a:lstStyle/>
          <a:p>
            <a:pPr algn="l" indent="0" marL="0">
              <a:buNone/>
            </a:pPr>
            <a:r>
              <a:rPr lang="en-US" sz="1200" b="1" dirty="0">
                <a:solidFill>
                  <a:srgbClr val="0B3D46"/>
                </a:solidFill>
                <a:latin typeface="Calibri" pitchFamily="34" charset="0"/>
                <a:ea typeface="Calibri" pitchFamily="34" charset="-122"/>
                <a:cs typeface="Calibri" pitchFamily="34" charset="-120"/>
              </a:rPr>
              <a:t>Population</a:t>
            </a:r>
            <a:endParaRPr lang="en-US" sz="1200" dirty="0"/>
          </a:p>
        </p:txBody>
      </p:sp>
      <p:sp>
        <p:nvSpPr>
          <p:cNvPr id="13" name="Text 11"/>
          <p:cNvSpPr/>
          <p:nvPr/>
        </p:nvSpPr>
        <p:spPr>
          <a:xfrm>
            <a:off x="3550981" y="1874520"/>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T2D + CKD</a:t>
            </a:r>
            <a:endParaRPr lang="en-US" sz="1150" dirty="0"/>
          </a:p>
        </p:txBody>
      </p:sp>
      <p:sp>
        <p:nvSpPr>
          <p:cNvPr id="14" name="Text 12"/>
          <p:cNvSpPr/>
          <p:nvPr/>
        </p:nvSpPr>
        <p:spPr>
          <a:xfrm>
            <a:off x="5596174" y="1874520"/>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T2D + CKD (earlier)</a:t>
            </a:r>
            <a:endParaRPr lang="en-US" sz="1150" dirty="0"/>
          </a:p>
        </p:txBody>
      </p:sp>
      <p:sp>
        <p:nvSpPr>
          <p:cNvPr id="15" name="Text 13"/>
          <p:cNvSpPr/>
          <p:nvPr/>
        </p:nvSpPr>
        <p:spPr>
          <a:xfrm>
            <a:off x="7641366" y="1874520"/>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T2D + CKD (pooled)</a:t>
            </a:r>
            <a:endParaRPr lang="en-US" sz="1150" dirty="0"/>
          </a:p>
        </p:txBody>
      </p:sp>
      <p:sp>
        <p:nvSpPr>
          <p:cNvPr id="16" name="Text 14"/>
          <p:cNvSpPr/>
          <p:nvPr/>
        </p:nvSpPr>
        <p:spPr>
          <a:xfrm>
            <a:off x="9686559" y="1874520"/>
            <a:ext cx="1862313"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CKD, no diabetes</a:t>
            </a:r>
            <a:endParaRPr lang="en-US" sz="1150" dirty="0"/>
          </a:p>
        </p:txBody>
      </p:sp>
      <p:sp>
        <p:nvSpPr>
          <p:cNvPr id="17" name="Shape 15"/>
          <p:cNvSpPr/>
          <p:nvPr/>
        </p:nvSpPr>
        <p:spPr>
          <a:xfrm>
            <a:off x="566928" y="2441448"/>
            <a:ext cx="11055096" cy="566928"/>
          </a:xfrm>
          <a:prstGeom prst="rect">
            <a:avLst/>
          </a:prstGeom>
          <a:solidFill>
            <a:srgbClr val="F1F6F6"/>
          </a:solidFill>
          <a:ln w="9525">
            <a:solidFill>
              <a:srgbClr val="CBD9D9"/>
            </a:solidFill>
            <a:prstDash val="solid"/>
          </a:ln>
        </p:spPr>
      </p:sp>
      <p:sp>
        <p:nvSpPr>
          <p:cNvPr id="18" name="Shape 16"/>
          <p:cNvSpPr/>
          <p:nvPr/>
        </p:nvSpPr>
        <p:spPr>
          <a:xfrm>
            <a:off x="9576831" y="2441448"/>
            <a:ext cx="2045193" cy="566928"/>
          </a:xfrm>
          <a:prstGeom prst="rect">
            <a:avLst/>
          </a:prstGeom>
          <a:solidFill>
            <a:srgbClr val="DCEBEB"/>
          </a:solidFill>
          <a:ln w="9525">
            <a:solidFill>
              <a:srgbClr val="CBD9D9"/>
            </a:solidFill>
            <a:prstDash val="solid"/>
          </a:ln>
        </p:spPr>
      </p:sp>
      <p:sp>
        <p:nvSpPr>
          <p:cNvPr id="19" name="Text 17"/>
          <p:cNvSpPr/>
          <p:nvPr/>
        </p:nvSpPr>
        <p:spPr>
          <a:xfrm>
            <a:off x="676656" y="2441448"/>
            <a:ext cx="2691445" cy="566928"/>
          </a:xfrm>
          <a:prstGeom prst="rect">
            <a:avLst/>
          </a:prstGeom>
          <a:noFill/>
          <a:ln/>
        </p:spPr>
        <p:txBody>
          <a:bodyPr wrap="square" lIns="0" tIns="0" rIns="0" bIns="0" rtlCol="0" anchor="ctr"/>
          <a:lstStyle/>
          <a:p>
            <a:pPr algn="l" indent="0" marL="0">
              <a:buNone/>
            </a:pPr>
            <a:r>
              <a:rPr lang="en-US" sz="1200" b="1" dirty="0">
                <a:solidFill>
                  <a:srgbClr val="0B3D46"/>
                </a:solidFill>
                <a:latin typeface="Calibri" pitchFamily="34" charset="0"/>
                <a:ea typeface="Calibri" pitchFamily="34" charset="-122"/>
                <a:cs typeface="Calibri" pitchFamily="34" charset="-120"/>
              </a:rPr>
              <a:t>N</a:t>
            </a:r>
            <a:endParaRPr lang="en-US" sz="1200" dirty="0"/>
          </a:p>
        </p:txBody>
      </p:sp>
      <p:sp>
        <p:nvSpPr>
          <p:cNvPr id="20" name="Text 18"/>
          <p:cNvSpPr/>
          <p:nvPr/>
        </p:nvSpPr>
        <p:spPr>
          <a:xfrm>
            <a:off x="3550981" y="2441448"/>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5674</a:t>
            </a:r>
            <a:endParaRPr lang="en-US" sz="1150" dirty="0"/>
          </a:p>
        </p:txBody>
      </p:sp>
      <p:sp>
        <p:nvSpPr>
          <p:cNvPr id="21" name="Text 19"/>
          <p:cNvSpPr/>
          <p:nvPr/>
        </p:nvSpPr>
        <p:spPr>
          <a:xfrm>
            <a:off x="5596174" y="2441448"/>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7437</a:t>
            </a:r>
            <a:endParaRPr lang="en-US" sz="1150" dirty="0"/>
          </a:p>
        </p:txBody>
      </p:sp>
      <p:sp>
        <p:nvSpPr>
          <p:cNvPr id="22" name="Text 20"/>
          <p:cNvSpPr/>
          <p:nvPr/>
        </p:nvSpPr>
        <p:spPr>
          <a:xfrm>
            <a:off x="7641366" y="2441448"/>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13,026</a:t>
            </a:r>
            <a:endParaRPr lang="en-US" sz="1150" dirty="0"/>
          </a:p>
        </p:txBody>
      </p:sp>
      <p:sp>
        <p:nvSpPr>
          <p:cNvPr id="23" name="Text 21"/>
          <p:cNvSpPr/>
          <p:nvPr/>
        </p:nvSpPr>
        <p:spPr>
          <a:xfrm>
            <a:off x="9686559" y="2441448"/>
            <a:ext cx="1862313"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1584</a:t>
            </a:r>
            <a:endParaRPr lang="en-US" sz="1150" dirty="0"/>
          </a:p>
        </p:txBody>
      </p:sp>
      <p:sp>
        <p:nvSpPr>
          <p:cNvPr id="24" name="Shape 22"/>
          <p:cNvSpPr/>
          <p:nvPr/>
        </p:nvSpPr>
        <p:spPr>
          <a:xfrm>
            <a:off x="566928" y="3008376"/>
            <a:ext cx="11055096" cy="566928"/>
          </a:xfrm>
          <a:prstGeom prst="rect">
            <a:avLst/>
          </a:prstGeom>
          <a:solidFill>
            <a:srgbClr val="FFFFFF"/>
          </a:solidFill>
          <a:ln w="9525">
            <a:solidFill>
              <a:srgbClr val="CBD9D9"/>
            </a:solidFill>
            <a:prstDash val="solid"/>
          </a:ln>
        </p:spPr>
      </p:sp>
      <p:sp>
        <p:nvSpPr>
          <p:cNvPr id="25" name="Shape 23"/>
          <p:cNvSpPr/>
          <p:nvPr/>
        </p:nvSpPr>
        <p:spPr>
          <a:xfrm>
            <a:off x="9576831" y="3008376"/>
            <a:ext cx="2045193" cy="566928"/>
          </a:xfrm>
          <a:prstGeom prst="rect">
            <a:avLst/>
          </a:prstGeom>
          <a:solidFill>
            <a:srgbClr val="E9F3F3"/>
          </a:solidFill>
          <a:ln w="9525">
            <a:solidFill>
              <a:srgbClr val="CBD9D9"/>
            </a:solidFill>
            <a:prstDash val="solid"/>
          </a:ln>
        </p:spPr>
      </p:sp>
      <p:sp>
        <p:nvSpPr>
          <p:cNvPr id="26" name="Text 24"/>
          <p:cNvSpPr/>
          <p:nvPr/>
        </p:nvSpPr>
        <p:spPr>
          <a:xfrm>
            <a:off x="676656" y="3008376"/>
            <a:ext cx="2691445" cy="566928"/>
          </a:xfrm>
          <a:prstGeom prst="rect">
            <a:avLst/>
          </a:prstGeom>
          <a:noFill/>
          <a:ln/>
        </p:spPr>
        <p:txBody>
          <a:bodyPr wrap="square" lIns="0" tIns="0" rIns="0" bIns="0" rtlCol="0" anchor="ctr"/>
          <a:lstStyle/>
          <a:p>
            <a:pPr algn="l" indent="0" marL="0">
              <a:buNone/>
            </a:pPr>
            <a:r>
              <a:rPr lang="en-US" sz="1200" b="1" dirty="0">
                <a:solidFill>
                  <a:srgbClr val="0B3D46"/>
                </a:solidFill>
                <a:latin typeface="Calibri" pitchFamily="34" charset="0"/>
                <a:ea typeface="Calibri" pitchFamily="34" charset="-122"/>
                <a:cs typeface="Calibri" pitchFamily="34" charset="-120"/>
              </a:rPr>
              <a:t>Primary endpoint</a:t>
            </a:r>
            <a:endParaRPr lang="en-US" sz="1200" dirty="0"/>
          </a:p>
        </p:txBody>
      </p:sp>
      <p:sp>
        <p:nvSpPr>
          <p:cNvPr id="27" name="Text 25"/>
          <p:cNvSpPr/>
          <p:nvPr/>
        </p:nvSpPr>
        <p:spPr>
          <a:xfrm>
            <a:off x="3550981" y="3008376"/>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Kidney composite</a:t>
            </a:r>
            <a:endParaRPr lang="en-US" sz="1150" dirty="0"/>
          </a:p>
        </p:txBody>
      </p:sp>
      <p:sp>
        <p:nvSpPr>
          <p:cNvPr id="28" name="Text 26"/>
          <p:cNvSpPr/>
          <p:nvPr/>
        </p:nvSpPr>
        <p:spPr>
          <a:xfrm>
            <a:off x="5596174" y="3008376"/>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CV composite</a:t>
            </a:r>
            <a:endParaRPr lang="en-US" sz="1150" dirty="0"/>
          </a:p>
        </p:txBody>
      </p:sp>
      <p:sp>
        <p:nvSpPr>
          <p:cNvPr id="29" name="Text 27"/>
          <p:cNvSpPr/>
          <p:nvPr/>
        </p:nvSpPr>
        <p:spPr>
          <a:xfrm>
            <a:off x="7641366" y="3008376"/>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(pooled)</a:t>
            </a:r>
            <a:endParaRPr lang="en-US" sz="1150" dirty="0"/>
          </a:p>
        </p:txBody>
      </p:sp>
      <p:sp>
        <p:nvSpPr>
          <p:cNvPr id="30" name="Text 28"/>
          <p:cNvSpPr/>
          <p:nvPr/>
        </p:nvSpPr>
        <p:spPr>
          <a:xfrm>
            <a:off x="9686559" y="3008376"/>
            <a:ext cx="1862313"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eGFR slope</a:t>
            </a:r>
            <a:endParaRPr lang="en-US" sz="1150" dirty="0"/>
          </a:p>
        </p:txBody>
      </p:sp>
      <p:sp>
        <p:nvSpPr>
          <p:cNvPr id="31" name="Shape 29"/>
          <p:cNvSpPr/>
          <p:nvPr/>
        </p:nvSpPr>
        <p:spPr>
          <a:xfrm>
            <a:off x="566928" y="3575304"/>
            <a:ext cx="11055096" cy="566928"/>
          </a:xfrm>
          <a:prstGeom prst="rect">
            <a:avLst/>
          </a:prstGeom>
          <a:solidFill>
            <a:srgbClr val="F1F6F6"/>
          </a:solidFill>
          <a:ln w="9525">
            <a:solidFill>
              <a:srgbClr val="CBD9D9"/>
            </a:solidFill>
            <a:prstDash val="solid"/>
          </a:ln>
        </p:spPr>
      </p:sp>
      <p:sp>
        <p:nvSpPr>
          <p:cNvPr id="32" name="Shape 30"/>
          <p:cNvSpPr/>
          <p:nvPr/>
        </p:nvSpPr>
        <p:spPr>
          <a:xfrm>
            <a:off x="9576831" y="3575304"/>
            <a:ext cx="2045193" cy="566928"/>
          </a:xfrm>
          <a:prstGeom prst="rect">
            <a:avLst/>
          </a:prstGeom>
          <a:solidFill>
            <a:srgbClr val="DCEBEB"/>
          </a:solidFill>
          <a:ln w="9525">
            <a:solidFill>
              <a:srgbClr val="CBD9D9"/>
            </a:solidFill>
            <a:prstDash val="solid"/>
          </a:ln>
        </p:spPr>
      </p:sp>
      <p:sp>
        <p:nvSpPr>
          <p:cNvPr id="33" name="Text 31"/>
          <p:cNvSpPr/>
          <p:nvPr/>
        </p:nvSpPr>
        <p:spPr>
          <a:xfrm>
            <a:off x="676656" y="3575304"/>
            <a:ext cx="2691445" cy="566928"/>
          </a:xfrm>
          <a:prstGeom prst="rect">
            <a:avLst/>
          </a:prstGeom>
          <a:noFill/>
          <a:ln/>
        </p:spPr>
        <p:txBody>
          <a:bodyPr wrap="square" lIns="0" tIns="0" rIns="0" bIns="0" rtlCol="0" anchor="ctr"/>
          <a:lstStyle/>
          <a:p>
            <a:pPr algn="l" indent="0" marL="0">
              <a:buNone/>
            </a:pPr>
            <a:r>
              <a:rPr lang="en-US" sz="1200" b="1" dirty="0">
                <a:solidFill>
                  <a:srgbClr val="0B3D46"/>
                </a:solidFill>
                <a:latin typeface="Calibri" pitchFamily="34" charset="0"/>
                <a:ea typeface="Calibri" pitchFamily="34" charset="-122"/>
                <a:cs typeface="Calibri" pitchFamily="34" charset="-120"/>
              </a:rPr>
              <a:t>Key kidney result</a:t>
            </a:r>
            <a:endParaRPr lang="en-US" sz="1200" dirty="0"/>
          </a:p>
        </p:txBody>
      </p:sp>
      <p:sp>
        <p:nvSpPr>
          <p:cNvPr id="34" name="Text 32"/>
          <p:cNvSpPr/>
          <p:nvPr/>
        </p:nvSpPr>
        <p:spPr>
          <a:xfrm>
            <a:off x="3550981" y="3575304"/>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HR 0.82</a:t>
            </a:r>
            <a:endParaRPr lang="en-US" sz="1150" dirty="0"/>
          </a:p>
        </p:txBody>
      </p:sp>
      <p:sp>
        <p:nvSpPr>
          <p:cNvPr id="35" name="Text 33"/>
          <p:cNvSpPr/>
          <p:nvPr/>
        </p:nvSpPr>
        <p:spPr>
          <a:xfrm>
            <a:off x="5596174" y="3575304"/>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HR 0.87 (CV)</a:t>
            </a:r>
            <a:endParaRPr lang="en-US" sz="1150" dirty="0"/>
          </a:p>
        </p:txBody>
      </p:sp>
      <p:sp>
        <p:nvSpPr>
          <p:cNvPr id="36" name="Text 34"/>
          <p:cNvSpPr/>
          <p:nvPr/>
        </p:nvSpPr>
        <p:spPr>
          <a:xfrm>
            <a:off x="7641366" y="3575304"/>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Kidney 0.77</a:t>
            </a:r>
            <a:endParaRPr lang="en-US" sz="1150" dirty="0"/>
          </a:p>
        </p:txBody>
      </p:sp>
      <p:sp>
        <p:nvSpPr>
          <p:cNvPr id="37" name="Text 35"/>
          <p:cNvSpPr/>
          <p:nvPr/>
        </p:nvSpPr>
        <p:spPr>
          <a:xfrm>
            <a:off x="9686559" y="3575304"/>
            <a:ext cx="1862313"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Slope +0.7; comp. 0.77</a:t>
            </a:r>
            <a:endParaRPr lang="en-US" sz="1150" dirty="0"/>
          </a:p>
        </p:txBody>
      </p:sp>
      <p:sp>
        <p:nvSpPr>
          <p:cNvPr id="38" name="Shape 36"/>
          <p:cNvSpPr/>
          <p:nvPr/>
        </p:nvSpPr>
        <p:spPr>
          <a:xfrm>
            <a:off x="566928" y="4142232"/>
            <a:ext cx="11055096" cy="566928"/>
          </a:xfrm>
          <a:prstGeom prst="rect">
            <a:avLst/>
          </a:prstGeom>
          <a:solidFill>
            <a:srgbClr val="FFFFFF"/>
          </a:solidFill>
          <a:ln w="9525">
            <a:solidFill>
              <a:srgbClr val="CBD9D9"/>
            </a:solidFill>
            <a:prstDash val="solid"/>
          </a:ln>
        </p:spPr>
      </p:sp>
      <p:sp>
        <p:nvSpPr>
          <p:cNvPr id="39" name="Shape 37"/>
          <p:cNvSpPr/>
          <p:nvPr/>
        </p:nvSpPr>
        <p:spPr>
          <a:xfrm>
            <a:off x="9576831" y="4142232"/>
            <a:ext cx="2045193" cy="566928"/>
          </a:xfrm>
          <a:prstGeom prst="rect">
            <a:avLst/>
          </a:prstGeom>
          <a:solidFill>
            <a:srgbClr val="E9F3F3"/>
          </a:solidFill>
          <a:ln w="9525">
            <a:solidFill>
              <a:srgbClr val="CBD9D9"/>
            </a:solidFill>
            <a:prstDash val="solid"/>
          </a:ln>
        </p:spPr>
      </p:sp>
      <p:sp>
        <p:nvSpPr>
          <p:cNvPr id="40" name="Text 38"/>
          <p:cNvSpPr/>
          <p:nvPr/>
        </p:nvSpPr>
        <p:spPr>
          <a:xfrm>
            <a:off x="676656" y="4142232"/>
            <a:ext cx="2691445" cy="566928"/>
          </a:xfrm>
          <a:prstGeom prst="rect">
            <a:avLst/>
          </a:prstGeom>
          <a:noFill/>
          <a:ln/>
        </p:spPr>
        <p:txBody>
          <a:bodyPr wrap="square" lIns="0" tIns="0" rIns="0" bIns="0" rtlCol="0" anchor="ctr"/>
          <a:lstStyle/>
          <a:p>
            <a:pPr algn="l" indent="0" marL="0">
              <a:buNone/>
            </a:pPr>
            <a:r>
              <a:rPr lang="en-US" sz="1200" b="1" dirty="0">
                <a:solidFill>
                  <a:srgbClr val="0B3D46"/>
                </a:solidFill>
                <a:latin typeface="Calibri" pitchFamily="34" charset="0"/>
                <a:ea typeface="Calibri" pitchFamily="34" charset="-122"/>
                <a:cs typeface="Calibri" pitchFamily="34" charset="-120"/>
              </a:rPr>
              <a:t>eGFR slope Δ / yr</a:t>
            </a:r>
            <a:endParaRPr lang="en-US" sz="1200" dirty="0"/>
          </a:p>
        </p:txBody>
      </p:sp>
      <p:sp>
        <p:nvSpPr>
          <p:cNvPr id="41" name="Text 39"/>
          <p:cNvSpPr/>
          <p:nvPr/>
        </p:nvSpPr>
        <p:spPr>
          <a:xfrm>
            <a:off x="3550981" y="4142232"/>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~0.7</a:t>
            </a:r>
            <a:endParaRPr lang="en-US" sz="1150" dirty="0"/>
          </a:p>
        </p:txBody>
      </p:sp>
      <p:sp>
        <p:nvSpPr>
          <p:cNvPr id="42" name="Text 40"/>
          <p:cNvSpPr/>
          <p:nvPr/>
        </p:nvSpPr>
        <p:spPr>
          <a:xfrm>
            <a:off x="5596174" y="4142232"/>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n/r</a:t>
            </a:r>
            <a:endParaRPr lang="en-US" sz="1150" dirty="0"/>
          </a:p>
        </p:txBody>
      </p:sp>
      <p:sp>
        <p:nvSpPr>
          <p:cNvPr id="43" name="Text 41"/>
          <p:cNvSpPr/>
          <p:nvPr/>
        </p:nvSpPr>
        <p:spPr>
          <a:xfrm>
            <a:off x="7641366" y="4142232"/>
            <a:ext cx="1862313" cy="566928"/>
          </a:xfrm>
          <a:prstGeom prst="rect">
            <a:avLst/>
          </a:prstGeom>
          <a:noFill/>
          <a:ln/>
        </p:spPr>
        <p:txBody>
          <a:bodyPr wrap="square" lIns="0" tIns="0" rIns="0" bIns="0" rtlCol="0" anchor="ctr"/>
          <a:lstStyle/>
          <a:p>
            <a:pPr algn="ctr" indent="0" marL="0">
              <a:buNone/>
            </a:pPr>
            <a:r>
              <a:rPr lang="en-US" sz="1150" dirty="0">
                <a:solidFill>
                  <a:srgbClr val="1B2A2E"/>
                </a:solidFill>
                <a:latin typeface="Calibri" pitchFamily="34" charset="0"/>
                <a:ea typeface="Calibri" pitchFamily="34" charset="-122"/>
                <a:cs typeface="Calibri" pitchFamily="34" charset="-120"/>
              </a:rPr>
              <a:t>n/r</a:t>
            </a:r>
            <a:endParaRPr lang="en-US" sz="1150" dirty="0"/>
          </a:p>
        </p:txBody>
      </p:sp>
      <p:sp>
        <p:nvSpPr>
          <p:cNvPr id="44" name="Text 42"/>
          <p:cNvSpPr/>
          <p:nvPr/>
        </p:nvSpPr>
        <p:spPr>
          <a:xfrm>
            <a:off x="9686559" y="4142232"/>
            <a:ext cx="1862313"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0.7 (chronic 1.2)</a:t>
            </a:r>
            <a:endParaRPr lang="en-US" sz="1150" dirty="0"/>
          </a:p>
        </p:txBody>
      </p:sp>
      <p:sp>
        <p:nvSpPr>
          <p:cNvPr id="45" name="Shape 43"/>
          <p:cNvSpPr/>
          <p:nvPr/>
        </p:nvSpPr>
        <p:spPr>
          <a:xfrm>
            <a:off x="566928" y="4892040"/>
            <a:ext cx="11055096" cy="1234440"/>
          </a:xfrm>
          <a:prstGeom prst="roundRect">
            <a:avLst>
              <a:gd name="adj" fmla="val 6667"/>
            </a:avLst>
          </a:prstGeom>
          <a:solidFill>
            <a:srgbClr val="E4EEEE"/>
          </a:solidFill>
          <a:ln/>
        </p:spPr>
      </p:sp>
      <p:sp>
        <p:nvSpPr>
          <p:cNvPr id="46" name="Shape 44"/>
          <p:cNvSpPr/>
          <p:nvPr/>
        </p:nvSpPr>
        <p:spPr>
          <a:xfrm>
            <a:off x="841248" y="5166360"/>
            <a:ext cx="182880" cy="182880"/>
          </a:xfrm>
          <a:prstGeom prst="ellipse">
            <a:avLst/>
          </a:prstGeom>
          <a:solidFill>
            <a:srgbClr val="0E7C86"/>
          </a:solidFill>
          <a:ln/>
        </p:spPr>
      </p:sp>
      <p:sp>
        <p:nvSpPr>
          <p:cNvPr id="47" name="Text 45"/>
          <p:cNvSpPr/>
          <p:nvPr/>
        </p:nvSpPr>
        <p:spPr>
          <a:xfrm>
            <a:off x="1133856" y="4892040"/>
            <a:ext cx="10232136" cy="1234440"/>
          </a:xfrm>
          <a:prstGeom prst="rect">
            <a:avLst/>
          </a:prstGeom>
          <a:noFill/>
          <a:ln/>
        </p:spPr>
        <p:txBody>
          <a:bodyPr wrap="square" lIns="0" tIns="0" rIns="0" bIns="0" rtlCol="0" anchor="ctr"/>
          <a:lstStyle/>
          <a:p>
            <a:pPr indent="0" marL="0">
              <a:lnSpc>
                <a:spcPct val="105000"/>
              </a:lnSpc>
              <a:buNone/>
            </a:pPr>
            <a:r>
              <a:rPr lang="en-US" sz="1250" b="1" dirty="0">
                <a:solidFill>
                  <a:srgbClr val="0B3D46"/>
                </a:solidFill>
                <a:latin typeface="Calibri" pitchFamily="34" charset="0"/>
                <a:ea typeface="Calibri" pitchFamily="34" charset="-122"/>
                <a:cs typeface="Calibri" pitchFamily="34" charset="-120"/>
              </a:rPr>
              <a:t>The through-line:  </a:t>
            </a:r>
            <a:pPr indent="0" marL="0">
              <a:lnSpc>
                <a:spcPct val="105000"/>
              </a:lnSpc>
              <a:buNone/>
            </a:pPr>
            <a:r>
              <a:rPr lang="en-US" sz="1250" dirty="0">
                <a:solidFill>
                  <a:srgbClr val="1B2A2E"/>
                </a:solidFill>
                <a:latin typeface="Calibri" pitchFamily="34" charset="0"/>
                <a:ea typeface="Calibri" pitchFamily="34" charset="-122"/>
                <a:cs typeface="Calibri" pitchFamily="34" charset="-120"/>
              </a:rPr>
              <a:t>the ~0.7 per year slope effect finerenone produced in diabetic CKD reproduces almost exactly in non-diabetic CKD, and the chronic slope of 1.2 sits right alongside RAS and SGLT2 inhibitors (0.5–1.0). Same drug, same mechanism, a population that was never before tested.</a:t>
            </a:r>
            <a:endParaRPr lang="en-US" sz="1250" dirty="0"/>
          </a:p>
        </p:txBody>
      </p:sp>
      <p:sp>
        <p:nvSpPr>
          <p:cNvPr id="49" name="Text 46"/>
          <p:cNvSpPr/>
          <p:nvPr/>
        </p:nvSpPr>
        <p:spPr>
          <a:xfrm>
            <a:off x="566928" y="6528816"/>
            <a:ext cx="10506456" cy="237744"/>
          </a:xfrm>
          <a:prstGeom prst="rect">
            <a:avLst/>
          </a:prstGeom>
          <a:noFill/>
          <a:ln/>
        </p:spPr>
        <p:txBody>
          <a:bodyPr wrap="square" lIns="0" tIns="0" rIns="0" bIns="0" rtlCol="0" anchor="ctr"/>
          <a:lstStyle/>
          <a:p>
            <a:pPr algn="l" indent="0" marL="0">
              <a:buNone/>
            </a:pPr>
            <a:r>
              <a:rPr lang="en-US" sz="850" dirty="0">
                <a:solidFill>
                  <a:srgbClr val="5C6B70"/>
                </a:solidFill>
                <a:latin typeface="Calibri" pitchFamily="34" charset="0"/>
                <a:ea typeface="Calibri" pitchFamily="34" charset="-122"/>
                <a:cs typeface="Calibri" pitchFamily="34" charset="-120"/>
              </a:rPr>
              <a:t>FIND-CKD  ·  Heerspink et al.  ·  N Engl J Med 2026  ·  DOI 10.1056/NEJMoa2604625</a:t>
            </a:r>
            <a:endParaRPr lang="en-US" sz="850" dirty="0"/>
          </a:p>
        </p:txBody>
      </p:sp>
      <p:sp>
        <p:nvSpPr>
          <p:cNvPr id="50" name="Text 47"/>
          <p:cNvSpPr/>
          <p:nvPr/>
        </p:nvSpPr>
        <p:spPr>
          <a:xfrm>
            <a:off x="11164824" y="6528816"/>
            <a:ext cx="457200" cy="237744"/>
          </a:xfrm>
          <a:prstGeom prst="rect">
            <a:avLst/>
          </a:prstGeom>
          <a:noFill/>
          <a:ln/>
        </p:spPr>
        <p:txBody>
          <a:bodyPr wrap="square" lIns="0" tIns="0" rIns="0" bIns="0" rtlCol="0" anchor="ctr"/>
          <a:lstStyle/>
          <a:p>
            <a:pPr algn="r" indent="0" marL="0">
              <a:buNone/>
            </a:pPr>
            <a:r>
              <a:rPr lang="en-US" sz="900" dirty="0">
                <a:solidFill>
                  <a:srgbClr val="5C6B7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3D46"/>
        </a:solidFill>
      </p:bgPr>
    </p:bg>
    <p:spTree>
      <p:nvGrpSpPr>
        <p:cNvPr id="1" name=""/>
        <p:cNvGrpSpPr/>
        <p:nvPr/>
      </p:nvGrpSpPr>
      <p:grpSpPr>
        <a:xfrm>
          <a:off x="0" y="0"/>
          <a:ext cx="0" cy="0"/>
          <a:chOff x="0" y="0"/>
          <a:chExt cx="0" cy="0"/>
        </a:xfrm>
      </p:grpSpPr>
      <p:sp>
        <p:nvSpPr>
          <p:cNvPr id="2" name="Shape 0"/>
          <p:cNvSpPr/>
          <p:nvPr/>
        </p:nvSpPr>
        <p:spPr>
          <a:xfrm>
            <a:off x="-1828800" y="4023360"/>
            <a:ext cx="5486400" cy="5486400"/>
          </a:xfrm>
          <a:prstGeom prst="ellipse">
            <a:avLst/>
          </a:prstGeom>
          <a:solidFill>
            <a:srgbClr val="0E4E58"/>
          </a:solidFill>
          <a:ln/>
        </p:spPr>
      </p:sp>
      <p:sp>
        <p:nvSpPr>
          <p:cNvPr id="3" name="Shape 1"/>
          <p:cNvSpPr/>
          <p:nvPr/>
        </p:nvSpPr>
        <p:spPr>
          <a:xfrm>
            <a:off x="9692640" y="-2194560"/>
            <a:ext cx="5029200" cy="5029200"/>
          </a:xfrm>
          <a:prstGeom prst="ellipse">
            <a:avLst/>
          </a:prstGeom>
          <a:solidFill>
            <a:srgbClr val="0C454F"/>
          </a:solidFill>
          <a:ln/>
        </p:spPr>
      </p:sp>
      <p:sp>
        <p:nvSpPr>
          <p:cNvPr id="4" name="Text 2"/>
          <p:cNvSpPr/>
          <p:nvPr/>
        </p:nvSpPr>
        <p:spPr>
          <a:xfrm>
            <a:off x="566928" y="640080"/>
            <a:ext cx="7315200" cy="365760"/>
          </a:xfrm>
          <a:prstGeom prst="rect">
            <a:avLst/>
          </a:prstGeom>
          <a:noFill/>
          <a:ln/>
        </p:spPr>
        <p:txBody>
          <a:bodyPr wrap="square" lIns="0" tIns="0" rIns="0" bIns="0" rtlCol="0" anchor="ctr"/>
          <a:lstStyle/>
          <a:p>
            <a:pPr indent="0" marL="0">
              <a:buNone/>
            </a:pPr>
            <a:r>
              <a:rPr lang="en-US" sz="1500" b="1" spc="300" kern="0" dirty="0">
                <a:solidFill>
                  <a:srgbClr val="3AA6A0"/>
                </a:solidFill>
                <a:latin typeface="Calibri" pitchFamily="34" charset="0"/>
                <a:ea typeface="Calibri" pitchFamily="34" charset="-122"/>
                <a:cs typeface="Calibri" pitchFamily="34" charset="-120"/>
              </a:rPr>
              <a:t>TAKE-HOME</a:t>
            </a:r>
            <a:endParaRPr lang="en-US" sz="1500" dirty="0"/>
          </a:p>
        </p:txBody>
      </p:sp>
      <p:sp>
        <p:nvSpPr>
          <p:cNvPr id="5" name="Text 3"/>
          <p:cNvSpPr/>
          <p:nvPr/>
        </p:nvSpPr>
        <p:spPr>
          <a:xfrm>
            <a:off x="566928" y="1051560"/>
            <a:ext cx="11055096" cy="1005840"/>
          </a:xfrm>
          <a:prstGeom prst="rect">
            <a:avLst/>
          </a:prstGeom>
          <a:noFill/>
          <a:ln/>
        </p:spPr>
        <p:txBody>
          <a:bodyPr wrap="square" lIns="0" tIns="0" rIns="0" bIns="0" rtlCol="0" anchor="ctr"/>
          <a:lstStyle/>
          <a:p>
            <a:pPr indent="0" marL="0">
              <a:lnSpc>
                <a:spcPct val="98000"/>
              </a:lnSpc>
              <a:buNone/>
            </a:pPr>
            <a:r>
              <a:rPr lang="en-US" sz="3200" b="1" dirty="0">
                <a:solidFill>
                  <a:srgbClr val="FFFFFF"/>
                </a:solidFill>
                <a:latin typeface="Cambria" pitchFamily="34" charset="0"/>
                <a:ea typeface="Cambria" pitchFamily="34" charset="-122"/>
                <a:cs typeface="Cambria" pitchFamily="34" charset="-120"/>
              </a:rPr>
              <a:t>Finerenone slows CKD progression in patients without diabetes</a:t>
            </a:r>
            <a:endParaRPr lang="en-US" sz="3200" dirty="0"/>
          </a:p>
        </p:txBody>
      </p:sp>
      <p:sp>
        <p:nvSpPr>
          <p:cNvPr id="6" name="Shape 4"/>
          <p:cNvSpPr/>
          <p:nvPr/>
        </p:nvSpPr>
        <p:spPr>
          <a:xfrm>
            <a:off x="566928" y="2331720"/>
            <a:ext cx="11055096" cy="896112"/>
          </a:xfrm>
          <a:prstGeom prst="roundRect">
            <a:avLst>
              <a:gd name="adj" fmla="val 8163"/>
            </a:avLst>
          </a:prstGeom>
          <a:solidFill>
            <a:srgbClr val="0D4852"/>
          </a:solidFill>
          <a:ln/>
        </p:spPr>
      </p:sp>
      <p:sp>
        <p:nvSpPr>
          <p:cNvPr id="7" name="Shape 5"/>
          <p:cNvSpPr/>
          <p:nvPr/>
        </p:nvSpPr>
        <p:spPr>
          <a:xfrm>
            <a:off x="768096" y="2532888"/>
            <a:ext cx="1874520" cy="493776"/>
          </a:xfrm>
          <a:prstGeom prst="roundRect">
            <a:avLst>
              <a:gd name="adj" fmla="val 11111"/>
            </a:avLst>
          </a:prstGeom>
          <a:solidFill>
            <a:srgbClr val="0E7C86"/>
          </a:solidFill>
          <a:ln/>
        </p:spPr>
      </p:sp>
      <p:sp>
        <p:nvSpPr>
          <p:cNvPr id="8" name="Text 6"/>
          <p:cNvSpPr/>
          <p:nvPr/>
        </p:nvSpPr>
        <p:spPr>
          <a:xfrm>
            <a:off x="768096" y="2532888"/>
            <a:ext cx="1874520"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Efficacy</a:t>
            </a:r>
            <a:endParaRPr lang="en-US" sz="1400" dirty="0"/>
          </a:p>
        </p:txBody>
      </p:sp>
      <p:sp>
        <p:nvSpPr>
          <p:cNvPr id="9" name="Text 7"/>
          <p:cNvSpPr/>
          <p:nvPr/>
        </p:nvSpPr>
        <p:spPr>
          <a:xfrm>
            <a:off x="2898648" y="2423160"/>
            <a:ext cx="8403336" cy="713232"/>
          </a:xfrm>
          <a:prstGeom prst="rect">
            <a:avLst/>
          </a:prstGeom>
          <a:noFill/>
          <a:ln/>
        </p:spPr>
        <p:txBody>
          <a:bodyPr wrap="square" lIns="0" tIns="0" rIns="0" bIns="0" rtlCol="0" anchor="ctr"/>
          <a:lstStyle/>
          <a:p>
            <a:pPr indent="0" marL="0">
              <a:lnSpc>
                <a:spcPct val="102000"/>
              </a:lnSpc>
              <a:buNone/>
            </a:pPr>
            <a:r>
              <a:rPr lang="en-US" sz="1300" dirty="0">
                <a:solidFill>
                  <a:srgbClr val="E6F1F1"/>
                </a:solidFill>
                <a:latin typeface="Calibri" pitchFamily="34" charset="0"/>
                <a:ea typeface="Calibri" pitchFamily="34" charset="-122"/>
                <a:cs typeface="Calibri" pitchFamily="34" charset="-120"/>
              </a:rPr>
              <a:t>Total eGFR slope 0.7 ml/min/1.73 m²/yr slower (P&lt;0.001); chronic slope 1.2. Protected kidney–CV composite HR 0.77.</a:t>
            </a:r>
            <a:endParaRPr lang="en-US" sz="1300" dirty="0"/>
          </a:p>
        </p:txBody>
      </p:sp>
      <p:sp>
        <p:nvSpPr>
          <p:cNvPr id="10" name="Shape 8"/>
          <p:cNvSpPr/>
          <p:nvPr/>
        </p:nvSpPr>
        <p:spPr>
          <a:xfrm>
            <a:off x="566928" y="3355848"/>
            <a:ext cx="11055096" cy="896112"/>
          </a:xfrm>
          <a:prstGeom prst="roundRect">
            <a:avLst>
              <a:gd name="adj" fmla="val 8163"/>
            </a:avLst>
          </a:prstGeom>
          <a:solidFill>
            <a:srgbClr val="0D4852"/>
          </a:solidFill>
          <a:ln/>
        </p:spPr>
      </p:sp>
      <p:sp>
        <p:nvSpPr>
          <p:cNvPr id="11" name="Shape 9"/>
          <p:cNvSpPr/>
          <p:nvPr/>
        </p:nvSpPr>
        <p:spPr>
          <a:xfrm>
            <a:off x="768096" y="3557016"/>
            <a:ext cx="1874520" cy="493776"/>
          </a:xfrm>
          <a:prstGeom prst="roundRect">
            <a:avLst>
              <a:gd name="adj" fmla="val 11111"/>
            </a:avLst>
          </a:prstGeom>
          <a:solidFill>
            <a:srgbClr val="3AA6A0"/>
          </a:solidFill>
          <a:ln/>
        </p:spPr>
      </p:sp>
      <p:sp>
        <p:nvSpPr>
          <p:cNvPr id="12" name="Text 10"/>
          <p:cNvSpPr/>
          <p:nvPr/>
        </p:nvSpPr>
        <p:spPr>
          <a:xfrm>
            <a:off x="768096" y="3557016"/>
            <a:ext cx="1874520"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Who benefits</a:t>
            </a:r>
            <a:endParaRPr lang="en-US" sz="1400" dirty="0"/>
          </a:p>
        </p:txBody>
      </p:sp>
      <p:sp>
        <p:nvSpPr>
          <p:cNvPr id="13" name="Text 11"/>
          <p:cNvSpPr/>
          <p:nvPr/>
        </p:nvSpPr>
        <p:spPr>
          <a:xfrm>
            <a:off x="2898648" y="3447288"/>
            <a:ext cx="8403336" cy="713232"/>
          </a:xfrm>
          <a:prstGeom prst="rect">
            <a:avLst/>
          </a:prstGeom>
          <a:noFill/>
          <a:ln/>
        </p:spPr>
        <p:txBody>
          <a:bodyPr wrap="square" lIns="0" tIns="0" rIns="0" bIns="0" rtlCol="0" anchor="ctr"/>
          <a:lstStyle/>
          <a:p>
            <a:pPr indent="0" marL="0">
              <a:lnSpc>
                <a:spcPct val="102000"/>
              </a:lnSpc>
              <a:buNone/>
            </a:pPr>
            <a:r>
              <a:rPr lang="en-US" sz="1300" dirty="0">
                <a:solidFill>
                  <a:srgbClr val="E6F1F1"/>
                </a:solidFill>
                <a:latin typeface="Calibri" pitchFamily="34" charset="0"/>
                <a:ea typeface="Calibri" pitchFamily="34" charset="-122"/>
                <a:cs typeface="Calibri" pitchFamily="34" charset="-120"/>
              </a:rPr>
              <a:t>Non-diabetic CKD with albuminuria on a RAS inhibitor. Largest effect with UACR &gt;1000; additive to SGLT2 inhibitors.</a:t>
            </a:r>
            <a:endParaRPr lang="en-US" sz="1300" dirty="0"/>
          </a:p>
        </p:txBody>
      </p:sp>
      <p:sp>
        <p:nvSpPr>
          <p:cNvPr id="14" name="Shape 12"/>
          <p:cNvSpPr/>
          <p:nvPr/>
        </p:nvSpPr>
        <p:spPr>
          <a:xfrm>
            <a:off x="566928" y="4379976"/>
            <a:ext cx="11055096" cy="896112"/>
          </a:xfrm>
          <a:prstGeom prst="roundRect">
            <a:avLst>
              <a:gd name="adj" fmla="val 8163"/>
            </a:avLst>
          </a:prstGeom>
          <a:solidFill>
            <a:srgbClr val="0D4852"/>
          </a:solidFill>
          <a:ln/>
        </p:spPr>
      </p:sp>
      <p:sp>
        <p:nvSpPr>
          <p:cNvPr id="15" name="Shape 13"/>
          <p:cNvSpPr/>
          <p:nvPr/>
        </p:nvSpPr>
        <p:spPr>
          <a:xfrm>
            <a:off x="768096" y="4581144"/>
            <a:ext cx="1874520" cy="493776"/>
          </a:xfrm>
          <a:prstGeom prst="roundRect">
            <a:avLst>
              <a:gd name="adj" fmla="val 11111"/>
            </a:avLst>
          </a:prstGeom>
          <a:solidFill>
            <a:srgbClr val="E08A2E"/>
          </a:solidFill>
          <a:ln/>
        </p:spPr>
      </p:sp>
      <p:sp>
        <p:nvSpPr>
          <p:cNvPr id="16" name="Text 14"/>
          <p:cNvSpPr/>
          <p:nvPr/>
        </p:nvSpPr>
        <p:spPr>
          <a:xfrm>
            <a:off x="768096" y="4581144"/>
            <a:ext cx="1874520"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Safety</a:t>
            </a:r>
            <a:endParaRPr lang="en-US" sz="1400" dirty="0"/>
          </a:p>
        </p:txBody>
      </p:sp>
      <p:sp>
        <p:nvSpPr>
          <p:cNvPr id="17" name="Text 15"/>
          <p:cNvSpPr/>
          <p:nvPr/>
        </p:nvSpPr>
        <p:spPr>
          <a:xfrm>
            <a:off x="2898648" y="4471416"/>
            <a:ext cx="8403336" cy="713232"/>
          </a:xfrm>
          <a:prstGeom prst="rect">
            <a:avLst/>
          </a:prstGeom>
          <a:noFill/>
          <a:ln/>
        </p:spPr>
        <p:txBody>
          <a:bodyPr wrap="square" lIns="0" tIns="0" rIns="0" bIns="0" rtlCol="0" anchor="ctr"/>
          <a:lstStyle/>
          <a:p>
            <a:pPr indent="0" marL="0">
              <a:lnSpc>
                <a:spcPct val="102000"/>
              </a:lnSpc>
              <a:buNone/>
            </a:pPr>
            <a:r>
              <a:rPr lang="en-US" sz="1300" dirty="0">
                <a:solidFill>
                  <a:srgbClr val="E6F1F1"/>
                </a:solidFill>
                <a:latin typeface="Calibri" pitchFamily="34" charset="0"/>
                <a:ea typeface="Calibri" pitchFamily="34" charset="-122"/>
                <a:cs typeface="Calibri" pitchFamily="34" charset="-120"/>
              </a:rPr>
              <a:t>Hyperkalemia is the price: modest, protocol-manageable, no fatal events. No new signal versus the diabetes trials.</a:t>
            </a:r>
            <a:endParaRPr lang="en-US" sz="1300" dirty="0"/>
          </a:p>
        </p:txBody>
      </p:sp>
      <p:sp>
        <p:nvSpPr>
          <p:cNvPr id="18" name="Shape 16"/>
          <p:cNvSpPr/>
          <p:nvPr/>
        </p:nvSpPr>
        <p:spPr>
          <a:xfrm>
            <a:off x="566928" y="5404104"/>
            <a:ext cx="11055096" cy="896112"/>
          </a:xfrm>
          <a:prstGeom prst="roundRect">
            <a:avLst>
              <a:gd name="adj" fmla="val 8163"/>
            </a:avLst>
          </a:prstGeom>
          <a:solidFill>
            <a:srgbClr val="0D4852"/>
          </a:solidFill>
          <a:ln/>
        </p:spPr>
      </p:sp>
      <p:sp>
        <p:nvSpPr>
          <p:cNvPr id="19" name="Shape 17"/>
          <p:cNvSpPr/>
          <p:nvPr/>
        </p:nvSpPr>
        <p:spPr>
          <a:xfrm>
            <a:off x="768096" y="5605272"/>
            <a:ext cx="1874520" cy="493776"/>
          </a:xfrm>
          <a:prstGeom prst="roundRect">
            <a:avLst>
              <a:gd name="adj" fmla="val 11111"/>
            </a:avLst>
          </a:prstGeom>
          <a:solidFill>
            <a:srgbClr val="C7D6D6"/>
          </a:solidFill>
          <a:ln/>
        </p:spPr>
      </p:sp>
      <p:sp>
        <p:nvSpPr>
          <p:cNvPr id="20" name="Text 18"/>
          <p:cNvSpPr/>
          <p:nvPr/>
        </p:nvSpPr>
        <p:spPr>
          <a:xfrm>
            <a:off x="768096" y="5605272"/>
            <a:ext cx="1874520" cy="493776"/>
          </a:xfrm>
          <a:prstGeom prst="rect">
            <a:avLst/>
          </a:prstGeom>
          <a:noFill/>
          <a:ln/>
        </p:spPr>
        <p:txBody>
          <a:bodyPr wrap="square" lIns="0" tIns="0" rIns="0" bIns="0" rtlCol="0" anchor="ctr"/>
          <a:lstStyle/>
          <a:p>
            <a:pPr algn="ctr" indent="0" marL="0">
              <a:buNone/>
            </a:pPr>
            <a:r>
              <a:rPr lang="en-US" sz="1400" b="1" dirty="0">
                <a:solidFill>
                  <a:srgbClr val="1B2A2E"/>
                </a:solidFill>
                <a:latin typeface="Calibri" pitchFamily="34" charset="0"/>
                <a:ea typeface="Calibri" pitchFamily="34" charset="-122"/>
                <a:cs typeface="Calibri" pitchFamily="34" charset="-120"/>
              </a:rPr>
              <a:t>The caveat</a:t>
            </a:r>
            <a:endParaRPr lang="en-US" sz="1400" dirty="0"/>
          </a:p>
        </p:txBody>
      </p:sp>
      <p:sp>
        <p:nvSpPr>
          <p:cNvPr id="21" name="Text 19"/>
          <p:cNvSpPr/>
          <p:nvPr/>
        </p:nvSpPr>
        <p:spPr>
          <a:xfrm>
            <a:off x="2898648" y="5495544"/>
            <a:ext cx="8403336" cy="713232"/>
          </a:xfrm>
          <a:prstGeom prst="rect">
            <a:avLst/>
          </a:prstGeom>
          <a:noFill/>
          <a:ln/>
        </p:spPr>
        <p:txBody>
          <a:bodyPr wrap="square" lIns="0" tIns="0" rIns="0" bIns="0" rtlCol="0" anchor="ctr"/>
          <a:lstStyle/>
          <a:p>
            <a:pPr indent="0" marL="0">
              <a:lnSpc>
                <a:spcPct val="102000"/>
              </a:lnSpc>
              <a:buNone/>
            </a:pPr>
            <a:r>
              <a:rPr lang="en-US" sz="1300" dirty="0">
                <a:solidFill>
                  <a:srgbClr val="E6F1F1"/>
                </a:solidFill>
                <a:latin typeface="Calibri" pitchFamily="34" charset="0"/>
                <a:ea typeface="Calibri" pitchFamily="34" charset="-122"/>
                <a:cs typeface="Calibri" pitchFamily="34" charset="-120"/>
              </a:rPr>
              <a:t>Primary endpoint is a surrogate; not powered for hard outcomes. Heavy-albuminuria, mostly male cohort. Read the slope, not just the total.</a:t>
            </a:r>
            <a:endParaRPr lang="en-US" sz="1300" dirty="0"/>
          </a:p>
        </p:txBody>
      </p:sp>
      <p:sp>
        <p:nvSpPr>
          <p:cNvPr id="22" name="Text 20"/>
          <p:cNvSpPr/>
          <p:nvPr/>
        </p:nvSpPr>
        <p:spPr>
          <a:xfrm>
            <a:off x="566928" y="6473952"/>
            <a:ext cx="11055096" cy="274320"/>
          </a:xfrm>
          <a:prstGeom prst="rect">
            <a:avLst/>
          </a:prstGeom>
          <a:noFill/>
          <a:ln/>
        </p:spPr>
        <p:txBody>
          <a:bodyPr wrap="square" lIns="0" tIns="0" rIns="0" bIns="0" rtlCol="0" anchor="ctr"/>
          <a:lstStyle/>
          <a:p>
            <a:pPr indent="0" marL="0">
              <a:buNone/>
            </a:pPr>
            <a:r>
              <a:rPr lang="en-US" sz="950" dirty="0">
                <a:solidFill>
                  <a:srgbClr val="7FA0A0"/>
                </a:solidFill>
                <a:latin typeface="Calibri" pitchFamily="34" charset="0"/>
                <a:ea typeface="Calibri" pitchFamily="34" charset="-122"/>
                <a:cs typeface="Calibri" pitchFamily="34" charset="-120"/>
              </a:rPr>
              <a:t>FIND-CKD  ·  Heerspink et al.  ·  N Engl J Med 2026  ·  DOI 10.1056/NEJMoa2604625  ·  NCT05047263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FIND-CKD</dc:title>
  <dc:subject>PptxGenJS Presentation</dc:subject>
  <dc:creator>FIND-CKD journal club</dc:creator>
  <cp:lastModifiedBy>FIND-CKD journal club</cp:lastModifiedBy>
  <cp:revision>1</cp:revision>
  <dcterms:created xsi:type="dcterms:W3CDTF">2026-07-26T22:43:48Z</dcterms:created>
  <dcterms:modified xsi:type="dcterms:W3CDTF">2026-07-26T22:43:48Z</dcterms:modified>
</cp:coreProperties>
</file>