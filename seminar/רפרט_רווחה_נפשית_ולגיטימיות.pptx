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אחוז מהשפוטים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30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גברים</c:v>
                  </c:pt>
                  <c:pt idx="1">
                    <c:v>יהודים</c:v>
                  </c:pt>
                  <c:pt idx="2">
                    <c:v>לא יהודים</c:v>
                  </c:pt>
                  <c:pt idx="3">
                    <c:v>מאסר ראשון</c:v>
                  </c:pt>
                  <c:pt idx="4">
                    <c:v>מאסר שני</c:v>
                  </c:pt>
                  <c:pt idx="5">
                    <c:v>מאסר שלישי ומעלה</c:v>
                  </c:pt>
                  <c:pt idx="6">
                    <c:v>מעל 3 חודשים באגף</c:v>
                  </c:pt>
                  <c:pt idx="7">
                    <c:v>במסלול שיקום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96.8</c:v>
                </c:pt>
                <c:pt idx="1">
                  <c:v>47.8</c:v>
                </c:pt>
                <c:pt idx="2">
                  <c:v>52.2</c:v>
                </c:pt>
                <c:pt idx="3">
                  <c:v>48.8</c:v>
                </c:pt>
                <c:pt idx="4">
                  <c:v>22.2</c:v>
                </c:pt>
                <c:pt idx="5">
                  <c:v>29</c:v>
                </c:pt>
                <c:pt idx="6">
                  <c:v>68.3</c:v>
                </c:pt>
                <c:pt idx="7">
                  <c:v>20.4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230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0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A5F"/>
                </a:solidFill>
                <a:latin typeface="Arial"/>
              </a:rPr>
              <a:t>רווחה נפשית ממוצעת לפי רמת לגיטימיות (סולם 1 עד 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רווחה נפשית ממוצעת</c:v>
                </c:pt>
              </c:strCache>
            </c:strRef>
          </c:tx>
          <c:spPr>
            <a:solidFill>
              <a:srgbClr val="E889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30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לגיטימיות נמוכה (עד 3.5)</c:v>
                  </c:pt>
                  <c:pt idx="1">
                    <c:v>לגיטימיות בינונית (3.5 עד 4.5)</c:v>
                  </c:pt>
                  <c:pt idx="2">
                    <c:v>לגיטימיות גבוהה (מעל 4.5)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3.34</c:v>
                </c:pt>
                <c:pt idx="1">
                  <c:v>3.65</c:v>
                </c:pt>
                <c:pt idx="2">
                  <c:v>4.05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230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30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שקף פתיחה: להציג את שאלת המחקר ואת המגישות.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פער של כ-0.7 נקודות ברווחה בין הקבוצה הנמוכה לגבוהה, כ-80% מסטיית תקן. n: 427 / 809 / 1,108.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28600"/>
            <a:ext cx="2377440" cy="9418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20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המכללה האקדמית אשקלון | החוג לקרימינולוגיה</a:t>
            </a:r>
            <a:endParaRPr lang="he-IL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0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סמינריון: תנאי כליאה של אסירים פליליים בישראל ובעולם</a:t>
            </a:r>
            <a:endParaRPr lang="he-IL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961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מרצה: ד"ר יוחנן ועקנין</a:t>
            </a:r>
            <a:endParaRPr lang="he-IL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רווחה נפשית ותפיסת הלגיטימיות של סגל הכליאה בקרב אסירים שפוטים בישראל</a:t>
            </a:r>
            <a:endParaRPr lang="he-IL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06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CFD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שאלת המחקר: באיזו מידה קיים קשר בין רווחה נפשית לבין תפיסת הלגיטימיות של סגל הכליאה בקרב אסירים שפוטים בלבד?</a:t>
            </a:r>
            <a:endParaRPr lang="he-IL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611880"/>
            <a:ext cx="8046720" cy="1097280"/>
          </a:xfrm>
          <a:prstGeom prst="roundRect">
            <a:avLst>
              <a:gd name="adj" fmla="val 10000"/>
            </a:avLst>
          </a:prstGeom>
          <a:solidFill>
            <a:srgbClr val="2B4C78"/>
          </a:solidFill>
          <a:ln w="12700">
            <a:solidFill>
              <a:srgbClr val="2B4C7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7033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E88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מגישות:</a:t>
            </a:r>
            <a:endParaRPr lang="he-IL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00507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שם: ______________________   ת.ז.: ______________</a:t>
            </a:r>
            <a:endParaRPr lang="he-IL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3159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שם: ______________________   ת.ז.: ______________</a:t>
            </a:r>
            <a:endParaRPr lang="he-IL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4983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הסדר באגף אינו מתקיים בכוח בלבד אלא נשען על תחושת האסירים שהמשטר הוגן ושהסגל ראוי לציות (Sparks &amp; Bottoms, 1995).</a:t>
            </a:r>
            <a:endParaRPr lang="he-IL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לגיטימיות: המידה שבה האסיר תופס את הסגל כמכבד, נגיש והוגן בטיפול בבקשותיו.</a:t>
            </a:r>
            <a:endParaRPr lang="he-IL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בישראל כ-80% ממקומות הכליאה היו קטנים מתקן 4.5 מ"ר לאסיר במאי 2019 (יכימוביץ-כהן, 2020).</a:t>
            </a:r>
            <a:endParaRPr lang="he-IL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בסתיו 2021 נערך סקר תנאי המחיה הראשון בהיקפו בשב"ס: 2,363 שפוטים ו-1,427 עצורים (ועקנין, 2024).</a:t>
            </a:r>
            <a:endParaRPr lang="he-IL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הסקר מצא שהלגיטימיות ממתנת את הקשר בין תנאי המחיה לשביעות הרצון מפעילויות השיקום.</a:t>
            </a:r>
            <a:endParaRPr lang="he-IL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המחקר הנוכחי בוחן חוט אחד מאותו מערך: הקשר בין רווחה נפשית ללגיטימיות בקרב שפוטים.</a:t>
            </a:r>
            <a:endParaRPr lang="he-IL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18872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0" y="12618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3,790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8105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CFD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משתתפים בסקר המקורי</a:t>
            </a:r>
            <a:endParaRPr lang="he-IL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23774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24505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2,379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999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CFD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שפוטים בניתוח הנוכחי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356616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3639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4187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CFD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תחומי תנאי מחיה בשאלון</a:t>
            </a:r>
            <a:endParaRPr lang="he-IL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רווחה נפשית ולגיטימיות הסגל בקרב אסירים שפוטים</a:t>
            </a:r>
            <a:endParaRPr lang="he-IL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ספרות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1325880"/>
            <a:ext cx="329184" cy="329184"/>
          </a:xfrm>
          <a:prstGeom prst="ellipse">
            <a:avLst/>
          </a:prstGeom>
          <a:solidFill>
            <a:srgbClr val="E8892B"/>
          </a:solidFill>
          <a:ln w="12700">
            <a:solidFill>
              <a:srgbClr val="E88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2618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ועקנין (2024)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4358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סקר שב"ס, 3,790 כלואים: הלגיטימיות ממתנת את הקשר בין תנאי מחיה לשביעות רצון משיקום; שפוטים גבוהים מעצורים בלגיטימיות.</a:t>
            </a:r>
            <a:endParaRPr lang="he-IL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AF0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83880" y="2020824"/>
            <a:ext cx="329184" cy="329184"/>
          </a:xfrm>
          <a:prstGeom prst="ellipse">
            <a:avLst/>
          </a:prstGeom>
          <a:solidFill>
            <a:srgbClr val="E8892B"/>
          </a:solidFill>
          <a:ln w="12700">
            <a:solidFill>
              <a:srgbClr val="E88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2020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19568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Sparks &amp; Bottoms (1995)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93852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לגיטימיות בבתי סוהר נבנית מהוגנות פרוצדורלית, סדירות השירות ואיכות אנושית בשגרה.</a:t>
            </a:r>
            <a:endParaRPr lang="he-IL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2715768"/>
            <a:ext cx="329184" cy="329184"/>
          </a:xfrm>
          <a:prstGeom prst="ellipse">
            <a:avLst/>
          </a:prstGeom>
          <a:solidFill>
            <a:srgbClr val="E8892B"/>
          </a:solidFill>
          <a:ln w="12700">
            <a:solidFill>
              <a:srgbClr val="E88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388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Brunton-Smith &amp; McCarthy (2016)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63347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יותר מ-3,000 אסירים באנגליה: ההוגנות הפרוצדורלית היא המנבא החזק ביותר של לגיטימיות.</a:t>
            </a:r>
            <a:endParaRPr lang="he-IL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7355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AF0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3410712"/>
            <a:ext cx="329184" cy="329184"/>
          </a:xfrm>
          <a:prstGeom prst="ellipse">
            <a:avLst/>
          </a:prstGeom>
          <a:solidFill>
            <a:srgbClr val="E8892B"/>
          </a:solidFill>
          <a:ln w="12700">
            <a:solidFill>
              <a:srgbClr val="E88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33467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Sargeant et al. (2026)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28416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מערך אורך באוסטרליה: צדק פרוצדורלי מעלה רווחה נפשית, והיחסים עם הסגל מתווכים את הקשר.</a:t>
            </a:r>
            <a:endParaRPr lang="he-IL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96849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4105656"/>
            <a:ext cx="329184" cy="329184"/>
          </a:xfrm>
          <a:prstGeom prst="ellipse">
            <a:avLst/>
          </a:prstGeom>
          <a:solidFill>
            <a:srgbClr val="E8892B"/>
          </a:solidFill>
          <a:ln w="12700">
            <a:solidFill>
              <a:srgbClr val="E889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4105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40416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Auty &amp; Liebling (2024)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02336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518 סקרי MQPL: מתחת לסף 3.05 ביחסי סגל-אסירים עולים בחדות שיעורי האלימות והפגיעה העצמית.</a:t>
            </a:r>
            <a:endParaRPr lang="he-IL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רווחה נפשית ולגיטימיות הסגל בקרב אסירים שפוטים</a:t>
            </a:r>
            <a:endParaRPr lang="he-IL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שאלת המחקר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באיזו מידה קיים קשר בין רווחה נפשית לבין תפיסת הלגיטימיות של סגל הכליאה בקרב אסירים שפוטים בלבד?</a:t>
            </a:r>
            <a:endParaRPr lang="he-IL" sz="1800" dirty="0"/>
          </a:p>
        </p:txBody>
      </p:sp>
      <p:sp>
        <p:nvSpPr>
          <p:cNvPr id="5" name="Shape 3"/>
          <p:cNvSpPr/>
          <p:nvPr/>
        </p:nvSpPr>
        <p:spPr>
          <a:xfrm>
            <a:off x="6035040" y="242316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0" y="2542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E88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משתנה תלוי</a:t>
            </a:r>
            <a:endParaRPr lang="he-IL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9260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he-IL" altLang="en-US" sz="1200" b="1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לגיטימיות הסגל</a:t>
            </a:r>
            <a:endParaRPr lang="he-IL" sz="1200" dirty="0"/>
          </a:p>
          <a:p>
            <a:pPr algn="r" indent="0" marL="0">
              <a:buNone/>
            </a:pPr>
            <a:r>
              <a:rPr lang="he-IL" altLang="en-US" sz="12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פריטים: אפשר לדבר עם הסוהרים, יחס מכבד, טיפול בבקשות. סולם 1 עד 5, α = 0.67</a:t>
            </a:r>
            <a:endParaRPr lang="he-IL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242316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542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E88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משתנה בלתי תלוי</a:t>
            </a:r>
            <a:endParaRPr lang="he-IL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9260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he-IL" altLang="en-US" sz="1200" b="1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רווחה נפשית</a:t>
            </a:r>
            <a:endParaRPr lang="he-IL" sz="1200" dirty="0"/>
          </a:p>
          <a:p>
            <a:pPr algn="r" indent="0" marL="0">
              <a:buNone/>
            </a:pPr>
            <a:r>
              <a:rPr lang="he-IL" altLang="en-US" sz="12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פריטים: בריאות גופנית ונפשית, שיפור מאז המאסר, שמחה ושביעות רצון מהחיים. סולם 1 עד 5, α = 0.81</a:t>
            </a:r>
            <a:endParaRPr lang="he-IL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542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E88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השערה ושיטה</a:t>
            </a:r>
            <a:endParaRPr lang="he-IL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260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he-IL" altLang="en-US" sz="12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קשר חיובי מובהק: ככל שהרווחה גבוהה יותר, הלגיטימיות גבוהה יותר.</a:t>
            </a:r>
            <a:endParaRPr lang="he-IL" sz="1200" dirty="0"/>
          </a:p>
          <a:p>
            <a:pPr algn="r" indent="0" marL="0">
              <a:buNone/>
            </a:pPr>
            <a:r>
              <a:rPr lang="he-IL" altLang="en-US" sz="12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נתונים סינתטיים המבוססים על סקר שב"ס 2021, שפוטים בלבד (N = 2,379). ניתוח ב-SPSS: תיאורי, מהימנות, מתאם פירסון וספירמן.</a:t>
            </a:r>
            <a:endParaRPr lang="he-IL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רווחה נפשית ולגיטימיות הסגל בקרב אסירים שפוטים</a:t>
            </a:r>
            <a:endParaRPr lang="he-IL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ממצאים: אוכלוסיית המחקר (N = 2,379)</a:t>
            </a:r>
            <a:endParaRPr lang="he-IL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291840" y="114300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114300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E88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הם השפוטים?</a:t>
            </a:r>
            <a:endParaRPr lang="he-IL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גיל ממוצע 37.9 (טווח 18 עד 82)</a:t>
            </a:r>
            <a:endParaRPr lang="he-IL" sz="12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כמחצית במאסרם הראשון</a:t>
            </a:r>
            <a:endParaRPr lang="he-IL" sz="12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שלישים שוהים באגף מעל שלושה חודשים</a:t>
            </a:r>
            <a:endParaRPr lang="he-IL" sz="12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נשים בלבד (3.2%)</a:t>
            </a:r>
            <a:endParaRPr lang="he-IL" sz="12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התפלגות דומה לסקר המקורי (ועקנין, 2024)</a:t>
            </a:r>
            <a:endParaRPr lang="he-IL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רווחה נפשית ולגיטימיות הסגל בקרב אסירים שפוטים</a:t>
            </a:r>
            <a:endParaRPr lang="he-IL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ממצאים: הקשר בין רווחה נפשית ללגיטימיות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943600" y="114300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0" y="12070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8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0.32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874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CFD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מתאם פירסון, p &lt; 0.001, N = 2,344</a:t>
            </a:r>
            <a:endParaRPr lang="he-IL" sz="1100" dirty="0"/>
          </a:p>
          <a:p>
            <a:pPr rtl="1" algn="ctr" indent="0" marL="0">
              <a:buNone/>
            </a:pPr>
            <a:r>
              <a:rPr lang="he-IL" altLang="en-US" sz="1100" dirty="0">
                <a:solidFill>
                  <a:srgbClr val="CFD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ספירמן rs = 0.34</a:t>
            </a:r>
            <a:endParaRPr lang="he-IL" sz="1100" dirty="0"/>
          </a:p>
        </p:txBody>
      </p:sp>
      <p:sp>
        <p:nvSpPr>
          <p:cNvPr id="6" name="Shape 4"/>
          <p:cNvSpPr/>
          <p:nvPr/>
        </p:nvSpPr>
        <p:spPr>
          <a:xfrm>
            <a:off x="5943600" y="269748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80760" y="281635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he-IL" alt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ממוצע לגיטימיות 4.24 (SD 0.83); ממוצע רווחה 3.78 (SD 0.87)</a:t>
            </a:r>
            <a:endParaRPr lang="he-IL" sz="110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he-IL" alt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קשר חיובי בכל שלושת פריטי הלגיטימיות (0.25 עד 0.29)</a:t>
            </a:r>
            <a:endParaRPr lang="he-IL" sz="110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he-IL" alt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הרווחה חולקת עם הלגיטימיות כ-10% מהשונות</a:t>
            </a:r>
            <a:endParaRPr lang="he-IL" sz="110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he-IL" altLang="en-US" sz="11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ההשערה אוששה: ככל שהרווחה עולה, הלגיטימיות עולה, ולהפך</a:t>
            </a:r>
            <a:endParaRPr lang="he-IL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430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רווחה נפשית ולגיטימיות הסגל בקרב אסירים שפוטים</a:t>
            </a:r>
            <a:endParaRPr lang="he-IL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2026-09-14T18:00:28Z</dcterms:created>
  <dcterms:modified xsi:type="dcterms:W3CDTF">2026-09-14T18:00:28Z</dcterms:modified>
</cp:coreProperties>
</file>