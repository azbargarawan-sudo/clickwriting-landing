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3A5F"/>
                </a:solidFill>
                <a:latin typeface="Arial"/>
              </a:defRPr>
            </a:pPr>
            <a:r>
              <a:rPr sz="1100" b="0" i="0" u="none" strike="noStrike">
                <a:solidFill>
                  <a:srgbClr val="1F3A5F"/>
                </a:solidFill>
                <a:latin typeface="Arial"/>
              </a:rPr>
              <a:t>מאפייני הרקע של השפוטים באחוזים (N = 2,379)</a:t>
            </a:r>
          </a:p>
        </c:rich>
      </c:tx>
      <c:layout/>
      <c:overlay val="0"/>
    </c:title>
    <c:autoTitleDeleted val="0"/>
    <c:plotArea>
      <c:layout/>
      <c:barChart>
        <c:barDir val="bar"/>
        <c:grouping val="clustered"/>
        <c:varyColors val="0"/>
        <c:ser>
          <c:idx val="0"/>
          <c:order val="0"/>
          <c:tx>
            <c:strRef>
              <c:f>Sheet1!$B$1</c:f>
              <c:strCache>
                <c:ptCount val="1"/>
                <c:pt idx="0">
                  <c:v>אחוז מהשפוטים</c:v>
                </c:pt>
              </c:strCache>
            </c:strRef>
          </c:tx>
          <c:spPr>
            <a:solidFill>
              <a:srgbClr val="1F3A5F"/>
            </a:solidFill>
            <a:effectLst/>
          </c:spPr>
          <c:invertIfNegative val="0"/>
          <c:dLbls>
            <c:numFmt formatCode="0.0&quot;%&quot;" sourceLinked="0"/>
            <c:txPr>
              <a:bodyPr/>
              <a:lstStyle/>
              <a:p>
                <a:pPr>
                  <a:defRPr b="0" i="0" strike="noStrike" sz="1000" u="none">
                    <a:solidFill>
                      <a:srgbClr val="22303F"/>
                    </a:solidFill>
                    <a:latin typeface="Arial"/>
                  </a:defRPr>
                </a:pPr>
              </a:p>
            </c:txPr>
            <c:showLegendKey val="0"/>
            <c:showVal val="1"/>
            <c:showCatName val="0"/>
            <c:showSerName val="0"/>
            <c:showPercent val="0"/>
            <c:showBubbleSize val="0"/>
            <c:showLeaderLines val="0"/>
          </c:dLbls>
          <c:cat>
            <c:multiLvlStrRef>
              <c:f>Sheet1!$A$2:$A$9</c:f>
              <c:multiLvlStrCache>
                <c:ptCount val="8"/>
                <c:lvl>
                  <c:pt idx="0">
                    <c:v>גברים</c:v>
                  </c:pt>
                  <c:pt idx="1">
                    <c:v>יהודים</c:v>
                  </c:pt>
                  <c:pt idx="2">
                    <c:v>לא יהודים</c:v>
                  </c:pt>
                  <c:pt idx="3">
                    <c:v>מאסר ראשון</c:v>
                  </c:pt>
                  <c:pt idx="4">
                    <c:v>מאסר שני</c:v>
                  </c:pt>
                  <c:pt idx="5">
                    <c:v>מאסר שלישי ומעלה</c:v>
                  </c:pt>
                  <c:pt idx="6">
                    <c:v>מעל 3 חודשים באגף</c:v>
                  </c:pt>
                  <c:pt idx="7">
                    <c:v>במסלול שיקום</c:v>
                  </c:pt>
                </c:lvl>
              </c:multiLvlStrCache>
            </c:multiLvlStrRef>
          </c:cat>
          <c:val>
            <c:numRef>
              <c:f>Sheet1!$B$2:$B$9</c:f>
              <c:numCache>
                <c:formatCode>General</c:formatCode>
                <c:ptCount val="8"/>
                <c:pt idx="0">
                  <c:v>96.8</c:v>
                </c:pt>
                <c:pt idx="1">
                  <c:v>47.8</c:v>
                </c:pt>
                <c:pt idx="2">
                  <c:v>52.2</c:v>
                </c:pt>
                <c:pt idx="3">
                  <c:v>48.8</c:v>
                </c:pt>
                <c:pt idx="4">
                  <c:v>22.2</c:v>
                </c:pt>
                <c:pt idx="5">
                  <c:v>29</c:v>
                </c:pt>
                <c:pt idx="6">
                  <c:v>68.3</c:v>
                </c:pt>
                <c:pt idx="7">
                  <c:v>20.4</c:v>
                </c:pt>
              </c:numCache>
            </c:numRef>
          </c:val>
        </c:ser>
        <c:dLbls>
          <c:numFmt formatCode="0.0&quot;%&quot;" sourceLinked="0"/>
          <c:txPr>
            <a:bodyPr/>
            <a:lstStyle/>
            <a:p>
              <a:pPr>
                <a:defRPr b="0" i="0" strike="noStrike" sz="1000" u="none">
                  <a:solidFill>
                    <a:srgbClr val="22303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2303F"/>
                </a:solidFill>
                <a:latin typeface="Arial"/>
              </a:defRPr>
            </a:pPr>
            <a:endParaRPr lang="en-US"/>
          </a:p>
        </c:txPr>
        <c:crossAx val="2094734552"/>
        <c:crosses val="autoZero"/>
        <c:auto val="1"/>
        <c:lblAlgn val="ctr"/>
        <c:noMultiLvlLbl val="1"/>
      </c:catAx>
      <c:valAx>
        <c:axId val="2094734552"/>
        <c:scaling>
          <c:orientation val="minMax"/>
          <c:max val="11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3A5F"/>
                </a:solidFill>
                <a:latin typeface="Arial"/>
              </a:defRPr>
            </a:pPr>
            <a:r>
              <a:rPr sz="1100" b="0" i="0" u="none" strike="noStrike">
                <a:solidFill>
                  <a:srgbClr val="1F3A5F"/>
                </a:solidFill>
                <a:latin typeface="Arial"/>
              </a:rPr>
              <a:t>רווחה נפשית ממוצעת לפי רמת לגיטימיות (סולם 1 עד 5)</a:t>
            </a:r>
          </a:p>
        </c:rich>
      </c:tx>
      <c:layout/>
      <c:overlay val="0"/>
    </c:title>
    <c:autoTitleDeleted val="0"/>
    <c:plotArea>
      <c:layout/>
      <c:barChart>
        <c:barDir val="col"/>
        <c:grouping val="clustered"/>
        <c:varyColors val="0"/>
        <c:ser>
          <c:idx val="0"/>
          <c:order val="0"/>
          <c:tx>
            <c:strRef>
              <c:f>Sheet1!$B$1</c:f>
              <c:strCache>
                <c:ptCount val="1"/>
                <c:pt idx="0">
                  <c:v>רווחה נפשית ממוצעת</c:v>
                </c:pt>
              </c:strCache>
            </c:strRef>
          </c:tx>
          <c:spPr>
            <a:solidFill>
              <a:srgbClr val="E8892B"/>
            </a:solidFill>
            <a:effectLst/>
          </c:spPr>
          <c:invertIfNegative val="0"/>
          <c:dLbls>
            <c:numFmt formatCode="0.00" sourceLinked="0"/>
            <c:txPr>
              <a:bodyPr/>
              <a:lstStyle/>
              <a:p>
                <a:pPr>
                  <a:defRPr b="0" i="0" strike="noStrike" sz="1100" u="none">
                    <a:solidFill>
                      <a:srgbClr val="22303F"/>
                    </a:solidFill>
                    <a:latin typeface="Arial"/>
                  </a:defRPr>
                </a:pPr>
              </a:p>
            </c:txPr>
            <c:showLegendKey val="0"/>
            <c:showVal val="1"/>
            <c:showCatName val="0"/>
            <c:showSerName val="0"/>
            <c:showPercent val="0"/>
            <c:showBubbleSize val="0"/>
            <c:showLeaderLines val="0"/>
          </c:dLbls>
          <c:cat>
            <c:multiLvlStrRef>
              <c:f>Sheet1!$A$2:$A$4</c:f>
              <c:multiLvlStrCache>
                <c:ptCount val="3"/>
                <c:lvl>
                  <c:pt idx="0">
                    <c:v>לגיטימיות נמוכה (עד 3.5)</c:v>
                  </c:pt>
                  <c:pt idx="1">
                    <c:v>לגיטימיות בינונית (3.5 עד 4.5)</c:v>
                  </c:pt>
                  <c:pt idx="2">
                    <c:v>לגיטימיות גבוהה (מעל 4.5)</c:v>
                  </c:pt>
                </c:lvl>
              </c:multiLvlStrCache>
            </c:multiLvlStrRef>
          </c:cat>
          <c:val>
            <c:numRef>
              <c:f>Sheet1!$B$2:$B$4</c:f>
              <c:numCache>
                <c:formatCode>General</c:formatCode>
                <c:ptCount val="3"/>
                <c:pt idx="0">
                  <c:v>3.34</c:v>
                </c:pt>
                <c:pt idx="1">
                  <c:v>3.65</c:v>
                </c:pt>
                <c:pt idx="2">
                  <c:v>4.05</c:v>
                </c:pt>
              </c:numCache>
            </c:numRef>
          </c:val>
        </c:ser>
        <c:dLbls>
          <c:numFmt formatCode="0.00" sourceLinked="0"/>
          <c:txPr>
            <a:bodyPr/>
            <a:lstStyle/>
            <a:p>
              <a:pPr>
                <a:defRPr b="0" i="0" strike="noStrike" sz="1100" u="none">
                  <a:solidFill>
                    <a:srgbClr val="22303F"/>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2303F"/>
                </a:solidFill>
                <a:latin typeface="Arial"/>
              </a:defRPr>
            </a:pPr>
            <a:endParaRPr lang="en-US"/>
          </a:p>
        </c:txPr>
        <c:crossAx val="2094734552"/>
        <c:crosses val="autoZero"/>
        <c:auto val="1"/>
        <c:lblAlgn val="ctr"/>
        <c:noMultiLvlLbl val="1"/>
      </c:catAx>
      <c:valAx>
        <c:axId val="2094734552"/>
        <c:scaling>
          <c:orientation val="minMax"/>
          <c:max val="5"/>
          <c:min val="1"/>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9144000" cy="1234440"/>
          </a:xfrm>
          <a:prstGeom prst="rect">
            <a:avLst/>
          </a:prstGeom>
          <a:solidFill>
            <a:srgbClr val="FFFFFF"/>
          </a:solidFill>
          <a:ln/>
        </p:spPr>
      </p:sp>
      <p:pic>
        <p:nvPicPr>
          <p:cNvPr id="3" name="Image 0" descr="preencoded.png">    </p:cNvPr>
          <p:cNvPicPr>
            <a:picLocks noChangeAspect="1"/>
          </p:cNvPicPr>
          <p:nvPr/>
        </p:nvPicPr>
        <p:blipFill>
          <a:blip r:embed="rId1"/>
          <a:stretch>
            <a:fillRect/>
          </a:stretch>
        </p:blipFill>
        <p:spPr>
          <a:xfrm>
            <a:off x="6309360" y="228600"/>
            <a:ext cx="2377440" cy="941832"/>
          </a:xfrm>
          <a:prstGeom prst="rect">
            <a:avLst/>
          </a:prstGeom>
        </p:spPr>
      </p:pic>
      <p:sp>
        <p:nvSpPr>
          <p:cNvPr id="4" name="Text 1"/>
          <p:cNvSpPr txBox="1"/>
          <p:nvPr/>
        </p:nvSpPr>
        <p:spPr>
          <a:xfrm>
            <a:off x="457200" y="320040"/>
            <a:ext cx="5669280" cy="320040"/>
          </a:xfrm>
          <a:prstGeom prst="rect">
            <a:avLst/>
          </a:prstGeom>
          <a:noFill/>
          <a:ln/>
        </p:spPr>
        <p:txBody>
          <a:bodyPr wrap="square" lIns="0" tIns="0" rIns="0" bIns="0" rtlCol="0" anchor="t"/>
          <a:lstStyle/>
          <a:p>
            <a:pPr rtl="1" algn="r" indent="0" marL="0">
              <a:buNone/>
            </a:pPr>
            <a:r>
              <a:rPr lang="he-IL" altLang="en-US" sz="1400" b="1" dirty="0">
                <a:solidFill>
                  <a:srgbClr val="1F3A5F"/>
                </a:solidFill>
                <a:latin typeface="Arial" pitchFamily="34" charset="0"/>
                <a:ea typeface="Arial" pitchFamily="34" charset="-122"/>
                <a:cs typeface="Arial" pitchFamily="34" charset="-120"/>
              </a:rPr>
              <a:t>המכללה האקדמית אשקלון, החוג לקרימינולוגיה</a:t>
            </a:r>
            <a:endParaRPr lang="he-IL" sz="1400" dirty="0"/>
          </a:p>
        </p:txBody>
      </p:sp>
      <p:sp>
        <p:nvSpPr>
          <p:cNvPr id="5" name="Text 2"/>
          <p:cNvSpPr txBox="1"/>
          <p:nvPr/>
        </p:nvSpPr>
        <p:spPr>
          <a:xfrm>
            <a:off x="457200" y="640080"/>
            <a:ext cx="5669280" cy="274320"/>
          </a:xfrm>
          <a:prstGeom prst="rect">
            <a:avLst/>
          </a:prstGeom>
          <a:noFill/>
          <a:ln/>
        </p:spPr>
        <p:txBody>
          <a:bodyPr wrap="square" lIns="0" tIns="0" rIns="0" bIns="0" rtlCol="0" anchor="t"/>
          <a:lstStyle/>
          <a:p>
            <a:pPr rtl="1" algn="r" indent="0" marL="0">
              <a:buNone/>
            </a:pPr>
            <a:r>
              <a:rPr lang="he-IL" altLang="en-US" sz="1200" dirty="0">
                <a:solidFill>
                  <a:srgbClr val="5B6B7C"/>
                </a:solidFill>
                <a:latin typeface="Arial" pitchFamily="34" charset="0"/>
                <a:ea typeface="Arial" pitchFamily="34" charset="-122"/>
                <a:cs typeface="Arial" pitchFamily="34" charset="-120"/>
              </a:rPr>
              <a:t>סמינריון: תנאי כליאה של אסירים פליליים בישראל ובעולם</a:t>
            </a:r>
            <a:endParaRPr lang="he-IL" sz="1200" dirty="0"/>
          </a:p>
        </p:txBody>
      </p:sp>
      <p:sp>
        <p:nvSpPr>
          <p:cNvPr id="6" name="Text 3"/>
          <p:cNvSpPr txBox="1"/>
          <p:nvPr/>
        </p:nvSpPr>
        <p:spPr>
          <a:xfrm>
            <a:off x="457200" y="896112"/>
            <a:ext cx="5669280" cy="274320"/>
          </a:xfrm>
          <a:prstGeom prst="rect">
            <a:avLst/>
          </a:prstGeom>
          <a:noFill/>
          <a:ln/>
        </p:spPr>
        <p:txBody>
          <a:bodyPr wrap="square" lIns="0" tIns="0" rIns="0" bIns="0" rtlCol="0" anchor="t"/>
          <a:lstStyle/>
          <a:p>
            <a:pPr rtl="1" algn="r" indent="0" marL="0">
              <a:buNone/>
            </a:pPr>
            <a:r>
              <a:rPr lang="he-IL" altLang="en-US" sz="1200" dirty="0">
                <a:solidFill>
                  <a:srgbClr val="5B6B7C"/>
                </a:solidFill>
                <a:latin typeface="Arial" pitchFamily="34" charset="0"/>
                <a:ea typeface="Arial" pitchFamily="34" charset="-122"/>
                <a:cs typeface="Arial" pitchFamily="34" charset="-120"/>
              </a:rPr>
              <a:t>מרצה: ד"ר יוחנן ועקנין</a:t>
            </a:r>
            <a:endParaRPr lang="he-IL" sz="1200" dirty="0"/>
          </a:p>
        </p:txBody>
      </p:sp>
      <p:sp>
        <p:nvSpPr>
          <p:cNvPr id="7" name="Text 4"/>
          <p:cNvSpPr txBox="1"/>
          <p:nvPr/>
        </p:nvSpPr>
        <p:spPr>
          <a:xfrm>
            <a:off x="548640" y="1463040"/>
            <a:ext cx="8046720" cy="960120"/>
          </a:xfrm>
          <a:prstGeom prst="rect">
            <a:avLst/>
          </a:prstGeom>
          <a:noFill/>
          <a:ln/>
        </p:spPr>
        <p:txBody>
          <a:bodyPr wrap="square" lIns="0" tIns="0" rIns="0" bIns="0" rtlCol="0" anchor="ctr"/>
          <a:lstStyle/>
          <a:p>
            <a:pPr rtl="1" algn="r" indent="0" marL="0">
              <a:buNone/>
            </a:pPr>
            <a:r>
              <a:rPr lang="he-IL" altLang="en-US" sz="2600" b="1" dirty="0">
                <a:solidFill>
                  <a:srgbClr val="FFFFFF"/>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2600" dirty="0"/>
          </a:p>
        </p:txBody>
      </p:sp>
      <p:sp>
        <p:nvSpPr>
          <p:cNvPr id="8" name="Text 5"/>
          <p:cNvSpPr txBox="1"/>
          <p:nvPr/>
        </p:nvSpPr>
        <p:spPr>
          <a:xfrm>
            <a:off x="548640" y="2514600"/>
            <a:ext cx="8046720" cy="822960"/>
          </a:xfrm>
          <a:prstGeom prst="rect">
            <a:avLst/>
          </a:prstGeom>
          <a:noFill/>
          <a:ln/>
        </p:spPr>
        <p:txBody>
          <a:bodyPr wrap="square" lIns="0" tIns="0" rIns="0" bIns="0" rtlCol="0" anchor="ctr"/>
          <a:lstStyle/>
          <a:p>
            <a:pPr rtl="1" algn="r" indent="0" marL="0">
              <a:buNone/>
            </a:pPr>
            <a:r>
              <a:rPr lang="he-IL" altLang="en-US" sz="1500" dirty="0">
                <a:solidFill>
                  <a:srgbClr val="CFDBEA"/>
                </a:solidFill>
                <a:latin typeface="Arial" pitchFamily="34" charset="0"/>
                <a:ea typeface="Arial" pitchFamily="34" charset="-122"/>
                <a:cs typeface="Arial" pitchFamily="34" charset="-120"/>
              </a:rPr>
              <a:t>שאלת המחקר: באיזו מידה קיים קשר בין רווחה נפשית לבין תפיסת הלגיטימיות של סגל הכליאה בקרב אסירים שפוטים בלבד?</a:t>
            </a:r>
            <a:endParaRPr lang="he-IL" sz="1500" dirty="0"/>
          </a:p>
        </p:txBody>
      </p:sp>
      <p:sp>
        <p:nvSpPr>
          <p:cNvPr id="9" name="Shape 6"/>
          <p:cNvSpPr/>
          <p:nvPr/>
        </p:nvSpPr>
        <p:spPr>
          <a:xfrm>
            <a:off x="548640" y="3520440"/>
            <a:ext cx="8046720" cy="1097280"/>
          </a:xfrm>
          <a:prstGeom prst="roundRect">
            <a:avLst>
              <a:gd name="adj" fmla="val 10000"/>
            </a:avLst>
          </a:prstGeom>
          <a:solidFill>
            <a:srgbClr val="2B4C78"/>
          </a:solidFill>
          <a:ln w="12700">
            <a:solidFill>
              <a:srgbClr val="2B4C78"/>
            </a:solidFill>
            <a:prstDash val="solid"/>
          </a:ln>
        </p:spPr>
      </p:sp>
      <p:sp>
        <p:nvSpPr>
          <p:cNvPr id="10" name="Text 7"/>
          <p:cNvSpPr txBox="1"/>
          <p:nvPr/>
        </p:nvSpPr>
        <p:spPr>
          <a:xfrm>
            <a:off x="777240" y="3611880"/>
            <a:ext cx="7589520" cy="274320"/>
          </a:xfrm>
          <a:prstGeom prst="rect">
            <a:avLst/>
          </a:prstGeom>
          <a:noFill/>
          <a:ln/>
        </p:spPr>
        <p:txBody>
          <a:bodyPr wrap="square" lIns="0" tIns="0" rIns="0" bIns="0" rtlCol="0" anchor="t"/>
          <a:lstStyle/>
          <a:p>
            <a:pPr rtl="1" algn="r" indent="0" marL="0">
              <a:buNone/>
            </a:pPr>
            <a:r>
              <a:rPr lang="he-IL" altLang="en-US" sz="1300" b="1" dirty="0">
                <a:solidFill>
                  <a:srgbClr val="E8892B"/>
                </a:solidFill>
                <a:latin typeface="Arial" pitchFamily="34" charset="0"/>
                <a:ea typeface="Arial" pitchFamily="34" charset="-122"/>
                <a:cs typeface="Arial" pitchFamily="34" charset="-120"/>
              </a:rPr>
              <a:t>מגישות:</a:t>
            </a:r>
            <a:endParaRPr lang="he-IL" sz="1300" dirty="0"/>
          </a:p>
        </p:txBody>
      </p:sp>
      <p:sp>
        <p:nvSpPr>
          <p:cNvPr id="11" name="Text 8"/>
          <p:cNvSpPr txBox="1"/>
          <p:nvPr/>
        </p:nvSpPr>
        <p:spPr>
          <a:xfrm>
            <a:off x="777240" y="3913632"/>
            <a:ext cx="7589520" cy="292608"/>
          </a:xfrm>
          <a:prstGeom prst="rect">
            <a:avLst/>
          </a:prstGeom>
          <a:noFill/>
          <a:ln/>
        </p:spPr>
        <p:txBody>
          <a:bodyPr wrap="square" lIns="0" tIns="0" rIns="0" bIns="0" rtlCol="0" anchor="t"/>
          <a:lstStyle/>
          <a:p>
            <a:pPr rtl="1" algn="r" indent="0" marL="0">
              <a:buNone/>
            </a:pPr>
            <a:r>
              <a:rPr lang="he-IL" altLang="en-US" sz="1400" dirty="0">
                <a:solidFill>
                  <a:srgbClr val="FFFFFF"/>
                </a:solidFill>
                <a:latin typeface="Arial" pitchFamily="34" charset="0"/>
                <a:ea typeface="Arial" pitchFamily="34" charset="-122"/>
                <a:cs typeface="Arial" pitchFamily="34" charset="-120"/>
              </a:rPr>
              <a:t>שם: ______________________   ת.ז.: ______________</a:t>
            </a:r>
            <a:endParaRPr lang="he-IL" sz="1400" dirty="0"/>
          </a:p>
        </p:txBody>
      </p:sp>
      <p:sp>
        <p:nvSpPr>
          <p:cNvPr id="12" name="Text 9"/>
          <p:cNvSpPr txBox="1"/>
          <p:nvPr/>
        </p:nvSpPr>
        <p:spPr>
          <a:xfrm>
            <a:off x="777240" y="4224528"/>
            <a:ext cx="7589520" cy="292608"/>
          </a:xfrm>
          <a:prstGeom prst="rect">
            <a:avLst/>
          </a:prstGeom>
          <a:noFill/>
          <a:ln/>
        </p:spPr>
        <p:txBody>
          <a:bodyPr wrap="square" lIns="0" tIns="0" rIns="0" bIns="0" rtlCol="0" anchor="t"/>
          <a:lstStyle/>
          <a:p>
            <a:pPr rtl="1" algn="r" indent="0" marL="0">
              <a:buNone/>
            </a:pPr>
            <a:r>
              <a:rPr lang="he-IL" altLang="en-US" sz="1400" dirty="0">
                <a:solidFill>
                  <a:srgbClr val="FFFFFF"/>
                </a:solidFill>
                <a:latin typeface="Arial" pitchFamily="34" charset="0"/>
                <a:ea typeface="Arial" pitchFamily="34" charset="-122"/>
                <a:cs typeface="Arial" pitchFamily="34" charset="-120"/>
              </a:rPr>
              <a:t>שם: ______________________   ת.ז.: ______________</a:t>
            </a:r>
            <a:endParaRPr lang="he-IL"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רקע</a:t>
            </a:r>
            <a:endParaRPr lang="he-IL" sz="3000" dirty="0"/>
          </a:p>
        </p:txBody>
      </p:sp>
      <p:sp>
        <p:nvSpPr>
          <p:cNvPr id="3" name="Shape 1"/>
          <p:cNvSpPr/>
          <p:nvPr/>
        </p:nvSpPr>
        <p:spPr>
          <a:xfrm>
            <a:off x="457200" y="1051560"/>
            <a:ext cx="5486400" cy="3520440"/>
          </a:xfrm>
          <a:prstGeom prst="roundRect">
            <a:avLst>
              <a:gd name="adj" fmla="val 2597"/>
            </a:avLst>
          </a:prstGeom>
          <a:solidFill>
            <a:srgbClr val="EAF0F7"/>
          </a:solidFill>
          <a:ln w="12700">
            <a:solidFill>
              <a:srgbClr val="EAF0F7"/>
            </a:solidFill>
            <a:prstDash val="solid"/>
          </a:ln>
        </p:spPr>
      </p:sp>
      <p:sp>
        <p:nvSpPr>
          <p:cNvPr id="4" name="Text 2"/>
          <p:cNvSpPr txBox="1"/>
          <p:nvPr/>
        </p:nvSpPr>
        <p:spPr>
          <a:xfrm>
            <a:off x="685800" y="1188720"/>
            <a:ext cx="5029200" cy="320040"/>
          </a:xfrm>
          <a:prstGeom prst="rect">
            <a:avLst/>
          </a:prstGeom>
          <a:noFill/>
          <a:ln/>
        </p:spPr>
        <p:txBody>
          <a:bodyPr wrap="square" lIns="0" tIns="0" rIns="0" bIns="0" rtlCol="0" anchor="t"/>
          <a:lstStyle/>
          <a:p>
            <a:pPr rtl="1" algn="r" indent="0" marL="0">
              <a:buNone/>
            </a:pPr>
            <a:r>
              <a:rPr lang="he-IL" altLang="en-US" sz="1400" b="1" dirty="0">
                <a:solidFill>
                  <a:srgbClr val="E8892B"/>
                </a:solidFill>
                <a:latin typeface="Arial" pitchFamily="34" charset="0"/>
                <a:ea typeface="Arial" pitchFamily="34" charset="-122"/>
                <a:cs typeface="Arial" pitchFamily="34" charset="-120"/>
              </a:rPr>
              <a:t>לגיטימיות כתנאי לסדר בבית הסוהר</a:t>
            </a:r>
            <a:endParaRPr lang="he-IL" sz="1400" dirty="0"/>
          </a:p>
        </p:txBody>
      </p:sp>
      <p:sp>
        <p:nvSpPr>
          <p:cNvPr id="5" name="Text 3"/>
          <p:cNvSpPr txBox="1"/>
          <p:nvPr/>
        </p:nvSpPr>
        <p:spPr>
          <a:xfrm>
            <a:off x="685800" y="1554480"/>
            <a:ext cx="5029200" cy="1417320"/>
          </a:xfrm>
          <a:prstGeom prst="rect">
            <a:avLst/>
          </a:prstGeom>
          <a:noFill/>
          <a:ln/>
        </p:spPr>
        <p:txBody>
          <a:bodyPr wrap="square" lIns="0" tIns="0" rIns="0" bIns="0" rtlCol="0" anchor="t"/>
          <a:lstStyle/>
          <a:p>
            <a:pPr rtl="1" algn="just" indent="0" marL="0">
              <a:lnSpc>
                <a:spcPct val="115000"/>
              </a:lnSpc>
              <a:buNone/>
            </a:pPr>
            <a:r>
              <a:rPr lang="he-IL" altLang="en-US" sz="1200" dirty="0">
                <a:solidFill>
                  <a:srgbClr val="22303F"/>
                </a:solidFill>
                <a:latin typeface="Arial" pitchFamily="34" charset="0"/>
                <a:ea typeface="Arial" pitchFamily="34" charset="-122"/>
                <a:cs typeface="Arial" pitchFamily="34" charset="-120"/>
              </a:rPr>
              <a:t>בית הסוהר הוא מוסד שבו סמכות הסגל כמעט מוחלטת, ובכל זאת הסדר היומיומי באגף תלוי בשיתוף פעולה של האסירים. ספרקס ובוטומס (1995) טענו שסדר בבתי סוהר אינו מתקיים בכוח בלבד אלא נשען על תחושת האסירים שהמשטר הוגן ושמי שמפעיל אותו ראוי לציות. תחושה זו היא הלגיטימיות: המידה שבה האסיר תופס את הסגל כמכבד, כנגיש וכהוגן בטיפול בבקשותיו.</a:t>
            </a:r>
            <a:endParaRPr lang="he-IL" sz="1200" dirty="0"/>
          </a:p>
        </p:txBody>
      </p:sp>
      <p:sp>
        <p:nvSpPr>
          <p:cNvPr id="6" name="Text 4"/>
          <p:cNvSpPr txBox="1"/>
          <p:nvPr/>
        </p:nvSpPr>
        <p:spPr>
          <a:xfrm>
            <a:off x="685800" y="3017520"/>
            <a:ext cx="5029200" cy="320040"/>
          </a:xfrm>
          <a:prstGeom prst="rect">
            <a:avLst/>
          </a:prstGeom>
          <a:noFill/>
          <a:ln/>
        </p:spPr>
        <p:txBody>
          <a:bodyPr wrap="square" lIns="0" tIns="0" rIns="0" bIns="0" rtlCol="0" anchor="t"/>
          <a:lstStyle/>
          <a:p>
            <a:pPr rtl="1" algn="r" indent="0" marL="0">
              <a:buNone/>
            </a:pPr>
            <a:r>
              <a:rPr lang="he-IL" altLang="en-US" sz="1400" b="1" dirty="0">
                <a:solidFill>
                  <a:srgbClr val="E8892B"/>
                </a:solidFill>
                <a:latin typeface="Arial" pitchFamily="34" charset="0"/>
                <a:ea typeface="Arial" pitchFamily="34" charset="-122"/>
                <a:cs typeface="Arial" pitchFamily="34" charset="-120"/>
              </a:rPr>
              <a:t>ההקשר הישראלי</a:t>
            </a:r>
            <a:endParaRPr lang="he-IL" sz="1400" dirty="0"/>
          </a:p>
        </p:txBody>
      </p:sp>
      <p:sp>
        <p:nvSpPr>
          <p:cNvPr id="7" name="Text 5"/>
          <p:cNvSpPr txBox="1"/>
          <p:nvPr/>
        </p:nvSpPr>
        <p:spPr>
          <a:xfrm>
            <a:off x="685800" y="3383280"/>
            <a:ext cx="5029200" cy="1188720"/>
          </a:xfrm>
          <a:prstGeom prst="rect">
            <a:avLst/>
          </a:prstGeom>
          <a:noFill/>
          <a:ln/>
        </p:spPr>
        <p:txBody>
          <a:bodyPr wrap="square" lIns="0" tIns="0" rIns="0" bIns="0" rtlCol="0" anchor="t"/>
          <a:lstStyle/>
          <a:p>
            <a:pPr rtl="1" algn="just" indent="0" marL="0">
              <a:lnSpc>
                <a:spcPct val="115000"/>
              </a:lnSpc>
              <a:buNone/>
            </a:pPr>
            <a:r>
              <a:rPr lang="he-IL" altLang="en-US" sz="1200" dirty="0">
                <a:solidFill>
                  <a:srgbClr val="22303F"/>
                </a:solidFill>
                <a:latin typeface="Arial" pitchFamily="34" charset="0"/>
                <a:ea typeface="Arial" pitchFamily="34" charset="-122"/>
                <a:cs typeface="Arial" pitchFamily="34" charset="-120"/>
              </a:rPr>
              <a:t>במאי 2019 כ-80 אחוזים ממקומות הכליאה בישראל היו קטנים מתקן 4.5 מטרים רבועים לאסיר (יכימוביץ-כהן, 2020). על רקע זה נערך בסתיו 2021 סקר תנאי המחיה הראשון בהיקפו בשירות בתי הסוהר, ובו נמצא שהלגיטימיות ממתנת את הקשר בין תנאי המחיה לשביעות הרצון מפעילויות השיקום (ועקנין, 2024). המחקר הנוכחי בוחן מאותו מערך את הקשר הישיר בין רווחה נפשית ללגיטימיות בקרב שפוטים.</a:t>
            </a:r>
            <a:endParaRPr lang="he-IL" sz="1200" dirty="0"/>
          </a:p>
        </p:txBody>
      </p:sp>
      <p:sp>
        <p:nvSpPr>
          <p:cNvPr id="8" name="Shape 6"/>
          <p:cNvSpPr/>
          <p:nvPr/>
        </p:nvSpPr>
        <p:spPr>
          <a:xfrm>
            <a:off x="6217920" y="1051560"/>
            <a:ext cx="2468880" cy="1024128"/>
          </a:xfrm>
          <a:prstGeom prst="roundRect">
            <a:avLst>
              <a:gd name="adj" fmla="val 8929"/>
            </a:avLst>
          </a:prstGeom>
          <a:solidFill>
            <a:srgbClr val="1F3A5F"/>
          </a:solidFill>
          <a:ln w="12700">
            <a:solidFill>
              <a:srgbClr val="1F3A5F"/>
            </a:solidFill>
            <a:prstDash val="solid"/>
          </a:ln>
        </p:spPr>
      </p:sp>
      <p:sp>
        <p:nvSpPr>
          <p:cNvPr id="9" name="Text 7"/>
          <p:cNvSpPr txBox="1"/>
          <p:nvPr/>
        </p:nvSpPr>
        <p:spPr>
          <a:xfrm>
            <a:off x="6309360" y="1124712"/>
            <a:ext cx="2286000" cy="548640"/>
          </a:xfrm>
          <a:prstGeom prst="rect">
            <a:avLst/>
          </a:prstGeom>
          <a:noFill/>
          <a:ln/>
        </p:spPr>
        <p:txBody>
          <a:bodyPr wrap="square" lIns="0" tIns="0" rIns="0" bIns="0" rtlCol="0" anchor="ctr"/>
          <a:lstStyle/>
          <a:p>
            <a:pPr algn="ctr" indent="0" marL="0">
              <a:buNone/>
            </a:pPr>
            <a:r>
              <a:rPr lang="en-US" sz="3000" b="1" dirty="0">
                <a:solidFill>
                  <a:srgbClr val="E8892B"/>
                </a:solidFill>
                <a:latin typeface="Arial" pitchFamily="34" charset="0"/>
                <a:ea typeface="Arial" pitchFamily="34" charset="-122"/>
                <a:cs typeface="Arial" pitchFamily="34" charset="-120"/>
              </a:rPr>
              <a:t>3,790</a:t>
            </a:r>
            <a:endParaRPr lang="en-US" sz="3000" dirty="0"/>
          </a:p>
        </p:txBody>
      </p:sp>
      <p:sp>
        <p:nvSpPr>
          <p:cNvPr id="10" name="Text 8"/>
          <p:cNvSpPr txBox="1"/>
          <p:nvPr/>
        </p:nvSpPr>
        <p:spPr>
          <a:xfrm>
            <a:off x="6309360" y="1691640"/>
            <a:ext cx="2286000" cy="320040"/>
          </a:xfrm>
          <a:prstGeom prst="rect">
            <a:avLst/>
          </a:prstGeom>
          <a:noFill/>
          <a:ln/>
        </p:spPr>
        <p:txBody>
          <a:bodyPr wrap="square" lIns="0" tIns="0" rIns="0" bIns="0" rtlCol="0" anchor="t"/>
          <a:lstStyle/>
          <a:p>
            <a:pPr rtl="1" algn="ctr" indent="0" marL="0">
              <a:buNone/>
            </a:pPr>
            <a:r>
              <a:rPr lang="he-IL" altLang="en-US" sz="1100" dirty="0">
                <a:solidFill>
                  <a:srgbClr val="CFDBEA"/>
                </a:solidFill>
                <a:latin typeface="Arial" pitchFamily="34" charset="0"/>
                <a:ea typeface="Arial" pitchFamily="34" charset="-122"/>
                <a:cs typeface="Arial" pitchFamily="34" charset="-120"/>
              </a:rPr>
              <a:t>משתתפים בסקר שב"ס 2021</a:t>
            </a:r>
            <a:endParaRPr lang="he-IL" sz="1100" dirty="0"/>
          </a:p>
        </p:txBody>
      </p:sp>
      <p:sp>
        <p:nvSpPr>
          <p:cNvPr id="11" name="Shape 9"/>
          <p:cNvSpPr/>
          <p:nvPr/>
        </p:nvSpPr>
        <p:spPr>
          <a:xfrm>
            <a:off x="6217920" y="2304288"/>
            <a:ext cx="2468880" cy="1024128"/>
          </a:xfrm>
          <a:prstGeom prst="roundRect">
            <a:avLst>
              <a:gd name="adj" fmla="val 8929"/>
            </a:avLst>
          </a:prstGeom>
          <a:solidFill>
            <a:srgbClr val="1F3A5F"/>
          </a:solidFill>
          <a:ln w="12700">
            <a:solidFill>
              <a:srgbClr val="1F3A5F"/>
            </a:solidFill>
            <a:prstDash val="solid"/>
          </a:ln>
        </p:spPr>
      </p:sp>
      <p:sp>
        <p:nvSpPr>
          <p:cNvPr id="12" name="Text 10"/>
          <p:cNvSpPr txBox="1"/>
          <p:nvPr/>
        </p:nvSpPr>
        <p:spPr>
          <a:xfrm>
            <a:off x="6309360" y="2377440"/>
            <a:ext cx="2286000" cy="548640"/>
          </a:xfrm>
          <a:prstGeom prst="rect">
            <a:avLst/>
          </a:prstGeom>
          <a:noFill/>
          <a:ln/>
        </p:spPr>
        <p:txBody>
          <a:bodyPr wrap="square" lIns="0" tIns="0" rIns="0" bIns="0" rtlCol="0" anchor="ctr"/>
          <a:lstStyle/>
          <a:p>
            <a:pPr algn="ctr" indent="0" marL="0">
              <a:buNone/>
            </a:pPr>
            <a:r>
              <a:rPr lang="en-US" sz="3000" b="1" dirty="0">
                <a:solidFill>
                  <a:srgbClr val="E8892B"/>
                </a:solidFill>
                <a:latin typeface="Arial" pitchFamily="34" charset="0"/>
                <a:ea typeface="Arial" pitchFamily="34" charset="-122"/>
                <a:cs typeface="Arial" pitchFamily="34" charset="-120"/>
              </a:rPr>
              <a:t>2,379</a:t>
            </a:r>
            <a:endParaRPr lang="en-US" sz="3000" dirty="0"/>
          </a:p>
        </p:txBody>
      </p:sp>
      <p:sp>
        <p:nvSpPr>
          <p:cNvPr id="13" name="Text 11"/>
          <p:cNvSpPr txBox="1"/>
          <p:nvPr/>
        </p:nvSpPr>
        <p:spPr>
          <a:xfrm>
            <a:off x="6309360" y="2944368"/>
            <a:ext cx="2286000" cy="320040"/>
          </a:xfrm>
          <a:prstGeom prst="rect">
            <a:avLst/>
          </a:prstGeom>
          <a:noFill/>
          <a:ln/>
        </p:spPr>
        <p:txBody>
          <a:bodyPr wrap="square" lIns="0" tIns="0" rIns="0" bIns="0" rtlCol="0" anchor="t"/>
          <a:lstStyle/>
          <a:p>
            <a:pPr rtl="1" algn="ctr" indent="0" marL="0">
              <a:buNone/>
            </a:pPr>
            <a:r>
              <a:rPr lang="he-IL" altLang="en-US" sz="1100" dirty="0">
                <a:solidFill>
                  <a:srgbClr val="CFDBEA"/>
                </a:solidFill>
                <a:latin typeface="Arial" pitchFamily="34" charset="0"/>
                <a:ea typeface="Arial" pitchFamily="34" charset="-122"/>
                <a:cs typeface="Arial" pitchFamily="34" charset="-120"/>
              </a:rPr>
              <a:t>שפוטים בניתוח הנוכחי</a:t>
            </a:r>
            <a:endParaRPr lang="he-IL" sz="1100" dirty="0"/>
          </a:p>
        </p:txBody>
      </p:sp>
      <p:sp>
        <p:nvSpPr>
          <p:cNvPr id="14" name="Shape 12"/>
          <p:cNvSpPr/>
          <p:nvPr/>
        </p:nvSpPr>
        <p:spPr>
          <a:xfrm>
            <a:off x="6217920" y="3547872"/>
            <a:ext cx="2468880" cy="1024128"/>
          </a:xfrm>
          <a:prstGeom prst="roundRect">
            <a:avLst>
              <a:gd name="adj" fmla="val 8929"/>
            </a:avLst>
          </a:prstGeom>
          <a:solidFill>
            <a:srgbClr val="1F3A5F"/>
          </a:solidFill>
          <a:ln w="12700">
            <a:solidFill>
              <a:srgbClr val="1F3A5F"/>
            </a:solidFill>
            <a:prstDash val="solid"/>
          </a:ln>
        </p:spPr>
      </p:sp>
      <p:sp>
        <p:nvSpPr>
          <p:cNvPr id="15" name="Text 13"/>
          <p:cNvSpPr txBox="1"/>
          <p:nvPr/>
        </p:nvSpPr>
        <p:spPr>
          <a:xfrm>
            <a:off x="6309360" y="3621024"/>
            <a:ext cx="2286000" cy="548640"/>
          </a:xfrm>
          <a:prstGeom prst="rect">
            <a:avLst/>
          </a:prstGeom>
          <a:noFill/>
          <a:ln/>
        </p:spPr>
        <p:txBody>
          <a:bodyPr wrap="square" lIns="0" tIns="0" rIns="0" bIns="0" rtlCol="0" anchor="ctr"/>
          <a:lstStyle/>
          <a:p>
            <a:pPr algn="ctr" indent="0" marL="0">
              <a:buNone/>
            </a:pPr>
            <a:r>
              <a:rPr lang="en-US" sz="3000" b="1" dirty="0">
                <a:solidFill>
                  <a:srgbClr val="E8892B"/>
                </a:solidFill>
                <a:latin typeface="Arial" pitchFamily="34" charset="0"/>
                <a:ea typeface="Arial" pitchFamily="34" charset="-122"/>
                <a:cs typeface="Arial" pitchFamily="34" charset="-120"/>
              </a:rPr>
              <a:t>9</a:t>
            </a:r>
            <a:endParaRPr lang="en-US" sz="3000" dirty="0"/>
          </a:p>
        </p:txBody>
      </p:sp>
      <p:sp>
        <p:nvSpPr>
          <p:cNvPr id="16" name="Text 14"/>
          <p:cNvSpPr txBox="1"/>
          <p:nvPr/>
        </p:nvSpPr>
        <p:spPr>
          <a:xfrm>
            <a:off x="6309360" y="4187952"/>
            <a:ext cx="2286000" cy="320040"/>
          </a:xfrm>
          <a:prstGeom prst="rect">
            <a:avLst/>
          </a:prstGeom>
          <a:noFill/>
          <a:ln/>
        </p:spPr>
        <p:txBody>
          <a:bodyPr wrap="square" lIns="0" tIns="0" rIns="0" bIns="0" rtlCol="0" anchor="t"/>
          <a:lstStyle/>
          <a:p>
            <a:pPr rtl="1" algn="ctr" indent="0" marL="0">
              <a:buNone/>
            </a:pPr>
            <a:r>
              <a:rPr lang="he-IL" altLang="en-US" sz="1100" dirty="0">
                <a:solidFill>
                  <a:srgbClr val="CFDBEA"/>
                </a:solidFill>
                <a:latin typeface="Arial" pitchFamily="34" charset="0"/>
                <a:ea typeface="Arial" pitchFamily="34" charset="-122"/>
                <a:cs typeface="Arial" pitchFamily="34" charset="-120"/>
              </a:rPr>
              <a:t>תחומי תנאי מחיה בשאלון</a:t>
            </a:r>
            <a:endParaRPr lang="he-IL" sz="1100" dirty="0"/>
          </a:p>
        </p:txBody>
      </p:sp>
      <p:sp>
        <p:nvSpPr>
          <p:cNvPr id="17" name="Text 15"/>
          <p:cNvSpPr txBox="1"/>
          <p:nvPr/>
        </p:nvSpPr>
        <p:spPr>
          <a:xfrm>
            <a:off x="457200" y="4754880"/>
            <a:ext cx="6858000" cy="274320"/>
          </a:xfrm>
          <a:prstGeom prst="rect">
            <a:avLst/>
          </a:prstGeom>
          <a:noFill/>
          <a:ln/>
        </p:spPr>
        <p:txBody>
          <a:bodyPr wrap="square" lIns="0" tIns="0" rIns="0" bIns="0" rtlCol="0"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18" name="Text 16"/>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סקירת ספרות</a:t>
            </a:r>
            <a:endParaRPr lang="he-IL" sz="3000" dirty="0"/>
          </a:p>
        </p:txBody>
      </p:sp>
      <p:sp>
        <p:nvSpPr>
          <p:cNvPr id="3" name="Shape 1"/>
          <p:cNvSpPr/>
          <p:nvPr/>
        </p:nvSpPr>
        <p:spPr>
          <a:xfrm>
            <a:off x="457200" y="1051560"/>
            <a:ext cx="8229600" cy="1691640"/>
          </a:xfrm>
          <a:prstGeom prst="roundRect">
            <a:avLst>
              <a:gd name="adj" fmla="val 5405"/>
            </a:avLst>
          </a:prstGeom>
          <a:solidFill>
            <a:srgbClr val="EAF0F7"/>
          </a:solidFill>
          <a:ln w="12700">
            <a:solidFill>
              <a:srgbClr val="EAF0F7"/>
            </a:solidFill>
            <a:prstDash val="solid"/>
          </a:ln>
        </p:spPr>
      </p:sp>
      <p:sp>
        <p:nvSpPr>
          <p:cNvPr id="4" name="Text 2"/>
          <p:cNvSpPr txBox="1"/>
          <p:nvPr/>
        </p:nvSpPr>
        <p:spPr>
          <a:xfrm>
            <a:off x="685800" y="1161288"/>
            <a:ext cx="7772400" cy="320040"/>
          </a:xfrm>
          <a:prstGeom prst="rect">
            <a:avLst/>
          </a:prstGeom>
          <a:noFill/>
          <a:ln/>
        </p:spPr>
        <p:txBody>
          <a:bodyPr wrap="square" lIns="0" tIns="0" rIns="0" bIns="0" rtlCol="0" anchor="t"/>
          <a:lstStyle/>
          <a:p>
            <a:pPr rtl="1" algn="r" indent="0" marL="0">
              <a:buNone/>
            </a:pPr>
            <a:r>
              <a:rPr lang="he-IL" altLang="en-US" sz="1400" b="1" dirty="0">
                <a:solidFill>
                  <a:srgbClr val="E8892B"/>
                </a:solidFill>
                <a:latin typeface="Arial" pitchFamily="34" charset="0"/>
                <a:ea typeface="Arial" pitchFamily="34" charset="-122"/>
                <a:cs typeface="Arial" pitchFamily="34" charset="-120"/>
              </a:rPr>
              <a:t>הסתגלות למאסר ורווחה נפשית</a:t>
            </a:r>
            <a:endParaRPr lang="he-IL" sz="1400" dirty="0"/>
          </a:p>
        </p:txBody>
      </p:sp>
      <p:sp>
        <p:nvSpPr>
          <p:cNvPr id="5" name="Text 3"/>
          <p:cNvSpPr txBox="1"/>
          <p:nvPr/>
        </p:nvSpPr>
        <p:spPr>
          <a:xfrm>
            <a:off x="685800" y="1508760"/>
            <a:ext cx="7772400" cy="1188720"/>
          </a:xfrm>
          <a:prstGeom prst="rect">
            <a:avLst/>
          </a:prstGeom>
          <a:noFill/>
          <a:ln/>
        </p:spPr>
        <p:txBody>
          <a:bodyPr wrap="square" lIns="0" tIns="0" rIns="0" bIns="0" rtlCol="0" anchor="t"/>
          <a:lstStyle/>
          <a:p>
            <a:pPr rtl="1" algn="just" indent="0" marL="0">
              <a:lnSpc>
                <a:spcPct val="115000"/>
              </a:lnSpc>
              <a:buNone/>
            </a:pPr>
            <a:r>
              <a:rPr lang="he-IL" altLang="en-US" sz="1150" dirty="0">
                <a:solidFill>
                  <a:srgbClr val="22303F"/>
                </a:solidFill>
                <a:latin typeface="Arial" pitchFamily="34" charset="0"/>
                <a:ea typeface="Arial" pitchFamily="34" charset="-122"/>
                <a:cs typeface="Arial" pitchFamily="34" charset="-120"/>
              </a:rPr>
              <a:t>הספרות עברה מתיאור כללי של כאבי המאסר לבחינה של ההבדלים בין בתי סוהר. אוטי וליבלינג (2024) זיהו על בסיס 518 סקרי איכות חיים באנגליה שמתחת לסף של 3.05 ביחסי סגל ואסירים עולים בחדות שיעורי האלימות והפגיעה העצמית, וון גינקן ואחרים (2019) מצאו בקרב 4,538 אסירים בהולנד שתפיסות אישיות של אוטונומיה וביטחון קשורות לרווחה. במערך אורך באוסטרליה הראו סרג'נט ואחרים (2026) שצדק פרוצדורלי מעלה את הרווחה הנפשית, ושהיחסים עם הסגל הם המנגנון המתווך.</a:t>
            </a:r>
            <a:endParaRPr lang="he-IL" sz="1150" dirty="0"/>
          </a:p>
        </p:txBody>
      </p:sp>
      <p:sp>
        <p:nvSpPr>
          <p:cNvPr id="6" name="Shape 4"/>
          <p:cNvSpPr/>
          <p:nvPr/>
        </p:nvSpPr>
        <p:spPr>
          <a:xfrm>
            <a:off x="457200" y="2880360"/>
            <a:ext cx="8229600" cy="1737360"/>
          </a:xfrm>
          <a:prstGeom prst="roundRect">
            <a:avLst>
              <a:gd name="adj" fmla="val 5263"/>
            </a:avLst>
          </a:prstGeom>
          <a:solidFill>
            <a:srgbClr val="FFFFFF"/>
          </a:solidFill>
          <a:ln w="12700">
            <a:solidFill>
              <a:srgbClr val="C9D6E4"/>
            </a:solidFill>
            <a:prstDash val="solid"/>
          </a:ln>
        </p:spPr>
      </p:sp>
      <p:sp>
        <p:nvSpPr>
          <p:cNvPr id="7" name="Text 5"/>
          <p:cNvSpPr txBox="1"/>
          <p:nvPr/>
        </p:nvSpPr>
        <p:spPr>
          <a:xfrm>
            <a:off x="685800" y="2990088"/>
            <a:ext cx="7772400" cy="320040"/>
          </a:xfrm>
          <a:prstGeom prst="rect">
            <a:avLst/>
          </a:prstGeom>
          <a:noFill/>
          <a:ln/>
        </p:spPr>
        <p:txBody>
          <a:bodyPr wrap="square" lIns="0" tIns="0" rIns="0" bIns="0" rtlCol="0" anchor="t"/>
          <a:lstStyle/>
          <a:p>
            <a:pPr rtl="1" algn="r" indent="0" marL="0">
              <a:buNone/>
            </a:pPr>
            <a:r>
              <a:rPr lang="he-IL" altLang="en-US" sz="1400" b="1" dirty="0">
                <a:solidFill>
                  <a:srgbClr val="E8892B"/>
                </a:solidFill>
                <a:latin typeface="Arial" pitchFamily="34" charset="0"/>
                <a:ea typeface="Arial" pitchFamily="34" charset="-122"/>
                <a:cs typeface="Arial" pitchFamily="34" charset="-120"/>
              </a:rPr>
              <a:t>לגיטימיות של סגל הכליאה</a:t>
            </a:r>
            <a:endParaRPr lang="he-IL" sz="1400" dirty="0"/>
          </a:p>
        </p:txBody>
      </p:sp>
      <p:sp>
        <p:nvSpPr>
          <p:cNvPr id="8" name="Text 6"/>
          <p:cNvSpPr txBox="1"/>
          <p:nvPr/>
        </p:nvSpPr>
        <p:spPr>
          <a:xfrm>
            <a:off x="685800" y="3337560"/>
            <a:ext cx="7772400" cy="1234440"/>
          </a:xfrm>
          <a:prstGeom prst="rect">
            <a:avLst/>
          </a:prstGeom>
          <a:noFill/>
          <a:ln/>
        </p:spPr>
        <p:txBody>
          <a:bodyPr wrap="square" lIns="0" tIns="0" rIns="0" bIns="0" rtlCol="0" anchor="t"/>
          <a:lstStyle/>
          <a:p>
            <a:pPr rtl="1" algn="just" indent="0" marL="0">
              <a:lnSpc>
                <a:spcPct val="115000"/>
              </a:lnSpc>
              <a:buNone/>
            </a:pPr>
            <a:r>
              <a:rPr lang="he-IL" altLang="en-US" sz="1150" dirty="0">
                <a:solidFill>
                  <a:srgbClr val="22303F"/>
                </a:solidFill>
                <a:latin typeface="Arial" pitchFamily="34" charset="0"/>
                <a:ea typeface="Arial" pitchFamily="34" charset="-122"/>
                <a:cs typeface="Arial" pitchFamily="34" charset="-120"/>
              </a:rPr>
              <a:t>ברנטון-סמית ומקארתי (2016) ניתחו סקר של יותר מ-3,000 אסירים באנגליה ובוויילס ומצאו שההוגנות הפרוצדורלית היא המנבא החזק ביותר של לגיטימיות, ופרנקה ואחרים (2010) הראו בניסוי אקראי שדלות סביבתית וחוויות שליליות הן שמכרסמות בלגיטימיות במהלך המאסר. בישראל מצא ועקנין (2024) לגיטימיות גבוהה יחסית, גבוהה יותר בקרב שפוטים מאשר בקרב עצורים, והציע לראות בה כלי ניהולי באגף. הקשר הישיר בין רווחה נפשית ללגיטימיות בקרב שפוטים טרם נבחן, וזהו הפער שהמחקר הנוכחי מבקש למלא.</a:t>
            </a:r>
            <a:endParaRPr lang="he-IL" sz="1150" dirty="0"/>
          </a:p>
        </p:txBody>
      </p:sp>
      <p:sp>
        <p:nvSpPr>
          <p:cNvPr id="9" name="Text 7"/>
          <p:cNvSpPr txBox="1"/>
          <p:nvPr/>
        </p:nvSpPr>
        <p:spPr>
          <a:xfrm>
            <a:off x="457200" y="4754880"/>
            <a:ext cx="6858000" cy="274320"/>
          </a:xfrm>
          <a:prstGeom prst="rect">
            <a:avLst/>
          </a:prstGeom>
          <a:noFill/>
          <a:ln/>
        </p:spPr>
        <p:txBody>
          <a:bodyPr wrap="square" lIns="0" tIns="0" rIns="0" bIns="0" rtlCol="0"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10" name="Text 8"/>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שאלת המחקר והשערת המחקר</a:t>
            </a:r>
            <a:endParaRPr lang="he-IL" sz="3000" dirty="0"/>
          </a:p>
        </p:txBody>
      </p:sp>
      <p:sp>
        <p:nvSpPr>
          <p:cNvPr id="3" name="Shape 1"/>
          <p:cNvSpPr/>
          <p:nvPr/>
        </p:nvSpPr>
        <p:spPr>
          <a:xfrm>
            <a:off x="457200" y="1051560"/>
            <a:ext cx="8229600" cy="914400"/>
          </a:xfrm>
          <a:prstGeom prst="roundRect">
            <a:avLst>
              <a:gd name="adj" fmla="val 12000"/>
            </a:avLst>
          </a:prstGeom>
          <a:solidFill>
            <a:srgbClr val="1F3A5F"/>
          </a:solidFill>
          <a:ln w="12700">
            <a:solidFill>
              <a:srgbClr val="1F3A5F"/>
            </a:solidFill>
            <a:prstDash val="solid"/>
          </a:ln>
        </p:spPr>
      </p:sp>
      <p:sp>
        <p:nvSpPr>
          <p:cNvPr id="4" name="Text 2"/>
          <p:cNvSpPr txBox="1"/>
          <p:nvPr/>
        </p:nvSpPr>
        <p:spPr>
          <a:xfrm>
            <a:off x="731520" y="1115568"/>
            <a:ext cx="7680960" cy="786384"/>
          </a:xfrm>
          <a:prstGeom prst="rect">
            <a:avLst/>
          </a:prstGeom>
          <a:noFill/>
          <a:ln/>
        </p:spPr>
        <p:txBody>
          <a:bodyPr wrap="square" lIns="0" tIns="0" rIns="0" bIns="0" rtlCol="0" anchor="ctr"/>
          <a:lstStyle/>
          <a:p>
            <a:pPr rtl="1" algn="r" indent="0" marL="0">
              <a:buNone/>
            </a:pPr>
            <a:r>
              <a:rPr lang="he-IL" altLang="en-US" sz="1700" b="1" dirty="0">
                <a:solidFill>
                  <a:srgbClr val="FFFFFF"/>
                </a:solidFill>
                <a:latin typeface="Arial" pitchFamily="34" charset="0"/>
                <a:ea typeface="Arial" pitchFamily="34" charset="-122"/>
                <a:cs typeface="Arial" pitchFamily="34" charset="-120"/>
              </a:rPr>
              <a:t>באיזו מידה קיים קשר בין רווחה נפשית לבין תפיסת הלגיטימיות של סגל הכליאה בקרב אסירים שפוטים בלבד?</a:t>
            </a:r>
            <a:endParaRPr lang="he-IL" sz="1700" dirty="0"/>
          </a:p>
        </p:txBody>
      </p:sp>
      <p:sp>
        <p:nvSpPr>
          <p:cNvPr id="5" name="Shape 3"/>
          <p:cNvSpPr/>
          <p:nvPr/>
        </p:nvSpPr>
        <p:spPr>
          <a:xfrm>
            <a:off x="4663440" y="2148840"/>
            <a:ext cx="4023360" cy="2468880"/>
          </a:xfrm>
          <a:prstGeom prst="roundRect">
            <a:avLst>
              <a:gd name="adj" fmla="val 3704"/>
            </a:avLst>
          </a:prstGeom>
          <a:solidFill>
            <a:srgbClr val="EAF0F7"/>
          </a:solidFill>
          <a:ln w="12700">
            <a:solidFill>
              <a:srgbClr val="EAF0F7"/>
            </a:solidFill>
            <a:prstDash val="solid"/>
          </a:ln>
        </p:spPr>
      </p:sp>
      <p:sp>
        <p:nvSpPr>
          <p:cNvPr id="6" name="Text 4"/>
          <p:cNvSpPr txBox="1"/>
          <p:nvPr/>
        </p:nvSpPr>
        <p:spPr>
          <a:xfrm>
            <a:off x="4846320" y="2258568"/>
            <a:ext cx="3657600" cy="320040"/>
          </a:xfrm>
          <a:prstGeom prst="rect">
            <a:avLst/>
          </a:prstGeom>
          <a:noFill/>
          <a:ln/>
        </p:spPr>
        <p:txBody>
          <a:bodyPr wrap="square" lIns="0" tIns="0" rIns="0" bIns="0" rtlCol="0" anchor="t"/>
          <a:lstStyle/>
          <a:p>
            <a:pPr rtl="1" algn="r" indent="0" marL="0">
              <a:buNone/>
            </a:pPr>
            <a:r>
              <a:rPr lang="he-IL" altLang="en-US" sz="1400" b="1" dirty="0">
                <a:solidFill>
                  <a:srgbClr val="E8892B"/>
                </a:solidFill>
                <a:latin typeface="Arial" pitchFamily="34" charset="0"/>
                <a:ea typeface="Arial" pitchFamily="34" charset="-122"/>
                <a:cs typeface="Arial" pitchFamily="34" charset="-120"/>
              </a:rPr>
              <a:t>משתני המחקר</a:t>
            </a:r>
            <a:endParaRPr lang="he-IL" sz="1400" dirty="0"/>
          </a:p>
        </p:txBody>
      </p:sp>
      <p:sp>
        <p:nvSpPr>
          <p:cNvPr id="7" name="Text 5"/>
          <p:cNvSpPr txBox="1"/>
          <p:nvPr/>
        </p:nvSpPr>
        <p:spPr>
          <a:xfrm>
            <a:off x="4846320" y="2606040"/>
            <a:ext cx="3657600" cy="1965960"/>
          </a:xfrm>
          <a:prstGeom prst="rect">
            <a:avLst/>
          </a:prstGeom>
          <a:noFill/>
          <a:ln/>
        </p:spPr>
        <p:txBody>
          <a:bodyPr wrap="square" lIns="0" tIns="0" rIns="0" bIns="0" rtlCol="0" anchor="t"/>
          <a:lstStyle/>
          <a:p>
            <a:pPr rtl="1" algn="just" indent="0" marL="0">
              <a:lnSpc>
                <a:spcPct val="115000"/>
              </a:lnSpc>
              <a:buNone/>
            </a:pPr>
            <a:r>
              <a:rPr lang="he-IL" altLang="en-US" sz="1150" dirty="0">
                <a:solidFill>
                  <a:srgbClr val="22303F"/>
                </a:solidFill>
                <a:latin typeface="Arial" pitchFamily="34" charset="0"/>
                <a:ea typeface="Arial" pitchFamily="34" charset="-122"/>
                <a:cs typeface="Arial" pitchFamily="34" charset="-120"/>
              </a:rPr>
              <a:t>המשתנה התלוי הוא תפיסת הלגיטימיות של הסגל, הנמדדת בשלושה פריטים: האפשרות לדבר עם הסוהרים כשמודאגים או עצובים, היחס המכבד של הסוהרים ושביעות הרצון מהטיפול בבקשות (α = 0.67). המשתנה הבלתי תלוי הוא הרווחה הנפשית, הנמדדת בחמישה פריטים של בריאות גופנית ונפשית, שיפור בבריאות מאז המאסר, שמחה ושביעות רצון מהחיים (α = 0.81). שני הסולמות בטווח של 1 עד 5.</a:t>
            </a:r>
            <a:endParaRPr lang="he-IL" sz="1150" dirty="0"/>
          </a:p>
        </p:txBody>
      </p:sp>
      <p:sp>
        <p:nvSpPr>
          <p:cNvPr id="8" name="Shape 6"/>
          <p:cNvSpPr/>
          <p:nvPr/>
        </p:nvSpPr>
        <p:spPr>
          <a:xfrm>
            <a:off x="457200" y="2148840"/>
            <a:ext cx="4023360" cy="2468880"/>
          </a:xfrm>
          <a:prstGeom prst="roundRect">
            <a:avLst>
              <a:gd name="adj" fmla="val 3704"/>
            </a:avLst>
          </a:prstGeom>
          <a:solidFill>
            <a:srgbClr val="FFFFFF"/>
          </a:solidFill>
          <a:ln w="12700">
            <a:solidFill>
              <a:srgbClr val="C9D6E4"/>
            </a:solidFill>
            <a:prstDash val="solid"/>
          </a:ln>
        </p:spPr>
      </p:sp>
      <p:sp>
        <p:nvSpPr>
          <p:cNvPr id="9" name="Text 7"/>
          <p:cNvSpPr txBox="1"/>
          <p:nvPr/>
        </p:nvSpPr>
        <p:spPr>
          <a:xfrm>
            <a:off x="640080" y="2258568"/>
            <a:ext cx="3657600" cy="320040"/>
          </a:xfrm>
          <a:prstGeom prst="rect">
            <a:avLst/>
          </a:prstGeom>
          <a:noFill/>
          <a:ln/>
        </p:spPr>
        <p:txBody>
          <a:bodyPr wrap="square" lIns="0" tIns="0" rIns="0" bIns="0" rtlCol="0" anchor="t"/>
          <a:lstStyle/>
          <a:p>
            <a:pPr rtl="1" algn="r" indent="0" marL="0">
              <a:buNone/>
            </a:pPr>
            <a:r>
              <a:rPr lang="he-IL" altLang="en-US" sz="1400" b="1" dirty="0">
                <a:solidFill>
                  <a:srgbClr val="E8892B"/>
                </a:solidFill>
                <a:latin typeface="Arial" pitchFamily="34" charset="0"/>
                <a:ea typeface="Arial" pitchFamily="34" charset="-122"/>
                <a:cs typeface="Arial" pitchFamily="34" charset="-120"/>
              </a:rPr>
              <a:t>השערה ושיטה</a:t>
            </a:r>
            <a:endParaRPr lang="he-IL" sz="1400" dirty="0"/>
          </a:p>
        </p:txBody>
      </p:sp>
      <p:sp>
        <p:nvSpPr>
          <p:cNvPr id="10" name="Text 8"/>
          <p:cNvSpPr txBox="1"/>
          <p:nvPr/>
        </p:nvSpPr>
        <p:spPr>
          <a:xfrm>
            <a:off x="640080" y="2606040"/>
            <a:ext cx="3657600" cy="1965960"/>
          </a:xfrm>
          <a:prstGeom prst="rect">
            <a:avLst/>
          </a:prstGeom>
          <a:noFill/>
          <a:ln/>
        </p:spPr>
        <p:txBody>
          <a:bodyPr wrap="square" lIns="0" tIns="0" rIns="0" bIns="0" rtlCol="0" anchor="t"/>
          <a:lstStyle/>
          <a:p>
            <a:pPr rtl="1" algn="just" indent="0" marL="0">
              <a:lnSpc>
                <a:spcPct val="115000"/>
              </a:lnSpc>
              <a:buNone/>
            </a:pPr>
            <a:r>
              <a:rPr lang="he-IL" altLang="en-US" sz="1150" dirty="0">
                <a:solidFill>
                  <a:srgbClr val="22303F"/>
                </a:solidFill>
                <a:latin typeface="Arial" pitchFamily="34" charset="0"/>
                <a:ea typeface="Arial" pitchFamily="34" charset="-122"/>
                <a:cs typeface="Arial" pitchFamily="34" charset="-120"/>
              </a:rPr>
              <a:t>השערת המחקר היא שיימצא קשר חיובי מובהק בין רווחה נפשית לבין לגיטימיות, כך שככל שהרווחה גבוהה יותר, הלגיטימיות המיוחסת לסגל גבוהה יותר, ולהפך. המחקר הוא מחקר כמותי מתאמי במערך חתך, המבוסס על נתונים סינתטיים שנבנו על פי סקר תנאי המחיה של שב"ס משנת 2021, וצומצם ל-2,379 שפוטים. הניתוח נערך ב-SPSS וכלל סטטיסטיקה תיאורית, בדיקת מהימנות ומתאמי פירסון וספירמן.</a:t>
            </a:r>
            <a:endParaRPr lang="he-IL" sz="1150" dirty="0"/>
          </a:p>
        </p:txBody>
      </p:sp>
      <p:sp>
        <p:nvSpPr>
          <p:cNvPr id="11" name="Text 9"/>
          <p:cNvSpPr txBox="1"/>
          <p:nvPr/>
        </p:nvSpPr>
        <p:spPr>
          <a:xfrm>
            <a:off x="457200" y="4754880"/>
            <a:ext cx="6858000" cy="274320"/>
          </a:xfrm>
          <a:prstGeom prst="rect">
            <a:avLst/>
          </a:prstGeom>
          <a:noFill/>
          <a:ln/>
        </p:spPr>
        <p:txBody>
          <a:bodyPr wrap="square" lIns="0" tIns="0" rIns="0" bIns="0" rtlCol="0"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12" name="Text 10"/>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ממצאים: אוכלוסיית המחקר</a:t>
            </a:r>
            <a:endParaRPr lang="he-IL" sz="3000" dirty="0"/>
          </a:p>
        </p:txBody>
      </p:sp>
      <p:graphicFrame>
        <p:nvGraphicFramePr>
          <p:cNvPr id="3" name="Chart 0" descr=""/>
          <p:cNvGraphicFramePr/>
          <p:nvPr/>
        </p:nvGraphicFramePr>
        <p:xfrm>
          <a:off x="3657600" y="1005840"/>
          <a:ext cx="5029200" cy="3611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457200" y="1051560"/>
            <a:ext cx="3017520" cy="3566160"/>
          </a:xfrm>
          <a:prstGeom prst="roundRect">
            <a:avLst>
              <a:gd name="adj" fmla="val 3030"/>
            </a:avLst>
          </a:prstGeom>
          <a:solidFill>
            <a:srgbClr val="EAF0F7"/>
          </a:solidFill>
          <a:ln w="12700">
            <a:solidFill>
              <a:srgbClr val="EAF0F7"/>
            </a:solidFill>
            <a:prstDash val="solid"/>
          </a:ln>
        </p:spPr>
      </p:sp>
      <p:sp>
        <p:nvSpPr>
          <p:cNvPr id="5" name="Text 2"/>
          <p:cNvSpPr txBox="1"/>
          <p:nvPr/>
        </p:nvSpPr>
        <p:spPr>
          <a:xfrm>
            <a:off x="640080" y="1161288"/>
            <a:ext cx="2651760" cy="320040"/>
          </a:xfrm>
          <a:prstGeom prst="rect">
            <a:avLst/>
          </a:prstGeom>
          <a:noFill/>
          <a:ln/>
        </p:spPr>
        <p:txBody>
          <a:bodyPr wrap="square" lIns="0" tIns="0" rIns="0" bIns="0" rtlCol="0" anchor="t"/>
          <a:lstStyle/>
          <a:p>
            <a:pPr rtl="1" algn="r" indent="0" marL="0">
              <a:buNone/>
            </a:pPr>
            <a:r>
              <a:rPr lang="he-IL" altLang="en-US" sz="1400" b="1" dirty="0">
                <a:solidFill>
                  <a:srgbClr val="E8892B"/>
                </a:solidFill>
                <a:latin typeface="Arial" pitchFamily="34" charset="0"/>
                <a:ea typeface="Arial" pitchFamily="34" charset="-122"/>
                <a:cs typeface="Arial" pitchFamily="34" charset="-120"/>
              </a:rPr>
              <a:t>מי הם השפוטים</a:t>
            </a:r>
            <a:endParaRPr lang="he-IL" sz="1400" dirty="0"/>
          </a:p>
        </p:txBody>
      </p:sp>
      <p:sp>
        <p:nvSpPr>
          <p:cNvPr id="6" name="Text 3"/>
          <p:cNvSpPr txBox="1"/>
          <p:nvPr/>
        </p:nvSpPr>
        <p:spPr>
          <a:xfrm>
            <a:off x="640080" y="1508760"/>
            <a:ext cx="2651760" cy="3017520"/>
          </a:xfrm>
          <a:prstGeom prst="rect">
            <a:avLst/>
          </a:prstGeom>
          <a:noFill/>
          <a:ln/>
        </p:spPr>
        <p:txBody>
          <a:bodyPr wrap="square" lIns="0" tIns="0" rIns="0" bIns="0" rtlCol="0" anchor="t"/>
          <a:lstStyle/>
          <a:p>
            <a:pPr rtl="1" algn="just" indent="0" marL="0">
              <a:lnSpc>
                <a:spcPct val="115000"/>
              </a:lnSpc>
              <a:buNone/>
            </a:pPr>
            <a:r>
              <a:rPr lang="he-IL" altLang="en-US" sz="1150" dirty="0">
                <a:solidFill>
                  <a:srgbClr val="22303F"/>
                </a:solidFill>
                <a:latin typeface="Arial" pitchFamily="34" charset="0"/>
                <a:ea typeface="Arial" pitchFamily="34" charset="-122"/>
                <a:cs typeface="Arial" pitchFamily="34" charset="-120"/>
              </a:rPr>
              <a:t>אוכלוסיית המחקר כוללת 2,379 אסירים שפוטים, רובם המכריע גברים, בגיל ממוצע של 37.9 שנים ובטווח של 18 עד 82. מעט יותר ממחציתם לא יהודים, כמחציתם במאסרם הראשון ולמעלה ממחציתם ריצו מאסר קודם. יותר משני שלישים שוהים באגף הנוכחי מעל שלושה חודשים, וכאחד מכל חמישה נמצא במסלול שיקום. ההתפלגות דומה לזו שדווחה בסקר המקורי (ועקנין, 2024).</a:t>
            </a:r>
            <a:endParaRPr lang="he-IL" sz="1150" dirty="0"/>
          </a:p>
        </p:txBody>
      </p:sp>
      <p:sp>
        <p:nvSpPr>
          <p:cNvPr id="7" name="Text 4"/>
          <p:cNvSpPr txBox="1"/>
          <p:nvPr/>
        </p:nvSpPr>
        <p:spPr>
          <a:xfrm>
            <a:off x="457200" y="4754880"/>
            <a:ext cx="6858000" cy="274320"/>
          </a:xfrm>
          <a:prstGeom prst="rect">
            <a:avLst/>
          </a:prstGeom>
          <a:noFill/>
          <a:ln/>
        </p:spPr>
        <p:txBody>
          <a:bodyPr wrap="square" lIns="0" tIns="0" rIns="0" bIns="0" rtlCol="0"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8" name="Text 5"/>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ממצאים: הקשר בין רווחה נפשית ללגיטימיות</a:t>
            </a:r>
            <a:endParaRPr lang="he-IL" sz="3000" dirty="0"/>
          </a:p>
        </p:txBody>
      </p:sp>
      <p:sp>
        <p:nvSpPr>
          <p:cNvPr id="3" name="Shape 1"/>
          <p:cNvSpPr/>
          <p:nvPr/>
        </p:nvSpPr>
        <p:spPr>
          <a:xfrm>
            <a:off x="5852160" y="1005840"/>
            <a:ext cx="2834640" cy="1188720"/>
          </a:xfrm>
          <a:prstGeom prst="roundRect">
            <a:avLst>
              <a:gd name="adj" fmla="val 9231"/>
            </a:avLst>
          </a:prstGeom>
          <a:solidFill>
            <a:srgbClr val="1F3A5F"/>
          </a:solidFill>
          <a:ln w="12700">
            <a:solidFill>
              <a:srgbClr val="1F3A5F"/>
            </a:solidFill>
            <a:prstDash val="solid"/>
          </a:ln>
        </p:spPr>
      </p:sp>
      <p:sp>
        <p:nvSpPr>
          <p:cNvPr id="4" name="Text 2"/>
          <p:cNvSpPr txBox="1"/>
          <p:nvPr/>
        </p:nvSpPr>
        <p:spPr>
          <a:xfrm>
            <a:off x="5943600" y="1051560"/>
            <a:ext cx="2651760" cy="640080"/>
          </a:xfrm>
          <a:prstGeom prst="rect">
            <a:avLst/>
          </a:prstGeom>
          <a:noFill/>
          <a:ln/>
        </p:spPr>
        <p:txBody>
          <a:bodyPr wrap="square" lIns="0" tIns="0" rIns="0" bIns="0" rtlCol="0" anchor="ctr"/>
          <a:lstStyle/>
          <a:p>
            <a:pPr algn="ctr" indent="0" marL="0">
              <a:buNone/>
            </a:pPr>
            <a:r>
              <a:rPr lang="en-US" sz="3800" b="1" dirty="0">
                <a:solidFill>
                  <a:srgbClr val="E8892B"/>
                </a:solidFill>
                <a:latin typeface="Arial" pitchFamily="34" charset="0"/>
                <a:ea typeface="Arial" pitchFamily="34" charset="-122"/>
                <a:cs typeface="Arial" pitchFamily="34" charset="-120"/>
              </a:rPr>
              <a:t>r = 0.32</a:t>
            </a:r>
            <a:endParaRPr lang="en-US" sz="3800" dirty="0"/>
          </a:p>
        </p:txBody>
      </p:sp>
      <p:sp>
        <p:nvSpPr>
          <p:cNvPr id="5" name="Text 3"/>
          <p:cNvSpPr txBox="1"/>
          <p:nvPr/>
        </p:nvSpPr>
        <p:spPr>
          <a:xfrm>
            <a:off x="5943600" y="1719072"/>
            <a:ext cx="2651760" cy="365760"/>
          </a:xfrm>
          <a:prstGeom prst="rect">
            <a:avLst/>
          </a:prstGeom>
          <a:noFill/>
          <a:ln/>
        </p:spPr>
        <p:txBody>
          <a:bodyPr wrap="square" lIns="0" tIns="0" rIns="0" bIns="0" rtlCol="0" anchor="t"/>
          <a:lstStyle/>
          <a:p>
            <a:pPr rtl="1" algn="ctr" indent="0" marL="0">
              <a:buNone/>
            </a:pPr>
            <a:r>
              <a:rPr lang="he-IL" altLang="en-US" sz="1100" dirty="0">
                <a:solidFill>
                  <a:srgbClr val="CFDBEA"/>
                </a:solidFill>
                <a:latin typeface="Arial" pitchFamily="34" charset="0"/>
                <a:ea typeface="Arial" pitchFamily="34" charset="-122"/>
                <a:cs typeface="Arial" pitchFamily="34" charset="-120"/>
              </a:rPr>
              <a:t>מתאם פירסון, p &lt; 0.001, N = 2,344</a:t>
            </a:r>
            <a:endParaRPr lang="he-IL" sz="1100" dirty="0"/>
          </a:p>
        </p:txBody>
      </p:sp>
      <p:sp>
        <p:nvSpPr>
          <p:cNvPr id="6" name="Shape 4"/>
          <p:cNvSpPr/>
          <p:nvPr/>
        </p:nvSpPr>
        <p:spPr>
          <a:xfrm>
            <a:off x="5852160" y="2331720"/>
            <a:ext cx="2834640" cy="2286000"/>
          </a:xfrm>
          <a:prstGeom prst="roundRect">
            <a:avLst>
              <a:gd name="adj" fmla="val 4800"/>
            </a:avLst>
          </a:prstGeom>
          <a:solidFill>
            <a:srgbClr val="EAF0F7"/>
          </a:solidFill>
          <a:ln w="12700">
            <a:solidFill>
              <a:srgbClr val="EAF0F7"/>
            </a:solidFill>
            <a:prstDash val="solid"/>
          </a:ln>
        </p:spPr>
      </p:sp>
      <p:sp>
        <p:nvSpPr>
          <p:cNvPr id="7" name="Text 5"/>
          <p:cNvSpPr txBox="1"/>
          <p:nvPr/>
        </p:nvSpPr>
        <p:spPr>
          <a:xfrm>
            <a:off x="6035040" y="2423160"/>
            <a:ext cx="2468880" cy="320040"/>
          </a:xfrm>
          <a:prstGeom prst="rect">
            <a:avLst/>
          </a:prstGeom>
          <a:noFill/>
          <a:ln/>
        </p:spPr>
        <p:txBody>
          <a:bodyPr wrap="square" lIns="0" tIns="0" rIns="0" bIns="0" rtlCol="0" anchor="t"/>
          <a:lstStyle/>
          <a:p>
            <a:pPr rtl="1" algn="r" indent="0" marL="0">
              <a:buNone/>
            </a:pPr>
            <a:r>
              <a:rPr lang="he-IL" altLang="en-US" sz="1400" b="1" dirty="0">
                <a:solidFill>
                  <a:srgbClr val="E8892B"/>
                </a:solidFill>
                <a:latin typeface="Arial" pitchFamily="34" charset="0"/>
                <a:ea typeface="Arial" pitchFamily="34" charset="-122"/>
                <a:cs typeface="Arial" pitchFamily="34" charset="-120"/>
              </a:rPr>
              <a:t>פירוש הממצא</a:t>
            </a:r>
            <a:endParaRPr lang="he-IL" sz="1400" dirty="0"/>
          </a:p>
        </p:txBody>
      </p:sp>
      <p:sp>
        <p:nvSpPr>
          <p:cNvPr id="8" name="Text 6"/>
          <p:cNvSpPr txBox="1"/>
          <p:nvPr/>
        </p:nvSpPr>
        <p:spPr>
          <a:xfrm>
            <a:off x="6035040" y="2743200"/>
            <a:ext cx="2468880" cy="1828800"/>
          </a:xfrm>
          <a:prstGeom prst="rect">
            <a:avLst/>
          </a:prstGeom>
          <a:noFill/>
          <a:ln/>
        </p:spPr>
        <p:txBody>
          <a:bodyPr wrap="square" lIns="0" tIns="0" rIns="0" bIns="0" rtlCol="0" anchor="t"/>
          <a:lstStyle/>
          <a:p>
            <a:pPr rtl="1" algn="just" indent="0" marL="0">
              <a:lnSpc>
                <a:spcPct val="115000"/>
              </a:lnSpc>
              <a:buNone/>
            </a:pPr>
            <a:r>
              <a:rPr lang="he-IL" altLang="en-US" sz="1100" dirty="0">
                <a:solidFill>
                  <a:srgbClr val="22303F"/>
                </a:solidFill>
                <a:latin typeface="Arial" pitchFamily="34" charset="0"/>
                <a:ea typeface="Arial" pitchFamily="34" charset="-122"/>
                <a:cs typeface="Arial" pitchFamily="34" charset="-120"/>
              </a:rPr>
              <a:t>נמצא קשר חיובי מובהק ברמה בינונית בין רווחה נפשית ללגיטימיות, ומתאם ספירמן (0.34) קרוב לפירסון. הקשר קיים בכל שלושת פריטי הלגיטימיות, והחזק שבהם הוא האפשרות לדבר עם הסוהרים (0.29). הרווחה חולקת עם הלגיטימיות כעשרה אחוזים מהשונות, וההשערה אוששה.</a:t>
            </a:r>
            <a:endParaRPr lang="he-IL" sz="1100" dirty="0"/>
          </a:p>
        </p:txBody>
      </p:sp>
      <p:graphicFrame>
        <p:nvGraphicFramePr>
          <p:cNvPr id="9" name="Chart 0" descr=""/>
          <p:cNvGraphicFramePr/>
          <p:nvPr/>
        </p:nvGraphicFramePr>
        <p:xfrm>
          <a:off x="457200" y="1005840"/>
          <a:ext cx="5212080" cy="237744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457200" y="3520440"/>
            <a:ext cx="5212080" cy="1097280"/>
          </a:xfrm>
          <a:prstGeom prst="roundRect">
            <a:avLst>
              <a:gd name="adj" fmla="val 8333"/>
            </a:avLst>
          </a:prstGeom>
          <a:solidFill>
            <a:srgbClr val="FFFFFF"/>
          </a:solidFill>
          <a:ln w="12700">
            <a:solidFill>
              <a:srgbClr val="C9D6E4"/>
            </a:solidFill>
            <a:prstDash val="solid"/>
          </a:ln>
        </p:spPr>
      </p:sp>
      <p:sp>
        <p:nvSpPr>
          <p:cNvPr id="11" name="Text 8"/>
          <p:cNvSpPr txBox="1"/>
          <p:nvPr/>
        </p:nvSpPr>
        <p:spPr>
          <a:xfrm>
            <a:off x="640080" y="3611880"/>
            <a:ext cx="4846320" cy="960120"/>
          </a:xfrm>
          <a:prstGeom prst="rect">
            <a:avLst/>
          </a:prstGeom>
          <a:noFill/>
          <a:ln/>
        </p:spPr>
        <p:txBody>
          <a:bodyPr wrap="square" lIns="0" tIns="0" rIns="0" bIns="0" rtlCol="0" anchor="t"/>
          <a:lstStyle/>
          <a:p>
            <a:pPr rtl="1" algn="just" indent="0" marL="0">
              <a:lnSpc>
                <a:spcPct val="115000"/>
              </a:lnSpc>
              <a:buNone/>
            </a:pPr>
            <a:r>
              <a:rPr lang="he-IL" altLang="en-US" sz="1100" dirty="0">
                <a:solidFill>
                  <a:srgbClr val="22303F"/>
                </a:solidFill>
                <a:latin typeface="Arial" pitchFamily="34" charset="0"/>
                <a:ea typeface="Arial" pitchFamily="34" charset="-122"/>
                <a:cs typeface="Arial" pitchFamily="34" charset="-120"/>
              </a:rPr>
              <a:t>ממוצע הלגיטימיות עמד על 4.24 (סטיית תקן 0.83) וממוצע הרווחה הנפשית על 3.78 (סטיית תקן 0.87). השפוטים ברמת הלגיטימיות הנמוכה דיווחו על רווחה ממוצעת של 3.34, ואלו ברמה הגבוהה על 4.05, פער של כ-0.7 נקודות שהוא כ-80 אחוזים מסטיית תקן, בהלימה לממצאים מהולנד, מאנגליה ומאוסטרליה.</a:t>
            </a:r>
            <a:endParaRPr lang="he-IL" sz="1100" dirty="0"/>
          </a:p>
        </p:txBody>
      </p:sp>
      <p:sp>
        <p:nvSpPr>
          <p:cNvPr id="12" name="Text 9"/>
          <p:cNvSpPr txBox="1"/>
          <p:nvPr/>
        </p:nvSpPr>
        <p:spPr>
          <a:xfrm>
            <a:off x="457200" y="4754880"/>
            <a:ext cx="6858000" cy="274320"/>
          </a:xfrm>
          <a:prstGeom prst="rect">
            <a:avLst/>
          </a:prstGeom>
          <a:noFill/>
          <a:ln/>
        </p:spPr>
        <p:txBody>
          <a:bodyPr wrap="square" lIns="0" tIns="0" rIns="0" bIns="0" rtlCol="0"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13" name="Text 10"/>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2026-09-14T18:05:25Z</dcterms:created>
  <dcterms:modified xsi:type="dcterms:W3CDTF">2026-09-14T18:05:25Z</dcterms:modified>
</cp:coreProperties>
</file>