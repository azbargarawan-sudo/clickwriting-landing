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2.xml" ContentType="application/vnd.openxmlformats-officedocument.drawingml.chart+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rtl="1" saveSubsetFonts="1" autoCompressPictures="0">
  <p:sldMasterIdLst>
    <p:sldMasterId id="2147483648" r:id="rId1"/>
  </p:sldMasterIdLst>
  <p:sldIdLst>
    <p:sldId id="256" r:id="rId2"/>
    <p:sldId id="257" r:id="rId3"/>
    <p:sldId id="258" r:id="rId4"/>
    <p:sldId id="259" r:id="rId5"/>
    <p:sldId id="260" r:id="rId6"/>
    <p:sldId id="261" r:id="rId7"/>
  </p:sldIdLst>
  <p:notesMasterIdLst>
    <p:notesMasterId r:id="rId8"/>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1F3A5F"/>
                </a:solidFill>
                <a:latin typeface="Arial"/>
              </a:defRPr>
            </a:pPr>
            <a:r>
              <a:rPr sz="1100" b="0" i="0" u="none" strike="noStrike">
                <a:solidFill>
                  <a:srgbClr val="1F3A5F"/>
                </a:solidFill>
                <a:latin typeface="Arial"/>
              </a:rPr>
              <a:t>מאפייני הרקע של השפוטים באחוזים (N = 2,379)</a:t>
            </a:r>
          </a:p>
        </c:rich>
      </c:tx>
      <c:layout/>
      <c:overlay val="0"/>
    </c:title>
    <c:autoTitleDeleted val="0"/>
    <c:plotArea>
      <c:layout/>
      <c:barChart>
        <c:barDir val="bar"/>
        <c:grouping val="clustered"/>
        <c:varyColors val="0"/>
        <c:ser>
          <c:idx val="0"/>
          <c:order val="0"/>
          <c:tx>
            <c:strRef>
              <c:f>Sheet1!$B$1</c:f>
              <c:strCache>
                <c:ptCount val="1"/>
                <c:pt idx="0">
                  <c:v>אחוז מהשפוטים</c:v>
                </c:pt>
              </c:strCache>
            </c:strRef>
          </c:tx>
          <c:spPr>
            <a:solidFill>
              <a:srgbClr val="1F3A5F"/>
            </a:solidFill>
            <a:effectLst/>
          </c:spPr>
          <c:invertIfNegative val="0"/>
          <c:dLbls>
            <c:numFmt formatCode="0.0&quot;%&quot;" sourceLinked="0"/>
            <c:txPr>
              <a:bodyPr/>
              <a:lstStyle/>
              <a:p>
                <a:pPr>
                  <a:defRPr b="0" i="0" strike="noStrike" sz="1000" u="none">
                    <a:solidFill>
                      <a:srgbClr val="22303F"/>
                    </a:solidFill>
                    <a:latin typeface="Arial"/>
                  </a:defRPr>
                </a:pPr>
              </a:p>
            </c:txPr>
            <c:showLegendKey val="0"/>
            <c:showVal val="1"/>
            <c:showCatName val="0"/>
            <c:showSerName val="0"/>
            <c:showPercent val="0"/>
            <c:showBubbleSize val="0"/>
            <c:showLeaderLines val="0"/>
          </c:dLbls>
          <c:cat>
            <c:multiLvlStrRef>
              <c:f>Sheet1!$A$2:$A$9</c:f>
              <c:multiLvlStrCache>
                <c:ptCount val="8"/>
                <c:lvl>
                  <c:pt idx="0">
                    <c:v>גברים</c:v>
                  </c:pt>
                  <c:pt idx="1">
                    <c:v>יהודים</c:v>
                  </c:pt>
                  <c:pt idx="2">
                    <c:v>לא יהודים</c:v>
                  </c:pt>
                  <c:pt idx="3">
                    <c:v>מאסר ראשון</c:v>
                  </c:pt>
                  <c:pt idx="4">
                    <c:v>מאסר שני</c:v>
                  </c:pt>
                  <c:pt idx="5">
                    <c:v>מאסר שלישי ומעלה</c:v>
                  </c:pt>
                  <c:pt idx="6">
                    <c:v>מעל 3 חודשים באגף</c:v>
                  </c:pt>
                  <c:pt idx="7">
                    <c:v>במסלול שיקום</c:v>
                  </c:pt>
                </c:lvl>
              </c:multiLvlStrCache>
            </c:multiLvlStrRef>
          </c:cat>
          <c:val>
            <c:numRef>
              <c:f>Sheet1!$B$2:$B$9</c:f>
              <c:numCache>
                <c:formatCode>General</c:formatCode>
                <c:ptCount val="8"/>
                <c:pt idx="0">
                  <c:v>96.8</c:v>
                </c:pt>
                <c:pt idx="1">
                  <c:v>47.8</c:v>
                </c:pt>
                <c:pt idx="2">
                  <c:v>52.2</c:v>
                </c:pt>
                <c:pt idx="3">
                  <c:v>48.8</c:v>
                </c:pt>
                <c:pt idx="4">
                  <c:v>22.2</c:v>
                </c:pt>
                <c:pt idx="5">
                  <c:v>29</c:v>
                </c:pt>
                <c:pt idx="6">
                  <c:v>68.3</c:v>
                </c:pt>
                <c:pt idx="7">
                  <c:v>20.4</c:v>
                </c:pt>
              </c:numCache>
            </c:numRef>
          </c:val>
        </c:ser>
        <c:dLbls>
          <c:numFmt formatCode="0.0&quot;%&quot;" sourceLinked="0"/>
          <c:txPr>
            <a:bodyPr/>
            <a:lstStyle/>
            <a:p>
              <a:pPr>
                <a:defRPr b="0" i="0" strike="noStrike" sz="1000" u="none">
                  <a:solidFill>
                    <a:srgbClr val="22303F"/>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22303F"/>
                </a:solidFill>
                <a:latin typeface="Arial"/>
              </a:defRPr>
            </a:pPr>
            <a:endParaRPr lang="en-US"/>
          </a:p>
        </c:txPr>
        <c:crossAx val="2094734552"/>
        <c:crosses val="autoZero"/>
        <c:auto val="1"/>
        <c:lblAlgn val="ctr"/>
        <c:noMultiLvlLbl val="1"/>
      </c:catAx>
      <c:valAx>
        <c:axId val="2094734552"/>
        <c:scaling>
          <c:orientation val="minMax"/>
          <c:max val="115"/>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1F3A5F"/>
                </a:solidFill>
                <a:latin typeface="Arial"/>
              </a:defRPr>
            </a:pPr>
            <a:r>
              <a:rPr sz="1100" b="0" i="0" u="none" strike="noStrike">
                <a:solidFill>
                  <a:srgbClr val="1F3A5F"/>
                </a:solidFill>
                <a:latin typeface="Arial"/>
              </a:rPr>
              <a:t>רווחה נפשית ממוצעת לפי רמת לגיטימיות (סולם 1 עד 5)</a:t>
            </a:r>
          </a:p>
        </c:rich>
      </c:tx>
      <c:layout/>
      <c:overlay val="0"/>
    </c:title>
    <c:autoTitleDeleted val="0"/>
    <c:plotArea>
      <c:layout/>
      <c:barChart>
        <c:barDir val="col"/>
        <c:grouping val="clustered"/>
        <c:varyColors val="0"/>
        <c:ser>
          <c:idx val="0"/>
          <c:order val="0"/>
          <c:tx>
            <c:strRef>
              <c:f>Sheet1!$B$1</c:f>
              <c:strCache>
                <c:ptCount val="1"/>
                <c:pt idx="0">
                  <c:v>רווחה נפשית ממוצעת</c:v>
                </c:pt>
              </c:strCache>
            </c:strRef>
          </c:tx>
          <c:spPr>
            <a:solidFill>
              <a:srgbClr val="E8892B"/>
            </a:solidFill>
            <a:effectLst/>
          </c:spPr>
          <c:invertIfNegative val="0"/>
          <c:dLbls>
            <c:numFmt formatCode="0.00" sourceLinked="0"/>
            <c:txPr>
              <a:bodyPr/>
              <a:lstStyle/>
              <a:p>
                <a:pPr>
                  <a:defRPr b="0" i="0" strike="noStrike" sz="1100" u="none">
                    <a:solidFill>
                      <a:srgbClr val="22303F"/>
                    </a:solidFill>
                    <a:latin typeface="Arial"/>
                  </a:defRPr>
                </a:pPr>
              </a:p>
            </c:txPr>
            <c:showLegendKey val="0"/>
            <c:showVal val="1"/>
            <c:showCatName val="0"/>
            <c:showSerName val="0"/>
            <c:showPercent val="0"/>
            <c:showBubbleSize val="0"/>
            <c:showLeaderLines val="0"/>
          </c:dLbls>
          <c:cat>
            <c:multiLvlStrRef>
              <c:f>Sheet1!$A$2:$A$4</c:f>
              <c:multiLvlStrCache>
                <c:ptCount val="3"/>
                <c:lvl>
                  <c:pt idx="0">
                    <c:v>לגיטימיות נמוכה (עד 3.5)</c:v>
                  </c:pt>
                  <c:pt idx="1">
                    <c:v>לגיטימיות בינונית (3.5 עד 4.5)</c:v>
                  </c:pt>
                  <c:pt idx="2">
                    <c:v>לגיטימיות גבוהה (מעל 4.5)</c:v>
                  </c:pt>
                </c:lvl>
              </c:multiLvlStrCache>
            </c:multiLvlStrRef>
          </c:cat>
          <c:val>
            <c:numRef>
              <c:f>Sheet1!$B$2:$B$4</c:f>
              <c:numCache>
                <c:formatCode>General</c:formatCode>
                <c:ptCount val="3"/>
                <c:pt idx="0">
                  <c:v>3.34</c:v>
                </c:pt>
                <c:pt idx="1">
                  <c:v>3.65</c:v>
                </c:pt>
                <c:pt idx="2">
                  <c:v>4.05</c:v>
                </c:pt>
              </c:numCache>
            </c:numRef>
          </c:val>
        </c:ser>
        <c:dLbls>
          <c:numFmt formatCode="0.00" sourceLinked="0"/>
          <c:txPr>
            <a:bodyPr/>
            <a:lstStyle/>
            <a:p>
              <a:pPr>
                <a:defRPr b="0" i="0" strike="noStrike" sz="1100" u="none">
                  <a:solidFill>
                    <a:srgbClr val="22303F"/>
                  </a:solidFill>
                  <a:latin typeface="Arial"/>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22303F"/>
                </a:solidFill>
                <a:latin typeface="Arial"/>
              </a:defRPr>
            </a:pPr>
            <a:endParaRPr lang="en-US"/>
          </a:p>
        </c:txPr>
        <c:crossAx val="2094734552"/>
        <c:crosses val="autoZero"/>
        <c:auto val="1"/>
        <c:lblAlgn val="ctr"/>
        <c:noMultiLvlLbl val="1"/>
      </c:catAx>
      <c:valAx>
        <c:axId val="2094734552"/>
        <c:scaling>
          <c:orientation val="minMax"/>
          <c:max val="5"/>
          <c:min val="1"/>
        </c:scaling>
        <c:delete val="0"/>
        <c:axPos val="l"/>
        <c:majorGridlines>
          <c:spPr>
            <a:ln w="6350" cap="flat">
              <a:solidFill>
                <a:srgbClr val="DDE3EA"/>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B6B7C"/>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3A5F"/>
        </a:solidFill>
      </p:bgPr>
    </p:bg>
    <p:spTree>
      <p:nvGrpSpPr>
        <p:cNvPr id="1" name=""/>
        <p:cNvGrpSpPr/>
        <p:nvPr/>
      </p:nvGrpSpPr>
      <p:grpSpPr>
        <a:xfrm>
          <a:off x="0" y="0"/>
          <a:ext cx="0" cy="0"/>
          <a:chOff x="0" y="0"/>
          <a:chExt cx="0" cy="0"/>
        </a:xfrm>
      </p:grpSpPr>
      <p:sp>
        <p:nvSpPr>
          <p:cNvPr id="2" name="Shape 0"/>
          <p:cNvSpPr/>
          <p:nvPr/>
        </p:nvSpPr>
        <p:spPr>
          <a:xfrm>
            <a:off x="0" y="0"/>
            <a:ext cx="9144000" cy="1234440"/>
          </a:xfrm>
          <a:prstGeom prst="rect">
            <a:avLst/>
          </a:prstGeom>
          <a:solidFill>
            <a:srgbClr val="FFFFFF"/>
          </a:solidFill>
          <a:ln/>
        </p:spPr>
      </p:sp>
      <p:pic>
        <p:nvPicPr>
          <p:cNvPr id="3" name="Image 0" descr="preencoded.png">    </p:cNvPr>
          <p:cNvPicPr>
            <a:picLocks noChangeAspect="1"/>
          </p:cNvPicPr>
          <p:nvPr/>
        </p:nvPicPr>
        <p:blipFill>
          <a:blip r:embed="rId1"/>
          <a:stretch>
            <a:fillRect/>
          </a:stretch>
        </p:blipFill>
        <p:spPr>
          <a:xfrm>
            <a:off x="6309360" y="228600"/>
            <a:ext cx="2377440" cy="941832"/>
          </a:xfrm>
          <a:prstGeom prst="rect">
            <a:avLst/>
          </a:prstGeom>
        </p:spPr>
      </p:pic>
      <p:sp>
        <p:nvSpPr>
          <p:cNvPr id="4" name="Text 1"/>
          <p:cNvSpPr txBox="1"/>
          <p:nvPr/>
        </p:nvSpPr>
        <p:spPr>
          <a:xfrm>
            <a:off x="457200" y="320040"/>
            <a:ext cx="5669280" cy="320040"/>
          </a:xfrm>
          <a:prstGeom prst="rect">
            <a:avLst/>
          </a:prstGeom>
          <a:noFill/>
          <a:ln/>
        </p:spPr>
        <p:txBody>
          <a:bodyPr wrap="square" lIns="0" tIns="0" rIns="0" bIns="0" rtlCol="0" anchor="t"/>
          <a:lstStyle/>
          <a:p>
            <a:pPr rtl="1" algn="r" indent="0" marL="0">
              <a:buNone/>
            </a:pPr>
            <a:r>
              <a:rPr lang="he-IL" altLang="en-US" sz="1400" b="1" dirty="0">
                <a:solidFill>
                  <a:srgbClr val="1F3A5F"/>
                </a:solidFill>
                <a:latin typeface="Arial" pitchFamily="34" charset="0"/>
                <a:ea typeface="Arial" pitchFamily="34" charset="-122"/>
                <a:cs typeface="Arial" pitchFamily="34" charset="-120"/>
              </a:rPr>
              <a:t>המכללה האקדמית אשקלון, החוג לקרימינולוגיה</a:t>
            </a:r>
            <a:endParaRPr lang="he-IL" sz="1400" dirty="0"/>
          </a:p>
        </p:txBody>
      </p:sp>
      <p:sp>
        <p:nvSpPr>
          <p:cNvPr id="5" name="Text 2"/>
          <p:cNvSpPr txBox="1"/>
          <p:nvPr/>
        </p:nvSpPr>
        <p:spPr>
          <a:xfrm>
            <a:off x="457200" y="640080"/>
            <a:ext cx="5669280" cy="274320"/>
          </a:xfrm>
          <a:prstGeom prst="rect">
            <a:avLst/>
          </a:prstGeom>
          <a:noFill/>
          <a:ln/>
        </p:spPr>
        <p:txBody>
          <a:bodyPr wrap="square" lIns="0" tIns="0" rIns="0" bIns="0" rtlCol="0" anchor="t"/>
          <a:lstStyle/>
          <a:p>
            <a:pPr rtl="1" algn="r" indent="0" marL="0">
              <a:buNone/>
            </a:pPr>
            <a:r>
              <a:rPr lang="he-IL" altLang="en-US" sz="1200" dirty="0">
                <a:solidFill>
                  <a:srgbClr val="5B6B7C"/>
                </a:solidFill>
                <a:latin typeface="Arial" pitchFamily="34" charset="0"/>
                <a:ea typeface="Arial" pitchFamily="34" charset="-122"/>
                <a:cs typeface="Arial" pitchFamily="34" charset="-120"/>
              </a:rPr>
              <a:t>סמינריון: תנאי כליאה של אסירים פליליים בישראל ובעולם</a:t>
            </a:r>
            <a:endParaRPr lang="he-IL" sz="1200" dirty="0"/>
          </a:p>
        </p:txBody>
      </p:sp>
      <p:sp>
        <p:nvSpPr>
          <p:cNvPr id="6" name="Text 3"/>
          <p:cNvSpPr txBox="1"/>
          <p:nvPr/>
        </p:nvSpPr>
        <p:spPr>
          <a:xfrm>
            <a:off x="457200" y="896112"/>
            <a:ext cx="5669280" cy="274320"/>
          </a:xfrm>
          <a:prstGeom prst="rect">
            <a:avLst/>
          </a:prstGeom>
          <a:noFill/>
          <a:ln/>
        </p:spPr>
        <p:txBody>
          <a:bodyPr wrap="square" lIns="0" tIns="0" rIns="0" bIns="0" rtlCol="0" anchor="t"/>
          <a:lstStyle/>
          <a:p>
            <a:pPr rtl="1" algn="r" indent="0" marL="0">
              <a:buNone/>
            </a:pPr>
            <a:r>
              <a:rPr lang="he-IL" altLang="en-US" sz="1200" dirty="0">
                <a:solidFill>
                  <a:srgbClr val="5B6B7C"/>
                </a:solidFill>
                <a:latin typeface="Arial" pitchFamily="34" charset="0"/>
                <a:ea typeface="Arial" pitchFamily="34" charset="-122"/>
                <a:cs typeface="Arial" pitchFamily="34" charset="-120"/>
              </a:rPr>
              <a:t>מרצה: ד"ר יוחנן ועקנין</a:t>
            </a:r>
            <a:endParaRPr lang="he-IL" sz="1200" dirty="0"/>
          </a:p>
        </p:txBody>
      </p:sp>
      <p:sp>
        <p:nvSpPr>
          <p:cNvPr id="7" name="Text 4"/>
          <p:cNvSpPr txBox="1"/>
          <p:nvPr/>
        </p:nvSpPr>
        <p:spPr>
          <a:xfrm>
            <a:off x="548640" y="1463040"/>
            <a:ext cx="8046720" cy="960120"/>
          </a:xfrm>
          <a:prstGeom prst="rect">
            <a:avLst/>
          </a:prstGeom>
          <a:noFill/>
          <a:ln/>
        </p:spPr>
        <p:txBody>
          <a:bodyPr wrap="square" lIns="0" tIns="0" rIns="0" bIns="0" rtlCol="0" anchor="ctr"/>
          <a:lstStyle/>
          <a:p>
            <a:pPr rtl="1" algn="r" indent="0" marL="0">
              <a:buNone/>
            </a:pPr>
            <a:r>
              <a:rPr lang="he-IL" altLang="en-US" sz="2600" b="1" dirty="0">
                <a:solidFill>
                  <a:srgbClr val="FFFFFF"/>
                </a:solidFill>
                <a:latin typeface="Arial" pitchFamily="34" charset="0"/>
                <a:ea typeface="Arial" pitchFamily="34" charset="-122"/>
                <a:cs typeface="Arial" pitchFamily="34" charset="-120"/>
              </a:rPr>
              <a:t>רווחה נפשית ותפיסת הלגיטימיות של סגל הכליאה בקרב אסירים שפוטים בישראל</a:t>
            </a:r>
            <a:endParaRPr lang="he-IL" sz="2600" dirty="0"/>
          </a:p>
        </p:txBody>
      </p:sp>
      <p:sp>
        <p:nvSpPr>
          <p:cNvPr id="8" name="Text 5"/>
          <p:cNvSpPr txBox="1"/>
          <p:nvPr/>
        </p:nvSpPr>
        <p:spPr>
          <a:xfrm>
            <a:off x="548640" y="2514600"/>
            <a:ext cx="8046720" cy="822960"/>
          </a:xfrm>
          <a:prstGeom prst="rect">
            <a:avLst/>
          </a:prstGeom>
          <a:noFill/>
          <a:ln/>
        </p:spPr>
        <p:txBody>
          <a:bodyPr wrap="square" lIns="0" tIns="0" rIns="0" bIns="0" rtlCol="0" anchor="ctr"/>
          <a:lstStyle/>
          <a:p>
            <a:pPr rtl="1" algn="r" indent="0" marL="0">
              <a:buNone/>
            </a:pPr>
            <a:r>
              <a:rPr lang="he-IL" altLang="en-US" sz="1500" dirty="0">
                <a:solidFill>
                  <a:srgbClr val="CFDBEA"/>
                </a:solidFill>
                <a:latin typeface="Arial" pitchFamily="34" charset="0"/>
                <a:ea typeface="Arial" pitchFamily="34" charset="-122"/>
                <a:cs typeface="Arial" pitchFamily="34" charset="-120"/>
              </a:rPr>
              <a:t>שאלת המחקר: באיזו מידה קיים קשר בין רווחה נפשית לבין תפיסת הלגיטימיות של סגל הכליאה בקרב אסירים שפוטים בלבד?</a:t>
            </a:r>
            <a:endParaRPr lang="he-IL" sz="1500" dirty="0"/>
          </a:p>
        </p:txBody>
      </p:sp>
      <p:sp>
        <p:nvSpPr>
          <p:cNvPr id="9" name="Shape 6"/>
          <p:cNvSpPr/>
          <p:nvPr/>
        </p:nvSpPr>
        <p:spPr>
          <a:xfrm>
            <a:off x="548640" y="3520440"/>
            <a:ext cx="8046720" cy="1097280"/>
          </a:xfrm>
          <a:prstGeom prst="roundRect">
            <a:avLst>
              <a:gd name="adj" fmla="val 10000"/>
            </a:avLst>
          </a:prstGeom>
          <a:solidFill>
            <a:srgbClr val="2B4C78"/>
          </a:solidFill>
          <a:ln w="12700">
            <a:solidFill>
              <a:srgbClr val="2B4C78"/>
            </a:solidFill>
            <a:prstDash val="solid"/>
          </a:ln>
        </p:spPr>
      </p:sp>
      <p:sp>
        <p:nvSpPr>
          <p:cNvPr id="10" name="Text 7"/>
          <p:cNvSpPr txBox="1"/>
          <p:nvPr/>
        </p:nvSpPr>
        <p:spPr>
          <a:xfrm>
            <a:off x="777240" y="3611880"/>
            <a:ext cx="7589520" cy="274320"/>
          </a:xfrm>
          <a:prstGeom prst="rect">
            <a:avLst/>
          </a:prstGeom>
          <a:noFill/>
          <a:ln/>
        </p:spPr>
        <p:txBody>
          <a:bodyPr wrap="square" lIns="0" tIns="0" rIns="0" bIns="0" rtlCol="0" anchor="t"/>
          <a:lstStyle/>
          <a:p>
            <a:pPr rtl="1" algn="r" indent="0" marL="0">
              <a:buNone/>
            </a:pPr>
            <a:r>
              <a:rPr lang="he-IL" altLang="en-US" sz="1300" b="1" dirty="0">
                <a:solidFill>
                  <a:srgbClr val="E8892B"/>
                </a:solidFill>
                <a:latin typeface="Arial" pitchFamily="34" charset="0"/>
                <a:ea typeface="Arial" pitchFamily="34" charset="-122"/>
                <a:cs typeface="Arial" pitchFamily="34" charset="-120"/>
              </a:rPr>
              <a:t>מגישות:</a:t>
            </a:r>
            <a:endParaRPr lang="he-IL" sz="1300" dirty="0"/>
          </a:p>
        </p:txBody>
      </p:sp>
      <p:sp>
        <p:nvSpPr>
          <p:cNvPr id="11" name="Text 8"/>
          <p:cNvSpPr txBox="1"/>
          <p:nvPr/>
        </p:nvSpPr>
        <p:spPr>
          <a:xfrm>
            <a:off x="777240" y="3913632"/>
            <a:ext cx="7589520" cy="292608"/>
          </a:xfrm>
          <a:prstGeom prst="rect">
            <a:avLst/>
          </a:prstGeom>
          <a:noFill/>
          <a:ln/>
        </p:spPr>
        <p:txBody>
          <a:bodyPr wrap="square" lIns="0" tIns="0" rIns="0" bIns="0" rtlCol="0" anchor="t"/>
          <a:lstStyle/>
          <a:p>
            <a:pPr rtl="1" algn="r" indent="0" marL="0">
              <a:buNone/>
            </a:pPr>
            <a:r>
              <a:rPr lang="he-IL" altLang="en-US" sz="1400" dirty="0">
                <a:solidFill>
                  <a:srgbClr val="FFFFFF"/>
                </a:solidFill>
                <a:latin typeface="Arial" pitchFamily="34" charset="0"/>
                <a:ea typeface="Arial" pitchFamily="34" charset="-122"/>
                <a:cs typeface="Arial" pitchFamily="34" charset="-120"/>
              </a:rPr>
              <a:t>שם: ______________________   ת.ז.: ______________</a:t>
            </a:r>
            <a:endParaRPr lang="he-IL" sz="1400" dirty="0"/>
          </a:p>
        </p:txBody>
      </p:sp>
      <p:sp>
        <p:nvSpPr>
          <p:cNvPr id="12" name="Text 9"/>
          <p:cNvSpPr txBox="1"/>
          <p:nvPr/>
        </p:nvSpPr>
        <p:spPr>
          <a:xfrm>
            <a:off x="777240" y="4224528"/>
            <a:ext cx="7589520" cy="292608"/>
          </a:xfrm>
          <a:prstGeom prst="rect">
            <a:avLst/>
          </a:prstGeom>
          <a:noFill/>
          <a:ln/>
        </p:spPr>
        <p:txBody>
          <a:bodyPr wrap="square" lIns="0" tIns="0" rIns="0" bIns="0" rtlCol="0" anchor="t"/>
          <a:lstStyle/>
          <a:p>
            <a:pPr rtl="1" algn="r" indent="0" marL="0">
              <a:buNone/>
            </a:pPr>
            <a:r>
              <a:rPr lang="he-IL" altLang="en-US" sz="1400" dirty="0">
                <a:solidFill>
                  <a:srgbClr val="FFFFFF"/>
                </a:solidFill>
                <a:latin typeface="Arial" pitchFamily="34" charset="0"/>
                <a:ea typeface="Arial" pitchFamily="34" charset="-122"/>
                <a:cs typeface="Arial" pitchFamily="34" charset="-120"/>
              </a:rPr>
              <a:t>שם: ______________________   ת.ז.: ______________</a:t>
            </a:r>
            <a:endParaRPr lang="he-IL"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t"/>
          <a:lstStyle/>
          <a:p>
            <a:pPr rtl="1" algn="r" indent="0" marL="0">
              <a:buNone/>
            </a:pPr>
            <a:r>
              <a:rPr lang="he-IL" altLang="en-US" sz="3000" b="1" dirty="0">
                <a:solidFill>
                  <a:srgbClr val="1F3A5F"/>
                </a:solidFill>
                <a:latin typeface="Arial" pitchFamily="34" charset="0"/>
                <a:ea typeface="Arial" pitchFamily="34" charset="-122"/>
                <a:cs typeface="Arial" pitchFamily="34" charset="-120"/>
              </a:rPr>
              <a:t>רקע</a:t>
            </a:r>
            <a:endParaRPr lang="he-IL" sz="3000" dirty="0"/>
          </a:p>
        </p:txBody>
      </p:sp>
      <p:sp>
        <p:nvSpPr>
          <p:cNvPr id="3" name="Shape 1"/>
          <p:cNvSpPr/>
          <p:nvPr/>
        </p:nvSpPr>
        <p:spPr>
          <a:xfrm>
            <a:off x="457200" y="1051560"/>
            <a:ext cx="8229600" cy="3566160"/>
          </a:xfrm>
          <a:prstGeom prst="roundRect">
            <a:avLst>
              <a:gd name="adj" fmla="val 2564"/>
            </a:avLst>
          </a:prstGeom>
          <a:solidFill>
            <a:srgbClr val="EAF0F7"/>
          </a:solidFill>
          <a:ln w="12700">
            <a:solidFill>
              <a:srgbClr val="EAF0F7"/>
            </a:solidFill>
            <a:prstDash val="solid"/>
          </a:ln>
        </p:spPr>
      </p:sp>
      <p:sp>
        <p:nvSpPr>
          <p:cNvPr id="4" name="Text 2"/>
          <p:cNvSpPr txBox="1"/>
          <p:nvPr/>
        </p:nvSpPr>
        <p:spPr>
          <a:xfrm>
            <a:off x="731520" y="1280160"/>
            <a:ext cx="7680960" cy="3108960"/>
          </a:xfrm>
          <a:prstGeom prst="rect">
            <a:avLst/>
          </a:prstGeom>
          <a:noFill/>
          <a:ln/>
        </p:spPr>
        <p:txBody>
          <a:bodyPr wrap="square" lIns="0" tIns="0" rIns="0" bIns="0" rtlCol="0" anchor="t"/>
          <a:lstStyle/>
          <a:p>
            <a:pPr rtl="1" algn="just" indent="0" marL="0">
              <a:lnSpc>
                <a:spcPct val="115000"/>
              </a:lnSpc>
              <a:buNone/>
            </a:pPr>
            <a:r>
              <a:rPr lang="he-IL" altLang="en-US" sz="1400" dirty="0">
                <a:solidFill>
                  <a:srgbClr val="22303F"/>
                </a:solidFill>
                <a:latin typeface="Arial" pitchFamily="34" charset="0"/>
                <a:ea typeface="Arial" pitchFamily="34" charset="-122"/>
                <a:cs typeface="Arial" pitchFamily="34" charset="-120"/>
              </a:rPr>
              <a:t>בית הסוהר הוא מוסד שבו סמכות הסגל כמעט מוחלטת, ובכל זאת הסדר היומיומי באגף תלוי בשיתוף פעולה של האסירים. ספרקס ובוטומס (1995) טענו שסדר בבתי סוהר אינו מתקיים בכוח בלבד אלא נשען על תחושת האסירים שהמשטר הוגן ושמי שמפעיל אותו ראוי לציות, ותחושה זו היא הלגיטימיות: המידה שבה האסיר תופס את הסגל כמכבד, כנגיש וכהוגן בטיפול בבקשותיו. ההקשר הישראלי מוסיף לשאלה משקל, שכן במאי 2019 כ-80 אחוזים ממקומות הכליאה בישראל היו קטנים מתקן 4.5 מטרים רבועים לאסיר (יכימוביץ-כהן, 2020). על רקע זה נערך בסתיו 2021 סקר תנאי המחיה הראשון בהיקפו בשירות בתי הסוהר, בקרב 2,363 שפוטים ו-1,427 עצורים, ובו נמצא שהלגיטימיות ממתנת את הקשר בין תנאי המחיה לבין שביעות הרצון מפעילויות החינוך, הטיפול והשיקום (ועקנין, 2024). המחקר הנוכחי לוקח מאותו מערך נתונים חוט אחד ובוחן את הקשר הישיר בין רווחתו הנפשית של האסיר לבין האופן שבו הוא תופס את לגיטימיות הסגל, בקרב שפוטים בלבד, משום שלשפוט יש אופק ידוע ושהות ממושכת יותר מול אותו סגל.</a:t>
            </a:r>
            <a:endParaRPr lang="he-IL" sz="1400" dirty="0"/>
          </a:p>
        </p:txBody>
      </p:sp>
      <p:sp>
        <p:nvSpPr>
          <p:cNvPr id="5" name="Text 3"/>
          <p:cNvSpPr txBox="1"/>
          <p:nvPr/>
        </p:nvSpPr>
        <p:spPr>
          <a:xfrm>
            <a:off x="457200" y="4754880"/>
            <a:ext cx="6858000" cy="274320"/>
          </a:xfrm>
          <a:prstGeom prst="rect">
            <a:avLst/>
          </a:prstGeom>
          <a:noFill/>
          <a:ln/>
        </p:spPr>
        <p:txBody>
          <a:bodyPr wrap="square" lIns="0" tIns="0" rIns="0" bIns="0" rtlCol="0" anchor="t"/>
          <a:lstStyle/>
          <a:p>
            <a:pPr rtl="1" algn="r" indent="0" marL="0">
              <a:buNone/>
            </a:pPr>
            <a:r>
              <a:rPr lang="he-IL" altLang="en-US" sz="1000" dirty="0">
                <a:solidFill>
                  <a:srgbClr val="5B6B7C"/>
                </a:solidFill>
                <a:latin typeface="Arial" pitchFamily="34" charset="0"/>
                <a:ea typeface="Arial" pitchFamily="34" charset="-122"/>
                <a:cs typeface="Arial" pitchFamily="34" charset="-120"/>
              </a:rPr>
              <a:t>רווחה נפשית ותפיסת הלגיטימיות של סגל הכליאה בקרב אסירים שפוטים בישראל</a:t>
            </a:r>
            <a:endParaRPr lang="he-IL" sz="1000" dirty="0"/>
          </a:p>
        </p:txBody>
      </p:sp>
      <p:sp>
        <p:nvSpPr>
          <p:cNvPr id="6" name="Text 4"/>
          <p:cNvSpPr txBox="1"/>
          <p:nvPr/>
        </p:nvSpPr>
        <p:spPr>
          <a:xfrm>
            <a:off x="8229600" y="4754880"/>
            <a:ext cx="457200" cy="274320"/>
          </a:xfrm>
          <a:prstGeom prst="rect">
            <a:avLst/>
          </a:prstGeom>
          <a:noFill/>
          <a:ln/>
        </p:spPr>
        <p:txBody>
          <a:bodyPr wrap="square" lIns="0" tIns="0" rIns="0" bIns="0" rtlCol="0" anchor="ctr"/>
          <a:lstStyle/>
          <a:p>
            <a:pPr algn="l" indent="0" marL="0">
              <a:buNone/>
            </a:pPr>
            <a:r>
              <a:rPr lang="en-US" sz="1000" dirty="0">
                <a:solidFill>
                  <a:srgbClr val="5B6B7C"/>
                </a:solidFill>
                <a:latin typeface="Arial" pitchFamily="34" charset="0"/>
                <a:ea typeface="Arial" pitchFamily="34" charset="-122"/>
                <a:cs typeface="Arial"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t"/>
          <a:lstStyle/>
          <a:p>
            <a:pPr rtl="1" algn="r" indent="0" marL="0">
              <a:buNone/>
            </a:pPr>
            <a:r>
              <a:rPr lang="he-IL" altLang="en-US" sz="3000" b="1" dirty="0">
                <a:solidFill>
                  <a:srgbClr val="1F3A5F"/>
                </a:solidFill>
                <a:latin typeface="Arial" pitchFamily="34" charset="0"/>
                <a:ea typeface="Arial" pitchFamily="34" charset="-122"/>
                <a:cs typeface="Arial" pitchFamily="34" charset="-120"/>
              </a:rPr>
              <a:t>סקירת ספרות</a:t>
            </a:r>
            <a:endParaRPr lang="he-IL" sz="3000" dirty="0"/>
          </a:p>
        </p:txBody>
      </p:sp>
      <p:sp>
        <p:nvSpPr>
          <p:cNvPr id="3" name="Shape 1"/>
          <p:cNvSpPr/>
          <p:nvPr/>
        </p:nvSpPr>
        <p:spPr>
          <a:xfrm>
            <a:off x="457200" y="1051560"/>
            <a:ext cx="8229600" cy="3566160"/>
          </a:xfrm>
          <a:prstGeom prst="roundRect">
            <a:avLst>
              <a:gd name="adj" fmla="val 2564"/>
            </a:avLst>
          </a:prstGeom>
          <a:solidFill>
            <a:srgbClr val="EAF0F7"/>
          </a:solidFill>
          <a:ln w="12700">
            <a:solidFill>
              <a:srgbClr val="EAF0F7"/>
            </a:solidFill>
            <a:prstDash val="solid"/>
          </a:ln>
        </p:spPr>
      </p:sp>
      <p:sp>
        <p:nvSpPr>
          <p:cNvPr id="4" name="Text 2"/>
          <p:cNvSpPr txBox="1"/>
          <p:nvPr/>
        </p:nvSpPr>
        <p:spPr>
          <a:xfrm>
            <a:off x="731520" y="1234440"/>
            <a:ext cx="7680960" cy="3246120"/>
          </a:xfrm>
          <a:prstGeom prst="rect">
            <a:avLst/>
          </a:prstGeom>
          <a:noFill/>
          <a:ln/>
        </p:spPr>
        <p:txBody>
          <a:bodyPr wrap="square" lIns="0" tIns="0" rIns="0" bIns="0" rtlCol="0" anchor="t"/>
          <a:lstStyle/>
          <a:p>
            <a:pPr rtl="1" algn="just" indent="0" marL="0">
              <a:lnSpc>
                <a:spcPct val="115000"/>
              </a:lnSpc>
              <a:buNone/>
            </a:pPr>
            <a:r>
              <a:rPr lang="he-IL" altLang="en-US" sz="1250" dirty="0">
                <a:solidFill>
                  <a:srgbClr val="22303F"/>
                </a:solidFill>
                <a:latin typeface="Arial" pitchFamily="34" charset="0"/>
                <a:ea typeface="Arial" pitchFamily="34" charset="-122"/>
                <a:cs typeface="Arial" pitchFamily="34" charset="-120"/>
              </a:rPr>
              <a:t>הספרות על הסתגלות למאסר עברה מתיאור כללי של כאבי המאסר לבחינה של ההבדלים בין בתי סוהר ובין אסירים. אוטי וליבלינג (2024) זיהו, על בסיס 518 סקרי איכות חיים באנגליה ובוויילס, שמתחת לסף של 3.05 ביחסי סגל ואסירים עולים בחדות שיעורי האלימות והפגיעה העצמית, וון גינקן ואחרים (2019) מצאו בקרב 4,538 אסירים בהולנד שתפיסות אישיות של אוטונומיה וביטחון קשורות לרווחה הנפשית. במערך אורך באוסטרליה הראו סרג'נט ואחרים (2026) שצדק פרוצדורלי מעלה את הרווחה הנפשית ושהיחסים עם הסגל הם המנגנון המתווך. בתחום הלגיטימיות ניתחו ברנטון-סמית ומקארתי (2016) סקר של יותר מ-3,000 אסירים ומצאו שההוגנות הפרוצדורלית היא המנבא החזק ביותר של לגיטימיות, ופרנקה ואחרים (2010) הראו בניסוי אקראי שדלות סביבתית וחוויות שליליות הן שמכרסמות בלגיטימיות במהלך המאסר. בישראל מצא ועקנין (2024) לגיטימיות גבוהה יחסית, גבוהה יותר בקרב שפוטים מאשר בקרב עצורים, והציע לראות בה כלי ניהולי באגף. הקשר הישיר בין רווחה נפשית ללגיטימיות בקרב שפוטים טרם נבחן, וזהו הפער שהמחקר הנוכחי מבקש למלא.</a:t>
            </a:r>
            <a:endParaRPr lang="he-IL" sz="1250" dirty="0"/>
          </a:p>
        </p:txBody>
      </p:sp>
      <p:sp>
        <p:nvSpPr>
          <p:cNvPr id="5" name="Text 3"/>
          <p:cNvSpPr txBox="1"/>
          <p:nvPr/>
        </p:nvSpPr>
        <p:spPr>
          <a:xfrm>
            <a:off x="457200" y="4754880"/>
            <a:ext cx="6858000" cy="274320"/>
          </a:xfrm>
          <a:prstGeom prst="rect">
            <a:avLst/>
          </a:prstGeom>
          <a:noFill/>
          <a:ln/>
        </p:spPr>
        <p:txBody>
          <a:bodyPr wrap="square" lIns="0" tIns="0" rIns="0" bIns="0" rtlCol="0" anchor="t"/>
          <a:lstStyle/>
          <a:p>
            <a:pPr rtl="1" algn="r" indent="0" marL="0">
              <a:buNone/>
            </a:pPr>
            <a:r>
              <a:rPr lang="he-IL" altLang="en-US" sz="1000" dirty="0">
                <a:solidFill>
                  <a:srgbClr val="5B6B7C"/>
                </a:solidFill>
                <a:latin typeface="Arial" pitchFamily="34" charset="0"/>
                <a:ea typeface="Arial" pitchFamily="34" charset="-122"/>
                <a:cs typeface="Arial" pitchFamily="34" charset="-120"/>
              </a:rPr>
              <a:t>רווחה נפשית ותפיסת הלגיטימיות של סגל הכליאה בקרב אסירים שפוטים בישראל</a:t>
            </a:r>
            <a:endParaRPr lang="he-IL" sz="1000" dirty="0"/>
          </a:p>
        </p:txBody>
      </p:sp>
      <p:sp>
        <p:nvSpPr>
          <p:cNvPr id="6" name="Text 4"/>
          <p:cNvSpPr txBox="1"/>
          <p:nvPr/>
        </p:nvSpPr>
        <p:spPr>
          <a:xfrm>
            <a:off x="8229600" y="4754880"/>
            <a:ext cx="457200" cy="274320"/>
          </a:xfrm>
          <a:prstGeom prst="rect">
            <a:avLst/>
          </a:prstGeom>
          <a:noFill/>
          <a:ln/>
        </p:spPr>
        <p:txBody>
          <a:bodyPr wrap="square" lIns="0" tIns="0" rIns="0" bIns="0" rtlCol="0" anchor="ctr"/>
          <a:lstStyle/>
          <a:p>
            <a:pPr algn="l" indent="0" marL="0">
              <a:buNone/>
            </a:pPr>
            <a:r>
              <a:rPr lang="en-US" sz="1000" dirty="0">
                <a:solidFill>
                  <a:srgbClr val="5B6B7C"/>
                </a:solidFill>
                <a:latin typeface="Arial" pitchFamily="34" charset="0"/>
                <a:ea typeface="Arial" pitchFamily="34" charset="-122"/>
                <a:cs typeface="Arial"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t"/>
          <a:lstStyle/>
          <a:p>
            <a:pPr rtl="1" algn="r" indent="0" marL="0">
              <a:buNone/>
            </a:pPr>
            <a:r>
              <a:rPr lang="he-IL" altLang="en-US" sz="3000" b="1" dirty="0">
                <a:solidFill>
                  <a:srgbClr val="1F3A5F"/>
                </a:solidFill>
                <a:latin typeface="Arial" pitchFamily="34" charset="0"/>
                <a:ea typeface="Arial" pitchFamily="34" charset="-122"/>
                <a:cs typeface="Arial" pitchFamily="34" charset="-120"/>
              </a:rPr>
              <a:t>שאלת המחקר</a:t>
            </a:r>
            <a:endParaRPr lang="he-IL" sz="3000" dirty="0"/>
          </a:p>
        </p:txBody>
      </p:sp>
      <p:sp>
        <p:nvSpPr>
          <p:cNvPr id="3" name="Shape 1"/>
          <p:cNvSpPr/>
          <p:nvPr/>
        </p:nvSpPr>
        <p:spPr>
          <a:xfrm>
            <a:off x="457200" y="1051560"/>
            <a:ext cx="8229600" cy="914400"/>
          </a:xfrm>
          <a:prstGeom prst="roundRect">
            <a:avLst>
              <a:gd name="adj" fmla="val 12000"/>
            </a:avLst>
          </a:prstGeom>
          <a:solidFill>
            <a:srgbClr val="1F3A5F"/>
          </a:solidFill>
          <a:ln w="12700">
            <a:solidFill>
              <a:srgbClr val="1F3A5F"/>
            </a:solidFill>
            <a:prstDash val="solid"/>
          </a:ln>
        </p:spPr>
      </p:sp>
      <p:sp>
        <p:nvSpPr>
          <p:cNvPr id="4" name="Text 2"/>
          <p:cNvSpPr txBox="1"/>
          <p:nvPr/>
        </p:nvSpPr>
        <p:spPr>
          <a:xfrm>
            <a:off x="731520" y="1115568"/>
            <a:ext cx="7680960" cy="786384"/>
          </a:xfrm>
          <a:prstGeom prst="rect">
            <a:avLst/>
          </a:prstGeom>
          <a:noFill/>
          <a:ln/>
        </p:spPr>
        <p:txBody>
          <a:bodyPr wrap="square" lIns="0" tIns="0" rIns="0" bIns="0" rtlCol="0" anchor="ctr"/>
          <a:lstStyle/>
          <a:p>
            <a:pPr rtl="1" algn="r" indent="0" marL="0">
              <a:buNone/>
            </a:pPr>
            <a:r>
              <a:rPr lang="he-IL" altLang="en-US" sz="1700" b="1" dirty="0">
                <a:solidFill>
                  <a:srgbClr val="FFFFFF"/>
                </a:solidFill>
                <a:latin typeface="Arial" pitchFamily="34" charset="0"/>
                <a:ea typeface="Arial" pitchFamily="34" charset="-122"/>
                <a:cs typeface="Arial" pitchFamily="34" charset="-120"/>
              </a:rPr>
              <a:t>באיזו מידה קיים קשר בין רווחה נפשית לבין תפיסת הלגיטימיות של סגל הכליאה בקרב אסירים שפוטים בלבד?</a:t>
            </a:r>
            <a:endParaRPr lang="he-IL" sz="1700" dirty="0"/>
          </a:p>
        </p:txBody>
      </p:sp>
      <p:sp>
        <p:nvSpPr>
          <p:cNvPr id="5" name="Shape 3"/>
          <p:cNvSpPr/>
          <p:nvPr/>
        </p:nvSpPr>
        <p:spPr>
          <a:xfrm>
            <a:off x="457200" y="2148840"/>
            <a:ext cx="8229600" cy="2468880"/>
          </a:xfrm>
          <a:prstGeom prst="roundRect">
            <a:avLst>
              <a:gd name="adj" fmla="val 3704"/>
            </a:avLst>
          </a:prstGeom>
          <a:solidFill>
            <a:srgbClr val="EAF0F7"/>
          </a:solidFill>
          <a:ln w="12700">
            <a:solidFill>
              <a:srgbClr val="EAF0F7"/>
            </a:solidFill>
            <a:prstDash val="solid"/>
          </a:ln>
        </p:spPr>
      </p:sp>
      <p:sp>
        <p:nvSpPr>
          <p:cNvPr id="6" name="Text 4"/>
          <p:cNvSpPr txBox="1"/>
          <p:nvPr/>
        </p:nvSpPr>
        <p:spPr>
          <a:xfrm>
            <a:off x="731520" y="2331720"/>
            <a:ext cx="7680960" cy="2148840"/>
          </a:xfrm>
          <a:prstGeom prst="rect">
            <a:avLst/>
          </a:prstGeom>
          <a:noFill/>
          <a:ln/>
        </p:spPr>
        <p:txBody>
          <a:bodyPr wrap="square" lIns="0" tIns="0" rIns="0" bIns="0" rtlCol="0" anchor="t"/>
          <a:lstStyle/>
          <a:p>
            <a:pPr rtl="1" algn="just" indent="0" marL="0">
              <a:lnSpc>
                <a:spcPct val="115000"/>
              </a:lnSpc>
              <a:buNone/>
            </a:pPr>
            <a:r>
              <a:rPr lang="he-IL" altLang="en-US" sz="1300" dirty="0">
                <a:solidFill>
                  <a:srgbClr val="22303F"/>
                </a:solidFill>
                <a:latin typeface="Arial" pitchFamily="34" charset="0"/>
                <a:ea typeface="Arial" pitchFamily="34" charset="-122"/>
                <a:cs typeface="Arial" pitchFamily="34" charset="-120"/>
              </a:rPr>
              <a:t>המשתנה התלוי הוא תפיסת הלגיטימיות של הסגל, הנמדדת בשלושה פריטים מתוך שאלון סקר תנאי המחיה: האפשרות לדבר עם הסוהרים כשמודאגים או עצובים, היחס המכבד של הסוהרים ושביעות הרצון מהטיפול בבקשות (α = 0.67). המשתנה הבלתי תלוי הוא הרווחה הנפשית, הנמדדת בחמישה פריטים של בריאות גופנית ונפשית, שיפור בבריאות מאז המאסר, שמחה ושביעות רצון מהחיים בחודש האחרון (α = 0.81), ושני הסולמות נעים בטווח של 1 עד 5. השערת המחקר היא שיימצא קשר חיובי מובהק בין רווחה נפשית לבין לגיטימיות, כך שככל שהרווחה גבוהה יותר, הלגיטימיות המיוחסת לסגל גבוהה יותר, ולהפך. המחקר הוא מחקר כמותי מתאמי במערך חתך, המבוסס על נתונים סינתטיים שנבנו על פי סקר שירות בתי הסוהר משנת 2021 וצומצמו ל-2,379 שפוטים, והניתוח נערך ב-SPSS וכלל סטטיסטיקה תיאורית, בדיקת מהימנות ומתאמי פירסון וספירמן.</a:t>
            </a:r>
            <a:endParaRPr lang="he-IL" sz="1300" dirty="0"/>
          </a:p>
        </p:txBody>
      </p:sp>
      <p:sp>
        <p:nvSpPr>
          <p:cNvPr id="7" name="Text 5"/>
          <p:cNvSpPr txBox="1"/>
          <p:nvPr/>
        </p:nvSpPr>
        <p:spPr>
          <a:xfrm>
            <a:off x="457200" y="4754880"/>
            <a:ext cx="6858000" cy="274320"/>
          </a:xfrm>
          <a:prstGeom prst="rect">
            <a:avLst/>
          </a:prstGeom>
          <a:noFill/>
          <a:ln/>
        </p:spPr>
        <p:txBody>
          <a:bodyPr wrap="square" lIns="0" tIns="0" rIns="0" bIns="0" rtlCol="0" anchor="t"/>
          <a:lstStyle/>
          <a:p>
            <a:pPr rtl="1" algn="r" indent="0" marL="0">
              <a:buNone/>
            </a:pPr>
            <a:r>
              <a:rPr lang="he-IL" altLang="en-US" sz="1000" dirty="0">
                <a:solidFill>
                  <a:srgbClr val="5B6B7C"/>
                </a:solidFill>
                <a:latin typeface="Arial" pitchFamily="34" charset="0"/>
                <a:ea typeface="Arial" pitchFamily="34" charset="-122"/>
                <a:cs typeface="Arial" pitchFamily="34" charset="-120"/>
              </a:rPr>
              <a:t>רווחה נפשית ותפיסת הלגיטימיות של סגל הכליאה בקרב אסירים שפוטים בישראל</a:t>
            </a:r>
            <a:endParaRPr lang="he-IL" sz="1000" dirty="0"/>
          </a:p>
        </p:txBody>
      </p:sp>
      <p:sp>
        <p:nvSpPr>
          <p:cNvPr id="8" name="Text 6"/>
          <p:cNvSpPr txBox="1"/>
          <p:nvPr/>
        </p:nvSpPr>
        <p:spPr>
          <a:xfrm>
            <a:off x="8229600" y="4754880"/>
            <a:ext cx="457200" cy="274320"/>
          </a:xfrm>
          <a:prstGeom prst="rect">
            <a:avLst/>
          </a:prstGeom>
          <a:noFill/>
          <a:ln/>
        </p:spPr>
        <p:txBody>
          <a:bodyPr wrap="square" lIns="0" tIns="0" rIns="0" bIns="0" rtlCol="0" anchor="ctr"/>
          <a:lstStyle/>
          <a:p>
            <a:pPr algn="l" indent="0" marL="0">
              <a:buNone/>
            </a:pPr>
            <a:r>
              <a:rPr lang="en-US" sz="1000" dirty="0">
                <a:solidFill>
                  <a:srgbClr val="5B6B7C"/>
                </a:solidFill>
                <a:latin typeface="Arial" pitchFamily="34" charset="0"/>
                <a:ea typeface="Arial" pitchFamily="34" charset="-122"/>
                <a:cs typeface="Arial"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t"/>
          <a:lstStyle/>
          <a:p>
            <a:pPr rtl="1" algn="r" indent="0" marL="0">
              <a:buNone/>
            </a:pPr>
            <a:r>
              <a:rPr lang="he-IL" altLang="en-US" sz="3000" b="1" dirty="0">
                <a:solidFill>
                  <a:srgbClr val="1F3A5F"/>
                </a:solidFill>
                <a:latin typeface="Arial" pitchFamily="34" charset="0"/>
                <a:ea typeface="Arial" pitchFamily="34" charset="-122"/>
                <a:cs typeface="Arial" pitchFamily="34" charset="-120"/>
              </a:rPr>
              <a:t>ממצאים: אוכלוסיית המחקר</a:t>
            </a:r>
            <a:endParaRPr lang="he-IL" sz="3000" dirty="0"/>
          </a:p>
        </p:txBody>
      </p:sp>
      <p:graphicFrame>
        <p:nvGraphicFramePr>
          <p:cNvPr id="3" name="Chart 0" descr=""/>
          <p:cNvGraphicFramePr/>
          <p:nvPr/>
        </p:nvGraphicFramePr>
        <p:xfrm>
          <a:off x="3657600" y="1005840"/>
          <a:ext cx="5029200" cy="3611880"/>
        </p:xfrm>
        <a:graphic xmlns:a="http://schemas.openxmlformats.org/drawingml/2006/main">
          <a:graphicData uri="http://schemas.openxmlformats.org/drawingml/2006/chart">
            <c:chart xmlns:c="http://schemas.openxmlformats.org/drawingml/2006/chart" r:id="rId1"/>
          </a:graphicData>
        </a:graphic>
      </p:graphicFrame>
      <p:sp>
        <p:nvSpPr>
          <p:cNvPr id="4" name="Shape 1"/>
          <p:cNvSpPr/>
          <p:nvPr/>
        </p:nvSpPr>
        <p:spPr>
          <a:xfrm>
            <a:off x="457200" y="1051560"/>
            <a:ext cx="3017520" cy="3566160"/>
          </a:xfrm>
          <a:prstGeom prst="roundRect">
            <a:avLst>
              <a:gd name="adj" fmla="val 3030"/>
            </a:avLst>
          </a:prstGeom>
          <a:solidFill>
            <a:srgbClr val="EAF0F7"/>
          </a:solidFill>
          <a:ln w="12700">
            <a:solidFill>
              <a:srgbClr val="EAF0F7"/>
            </a:solidFill>
            <a:prstDash val="solid"/>
          </a:ln>
        </p:spPr>
      </p:sp>
      <p:sp>
        <p:nvSpPr>
          <p:cNvPr id="5" name="Text 2"/>
          <p:cNvSpPr txBox="1"/>
          <p:nvPr/>
        </p:nvSpPr>
        <p:spPr>
          <a:xfrm>
            <a:off x="640080" y="1234440"/>
            <a:ext cx="2651760" cy="3246120"/>
          </a:xfrm>
          <a:prstGeom prst="rect">
            <a:avLst/>
          </a:prstGeom>
          <a:noFill/>
          <a:ln/>
        </p:spPr>
        <p:txBody>
          <a:bodyPr wrap="square" lIns="0" tIns="0" rIns="0" bIns="0" rtlCol="0" anchor="t"/>
          <a:lstStyle/>
          <a:p>
            <a:pPr rtl="1" algn="just" indent="0" marL="0">
              <a:lnSpc>
                <a:spcPct val="115000"/>
              </a:lnSpc>
              <a:buNone/>
            </a:pPr>
            <a:r>
              <a:rPr lang="he-IL" altLang="en-US" sz="1200" dirty="0">
                <a:solidFill>
                  <a:srgbClr val="22303F"/>
                </a:solidFill>
                <a:latin typeface="Arial" pitchFamily="34" charset="0"/>
                <a:ea typeface="Arial" pitchFamily="34" charset="-122"/>
                <a:cs typeface="Arial" pitchFamily="34" charset="-120"/>
              </a:rPr>
              <a:t>אוכלוסיית המחקר כוללת 2,379 אסירים שפוטים, רובם המכריע גברים, בגיל ממוצע של 37.9 שנים ובטווח של 18 עד 82. מעט יותר ממחציתם לא יהודים, כמחציתם במאסרם הראשון ולמעלה ממחציתם ריצו מאסר קודם. יותר משני שלישים שוהים באגף הנוכחי מעל שלושה חודשים, וכאחד מכל חמישה נמצא במסלול שיקום. ההתפלגות דומה לזו שדווחה בסקר המקורי (ועקנין, 2024).</a:t>
            </a:r>
            <a:endParaRPr lang="he-IL" sz="1200" dirty="0"/>
          </a:p>
        </p:txBody>
      </p:sp>
      <p:sp>
        <p:nvSpPr>
          <p:cNvPr id="6" name="Text 3"/>
          <p:cNvSpPr txBox="1"/>
          <p:nvPr/>
        </p:nvSpPr>
        <p:spPr>
          <a:xfrm>
            <a:off x="457200" y="4754880"/>
            <a:ext cx="6858000" cy="274320"/>
          </a:xfrm>
          <a:prstGeom prst="rect">
            <a:avLst/>
          </a:prstGeom>
          <a:noFill/>
          <a:ln/>
        </p:spPr>
        <p:txBody>
          <a:bodyPr wrap="square" lIns="0" tIns="0" rIns="0" bIns="0" rtlCol="0" anchor="t"/>
          <a:lstStyle/>
          <a:p>
            <a:pPr rtl="1" algn="r" indent="0" marL="0">
              <a:buNone/>
            </a:pPr>
            <a:r>
              <a:rPr lang="he-IL" altLang="en-US" sz="1000" dirty="0">
                <a:solidFill>
                  <a:srgbClr val="5B6B7C"/>
                </a:solidFill>
                <a:latin typeface="Arial" pitchFamily="34" charset="0"/>
                <a:ea typeface="Arial" pitchFamily="34" charset="-122"/>
                <a:cs typeface="Arial" pitchFamily="34" charset="-120"/>
              </a:rPr>
              <a:t>רווחה נפשית ותפיסת הלגיטימיות של סגל הכליאה בקרב אסירים שפוטים בישראל</a:t>
            </a:r>
            <a:endParaRPr lang="he-IL" sz="1000" dirty="0"/>
          </a:p>
        </p:txBody>
      </p:sp>
      <p:sp>
        <p:nvSpPr>
          <p:cNvPr id="7" name="Text 4"/>
          <p:cNvSpPr txBox="1"/>
          <p:nvPr/>
        </p:nvSpPr>
        <p:spPr>
          <a:xfrm>
            <a:off x="8229600" y="4754880"/>
            <a:ext cx="457200" cy="274320"/>
          </a:xfrm>
          <a:prstGeom prst="rect">
            <a:avLst/>
          </a:prstGeom>
          <a:noFill/>
          <a:ln/>
        </p:spPr>
        <p:txBody>
          <a:bodyPr wrap="square" lIns="0" tIns="0" rIns="0" bIns="0" rtlCol="0" anchor="ctr"/>
          <a:lstStyle/>
          <a:p>
            <a:pPr algn="l" indent="0" marL="0">
              <a:buNone/>
            </a:pPr>
            <a:r>
              <a:rPr lang="en-US" sz="1000" dirty="0">
                <a:solidFill>
                  <a:srgbClr val="5B6B7C"/>
                </a:solidFill>
                <a:latin typeface="Arial" pitchFamily="34" charset="0"/>
                <a:ea typeface="Arial" pitchFamily="34" charset="-122"/>
                <a:cs typeface="Arial"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t"/>
          <a:lstStyle/>
          <a:p>
            <a:pPr rtl="1" algn="r" indent="0" marL="0">
              <a:buNone/>
            </a:pPr>
            <a:r>
              <a:rPr lang="he-IL" altLang="en-US" sz="3000" b="1" dirty="0">
                <a:solidFill>
                  <a:srgbClr val="1F3A5F"/>
                </a:solidFill>
                <a:latin typeface="Arial" pitchFamily="34" charset="0"/>
                <a:ea typeface="Arial" pitchFamily="34" charset="-122"/>
                <a:cs typeface="Arial" pitchFamily="34" charset="-120"/>
              </a:rPr>
              <a:t>ממצאים: הקשר בין רווחה נפשית ללגיטימיות</a:t>
            </a:r>
            <a:endParaRPr lang="he-IL" sz="3000" dirty="0"/>
          </a:p>
        </p:txBody>
      </p:sp>
      <p:sp>
        <p:nvSpPr>
          <p:cNvPr id="3" name="Shape 1"/>
          <p:cNvSpPr/>
          <p:nvPr/>
        </p:nvSpPr>
        <p:spPr>
          <a:xfrm>
            <a:off x="6035040" y="1005840"/>
            <a:ext cx="2651760" cy="2377440"/>
          </a:xfrm>
          <a:prstGeom prst="roundRect">
            <a:avLst>
              <a:gd name="adj" fmla="val 4615"/>
            </a:avLst>
          </a:prstGeom>
          <a:solidFill>
            <a:srgbClr val="1F3A5F"/>
          </a:solidFill>
          <a:ln w="12700">
            <a:solidFill>
              <a:srgbClr val="1F3A5F"/>
            </a:solidFill>
            <a:prstDash val="solid"/>
          </a:ln>
        </p:spPr>
      </p:sp>
      <p:sp>
        <p:nvSpPr>
          <p:cNvPr id="4" name="Text 2"/>
          <p:cNvSpPr txBox="1"/>
          <p:nvPr/>
        </p:nvSpPr>
        <p:spPr>
          <a:xfrm>
            <a:off x="6126480" y="1234440"/>
            <a:ext cx="2468880" cy="731520"/>
          </a:xfrm>
          <a:prstGeom prst="rect">
            <a:avLst/>
          </a:prstGeom>
          <a:noFill/>
          <a:ln/>
        </p:spPr>
        <p:txBody>
          <a:bodyPr wrap="square" lIns="0" tIns="0" rIns="0" bIns="0" rtlCol="0" anchor="ctr"/>
          <a:lstStyle/>
          <a:p>
            <a:pPr algn="ctr" indent="0" marL="0">
              <a:buNone/>
            </a:pPr>
            <a:r>
              <a:rPr lang="en-US" sz="4000" b="1" dirty="0">
                <a:solidFill>
                  <a:srgbClr val="E8892B"/>
                </a:solidFill>
                <a:latin typeface="Arial" pitchFamily="34" charset="0"/>
                <a:ea typeface="Arial" pitchFamily="34" charset="-122"/>
                <a:cs typeface="Arial" pitchFamily="34" charset="-120"/>
              </a:rPr>
              <a:t>r = 0.32</a:t>
            </a:r>
            <a:endParaRPr lang="en-US" sz="4000" dirty="0"/>
          </a:p>
        </p:txBody>
      </p:sp>
      <p:sp>
        <p:nvSpPr>
          <p:cNvPr id="5" name="Text 3"/>
          <p:cNvSpPr txBox="1"/>
          <p:nvPr/>
        </p:nvSpPr>
        <p:spPr>
          <a:xfrm>
            <a:off x="6217920" y="2057400"/>
            <a:ext cx="2286000" cy="1188720"/>
          </a:xfrm>
          <a:prstGeom prst="rect">
            <a:avLst/>
          </a:prstGeom>
          <a:noFill/>
          <a:ln/>
        </p:spPr>
        <p:txBody>
          <a:bodyPr wrap="square" lIns="0" tIns="0" rIns="0" bIns="0" rtlCol="0" anchor="t"/>
          <a:lstStyle/>
          <a:p>
            <a:pPr rtl="1" algn="ctr" indent="0" marL="0">
              <a:buNone/>
            </a:pPr>
            <a:r>
              <a:rPr lang="he-IL" altLang="en-US" sz="1200" dirty="0">
                <a:solidFill>
                  <a:srgbClr val="CFDBEA"/>
                </a:solidFill>
                <a:latin typeface="Arial" pitchFamily="34" charset="0"/>
                <a:ea typeface="Arial" pitchFamily="34" charset="-122"/>
                <a:cs typeface="Arial" pitchFamily="34" charset="-120"/>
              </a:rPr>
              <a:t>מתאם פירסון בין רווחה נפשית ללגיטימיות, p &lt; 0.001, N = 2,344. מתאם ספירמן rs = 0.34.</a:t>
            </a:r>
            <a:endParaRPr lang="he-IL" sz="1200" dirty="0"/>
          </a:p>
        </p:txBody>
      </p:sp>
      <p:graphicFrame>
        <p:nvGraphicFramePr>
          <p:cNvPr id="6" name="Chart 0" descr=""/>
          <p:cNvGraphicFramePr/>
          <p:nvPr/>
        </p:nvGraphicFramePr>
        <p:xfrm>
          <a:off x="457200" y="1005840"/>
          <a:ext cx="5394960" cy="2377440"/>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457200" y="3520440"/>
            <a:ext cx="8229600" cy="1097280"/>
          </a:xfrm>
          <a:prstGeom prst="roundRect">
            <a:avLst>
              <a:gd name="adj" fmla="val 8333"/>
            </a:avLst>
          </a:prstGeom>
          <a:solidFill>
            <a:srgbClr val="EAF0F7"/>
          </a:solidFill>
          <a:ln w="12700">
            <a:solidFill>
              <a:srgbClr val="EAF0F7"/>
            </a:solidFill>
            <a:prstDash val="solid"/>
          </a:ln>
        </p:spPr>
      </p:sp>
      <p:sp>
        <p:nvSpPr>
          <p:cNvPr id="8" name="Text 5"/>
          <p:cNvSpPr txBox="1"/>
          <p:nvPr/>
        </p:nvSpPr>
        <p:spPr>
          <a:xfrm>
            <a:off x="685800" y="3611880"/>
            <a:ext cx="7772400" cy="960120"/>
          </a:xfrm>
          <a:prstGeom prst="rect">
            <a:avLst/>
          </a:prstGeom>
          <a:noFill/>
          <a:ln/>
        </p:spPr>
        <p:txBody>
          <a:bodyPr wrap="square" lIns="0" tIns="0" rIns="0" bIns="0" rtlCol="0" anchor="t"/>
          <a:lstStyle/>
          <a:p>
            <a:pPr rtl="1" algn="just" indent="0" marL="0">
              <a:lnSpc>
                <a:spcPct val="115000"/>
              </a:lnSpc>
              <a:buNone/>
            </a:pPr>
            <a:r>
              <a:rPr lang="he-IL" altLang="en-US" sz="1100" dirty="0">
                <a:solidFill>
                  <a:srgbClr val="22303F"/>
                </a:solidFill>
                <a:latin typeface="Arial" pitchFamily="34" charset="0"/>
                <a:ea typeface="Arial" pitchFamily="34" charset="-122"/>
                <a:cs typeface="Arial" pitchFamily="34" charset="-120"/>
              </a:rPr>
              <a:t>נמצא קשר חיובי מובהק ברמה בינונית בין רווחה נפשית ללגיטימיות, והוא קיים בכל שלושת פריטי הלגיטימיות, כשהחזק שבהם הוא האפשרות לדבר עם הסוהרים (0.29). ממוצע הלגיטימיות עמד על 4.24 (סטיית תקן 0.83) וממוצע הרווחה על 3.78 (סטיית תקן 0.87), והשפוטים ברמת הלגיטימיות הנמוכה דיווחו על רווחה ממוצעת של 3.34 לעומת 4.05 ברמה הגבוהה, פער של כ-0.7 נקודות שהוא כ-80 אחוזים מסטיית תקן. הרווחה חולקת עם הלגיטימיות כעשרה אחוזים מהשונות, ההשערה אוששה, והממצא עולה בקנה אחד עם המחקרים מהולנד, מאנגליה ומאוסטרליה.</a:t>
            </a:r>
            <a:endParaRPr lang="he-IL" sz="1100" dirty="0"/>
          </a:p>
        </p:txBody>
      </p:sp>
      <p:sp>
        <p:nvSpPr>
          <p:cNvPr id="9" name="Text 6"/>
          <p:cNvSpPr txBox="1"/>
          <p:nvPr/>
        </p:nvSpPr>
        <p:spPr>
          <a:xfrm>
            <a:off x="457200" y="4754880"/>
            <a:ext cx="6858000" cy="274320"/>
          </a:xfrm>
          <a:prstGeom prst="rect">
            <a:avLst/>
          </a:prstGeom>
          <a:noFill/>
          <a:ln/>
        </p:spPr>
        <p:txBody>
          <a:bodyPr wrap="square" lIns="0" tIns="0" rIns="0" bIns="0" rtlCol="0" anchor="t"/>
          <a:lstStyle/>
          <a:p>
            <a:pPr rtl="1" algn="r" indent="0" marL="0">
              <a:buNone/>
            </a:pPr>
            <a:r>
              <a:rPr lang="he-IL" altLang="en-US" sz="1000" dirty="0">
                <a:solidFill>
                  <a:srgbClr val="5B6B7C"/>
                </a:solidFill>
                <a:latin typeface="Arial" pitchFamily="34" charset="0"/>
                <a:ea typeface="Arial" pitchFamily="34" charset="-122"/>
                <a:cs typeface="Arial" pitchFamily="34" charset="-120"/>
              </a:rPr>
              <a:t>רווחה נפשית ותפיסת הלגיטימיות של סגל הכליאה בקרב אסירים שפוטים בישראל</a:t>
            </a:r>
            <a:endParaRPr lang="he-IL" sz="1000" dirty="0"/>
          </a:p>
        </p:txBody>
      </p:sp>
      <p:sp>
        <p:nvSpPr>
          <p:cNvPr id="10" name="Text 7"/>
          <p:cNvSpPr txBox="1"/>
          <p:nvPr/>
        </p:nvSpPr>
        <p:spPr>
          <a:xfrm>
            <a:off x="8229600" y="4754880"/>
            <a:ext cx="457200" cy="274320"/>
          </a:xfrm>
          <a:prstGeom prst="rect">
            <a:avLst/>
          </a:prstGeom>
          <a:noFill/>
          <a:ln/>
        </p:spPr>
        <p:txBody>
          <a:bodyPr wrap="square" lIns="0" tIns="0" rIns="0" bIns="0" rtlCol="0" anchor="ctr"/>
          <a:lstStyle/>
          <a:p>
            <a:pPr algn="l" indent="0" marL="0">
              <a:buNone/>
            </a:pPr>
            <a:r>
              <a:rPr lang="en-US" sz="1000" dirty="0">
                <a:solidFill>
                  <a:srgbClr val="5B6B7C"/>
                </a:solidFill>
                <a:latin typeface="Arial" pitchFamily="34" charset="0"/>
                <a:ea typeface="Arial" pitchFamily="34" charset="-122"/>
                <a:cs typeface="Arial" pitchFamily="34" charset="-120"/>
              </a:rPr>
              <a:t>6</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Slides>
  <Notes>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Calibri</vt:lpstr>
      <vt:lpstr>Office Theme</vt:lpstr>
      <vt:lpstr>Slide 1</vt:lpstr>
      <vt:lpstr>Slide 2</vt:lpstr>
      <vt:lpstr>Slide 3</vt:lpstr>
      <vt:lpstr>Slide 4</vt:lpstr>
      <vt:lpstr>Slide 5</vt:lpstr>
      <vt:lpstr>Slide 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2026-09-14T18:09:41Z</dcterms:created>
  <dcterms:modified xsi:type="dcterms:W3CDTF">2026-09-14T18:09:41Z</dcterms:modified>
</cp:coreProperties>
</file>