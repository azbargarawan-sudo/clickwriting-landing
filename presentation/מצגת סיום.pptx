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‫[חנין | כעשר שניות]
שלום לכולם. אנחנו חנין מנסור ואולפת עבד אל חי, והמחקר שלנו עוסק באסטרטגיות ניהוליות של מנהלי בתי ספר בהתמודדות עם היעדרויות מורים לשמירה על רצף לימודי.‬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‫[חנין | כדקה]
בוקר רגיל, שבע וחצי. מורה מתקשרת ומודיעה שלא תגיע היום. בתוך כמה דקות המנהל צריך להחליט מי נכנס לכיתה, מה יקרה בשיעור, ומה יהיה המחיר עבור הצוות.
הנושא שלנו הוא היעדרויות מורים. ההיעדרות עצמה היא חלק מהחיים של כל בית ספר. מה שמעניין אותנו הוא ההחלטות שהיא מחייבת, ובמיוחד כשההיעדרויות מצטברות והמנהל צריך לשמור על רצף פדגוגי, ארגוני ורגשי.
שאלת המחקר שלנו: כיצד מנהלי בתי ספר בערים בצפון הארץ מתארים את התמודדותם עם היעדרויות מורים, ואילו אסטרטגיות ושיקולים מנחים את החלטותיהם לשמירה על רצף לימודי?
למה דווקא השאלה הזאת? כי ראינו שאותה היעדרות יכולה להסתיים בשיעור שממשיך כסדרו, או בשעת השגחה בלבד. ההבדל נקבע בהחלטות של המנהל.
המחקר שלנו חשוב כי הבנת השיקולים האלה יכולה לעזור למנהלים לבנות דרכי פעולה ששומרות על הלמידה של התלמידים.
[מעבר לאולפת]‬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‫[אולפת | כדקה ורבע]
מה למדנו מהספרות? מילר ואחרים וקלוטפלטר ואחרים מצאו שהיעדרויות מורים פוגעות בהישגי התלמידים, והפגיעה גדלה ככל שההיעדרויות מצטברות.
מה שהפתיע אותנו הוא המחקר של שפירא־לישצ'ינסקי ורוזנבלט. הם מצאו שהאקלים האתי בבית הספר קשור להיקף ההיעדרויות מרצון. כלומר, המנהל משפיע על התופעה עוד לפני שהיא מתרחשת.
ואיפה המתח? רוב המחקרים בודקים כמה מורים נעדרים, למה, ומה המחיר. בתיאוריה רצף לימודי הוא עניין פדגוגי, אבל בשבע וחצי בבוקר המנהל צריך קודם כול שמישהו יהיה בכיתה. מעט ידוע על מה שהמנהל שוקל ברגע הזה.
הקריאה שינתה גם את החשיבה שלנו. בהתחלה חשבנו שהבעיה לוגיסטית, רק למצוא ממלא מקום. היום אנחנו מבינים שרצף הוא פדגוגי, ארגוני ורגשי, ושהמנהל פועל גם לפני ההיעדרות.
[מעבר לחנין]
[רשימת מקורות, למקרה של שאלה]
הלוי, ל' (2026). המבוא בעבודה סמינריונית איכותנית [מצגת הרצאה]. סמינריון בעבודת הניהול ובמנהל חינוך, הקריה האקדמית אונו.
Clotfelter, C. T., Ladd, H. F., &amp; Vigdor, J. L. (2009). Are teacher absences worth worrying about in the United States? Education Finance and Policy, 4(2), 115-149.
Miller, R. T., Murnane, R. J., &amp; Willett, J. B. (2008). Do teacher absences impact student achievement? Longitudinal evidence from one urban school district. Educational Evaluation and Policy Analysis, 30(2), 181-200.
Shapira-Lishchinsky, O., &amp; Rosenblatt, Z. (2010). School ethical climate and teachers' voluntary absence. Journal of Educational Administration, 48(2), 164-181.‬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‫[חנין | כחמישים שניות]
כך נראית המסגרת המושגית שלנו, מימין לשמאל.
היא מתחילה בהיעדרות מורים ועוברת אל המושג המרכזי, רצף לימודי. אנחנו מבינים את הרצף בשלושה ממדים. פדגוגי, כלומר שהתוכן והלמידה ממשיכים. ארגוני, כלומר שיבוץ, מערכת שעות, והעומס על הצוות שמחליף. ורגשי, כלומר שהתלמידים נשארים עם מבוגר מוכר ומרגישים ביטחון.
הרצף הזה תלוי בקבלת החלטות ניהולית. המנהל שוקל צרכים מתחרים, בזמן קצר ובמשאבים מוגבלים. מתוך ההחלטות נגזרות אסטרטגיות מגיבות, כמו ממלא מקום או איחוד כיתות, ואסטרטגיות מונעות, כמו מאגר קבוע של ממלאי מקום וחומרי עבודה מוכנים מראש. את החוליה האחרונה הזאת, איך זה קורה בשטח, אנחנו רוצים לחקור.
[מעבר לאולפת]‬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‫[אולפת | כדקה]
איך נבדוק את זה? נשוחח עם 12 מנהלים ומנהלות של בתי ספר יסודיים ועל־יסודיים בערים בצפון הארץ, עם ותק שונה. בחרנו במנהלים כי הם מקבלי ההחלטות בעת היעדרות, ובחרנו בערים כדי לבחון את התופעה בהקשר אחיד ולהשוות בין ערים שונות.
הכלי שלנו הוא ראיון חצי מובנה. נפתח בשאלות רקע על בית הספר ועל הצוות, ואחר כך נבקש מכל מנהל לתאר את הבוקר האחרון שבו מורה נעדר, צעד אחר צעד, ולספר גם על היעדרות ממושכת. כך נשמע את השיקולים ואת הדילמות, ולא רק את הנוהל הכתוב. את הראיונות ננתח בניתוח תמטי.
ונקפיד על אתיקה: הסכמה מדעת, הקלטה רק באישור, ואנונימיות מלאה.
[מעבר לחנין]‬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‫[חנין | כארבעים שניות]
מה נחפש בראיונות? אסטרטגיות מונעות לעומת מגיבות, הבדלים בין היעדרות קצרה לממושכת, ואת האיזון בין פדגוגיה, תקציב, הוגנות כלפי הצוות שמחליף, ורווחת המורה הנעדר.
האתגר הגדול: מנהלים עלולים להציג תמונה יפה מהמציאות, ולכן נבקש דוגמאות מוחשיות. וגם לא יהיה פשוט למצוא זמן ביומן של מנהלים.
ומה יפתיע אותנו? אם יתברר שמה שמנחה את ההחלטות הוא בעיקר השקט והסדר בבית הספר ולא הרצף הלימודי. זה יערער הנחה שלנו.
[אולפת | כרבע דקה, משפט הסיום]
אם המחקר שלנו יהיה מוצלח, בסופו נבין טוב יותר איך מנהלים מאזנים, בזמן אמת, בין הצורך שמישהו יהיה בכיתה לבין הזכות של התלמידים לרצף לימודי.
תודה.
[שאלות המשך אפשריות]
למה רק מנהלים? כי השאלה היא על קבלת החלטות, והם אלה שמחליטים. במחקר המשך אפשר לשמוע גם את המורים המחליפים.
למה רק ערים? כדי לבחון את התופעה בהקשר אחיד. בתי ספר בכפרים פועלים בתנאים אחרים, וזה יכול להיות כיוון למחקר המשך.
למה ראיונות ולא שאלון? כי אנחנו רוצים להבין שיקולים ודילמות, ואלה עולים מסיפור מוחשי ולא מסימון תשובות.‬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652556" y="502920"/>
            <a:ext cx="2886584" cy="1417320"/>
          </a:xfrm>
          <a:prstGeom prst="rect">
            <a:avLst/>
          </a:prstGeom>
        </p:spPr>
      </p:pic>
      <p:sp>
        <p:nvSpPr>
          <p:cNvPr id="3" name="Text 0"/>
          <p:cNvSpPr txBox="1"/>
          <p:nvPr/>
        </p:nvSpPr>
        <p:spPr>
          <a:xfrm>
            <a:off x="548640" y="2240280"/>
            <a:ext cx="11091672" cy="365760"/>
          </a:xfrm>
          <a:prstGeom prst="rect">
            <a:avLst/>
          </a:prstGeom>
          <a:noFill/>
          <a:ln/>
        </p:spPr>
        <p:txBody>
          <a:bodyPr wrap="square" lIns="0" tIns="0" rIns="0" bIns="0" rtlCol="0" anchor="ctr"/>
          <a:lstStyle/>
          <a:p>
            <a:pPr algn="ctr" indent="0" marL="0" rtl="1">
              <a:buNone/>
            </a:pPr>
            <a:r>
              <a:rPr lang="en-US" sz="1600" dirty="0">
                <a:solidFill>
                  <a:srgbClr val="56696C"/>
                </a:solidFill>
                <a:latin typeface="Arial" pitchFamily="34" charset="0"/>
                <a:ea typeface="Arial" pitchFamily="34" charset="-122"/>
                <a:cs typeface="Arial" pitchFamily="34" charset="-120"/>
              </a:rPr>
              <a:t>‫סמינריון בעבודת הניהול ובמנהל חינוך‬</a:t>
            </a:r>
            <a:endParaRPr lang="en-US" sz="1600" dirty="0"/>
          </a:p>
        </p:txBody>
      </p:sp>
      <p:sp>
        <p:nvSpPr>
          <p:cNvPr id="4" name="Text 1"/>
          <p:cNvSpPr txBox="1"/>
          <p:nvPr/>
        </p:nvSpPr>
        <p:spPr>
          <a:xfrm>
            <a:off x="1097280" y="2743200"/>
            <a:ext cx="9994392" cy="1371600"/>
          </a:xfrm>
          <a:prstGeom prst="rect">
            <a:avLst/>
          </a:prstGeom>
          <a:noFill/>
          <a:ln/>
        </p:spPr>
        <p:txBody>
          <a:bodyPr wrap="square" lIns="0" tIns="0" rIns="0" bIns="0" rtlCol="0" anchor="ctr"/>
          <a:lstStyle/>
          <a:p>
            <a:pPr algn="ctr" indent="0" marL="0" rtl="1">
              <a:buNone/>
            </a:pPr>
            <a:r>
              <a:rPr lang="en-US" sz="3200" b="1" dirty="0">
                <a:solidFill>
                  <a:srgbClr val="12343B"/>
                </a:solidFill>
                <a:latin typeface="Arial" pitchFamily="34" charset="0"/>
                <a:ea typeface="Arial" pitchFamily="34" charset="-122"/>
                <a:cs typeface="Arial" pitchFamily="34" charset="-120"/>
              </a:rPr>
              <a:t>‫אסטרטגיות ניהוליות של מנהלי בתי ספר בהתמודדות עם היעדרויות מורים לשמירה על רצף לימודי‬</a:t>
            </a:r>
            <a:endParaRPr lang="en-US" sz="3200" dirty="0"/>
          </a:p>
        </p:txBody>
      </p:sp>
      <p:sp>
        <p:nvSpPr>
          <p:cNvPr id="5" name="Text 2"/>
          <p:cNvSpPr txBox="1"/>
          <p:nvPr/>
        </p:nvSpPr>
        <p:spPr>
          <a:xfrm>
            <a:off x="548640" y="4206240"/>
            <a:ext cx="11091672" cy="365760"/>
          </a:xfrm>
          <a:prstGeom prst="rect">
            <a:avLst/>
          </a:prstGeom>
          <a:noFill/>
          <a:ln/>
        </p:spPr>
        <p:txBody>
          <a:bodyPr wrap="square" lIns="0" tIns="0" rIns="0" bIns="0" rtlCol="0" anchor="ctr"/>
          <a:lstStyle/>
          <a:p>
            <a:pPr algn="ctr" indent="0" marL="0" rtl="1">
              <a:buNone/>
            </a:pPr>
            <a:r>
              <a:rPr lang="en-US" sz="1700" b="1" dirty="0">
                <a:solidFill>
                  <a:srgbClr val="4E7A1E"/>
                </a:solidFill>
                <a:latin typeface="Arial" pitchFamily="34" charset="0"/>
                <a:ea typeface="Arial" pitchFamily="34" charset="-122"/>
                <a:cs typeface="Arial" pitchFamily="34" charset="-120"/>
              </a:rPr>
              <a:t>‫פרזנטציית סיום של עבודת הסמינריון‬</a:t>
            </a:r>
            <a:endParaRPr lang="en-US" sz="1700" dirty="0"/>
          </a:p>
        </p:txBody>
      </p:sp>
      <p:sp>
        <p:nvSpPr>
          <p:cNvPr id="6" name="Shape 3"/>
          <p:cNvSpPr/>
          <p:nvPr/>
        </p:nvSpPr>
        <p:spPr>
          <a:xfrm>
            <a:off x="2194560" y="4983480"/>
            <a:ext cx="7799832" cy="1234440"/>
          </a:xfrm>
          <a:prstGeom prst="roundRect">
            <a:avLst>
              <a:gd name="adj" fmla="val 8889"/>
            </a:avLst>
          </a:prstGeom>
          <a:solidFill>
            <a:srgbClr val="E4F0F0"/>
          </a:solidFill>
          <a:ln w="12700">
            <a:solidFill>
              <a:srgbClr val="E4F0F0"/>
            </a:solidFill>
            <a:prstDash val="solid"/>
          </a:ln>
        </p:spPr>
      </p:sp>
      <p:sp>
        <p:nvSpPr>
          <p:cNvPr id="7" name="Text 4"/>
          <p:cNvSpPr txBox="1"/>
          <p:nvPr/>
        </p:nvSpPr>
        <p:spPr>
          <a:xfrm>
            <a:off x="5257800" y="5138928"/>
            <a:ext cx="4572000" cy="292608"/>
          </a:xfrm>
          <a:prstGeom prst="rect">
            <a:avLst/>
          </a:prstGeom>
          <a:noFill/>
          <a:ln/>
        </p:spPr>
        <p:txBody>
          <a:bodyPr wrap="square" lIns="0" tIns="0" rIns="0" bIns="0" rtlCol="0" anchor="t"/>
          <a:lstStyle/>
          <a:p>
            <a:pPr algn="ctr" indent="0" marL="0" rtl="1">
              <a:buNone/>
            </a:pPr>
            <a:r>
              <a:rPr lang="en-US" sz="1500" b="1" dirty="0">
                <a:solidFill>
                  <a:srgbClr val="12343B"/>
                </a:solidFill>
                <a:latin typeface="Arial" pitchFamily="34" charset="0"/>
                <a:ea typeface="Arial" pitchFamily="34" charset="-122"/>
                <a:cs typeface="Arial" pitchFamily="34" charset="-120"/>
              </a:rPr>
              <a:t>‫מוגש על ידי‬</a:t>
            </a:r>
            <a:endParaRPr lang="en-US" sz="1500" dirty="0"/>
          </a:p>
        </p:txBody>
      </p:sp>
      <p:sp>
        <p:nvSpPr>
          <p:cNvPr id="8" name="Text 5"/>
          <p:cNvSpPr txBox="1"/>
          <p:nvPr/>
        </p:nvSpPr>
        <p:spPr>
          <a:xfrm>
            <a:off x="8001000" y="5458968"/>
            <a:ext cx="1691640" cy="292608"/>
          </a:xfrm>
          <a:prstGeom prst="rect">
            <a:avLst/>
          </a:prstGeom>
          <a:noFill/>
          <a:ln/>
        </p:spPr>
        <p:txBody>
          <a:bodyPr wrap="square" lIns="0" tIns="0" rIns="0" bIns="0" rtlCol="0" anchor="t"/>
          <a:lstStyle/>
          <a:p>
            <a:pPr algn="r" indent="0" marL="0" rtl="1">
              <a:buNone/>
            </a:pPr>
            <a:r>
              <a:rPr lang="en-US" sz="1500" dirty="0">
                <a:solidFill>
                  <a:srgbClr val="1B2B2E"/>
                </a:solidFill>
                <a:latin typeface="Arial" pitchFamily="34" charset="0"/>
                <a:ea typeface="Arial" pitchFamily="34" charset="-122"/>
                <a:cs typeface="Arial" pitchFamily="34" charset="-120"/>
              </a:rPr>
              <a:t>‫חנין מנסור‬</a:t>
            </a:r>
            <a:endParaRPr lang="en-US" sz="1500" dirty="0"/>
          </a:p>
        </p:txBody>
      </p:sp>
      <p:sp>
        <p:nvSpPr>
          <p:cNvPr id="9" name="Text 6"/>
          <p:cNvSpPr txBox="1"/>
          <p:nvPr/>
        </p:nvSpPr>
        <p:spPr>
          <a:xfrm>
            <a:off x="8001000" y="5760720"/>
            <a:ext cx="1691640" cy="292608"/>
          </a:xfrm>
          <a:prstGeom prst="rect">
            <a:avLst/>
          </a:prstGeom>
          <a:noFill/>
          <a:ln/>
        </p:spPr>
        <p:txBody>
          <a:bodyPr wrap="square" lIns="0" tIns="0" rIns="0" bIns="0" rtlCol="0" anchor="t"/>
          <a:lstStyle/>
          <a:p>
            <a:pPr algn="r" indent="0" marL="0" rtl="1">
              <a:buNone/>
            </a:pPr>
            <a:r>
              <a:rPr lang="en-US" sz="1500" dirty="0">
                <a:solidFill>
                  <a:srgbClr val="1B2B2E"/>
                </a:solidFill>
                <a:latin typeface="Arial" pitchFamily="34" charset="0"/>
                <a:ea typeface="Arial" pitchFamily="34" charset="-122"/>
                <a:cs typeface="Arial" pitchFamily="34" charset="-120"/>
              </a:rPr>
              <a:t>‫אולפת עבד אל חי‬</a:t>
            </a:r>
            <a:endParaRPr lang="en-US" sz="1500" dirty="0"/>
          </a:p>
        </p:txBody>
      </p:sp>
      <p:sp>
        <p:nvSpPr>
          <p:cNvPr id="10" name="Text 7"/>
          <p:cNvSpPr txBox="1"/>
          <p:nvPr/>
        </p:nvSpPr>
        <p:spPr>
          <a:xfrm>
            <a:off x="5852160" y="5458968"/>
            <a:ext cx="2011680" cy="292608"/>
          </a:xfrm>
          <a:prstGeom prst="rect">
            <a:avLst/>
          </a:prstGeom>
          <a:noFill/>
          <a:ln/>
        </p:spPr>
        <p:txBody>
          <a:bodyPr wrap="square" lIns="0" tIns="0" rIns="0" bIns="0" rtlCol="0" anchor="t"/>
          <a:lstStyle/>
          <a:p>
            <a:pPr algn="r" indent="0" marL="0" rtl="1">
              <a:buNone/>
            </a:pPr>
            <a:r>
              <a:rPr lang="en-US" sz="1500" dirty="0">
                <a:solidFill>
                  <a:srgbClr val="1B2B2E"/>
                </a:solidFill>
                <a:latin typeface="Arial" pitchFamily="34" charset="0"/>
                <a:ea typeface="Arial" pitchFamily="34" charset="-122"/>
                <a:cs typeface="Arial" pitchFamily="34" charset="-120"/>
              </a:rPr>
              <a:t>‫ת.ז. ______________‬</a:t>
            </a:r>
            <a:endParaRPr lang="en-US" sz="1500" dirty="0"/>
          </a:p>
        </p:txBody>
      </p:sp>
      <p:sp>
        <p:nvSpPr>
          <p:cNvPr id="11" name="Text 8"/>
          <p:cNvSpPr txBox="1"/>
          <p:nvPr/>
        </p:nvSpPr>
        <p:spPr>
          <a:xfrm>
            <a:off x="5852160" y="5760720"/>
            <a:ext cx="2011680" cy="292608"/>
          </a:xfrm>
          <a:prstGeom prst="rect">
            <a:avLst/>
          </a:prstGeom>
          <a:noFill/>
          <a:ln/>
        </p:spPr>
        <p:txBody>
          <a:bodyPr wrap="square" lIns="0" tIns="0" rIns="0" bIns="0" rtlCol="0" anchor="t"/>
          <a:lstStyle/>
          <a:p>
            <a:pPr algn="r" indent="0" marL="0" rtl="1">
              <a:buNone/>
            </a:pPr>
            <a:r>
              <a:rPr lang="en-US" sz="1500" dirty="0">
                <a:solidFill>
                  <a:srgbClr val="1B2B2E"/>
                </a:solidFill>
                <a:latin typeface="Arial" pitchFamily="34" charset="0"/>
                <a:ea typeface="Arial" pitchFamily="34" charset="-122"/>
                <a:cs typeface="Arial" pitchFamily="34" charset="-120"/>
              </a:rPr>
              <a:t>‫ת.ז. ______________‬</a:t>
            </a:r>
            <a:endParaRPr lang="en-US" sz="1500" dirty="0"/>
          </a:p>
        </p:txBody>
      </p:sp>
      <p:sp>
        <p:nvSpPr>
          <p:cNvPr id="12" name="Text 9"/>
          <p:cNvSpPr txBox="1"/>
          <p:nvPr/>
        </p:nvSpPr>
        <p:spPr>
          <a:xfrm>
            <a:off x="2377440" y="5138928"/>
            <a:ext cx="2651760" cy="292608"/>
          </a:xfrm>
          <a:prstGeom prst="rect">
            <a:avLst/>
          </a:prstGeom>
          <a:noFill/>
          <a:ln/>
        </p:spPr>
        <p:txBody>
          <a:bodyPr wrap="square" lIns="0" tIns="0" rIns="0" bIns="0" rtlCol="0" anchor="t"/>
          <a:lstStyle/>
          <a:p>
            <a:pPr algn="ctr" indent="0" marL="0" rtl="1">
              <a:buNone/>
            </a:pPr>
            <a:r>
              <a:rPr lang="en-US" sz="1500" b="1" dirty="0">
                <a:solidFill>
                  <a:srgbClr val="12343B"/>
                </a:solidFill>
                <a:latin typeface="Arial" pitchFamily="34" charset="0"/>
                <a:ea typeface="Arial" pitchFamily="34" charset="-122"/>
                <a:cs typeface="Arial" pitchFamily="34" charset="-120"/>
              </a:rPr>
              <a:t>‫המרצה‬</a:t>
            </a:r>
            <a:endParaRPr lang="en-US" sz="1500" dirty="0"/>
          </a:p>
        </p:txBody>
      </p:sp>
      <p:sp>
        <p:nvSpPr>
          <p:cNvPr id="13" name="Text 10"/>
          <p:cNvSpPr txBox="1"/>
          <p:nvPr/>
        </p:nvSpPr>
        <p:spPr>
          <a:xfrm>
            <a:off x="2377440" y="5458968"/>
            <a:ext cx="2651760" cy="292608"/>
          </a:xfrm>
          <a:prstGeom prst="rect">
            <a:avLst/>
          </a:prstGeom>
          <a:noFill/>
          <a:ln/>
        </p:spPr>
        <p:txBody>
          <a:bodyPr wrap="square" lIns="0" tIns="0" rIns="0" bIns="0" rtlCol="0" anchor="t"/>
          <a:lstStyle/>
          <a:p>
            <a:pPr algn="ctr" indent="0" marL="0" rtl="1">
              <a:buNone/>
            </a:pPr>
            <a:r>
              <a:rPr lang="en-US" sz="1500" dirty="0">
                <a:solidFill>
                  <a:srgbClr val="1B2B2E"/>
                </a:solidFill>
                <a:latin typeface="Arial" pitchFamily="34" charset="0"/>
                <a:ea typeface="Arial" pitchFamily="34" charset="-122"/>
                <a:cs typeface="Arial" pitchFamily="34" charset="-120"/>
              </a:rPr>
              <a:t>‫ד״ר ליאור הלוי‬</a:t>
            </a:r>
            <a:endParaRPr lang="en-US" sz="1500" dirty="0"/>
          </a:p>
        </p:txBody>
      </p:sp>
      <p:sp>
        <p:nvSpPr>
          <p:cNvPr id="14" name="Text 11"/>
          <p:cNvSpPr txBox="1"/>
          <p:nvPr/>
        </p:nvSpPr>
        <p:spPr>
          <a:xfrm>
            <a:off x="2377440" y="5760720"/>
            <a:ext cx="2651760" cy="292608"/>
          </a:xfrm>
          <a:prstGeom prst="rect">
            <a:avLst/>
          </a:prstGeom>
          <a:noFill/>
          <a:ln/>
        </p:spPr>
        <p:txBody>
          <a:bodyPr wrap="square" lIns="0" tIns="0" rIns="0" bIns="0" rtlCol="0" anchor="t"/>
          <a:lstStyle/>
          <a:p>
            <a:pPr algn="ctr" indent="0" marL="0" rtl="1">
              <a:buNone/>
            </a:pPr>
            <a:r>
              <a:rPr lang="en-US" sz="1500" dirty="0">
                <a:solidFill>
                  <a:srgbClr val="1B2B2E"/>
                </a:solidFill>
                <a:latin typeface="Arial" pitchFamily="34" charset="0"/>
                <a:ea typeface="Arial" pitchFamily="34" charset="-122"/>
                <a:cs typeface="Arial" pitchFamily="34" charset="-120"/>
              </a:rPr>
              <a:t>‫תשפ״ז,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43B"/>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8CC63F"/>
                </a:solidFill>
                <a:latin typeface="Arial" pitchFamily="34" charset="0"/>
                <a:ea typeface="Arial" pitchFamily="34" charset="-122"/>
                <a:cs typeface="Arial" pitchFamily="34" charset="-120"/>
              </a:rPr>
              <a:t>‫מה אנחנו מנסים להבין‬</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FFFFFF"/>
                </a:solidFill>
                <a:latin typeface="Arial" pitchFamily="34" charset="0"/>
                <a:ea typeface="Arial" pitchFamily="34" charset="-122"/>
                <a:cs typeface="Arial" pitchFamily="34" charset="-120"/>
              </a:rPr>
              <a:t>‫היעדרויות מורים ורצף לימודי‬</a:t>
            </a:r>
            <a:endParaRPr lang="he-IL" sz="3400" dirty="0"/>
          </a:p>
        </p:txBody>
      </p:sp>
      <p:sp>
        <p:nvSpPr>
          <p:cNvPr id="4" name="Text 2"/>
          <p:cNvSpPr txBox="1"/>
          <p:nvPr/>
        </p:nvSpPr>
        <p:spPr>
          <a:xfrm>
            <a:off x="548640" y="1737360"/>
            <a:ext cx="1109167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‫הנושא‬</a:t>
            </a:r>
            <a:endParaRPr lang="he-IL" sz="1500" dirty="0"/>
          </a:p>
        </p:txBody>
      </p:sp>
      <p:sp>
        <p:nvSpPr>
          <p:cNvPr id="5" name="Text 3"/>
          <p:cNvSpPr txBox="1"/>
          <p:nvPr/>
        </p:nvSpPr>
        <p:spPr>
          <a:xfrm>
            <a:off x="548640" y="210312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‫היעדרויות מורים הן חלק קבוע מהמציאות הארגונית של בתי הספר. הקושי אינו בהיעדרות עצמה אלא בהחלטות שהיא מחייבת. בתוך זמן קצר על המנהל לקבוע מי ייכנס לכיתה, מה יתרחש בשיעור ומה יהיה המחיר עבור הצוות, וכאשר ההיעדרויות מצטברות עליו לשמור על רצף פדגוגי, ארגוני ורגשי ולא רק למצוא ממלא מקום (הלוי, 2026).‬</a:t>
            </a:r>
            <a:endParaRPr lang="he-IL" sz="1600" dirty="0"/>
          </a:p>
        </p:txBody>
      </p:sp>
      <p:sp>
        <p:nvSpPr>
          <p:cNvPr id="6" name="Shape 4"/>
          <p:cNvSpPr/>
          <p:nvPr/>
        </p:nvSpPr>
        <p:spPr>
          <a:xfrm>
            <a:off x="548640" y="3429000"/>
            <a:ext cx="11091672" cy="1417320"/>
          </a:xfrm>
          <a:prstGeom prst="roundRect">
            <a:avLst>
              <a:gd name="adj" fmla="val 7742"/>
            </a:avLst>
          </a:prstGeom>
          <a:solidFill>
            <a:srgbClr val="1D4A52"/>
          </a:solidFill>
          <a:ln w="12700">
            <a:solidFill>
              <a:srgbClr val="1D4A52"/>
            </a:solidFill>
            <a:prstDash val="solid"/>
          </a:ln>
        </p:spPr>
      </p:sp>
      <p:sp>
        <p:nvSpPr>
          <p:cNvPr id="7" name="Text 5"/>
          <p:cNvSpPr txBox="1"/>
          <p:nvPr/>
        </p:nvSpPr>
        <p:spPr>
          <a:xfrm>
            <a:off x="868680" y="3566160"/>
            <a:ext cx="1045159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‫שאלת המחקר‬</a:t>
            </a:r>
            <a:endParaRPr lang="he-IL" sz="1500" dirty="0"/>
          </a:p>
        </p:txBody>
      </p:sp>
      <p:sp>
        <p:nvSpPr>
          <p:cNvPr id="8" name="Text 6"/>
          <p:cNvSpPr txBox="1"/>
          <p:nvPr/>
        </p:nvSpPr>
        <p:spPr>
          <a:xfrm>
            <a:off x="868680" y="3931920"/>
            <a:ext cx="10451592" cy="868680"/>
          </a:xfrm>
          <a:prstGeom prst="rect">
            <a:avLst/>
          </a:prstGeom>
          <a:noFill/>
          <a:ln/>
        </p:spPr>
        <p:txBody>
          <a:bodyPr wrap="square" lIns="0" tIns="0" rIns="0" bIns="0" rtlCol="0" anchor="t"/>
          <a:lstStyle/>
          <a:p>
            <a:pPr algn="r" indent="0" marL="0" rtl="1">
              <a:lnSpc>
                <a:spcPct val="115000"/>
              </a:lnSpc>
              <a:buNone/>
            </a:pPr>
            <a:r>
              <a:rPr lang="he-IL" altLang="en-US" sz="2000" b="1" dirty="0">
                <a:solidFill>
                  <a:srgbClr val="FFFFFF"/>
                </a:solidFill>
                <a:latin typeface="Arial" pitchFamily="34" charset="0"/>
                <a:ea typeface="Arial" pitchFamily="34" charset="-122"/>
                <a:cs typeface="Arial" pitchFamily="34" charset="-120"/>
              </a:rPr>
              <a:t>‫כיצד מנהלי בתי ספר בערים בצפון הארץ מתארים את התמודדותם עם היעדרויות מורים, ואילו אסטרטגיות ושיקולים מנחים את החלטותיהם לשמירה על רצף לימודי?‬</a:t>
            </a:r>
            <a:endParaRPr lang="he-IL" sz="2000" dirty="0"/>
          </a:p>
        </p:txBody>
      </p:sp>
      <p:sp>
        <p:nvSpPr>
          <p:cNvPr id="9" name="Text 7"/>
          <p:cNvSpPr txBox="1"/>
          <p:nvPr/>
        </p:nvSpPr>
        <p:spPr>
          <a:xfrm>
            <a:off x="548640" y="5074920"/>
            <a:ext cx="1109167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‫למה דווקא השאלה הזאת‬</a:t>
            </a:r>
            <a:endParaRPr lang="he-IL" sz="1500" dirty="0"/>
          </a:p>
        </p:txBody>
      </p:sp>
      <p:sp>
        <p:nvSpPr>
          <p:cNvPr id="10" name="Text 8"/>
          <p:cNvSpPr txBox="1"/>
          <p:nvPr/>
        </p:nvSpPr>
        <p:spPr>
          <a:xfrm>
            <a:off x="548640" y="5440680"/>
            <a:ext cx="11091672" cy="91440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‫אותה היעדרות יכולה להסתיים בשיעור שממשיך כסדרו או בשעת השגחה בלבד, וההבדל נקבע בהחלטות המנהל. המחקר חשוב משום שהבנת השיקולים שמאחורי ההחלטות האלה עשויה לסייע למנהלים לגבש דרכי פעולה ששומרות על הלמידה.‬</a:t>
            </a:r>
            <a:endParaRPr lang="he-IL"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‫מה אנחנו כבר יודעים ומה עדיין לא‬</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‫מה ידוע ומה טרם נבחן‬</a:t>
            </a:r>
            <a:endParaRPr lang="he-IL" sz="3400" dirty="0"/>
          </a:p>
        </p:txBody>
      </p:sp>
      <p:sp>
        <p:nvSpPr>
          <p:cNvPr id="4" name="Text 2"/>
          <p:cNvSpPr txBox="1"/>
          <p:nvPr/>
        </p:nvSpPr>
        <p:spPr>
          <a:xfrm>
            <a:off x="548640" y="173736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‫הטענה המרכזית מן הספרות‬</a:t>
            </a:r>
            <a:endParaRPr lang="he-IL" sz="1500" dirty="0"/>
          </a:p>
        </p:txBody>
      </p:sp>
      <p:sp>
        <p:nvSpPr>
          <p:cNvPr id="5" name="Text 3"/>
          <p:cNvSpPr txBox="1"/>
          <p:nvPr/>
        </p:nvSpPr>
        <p:spPr>
          <a:xfrm>
            <a:off x="548640" y="2103120"/>
            <a:ext cx="11091672" cy="128016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‫מילר ואחרים (Miller et al., 2008) וקלוטפלטר ואחרים (Clotfelter et al., 2009) מצאו כי היעדרויות מורים פוגעות בהישגי התלמידים, וכי הפגיעה גדלה ככל שההיעדרויות מצטברות. שפירא־לישצ'ינסקי ורוזנבלט (Shapira-Lishchinsky &amp; Rosenblatt, 2010) הראו כי האקלים האתי בבית הספר קשור להיקף ההיעדרויות מרצון, ומכאן שהמנהל משפיע על התופעה עוד לפני שהיא מתרחשת.‬</a:t>
            </a:r>
            <a:endParaRPr lang="he-IL" sz="1600" dirty="0"/>
          </a:p>
        </p:txBody>
      </p:sp>
      <p:sp>
        <p:nvSpPr>
          <p:cNvPr id="6" name="Text 4"/>
          <p:cNvSpPr txBox="1"/>
          <p:nvPr/>
        </p:nvSpPr>
        <p:spPr>
          <a:xfrm>
            <a:off x="548640" y="33832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‫מתח או פער‬</a:t>
            </a:r>
            <a:endParaRPr lang="he-IL" sz="1500" dirty="0"/>
          </a:p>
        </p:txBody>
      </p:sp>
      <p:sp>
        <p:nvSpPr>
          <p:cNvPr id="7" name="Text 5"/>
          <p:cNvSpPr txBox="1"/>
          <p:nvPr/>
        </p:nvSpPr>
        <p:spPr>
          <a:xfrm>
            <a:off x="548640" y="3749040"/>
            <a:ext cx="11091672" cy="10058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‫רוב המחקרים עוסקים בהיקף ההיעדרויות, בגורמיהן ובמחירן. בתיאוריה רצף לימודי הוא עניין פדגוגי, ואילו בשגרת הבוקר המנהל נדרש קודם כול להבטיח נוכחות של מבוגר בכיתה. מעט ידוע על השיקולים שמנחים את המנהל ברגע ההיעדרות עצמו.‬</a:t>
            </a:r>
            <a:endParaRPr lang="he-IL" sz="1600" dirty="0"/>
          </a:p>
        </p:txBody>
      </p:sp>
      <p:sp>
        <p:nvSpPr>
          <p:cNvPr id="8" name="Shape 6"/>
          <p:cNvSpPr/>
          <p:nvPr/>
        </p:nvSpPr>
        <p:spPr>
          <a:xfrm>
            <a:off x="548640" y="4846320"/>
            <a:ext cx="11091672" cy="1417320"/>
          </a:xfrm>
          <a:prstGeom prst="roundRect">
            <a:avLst>
              <a:gd name="adj" fmla="val 7742"/>
            </a:avLst>
          </a:prstGeom>
          <a:solidFill>
            <a:srgbClr val="12343B"/>
          </a:solidFill>
          <a:ln w="12700">
            <a:solidFill>
              <a:srgbClr val="12343B"/>
            </a:solidFill>
            <a:prstDash val="solid"/>
          </a:ln>
        </p:spPr>
      </p:sp>
      <p:sp>
        <p:nvSpPr>
          <p:cNvPr id="9" name="Text 7"/>
          <p:cNvSpPr txBox="1"/>
          <p:nvPr/>
        </p:nvSpPr>
        <p:spPr>
          <a:xfrm>
            <a:off x="868680" y="4983480"/>
            <a:ext cx="1045159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‫שינוי בחשיבה‬</a:t>
            </a:r>
            <a:endParaRPr lang="he-IL" sz="1500" dirty="0"/>
          </a:p>
        </p:txBody>
      </p:sp>
      <p:sp>
        <p:nvSpPr>
          <p:cNvPr id="10" name="Text 8"/>
          <p:cNvSpPr txBox="1"/>
          <p:nvPr/>
        </p:nvSpPr>
        <p:spPr>
          <a:xfrm>
            <a:off x="868680" y="5349240"/>
            <a:ext cx="10451592" cy="7772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‫בתחילת העבודה נתפסה הבעיה כעניין לוגיסטי של מציאת ממלא מקום. הקריאה הובילה להבנה שרצף לימודי הוא פדגוגי, ארגוני ורגשי, ושפעולת המנהל מתחילה עוד לפני ההיעדרות.‬</a:t>
            </a:r>
            <a:endParaRPr lang="he-IL"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‫מסגרת מושגית‬</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‫המושגים המרכזיים והקשרים ביניהם‬</a:t>
            </a:r>
            <a:endParaRPr lang="he-IL" sz="3400" dirty="0"/>
          </a:p>
        </p:txBody>
      </p:sp>
      <p:sp>
        <p:nvSpPr>
          <p:cNvPr id="4" name="Shape 2"/>
          <p:cNvSpPr/>
          <p:nvPr/>
        </p:nvSpPr>
        <p:spPr>
          <a:xfrm>
            <a:off x="8778240" y="2217420"/>
            <a:ext cx="347472" cy="0"/>
          </a:xfrm>
          <a:prstGeom prst="line">
            <a:avLst/>
          </a:prstGeom>
          <a:noFill/>
          <a:ln w="19050">
            <a:solidFill>
              <a:srgbClr val="12343B"/>
            </a:solidFill>
            <a:prstDash val="solid"/>
          </a:ln>
        </p:spPr>
      </p:sp>
      <p:sp>
        <p:nvSpPr>
          <p:cNvPr id="5" name="Shape 3"/>
          <p:cNvSpPr/>
          <p:nvPr/>
        </p:nvSpPr>
        <p:spPr>
          <a:xfrm>
            <a:off x="9125712" y="1783080"/>
            <a:ext cx="2514600" cy="868680"/>
          </a:xfrm>
          <a:prstGeom prst="roundRect">
            <a:avLst>
              <a:gd name="adj" fmla="val 12632"/>
            </a:avLst>
          </a:prstGeom>
          <a:solidFill>
            <a:srgbClr val="E4F0F0"/>
          </a:solidFill>
          <a:ln w="12700">
            <a:solidFill>
              <a:srgbClr val="E4F0F0"/>
            </a:solidFill>
            <a:prstDash val="solid"/>
          </a:ln>
        </p:spPr>
      </p:sp>
      <p:sp>
        <p:nvSpPr>
          <p:cNvPr id="6" name="Text 4"/>
          <p:cNvSpPr txBox="1"/>
          <p:nvPr/>
        </p:nvSpPr>
        <p:spPr>
          <a:xfrm>
            <a:off x="9217152"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‫היעדרות מורים‬</a:t>
            </a:r>
            <a:endParaRPr lang="en-US" sz="1600" dirty="0"/>
          </a:p>
        </p:txBody>
      </p:sp>
      <p:sp>
        <p:nvSpPr>
          <p:cNvPr id="7" name="Shape 5"/>
          <p:cNvSpPr/>
          <p:nvPr/>
        </p:nvSpPr>
        <p:spPr>
          <a:xfrm>
            <a:off x="5916168" y="2217420"/>
            <a:ext cx="347472" cy="0"/>
          </a:xfrm>
          <a:prstGeom prst="line">
            <a:avLst/>
          </a:prstGeom>
          <a:noFill/>
          <a:ln w="19050">
            <a:solidFill>
              <a:srgbClr val="12343B"/>
            </a:solidFill>
            <a:prstDash val="solid"/>
          </a:ln>
        </p:spPr>
      </p:sp>
      <p:sp>
        <p:nvSpPr>
          <p:cNvPr id="8" name="Shape 6"/>
          <p:cNvSpPr/>
          <p:nvPr/>
        </p:nvSpPr>
        <p:spPr>
          <a:xfrm>
            <a:off x="6263640" y="1783080"/>
            <a:ext cx="2514600" cy="868680"/>
          </a:xfrm>
          <a:prstGeom prst="roundRect">
            <a:avLst>
              <a:gd name="adj" fmla="val 12632"/>
            </a:avLst>
          </a:prstGeom>
          <a:solidFill>
            <a:srgbClr val="E4F0F0"/>
          </a:solidFill>
          <a:ln w="12700">
            <a:solidFill>
              <a:srgbClr val="E4F0F0"/>
            </a:solidFill>
            <a:prstDash val="solid"/>
          </a:ln>
        </p:spPr>
      </p:sp>
      <p:sp>
        <p:nvSpPr>
          <p:cNvPr id="9" name="Text 7"/>
          <p:cNvSpPr txBox="1"/>
          <p:nvPr/>
        </p:nvSpPr>
        <p:spPr>
          <a:xfrm>
            <a:off x="6355080"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‫רצף לימודי‬</a:t>
            </a:r>
            <a:endParaRPr lang="en-US" sz="1600" dirty="0"/>
          </a:p>
        </p:txBody>
      </p:sp>
      <p:sp>
        <p:nvSpPr>
          <p:cNvPr id="10" name="Shape 8"/>
          <p:cNvSpPr/>
          <p:nvPr/>
        </p:nvSpPr>
        <p:spPr>
          <a:xfrm>
            <a:off x="3054096" y="2217420"/>
            <a:ext cx="347472" cy="0"/>
          </a:xfrm>
          <a:prstGeom prst="line">
            <a:avLst/>
          </a:prstGeom>
          <a:noFill/>
          <a:ln w="19050">
            <a:solidFill>
              <a:srgbClr val="12343B"/>
            </a:solidFill>
            <a:prstDash val="solid"/>
          </a:ln>
        </p:spPr>
      </p:sp>
      <p:sp>
        <p:nvSpPr>
          <p:cNvPr id="11" name="Shape 9"/>
          <p:cNvSpPr/>
          <p:nvPr/>
        </p:nvSpPr>
        <p:spPr>
          <a:xfrm>
            <a:off x="3401568" y="1783080"/>
            <a:ext cx="2514600" cy="868680"/>
          </a:xfrm>
          <a:prstGeom prst="roundRect">
            <a:avLst>
              <a:gd name="adj" fmla="val 12632"/>
            </a:avLst>
          </a:prstGeom>
          <a:solidFill>
            <a:srgbClr val="E4F0F0"/>
          </a:solidFill>
          <a:ln w="12700">
            <a:solidFill>
              <a:srgbClr val="E4F0F0"/>
            </a:solidFill>
            <a:prstDash val="solid"/>
          </a:ln>
        </p:spPr>
      </p:sp>
      <p:sp>
        <p:nvSpPr>
          <p:cNvPr id="12" name="Text 10"/>
          <p:cNvSpPr txBox="1"/>
          <p:nvPr/>
        </p:nvSpPr>
        <p:spPr>
          <a:xfrm>
            <a:off x="3493008"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‫קבלת החלטות ניהולית‬</a:t>
            </a:r>
            <a:endParaRPr lang="en-US" sz="1600" dirty="0"/>
          </a:p>
        </p:txBody>
      </p:sp>
      <p:sp>
        <p:nvSpPr>
          <p:cNvPr id="13" name="Shape 11"/>
          <p:cNvSpPr/>
          <p:nvPr/>
        </p:nvSpPr>
        <p:spPr>
          <a:xfrm>
            <a:off x="539496" y="1783080"/>
            <a:ext cx="2514600" cy="868680"/>
          </a:xfrm>
          <a:prstGeom prst="roundRect">
            <a:avLst>
              <a:gd name="adj" fmla="val 12632"/>
            </a:avLst>
          </a:prstGeom>
          <a:solidFill>
            <a:srgbClr val="12343B"/>
          </a:solidFill>
          <a:ln w="12700">
            <a:solidFill>
              <a:srgbClr val="12343B"/>
            </a:solidFill>
            <a:prstDash val="solid"/>
          </a:ln>
        </p:spPr>
      </p:sp>
      <p:sp>
        <p:nvSpPr>
          <p:cNvPr id="14" name="Text 12"/>
          <p:cNvSpPr txBox="1"/>
          <p:nvPr/>
        </p:nvSpPr>
        <p:spPr>
          <a:xfrm>
            <a:off x="630936" y="1783080"/>
            <a:ext cx="2331720" cy="868680"/>
          </a:xfrm>
          <a:prstGeom prst="rect">
            <a:avLst/>
          </a:prstGeom>
          <a:noFill/>
          <a:ln/>
        </p:spPr>
        <p:txBody>
          <a:bodyPr wrap="square" lIns="0" tIns="0" rIns="0" bIns="0" rtlCol="0" anchor="ctr"/>
          <a:lstStyle/>
          <a:p>
            <a:pPr algn="ctr" indent="0" marL="0" rtl="1">
              <a:buNone/>
            </a:pPr>
            <a:r>
              <a:rPr lang="en-US" sz="1600" b="1" dirty="0">
                <a:solidFill>
                  <a:srgbClr val="FFFFFF"/>
                </a:solidFill>
                <a:latin typeface="Arial" pitchFamily="34" charset="0"/>
                <a:ea typeface="Arial" pitchFamily="34" charset="-122"/>
                <a:cs typeface="Arial" pitchFamily="34" charset="-120"/>
              </a:rPr>
              <a:t>‫אסטרטגיות ניהוליות‬</a:t>
            </a:r>
            <a:endParaRPr lang="en-US" sz="1600" dirty="0"/>
          </a:p>
        </p:txBody>
      </p:sp>
      <p:sp>
        <p:nvSpPr>
          <p:cNvPr id="15" name="Text 13"/>
          <p:cNvSpPr txBox="1"/>
          <p:nvPr/>
        </p:nvSpPr>
        <p:spPr>
          <a:xfrm>
            <a:off x="548640" y="297180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‫רצף לימודי‬</a:t>
            </a:r>
            <a:endParaRPr lang="he-IL" sz="1500" dirty="0"/>
          </a:p>
        </p:txBody>
      </p:sp>
      <p:sp>
        <p:nvSpPr>
          <p:cNvPr id="16" name="Text 14"/>
          <p:cNvSpPr txBox="1"/>
          <p:nvPr/>
        </p:nvSpPr>
        <p:spPr>
          <a:xfrm>
            <a:off x="548640" y="333756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‫המסגרת נפתחת במושג היעדרות מורים ועוברת אל הרצף הלימודי, המובן כאן בשלושה ממדים. הממד הפדגוגי עוסק בהמשך התוכן והלמידה, הממד הארגוני בשיבוץ, במערכת השעות ובעומס על הצוות, והממד הרגשי ביחסים ובתחושת הביטחון של התלמידים (הלוי, 2026).‬</a:t>
            </a:r>
            <a:endParaRPr lang="he-IL" sz="1600" dirty="0"/>
          </a:p>
        </p:txBody>
      </p:sp>
      <p:sp>
        <p:nvSpPr>
          <p:cNvPr id="17" name="Text 15"/>
          <p:cNvSpPr txBox="1"/>
          <p:nvPr/>
        </p:nvSpPr>
        <p:spPr>
          <a:xfrm>
            <a:off x="548640" y="457200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‫מהחלטה לאסטרטגיה‬</a:t>
            </a:r>
            <a:endParaRPr lang="he-IL" sz="1500" dirty="0"/>
          </a:p>
        </p:txBody>
      </p:sp>
      <p:sp>
        <p:nvSpPr>
          <p:cNvPr id="18" name="Text 16"/>
          <p:cNvSpPr txBox="1"/>
          <p:nvPr/>
        </p:nvSpPr>
        <p:spPr>
          <a:xfrm>
            <a:off x="548640" y="493776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‫הרצף תלוי בקבלת החלטות ניהולית, שבה המנהל שוקל צרכים מתחרים בזמן קצר ובמשאבים מוגבלים. מההחלטות נגזרות אסטרטגיות מגיבות, כגון ממלא מקום, איחוד כיתות ושעה פרטנית, ואסטרטגיות מונעות, כגון מאגר קבוע של ממלאי מקום וחומרי עבודה שהוכנו מראש.‬</a:t>
            </a:r>
            <a:endParaRPr lang="he-IL"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‫יוצאים לשטח‬</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‫את מי נחקור ואיך‬</a:t>
            </a:r>
            <a:endParaRPr lang="he-IL" sz="3400" dirty="0"/>
          </a:p>
        </p:txBody>
      </p:sp>
      <p:sp>
        <p:nvSpPr>
          <p:cNvPr id="4" name="Shape 2"/>
          <p:cNvSpPr/>
          <p:nvPr/>
        </p:nvSpPr>
        <p:spPr>
          <a:xfrm>
            <a:off x="548640" y="1783080"/>
            <a:ext cx="2377440" cy="4480560"/>
          </a:xfrm>
          <a:prstGeom prst="roundRect">
            <a:avLst>
              <a:gd name="adj" fmla="val 4615"/>
            </a:avLst>
          </a:prstGeom>
          <a:solidFill>
            <a:srgbClr val="12343B"/>
          </a:solidFill>
          <a:ln w="12700">
            <a:solidFill>
              <a:srgbClr val="12343B"/>
            </a:solidFill>
            <a:prstDash val="solid"/>
          </a:ln>
        </p:spPr>
      </p:sp>
      <p:sp>
        <p:nvSpPr>
          <p:cNvPr id="5" name="Text 3"/>
          <p:cNvSpPr txBox="1"/>
          <p:nvPr/>
        </p:nvSpPr>
        <p:spPr>
          <a:xfrm>
            <a:off x="548640" y="2926080"/>
            <a:ext cx="2377440" cy="1005840"/>
          </a:xfrm>
          <a:prstGeom prst="rect">
            <a:avLst/>
          </a:prstGeom>
          <a:noFill/>
          <a:ln/>
        </p:spPr>
        <p:txBody>
          <a:bodyPr wrap="square" lIns="0" tIns="0" rIns="0" bIns="0" rtlCol="0" anchor="ctr"/>
          <a:lstStyle/>
          <a:p>
            <a:pPr algn="ctr" indent="0" marL="0">
              <a:buNone/>
            </a:pPr>
            <a:r>
              <a:rPr lang="en-US" sz="6600" b="1" dirty="0">
                <a:solidFill>
                  <a:srgbClr val="8CC63F"/>
                </a:solidFill>
                <a:latin typeface="Arial" pitchFamily="34" charset="0"/>
                <a:ea typeface="Arial" pitchFamily="34" charset="-122"/>
                <a:cs typeface="Arial" pitchFamily="34" charset="-120"/>
              </a:rPr>
              <a:t>12</a:t>
            </a:r>
            <a:endParaRPr lang="en-US" sz="6600" dirty="0"/>
          </a:p>
        </p:txBody>
      </p:sp>
      <p:sp>
        <p:nvSpPr>
          <p:cNvPr id="6" name="Text 4"/>
          <p:cNvSpPr txBox="1"/>
          <p:nvPr/>
        </p:nvSpPr>
        <p:spPr>
          <a:xfrm>
            <a:off x="731520" y="4023360"/>
            <a:ext cx="2011680" cy="914400"/>
          </a:xfrm>
          <a:prstGeom prst="rect">
            <a:avLst/>
          </a:prstGeom>
          <a:noFill/>
          <a:ln/>
        </p:spPr>
        <p:txBody>
          <a:bodyPr wrap="square" lIns="0" tIns="0" rIns="0" bIns="0" rtlCol="0" anchor="t"/>
          <a:lstStyle/>
          <a:p>
            <a:pPr algn="ctr" indent="0" marL="0" rtl="1">
              <a:buNone/>
            </a:pPr>
            <a:r>
              <a:rPr lang="en-US" sz="1600" b="1" dirty="0">
                <a:solidFill>
                  <a:srgbClr val="FFFFFF"/>
                </a:solidFill>
                <a:latin typeface="Arial" pitchFamily="34" charset="0"/>
                <a:ea typeface="Arial" pitchFamily="34" charset="-122"/>
                <a:cs typeface="Arial" pitchFamily="34" charset="-120"/>
              </a:rPr>
              <a:t>‫מנהלים ומנהלות‬</a:t>
            </a:r>
            <a:endParaRPr lang="en-US" sz="1600" dirty="0"/>
          </a:p>
          <a:p>
            <a:pPr algn="ctr" indent="0" marL="0" rtl="1">
              <a:buNone/>
            </a:pPr>
            <a:r>
              <a:rPr lang="en-US" sz="1400" dirty="0">
                <a:solidFill>
                  <a:srgbClr val="B7D8DB"/>
                </a:solidFill>
                <a:latin typeface="Arial" pitchFamily="34" charset="0"/>
                <a:ea typeface="Arial" pitchFamily="34" charset="-122"/>
                <a:cs typeface="Arial" pitchFamily="34" charset="-120"/>
              </a:rPr>
              <a:t>‫בערים בצפון הארץ‬</a:t>
            </a:r>
            <a:endParaRPr lang="en-US" sz="1600" dirty="0"/>
          </a:p>
        </p:txBody>
      </p:sp>
      <p:sp>
        <p:nvSpPr>
          <p:cNvPr id="7" name="Text 5"/>
          <p:cNvSpPr txBox="1"/>
          <p:nvPr/>
        </p:nvSpPr>
        <p:spPr>
          <a:xfrm>
            <a:off x="3200400" y="178308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‫את מי נחקור‬</a:t>
            </a:r>
            <a:endParaRPr lang="he-IL" sz="1500" dirty="0"/>
          </a:p>
        </p:txBody>
      </p:sp>
      <p:sp>
        <p:nvSpPr>
          <p:cNvPr id="8" name="Text 6"/>
          <p:cNvSpPr txBox="1"/>
          <p:nvPr/>
        </p:nvSpPr>
        <p:spPr>
          <a:xfrm>
            <a:off x="3200400" y="2148840"/>
            <a:ext cx="8439912" cy="100584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‫המחקר יתבסס על ראיונות עם 12 מנהלים ומנהלות של בתי ספר יסודיים ועל־יסודיים בערים בצפון הארץ, בעלי ותק שונה בתפקיד. המנהלים נבחרו משום שהם מקבלי ההחלטות בעת היעדרות, וההתמקדות בערים מאפשרת לבחון את התופעה בהקשר אחיד ולהשוות בין ערים שונות.‬</a:t>
            </a:r>
            <a:endParaRPr lang="he-IL" sz="1500" dirty="0"/>
          </a:p>
        </p:txBody>
      </p:sp>
      <p:sp>
        <p:nvSpPr>
          <p:cNvPr id="9" name="Text 7"/>
          <p:cNvSpPr txBox="1"/>
          <p:nvPr/>
        </p:nvSpPr>
        <p:spPr>
          <a:xfrm>
            <a:off x="3200400" y="324612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‫איך נחקור‬</a:t>
            </a:r>
            <a:endParaRPr lang="he-IL" sz="1500" dirty="0"/>
          </a:p>
        </p:txBody>
      </p:sp>
      <p:sp>
        <p:nvSpPr>
          <p:cNvPr id="10" name="Text 8"/>
          <p:cNvSpPr txBox="1"/>
          <p:nvPr/>
        </p:nvSpPr>
        <p:spPr>
          <a:xfrm>
            <a:off x="3200400" y="3611880"/>
            <a:ext cx="8439912" cy="128016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‫הכלי המרכזי הוא ראיון חצי מובנה. הראיון ייפתח בשאלות רקע על בית הספר ועל הצוות, ובהמשך יתבקשו המנהלים לתאר את הבוקר האחרון שבו מורה נעדר, צעד אחר צעד, ולספר על היעדרות ממושכת. הראיון מאפשר ללמוד על שיקולים ודילמות ולא רק על נהלים כתובים, והנתונים ינותחו בניתוח תמטי.‬</a:t>
            </a:r>
            <a:endParaRPr lang="he-IL" sz="1500" dirty="0"/>
          </a:p>
        </p:txBody>
      </p:sp>
      <p:sp>
        <p:nvSpPr>
          <p:cNvPr id="11" name="Text 9"/>
          <p:cNvSpPr txBox="1"/>
          <p:nvPr/>
        </p:nvSpPr>
        <p:spPr>
          <a:xfrm>
            <a:off x="3200400" y="470916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‫שיקולים אתיים‬</a:t>
            </a:r>
            <a:endParaRPr lang="he-IL" sz="1500" dirty="0"/>
          </a:p>
        </p:txBody>
      </p:sp>
      <p:sp>
        <p:nvSpPr>
          <p:cNvPr id="12" name="Text 10"/>
          <p:cNvSpPr txBox="1"/>
          <p:nvPr/>
        </p:nvSpPr>
        <p:spPr>
          <a:xfrm>
            <a:off x="3200400" y="5074920"/>
            <a:ext cx="8439912" cy="73152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‫המשתתפים יחתמו על טופס הסכמה מדעת, הראיונות יוקלטו רק באישורם, ושמות המנהלים, בתי הספר והערים לא יופיעו בעבודה.‬</a:t>
            </a:r>
            <a:endParaRPr lang="he-IL"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‫יוצאים לשטח‬</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‫מה נחפש ומה עלול להפתיע‬</a:t>
            </a:r>
            <a:endParaRPr lang="he-IL" sz="3400" dirty="0"/>
          </a:p>
        </p:txBody>
      </p:sp>
      <p:sp>
        <p:nvSpPr>
          <p:cNvPr id="4" name="Text 2"/>
          <p:cNvSpPr txBox="1"/>
          <p:nvPr/>
        </p:nvSpPr>
        <p:spPr>
          <a:xfrm>
            <a:off x="548640" y="17830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 אנחנו מחפשים‬</a:t>
            </a:r>
            <a:endParaRPr lang="he-IL" sz="1500" dirty="0"/>
          </a:p>
        </p:txBody>
      </p:sp>
      <p:sp>
        <p:nvSpPr>
          <p:cNvPr id="5" name="Text 3"/>
          <p:cNvSpPr txBox="1"/>
          <p:nvPr/>
        </p:nvSpPr>
        <p:spPr>
          <a:xfrm>
            <a:off x="548640" y="2148840"/>
            <a:ext cx="11091672" cy="7772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‫הניתוח יתמקד באסטרטגיות מונעות לעומת מגיבות, בהבדלים בין היעדרות קצרה לממושכת ובאיזון בין שיקולים פדגוגיים, שיקולי תקציב, הוגנות כלפי הצוות ורווחת המורה הנעדר.‬</a:t>
            </a:r>
            <a:endParaRPr lang="he-IL" sz="1600" dirty="0"/>
          </a:p>
        </p:txBody>
      </p:sp>
      <p:sp>
        <p:nvSpPr>
          <p:cNvPr id="6" name="Text 4"/>
          <p:cNvSpPr txBox="1"/>
          <p:nvPr/>
        </p:nvSpPr>
        <p:spPr>
          <a:xfrm>
            <a:off x="548640" y="29260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‫האתגר הגדול‬</a:t>
            </a:r>
            <a:endParaRPr lang="he-IL" sz="1500" dirty="0"/>
          </a:p>
        </p:txBody>
      </p:sp>
      <p:sp>
        <p:nvSpPr>
          <p:cNvPr id="7" name="Text 5"/>
          <p:cNvSpPr txBox="1"/>
          <p:nvPr/>
        </p:nvSpPr>
        <p:spPr>
          <a:xfrm>
            <a:off x="548640" y="3291840"/>
            <a:ext cx="11091672" cy="5486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‫מנהלים עשויים להציג תמונה חיובית מהמציאות, ולכן יתבקשו דוגמאות מוחשיות. גם תיאום זמן עם מנהלים עמוסים צפוי להיות קשה.‬</a:t>
            </a:r>
            <a:endParaRPr lang="he-IL" sz="1600" dirty="0"/>
          </a:p>
        </p:txBody>
      </p:sp>
      <p:sp>
        <p:nvSpPr>
          <p:cNvPr id="8" name="Text 6"/>
          <p:cNvSpPr txBox="1"/>
          <p:nvPr/>
        </p:nvSpPr>
        <p:spPr>
          <a:xfrm>
            <a:off x="548640" y="393192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 יפתיע אותנו‬</a:t>
            </a:r>
            <a:endParaRPr lang="he-IL" sz="1500" dirty="0"/>
          </a:p>
        </p:txBody>
      </p:sp>
      <p:sp>
        <p:nvSpPr>
          <p:cNvPr id="9" name="Text 7"/>
          <p:cNvSpPr txBox="1"/>
          <p:nvPr/>
        </p:nvSpPr>
        <p:spPr>
          <a:xfrm>
            <a:off x="548640" y="4297680"/>
            <a:ext cx="11091672" cy="45720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‫ממצא שלפיו ההחלטות מונחות בעיקר על ידי שמירה על שקט וסדר ולא על ידי רצף לימודי יערער את הנחת המוצא.‬</a:t>
            </a:r>
            <a:endParaRPr lang="he-IL" sz="1600" dirty="0"/>
          </a:p>
        </p:txBody>
      </p:sp>
      <p:sp>
        <p:nvSpPr>
          <p:cNvPr id="10" name="Shape 8"/>
          <p:cNvSpPr/>
          <p:nvPr/>
        </p:nvSpPr>
        <p:spPr>
          <a:xfrm>
            <a:off x="548640" y="5074920"/>
            <a:ext cx="11091672" cy="1188720"/>
          </a:xfrm>
          <a:prstGeom prst="roundRect">
            <a:avLst>
              <a:gd name="adj" fmla="val 9231"/>
            </a:avLst>
          </a:prstGeom>
          <a:solidFill>
            <a:srgbClr val="12343B"/>
          </a:solidFill>
          <a:ln w="12700">
            <a:solidFill>
              <a:srgbClr val="12343B"/>
            </a:solidFill>
            <a:prstDash val="solid"/>
          </a:ln>
        </p:spPr>
      </p:sp>
      <p:sp>
        <p:nvSpPr>
          <p:cNvPr id="11" name="Text 9"/>
          <p:cNvSpPr txBox="1"/>
          <p:nvPr/>
        </p:nvSpPr>
        <p:spPr>
          <a:xfrm>
            <a:off x="868680" y="5166360"/>
            <a:ext cx="10451592" cy="1005840"/>
          </a:xfrm>
          <a:prstGeom prst="rect">
            <a:avLst/>
          </a:prstGeom>
          <a:noFill/>
          <a:ln/>
        </p:spPr>
        <p:txBody>
          <a:bodyPr wrap="square" lIns="0" tIns="0" rIns="0" bIns="0" rtlCol="0" anchor="ctr"/>
          <a:lstStyle/>
          <a:p>
            <a:pPr algn="r" indent="0" marL="0" rtl="1">
              <a:lnSpc>
                <a:spcPct val="110000"/>
              </a:lnSpc>
              <a:buNone/>
            </a:pPr>
            <a:r>
              <a:rPr lang="he-IL" altLang="en-US" sz="1800" b="1" dirty="0">
                <a:solidFill>
                  <a:srgbClr val="8CC63F"/>
                </a:solidFill>
                <a:latin typeface="Arial" pitchFamily="34" charset="0"/>
                <a:ea typeface="Arial" pitchFamily="34" charset="-122"/>
                <a:cs typeface="Arial" pitchFamily="34" charset="-120"/>
              </a:rPr>
              <a:t>‫אם המחקר שלנו יהיה מוצלח, בסופו נבין טוב יותר ‬</a:t>
            </a:r>
            <a:pPr algn="r" indent="0" marL="0">
              <a:lnSpc>
                <a:spcPct val="110000"/>
              </a:lnSpc>
              <a:buNone/>
            </a:pPr>
            <a:r>
              <a:rPr lang="he-IL" altLang="en-US" sz="1800" dirty="0">
                <a:solidFill>
                  <a:srgbClr val="FFFFFF"/>
                </a:solidFill>
                <a:latin typeface="Arial" pitchFamily="34" charset="0"/>
                <a:ea typeface="Arial" pitchFamily="34" charset="-122"/>
                <a:cs typeface="Arial" pitchFamily="34" charset="-120"/>
              </a:rPr>
              <a:t>‫את האופן שבו מנהלים מאזנים, בזמן אמת, בין הצורך להבטיח נוכחות של מבוגר בכיתה ובין זכותם של התלמידים לרצף לימודי.‬</a:t>
            </a:r>
            <a:endParaRPr lang="he-IL"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אסטרטגיות ניהוליות של מנהלי בתי ספר בהתמודדות עם היעדרויות מורים</dc:title>
  <dc:subject>PptxGenJS Presentation</dc:subject>
  <dc:creator>חנין מנסור, אולפת עבד אל חי</dc:creator>
  <cp:lastModifiedBy>חנין מנסור, אולפת עבד אל חי</cp:lastModifiedBy>
  <cp:revision>1</cp:revision>
  <dcterms:created xsi:type="dcterms:W3CDTF">2026-09-28T14:35:35Z</dcterms:created>
  <dcterms:modified xsi:type="dcterms:W3CDTF">2026-09-28T14:35:35Z</dcterms:modified>
</cp:coreProperties>
</file>