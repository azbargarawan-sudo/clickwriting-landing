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לסרטון (כ-20 שניות): שלום, בסרטון הזה אציג שני צמחים רב-שנתיים מאזור מגוריי, עץ אורן ירושלים ושיח היביסקוס סיני. כל אחד מהם שייך לקבוצה אחרת של צמחים בעלי זרעים: האורן לחשופי הזרע וההיביסקוס למכוסי הזרע. דרך שניהם אראה איך שתי הקבוצות פותרות את אותן בעיות, רבייה והפצה ביבשה, בדרכים שונות לגמרי. [להשלים: שם מלא ות.ז. בשקף]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מבנה הסרטון (כ-20 שניות): לכל עץ אעבור על ששת הנושאים שנדרשו במטלה: מיון סיסטמתי, התכונות שמשייכות אותו לקבוצתו, צורת החיים, התפוצה הטבעית והנוכחית, צורת ההאבקה ואופן הפצת הזרעים. בסוף אשווה בין השניים ואוסיף שני נושאי רשות: פנולוגיה והקשר לאדם. (הנוסח בשקף מדבר על 'כל צמח'; אצלי אלה עץ אחד ושיח אחד, ושניהם רב-שנתיים כפי שהמטלה דורשת.)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רקע מהקורס (כ-30 שניות): שתי הקבוצות שייכות לצמחים בעלי הזרעים. אצל שתיהן השלב הדומיננטי במחזור החיים הוא הספורופיט הדיפלואידי, ולשתיהן התאמות מבניות ליבשה: קוטיקולה, פיוניות ורקמות הובלה. ההבדל הגדול הוא באיברי הרבייה: חשופי הזרע מייצרים אבקה וזרעים באצטרובלים, בלי פרח ובלי פרי, ואילו אצל מכוסי הזרע הפרח הוא איבר הרבייה והזרע מתפתח בתוך פרי. שני הצמחים שבחרתי מדגימים בדיוק את ההבדל הזה.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אורן ירושלים, מיון (כ-25 שניות): העץ הראשון הוא אורן ירושלים. הוא שייך לממלכת הצמחים, לקבוצת חשופי הזרע ובתוכה למחטניים, למשפחת האורניים, לסוג אורן ולמין אורן ירושלים, Pinus halepensis. שימו לב שנבחר מין מסוים, כפי שנדרש במטלה, ולא רק 'אורן'. [צלמו את עצמכם ליד עץ אורן אמיתי באזור המגורים]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אורן, שיוך וצורת חיים (כ-40 שניות): מה משייך את האורן לחשופי הזרע? אין לו פרחים ואין פירות. איברי הרבייה הם אצטרובלים: הזכריים קטנים ומשחררים כמויות גדולות של אבקה, והנקביים מעוצים, והזרעים יושבים חשופים על הקשקשים שלהם. העלים דמויי מחט ומכוסים קוטיקולה עבה, התאמה שמצמצמת איבוד מים. צורת החיים: עץ ירוק-עד שמגיע לגובה של עשרה עד עשרים מטרים. [מומלץ להראות מחט ואצטרובל מול המצלמה]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אורן, תפוצה (כ-30 שניות): התפוצה הטבעית של אורן ירושלים היא סביב אגן הים התיכון, ובישראל הוא גדל בר בכרמל, בגליל ובהרי יהודה. האדם שינה מאוד את תמונת התפוצה: זה המין העיקרי שניטע ביערות ישראל מאז ראשית המאה העשרים, ומהיערות הנטועים הוא מתפשט מאליו לשטחים פתוחים. כלומר, התפוצה הנוכחית רחבה בהרבה מהטבעית.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אורן, האבקה והפצה (כ-40 שניות): גם ההאבקה וגם ההפצה אצל האורן נעשות ברוח. באביב אפשר לראות ענני אבקה צהובה משתחררים מהאצטרובלים הזכריים; גרגר שמגיע לאצטרובל נקבי מפרה את הביצית. הזרע הבשל נושא כנפית דקה והרוח מעיפה אותו הרחק מעץ האם. תופעה מעניינת: חלק מהאצטרובלים נשארים סגורים על העץ שנים ונפתחים דווקא אחרי שריפה, וכך האורן מתחדש במהירות בשטח שנשרף. [אפשר להדגים אצטרובל פתוח וסגור ולנער זרע עם כנפית]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היביסקוס, מיון (כ-25 שניות): הצמח השני הוא היביסקוס סיני, השיח שצילמתי ליד הבית. הוא שייך לממלכת הצמחים, לקבוצת מכוסי הזרע ובתוכה לדו-פסיגיים, למשפחת החלמיתיים, לסוג היביסקוס ולמין היביסקוס סיני, Hibiscus rosa-sinensis. גם כאן, מין מסוים ולא רק 'היביסקוס'. [מומלץ לצלם את עצמכם מדברים ליד השיח]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היביסקוס, שיוך וצורת חיים (כ-40 שניות): ההיביסקוס מדגים את מכוסי הזרע בצורה הכי ברורה שיש: פרח גדול ואדום, עם חמישה עלי כותרת ועמוד מרכזי בולט שנושא את האבקנים ואת הצלקות, מבנה אופייני למשפחת החלמיתיים. הביצית סגורה בתוך שחלה, ואחרי הפריה הזרעים מתפתחים בתוך פרי. צורת החיים שונה מהאורן: זה שיח, לא עץ. הוא מסתעף כבר מהבסיס, בלי גזע מרכזי, ומגיע בדרך כלל לגובה של מטר עד שלושה מטרים. [להראות את הפרח מקרוב מול המצלמה, לפתוח ולהצביע על האבקנים והצלקת]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היביסקוס, תפוצה (כ-30 שניות): כאן ההבדל מהאורן מעניין במיוחד. מוצא ההיביסקוס הסיני באזורים הטרופיים של מזרח אסיה, אבל הוא מתורבת כל כך הרבה זמן שכמעט לא מכירים אוכלוסיות בר ודאיות שלו. את כל תפוצתו הנוכחית עשה בעזרת האדם: הוא ניטע כצמח נוי באזורים חמים בכל העולם, ובישראל כל שיח היביסקוס שנראה ברחוב או בגינה ניטע בידי אדם. אצל האורן האדם הרחיב תפוצה טבעית קיימת; אצל ההיביסקוס האדם הוא כמעט כל הסיפור.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היביסקוס, האבקה והפצה (כ-40 שניות): בניגוד לאורן, ההיביסקוס בנוי כולו סביב בעלי חיים. הפרח הגדול והאדום מציע צוף, ובאזורי המוצא הטרופיים מאביקים אותו בעיקר ציפורים צופיות ופרפרים. גם אצלנו אפשר לראות את הצופית הבוהקת מבקרת בפרחים, ולידה דבורים. לגבי ההפצה: הפרי של ההיביסקוס הוא הלקט שנפתח כשהוא מבשיל, אבל רוב זני התרבות כמעט אינם חונטים פרי, ולכן בפועל מי שמפיץ את הצמח הוא האדם, באמצעות ייחורים ושתילה. זו נקודה מעניינת: אצל צמח תרבות, האדם תופס את מקומם של סוכני ההפצה הטבעיים. [לצלם את הפרח מקרוב, ואם יש מזל גם צופית או דבורה]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השוואה (כ-40 שניות): נסכם את ההבדלים זה מול זה. האורן, חשוף זרע ממשפחת האורניים, הוא עץ שמסתמך כולו על הרוח: גם להאבקה וגם להפצת הזרעים בעלי הכנפית, ואפילו נעזר בשריפות להתחדשות. ההיביסקוס, מכוסה זרע ממשפחת החלמיתיים, הוא שיח שפרחיו הגדולים מגייסים בעלי חיים להאבקה, ציפורים צופיות ופרפרים, ובתור צמח תרבות את ההפצה שלו עושה בעיקר האדם. אותן שתי משימות בדיוק, האבקה והפצה, ושתי אסטרטגיות שונות לגמרי.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נושאי רשות (כ-30 שניות): שתי תוספות מעניינות. הראשונה, פנולוגיה: האורן מרוכז, אבקה באביב וזרעים בקיץ, ואילו ההיביסקוס פורח כמעט כל השנה, אבל כל פרח בודד חי יום או יומיים בלבד. השנייה, הקשר לאדם: ההיביסקוס הסיני הוא מצמחי הנוי הנפוצים בעולם והפרח הלאומי של מלזיה, ושמו המדעי פירושו 'ורד סיני'. האורן, מצדו, הוא העץ שמעצב את נוף היערות הנטועים של ישראל. [אפשר להחליף בנושא רשות אחר או להוסיף קשר אישי שלכם לצמחים]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סיכום לסרטון (כ-25 שניות): ראינו שני צמחים שגדלים זה לצד זה בשכונה, ובכל זאת מייצגים שתי קבוצות שונות של צמחים בעלי זרעים. האורן, חשוף הזרע, בנה את כל מחזור החיים שלו על הרוח, בלי פרח ובלי פרי. ההיביסקוס, מכוסה הזרע, שם הכול על הפרח: צבע, צוף ומבנה שמושכים בעלי חיים, וכצמח תרבות הוא גייס להפצתו את המפיץ היעיל מכולם, האדם. תודה על הצפייה.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שקף המקורות לא חייב להופיע בסרטון עצמו, אבל טוב לסיים בו כדי להראות על מה התבססתם. לפני ההגשה: להשלים את פרטי אתרי המידע שבהם השתמשתם בפועל (עם קישור ותאריך אחזור), למלא את הצהרת השימוש בבינה מלאכותית לפי הטופס הרשמי של הקורס, ולוודא שאורך הסרטון בין חמש לשבע דקות.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20"/>
        </a:solidFill>
      </p:bgPr>
    </p:bg>
    <p:spTree>
      <p:nvGrpSpPr>
        <p:cNvPr id="1" name=""/>
        <p:cNvGrpSpPr/>
        <p:nvPr/>
      </p:nvGrpSpPr>
      <p:grpSpPr>
        <a:xfrm>
          <a:off x="0" y="0"/>
          <a:ext cx="0" cy="0"/>
          <a:chOff x="0" y="0"/>
          <a:chExt cx="0" cy="0"/>
        </a:xfrm>
      </p:grpSpPr>
      <p:sp>
        <p:nvSpPr>
          <p:cNvPr id="2" name="Shape 0"/>
          <p:cNvSpPr/>
          <p:nvPr/>
        </p:nvSpPr>
        <p:spPr>
          <a:xfrm>
            <a:off x="6414516" y="777240"/>
            <a:ext cx="960120" cy="960120"/>
          </a:xfrm>
          <a:prstGeom prst="ellipse">
            <a:avLst/>
          </a:prstGeom>
          <a:solidFill>
            <a:srgbClr val="2F6B5C"/>
          </a:solidFill>
          <a:ln/>
        </p:spPr>
      </p:sp>
      <p:pic>
        <p:nvPicPr>
          <p:cNvPr id="3" name="Image 0" descr="preencoded.png">    </p:cNvPr>
          <p:cNvPicPr>
            <a:picLocks noChangeAspect="1"/>
          </p:cNvPicPr>
          <p:nvPr/>
        </p:nvPicPr>
        <p:blipFill>
          <a:blip r:embed="rId1"/>
          <a:stretch>
            <a:fillRect/>
          </a:stretch>
        </p:blipFill>
        <p:spPr>
          <a:xfrm>
            <a:off x="6664147" y="1026871"/>
            <a:ext cx="460858" cy="460858"/>
          </a:xfrm>
          <a:prstGeom prst="rect">
            <a:avLst/>
          </a:prstGeom>
        </p:spPr>
      </p:pic>
      <p:sp>
        <p:nvSpPr>
          <p:cNvPr id="4" name="Shape 1"/>
          <p:cNvSpPr/>
          <p:nvPr/>
        </p:nvSpPr>
        <p:spPr>
          <a:xfrm>
            <a:off x="4814316" y="777240"/>
            <a:ext cx="960120" cy="960120"/>
          </a:xfrm>
          <a:prstGeom prst="ellipse">
            <a:avLst/>
          </a:prstGeom>
          <a:solidFill>
            <a:srgbClr val="A8353A"/>
          </a:solidFill>
          <a:ln/>
        </p:spPr>
      </p:sp>
      <p:pic>
        <p:nvPicPr>
          <p:cNvPr id="5" name="Image 1" descr="preencoded.png">    </p:cNvPr>
          <p:cNvPicPr>
            <a:picLocks noChangeAspect="1"/>
          </p:cNvPicPr>
          <p:nvPr/>
        </p:nvPicPr>
        <p:blipFill>
          <a:blip r:embed="rId2"/>
          <a:stretch>
            <a:fillRect/>
          </a:stretch>
        </p:blipFill>
        <p:spPr>
          <a:xfrm>
            <a:off x="5063947" y="1026871"/>
            <a:ext cx="460858" cy="460858"/>
          </a:xfrm>
          <a:prstGeom prst="rect">
            <a:avLst/>
          </a:prstGeom>
        </p:spPr>
      </p:pic>
      <p:sp>
        <p:nvSpPr>
          <p:cNvPr id="6" name="Text 2"/>
          <p:cNvSpPr/>
          <p:nvPr/>
        </p:nvSpPr>
        <p:spPr>
          <a:xfrm>
            <a:off x="1097280" y="1965960"/>
            <a:ext cx="9994392" cy="82296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עבודה מסכמת בבוטניקה: סרטון לימודי</a:t>
            </a:r>
            <a:endParaRPr lang="en-US" sz="4000" dirty="0"/>
          </a:p>
        </p:txBody>
      </p:sp>
      <p:sp>
        <p:nvSpPr>
          <p:cNvPr id="7" name="Text 3"/>
          <p:cNvSpPr/>
          <p:nvPr/>
        </p:nvSpPr>
        <p:spPr>
          <a:xfrm>
            <a:off x="1097280" y="2834640"/>
            <a:ext cx="9994392" cy="548640"/>
          </a:xfrm>
          <a:prstGeom prst="rect">
            <a:avLst/>
          </a:prstGeom>
          <a:noFill/>
          <a:ln/>
        </p:spPr>
        <p:txBody>
          <a:bodyPr wrap="square" lIns="0" tIns="0" rIns="0" bIns="0" rtlCol="0" anchor="ctr"/>
          <a:lstStyle/>
          <a:p>
            <a:pPr algn="ctr" indent="0" marL="0">
              <a:buNone/>
            </a:pPr>
            <a:r>
              <a:rPr lang="en-US" sz="2100" b="1" dirty="0">
                <a:solidFill>
                  <a:srgbClr val="97BC62"/>
                </a:solidFill>
                <a:latin typeface="Arial" pitchFamily="34" charset="0"/>
                <a:ea typeface="Arial" pitchFamily="34" charset="-122"/>
                <a:cs typeface="Arial" pitchFamily="34" charset="-120"/>
              </a:rPr>
              <a:t>אורן ירושלים </a:t>
            </a:r>
            <a:pPr algn="ctr" indent="0" marL="0">
              <a:buNone/>
            </a:pPr>
            <a:r>
              <a:rPr lang="en-US" sz="2100" i="1" dirty="0">
                <a:solidFill>
                  <a:srgbClr val="97BC62"/>
                </a:solidFill>
                <a:latin typeface="Times New Roman" pitchFamily="34" charset="0"/>
                <a:ea typeface="Times New Roman" pitchFamily="34" charset="-122"/>
                <a:cs typeface="Times New Roman" pitchFamily="34" charset="-120"/>
              </a:rPr>
              <a:t>(Pinus halepensis)</a:t>
            </a:r>
            <a:pPr algn="ctr" indent="0" marL="0">
              <a:buNone/>
            </a:pPr>
            <a:r>
              <a:rPr lang="en-US" sz="2100" b="1" dirty="0">
                <a:solidFill>
                  <a:srgbClr val="97BC62"/>
                </a:solidFill>
                <a:latin typeface="Arial" pitchFamily="34" charset="0"/>
                <a:ea typeface="Arial" pitchFamily="34" charset="-122"/>
                <a:cs typeface="Arial" pitchFamily="34" charset="-120"/>
              </a:rPr>
              <a:t> מול היביסקוס סיני </a:t>
            </a:r>
            <a:pPr algn="ctr" indent="0" marL="0">
              <a:buNone/>
            </a:pPr>
            <a:r>
              <a:rPr lang="en-US" sz="2100" i="1" dirty="0">
                <a:solidFill>
                  <a:srgbClr val="97BC62"/>
                </a:solidFill>
                <a:latin typeface="Times New Roman" pitchFamily="34" charset="0"/>
                <a:ea typeface="Times New Roman" pitchFamily="34" charset="-122"/>
                <a:cs typeface="Times New Roman" pitchFamily="34" charset="-120"/>
              </a:rPr>
              <a:t>(Hibiscus rosa-sinensis)</a:t>
            </a:r>
            <a:endParaRPr lang="en-US" sz="2100" dirty="0"/>
          </a:p>
        </p:txBody>
      </p:sp>
      <p:sp>
        <p:nvSpPr>
          <p:cNvPr id="8" name="Text 4"/>
          <p:cNvSpPr/>
          <p:nvPr/>
        </p:nvSpPr>
        <p:spPr>
          <a:xfrm>
            <a:off x="1097280" y="3429000"/>
            <a:ext cx="9994392" cy="457200"/>
          </a:xfrm>
          <a:prstGeom prst="rect">
            <a:avLst/>
          </a:prstGeom>
          <a:noFill/>
          <a:ln/>
        </p:spPr>
        <p:txBody>
          <a:bodyPr wrap="square" lIns="0" tIns="0" rIns="0" bIns="0" rtlCol="0" anchor="ctr"/>
          <a:lstStyle/>
          <a:p>
            <a:pPr rtl="1" algn="ctr" indent="0" marL="0">
              <a:buNone/>
            </a:pPr>
            <a:r>
              <a:rPr lang="en-US" sz="1600" dirty="0">
                <a:solidFill>
                  <a:srgbClr val="D8E4C8"/>
                </a:solidFill>
                <a:latin typeface="Arial" pitchFamily="34" charset="0"/>
                <a:ea typeface="Arial" pitchFamily="34" charset="-122"/>
                <a:cs typeface="Arial" pitchFamily="34" charset="-120"/>
              </a:rPr>
              <a:t>עץ ושיח משתי קבוצות: חשופי זרע ומכוסי זרע</a:t>
            </a:r>
            <a:endParaRPr lang="en-US" sz="1600" dirty="0"/>
          </a:p>
        </p:txBody>
      </p:sp>
      <p:sp>
        <p:nvSpPr>
          <p:cNvPr id="9" name="Text 5"/>
          <p:cNvSpPr/>
          <p:nvPr/>
        </p:nvSpPr>
        <p:spPr>
          <a:xfrm>
            <a:off x="1097280" y="4572000"/>
            <a:ext cx="9994392" cy="1280160"/>
          </a:xfrm>
          <a:prstGeom prst="rect">
            <a:avLst/>
          </a:prstGeom>
          <a:noFill/>
          <a:ln/>
        </p:spPr>
        <p:txBody>
          <a:bodyPr wrap="square" lIns="0" tIns="0" rIns="0" bIns="0" rtlCol="0" anchor="ctr"/>
          <a:lstStyle/>
          <a:p>
            <a:pPr algn="ctr" indent="0" marL="0">
              <a:lnSpc>
                <a:spcPct val="135000"/>
              </a:lnSpc>
              <a:buNone/>
            </a:pPr>
            <a:r>
              <a:rPr lang="en-US" sz="1500" dirty="0">
                <a:solidFill>
                  <a:srgbClr val="FFFFFF"/>
                </a:solidFill>
                <a:latin typeface="Arial" pitchFamily="34" charset="0"/>
                <a:ea typeface="Arial" pitchFamily="34" charset="-122"/>
                <a:cs typeface="Arial" pitchFamily="34" charset="-120"/>
              </a:rPr>
              <a:t>קורס בוטניקה וזואולוגיה | מרצה: ד"ר אלון לוטן</a:t>
            </a:r>
            <a:endParaRPr lang="en-US" sz="1500" dirty="0"/>
          </a:p>
          <a:p>
            <a:pPr algn="ctr" indent="0" marL="0">
              <a:lnSpc>
                <a:spcPct val="135000"/>
              </a:lnSpc>
              <a:buNone/>
            </a:pPr>
            <a:r>
              <a:rPr lang="en-US" sz="1500" dirty="0">
                <a:solidFill>
                  <a:srgbClr val="FFFFFF"/>
                </a:solidFill>
                <a:latin typeface="Arial" pitchFamily="34" charset="0"/>
                <a:ea typeface="Arial" pitchFamily="34" charset="-122"/>
                <a:cs typeface="Arial" pitchFamily="34" charset="-120"/>
              </a:rPr>
              <a:t>מגיש/ה: ______________ ת.ז: ______________‏</a:t>
            </a:r>
            <a:endParaRPr lang="en-US" sz="1500" dirty="0"/>
          </a:p>
          <a:p>
            <a:pPr algn="ctr" indent="0" marL="0">
              <a:lnSpc>
                <a:spcPct val="135000"/>
              </a:lnSpc>
              <a:buNone/>
            </a:pPr>
            <a:r>
              <a:rPr lang="en-US" sz="1500" dirty="0">
                <a:solidFill>
                  <a:srgbClr val="FFFFFF"/>
                </a:solidFill>
                <a:latin typeface="Arial" pitchFamily="34" charset="0"/>
                <a:ea typeface="Arial" pitchFamily="34" charset="-122"/>
                <a:cs typeface="Arial" pitchFamily="34" charset="-120"/>
              </a:rPr>
              <a:t>מועד הגשה: אוגוסט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54512" y="384048"/>
            <a:ext cx="685800" cy="685800"/>
          </a:xfrm>
          <a:prstGeom prst="ellipse">
            <a:avLst/>
          </a:prstGeom>
          <a:solidFill>
            <a:srgbClr val="F0F4EA"/>
          </a:solidFill>
          <a:ln/>
        </p:spPr>
      </p:sp>
      <p:pic>
        <p:nvPicPr>
          <p:cNvPr id="3" name="Image 0" descr="preencoded.png">    </p:cNvPr>
          <p:cNvPicPr>
            <a:picLocks noChangeAspect="1"/>
          </p:cNvPicPr>
          <p:nvPr/>
        </p:nvPicPr>
        <p:blipFill>
          <a:blip r:embed="rId1"/>
          <a:stretch>
            <a:fillRect/>
          </a:stretch>
        </p:blipFill>
        <p:spPr>
          <a:xfrm>
            <a:off x="11132820" y="562356"/>
            <a:ext cx="329184" cy="329184"/>
          </a:xfrm>
          <a:prstGeom prst="rect">
            <a:avLst/>
          </a:prstGeom>
        </p:spPr>
      </p:pic>
      <p:sp>
        <p:nvSpPr>
          <p:cNvPr id="4" name="Text 1"/>
          <p:cNvSpPr/>
          <p:nvPr/>
        </p:nvSpPr>
        <p:spPr>
          <a:xfrm>
            <a:off x="548640" y="347472"/>
            <a:ext cx="10222992" cy="566928"/>
          </a:xfrm>
          <a:prstGeom prst="rect">
            <a:avLst/>
          </a:prstGeom>
          <a:noFill/>
          <a:ln/>
        </p:spPr>
        <p:txBody>
          <a:bodyPr wrap="square" lIns="0" tIns="0" rIns="0" bIns="0" rtlCol="0" anchor="ctr"/>
          <a:lstStyle/>
          <a:p>
            <a:pPr rtl="1" algn="r" indent="0" marL="0">
              <a:buNone/>
            </a:pPr>
            <a:r>
              <a:rPr lang="en-US" sz="2800" b="1" dirty="0">
                <a:solidFill>
                  <a:srgbClr val="2C5F2D"/>
                </a:solidFill>
                <a:latin typeface="Arial" pitchFamily="34" charset="0"/>
                <a:ea typeface="Arial" pitchFamily="34" charset="-122"/>
                <a:cs typeface="Arial" pitchFamily="34" charset="-120"/>
              </a:rPr>
              <a:t>מה נראה בסרטון</a:t>
            </a:r>
            <a:endParaRPr lang="en-US" sz="2800" dirty="0"/>
          </a:p>
        </p:txBody>
      </p:sp>
      <p:sp>
        <p:nvSpPr>
          <p:cNvPr id="5" name="Text 2"/>
          <p:cNvSpPr/>
          <p:nvPr/>
        </p:nvSpPr>
        <p:spPr>
          <a:xfrm>
            <a:off x="548640" y="932688"/>
            <a:ext cx="10222992" cy="365760"/>
          </a:xfrm>
          <a:prstGeom prst="rect">
            <a:avLst/>
          </a:prstGeom>
          <a:noFill/>
          <a:ln/>
        </p:spPr>
        <p:txBody>
          <a:bodyPr wrap="square" lIns="0" tIns="0" rIns="0" bIns="0" rtlCol="0" anchor="t"/>
          <a:lstStyle/>
          <a:p>
            <a:pPr rtl="1" algn="r" indent="0" marL="0">
              <a:buNone/>
            </a:pPr>
            <a:r>
              <a:rPr lang="en-US" sz="1400" dirty="0">
                <a:solidFill>
                  <a:srgbClr val="5F6E53"/>
                </a:solidFill>
                <a:latin typeface="Arial" pitchFamily="34" charset="0"/>
                <a:ea typeface="Arial" pitchFamily="34" charset="-122"/>
                <a:cs typeface="Arial" pitchFamily="34" charset="-120"/>
              </a:rPr>
              <a:t>שישה נושאי חובה לכל עץ, לפי דרישות המטלה</a:t>
            </a:r>
            <a:endParaRPr lang="en-US" sz="1400" dirty="0"/>
          </a:p>
        </p:txBody>
      </p:sp>
      <p:sp>
        <p:nvSpPr>
          <p:cNvPr id="6" name="Shape 3"/>
          <p:cNvSpPr/>
          <p:nvPr/>
        </p:nvSpPr>
        <p:spPr>
          <a:xfrm>
            <a:off x="6199632" y="1600200"/>
            <a:ext cx="5394960" cy="1371600"/>
          </a:xfrm>
          <a:prstGeom prst="roundRect">
            <a:avLst>
              <a:gd name="adj" fmla="val 8000"/>
            </a:avLst>
          </a:prstGeom>
          <a:solidFill>
            <a:srgbClr val="F0F4EA"/>
          </a:solidFill>
          <a:ln/>
        </p:spPr>
      </p:sp>
      <p:sp>
        <p:nvSpPr>
          <p:cNvPr id="7" name="Shape 4"/>
          <p:cNvSpPr/>
          <p:nvPr/>
        </p:nvSpPr>
        <p:spPr>
          <a:xfrm>
            <a:off x="10451592" y="1901952"/>
            <a:ext cx="768096" cy="768096"/>
          </a:xfrm>
          <a:prstGeom prst="ellipse">
            <a:avLst/>
          </a:prstGeom>
          <a:solidFill>
            <a:srgbClr val="FFFFFF"/>
          </a:solidFill>
          <a:ln/>
        </p:spPr>
      </p:sp>
      <p:pic>
        <p:nvPicPr>
          <p:cNvPr id="8" name="Image 1" descr="preencoded.png">    </p:cNvPr>
          <p:cNvPicPr>
            <a:picLocks noChangeAspect="1"/>
          </p:cNvPicPr>
          <p:nvPr/>
        </p:nvPicPr>
        <p:blipFill>
          <a:blip r:embed="rId2"/>
          <a:stretch>
            <a:fillRect/>
          </a:stretch>
        </p:blipFill>
        <p:spPr>
          <a:xfrm>
            <a:off x="10651297" y="2101657"/>
            <a:ext cx="368686" cy="368686"/>
          </a:xfrm>
          <a:prstGeom prst="rect">
            <a:avLst/>
          </a:prstGeom>
        </p:spPr>
      </p:pic>
      <p:sp>
        <p:nvSpPr>
          <p:cNvPr id="9" name="Shape 5"/>
          <p:cNvSpPr/>
          <p:nvPr/>
        </p:nvSpPr>
        <p:spPr>
          <a:xfrm>
            <a:off x="6455664" y="1874520"/>
            <a:ext cx="384048" cy="384048"/>
          </a:xfrm>
          <a:prstGeom prst="ellipse">
            <a:avLst/>
          </a:prstGeom>
          <a:solidFill>
            <a:srgbClr val="97BC62"/>
          </a:solidFill>
          <a:ln/>
        </p:spPr>
      </p:sp>
      <p:sp>
        <p:nvSpPr>
          <p:cNvPr id="10" name="Text 6"/>
          <p:cNvSpPr/>
          <p:nvPr/>
        </p:nvSpPr>
        <p:spPr>
          <a:xfrm>
            <a:off x="6455664" y="1874520"/>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א</a:t>
            </a:r>
            <a:endParaRPr lang="en-US" sz="1400" dirty="0"/>
          </a:p>
        </p:txBody>
      </p:sp>
      <p:sp>
        <p:nvSpPr>
          <p:cNvPr id="11" name="Text 7"/>
          <p:cNvSpPr/>
          <p:nvPr/>
        </p:nvSpPr>
        <p:spPr>
          <a:xfrm>
            <a:off x="6976872" y="1801368"/>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מיון סיסטמתי</a:t>
            </a:r>
            <a:endParaRPr lang="en-US" sz="1650" dirty="0"/>
          </a:p>
        </p:txBody>
      </p:sp>
      <p:sp>
        <p:nvSpPr>
          <p:cNvPr id="12" name="Text 8"/>
          <p:cNvSpPr/>
          <p:nvPr/>
        </p:nvSpPr>
        <p:spPr>
          <a:xfrm>
            <a:off x="6976872" y="2240280"/>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משפחה, סוג ומין</a:t>
            </a:r>
            <a:endParaRPr lang="en-US" sz="1250" dirty="0"/>
          </a:p>
        </p:txBody>
      </p:sp>
      <p:sp>
        <p:nvSpPr>
          <p:cNvPr id="13" name="Shape 9"/>
          <p:cNvSpPr/>
          <p:nvPr/>
        </p:nvSpPr>
        <p:spPr>
          <a:xfrm>
            <a:off x="6199632" y="3172968"/>
            <a:ext cx="5394960" cy="1371600"/>
          </a:xfrm>
          <a:prstGeom prst="roundRect">
            <a:avLst>
              <a:gd name="adj" fmla="val 8000"/>
            </a:avLst>
          </a:prstGeom>
          <a:solidFill>
            <a:srgbClr val="F0F4EA"/>
          </a:solidFill>
          <a:ln/>
        </p:spPr>
      </p:sp>
      <p:sp>
        <p:nvSpPr>
          <p:cNvPr id="14" name="Shape 10"/>
          <p:cNvSpPr/>
          <p:nvPr/>
        </p:nvSpPr>
        <p:spPr>
          <a:xfrm>
            <a:off x="10451592" y="3474720"/>
            <a:ext cx="768096" cy="768096"/>
          </a:xfrm>
          <a:prstGeom prst="ellipse">
            <a:avLst/>
          </a:prstGeom>
          <a:solidFill>
            <a:srgbClr val="FFFFFF"/>
          </a:solidFill>
          <a:ln/>
        </p:spPr>
      </p:sp>
      <p:pic>
        <p:nvPicPr>
          <p:cNvPr id="15" name="Image 2" descr="preencoded.png">    </p:cNvPr>
          <p:cNvPicPr>
            <a:picLocks noChangeAspect="1"/>
          </p:cNvPicPr>
          <p:nvPr/>
        </p:nvPicPr>
        <p:blipFill>
          <a:blip r:embed="rId3"/>
          <a:stretch>
            <a:fillRect/>
          </a:stretch>
        </p:blipFill>
        <p:spPr>
          <a:xfrm>
            <a:off x="10651297" y="3674425"/>
            <a:ext cx="368686" cy="368686"/>
          </a:xfrm>
          <a:prstGeom prst="rect">
            <a:avLst/>
          </a:prstGeom>
        </p:spPr>
      </p:pic>
      <p:sp>
        <p:nvSpPr>
          <p:cNvPr id="16" name="Shape 11"/>
          <p:cNvSpPr/>
          <p:nvPr/>
        </p:nvSpPr>
        <p:spPr>
          <a:xfrm>
            <a:off x="6455664" y="3447288"/>
            <a:ext cx="384048" cy="384048"/>
          </a:xfrm>
          <a:prstGeom prst="ellipse">
            <a:avLst/>
          </a:prstGeom>
          <a:solidFill>
            <a:srgbClr val="97BC62"/>
          </a:solidFill>
          <a:ln/>
        </p:spPr>
      </p:sp>
      <p:sp>
        <p:nvSpPr>
          <p:cNvPr id="17" name="Text 12"/>
          <p:cNvSpPr/>
          <p:nvPr/>
        </p:nvSpPr>
        <p:spPr>
          <a:xfrm>
            <a:off x="6455664" y="3447288"/>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ב</a:t>
            </a:r>
            <a:endParaRPr lang="en-US" sz="1400" dirty="0"/>
          </a:p>
        </p:txBody>
      </p:sp>
      <p:sp>
        <p:nvSpPr>
          <p:cNvPr id="18" name="Text 13"/>
          <p:cNvSpPr/>
          <p:nvPr/>
        </p:nvSpPr>
        <p:spPr>
          <a:xfrm>
            <a:off x="6976872" y="3374136"/>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שיוך לקבוצה</a:t>
            </a:r>
            <a:endParaRPr lang="en-US" sz="1650" dirty="0"/>
          </a:p>
        </p:txBody>
      </p:sp>
      <p:sp>
        <p:nvSpPr>
          <p:cNvPr id="19" name="Text 14"/>
          <p:cNvSpPr/>
          <p:nvPr/>
        </p:nvSpPr>
        <p:spPr>
          <a:xfrm>
            <a:off x="6976872" y="3813048"/>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אילו תכונות קובעות: חשוף זרע או מכוסה זרע</a:t>
            </a:r>
            <a:endParaRPr lang="en-US" sz="1250" dirty="0"/>
          </a:p>
        </p:txBody>
      </p:sp>
      <p:sp>
        <p:nvSpPr>
          <p:cNvPr id="20" name="Shape 15"/>
          <p:cNvSpPr/>
          <p:nvPr/>
        </p:nvSpPr>
        <p:spPr>
          <a:xfrm>
            <a:off x="6199632" y="4745736"/>
            <a:ext cx="5394960" cy="1371600"/>
          </a:xfrm>
          <a:prstGeom prst="roundRect">
            <a:avLst>
              <a:gd name="adj" fmla="val 8000"/>
            </a:avLst>
          </a:prstGeom>
          <a:solidFill>
            <a:srgbClr val="F0F4EA"/>
          </a:solidFill>
          <a:ln/>
        </p:spPr>
      </p:sp>
      <p:sp>
        <p:nvSpPr>
          <p:cNvPr id="21" name="Shape 16"/>
          <p:cNvSpPr/>
          <p:nvPr/>
        </p:nvSpPr>
        <p:spPr>
          <a:xfrm>
            <a:off x="10451592" y="5047488"/>
            <a:ext cx="768096" cy="768096"/>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10651297" y="5247193"/>
            <a:ext cx="368686" cy="368686"/>
          </a:xfrm>
          <a:prstGeom prst="rect">
            <a:avLst/>
          </a:prstGeom>
        </p:spPr>
      </p:pic>
      <p:sp>
        <p:nvSpPr>
          <p:cNvPr id="23" name="Shape 17"/>
          <p:cNvSpPr/>
          <p:nvPr/>
        </p:nvSpPr>
        <p:spPr>
          <a:xfrm>
            <a:off x="6455664" y="5020056"/>
            <a:ext cx="384048" cy="384048"/>
          </a:xfrm>
          <a:prstGeom prst="ellipse">
            <a:avLst/>
          </a:prstGeom>
          <a:solidFill>
            <a:srgbClr val="97BC62"/>
          </a:solidFill>
          <a:ln/>
        </p:spPr>
      </p:sp>
      <p:sp>
        <p:nvSpPr>
          <p:cNvPr id="24" name="Text 18"/>
          <p:cNvSpPr/>
          <p:nvPr/>
        </p:nvSpPr>
        <p:spPr>
          <a:xfrm>
            <a:off x="6455664" y="5020056"/>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ג</a:t>
            </a:r>
            <a:endParaRPr lang="en-US" sz="1400" dirty="0"/>
          </a:p>
        </p:txBody>
      </p:sp>
      <p:sp>
        <p:nvSpPr>
          <p:cNvPr id="25" name="Text 19"/>
          <p:cNvSpPr/>
          <p:nvPr/>
        </p:nvSpPr>
        <p:spPr>
          <a:xfrm>
            <a:off x="6976872" y="4946904"/>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צורת חיים</a:t>
            </a:r>
            <a:endParaRPr lang="en-US" sz="1650" dirty="0"/>
          </a:p>
        </p:txBody>
      </p:sp>
      <p:sp>
        <p:nvSpPr>
          <p:cNvPr id="26" name="Text 20"/>
          <p:cNvSpPr/>
          <p:nvPr/>
        </p:nvSpPr>
        <p:spPr>
          <a:xfrm>
            <a:off x="6976872" y="5385816"/>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עץ, שיח או מטפס</a:t>
            </a:r>
            <a:endParaRPr lang="en-US" sz="1250" dirty="0"/>
          </a:p>
        </p:txBody>
      </p:sp>
      <p:sp>
        <p:nvSpPr>
          <p:cNvPr id="27" name="Shape 21"/>
          <p:cNvSpPr/>
          <p:nvPr/>
        </p:nvSpPr>
        <p:spPr>
          <a:xfrm>
            <a:off x="393192" y="1600200"/>
            <a:ext cx="5394960" cy="1371600"/>
          </a:xfrm>
          <a:prstGeom prst="roundRect">
            <a:avLst>
              <a:gd name="adj" fmla="val 8000"/>
            </a:avLst>
          </a:prstGeom>
          <a:solidFill>
            <a:srgbClr val="F0F4EA"/>
          </a:solidFill>
          <a:ln/>
        </p:spPr>
      </p:sp>
      <p:sp>
        <p:nvSpPr>
          <p:cNvPr id="28" name="Shape 22"/>
          <p:cNvSpPr/>
          <p:nvPr/>
        </p:nvSpPr>
        <p:spPr>
          <a:xfrm>
            <a:off x="4645152" y="1901952"/>
            <a:ext cx="768096" cy="768096"/>
          </a:xfrm>
          <a:prstGeom prst="ellipse">
            <a:avLst/>
          </a:prstGeom>
          <a:solidFill>
            <a:srgbClr val="FFFFFF"/>
          </a:solidFill>
          <a:ln/>
        </p:spPr>
      </p:sp>
      <p:pic>
        <p:nvPicPr>
          <p:cNvPr id="29" name="Image 4" descr="preencoded.png">    </p:cNvPr>
          <p:cNvPicPr>
            <a:picLocks noChangeAspect="1"/>
          </p:cNvPicPr>
          <p:nvPr/>
        </p:nvPicPr>
        <p:blipFill>
          <a:blip r:embed="rId5"/>
          <a:stretch>
            <a:fillRect/>
          </a:stretch>
        </p:blipFill>
        <p:spPr>
          <a:xfrm>
            <a:off x="4844857" y="2101657"/>
            <a:ext cx="368686" cy="368686"/>
          </a:xfrm>
          <a:prstGeom prst="rect">
            <a:avLst/>
          </a:prstGeom>
        </p:spPr>
      </p:pic>
      <p:sp>
        <p:nvSpPr>
          <p:cNvPr id="30" name="Shape 23"/>
          <p:cNvSpPr/>
          <p:nvPr/>
        </p:nvSpPr>
        <p:spPr>
          <a:xfrm>
            <a:off x="649224" y="1874520"/>
            <a:ext cx="384048" cy="384048"/>
          </a:xfrm>
          <a:prstGeom prst="ellipse">
            <a:avLst/>
          </a:prstGeom>
          <a:solidFill>
            <a:srgbClr val="97BC62"/>
          </a:solidFill>
          <a:ln/>
        </p:spPr>
      </p:sp>
      <p:sp>
        <p:nvSpPr>
          <p:cNvPr id="31" name="Text 24"/>
          <p:cNvSpPr/>
          <p:nvPr/>
        </p:nvSpPr>
        <p:spPr>
          <a:xfrm>
            <a:off x="649224" y="1874520"/>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ד</a:t>
            </a:r>
            <a:endParaRPr lang="en-US" sz="1400" dirty="0"/>
          </a:p>
        </p:txBody>
      </p:sp>
      <p:sp>
        <p:nvSpPr>
          <p:cNvPr id="32" name="Text 25"/>
          <p:cNvSpPr/>
          <p:nvPr/>
        </p:nvSpPr>
        <p:spPr>
          <a:xfrm>
            <a:off x="1170432" y="1801368"/>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תפוצה</a:t>
            </a:r>
            <a:endParaRPr lang="en-US" sz="1650" dirty="0"/>
          </a:p>
        </p:txBody>
      </p:sp>
      <p:sp>
        <p:nvSpPr>
          <p:cNvPr id="33" name="Text 26"/>
          <p:cNvSpPr/>
          <p:nvPr/>
        </p:nvSpPr>
        <p:spPr>
          <a:xfrm>
            <a:off x="1170432" y="2240280"/>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טבעית ונוכחית, כולל השפעת האדם</a:t>
            </a:r>
            <a:endParaRPr lang="en-US" sz="1250" dirty="0"/>
          </a:p>
        </p:txBody>
      </p:sp>
      <p:sp>
        <p:nvSpPr>
          <p:cNvPr id="34" name="Shape 27"/>
          <p:cNvSpPr/>
          <p:nvPr/>
        </p:nvSpPr>
        <p:spPr>
          <a:xfrm>
            <a:off x="393192" y="3172968"/>
            <a:ext cx="5394960" cy="1371600"/>
          </a:xfrm>
          <a:prstGeom prst="roundRect">
            <a:avLst>
              <a:gd name="adj" fmla="val 8000"/>
            </a:avLst>
          </a:prstGeom>
          <a:solidFill>
            <a:srgbClr val="F0F4EA"/>
          </a:solidFill>
          <a:ln/>
        </p:spPr>
      </p:sp>
      <p:sp>
        <p:nvSpPr>
          <p:cNvPr id="35" name="Shape 28"/>
          <p:cNvSpPr/>
          <p:nvPr/>
        </p:nvSpPr>
        <p:spPr>
          <a:xfrm>
            <a:off x="4645152" y="3474720"/>
            <a:ext cx="768096" cy="768096"/>
          </a:xfrm>
          <a:prstGeom prst="ellipse">
            <a:avLst/>
          </a:prstGeom>
          <a:solidFill>
            <a:srgbClr val="FFFFFF"/>
          </a:solidFill>
          <a:ln/>
        </p:spPr>
      </p:sp>
      <p:pic>
        <p:nvPicPr>
          <p:cNvPr id="36" name="Image 5" descr="preencoded.png">    </p:cNvPr>
          <p:cNvPicPr>
            <a:picLocks noChangeAspect="1"/>
          </p:cNvPicPr>
          <p:nvPr/>
        </p:nvPicPr>
        <p:blipFill>
          <a:blip r:embed="rId6"/>
          <a:stretch>
            <a:fillRect/>
          </a:stretch>
        </p:blipFill>
        <p:spPr>
          <a:xfrm>
            <a:off x="4844857" y="3674425"/>
            <a:ext cx="368686" cy="368686"/>
          </a:xfrm>
          <a:prstGeom prst="rect">
            <a:avLst/>
          </a:prstGeom>
        </p:spPr>
      </p:pic>
      <p:sp>
        <p:nvSpPr>
          <p:cNvPr id="37" name="Shape 29"/>
          <p:cNvSpPr/>
          <p:nvPr/>
        </p:nvSpPr>
        <p:spPr>
          <a:xfrm>
            <a:off x="649224" y="3447288"/>
            <a:ext cx="384048" cy="384048"/>
          </a:xfrm>
          <a:prstGeom prst="ellipse">
            <a:avLst/>
          </a:prstGeom>
          <a:solidFill>
            <a:srgbClr val="97BC62"/>
          </a:solidFill>
          <a:ln/>
        </p:spPr>
      </p:sp>
      <p:sp>
        <p:nvSpPr>
          <p:cNvPr id="38" name="Text 30"/>
          <p:cNvSpPr/>
          <p:nvPr/>
        </p:nvSpPr>
        <p:spPr>
          <a:xfrm>
            <a:off x="649224" y="3447288"/>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ה</a:t>
            </a:r>
            <a:endParaRPr lang="en-US" sz="1400" dirty="0"/>
          </a:p>
        </p:txBody>
      </p:sp>
      <p:sp>
        <p:nvSpPr>
          <p:cNvPr id="39" name="Text 31"/>
          <p:cNvSpPr/>
          <p:nvPr/>
        </p:nvSpPr>
        <p:spPr>
          <a:xfrm>
            <a:off x="1170432" y="3374136"/>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צורת האבקה</a:t>
            </a:r>
            <a:endParaRPr lang="en-US" sz="1650" dirty="0"/>
          </a:p>
        </p:txBody>
      </p:sp>
      <p:sp>
        <p:nvSpPr>
          <p:cNvPr id="40" name="Text 32"/>
          <p:cNvSpPr/>
          <p:nvPr/>
        </p:nvSpPr>
        <p:spPr>
          <a:xfrm>
            <a:off x="1170432" y="3813048"/>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איך מואבק ומי המאביקים העיקריים</a:t>
            </a:r>
            <a:endParaRPr lang="en-US" sz="1250" dirty="0"/>
          </a:p>
        </p:txBody>
      </p:sp>
      <p:sp>
        <p:nvSpPr>
          <p:cNvPr id="41" name="Shape 33"/>
          <p:cNvSpPr/>
          <p:nvPr/>
        </p:nvSpPr>
        <p:spPr>
          <a:xfrm>
            <a:off x="393192" y="4745736"/>
            <a:ext cx="5394960" cy="1371600"/>
          </a:xfrm>
          <a:prstGeom prst="roundRect">
            <a:avLst>
              <a:gd name="adj" fmla="val 8000"/>
            </a:avLst>
          </a:prstGeom>
          <a:solidFill>
            <a:srgbClr val="F0F4EA"/>
          </a:solidFill>
          <a:ln/>
        </p:spPr>
      </p:sp>
      <p:sp>
        <p:nvSpPr>
          <p:cNvPr id="42" name="Shape 34"/>
          <p:cNvSpPr/>
          <p:nvPr/>
        </p:nvSpPr>
        <p:spPr>
          <a:xfrm>
            <a:off x="4645152" y="5047488"/>
            <a:ext cx="768096" cy="768096"/>
          </a:xfrm>
          <a:prstGeom prst="ellipse">
            <a:avLst/>
          </a:prstGeom>
          <a:solidFill>
            <a:srgbClr val="FFFFFF"/>
          </a:solidFill>
          <a:ln/>
        </p:spPr>
      </p:sp>
      <p:pic>
        <p:nvPicPr>
          <p:cNvPr id="43" name="Image 6" descr="preencoded.png">    </p:cNvPr>
          <p:cNvPicPr>
            <a:picLocks noChangeAspect="1"/>
          </p:cNvPicPr>
          <p:nvPr/>
        </p:nvPicPr>
        <p:blipFill>
          <a:blip r:embed="rId7"/>
          <a:stretch>
            <a:fillRect/>
          </a:stretch>
        </p:blipFill>
        <p:spPr>
          <a:xfrm>
            <a:off x="4844857" y="5247193"/>
            <a:ext cx="368686" cy="368686"/>
          </a:xfrm>
          <a:prstGeom prst="rect">
            <a:avLst/>
          </a:prstGeom>
        </p:spPr>
      </p:pic>
      <p:sp>
        <p:nvSpPr>
          <p:cNvPr id="44" name="Shape 35"/>
          <p:cNvSpPr/>
          <p:nvPr/>
        </p:nvSpPr>
        <p:spPr>
          <a:xfrm>
            <a:off x="649224" y="5020056"/>
            <a:ext cx="384048" cy="384048"/>
          </a:xfrm>
          <a:prstGeom prst="ellipse">
            <a:avLst/>
          </a:prstGeom>
          <a:solidFill>
            <a:srgbClr val="97BC62"/>
          </a:solidFill>
          <a:ln/>
        </p:spPr>
      </p:sp>
      <p:sp>
        <p:nvSpPr>
          <p:cNvPr id="45" name="Text 36"/>
          <p:cNvSpPr/>
          <p:nvPr/>
        </p:nvSpPr>
        <p:spPr>
          <a:xfrm>
            <a:off x="649224" y="5020056"/>
            <a:ext cx="384048" cy="384048"/>
          </a:xfrm>
          <a:prstGeom prst="rect">
            <a:avLst/>
          </a:prstGeom>
          <a:noFill/>
          <a:ln/>
        </p:spPr>
        <p:txBody>
          <a:bodyPr wrap="square" lIns="0" tIns="0" rIns="0" bIns="0" rtlCol="0" anchor="ctr"/>
          <a:lstStyle/>
          <a:p>
            <a:pPr rtl="1" algn="ctr" indent="0" marL="0">
              <a:buNone/>
            </a:pPr>
            <a:r>
              <a:rPr lang="en-US" sz="1400" b="1" dirty="0">
                <a:solidFill>
                  <a:srgbClr val="26331F"/>
                </a:solidFill>
                <a:latin typeface="Arial" pitchFamily="34" charset="0"/>
                <a:ea typeface="Arial" pitchFamily="34" charset="-122"/>
                <a:cs typeface="Arial" pitchFamily="34" charset="-120"/>
              </a:rPr>
              <a:t>ו</a:t>
            </a:r>
            <a:endParaRPr lang="en-US" sz="1400" dirty="0"/>
          </a:p>
        </p:txBody>
      </p:sp>
      <p:sp>
        <p:nvSpPr>
          <p:cNvPr id="46" name="Text 37"/>
          <p:cNvSpPr/>
          <p:nvPr/>
        </p:nvSpPr>
        <p:spPr>
          <a:xfrm>
            <a:off x="1170432" y="4946904"/>
            <a:ext cx="3337560" cy="411480"/>
          </a:xfrm>
          <a:prstGeom prst="rect">
            <a:avLst/>
          </a:prstGeom>
          <a:noFill/>
          <a:ln/>
        </p:spPr>
        <p:txBody>
          <a:bodyPr wrap="square" lIns="0" tIns="0" rIns="0" bIns="0" rtlCol="0" anchor="ctr"/>
          <a:lstStyle/>
          <a:p>
            <a:pPr rtl="1" algn="r" indent="0" marL="0">
              <a:buNone/>
            </a:pPr>
            <a:r>
              <a:rPr lang="en-US" sz="1650" b="1" dirty="0">
                <a:solidFill>
                  <a:srgbClr val="26331F"/>
                </a:solidFill>
                <a:latin typeface="Arial" pitchFamily="34" charset="0"/>
                <a:ea typeface="Arial" pitchFamily="34" charset="-122"/>
                <a:cs typeface="Arial" pitchFamily="34" charset="-120"/>
              </a:rPr>
              <a:t>הפצת זרעים</a:t>
            </a:r>
            <a:endParaRPr lang="en-US" sz="1650" dirty="0"/>
          </a:p>
        </p:txBody>
      </p:sp>
      <p:sp>
        <p:nvSpPr>
          <p:cNvPr id="47" name="Text 38"/>
          <p:cNvSpPr/>
          <p:nvPr/>
        </p:nvSpPr>
        <p:spPr>
          <a:xfrm>
            <a:off x="1170432" y="5385816"/>
            <a:ext cx="3337560" cy="566928"/>
          </a:xfrm>
          <a:prstGeom prst="rect">
            <a:avLst/>
          </a:prstGeom>
          <a:noFill/>
          <a:ln/>
        </p:spPr>
        <p:txBody>
          <a:bodyPr wrap="square" lIns="0" tIns="0" rIns="0" bIns="0" rtlCol="0" anchor="t"/>
          <a:lstStyle/>
          <a:p>
            <a:pPr rtl="1" algn="r" indent="0" marL="0">
              <a:buNone/>
            </a:pPr>
            <a:r>
              <a:rPr lang="en-US" sz="1250" dirty="0">
                <a:solidFill>
                  <a:srgbClr val="5F6E53"/>
                </a:solidFill>
                <a:latin typeface="Arial" pitchFamily="34" charset="0"/>
                <a:ea typeface="Arial" pitchFamily="34" charset="-122"/>
                <a:cs typeface="Arial" pitchFamily="34" charset="-120"/>
              </a:rPr>
              <a:t>מי או מה מפיץ את הזרעים ומה התהליך</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54512" y="384048"/>
            <a:ext cx="685800" cy="685800"/>
          </a:xfrm>
          <a:prstGeom prst="ellipse">
            <a:avLst/>
          </a:prstGeom>
          <a:solidFill>
            <a:srgbClr val="F0F4EA"/>
          </a:solidFill>
          <a:ln/>
        </p:spPr>
      </p:sp>
      <p:pic>
        <p:nvPicPr>
          <p:cNvPr id="3" name="Image 0" descr="preencoded.png">    </p:cNvPr>
          <p:cNvPicPr>
            <a:picLocks noChangeAspect="1"/>
          </p:cNvPicPr>
          <p:nvPr/>
        </p:nvPicPr>
        <p:blipFill>
          <a:blip r:embed="rId1"/>
          <a:stretch>
            <a:fillRect/>
          </a:stretch>
        </p:blipFill>
        <p:spPr>
          <a:xfrm>
            <a:off x="11132820" y="562356"/>
            <a:ext cx="329184" cy="329184"/>
          </a:xfrm>
          <a:prstGeom prst="rect">
            <a:avLst/>
          </a:prstGeom>
        </p:spPr>
      </p:pic>
      <p:sp>
        <p:nvSpPr>
          <p:cNvPr id="4" name="Text 1"/>
          <p:cNvSpPr/>
          <p:nvPr/>
        </p:nvSpPr>
        <p:spPr>
          <a:xfrm>
            <a:off x="548640" y="347472"/>
            <a:ext cx="10222992" cy="566928"/>
          </a:xfrm>
          <a:prstGeom prst="rect">
            <a:avLst/>
          </a:prstGeom>
          <a:noFill/>
          <a:ln/>
        </p:spPr>
        <p:txBody>
          <a:bodyPr wrap="square" lIns="0" tIns="0" rIns="0" bIns="0" rtlCol="0" anchor="ctr"/>
          <a:lstStyle/>
          <a:p>
            <a:pPr rtl="1" algn="r" indent="0" marL="0">
              <a:buNone/>
            </a:pPr>
            <a:r>
              <a:rPr lang="en-US" sz="2800" b="1" dirty="0">
                <a:solidFill>
                  <a:srgbClr val="2C5F2D"/>
                </a:solidFill>
                <a:latin typeface="Arial" pitchFamily="34" charset="0"/>
                <a:ea typeface="Arial" pitchFamily="34" charset="-122"/>
                <a:cs typeface="Arial" pitchFamily="34" charset="-120"/>
              </a:rPr>
              <a:t>רקע קצר: צמחים בעלי זרעים</a:t>
            </a:r>
            <a:endParaRPr lang="en-US" sz="2800" dirty="0"/>
          </a:p>
        </p:txBody>
      </p:sp>
      <p:sp>
        <p:nvSpPr>
          <p:cNvPr id="5" name="Text 2"/>
          <p:cNvSpPr/>
          <p:nvPr/>
        </p:nvSpPr>
        <p:spPr>
          <a:xfrm>
            <a:off x="548640" y="932688"/>
            <a:ext cx="10222992" cy="365760"/>
          </a:xfrm>
          <a:prstGeom prst="rect">
            <a:avLst/>
          </a:prstGeom>
          <a:noFill/>
          <a:ln/>
        </p:spPr>
        <p:txBody>
          <a:bodyPr wrap="square" lIns="0" tIns="0" rIns="0" bIns="0" rtlCol="0" anchor="t"/>
          <a:lstStyle/>
          <a:p>
            <a:pPr rtl="1" algn="r" indent="0" marL="0">
              <a:buNone/>
            </a:pPr>
            <a:r>
              <a:rPr lang="en-US" sz="1400" dirty="0">
                <a:solidFill>
                  <a:srgbClr val="5F6E53"/>
                </a:solidFill>
                <a:latin typeface="Arial" pitchFamily="34" charset="0"/>
                <a:ea typeface="Arial" pitchFamily="34" charset="-122"/>
                <a:cs typeface="Arial" pitchFamily="34" charset="-120"/>
              </a:rPr>
              <a:t>מה משותף לשתי הקבוצות, ומה מפריד ביניהן (לוטן, 2026)</a:t>
            </a:r>
            <a:endParaRPr lang="en-US" sz="1400" dirty="0"/>
          </a:p>
        </p:txBody>
      </p:sp>
      <p:sp>
        <p:nvSpPr>
          <p:cNvPr id="6" name="Shape 3"/>
          <p:cNvSpPr/>
          <p:nvPr/>
        </p:nvSpPr>
        <p:spPr>
          <a:xfrm>
            <a:off x="594360" y="1600200"/>
            <a:ext cx="11000232" cy="1417320"/>
          </a:xfrm>
          <a:prstGeom prst="roundRect">
            <a:avLst>
              <a:gd name="adj" fmla="val 7742"/>
            </a:avLst>
          </a:prstGeom>
          <a:solidFill>
            <a:srgbClr val="F0F4EA"/>
          </a:solidFill>
          <a:ln/>
        </p:spPr>
      </p:sp>
      <p:sp>
        <p:nvSpPr>
          <p:cNvPr id="7" name="Text 4"/>
          <p:cNvSpPr/>
          <p:nvPr/>
        </p:nvSpPr>
        <p:spPr>
          <a:xfrm>
            <a:off x="868680" y="1755648"/>
            <a:ext cx="10451592" cy="365760"/>
          </a:xfrm>
          <a:prstGeom prst="rect">
            <a:avLst/>
          </a:prstGeom>
          <a:noFill/>
          <a:ln/>
        </p:spPr>
        <p:txBody>
          <a:bodyPr wrap="square" lIns="0" tIns="0" rIns="0" bIns="0" rtlCol="0" anchor="ctr"/>
          <a:lstStyle/>
          <a:p>
            <a:pPr rtl="1" algn="r" indent="0" marL="0">
              <a:buNone/>
            </a:pPr>
            <a:r>
              <a:rPr lang="en-US" sz="1550" b="1" dirty="0">
                <a:solidFill>
                  <a:srgbClr val="2C5F2D"/>
                </a:solidFill>
                <a:latin typeface="Arial" pitchFamily="34" charset="0"/>
                <a:ea typeface="Arial" pitchFamily="34" charset="-122"/>
                <a:cs typeface="Arial" pitchFamily="34" charset="-120"/>
              </a:rPr>
              <a:t>משותף לכל בעלי הזרעים</a:t>
            </a:r>
            <a:endParaRPr lang="en-US" sz="1550" dirty="0"/>
          </a:p>
        </p:txBody>
      </p:sp>
      <p:sp>
        <p:nvSpPr>
          <p:cNvPr id="8" name="Text 5"/>
          <p:cNvSpPr/>
          <p:nvPr/>
        </p:nvSpPr>
        <p:spPr>
          <a:xfrm>
            <a:off x="868680" y="2121408"/>
            <a:ext cx="10451592" cy="822960"/>
          </a:xfrm>
          <a:prstGeom prst="rect">
            <a:avLst/>
          </a:prstGeom>
          <a:noFill/>
          <a:ln/>
        </p:spPr>
        <p:txBody>
          <a:bodyPr wrap="square" lIns="0" tIns="0" rIns="0" bIns="0" rtlCol="0" anchor="t"/>
          <a:lstStyle/>
          <a:p>
            <a:pPr rtl="1" algn="r" indent="0" marL="0">
              <a:lnSpc>
                <a:spcPct val="112000"/>
              </a:lnSpc>
              <a:buNone/>
            </a:pPr>
            <a:r>
              <a:rPr lang="en-US" sz="1350" dirty="0">
                <a:solidFill>
                  <a:srgbClr val="26331F"/>
                </a:solidFill>
                <a:latin typeface="Arial" pitchFamily="34" charset="0"/>
                <a:ea typeface="Arial" pitchFamily="34" charset="-122"/>
                <a:cs typeface="Arial" pitchFamily="34" charset="-120"/>
              </a:rPr>
              <a:t>השלב הדומיננטי במחזור החיים הוא הספורופיט הדיפלואידי (2n), עם התאמות מבניות לחיים ביבשה: קוטיקולה נגד התייבשות, פיוניות לחילופי גזים, רקמות הובלה, עלים ושורשים. הרבייה וההפצה מבוססות על האבקה ועל זרעים.</a:t>
            </a:r>
            <a:endParaRPr lang="en-US" sz="1350" dirty="0"/>
          </a:p>
        </p:txBody>
      </p:sp>
      <p:sp>
        <p:nvSpPr>
          <p:cNvPr id="9" name="Shape 6"/>
          <p:cNvSpPr/>
          <p:nvPr/>
        </p:nvSpPr>
        <p:spPr>
          <a:xfrm>
            <a:off x="6300216" y="3246120"/>
            <a:ext cx="5294376" cy="3017520"/>
          </a:xfrm>
          <a:prstGeom prst="roundRect">
            <a:avLst>
              <a:gd name="adj" fmla="val 3636"/>
            </a:avLst>
          </a:prstGeom>
          <a:solidFill>
            <a:srgbClr val="E8F1ED"/>
          </a:solidFill>
          <a:ln/>
        </p:spPr>
      </p:sp>
      <p:sp>
        <p:nvSpPr>
          <p:cNvPr id="10" name="Shape 7"/>
          <p:cNvSpPr/>
          <p:nvPr/>
        </p:nvSpPr>
        <p:spPr>
          <a:xfrm>
            <a:off x="10634472" y="3474720"/>
            <a:ext cx="731520" cy="73152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10824667" y="3664915"/>
            <a:ext cx="351130" cy="351130"/>
          </a:xfrm>
          <a:prstGeom prst="rect">
            <a:avLst/>
          </a:prstGeom>
        </p:spPr>
      </p:pic>
      <p:sp>
        <p:nvSpPr>
          <p:cNvPr id="12" name="Text 8"/>
          <p:cNvSpPr/>
          <p:nvPr/>
        </p:nvSpPr>
        <p:spPr>
          <a:xfrm>
            <a:off x="6620256" y="3538728"/>
            <a:ext cx="3877056" cy="548640"/>
          </a:xfrm>
          <a:prstGeom prst="rect">
            <a:avLst/>
          </a:prstGeom>
          <a:noFill/>
          <a:ln/>
        </p:spPr>
        <p:txBody>
          <a:bodyPr wrap="square" lIns="0" tIns="0" rIns="0" bIns="0" rtlCol="0" anchor="ctr"/>
          <a:lstStyle/>
          <a:p>
            <a:pPr rtl="1" algn="r" indent="0" marL="0">
              <a:buNone/>
            </a:pPr>
            <a:r>
              <a:rPr lang="en-US" sz="1900" b="1" dirty="0">
                <a:solidFill>
                  <a:srgbClr val="2F6B5C"/>
                </a:solidFill>
                <a:latin typeface="Arial" pitchFamily="34" charset="0"/>
                <a:ea typeface="Arial" pitchFamily="34" charset="-122"/>
                <a:cs typeface="Arial" pitchFamily="34" charset="-120"/>
              </a:rPr>
              <a:t>חשופי זרע</a:t>
            </a:r>
            <a:endParaRPr lang="en-US" sz="1900" dirty="0"/>
          </a:p>
        </p:txBody>
      </p:sp>
      <p:sp>
        <p:nvSpPr>
          <p:cNvPr id="13" name="Text 9"/>
          <p:cNvSpPr/>
          <p:nvPr/>
        </p:nvSpPr>
        <p:spPr>
          <a:xfrm>
            <a:off x="6620256" y="4251960"/>
            <a:ext cx="4654296" cy="1828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אין פרחים ואין פירות</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האבקה ויצירת זרעים באצטרובלים: אצטרובל זכרי מפיק אבקה, אצטרובל נקבי נושא את הזרעים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הקבוצה הדומיננטית: המחטניים</a:t>
            </a:r>
            <a:endParaRPr lang="en-US" sz="1450" dirty="0"/>
          </a:p>
        </p:txBody>
      </p:sp>
      <p:sp>
        <p:nvSpPr>
          <p:cNvPr id="14" name="Shape 10"/>
          <p:cNvSpPr/>
          <p:nvPr/>
        </p:nvSpPr>
        <p:spPr>
          <a:xfrm>
            <a:off x="594360" y="3246120"/>
            <a:ext cx="5294376" cy="3017520"/>
          </a:xfrm>
          <a:prstGeom prst="roundRect">
            <a:avLst>
              <a:gd name="adj" fmla="val 3636"/>
            </a:avLst>
          </a:prstGeom>
          <a:solidFill>
            <a:srgbClr val="F8EAE8"/>
          </a:solidFill>
          <a:ln/>
        </p:spPr>
      </p:sp>
      <p:sp>
        <p:nvSpPr>
          <p:cNvPr id="15" name="Shape 11"/>
          <p:cNvSpPr/>
          <p:nvPr/>
        </p:nvSpPr>
        <p:spPr>
          <a:xfrm>
            <a:off x="4928616" y="3474720"/>
            <a:ext cx="731520" cy="73152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5118811" y="3664915"/>
            <a:ext cx="351130" cy="351130"/>
          </a:xfrm>
          <a:prstGeom prst="rect">
            <a:avLst/>
          </a:prstGeom>
        </p:spPr>
      </p:pic>
      <p:sp>
        <p:nvSpPr>
          <p:cNvPr id="17" name="Text 12"/>
          <p:cNvSpPr/>
          <p:nvPr/>
        </p:nvSpPr>
        <p:spPr>
          <a:xfrm>
            <a:off x="914400" y="3538728"/>
            <a:ext cx="3877056" cy="548640"/>
          </a:xfrm>
          <a:prstGeom prst="rect">
            <a:avLst/>
          </a:prstGeom>
          <a:noFill/>
          <a:ln/>
        </p:spPr>
        <p:txBody>
          <a:bodyPr wrap="square" lIns="0" tIns="0" rIns="0" bIns="0" rtlCol="0" anchor="ctr"/>
          <a:lstStyle/>
          <a:p>
            <a:pPr rtl="1" algn="r" indent="0" marL="0">
              <a:buNone/>
            </a:pPr>
            <a:r>
              <a:rPr lang="en-US" sz="1900" b="1" dirty="0">
                <a:solidFill>
                  <a:srgbClr val="A8353A"/>
                </a:solidFill>
                <a:latin typeface="Arial" pitchFamily="34" charset="0"/>
                <a:ea typeface="Arial" pitchFamily="34" charset="-122"/>
                <a:cs typeface="Arial" pitchFamily="34" charset="-120"/>
              </a:rPr>
              <a:t>מכוסי זרע</a:t>
            </a:r>
            <a:endParaRPr lang="en-US" sz="1900" dirty="0"/>
          </a:p>
        </p:txBody>
      </p:sp>
      <p:sp>
        <p:nvSpPr>
          <p:cNvPr id="18" name="Text 13"/>
          <p:cNvSpPr/>
          <p:nvPr/>
        </p:nvSpPr>
        <p:spPr>
          <a:xfrm>
            <a:off x="914400" y="4251960"/>
            <a:ext cx="4654296" cy="1828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צמחים בעלי פרחים ופירות</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הביצית והזרע עטופים: הזרע מתפתח בתוך פרי המגן עליו ומסייע בהפצתו</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הקבוצה הגדולה והמגוונת ביותר של צמחי היבשה</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2F6B5C"/>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הראשון · חשוף זרע</a:t>
            </a:r>
            <a:endParaRPr lang="en-US" sz="1250" dirty="0"/>
          </a:p>
        </p:txBody>
      </p:sp>
      <p:sp>
        <p:nvSpPr>
          <p:cNvPr id="4" name="Text 2"/>
          <p:cNvSpPr/>
          <p:nvPr/>
        </p:nvSpPr>
        <p:spPr>
          <a:xfrm>
            <a:off x="548640" y="914400"/>
            <a:ext cx="11045952" cy="594360"/>
          </a:xfrm>
          <a:prstGeom prst="rect">
            <a:avLst/>
          </a:prstGeom>
          <a:noFill/>
          <a:ln/>
        </p:spPr>
        <p:txBody>
          <a:bodyPr wrap="square" lIns="0" tIns="0" rIns="0" bIns="0" rtlCol="0" anchor="ctr"/>
          <a:lstStyle/>
          <a:p>
            <a:pPr algn="r" indent="0" marL="0">
              <a:buNone/>
            </a:pPr>
            <a:r>
              <a:rPr lang="en-US" sz="3000" b="1" dirty="0">
                <a:solidFill>
                  <a:srgbClr val="2F6B5C"/>
                </a:solidFill>
                <a:latin typeface="Arial" pitchFamily="34" charset="0"/>
                <a:ea typeface="Arial" pitchFamily="34" charset="-122"/>
                <a:cs typeface="Arial" pitchFamily="34" charset="-120"/>
              </a:rPr>
              <a:t>אורן ירושלים </a:t>
            </a:r>
            <a:pPr algn="r" indent="0" marL="0">
              <a:buNone/>
            </a:pPr>
            <a:r>
              <a:rPr lang="en-US" sz="3000" b="1" i="1" dirty="0">
                <a:solidFill>
                  <a:srgbClr val="5F6E53"/>
                </a:solidFill>
                <a:latin typeface="Times New Roman" pitchFamily="34" charset="0"/>
                <a:ea typeface="Times New Roman" pitchFamily="34" charset="-122"/>
                <a:cs typeface="Times New Roman" pitchFamily="34" charset="-120"/>
              </a:rPr>
              <a:t>(Pinus halepensis)</a:t>
            </a:r>
            <a:endParaRPr lang="en-US" sz="3000" dirty="0"/>
          </a:p>
        </p:txBody>
      </p:sp>
      <p:sp>
        <p:nvSpPr>
          <p:cNvPr id="5" name="Shape 3"/>
          <p:cNvSpPr/>
          <p:nvPr/>
        </p:nvSpPr>
        <p:spPr>
          <a:xfrm>
            <a:off x="594360" y="457200"/>
            <a:ext cx="2148840" cy="347472"/>
          </a:xfrm>
          <a:prstGeom prst="roundRect">
            <a:avLst>
              <a:gd name="adj" fmla="val 50000"/>
            </a:avLst>
          </a:prstGeom>
          <a:solidFill>
            <a:srgbClr val="97BC62"/>
          </a:solidFill>
          <a:ln/>
        </p:spPr>
      </p:sp>
      <p:sp>
        <p:nvSpPr>
          <p:cNvPr id="6" name="Text 4"/>
          <p:cNvSpPr/>
          <p:nvPr/>
        </p:nvSpPr>
        <p:spPr>
          <a:xfrm>
            <a:off x="594360" y="457200"/>
            <a:ext cx="214884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סעיף א: מיון סיסטמתי</a:t>
            </a:r>
            <a:endParaRPr lang="en-US" sz="1100" dirty="0"/>
          </a:p>
        </p:txBody>
      </p:sp>
      <p:sp>
        <p:nvSpPr>
          <p:cNvPr id="7" name="Shape 5"/>
          <p:cNvSpPr/>
          <p:nvPr/>
        </p:nvSpPr>
        <p:spPr>
          <a:xfrm>
            <a:off x="1522476" y="1783080"/>
            <a:ext cx="9144000" cy="786384"/>
          </a:xfrm>
          <a:prstGeom prst="roundRect">
            <a:avLst>
              <a:gd name="adj" fmla="val 13953"/>
            </a:avLst>
          </a:prstGeom>
          <a:solidFill>
            <a:srgbClr val="F0F4EA"/>
          </a:solidFill>
          <a:ln/>
        </p:spPr>
      </p:sp>
      <p:sp>
        <p:nvSpPr>
          <p:cNvPr id="8" name="Text 6"/>
          <p:cNvSpPr/>
          <p:nvPr/>
        </p:nvSpPr>
        <p:spPr>
          <a:xfrm>
            <a:off x="8700516" y="1783080"/>
            <a:ext cx="1737360" cy="786384"/>
          </a:xfrm>
          <a:prstGeom prst="rect">
            <a:avLst/>
          </a:prstGeom>
          <a:noFill/>
          <a:ln/>
        </p:spPr>
        <p:txBody>
          <a:bodyPr wrap="square" lIns="0" tIns="0" rIns="0" bIns="0" rtlCol="0" anchor="ctr"/>
          <a:lstStyle/>
          <a:p>
            <a:pPr rtl="1" algn="r" indent="0" marL="0">
              <a:buNone/>
            </a:pPr>
            <a:r>
              <a:rPr lang="en-US" sz="1450" b="1" dirty="0">
                <a:solidFill>
                  <a:srgbClr val="2F6B5C"/>
                </a:solidFill>
                <a:latin typeface="Arial" pitchFamily="34" charset="0"/>
                <a:ea typeface="Arial" pitchFamily="34" charset="-122"/>
                <a:cs typeface="Arial" pitchFamily="34" charset="-120"/>
              </a:rPr>
              <a:t>ממלכה</a:t>
            </a:r>
            <a:endParaRPr lang="en-US" sz="1450" dirty="0"/>
          </a:p>
        </p:txBody>
      </p:sp>
      <p:sp>
        <p:nvSpPr>
          <p:cNvPr id="9" name="Text 7"/>
          <p:cNvSpPr/>
          <p:nvPr/>
        </p:nvSpPr>
        <p:spPr>
          <a:xfrm>
            <a:off x="1796796" y="1783080"/>
            <a:ext cx="6766560" cy="786384"/>
          </a:xfrm>
          <a:prstGeom prst="rect">
            <a:avLst/>
          </a:prstGeom>
          <a:noFill/>
          <a:ln/>
        </p:spPr>
        <p:txBody>
          <a:bodyPr wrap="square" lIns="0" tIns="0" rIns="0" bIns="0" rtlCol="0" anchor="ctr"/>
          <a:lstStyle/>
          <a:p>
            <a:pPr rtl="1" algn="r" indent="0" marL="0">
              <a:buNone/>
            </a:pPr>
            <a:r>
              <a:rPr lang="en-US" sz="1400" dirty="0">
                <a:solidFill>
                  <a:srgbClr val="26331F"/>
                </a:solidFill>
                <a:latin typeface="Arial" pitchFamily="34" charset="0"/>
                <a:ea typeface="Arial" pitchFamily="34" charset="-122"/>
                <a:cs typeface="Arial" pitchFamily="34" charset="-120"/>
              </a:rPr>
              <a:t>הצמחים</a:t>
            </a:r>
            <a:endParaRPr lang="en-US" sz="1400" dirty="0"/>
          </a:p>
        </p:txBody>
      </p:sp>
      <p:sp>
        <p:nvSpPr>
          <p:cNvPr id="10" name="Shape 8"/>
          <p:cNvSpPr/>
          <p:nvPr/>
        </p:nvSpPr>
        <p:spPr>
          <a:xfrm>
            <a:off x="1522476" y="2697480"/>
            <a:ext cx="9144000" cy="786384"/>
          </a:xfrm>
          <a:prstGeom prst="roundRect">
            <a:avLst>
              <a:gd name="adj" fmla="val 13953"/>
            </a:avLst>
          </a:prstGeom>
          <a:solidFill>
            <a:srgbClr val="F0F4EA"/>
          </a:solidFill>
          <a:ln/>
        </p:spPr>
      </p:sp>
      <p:sp>
        <p:nvSpPr>
          <p:cNvPr id="11" name="Text 9"/>
          <p:cNvSpPr/>
          <p:nvPr/>
        </p:nvSpPr>
        <p:spPr>
          <a:xfrm>
            <a:off x="8700516" y="2697480"/>
            <a:ext cx="1737360" cy="786384"/>
          </a:xfrm>
          <a:prstGeom prst="rect">
            <a:avLst/>
          </a:prstGeom>
          <a:noFill/>
          <a:ln/>
        </p:spPr>
        <p:txBody>
          <a:bodyPr wrap="square" lIns="0" tIns="0" rIns="0" bIns="0" rtlCol="0" anchor="ctr"/>
          <a:lstStyle/>
          <a:p>
            <a:pPr rtl="1" algn="r" indent="0" marL="0">
              <a:buNone/>
            </a:pPr>
            <a:r>
              <a:rPr lang="en-US" sz="1450" b="1" dirty="0">
                <a:solidFill>
                  <a:srgbClr val="2F6B5C"/>
                </a:solidFill>
                <a:latin typeface="Arial" pitchFamily="34" charset="0"/>
                <a:ea typeface="Arial" pitchFamily="34" charset="-122"/>
                <a:cs typeface="Arial" pitchFamily="34" charset="-120"/>
              </a:rPr>
              <a:t>קבוצה</a:t>
            </a:r>
            <a:endParaRPr lang="en-US" sz="1450" dirty="0"/>
          </a:p>
        </p:txBody>
      </p:sp>
      <p:sp>
        <p:nvSpPr>
          <p:cNvPr id="12" name="Text 10"/>
          <p:cNvSpPr/>
          <p:nvPr/>
        </p:nvSpPr>
        <p:spPr>
          <a:xfrm>
            <a:off x="1796796" y="2697480"/>
            <a:ext cx="6766560" cy="786384"/>
          </a:xfrm>
          <a:prstGeom prst="rect">
            <a:avLst/>
          </a:prstGeom>
          <a:noFill/>
          <a:ln/>
        </p:spPr>
        <p:txBody>
          <a:bodyPr wrap="square" lIns="0" tIns="0" rIns="0" bIns="0" rtlCol="0" anchor="ctr"/>
          <a:lstStyle/>
          <a:p>
            <a:pPr rtl="1" algn="r" indent="0" marL="0">
              <a:buNone/>
            </a:pPr>
            <a:r>
              <a:rPr lang="en-US" sz="1400" dirty="0">
                <a:solidFill>
                  <a:srgbClr val="26331F"/>
                </a:solidFill>
                <a:latin typeface="Arial" pitchFamily="34" charset="0"/>
                <a:ea typeface="Arial" pitchFamily="34" charset="-122"/>
                <a:cs typeface="Arial" pitchFamily="34" charset="-120"/>
              </a:rPr>
              <a:t>צמחים בעלי זרעים: חשופי זרע (מחטניים)</a:t>
            </a:r>
            <a:endParaRPr lang="en-US" sz="1400" dirty="0"/>
          </a:p>
        </p:txBody>
      </p:sp>
      <p:sp>
        <p:nvSpPr>
          <p:cNvPr id="13" name="Shape 11"/>
          <p:cNvSpPr/>
          <p:nvPr/>
        </p:nvSpPr>
        <p:spPr>
          <a:xfrm>
            <a:off x="1522476" y="3611880"/>
            <a:ext cx="9144000" cy="786384"/>
          </a:xfrm>
          <a:prstGeom prst="roundRect">
            <a:avLst>
              <a:gd name="adj" fmla="val 13953"/>
            </a:avLst>
          </a:prstGeom>
          <a:solidFill>
            <a:srgbClr val="F0F4EA"/>
          </a:solidFill>
          <a:ln/>
        </p:spPr>
      </p:sp>
      <p:sp>
        <p:nvSpPr>
          <p:cNvPr id="14" name="Text 12"/>
          <p:cNvSpPr/>
          <p:nvPr/>
        </p:nvSpPr>
        <p:spPr>
          <a:xfrm>
            <a:off x="8700516" y="3611880"/>
            <a:ext cx="1737360" cy="786384"/>
          </a:xfrm>
          <a:prstGeom prst="rect">
            <a:avLst/>
          </a:prstGeom>
          <a:noFill/>
          <a:ln/>
        </p:spPr>
        <p:txBody>
          <a:bodyPr wrap="square" lIns="0" tIns="0" rIns="0" bIns="0" rtlCol="0" anchor="ctr"/>
          <a:lstStyle/>
          <a:p>
            <a:pPr rtl="1" algn="r" indent="0" marL="0">
              <a:buNone/>
            </a:pPr>
            <a:r>
              <a:rPr lang="en-US" sz="1450" b="1" dirty="0">
                <a:solidFill>
                  <a:srgbClr val="2F6B5C"/>
                </a:solidFill>
                <a:latin typeface="Arial" pitchFamily="34" charset="0"/>
                <a:ea typeface="Arial" pitchFamily="34" charset="-122"/>
                <a:cs typeface="Arial" pitchFamily="34" charset="-120"/>
              </a:rPr>
              <a:t>משפחה</a:t>
            </a:r>
            <a:endParaRPr lang="en-US" sz="1450" dirty="0"/>
          </a:p>
        </p:txBody>
      </p:sp>
      <p:sp>
        <p:nvSpPr>
          <p:cNvPr id="15" name="Text 13"/>
          <p:cNvSpPr/>
          <p:nvPr/>
        </p:nvSpPr>
        <p:spPr>
          <a:xfrm>
            <a:off x="1796796" y="3611880"/>
            <a:ext cx="6766560" cy="786384"/>
          </a:xfrm>
          <a:prstGeom prst="rect">
            <a:avLst/>
          </a:prstGeom>
          <a:noFill/>
          <a:ln/>
        </p:spPr>
        <p:txBody>
          <a:bodyPr wrap="square" lIns="0" tIns="0" rIns="0" bIns="0" rtlCol="0" anchor="ctr"/>
          <a:lstStyle/>
          <a:p>
            <a:pPr rtl="1" algn="r" indent="0" marL="0">
              <a:buNone/>
            </a:pPr>
            <a:r>
              <a:rPr lang="en-US" sz="1400" dirty="0">
                <a:solidFill>
                  <a:srgbClr val="26331F"/>
                </a:solidFill>
                <a:latin typeface="Arial" pitchFamily="34" charset="0"/>
                <a:ea typeface="Arial" pitchFamily="34" charset="-122"/>
                <a:cs typeface="Arial" pitchFamily="34" charset="-120"/>
              </a:rPr>
              <a:t>אורניים (Pinaceae)</a:t>
            </a:r>
            <a:endParaRPr lang="en-US" sz="1400" dirty="0"/>
          </a:p>
        </p:txBody>
      </p:sp>
      <p:sp>
        <p:nvSpPr>
          <p:cNvPr id="16" name="Shape 14"/>
          <p:cNvSpPr/>
          <p:nvPr/>
        </p:nvSpPr>
        <p:spPr>
          <a:xfrm>
            <a:off x="1522476" y="4526280"/>
            <a:ext cx="9144000" cy="786384"/>
          </a:xfrm>
          <a:prstGeom prst="roundRect">
            <a:avLst>
              <a:gd name="adj" fmla="val 13953"/>
            </a:avLst>
          </a:prstGeom>
          <a:solidFill>
            <a:srgbClr val="F0F4EA"/>
          </a:solidFill>
          <a:ln/>
        </p:spPr>
      </p:sp>
      <p:sp>
        <p:nvSpPr>
          <p:cNvPr id="17" name="Text 15"/>
          <p:cNvSpPr/>
          <p:nvPr/>
        </p:nvSpPr>
        <p:spPr>
          <a:xfrm>
            <a:off x="8700516" y="4526280"/>
            <a:ext cx="1737360" cy="786384"/>
          </a:xfrm>
          <a:prstGeom prst="rect">
            <a:avLst/>
          </a:prstGeom>
          <a:noFill/>
          <a:ln/>
        </p:spPr>
        <p:txBody>
          <a:bodyPr wrap="square" lIns="0" tIns="0" rIns="0" bIns="0" rtlCol="0" anchor="ctr"/>
          <a:lstStyle/>
          <a:p>
            <a:pPr rtl="1" algn="r" indent="0" marL="0">
              <a:buNone/>
            </a:pPr>
            <a:r>
              <a:rPr lang="en-US" sz="1450" b="1" dirty="0">
                <a:solidFill>
                  <a:srgbClr val="2F6B5C"/>
                </a:solidFill>
                <a:latin typeface="Arial" pitchFamily="34" charset="0"/>
                <a:ea typeface="Arial" pitchFamily="34" charset="-122"/>
                <a:cs typeface="Arial" pitchFamily="34" charset="-120"/>
              </a:rPr>
              <a:t>סוג</a:t>
            </a:r>
            <a:endParaRPr lang="en-US" sz="1450" dirty="0"/>
          </a:p>
        </p:txBody>
      </p:sp>
      <p:sp>
        <p:nvSpPr>
          <p:cNvPr id="18" name="Text 16"/>
          <p:cNvSpPr/>
          <p:nvPr/>
        </p:nvSpPr>
        <p:spPr>
          <a:xfrm>
            <a:off x="1796796" y="4526280"/>
            <a:ext cx="6766560" cy="786384"/>
          </a:xfrm>
          <a:prstGeom prst="rect">
            <a:avLst/>
          </a:prstGeom>
          <a:noFill/>
          <a:ln/>
        </p:spPr>
        <p:txBody>
          <a:bodyPr wrap="square" lIns="0" tIns="0" rIns="0" bIns="0" rtlCol="0" anchor="ctr"/>
          <a:lstStyle/>
          <a:p>
            <a:pPr rtl="1" algn="r" indent="0" marL="0">
              <a:buNone/>
            </a:pPr>
            <a:r>
              <a:rPr lang="en-US" sz="1400" dirty="0">
                <a:solidFill>
                  <a:srgbClr val="26331F"/>
                </a:solidFill>
                <a:latin typeface="Arial" pitchFamily="34" charset="0"/>
                <a:ea typeface="Arial" pitchFamily="34" charset="-122"/>
                <a:cs typeface="Arial" pitchFamily="34" charset="-120"/>
              </a:rPr>
              <a:t>אורן (Pinus)</a:t>
            </a:r>
            <a:endParaRPr lang="en-US" sz="1400" dirty="0"/>
          </a:p>
        </p:txBody>
      </p:sp>
      <p:sp>
        <p:nvSpPr>
          <p:cNvPr id="19" name="Shape 17"/>
          <p:cNvSpPr/>
          <p:nvPr/>
        </p:nvSpPr>
        <p:spPr>
          <a:xfrm>
            <a:off x="1522476" y="5440680"/>
            <a:ext cx="9144000" cy="786384"/>
          </a:xfrm>
          <a:prstGeom prst="roundRect">
            <a:avLst>
              <a:gd name="adj" fmla="val 13953"/>
            </a:avLst>
          </a:prstGeom>
          <a:solidFill>
            <a:srgbClr val="E8F1ED"/>
          </a:solidFill>
          <a:ln/>
        </p:spPr>
      </p:sp>
      <p:sp>
        <p:nvSpPr>
          <p:cNvPr id="20" name="Text 18"/>
          <p:cNvSpPr/>
          <p:nvPr/>
        </p:nvSpPr>
        <p:spPr>
          <a:xfrm>
            <a:off x="8700516" y="5440680"/>
            <a:ext cx="1737360" cy="786384"/>
          </a:xfrm>
          <a:prstGeom prst="rect">
            <a:avLst/>
          </a:prstGeom>
          <a:noFill/>
          <a:ln/>
        </p:spPr>
        <p:txBody>
          <a:bodyPr wrap="square" lIns="0" tIns="0" rIns="0" bIns="0" rtlCol="0" anchor="ctr"/>
          <a:lstStyle/>
          <a:p>
            <a:pPr rtl="1" algn="r" indent="0" marL="0">
              <a:buNone/>
            </a:pPr>
            <a:r>
              <a:rPr lang="en-US" sz="1450" b="1" dirty="0">
                <a:solidFill>
                  <a:srgbClr val="2F6B5C"/>
                </a:solidFill>
                <a:latin typeface="Arial" pitchFamily="34" charset="0"/>
                <a:ea typeface="Arial" pitchFamily="34" charset="-122"/>
                <a:cs typeface="Arial" pitchFamily="34" charset="-120"/>
              </a:rPr>
              <a:t>מין</a:t>
            </a:r>
            <a:endParaRPr lang="en-US" sz="1450" dirty="0"/>
          </a:p>
        </p:txBody>
      </p:sp>
      <p:sp>
        <p:nvSpPr>
          <p:cNvPr id="21" name="Text 19"/>
          <p:cNvSpPr/>
          <p:nvPr/>
        </p:nvSpPr>
        <p:spPr>
          <a:xfrm>
            <a:off x="1796796" y="5440680"/>
            <a:ext cx="6766560" cy="786384"/>
          </a:xfrm>
          <a:prstGeom prst="rect">
            <a:avLst/>
          </a:prstGeom>
          <a:noFill/>
          <a:ln/>
        </p:spPr>
        <p:txBody>
          <a:bodyPr wrap="square" lIns="0" tIns="0" rIns="0" bIns="0" rtlCol="0" anchor="ctr"/>
          <a:lstStyle/>
          <a:p>
            <a:pPr rtl="1" algn="r" indent="0" marL="0">
              <a:buNone/>
            </a:pPr>
            <a:r>
              <a:rPr lang="en-US" sz="1400" dirty="0">
                <a:solidFill>
                  <a:srgbClr val="26331F"/>
                </a:solidFill>
                <a:latin typeface="Arial" pitchFamily="34" charset="0"/>
                <a:ea typeface="Arial" pitchFamily="34" charset="-122"/>
                <a:cs typeface="Arial" pitchFamily="34" charset="-120"/>
              </a:rPr>
              <a:t>אורן ירושלים (Pinus halepensis)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2F6B5C"/>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הראשון · חשוף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2F6B5C"/>
                </a:solidFill>
                <a:latin typeface="Arial" pitchFamily="34" charset="0"/>
                <a:ea typeface="Arial" pitchFamily="34" charset="-122"/>
                <a:cs typeface="Arial" pitchFamily="34" charset="-120"/>
              </a:rPr>
              <a:t>אורן ירושלים: למה חשוף זרע, ואיזו צורת חיים</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סעיפים ב + ג</a:t>
            </a:r>
            <a:endParaRPr lang="en-US" sz="1100" dirty="0"/>
          </a:p>
        </p:txBody>
      </p:sp>
      <p:sp>
        <p:nvSpPr>
          <p:cNvPr id="7" name="Shape 5"/>
          <p:cNvSpPr/>
          <p:nvPr/>
        </p:nvSpPr>
        <p:spPr>
          <a:xfrm>
            <a:off x="6300216" y="1737360"/>
            <a:ext cx="5294376" cy="3886200"/>
          </a:xfrm>
          <a:prstGeom prst="roundRect">
            <a:avLst>
              <a:gd name="adj" fmla="val 2824"/>
            </a:avLst>
          </a:prstGeom>
          <a:solidFill>
            <a:srgbClr val="E8F1ED"/>
          </a:solidFill>
          <a:ln/>
        </p:spPr>
      </p:sp>
      <p:sp>
        <p:nvSpPr>
          <p:cNvPr id="8" name="Text 6"/>
          <p:cNvSpPr/>
          <p:nvPr/>
        </p:nvSpPr>
        <p:spPr>
          <a:xfrm>
            <a:off x="6620256" y="1965960"/>
            <a:ext cx="4654296" cy="411480"/>
          </a:xfrm>
          <a:prstGeom prst="rect">
            <a:avLst/>
          </a:prstGeom>
          <a:noFill/>
          <a:ln/>
        </p:spPr>
        <p:txBody>
          <a:bodyPr wrap="square" lIns="0" tIns="0" rIns="0" bIns="0" rtlCol="0" anchor="ctr"/>
          <a:lstStyle/>
          <a:p>
            <a:pPr rtl="1" algn="r" indent="0" marL="0">
              <a:buNone/>
            </a:pPr>
            <a:r>
              <a:rPr lang="en-US" sz="1600" b="1" dirty="0">
                <a:solidFill>
                  <a:srgbClr val="2F6B5C"/>
                </a:solidFill>
                <a:latin typeface="Arial" pitchFamily="34" charset="0"/>
                <a:ea typeface="Arial" pitchFamily="34" charset="-122"/>
                <a:cs typeface="Arial" pitchFamily="34" charset="-120"/>
              </a:rPr>
              <a:t>תכונות המשייכות לחשופי הזרע (ב)</a:t>
            </a:r>
            <a:endParaRPr lang="en-US" sz="1600" dirty="0"/>
          </a:p>
        </p:txBody>
      </p:sp>
      <p:sp>
        <p:nvSpPr>
          <p:cNvPr id="9" name="Text 7"/>
          <p:cNvSpPr/>
          <p:nvPr/>
        </p:nvSpPr>
        <p:spPr>
          <a:xfrm>
            <a:off x="6620256" y="2468880"/>
            <a:ext cx="4654296" cy="2971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אין פרחים ואין פירות</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הזרעים יושבים חשופים על קשקשי האצטרובל הנקבי המעוצה, בלי פרי עוטף</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אצטרובלים זכריים קטנים ורכים משחררים אבקה באביב</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עלים דמויי מחט עם קוטיקולה עבה: התאמה לצמצום איבוד מים בקיץ הים-תיכוני</a:t>
            </a:r>
            <a:endParaRPr lang="en-US" sz="1450" dirty="0"/>
          </a:p>
        </p:txBody>
      </p:sp>
      <p:sp>
        <p:nvSpPr>
          <p:cNvPr id="10" name="Shape 8"/>
          <p:cNvSpPr/>
          <p:nvPr/>
        </p:nvSpPr>
        <p:spPr>
          <a:xfrm>
            <a:off x="594360" y="1737360"/>
            <a:ext cx="5294376" cy="3886200"/>
          </a:xfrm>
          <a:prstGeom prst="roundRect">
            <a:avLst>
              <a:gd name="adj" fmla="val 2824"/>
            </a:avLst>
          </a:prstGeom>
          <a:solidFill>
            <a:srgbClr val="F0F4EA"/>
          </a:solidFill>
          <a:ln/>
        </p:spPr>
      </p:sp>
      <p:sp>
        <p:nvSpPr>
          <p:cNvPr id="11" name="Text 9"/>
          <p:cNvSpPr/>
          <p:nvPr/>
        </p:nvSpPr>
        <p:spPr>
          <a:xfrm>
            <a:off x="914400" y="1965960"/>
            <a:ext cx="4654296"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צורת חיים (ג)</a:t>
            </a:r>
            <a:endParaRPr lang="en-US" sz="1600" dirty="0"/>
          </a:p>
        </p:txBody>
      </p:sp>
      <p:sp>
        <p:nvSpPr>
          <p:cNvPr id="12" name="Text 10"/>
          <p:cNvSpPr/>
          <p:nvPr/>
        </p:nvSpPr>
        <p:spPr>
          <a:xfrm>
            <a:off x="914400" y="2468880"/>
            <a:ext cx="4654296" cy="2971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עץ ירוק-עד, בדרך כלל בגובה 10 עד 20 מטרים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גזע מרכזי מעוצה וצמרת מסועפת</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קצב גידול מהיר יחסית לעצי חורש אחרים</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2F6B5C"/>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הראשון · חשוף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2F6B5C"/>
                </a:solidFill>
                <a:latin typeface="Arial" pitchFamily="34" charset="0"/>
                <a:ea typeface="Arial" pitchFamily="34" charset="-122"/>
                <a:cs typeface="Arial" pitchFamily="34" charset="-120"/>
              </a:rPr>
              <a:t>אורן ירושלים: תפוצה טבעית ונוכחית</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סעיף ד: תפוצה</a:t>
            </a:r>
            <a:endParaRPr lang="en-US" sz="1100" dirty="0"/>
          </a:p>
        </p:txBody>
      </p:sp>
      <p:sp>
        <p:nvSpPr>
          <p:cNvPr id="7" name="Shape 5"/>
          <p:cNvSpPr/>
          <p:nvPr/>
        </p:nvSpPr>
        <p:spPr>
          <a:xfrm>
            <a:off x="594360" y="1737360"/>
            <a:ext cx="11000232" cy="2103120"/>
          </a:xfrm>
          <a:prstGeom prst="roundRect">
            <a:avLst>
              <a:gd name="adj" fmla="val 5217"/>
            </a:avLst>
          </a:prstGeom>
          <a:solidFill>
            <a:srgbClr val="F0F4EA"/>
          </a:solidFill>
          <a:ln/>
        </p:spPr>
      </p:sp>
      <p:sp>
        <p:nvSpPr>
          <p:cNvPr id="8" name="Shape 6"/>
          <p:cNvSpPr/>
          <p:nvPr/>
        </p:nvSpPr>
        <p:spPr>
          <a:xfrm>
            <a:off x="10680192" y="1920240"/>
            <a:ext cx="658368" cy="658368"/>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0851368" y="2091416"/>
            <a:ext cx="316017" cy="316017"/>
          </a:xfrm>
          <a:prstGeom prst="rect">
            <a:avLst/>
          </a:prstGeom>
        </p:spPr>
      </p:pic>
      <p:sp>
        <p:nvSpPr>
          <p:cNvPr id="10" name="Text 7"/>
          <p:cNvSpPr/>
          <p:nvPr/>
        </p:nvSpPr>
        <p:spPr>
          <a:xfrm>
            <a:off x="914400" y="1965960"/>
            <a:ext cx="9628632"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תפוצה טבעית</a:t>
            </a:r>
            <a:endParaRPr lang="en-US" sz="1600" dirty="0"/>
          </a:p>
        </p:txBody>
      </p:sp>
      <p:sp>
        <p:nvSpPr>
          <p:cNvPr id="11" name="Text 8"/>
          <p:cNvSpPr/>
          <p:nvPr/>
        </p:nvSpPr>
        <p:spPr>
          <a:xfrm>
            <a:off x="914400" y="2423160"/>
            <a:ext cx="9171432" cy="128016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אגן הים התיכון: מספרד ועד המזרח התיכון</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בישראל: חורש טבעי בכרמל, בגליל ובהרי יהודה</a:t>
            </a:r>
            <a:endParaRPr lang="en-US" sz="1450" dirty="0"/>
          </a:p>
        </p:txBody>
      </p:sp>
      <p:sp>
        <p:nvSpPr>
          <p:cNvPr id="12" name="Shape 9"/>
          <p:cNvSpPr/>
          <p:nvPr/>
        </p:nvSpPr>
        <p:spPr>
          <a:xfrm>
            <a:off x="594360" y="4069080"/>
            <a:ext cx="11000232" cy="2103120"/>
          </a:xfrm>
          <a:prstGeom prst="roundRect">
            <a:avLst>
              <a:gd name="adj" fmla="val 5217"/>
            </a:avLst>
          </a:prstGeom>
          <a:solidFill>
            <a:srgbClr val="E8F1ED"/>
          </a:solidFill>
          <a:ln/>
        </p:spPr>
      </p:sp>
      <p:sp>
        <p:nvSpPr>
          <p:cNvPr id="13" name="Shape 10"/>
          <p:cNvSpPr/>
          <p:nvPr/>
        </p:nvSpPr>
        <p:spPr>
          <a:xfrm>
            <a:off x="10680192" y="4251960"/>
            <a:ext cx="658368" cy="658368"/>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10851368" y="4423136"/>
            <a:ext cx="316017" cy="316017"/>
          </a:xfrm>
          <a:prstGeom prst="rect">
            <a:avLst/>
          </a:prstGeom>
        </p:spPr>
      </p:pic>
      <p:sp>
        <p:nvSpPr>
          <p:cNvPr id="15" name="Text 11"/>
          <p:cNvSpPr/>
          <p:nvPr/>
        </p:nvSpPr>
        <p:spPr>
          <a:xfrm>
            <a:off x="914400" y="4297680"/>
            <a:ext cx="9628632" cy="411480"/>
          </a:xfrm>
          <a:prstGeom prst="rect">
            <a:avLst/>
          </a:prstGeom>
          <a:noFill/>
          <a:ln/>
        </p:spPr>
        <p:txBody>
          <a:bodyPr wrap="square" lIns="0" tIns="0" rIns="0" bIns="0" rtlCol="0" anchor="ctr"/>
          <a:lstStyle/>
          <a:p>
            <a:pPr rtl="1" algn="r" indent="0" marL="0">
              <a:buNone/>
            </a:pPr>
            <a:r>
              <a:rPr lang="en-US" sz="1600" b="1" dirty="0">
                <a:solidFill>
                  <a:srgbClr val="2F6B5C"/>
                </a:solidFill>
                <a:latin typeface="Arial" pitchFamily="34" charset="0"/>
                <a:ea typeface="Arial" pitchFamily="34" charset="-122"/>
                <a:cs typeface="Arial" pitchFamily="34" charset="-120"/>
              </a:rPr>
              <a:t>תפוצה נוכחית: בעזרת האדם</a:t>
            </a:r>
            <a:endParaRPr lang="en-US" sz="1600" dirty="0"/>
          </a:p>
        </p:txBody>
      </p:sp>
      <p:sp>
        <p:nvSpPr>
          <p:cNvPr id="16" name="Text 12"/>
          <p:cNvSpPr/>
          <p:nvPr/>
        </p:nvSpPr>
        <p:spPr>
          <a:xfrm>
            <a:off x="914400" y="4754880"/>
            <a:ext cx="9171432" cy="13258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המין העיקרי בנטיעות היער בישראל מאז ראשית המאה העשרים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מהיערות הנטועים הוא מתפשט מאליו לשטחים פתוחים סמוכים</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2F6B5C"/>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הראשון · חשוף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2F6B5C"/>
                </a:solidFill>
                <a:latin typeface="Arial" pitchFamily="34" charset="0"/>
                <a:ea typeface="Arial" pitchFamily="34" charset="-122"/>
                <a:cs typeface="Arial" pitchFamily="34" charset="-120"/>
              </a:rPr>
              <a:t>אורן ירושלים: האבקה והפצת זרעים ברוח</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סעיפים ה + ו</a:t>
            </a:r>
            <a:endParaRPr lang="en-US" sz="1100" dirty="0"/>
          </a:p>
        </p:txBody>
      </p:sp>
      <p:sp>
        <p:nvSpPr>
          <p:cNvPr id="7" name="Shape 5"/>
          <p:cNvSpPr/>
          <p:nvPr/>
        </p:nvSpPr>
        <p:spPr>
          <a:xfrm>
            <a:off x="6300216" y="1737360"/>
            <a:ext cx="5294376" cy="3886200"/>
          </a:xfrm>
          <a:prstGeom prst="roundRect">
            <a:avLst>
              <a:gd name="adj" fmla="val 2824"/>
            </a:avLst>
          </a:prstGeom>
          <a:solidFill>
            <a:srgbClr val="F0F4EA"/>
          </a:solidFill>
          <a:ln/>
        </p:spPr>
      </p:sp>
      <p:sp>
        <p:nvSpPr>
          <p:cNvPr id="8" name="Shape 6"/>
          <p:cNvSpPr/>
          <p:nvPr/>
        </p:nvSpPr>
        <p:spPr>
          <a:xfrm>
            <a:off x="10680192" y="1938528"/>
            <a:ext cx="658368" cy="658368"/>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0851368" y="2109704"/>
            <a:ext cx="316017" cy="316017"/>
          </a:xfrm>
          <a:prstGeom prst="rect">
            <a:avLst/>
          </a:prstGeom>
        </p:spPr>
      </p:pic>
      <p:sp>
        <p:nvSpPr>
          <p:cNvPr id="10" name="Text 7"/>
          <p:cNvSpPr/>
          <p:nvPr/>
        </p:nvSpPr>
        <p:spPr>
          <a:xfrm>
            <a:off x="6620256" y="1993392"/>
            <a:ext cx="3922776"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צורת האבקה (ה): רוח</a:t>
            </a:r>
            <a:endParaRPr lang="en-US" sz="1600" dirty="0"/>
          </a:p>
        </p:txBody>
      </p:sp>
      <p:sp>
        <p:nvSpPr>
          <p:cNvPr id="11" name="Text 8"/>
          <p:cNvSpPr/>
          <p:nvPr/>
        </p:nvSpPr>
        <p:spPr>
          <a:xfrm>
            <a:off x="6620256" y="2514600"/>
            <a:ext cx="4654296" cy="29260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האבקת רוח, בלי מאביקים בעלי חיים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באביב האצטרובלים הזכריים משחררים כמויות עצומות של אבקה צהובה</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גרגר אבקה שנוחת על אצטרובל נקבי מפרה את הביצית החשופה</a:t>
            </a:r>
            <a:endParaRPr lang="en-US" sz="1450" dirty="0"/>
          </a:p>
        </p:txBody>
      </p:sp>
      <p:sp>
        <p:nvSpPr>
          <p:cNvPr id="12" name="Shape 9"/>
          <p:cNvSpPr/>
          <p:nvPr/>
        </p:nvSpPr>
        <p:spPr>
          <a:xfrm>
            <a:off x="594360" y="1737360"/>
            <a:ext cx="5294376" cy="3886200"/>
          </a:xfrm>
          <a:prstGeom prst="roundRect">
            <a:avLst>
              <a:gd name="adj" fmla="val 2824"/>
            </a:avLst>
          </a:prstGeom>
          <a:solidFill>
            <a:srgbClr val="E8F1ED"/>
          </a:solidFill>
          <a:ln/>
        </p:spPr>
      </p:sp>
      <p:sp>
        <p:nvSpPr>
          <p:cNvPr id="13" name="Shape 10"/>
          <p:cNvSpPr/>
          <p:nvPr/>
        </p:nvSpPr>
        <p:spPr>
          <a:xfrm>
            <a:off x="4974336" y="1938528"/>
            <a:ext cx="658368" cy="658368"/>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5145512" y="2109704"/>
            <a:ext cx="316017" cy="316017"/>
          </a:xfrm>
          <a:prstGeom prst="rect">
            <a:avLst/>
          </a:prstGeom>
        </p:spPr>
      </p:pic>
      <p:sp>
        <p:nvSpPr>
          <p:cNvPr id="15" name="Text 11"/>
          <p:cNvSpPr/>
          <p:nvPr/>
        </p:nvSpPr>
        <p:spPr>
          <a:xfrm>
            <a:off x="914400" y="1993392"/>
            <a:ext cx="3922776" cy="411480"/>
          </a:xfrm>
          <a:prstGeom prst="rect">
            <a:avLst/>
          </a:prstGeom>
          <a:noFill/>
          <a:ln/>
        </p:spPr>
        <p:txBody>
          <a:bodyPr wrap="square" lIns="0" tIns="0" rIns="0" bIns="0" rtlCol="0" anchor="ctr"/>
          <a:lstStyle/>
          <a:p>
            <a:pPr rtl="1" algn="r" indent="0" marL="0">
              <a:buNone/>
            </a:pPr>
            <a:r>
              <a:rPr lang="en-US" sz="1600" b="1" dirty="0">
                <a:solidFill>
                  <a:srgbClr val="2F6B5C"/>
                </a:solidFill>
                <a:latin typeface="Arial" pitchFamily="34" charset="0"/>
                <a:ea typeface="Arial" pitchFamily="34" charset="-122"/>
                <a:cs typeface="Arial" pitchFamily="34" charset="-120"/>
              </a:rPr>
              <a:t>הפצת זרעים (ו): רוח ואש</a:t>
            </a:r>
            <a:endParaRPr lang="en-US" sz="1600" dirty="0"/>
          </a:p>
        </p:txBody>
      </p:sp>
      <p:sp>
        <p:nvSpPr>
          <p:cNvPr id="16" name="Text 12"/>
          <p:cNvSpPr/>
          <p:nvPr/>
        </p:nvSpPr>
        <p:spPr>
          <a:xfrm>
            <a:off x="914400" y="2514600"/>
            <a:ext cx="4654296" cy="29260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לכל זרע כנפית דקה, והרוח נושאת אותו הרחק מעץ האם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האצטרובל מבשיל כשנתיים ונפתח בימים חמים ויבשים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חלק מהאצטרובלים נשארים סגורים שנים ונפתחים אחרי שריפה: כך היער מתחדש על קרקע פנויה</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A8353A"/>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השני · מכוסה זרע</a:t>
            </a:r>
            <a:endParaRPr lang="en-US" sz="1250" dirty="0"/>
          </a:p>
        </p:txBody>
      </p:sp>
      <p:sp>
        <p:nvSpPr>
          <p:cNvPr id="4" name="Text 2"/>
          <p:cNvSpPr/>
          <p:nvPr/>
        </p:nvSpPr>
        <p:spPr>
          <a:xfrm>
            <a:off x="548640" y="914400"/>
            <a:ext cx="11045952" cy="594360"/>
          </a:xfrm>
          <a:prstGeom prst="rect">
            <a:avLst/>
          </a:prstGeom>
          <a:noFill/>
          <a:ln/>
        </p:spPr>
        <p:txBody>
          <a:bodyPr wrap="square" lIns="0" tIns="0" rIns="0" bIns="0" rtlCol="0" anchor="ctr"/>
          <a:lstStyle/>
          <a:p>
            <a:pPr algn="r" indent="0" marL="0">
              <a:buNone/>
            </a:pPr>
            <a:r>
              <a:rPr lang="en-US" sz="3000" b="1" dirty="0">
                <a:solidFill>
                  <a:srgbClr val="A8353A"/>
                </a:solidFill>
                <a:latin typeface="Arial" pitchFamily="34" charset="0"/>
                <a:ea typeface="Arial" pitchFamily="34" charset="-122"/>
                <a:cs typeface="Arial" pitchFamily="34" charset="-120"/>
              </a:rPr>
              <a:t>היביסקוס סיני </a:t>
            </a:r>
            <a:pPr algn="r" indent="0" marL="0">
              <a:buNone/>
            </a:pPr>
            <a:r>
              <a:rPr lang="en-US" sz="3000" b="1" i="1" dirty="0">
                <a:solidFill>
                  <a:srgbClr val="5F6E53"/>
                </a:solidFill>
                <a:latin typeface="Times New Roman" pitchFamily="34" charset="0"/>
                <a:ea typeface="Times New Roman" pitchFamily="34" charset="-122"/>
                <a:cs typeface="Times New Roman" pitchFamily="34" charset="-120"/>
              </a:rPr>
              <a:t>(Hibiscus rosa-sinensis)</a:t>
            </a:r>
            <a:endParaRPr lang="en-US" sz="30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סעיף א: מיון סיסטמתי</a:t>
            </a:r>
            <a:endParaRPr lang="en-US" sz="1100" dirty="0"/>
          </a:p>
        </p:txBody>
      </p:sp>
      <p:sp>
        <p:nvSpPr>
          <p:cNvPr id="7" name="Shape 5"/>
          <p:cNvSpPr/>
          <p:nvPr/>
        </p:nvSpPr>
        <p:spPr>
          <a:xfrm>
            <a:off x="5559552" y="1783080"/>
            <a:ext cx="6035040" cy="786384"/>
          </a:xfrm>
          <a:prstGeom prst="roundRect">
            <a:avLst>
              <a:gd name="adj" fmla="val 13953"/>
            </a:avLst>
          </a:prstGeom>
          <a:solidFill>
            <a:srgbClr val="F0F4EA"/>
          </a:solidFill>
          <a:ln/>
        </p:spPr>
      </p:sp>
      <p:sp>
        <p:nvSpPr>
          <p:cNvPr id="8" name="Text 6"/>
          <p:cNvSpPr/>
          <p:nvPr/>
        </p:nvSpPr>
        <p:spPr>
          <a:xfrm>
            <a:off x="9994392" y="1783080"/>
            <a:ext cx="1417320" cy="786384"/>
          </a:xfrm>
          <a:prstGeom prst="rect">
            <a:avLst/>
          </a:prstGeom>
          <a:noFill/>
          <a:ln/>
        </p:spPr>
        <p:txBody>
          <a:bodyPr wrap="square" lIns="0" tIns="0" rIns="0" bIns="0" rtlCol="0" anchor="ctr"/>
          <a:lstStyle/>
          <a:p>
            <a:pPr rtl="1" algn="r" indent="0" marL="0">
              <a:buNone/>
            </a:pPr>
            <a:r>
              <a:rPr lang="en-US" sz="1400" b="1" dirty="0">
                <a:solidFill>
                  <a:srgbClr val="A8353A"/>
                </a:solidFill>
                <a:latin typeface="Arial" pitchFamily="34" charset="0"/>
                <a:ea typeface="Arial" pitchFamily="34" charset="-122"/>
                <a:cs typeface="Arial" pitchFamily="34" charset="-120"/>
              </a:rPr>
              <a:t>ממלכה</a:t>
            </a:r>
            <a:endParaRPr lang="en-US" sz="1400" dirty="0"/>
          </a:p>
        </p:txBody>
      </p:sp>
      <p:sp>
        <p:nvSpPr>
          <p:cNvPr id="9" name="Text 7"/>
          <p:cNvSpPr/>
          <p:nvPr/>
        </p:nvSpPr>
        <p:spPr>
          <a:xfrm>
            <a:off x="5788152" y="17830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הצמחים</a:t>
            </a:r>
            <a:endParaRPr lang="en-US" sz="1350" dirty="0"/>
          </a:p>
        </p:txBody>
      </p:sp>
      <p:sp>
        <p:nvSpPr>
          <p:cNvPr id="10" name="Shape 8"/>
          <p:cNvSpPr/>
          <p:nvPr/>
        </p:nvSpPr>
        <p:spPr>
          <a:xfrm>
            <a:off x="5559552" y="2697480"/>
            <a:ext cx="6035040" cy="786384"/>
          </a:xfrm>
          <a:prstGeom prst="roundRect">
            <a:avLst>
              <a:gd name="adj" fmla="val 13953"/>
            </a:avLst>
          </a:prstGeom>
          <a:solidFill>
            <a:srgbClr val="F0F4EA"/>
          </a:solidFill>
          <a:ln/>
        </p:spPr>
      </p:sp>
      <p:sp>
        <p:nvSpPr>
          <p:cNvPr id="11" name="Text 9"/>
          <p:cNvSpPr/>
          <p:nvPr/>
        </p:nvSpPr>
        <p:spPr>
          <a:xfrm>
            <a:off x="9994392" y="2697480"/>
            <a:ext cx="1417320" cy="786384"/>
          </a:xfrm>
          <a:prstGeom prst="rect">
            <a:avLst/>
          </a:prstGeom>
          <a:noFill/>
          <a:ln/>
        </p:spPr>
        <p:txBody>
          <a:bodyPr wrap="square" lIns="0" tIns="0" rIns="0" bIns="0" rtlCol="0" anchor="ctr"/>
          <a:lstStyle/>
          <a:p>
            <a:pPr rtl="1" algn="r" indent="0" marL="0">
              <a:buNone/>
            </a:pPr>
            <a:r>
              <a:rPr lang="en-US" sz="1400" b="1" dirty="0">
                <a:solidFill>
                  <a:srgbClr val="A8353A"/>
                </a:solidFill>
                <a:latin typeface="Arial" pitchFamily="34" charset="0"/>
                <a:ea typeface="Arial" pitchFamily="34" charset="-122"/>
                <a:cs typeface="Arial" pitchFamily="34" charset="-120"/>
              </a:rPr>
              <a:t>קבוצה</a:t>
            </a:r>
            <a:endParaRPr lang="en-US" sz="1400" dirty="0"/>
          </a:p>
        </p:txBody>
      </p:sp>
      <p:sp>
        <p:nvSpPr>
          <p:cNvPr id="12" name="Text 10"/>
          <p:cNvSpPr/>
          <p:nvPr/>
        </p:nvSpPr>
        <p:spPr>
          <a:xfrm>
            <a:off x="5788152" y="26974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צמחים בעלי זרעים: מכוסי זרע, דו-פסיגיים</a:t>
            </a:r>
            <a:endParaRPr lang="en-US" sz="1350" dirty="0"/>
          </a:p>
        </p:txBody>
      </p:sp>
      <p:sp>
        <p:nvSpPr>
          <p:cNvPr id="13" name="Shape 11"/>
          <p:cNvSpPr/>
          <p:nvPr/>
        </p:nvSpPr>
        <p:spPr>
          <a:xfrm>
            <a:off x="5559552" y="3611880"/>
            <a:ext cx="6035040" cy="786384"/>
          </a:xfrm>
          <a:prstGeom prst="roundRect">
            <a:avLst>
              <a:gd name="adj" fmla="val 13953"/>
            </a:avLst>
          </a:prstGeom>
          <a:solidFill>
            <a:srgbClr val="F0F4EA"/>
          </a:solidFill>
          <a:ln/>
        </p:spPr>
      </p:sp>
      <p:sp>
        <p:nvSpPr>
          <p:cNvPr id="14" name="Text 12"/>
          <p:cNvSpPr/>
          <p:nvPr/>
        </p:nvSpPr>
        <p:spPr>
          <a:xfrm>
            <a:off x="9994392" y="3611880"/>
            <a:ext cx="1417320" cy="786384"/>
          </a:xfrm>
          <a:prstGeom prst="rect">
            <a:avLst/>
          </a:prstGeom>
          <a:noFill/>
          <a:ln/>
        </p:spPr>
        <p:txBody>
          <a:bodyPr wrap="square" lIns="0" tIns="0" rIns="0" bIns="0" rtlCol="0" anchor="ctr"/>
          <a:lstStyle/>
          <a:p>
            <a:pPr rtl="1" algn="r" indent="0" marL="0">
              <a:buNone/>
            </a:pPr>
            <a:r>
              <a:rPr lang="en-US" sz="1400" b="1" dirty="0">
                <a:solidFill>
                  <a:srgbClr val="A8353A"/>
                </a:solidFill>
                <a:latin typeface="Arial" pitchFamily="34" charset="0"/>
                <a:ea typeface="Arial" pitchFamily="34" charset="-122"/>
                <a:cs typeface="Arial" pitchFamily="34" charset="-120"/>
              </a:rPr>
              <a:t>משפחה</a:t>
            </a:r>
            <a:endParaRPr lang="en-US" sz="1400" dirty="0"/>
          </a:p>
        </p:txBody>
      </p:sp>
      <p:sp>
        <p:nvSpPr>
          <p:cNvPr id="15" name="Text 13"/>
          <p:cNvSpPr/>
          <p:nvPr/>
        </p:nvSpPr>
        <p:spPr>
          <a:xfrm>
            <a:off x="5788152" y="36118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חלמיתיים (Malvaceae)</a:t>
            </a:r>
            <a:endParaRPr lang="en-US" sz="1350" dirty="0"/>
          </a:p>
        </p:txBody>
      </p:sp>
      <p:sp>
        <p:nvSpPr>
          <p:cNvPr id="16" name="Shape 14"/>
          <p:cNvSpPr/>
          <p:nvPr/>
        </p:nvSpPr>
        <p:spPr>
          <a:xfrm>
            <a:off x="5559552" y="4526280"/>
            <a:ext cx="6035040" cy="786384"/>
          </a:xfrm>
          <a:prstGeom prst="roundRect">
            <a:avLst>
              <a:gd name="adj" fmla="val 13953"/>
            </a:avLst>
          </a:prstGeom>
          <a:solidFill>
            <a:srgbClr val="F0F4EA"/>
          </a:solidFill>
          <a:ln/>
        </p:spPr>
      </p:sp>
      <p:sp>
        <p:nvSpPr>
          <p:cNvPr id="17" name="Text 15"/>
          <p:cNvSpPr/>
          <p:nvPr/>
        </p:nvSpPr>
        <p:spPr>
          <a:xfrm>
            <a:off x="9994392" y="4526280"/>
            <a:ext cx="1417320" cy="786384"/>
          </a:xfrm>
          <a:prstGeom prst="rect">
            <a:avLst/>
          </a:prstGeom>
          <a:noFill/>
          <a:ln/>
        </p:spPr>
        <p:txBody>
          <a:bodyPr wrap="square" lIns="0" tIns="0" rIns="0" bIns="0" rtlCol="0" anchor="ctr"/>
          <a:lstStyle/>
          <a:p>
            <a:pPr rtl="1" algn="r" indent="0" marL="0">
              <a:buNone/>
            </a:pPr>
            <a:r>
              <a:rPr lang="en-US" sz="1400" b="1" dirty="0">
                <a:solidFill>
                  <a:srgbClr val="A8353A"/>
                </a:solidFill>
                <a:latin typeface="Arial" pitchFamily="34" charset="0"/>
                <a:ea typeface="Arial" pitchFamily="34" charset="-122"/>
                <a:cs typeface="Arial" pitchFamily="34" charset="-120"/>
              </a:rPr>
              <a:t>סוג</a:t>
            </a:r>
            <a:endParaRPr lang="en-US" sz="1400" dirty="0"/>
          </a:p>
        </p:txBody>
      </p:sp>
      <p:sp>
        <p:nvSpPr>
          <p:cNvPr id="18" name="Text 16"/>
          <p:cNvSpPr/>
          <p:nvPr/>
        </p:nvSpPr>
        <p:spPr>
          <a:xfrm>
            <a:off x="5788152" y="45262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היביסקוס (Hibiscus)</a:t>
            </a:r>
            <a:endParaRPr lang="en-US" sz="1350" dirty="0"/>
          </a:p>
        </p:txBody>
      </p:sp>
      <p:sp>
        <p:nvSpPr>
          <p:cNvPr id="19" name="Shape 17"/>
          <p:cNvSpPr/>
          <p:nvPr/>
        </p:nvSpPr>
        <p:spPr>
          <a:xfrm>
            <a:off x="5559552" y="5440680"/>
            <a:ext cx="6035040" cy="786384"/>
          </a:xfrm>
          <a:prstGeom prst="roundRect">
            <a:avLst>
              <a:gd name="adj" fmla="val 13953"/>
            </a:avLst>
          </a:prstGeom>
          <a:solidFill>
            <a:srgbClr val="F8EAE8"/>
          </a:solidFill>
          <a:ln/>
        </p:spPr>
      </p:sp>
      <p:sp>
        <p:nvSpPr>
          <p:cNvPr id="20" name="Text 18"/>
          <p:cNvSpPr/>
          <p:nvPr/>
        </p:nvSpPr>
        <p:spPr>
          <a:xfrm>
            <a:off x="9994392" y="5440680"/>
            <a:ext cx="1417320" cy="786384"/>
          </a:xfrm>
          <a:prstGeom prst="rect">
            <a:avLst/>
          </a:prstGeom>
          <a:noFill/>
          <a:ln/>
        </p:spPr>
        <p:txBody>
          <a:bodyPr wrap="square" lIns="0" tIns="0" rIns="0" bIns="0" rtlCol="0" anchor="ctr"/>
          <a:lstStyle/>
          <a:p>
            <a:pPr rtl="1" algn="r" indent="0" marL="0">
              <a:buNone/>
            </a:pPr>
            <a:r>
              <a:rPr lang="en-US" sz="1400" b="1" dirty="0">
                <a:solidFill>
                  <a:srgbClr val="A8353A"/>
                </a:solidFill>
                <a:latin typeface="Arial" pitchFamily="34" charset="0"/>
                <a:ea typeface="Arial" pitchFamily="34" charset="-122"/>
                <a:cs typeface="Arial" pitchFamily="34" charset="-120"/>
              </a:rPr>
              <a:t>מין</a:t>
            </a:r>
            <a:endParaRPr lang="en-US" sz="1400" dirty="0"/>
          </a:p>
        </p:txBody>
      </p:sp>
      <p:sp>
        <p:nvSpPr>
          <p:cNvPr id="21" name="Text 19"/>
          <p:cNvSpPr/>
          <p:nvPr/>
        </p:nvSpPr>
        <p:spPr>
          <a:xfrm>
            <a:off x="5788152" y="5440680"/>
            <a:ext cx="4114800" cy="786384"/>
          </a:xfrm>
          <a:prstGeom prst="rect">
            <a:avLst/>
          </a:prstGeom>
          <a:noFill/>
          <a:ln/>
        </p:spPr>
        <p:txBody>
          <a:bodyPr wrap="square" lIns="0" tIns="0" rIns="0" bIns="0" rtlCol="0" anchor="ctr"/>
          <a:lstStyle/>
          <a:p>
            <a:pPr rtl="1" algn="r" indent="0" marL="0">
              <a:buNone/>
            </a:pPr>
            <a:r>
              <a:rPr lang="en-US" sz="1350" dirty="0">
                <a:solidFill>
                  <a:srgbClr val="26331F"/>
                </a:solidFill>
                <a:latin typeface="Arial" pitchFamily="34" charset="0"/>
                <a:ea typeface="Arial" pitchFamily="34" charset="-122"/>
                <a:cs typeface="Arial" pitchFamily="34" charset="-120"/>
              </a:rPr>
              <a:t>היביסקוס סיני (Hibiscus rosa-sinensis)</a:t>
            </a:r>
            <a:endParaRPr lang="en-US" sz="1350" dirty="0"/>
          </a:p>
        </p:txBody>
      </p:sp>
      <p:pic>
        <p:nvPicPr>
          <p:cNvPr id="22" name="Image 0" descr="hibiscus.jpg">    </p:cNvPr>
          <p:cNvPicPr>
            <a:picLocks noChangeAspect="1"/>
          </p:cNvPicPr>
          <p:nvPr/>
        </p:nvPicPr>
        <p:blipFill>
          <a:blip r:embed="rId1"/>
          <a:srcRect l="0" r="0" t="0" b="0"/>
          <a:stretch/>
        </p:blipFill>
        <p:spPr>
          <a:xfrm>
            <a:off x="594360" y="1783080"/>
            <a:ext cx="4892040" cy="4114800"/>
          </a:xfrm>
          <a:prstGeom prst="rect">
            <a:avLst/>
          </a:prstGeom>
        </p:spPr>
      </p:pic>
      <p:sp>
        <p:nvSpPr>
          <p:cNvPr id="23" name="Text 20"/>
          <p:cNvSpPr/>
          <p:nvPr/>
        </p:nvSpPr>
        <p:spPr>
          <a:xfrm>
            <a:off x="594360" y="5943600"/>
            <a:ext cx="4892040" cy="320040"/>
          </a:xfrm>
          <a:prstGeom prst="rect">
            <a:avLst/>
          </a:prstGeom>
          <a:noFill/>
          <a:ln/>
        </p:spPr>
        <p:txBody>
          <a:bodyPr wrap="square" lIns="0" tIns="0" rIns="0" bIns="0" rtlCol="0" anchor="ctr"/>
          <a:lstStyle/>
          <a:p>
            <a:pPr rtl="1" algn="ctr" indent="0" marL="0">
              <a:buNone/>
            </a:pPr>
            <a:r>
              <a:rPr lang="en-US" sz="1150" dirty="0">
                <a:solidFill>
                  <a:srgbClr val="5F6E53"/>
                </a:solidFill>
                <a:latin typeface="Arial" pitchFamily="34" charset="0"/>
                <a:ea typeface="Arial" pitchFamily="34" charset="-122"/>
                <a:cs typeface="Arial" pitchFamily="34" charset="-120"/>
              </a:rPr>
              <a:t>השיח שצולם באזור המגורים (צילום: המגיש/ה)</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A8353A"/>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השני · מכוסה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A8353A"/>
                </a:solidFill>
                <a:latin typeface="Arial" pitchFamily="34" charset="0"/>
                <a:ea typeface="Arial" pitchFamily="34" charset="-122"/>
                <a:cs typeface="Arial" pitchFamily="34" charset="-120"/>
              </a:rPr>
              <a:t>היביסקוס סיני: למה מכוסה זרע, ואיזו צורת חיים</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סעיפים ב + ג</a:t>
            </a:r>
            <a:endParaRPr lang="en-US" sz="1100" dirty="0"/>
          </a:p>
        </p:txBody>
      </p:sp>
      <p:sp>
        <p:nvSpPr>
          <p:cNvPr id="7" name="Shape 5"/>
          <p:cNvSpPr/>
          <p:nvPr/>
        </p:nvSpPr>
        <p:spPr>
          <a:xfrm>
            <a:off x="6300216" y="1737360"/>
            <a:ext cx="5294376" cy="3886200"/>
          </a:xfrm>
          <a:prstGeom prst="roundRect">
            <a:avLst>
              <a:gd name="adj" fmla="val 2824"/>
            </a:avLst>
          </a:prstGeom>
          <a:solidFill>
            <a:srgbClr val="F8EAE8"/>
          </a:solidFill>
          <a:ln/>
        </p:spPr>
      </p:sp>
      <p:sp>
        <p:nvSpPr>
          <p:cNvPr id="8" name="Text 6"/>
          <p:cNvSpPr/>
          <p:nvPr/>
        </p:nvSpPr>
        <p:spPr>
          <a:xfrm>
            <a:off x="6620256" y="1965960"/>
            <a:ext cx="4654296" cy="411480"/>
          </a:xfrm>
          <a:prstGeom prst="rect">
            <a:avLst/>
          </a:prstGeom>
          <a:noFill/>
          <a:ln/>
        </p:spPr>
        <p:txBody>
          <a:bodyPr wrap="square" lIns="0" tIns="0" rIns="0" bIns="0" rtlCol="0" anchor="ctr"/>
          <a:lstStyle/>
          <a:p>
            <a:pPr rtl="1" algn="r" indent="0" marL="0">
              <a:buNone/>
            </a:pPr>
            <a:r>
              <a:rPr lang="en-US" sz="1600" b="1" dirty="0">
                <a:solidFill>
                  <a:srgbClr val="A8353A"/>
                </a:solidFill>
                <a:latin typeface="Arial" pitchFamily="34" charset="0"/>
                <a:ea typeface="Arial" pitchFamily="34" charset="-122"/>
                <a:cs typeface="Arial" pitchFamily="34" charset="-120"/>
              </a:rPr>
              <a:t>תכונות המשייכות למכוסי הזרע (ב)</a:t>
            </a:r>
            <a:endParaRPr lang="en-US" sz="1600" dirty="0"/>
          </a:p>
        </p:txBody>
      </p:sp>
      <p:sp>
        <p:nvSpPr>
          <p:cNvPr id="9" name="Text 7"/>
          <p:cNvSpPr/>
          <p:nvPr/>
        </p:nvSpPr>
        <p:spPr>
          <a:xfrm>
            <a:off x="6620256" y="2468880"/>
            <a:ext cx="4654296" cy="2971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פרח גדול ובולט: חמישה עלי כותרת אדומים סביב עמוד מרכזי שעליו האבקנים והצלקות, מבנה אופייני לחלמיתיים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הביצית סגורה בתוך שחלה בבסיס הפרח, ולאחר הפריה הזרעים מתפתחים בתוך פרי הלקט</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פרח הראווה עצמו הוא כרטיס הביקור של מכוסי הזרע: איבר שנועד למשוך מאביקים</a:t>
            </a:r>
            <a:endParaRPr lang="en-US" sz="1450" dirty="0"/>
          </a:p>
        </p:txBody>
      </p:sp>
      <p:sp>
        <p:nvSpPr>
          <p:cNvPr id="10" name="Shape 8"/>
          <p:cNvSpPr/>
          <p:nvPr/>
        </p:nvSpPr>
        <p:spPr>
          <a:xfrm>
            <a:off x="594360" y="1737360"/>
            <a:ext cx="5294376" cy="3886200"/>
          </a:xfrm>
          <a:prstGeom prst="roundRect">
            <a:avLst>
              <a:gd name="adj" fmla="val 2824"/>
            </a:avLst>
          </a:prstGeom>
          <a:solidFill>
            <a:srgbClr val="F0F4EA"/>
          </a:solidFill>
          <a:ln/>
        </p:spPr>
      </p:sp>
      <p:sp>
        <p:nvSpPr>
          <p:cNvPr id="11" name="Text 9"/>
          <p:cNvSpPr/>
          <p:nvPr/>
        </p:nvSpPr>
        <p:spPr>
          <a:xfrm>
            <a:off x="914400" y="1965960"/>
            <a:ext cx="4654296"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צורת חיים (ג)</a:t>
            </a:r>
            <a:endParaRPr lang="en-US" sz="1600" dirty="0"/>
          </a:p>
        </p:txBody>
      </p:sp>
      <p:sp>
        <p:nvSpPr>
          <p:cNvPr id="12" name="Text 10"/>
          <p:cNvSpPr/>
          <p:nvPr/>
        </p:nvSpPr>
        <p:spPr>
          <a:xfrm>
            <a:off x="914400" y="2468880"/>
            <a:ext cx="4654296" cy="29718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שיח רב-שנתי ירוק-עד, בדרך כלל בגובה מטר עד שלושה מטרים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מסועף מבסיסו, בלי גזע מרכזי, ולכן שיח ולא עץ</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עלים רחבים, מבריקים ומשוננים, מכוסים קוטיקולה</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בגינון משמש גם כגדר חיה מעוצבת</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A8353A"/>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השני · מכוסה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A8353A"/>
                </a:solidFill>
                <a:latin typeface="Arial" pitchFamily="34" charset="0"/>
                <a:ea typeface="Arial" pitchFamily="34" charset="-122"/>
                <a:cs typeface="Arial" pitchFamily="34" charset="-120"/>
              </a:rPr>
              <a:t>היביסקוס סיני: תפוצה טבעית ונוכחית</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סעיף ד: תפוצה</a:t>
            </a:r>
            <a:endParaRPr lang="en-US" sz="1100" dirty="0"/>
          </a:p>
        </p:txBody>
      </p:sp>
      <p:sp>
        <p:nvSpPr>
          <p:cNvPr id="7" name="Shape 5"/>
          <p:cNvSpPr/>
          <p:nvPr/>
        </p:nvSpPr>
        <p:spPr>
          <a:xfrm>
            <a:off x="594360" y="1737360"/>
            <a:ext cx="11000232" cy="2103120"/>
          </a:xfrm>
          <a:prstGeom prst="roundRect">
            <a:avLst>
              <a:gd name="adj" fmla="val 5217"/>
            </a:avLst>
          </a:prstGeom>
          <a:solidFill>
            <a:srgbClr val="F0F4EA"/>
          </a:solidFill>
          <a:ln/>
        </p:spPr>
      </p:sp>
      <p:sp>
        <p:nvSpPr>
          <p:cNvPr id="8" name="Shape 6"/>
          <p:cNvSpPr/>
          <p:nvPr/>
        </p:nvSpPr>
        <p:spPr>
          <a:xfrm>
            <a:off x="10680192" y="1920240"/>
            <a:ext cx="658368" cy="658368"/>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0851368" y="2091416"/>
            <a:ext cx="316017" cy="316017"/>
          </a:xfrm>
          <a:prstGeom prst="rect">
            <a:avLst/>
          </a:prstGeom>
        </p:spPr>
      </p:pic>
      <p:sp>
        <p:nvSpPr>
          <p:cNvPr id="10" name="Text 7"/>
          <p:cNvSpPr/>
          <p:nvPr/>
        </p:nvSpPr>
        <p:spPr>
          <a:xfrm>
            <a:off x="914400" y="1965960"/>
            <a:ext cx="9628632"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תפוצה טבעית</a:t>
            </a:r>
            <a:endParaRPr lang="en-US" sz="1600" dirty="0"/>
          </a:p>
        </p:txBody>
      </p:sp>
      <p:sp>
        <p:nvSpPr>
          <p:cNvPr id="11" name="Text 8"/>
          <p:cNvSpPr/>
          <p:nvPr/>
        </p:nvSpPr>
        <p:spPr>
          <a:xfrm>
            <a:off x="914400" y="2423160"/>
            <a:ext cx="9171432" cy="128016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מוצאו באזורים הטרופיים של מזרח אסיה</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מוכר בעיקר כצמח תרבות עתיק, עד כדי כך שאוכלוסיות בר ודאיות שלו כמעט אינן ידועות</a:t>
            </a:r>
            <a:endParaRPr lang="en-US" sz="1450" dirty="0"/>
          </a:p>
        </p:txBody>
      </p:sp>
      <p:sp>
        <p:nvSpPr>
          <p:cNvPr id="12" name="Shape 9"/>
          <p:cNvSpPr/>
          <p:nvPr/>
        </p:nvSpPr>
        <p:spPr>
          <a:xfrm>
            <a:off x="594360" y="4069080"/>
            <a:ext cx="11000232" cy="2103120"/>
          </a:xfrm>
          <a:prstGeom prst="roundRect">
            <a:avLst>
              <a:gd name="adj" fmla="val 5217"/>
            </a:avLst>
          </a:prstGeom>
          <a:solidFill>
            <a:srgbClr val="F8EAE8"/>
          </a:solidFill>
          <a:ln/>
        </p:spPr>
      </p:sp>
      <p:sp>
        <p:nvSpPr>
          <p:cNvPr id="13" name="Shape 10"/>
          <p:cNvSpPr/>
          <p:nvPr/>
        </p:nvSpPr>
        <p:spPr>
          <a:xfrm>
            <a:off x="10680192" y="4251960"/>
            <a:ext cx="658368" cy="658368"/>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10851368" y="4423136"/>
            <a:ext cx="316017" cy="316017"/>
          </a:xfrm>
          <a:prstGeom prst="rect">
            <a:avLst/>
          </a:prstGeom>
        </p:spPr>
      </p:pic>
      <p:sp>
        <p:nvSpPr>
          <p:cNvPr id="15" name="Text 11"/>
          <p:cNvSpPr/>
          <p:nvPr/>
        </p:nvSpPr>
        <p:spPr>
          <a:xfrm>
            <a:off x="914400" y="4297680"/>
            <a:ext cx="9628632" cy="411480"/>
          </a:xfrm>
          <a:prstGeom prst="rect">
            <a:avLst/>
          </a:prstGeom>
          <a:noFill/>
          <a:ln/>
        </p:spPr>
        <p:txBody>
          <a:bodyPr wrap="square" lIns="0" tIns="0" rIns="0" bIns="0" rtlCol="0" anchor="ctr"/>
          <a:lstStyle/>
          <a:p>
            <a:pPr rtl="1" algn="r" indent="0" marL="0">
              <a:buNone/>
            </a:pPr>
            <a:r>
              <a:rPr lang="en-US" sz="1600" b="1" dirty="0">
                <a:solidFill>
                  <a:srgbClr val="A8353A"/>
                </a:solidFill>
                <a:latin typeface="Arial" pitchFamily="34" charset="0"/>
                <a:ea typeface="Arial" pitchFamily="34" charset="-122"/>
                <a:cs typeface="Arial" pitchFamily="34" charset="-120"/>
              </a:rPr>
              <a:t>תפוצה נוכחית: בעזרת האדם</a:t>
            </a:r>
            <a:endParaRPr lang="en-US" sz="1600" dirty="0"/>
          </a:p>
        </p:txBody>
      </p:sp>
      <p:sp>
        <p:nvSpPr>
          <p:cNvPr id="16" name="Text 12"/>
          <p:cNvSpPr/>
          <p:nvPr/>
        </p:nvSpPr>
        <p:spPr>
          <a:xfrm>
            <a:off x="914400" y="4754880"/>
            <a:ext cx="9171432" cy="13258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צמח נוי נפוץ באזורים חמים בכל העולם, מהטרופים ועד אגן הים התיכון</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בישראל אינו גדל בר: כל השיחים ניטעו בגינות, בגדרות חיות וברחובות</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17152" y="411480"/>
            <a:ext cx="2377440" cy="384048"/>
          </a:xfrm>
          <a:prstGeom prst="roundRect">
            <a:avLst>
              <a:gd name="adj" fmla="val 50000"/>
            </a:avLst>
          </a:prstGeom>
          <a:solidFill>
            <a:srgbClr val="A8353A"/>
          </a:solidFill>
          <a:ln/>
        </p:spPr>
      </p:sp>
      <p:sp>
        <p:nvSpPr>
          <p:cNvPr id="3" name="Text 1"/>
          <p:cNvSpPr/>
          <p:nvPr/>
        </p:nvSpPr>
        <p:spPr>
          <a:xfrm>
            <a:off x="9217152" y="411480"/>
            <a:ext cx="2377440" cy="384048"/>
          </a:xfrm>
          <a:prstGeom prst="rect">
            <a:avLst/>
          </a:prstGeom>
          <a:noFill/>
          <a:ln/>
        </p:spPr>
        <p:txBody>
          <a:bodyPr wrap="square" lIns="0" tIns="0" rIns="0" bIns="0"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הצמח השני · מכוסה זרע</a:t>
            </a:r>
            <a:endParaRPr lang="en-US" sz="1250" dirty="0"/>
          </a:p>
        </p:txBody>
      </p:sp>
      <p:sp>
        <p:nvSpPr>
          <p:cNvPr id="4" name="Text 2"/>
          <p:cNvSpPr/>
          <p:nvPr/>
        </p:nvSpPr>
        <p:spPr>
          <a:xfrm>
            <a:off x="548640" y="914400"/>
            <a:ext cx="11045952" cy="548640"/>
          </a:xfrm>
          <a:prstGeom prst="rect">
            <a:avLst/>
          </a:prstGeom>
          <a:noFill/>
          <a:ln/>
        </p:spPr>
        <p:txBody>
          <a:bodyPr wrap="square" lIns="0" tIns="0" rIns="0" bIns="0" rtlCol="0" anchor="ctr"/>
          <a:lstStyle/>
          <a:p>
            <a:pPr rtl="1" algn="r" indent="0" marL="0">
              <a:buNone/>
            </a:pPr>
            <a:r>
              <a:rPr lang="en-US" sz="2600" b="1" dirty="0">
                <a:solidFill>
                  <a:srgbClr val="A8353A"/>
                </a:solidFill>
                <a:latin typeface="Arial" pitchFamily="34" charset="0"/>
                <a:ea typeface="Arial" pitchFamily="34" charset="-122"/>
                <a:cs typeface="Arial" pitchFamily="34" charset="-120"/>
              </a:rPr>
              <a:t>היביסקוס סיני: האבקה בבעלי חיים והפצה בעזרת האדם</a:t>
            </a:r>
            <a:endParaRPr lang="en-US" sz="2600" dirty="0"/>
          </a:p>
        </p:txBody>
      </p:sp>
      <p:sp>
        <p:nvSpPr>
          <p:cNvPr id="5" name="Shape 3"/>
          <p:cNvSpPr/>
          <p:nvPr/>
        </p:nvSpPr>
        <p:spPr>
          <a:xfrm>
            <a:off x="594360" y="457200"/>
            <a:ext cx="2103120" cy="347472"/>
          </a:xfrm>
          <a:prstGeom prst="roundRect">
            <a:avLst>
              <a:gd name="adj" fmla="val 50000"/>
            </a:avLst>
          </a:prstGeom>
          <a:solidFill>
            <a:srgbClr val="97BC62"/>
          </a:solidFill>
          <a:ln/>
        </p:spPr>
      </p:sp>
      <p:sp>
        <p:nvSpPr>
          <p:cNvPr id="6" name="Text 4"/>
          <p:cNvSpPr/>
          <p:nvPr/>
        </p:nvSpPr>
        <p:spPr>
          <a:xfrm>
            <a:off x="594360" y="457200"/>
            <a:ext cx="2103120" cy="347472"/>
          </a:xfrm>
          <a:prstGeom prst="rect">
            <a:avLst/>
          </a:prstGeom>
          <a:noFill/>
          <a:ln/>
        </p:spPr>
        <p:txBody>
          <a:bodyPr wrap="square" lIns="0" tIns="0" rIns="0" bIns="0" rtlCol="0" anchor="ctr"/>
          <a:lstStyle/>
          <a:p>
            <a:pPr rtl="1" algn="ctr" indent="0" marL="0">
              <a:buNone/>
            </a:pPr>
            <a:r>
              <a:rPr lang="en-US" sz="1100" b="1" dirty="0">
                <a:solidFill>
                  <a:srgbClr val="26331F"/>
                </a:solidFill>
                <a:latin typeface="Arial" pitchFamily="34" charset="0"/>
                <a:ea typeface="Arial" pitchFamily="34" charset="-122"/>
                <a:cs typeface="Arial" pitchFamily="34" charset="-120"/>
              </a:rPr>
              <a:t>סעיפים ה + ו</a:t>
            </a:r>
            <a:endParaRPr lang="en-US" sz="1100" dirty="0"/>
          </a:p>
        </p:txBody>
      </p:sp>
      <p:sp>
        <p:nvSpPr>
          <p:cNvPr id="7" name="Shape 5"/>
          <p:cNvSpPr/>
          <p:nvPr/>
        </p:nvSpPr>
        <p:spPr>
          <a:xfrm>
            <a:off x="6300216" y="1737360"/>
            <a:ext cx="5294376" cy="3886200"/>
          </a:xfrm>
          <a:prstGeom prst="roundRect">
            <a:avLst>
              <a:gd name="adj" fmla="val 2824"/>
            </a:avLst>
          </a:prstGeom>
          <a:solidFill>
            <a:srgbClr val="F0F4EA"/>
          </a:solidFill>
          <a:ln/>
        </p:spPr>
      </p:sp>
      <p:sp>
        <p:nvSpPr>
          <p:cNvPr id="8" name="Shape 6"/>
          <p:cNvSpPr/>
          <p:nvPr/>
        </p:nvSpPr>
        <p:spPr>
          <a:xfrm>
            <a:off x="10680192" y="1938528"/>
            <a:ext cx="658368" cy="658368"/>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0851368" y="2109704"/>
            <a:ext cx="316017" cy="316017"/>
          </a:xfrm>
          <a:prstGeom prst="rect">
            <a:avLst/>
          </a:prstGeom>
        </p:spPr>
      </p:pic>
      <p:sp>
        <p:nvSpPr>
          <p:cNvPr id="10" name="Text 7"/>
          <p:cNvSpPr/>
          <p:nvPr/>
        </p:nvSpPr>
        <p:spPr>
          <a:xfrm>
            <a:off x="6620256" y="1993392"/>
            <a:ext cx="3922776"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צורת האבקה (ה): ציפורים וחרקים</a:t>
            </a:r>
            <a:endParaRPr lang="en-US" sz="1600" dirty="0"/>
          </a:p>
        </p:txBody>
      </p:sp>
      <p:sp>
        <p:nvSpPr>
          <p:cNvPr id="11" name="Text 8"/>
          <p:cNvSpPr/>
          <p:nvPr/>
        </p:nvSpPr>
        <p:spPr>
          <a:xfrm>
            <a:off x="6620256" y="2514600"/>
            <a:ext cx="4654296" cy="29260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פרח גדול, אדום ועשיר בצוף: מבנה המותאם להאבקה על ידי בעלי חיים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באזורי מוצאו מואבק בעיקר על ידי ציפורים צופיות ופרפרים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בישראל אפשר לראות בפרחים את הצופית הבוהקת וגם דבורים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האבקנים והצלקות בולטים על עמוד מרכזי ונוגעים במבקרים בפרח</a:t>
            </a:r>
            <a:endParaRPr lang="en-US" sz="1450" dirty="0"/>
          </a:p>
        </p:txBody>
      </p:sp>
      <p:sp>
        <p:nvSpPr>
          <p:cNvPr id="12" name="Shape 9"/>
          <p:cNvSpPr/>
          <p:nvPr/>
        </p:nvSpPr>
        <p:spPr>
          <a:xfrm>
            <a:off x="594360" y="1737360"/>
            <a:ext cx="5294376" cy="3886200"/>
          </a:xfrm>
          <a:prstGeom prst="roundRect">
            <a:avLst>
              <a:gd name="adj" fmla="val 2824"/>
            </a:avLst>
          </a:prstGeom>
          <a:solidFill>
            <a:srgbClr val="F8EAE8"/>
          </a:solidFill>
          <a:ln/>
        </p:spPr>
      </p:sp>
      <p:sp>
        <p:nvSpPr>
          <p:cNvPr id="13" name="Shape 10"/>
          <p:cNvSpPr/>
          <p:nvPr/>
        </p:nvSpPr>
        <p:spPr>
          <a:xfrm>
            <a:off x="4974336" y="1938528"/>
            <a:ext cx="658368" cy="658368"/>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5145512" y="2109704"/>
            <a:ext cx="316017" cy="316017"/>
          </a:xfrm>
          <a:prstGeom prst="rect">
            <a:avLst/>
          </a:prstGeom>
        </p:spPr>
      </p:pic>
      <p:sp>
        <p:nvSpPr>
          <p:cNvPr id="15" name="Text 11"/>
          <p:cNvSpPr/>
          <p:nvPr/>
        </p:nvSpPr>
        <p:spPr>
          <a:xfrm>
            <a:off x="914400" y="1993392"/>
            <a:ext cx="3922776" cy="411480"/>
          </a:xfrm>
          <a:prstGeom prst="rect">
            <a:avLst/>
          </a:prstGeom>
          <a:noFill/>
          <a:ln/>
        </p:spPr>
        <p:txBody>
          <a:bodyPr wrap="square" lIns="0" tIns="0" rIns="0" bIns="0" rtlCol="0" anchor="ctr"/>
          <a:lstStyle/>
          <a:p>
            <a:pPr rtl="1" algn="r" indent="0" marL="0">
              <a:buNone/>
            </a:pPr>
            <a:r>
              <a:rPr lang="en-US" sz="1600" b="1" dirty="0">
                <a:solidFill>
                  <a:srgbClr val="A8353A"/>
                </a:solidFill>
                <a:latin typeface="Arial" pitchFamily="34" charset="0"/>
                <a:ea typeface="Arial" pitchFamily="34" charset="-122"/>
                <a:cs typeface="Arial" pitchFamily="34" charset="-120"/>
              </a:rPr>
              <a:t>הפצת זרעים (ו): הלקט, ובפועל האדם</a:t>
            </a:r>
            <a:endParaRPr lang="en-US" sz="1600" dirty="0"/>
          </a:p>
        </p:txBody>
      </p:sp>
      <p:sp>
        <p:nvSpPr>
          <p:cNvPr id="16" name="Text 12"/>
          <p:cNvSpPr/>
          <p:nvPr/>
        </p:nvSpPr>
        <p:spPr>
          <a:xfrm>
            <a:off x="914400" y="2514600"/>
            <a:ext cx="4654296" cy="292608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הפרי הוא הלקט יבש שנפתח בהבשלתו, והזרעים נושרים סמוך לצמח האם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רוב זני התרבות כמעט אינם חונטים פרי, ולכן זרעים נדירים בגינה</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בפועל האדם הוא המפיץ העיקרי: ריבוי וגטטיבי מייחורים ושתילה בגינות</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54512" y="384048"/>
            <a:ext cx="685800" cy="685800"/>
          </a:xfrm>
          <a:prstGeom prst="ellipse">
            <a:avLst/>
          </a:prstGeom>
          <a:solidFill>
            <a:srgbClr val="F0F4EA"/>
          </a:solidFill>
          <a:ln/>
        </p:spPr>
      </p:sp>
      <p:pic>
        <p:nvPicPr>
          <p:cNvPr id="3" name="Image 0" descr="preencoded.png">    </p:cNvPr>
          <p:cNvPicPr>
            <a:picLocks noChangeAspect="1"/>
          </p:cNvPicPr>
          <p:nvPr/>
        </p:nvPicPr>
        <p:blipFill>
          <a:blip r:embed="rId1"/>
          <a:stretch>
            <a:fillRect/>
          </a:stretch>
        </p:blipFill>
        <p:spPr>
          <a:xfrm>
            <a:off x="11132820" y="562356"/>
            <a:ext cx="329184" cy="329184"/>
          </a:xfrm>
          <a:prstGeom prst="rect">
            <a:avLst/>
          </a:prstGeom>
        </p:spPr>
      </p:pic>
      <p:sp>
        <p:nvSpPr>
          <p:cNvPr id="4" name="Text 1"/>
          <p:cNvSpPr/>
          <p:nvPr/>
        </p:nvSpPr>
        <p:spPr>
          <a:xfrm>
            <a:off x="548640" y="347472"/>
            <a:ext cx="10222992" cy="566928"/>
          </a:xfrm>
          <a:prstGeom prst="rect">
            <a:avLst/>
          </a:prstGeom>
          <a:noFill/>
          <a:ln/>
        </p:spPr>
        <p:txBody>
          <a:bodyPr wrap="square" lIns="0" tIns="0" rIns="0" bIns="0" rtlCol="0" anchor="ctr"/>
          <a:lstStyle/>
          <a:p>
            <a:pPr rtl="1" algn="r" indent="0" marL="0">
              <a:buNone/>
            </a:pPr>
            <a:r>
              <a:rPr lang="en-US" sz="2800" b="1" dirty="0">
                <a:solidFill>
                  <a:srgbClr val="2C5F2D"/>
                </a:solidFill>
                <a:latin typeface="Arial" pitchFamily="34" charset="0"/>
                <a:ea typeface="Arial" pitchFamily="34" charset="-122"/>
                <a:cs typeface="Arial" pitchFamily="34" charset="-120"/>
              </a:rPr>
              <a:t>שני הצמחים זה מול זה</a:t>
            </a:r>
            <a:endParaRPr lang="en-US" sz="2800" dirty="0"/>
          </a:p>
        </p:txBody>
      </p:sp>
      <p:sp>
        <p:nvSpPr>
          <p:cNvPr id="5" name="Text 2"/>
          <p:cNvSpPr/>
          <p:nvPr/>
        </p:nvSpPr>
        <p:spPr>
          <a:xfrm>
            <a:off x="548640" y="932688"/>
            <a:ext cx="10222992" cy="365760"/>
          </a:xfrm>
          <a:prstGeom prst="rect">
            <a:avLst/>
          </a:prstGeom>
          <a:noFill/>
          <a:ln/>
        </p:spPr>
        <p:txBody>
          <a:bodyPr wrap="square" lIns="0" tIns="0" rIns="0" bIns="0" rtlCol="0" anchor="t"/>
          <a:lstStyle/>
          <a:p>
            <a:pPr rtl="1" algn="r" indent="0" marL="0">
              <a:buNone/>
            </a:pPr>
            <a:r>
              <a:rPr lang="en-US" sz="1400" dirty="0">
                <a:solidFill>
                  <a:srgbClr val="5F6E53"/>
                </a:solidFill>
                <a:latin typeface="Arial" pitchFamily="34" charset="0"/>
                <a:ea typeface="Arial" pitchFamily="34" charset="-122"/>
                <a:cs typeface="Arial" pitchFamily="34" charset="-120"/>
              </a:rPr>
              <a:t>אותן משימות, פתרונות שונים</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817352" cy="4480560"/>
        </p:xfrm>
        <a:graphic>
          <a:graphicData uri="http://schemas.openxmlformats.org/drawingml/2006/table">
            <a:tbl>
              <a:tblPr/>
              <a:tblGrid>
                <a:gridCol w="4206240"/>
                <a:gridCol w="4206240"/>
                <a:gridCol w="2404872"/>
              </a:tblGrid>
              <a:tr h="56007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היביסקוס סיני</a:t>
                      </a:r>
                      <a:endParaRPr lang="en-US" sz="140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A8353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אורן ירושלים</a:t>
                      </a:r>
                      <a:endParaRPr lang="en-US" sz="140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F6B5C"/>
                    </a:solidFill>
                  </a:tcPr>
                </a:tc>
                <a:tc>
                  <a:txBody>
                    <a:bodyPr/>
                    <a:lstStyle/>
                    <a:p>
                      <a:pPr indent="0" marL="0">
                        <a:buNone/>
                      </a:pPr>
                      <a:endParaRPr lang="en-US" sz="1200" dirty="0"/>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C5F2D"/>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מכוסי זרע (חלמיתיים)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חשופי זרע (מחטניים)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קבוצה</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שיח מסועף, 1 עד 3 מטרים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עץ בעל גזע מרכזי, 10 עד 20 מטרים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צורת חיים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פרחים גדולים, זרעים בתוך הלקט</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אצטרובלים, זרעים חשופים על קשקשים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איברי רבייה</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עלים רחבים, מבריקים ומשוננים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עלים דמויי מחט</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עלים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ציפורים צופיות, פרפרים ודבורים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רוח, באביב</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האבקה</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הלקט נפתח; בתרבות בעיקר האדם, בייחורים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רוח (זרע בעל כנפית), נפתח גם אחרי שריפה</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הפצת זרעים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r h="560070">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פרח דו-זוויגי: אבקנים ועלי באותו פרח</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F8F2"/>
                    </a:solidFill>
                  </a:tcPr>
                </a:tc>
                <a:tc>
                  <a:txBody>
                    <a:bodyPr/>
                    <a:lstStyle/>
                    <a:p>
                      <a:pPr rtl="1" algn="r" indent="0" marL="0">
                        <a:buNone/>
                      </a:pPr>
                      <a:r>
                        <a:rPr lang="en-US" sz="1250" dirty="0">
                          <a:solidFill>
                            <a:srgbClr val="26331F"/>
                          </a:solidFill>
                          <a:latin typeface="Arial" pitchFamily="34" charset="0"/>
                          <a:ea typeface="Arial" pitchFamily="34" charset="-122"/>
                          <a:cs typeface="Arial" pitchFamily="34" charset="-120"/>
                        </a:rPr>
                        <a:t>אצטרובלים זכריים ונקביים על אותו עץ</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8F6"/>
                    </a:solidFill>
                  </a:tcPr>
                </a:tc>
                <a:tc>
                  <a:txBody>
                    <a:bodyPr/>
                    <a:lstStyle/>
                    <a:p>
                      <a:pPr rtl="1" algn="r" indent="0" marL="0">
                        <a:buNone/>
                      </a:pPr>
                      <a:r>
                        <a:rPr lang="en-US" sz="1250" b="1" dirty="0">
                          <a:solidFill>
                            <a:srgbClr val="2C5F2D"/>
                          </a:solidFill>
                          <a:latin typeface="Arial" pitchFamily="34" charset="0"/>
                          <a:ea typeface="Arial" pitchFamily="34" charset="-122"/>
                          <a:cs typeface="Arial" pitchFamily="34" charset="-120"/>
                        </a:rPr>
                        <a:t>חלוקה לזוויגים</a:t>
                      </a:r>
                      <a:endParaRPr lang="en-US" sz="1250" dirty="0">
                        <a:latin typeface="Arial" charset="0"/>
                        <a:ea typeface="Arial" charset="0"/>
                        <a:cs typeface="Arial"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4EA"/>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54512" y="384048"/>
            <a:ext cx="685800" cy="685800"/>
          </a:xfrm>
          <a:prstGeom prst="ellipse">
            <a:avLst/>
          </a:prstGeom>
          <a:solidFill>
            <a:srgbClr val="F0F4EA"/>
          </a:solidFill>
          <a:ln/>
        </p:spPr>
      </p:sp>
      <p:pic>
        <p:nvPicPr>
          <p:cNvPr id="3" name="Image 0" descr="preencoded.png">    </p:cNvPr>
          <p:cNvPicPr>
            <a:picLocks noChangeAspect="1"/>
          </p:cNvPicPr>
          <p:nvPr/>
        </p:nvPicPr>
        <p:blipFill>
          <a:blip r:embed="rId1"/>
          <a:stretch>
            <a:fillRect/>
          </a:stretch>
        </p:blipFill>
        <p:spPr>
          <a:xfrm>
            <a:off x="11132820" y="562356"/>
            <a:ext cx="329184" cy="329184"/>
          </a:xfrm>
          <a:prstGeom prst="rect">
            <a:avLst/>
          </a:prstGeom>
        </p:spPr>
      </p:pic>
      <p:sp>
        <p:nvSpPr>
          <p:cNvPr id="4" name="Text 1"/>
          <p:cNvSpPr/>
          <p:nvPr/>
        </p:nvSpPr>
        <p:spPr>
          <a:xfrm>
            <a:off x="548640" y="347472"/>
            <a:ext cx="10222992" cy="566928"/>
          </a:xfrm>
          <a:prstGeom prst="rect">
            <a:avLst/>
          </a:prstGeom>
          <a:noFill/>
          <a:ln/>
        </p:spPr>
        <p:txBody>
          <a:bodyPr wrap="square" lIns="0" tIns="0" rIns="0" bIns="0" rtlCol="0" anchor="ctr"/>
          <a:lstStyle/>
          <a:p>
            <a:pPr rtl="1" algn="r" indent="0" marL="0">
              <a:buNone/>
            </a:pPr>
            <a:r>
              <a:rPr lang="en-US" sz="2800" b="1" dirty="0">
                <a:solidFill>
                  <a:srgbClr val="2C5F2D"/>
                </a:solidFill>
                <a:latin typeface="Arial" pitchFamily="34" charset="0"/>
                <a:ea typeface="Arial" pitchFamily="34" charset="-122"/>
                <a:cs typeface="Arial" pitchFamily="34" charset="-120"/>
              </a:rPr>
              <a:t>מעבר לנדרש: פנולוגיה וקשר לאדם</a:t>
            </a:r>
            <a:endParaRPr lang="en-US" sz="2800" dirty="0"/>
          </a:p>
        </p:txBody>
      </p:sp>
      <p:sp>
        <p:nvSpPr>
          <p:cNvPr id="5" name="Text 2"/>
          <p:cNvSpPr/>
          <p:nvPr/>
        </p:nvSpPr>
        <p:spPr>
          <a:xfrm>
            <a:off x="548640" y="932688"/>
            <a:ext cx="10222992" cy="365760"/>
          </a:xfrm>
          <a:prstGeom prst="rect">
            <a:avLst/>
          </a:prstGeom>
          <a:noFill/>
          <a:ln/>
        </p:spPr>
        <p:txBody>
          <a:bodyPr wrap="square" lIns="0" tIns="0" rIns="0" bIns="0" rtlCol="0" anchor="t"/>
          <a:lstStyle/>
          <a:p>
            <a:pPr rtl="1" algn="r" indent="0" marL="0">
              <a:buNone/>
            </a:pPr>
            <a:r>
              <a:rPr lang="en-US" sz="1400" dirty="0">
                <a:solidFill>
                  <a:srgbClr val="5F6E53"/>
                </a:solidFill>
                <a:latin typeface="Arial" pitchFamily="34" charset="0"/>
                <a:ea typeface="Arial" pitchFamily="34" charset="-122"/>
                <a:cs typeface="Arial" pitchFamily="34" charset="-120"/>
              </a:rPr>
              <a:t>שני נושאי רשות מתוך המטלה</a:t>
            </a:r>
            <a:endParaRPr lang="en-US" sz="1400" dirty="0"/>
          </a:p>
        </p:txBody>
      </p:sp>
      <p:sp>
        <p:nvSpPr>
          <p:cNvPr id="6" name="Shape 3"/>
          <p:cNvSpPr/>
          <p:nvPr/>
        </p:nvSpPr>
        <p:spPr>
          <a:xfrm>
            <a:off x="6300216" y="1691640"/>
            <a:ext cx="5294376" cy="4114800"/>
          </a:xfrm>
          <a:prstGeom prst="roundRect">
            <a:avLst>
              <a:gd name="adj" fmla="val 2667"/>
            </a:avLst>
          </a:prstGeom>
          <a:solidFill>
            <a:srgbClr val="F0F4EA"/>
          </a:solidFill>
          <a:ln/>
        </p:spPr>
      </p:sp>
      <p:sp>
        <p:nvSpPr>
          <p:cNvPr id="7" name="Text 4"/>
          <p:cNvSpPr/>
          <p:nvPr/>
        </p:nvSpPr>
        <p:spPr>
          <a:xfrm>
            <a:off x="6620256" y="1920240"/>
            <a:ext cx="4654296" cy="411480"/>
          </a:xfrm>
          <a:prstGeom prst="rect">
            <a:avLst/>
          </a:prstGeom>
          <a:noFill/>
          <a:ln/>
        </p:spPr>
        <p:txBody>
          <a:bodyPr wrap="square" lIns="0" tIns="0" rIns="0" bIns="0" rtlCol="0" anchor="ctr"/>
          <a:lstStyle/>
          <a:p>
            <a:pPr rtl="1" algn="r" indent="0" marL="0">
              <a:buNone/>
            </a:pPr>
            <a:r>
              <a:rPr lang="en-US" sz="1600" b="1" dirty="0">
                <a:solidFill>
                  <a:srgbClr val="2C5F2D"/>
                </a:solidFill>
                <a:latin typeface="Arial" pitchFamily="34" charset="0"/>
                <a:ea typeface="Arial" pitchFamily="34" charset="-122"/>
                <a:cs typeface="Arial" pitchFamily="34" charset="-120"/>
              </a:rPr>
              <a:t>פנולוגיה: לוח שנה הפוך</a:t>
            </a:r>
            <a:endParaRPr lang="en-US" sz="1600" dirty="0"/>
          </a:p>
        </p:txBody>
      </p:sp>
      <p:sp>
        <p:nvSpPr>
          <p:cNvPr id="8" name="Text 5"/>
          <p:cNvSpPr/>
          <p:nvPr/>
        </p:nvSpPr>
        <p:spPr>
          <a:xfrm>
            <a:off x="6620256" y="2423160"/>
            <a:ext cx="4654296" cy="32004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אורן ירושלים: שחרור אבקה באביב, הבשלת האצטרובל נמשכת כשנתיים, פיזור זרעים בימי שרב ואחרי שריפות</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היביסקוס סיני: פורח לאורך רוב השנה בישראל, ובעיקר בחודשים החמים; כל פרח נפתח ליום או יומיים בלבד</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שניהם ירוקי-עד: אין שלכת מרוכזת, והעלווה מתחלפת בהדרגה</a:t>
            </a:r>
            <a:endParaRPr lang="en-US" sz="1450" dirty="0"/>
          </a:p>
        </p:txBody>
      </p:sp>
      <p:sp>
        <p:nvSpPr>
          <p:cNvPr id="9" name="Shape 6"/>
          <p:cNvSpPr/>
          <p:nvPr/>
        </p:nvSpPr>
        <p:spPr>
          <a:xfrm>
            <a:off x="594360" y="1691640"/>
            <a:ext cx="5294376" cy="4114800"/>
          </a:xfrm>
          <a:prstGeom prst="roundRect">
            <a:avLst>
              <a:gd name="adj" fmla="val 2667"/>
            </a:avLst>
          </a:prstGeom>
          <a:solidFill>
            <a:srgbClr val="F8EAE8"/>
          </a:solidFill>
          <a:ln/>
        </p:spPr>
      </p:sp>
      <p:sp>
        <p:nvSpPr>
          <p:cNvPr id="10" name="Text 7"/>
          <p:cNvSpPr/>
          <p:nvPr/>
        </p:nvSpPr>
        <p:spPr>
          <a:xfrm>
            <a:off x="914400" y="1920240"/>
            <a:ext cx="4654296" cy="411480"/>
          </a:xfrm>
          <a:prstGeom prst="rect">
            <a:avLst/>
          </a:prstGeom>
          <a:noFill/>
          <a:ln/>
        </p:spPr>
        <p:txBody>
          <a:bodyPr wrap="square" lIns="0" tIns="0" rIns="0" bIns="0" rtlCol="0" anchor="ctr"/>
          <a:lstStyle/>
          <a:p>
            <a:pPr rtl="1" algn="r" indent="0" marL="0">
              <a:buNone/>
            </a:pPr>
            <a:r>
              <a:rPr lang="en-US" sz="1600" b="1" dirty="0">
                <a:solidFill>
                  <a:srgbClr val="A8353A"/>
                </a:solidFill>
                <a:latin typeface="Arial" pitchFamily="34" charset="0"/>
                <a:ea typeface="Arial" pitchFamily="34" charset="-122"/>
                <a:cs typeface="Arial" pitchFamily="34" charset="-120"/>
              </a:rPr>
              <a:t>קשר לאדם ולהיסטוריה</a:t>
            </a:r>
            <a:endParaRPr lang="en-US" sz="1600" dirty="0"/>
          </a:p>
        </p:txBody>
      </p:sp>
      <p:sp>
        <p:nvSpPr>
          <p:cNvPr id="11" name="Text 8"/>
          <p:cNvSpPr/>
          <p:nvPr/>
        </p:nvSpPr>
        <p:spPr>
          <a:xfrm>
            <a:off x="914400" y="2423160"/>
            <a:ext cx="4654296" cy="3200400"/>
          </a:xfrm>
          <a:prstGeom prst="rect">
            <a:avLst/>
          </a:prstGeom>
          <a:noFill/>
          <a:ln/>
        </p:spPr>
        <p:txBody>
          <a:bodyPr wrap="square" lIns="0" tIns="0" rIns="0" bIns="0" rtlCol="0" anchor="t"/>
          <a:lstStyle/>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היביסקוס סיני: מצמחי הנוי הוותיקים והנפוצים בעולם, והפרח הלאומי של מלזיה</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שמו המדעי, rosa-sinensis, פירושו 'ורד סיני', עדות לדרך שעשה מאסיה לגינות העולם</a:t>
            </a:r>
            <a:endParaRPr lang="en-US" sz="1450" dirty="0"/>
          </a:p>
          <a:p>
            <a:pPr algn="r" marL="152400" indent="-152400">
              <a:lnSpc>
                <a:spcPct val="108000"/>
              </a:lnSpc>
              <a:spcAft>
                <a:spcPts val="800"/>
              </a:spcAft>
              <a:buSzPct val="100000"/>
              <a:buChar char="•"/>
            </a:pPr>
            <a:r>
              <a:rPr lang="en-US" sz="1450" dirty="0">
                <a:solidFill>
                  <a:srgbClr val="26331F"/>
                </a:solidFill>
                <a:latin typeface="Arial" pitchFamily="34" charset="0"/>
                <a:ea typeface="Arial" pitchFamily="34" charset="-122"/>
                <a:cs typeface="Arial" pitchFamily="34" charset="-120"/>
              </a:rPr>
              <a:t>אורן ירושלים: עץ היער הנטוע הנפוץ בישראל, שעיצב את נוף ההר במאה האחרונה</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A20"/>
        </a:solidFill>
      </p:bgPr>
    </p:bg>
    <p:spTree>
      <p:nvGrpSpPr>
        <p:cNvPr id="1" name=""/>
        <p:cNvGrpSpPr/>
        <p:nvPr/>
      </p:nvGrpSpPr>
      <p:grpSpPr>
        <a:xfrm>
          <a:off x="0" y="0"/>
          <a:ext cx="0" cy="0"/>
          <a:chOff x="0" y="0"/>
          <a:chExt cx="0" cy="0"/>
        </a:xfrm>
      </p:grpSpPr>
      <p:sp>
        <p:nvSpPr>
          <p:cNvPr id="2" name="Text 0"/>
          <p:cNvSpPr/>
          <p:nvPr/>
        </p:nvSpPr>
        <p:spPr>
          <a:xfrm>
            <a:off x="914400" y="640080"/>
            <a:ext cx="10360152" cy="640080"/>
          </a:xfrm>
          <a:prstGeom prst="rect">
            <a:avLst/>
          </a:prstGeom>
          <a:noFill/>
          <a:ln/>
        </p:spPr>
        <p:txBody>
          <a:bodyPr wrap="square" lIns="0" tIns="0" rIns="0" bIns="0" rtlCol="0" anchor="ctr"/>
          <a:lstStyle/>
          <a:p>
            <a:pPr rtl="1" algn="ctr" indent="0" marL="0">
              <a:buNone/>
            </a:pPr>
            <a:r>
              <a:rPr lang="en-US" sz="3200" b="1" dirty="0">
                <a:solidFill>
                  <a:srgbClr val="FFFFFF"/>
                </a:solidFill>
                <a:latin typeface="Arial" pitchFamily="34" charset="0"/>
                <a:ea typeface="Arial" pitchFamily="34" charset="-122"/>
                <a:cs typeface="Arial" pitchFamily="34" charset="-120"/>
              </a:rPr>
              <a:t>סיכום: שתי דרכים לחיות ביבשה</a:t>
            </a:r>
            <a:endParaRPr lang="en-US" sz="3200" dirty="0"/>
          </a:p>
        </p:txBody>
      </p:sp>
      <p:sp>
        <p:nvSpPr>
          <p:cNvPr id="3" name="Shape 1"/>
          <p:cNvSpPr/>
          <p:nvPr/>
        </p:nvSpPr>
        <p:spPr>
          <a:xfrm>
            <a:off x="6323076" y="1600200"/>
            <a:ext cx="4951476" cy="3291840"/>
          </a:xfrm>
          <a:prstGeom prst="roundRect">
            <a:avLst>
              <a:gd name="adj" fmla="val 3333"/>
            </a:avLst>
          </a:prstGeom>
          <a:solidFill>
            <a:srgbClr val="2A4A33"/>
          </a:solidFill>
          <a:ln/>
        </p:spPr>
      </p:sp>
      <p:sp>
        <p:nvSpPr>
          <p:cNvPr id="4" name="Shape 2"/>
          <p:cNvSpPr/>
          <p:nvPr/>
        </p:nvSpPr>
        <p:spPr>
          <a:xfrm>
            <a:off x="8433054" y="1874520"/>
            <a:ext cx="731520" cy="731520"/>
          </a:xfrm>
          <a:prstGeom prst="ellipse">
            <a:avLst/>
          </a:prstGeom>
          <a:solidFill>
            <a:srgbClr val="2F6B5C"/>
          </a:solidFill>
          <a:ln/>
        </p:spPr>
      </p:sp>
      <p:pic>
        <p:nvPicPr>
          <p:cNvPr id="5" name="Image 0" descr="preencoded.png">    </p:cNvPr>
          <p:cNvPicPr>
            <a:picLocks noChangeAspect="1"/>
          </p:cNvPicPr>
          <p:nvPr/>
        </p:nvPicPr>
        <p:blipFill>
          <a:blip r:embed="rId1"/>
          <a:stretch>
            <a:fillRect/>
          </a:stretch>
        </p:blipFill>
        <p:spPr>
          <a:xfrm>
            <a:off x="8623249" y="2064715"/>
            <a:ext cx="351130" cy="351130"/>
          </a:xfrm>
          <a:prstGeom prst="rect">
            <a:avLst/>
          </a:prstGeom>
        </p:spPr>
      </p:pic>
      <p:sp>
        <p:nvSpPr>
          <p:cNvPr id="6" name="Text 3"/>
          <p:cNvSpPr/>
          <p:nvPr/>
        </p:nvSpPr>
        <p:spPr>
          <a:xfrm>
            <a:off x="6597396" y="2697480"/>
            <a:ext cx="4402836" cy="45720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אורן ירושלים</a:t>
            </a:r>
            <a:endParaRPr lang="en-US" sz="1800" dirty="0"/>
          </a:p>
        </p:txBody>
      </p:sp>
      <p:sp>
        <p:nvSpPr>
          <p:cNvPr id="7" name="Text 4"/>
          <p:cNvSpPr/>
          <p:nvPr/>
        </p:nvSpPr>
        <p:spPr>
          <a:xfrm>
            <a:off x="6643116" y="3200400"/>
            <a:ext cx="4311396" cy="1463040"/>
          </a:xfrm>
          <a:prstGeom prst="rect">
            <a:avLst/>
          </a:prstGeom>
          <a:noFill/>
          <a:ln/>
        </p:spPr>
        <p:txBody>
          <a:bodyPr wrap="square" lIns="0" tIns="0" rIns="0" bIns="0" rtlCol="0" anchor="ctr"/>
          <a:lstStyle/>
          <a:p>
            <a:pPr rtl="1" algn="ctr" indent="0" marL="0">
              <a:lnSpc>
                <a:spcPct val="115000"/>
              </a:lnSpc>
              <a:buNone/>
            </a:pPr>
            <a:r>
              <a:rPr lang="en-US" sz="1350" dirty="0">
                <a:solidFill>
                  <a:srgbClr val="D8E4C8"/>
                </a:solidFill>
                <a:latin typeface="Arial" pitchFamily="34" charset="0"/>
                <a:ea typeface="Arial" pitchFamily="34" charset="-122"/>
                <a:cs typeface="Arial" pitchFamily="34" charset="-120"/>
              </a:rPr>
              <a:t>חשוף זרע שסומך על הרוח: אבקה באביב, זרעים בעלי כנפית, ואצטרובלים שנפתחים אחרי שריפה</a:t>
            </a:r>
            <a:endParaRPr lang="en-US" sz="1350" dirty="0"/>
          </a:p>
        </p:txBody>
      </p:sp>
      <p:sp>
        <p:nvSpPr>
          <p:cNvPr id="8" name="Shape 5"/>
          <p:cNvSpPr/>
          <p:nvPr/>
        </p:nvSpPr>
        <p:spPr>
          <a:xfrm>
            <a:off x="914400" y="1600200"/>
            <a:ext cx="4951476" cy="3291840"/>
          </a:xfrm>
          <a:prstGeom prst="roundRect">
            <a:avLst>
              <a:gd name="adj" fmla="val 3333"/>
            </a:avLst>
          </a:prstGeom>
          <a:solidFill>
            <a:srgbClr val="4A2529"/>
          </a:solidFill>
          <a:ln/>
        </p:spPr>
      </p:sp>
      <p:sp>
        <p:nvSpPr>
          <p:cNvPr id="9" name="Shape 6"/>
          <p:cNvSpPr/>
          <p:nvPr/>
        </p:nvSpPr>
        <p:spPr>
          <a:xfrm>
            <a:off x="3024378" y="1874520"/>
            <a:ext cx="731520" cy="731520"/>
          </a:xfrm>
          <a:prstGeom prst="ellipse">
            <a:avLst/>
          </a:prstGeom>
          <a:solidFill>
            <a:srgbClr val="A8353A"/>
          </a:solidFill>
          <a:ln/>
        </p:spPr>
      </p:sp>
      <p:pic>
        <p:nvPicPr>
          <p:cNvPr id="10" name="Image 1" descr="preencoded.png">    </p:cNvPr>
          <p:cNvPicPr>
            <a:picLocks noChangeAspect="1"/>
          </p:cNvPicPr>
          <p:nvPr/>
        </p:nvPicPr>
        <p:blipFill>
          <a:blip r:embed="rId2"/>
          <a:stretch>
            <a:fillRect/>
          </a:stretch>
        </p:blipFill>
        <p:spPr>
          <a:xfrm>
            <a:off x="3214573" y="2064715"/>
            <a:ext cx="351130" cy="351130"/>
          </a:xfrm>
          <a:prstGeom prst="rect">
            <a:avLst/>
          </a:prstGeom>
        </p:spPr>
      </p:pic>
      <p:sp>
        <p:nvSpPr>
          <p:cNvPr id="11" name="Text 7"/>
          <p:cNvSpPr/>
          <p:nvPr/>
        </p:nvSpPr>
        <p:spPr>
          <a:xfrm>
            <a:off x="1188720" y="2697480"/>
            <a:ext cx="4402836" cy="45720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היביסקוס סיני</a:t>
            </a:r>
            <a:endParaRPr lang="en-US" sz="1800" dirty="0"/>
          </a:p>
        </p:txBody>
      </p:sp>
      <p:sp>
        <p:nvSpPr>
          <p:cNvPr id="12" name="Text 8"/>
          <p:cNvSpPr/>
          <p:nvPr/>
        </p:nvSpPr>
        <p:spPr>
          <a:xfrm>
            <a:off x="1188720" y="3200400"/>
            <a:ext cx="4311396" cy="1463040"/>
          </a:xfrm>
          <a:prstGeom prst="rect">
            <a:avLst/>
          </a:prstGeom>
          <a:noFill/>
          <a:ln/>
        </p:spPr>
        <p:txBody>
          <a:bodyPr wrap="square" lIns="0" tIns="0" rIns="0" bIns="0" rtlCol="0" anchor="ctr"/>
          <a:lstStyle/>
          <a:p>
            <a:pPr rtl="1" algn="ctr" indent="0" marL="0">
              <a:lnSpc>
                <a:spcPct val="115000"/>
              </a:lnSpc>
              <a:buNone/>
            </a:pPr>
            <a:r>
              <a:rPr lang="en-US" sz="1350" dirty="0">
                <a:solidFill>
                  <a:srgbClr val="F0D9D6"/>
                </a:solidFill>
                <a:latin typeface="Arial" pitchFamily="34" charset="0"/>
                <a:ea typeface="Arial" pitchFamily="34" charset="-122"/>
                <a:cs typeface="Arial" pitchFamily="34" charset="-120"/>
              </a:rPr>
              <a:t>מכוסה זרע עם פרח ראווה שמושך ציפורים ופרפרים, וצמח תרבות שאת הפצתו בעולם עשה האדם</a:t>
            </a:r>
            <a:endParaRPr lang="en-US" sz="1350" dirty="0"/>
          </a:p>
        </p:txBody>
      </p:sp>
      <p:sp>
        <p:nvSpPr>
          <p:cNvPr id="13" name="Text 9"/>
          <p:cNvSpPr/>
          <p:nvPr/>
        </p:nvSpPr>
        <p:spPr>
          <a:xfrm>
            <a:off x="1371600" y="5257800"/>
            <a:ext cx="9445752" cy="822960"/>
          </a:xfrm>
          <a:prstGeom prst="rect">
            <a:avLst/>
          </a:prstGeom>
          <a:noFill/>
          <a:ln/>
        </p:spPr>
        <p:txBody>
          <a:bodyPr wrap="square" lIns="0" tIns="0" rIns="0" bIns="0" rtlCol="0" anchor="ctr"/>
          <a:lstStyle/>
          <a:p>
            <a:pPr rtl="1" algn="ctr" indent="0" marL="0">
              <a:buNone/>
            </a:pPr>
            <a:r>
              <a:rPr lang="en-US" sz="1600" i="1" dirty="0">
                <a:solidFill>
                  <a:srgbClr val="97BC62"/>
                </a:solidFill>
                <a:latin typeface="Arial" pitchFamily="34" charset="0"/>
                <a:ea typeface="Arial" pitchFamily="34" charset="-122"/>
                <a:cs typeface="Arial" pitchFamily="34" charset="-120"/>
              </a:rPr>
              <a:t>עץ בר ושיח גינה, ושתי אסטרטגיות רבייה שונות לגמרי של צמחים בעלי זרעים</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54512" y="384048"/>
            <a:ext cx="685800" cy="685800"/>
          </a:xfrm>
          <a:prstGeom prst="ellipse">
            <a:avLst/>
          </a:prstGeom>
          <a:solidFill>
            <a:srgbClr val="F0F4EA"/>
          </a:solidFill>
          <a:ln/>
        </p:spPr>
      </p:sp>
      <p:pic>
        <p:nvPicPr>
          <p:cNvPr id="3" name="Image 0" descr="preencoded.png">    </p:cNvPr>
          <p:cNvPicPr>
            <a:picLocks noChangeAspect="1"/>
          </p:cNvPicPr>
          <p:nvPr/>
        </p:nvPicPr>
        <p:blipFill>
          <a:blip r:embed="rId1"/>
          <a:stretch>
            <a:fillRect/>
          </a:stretch>
        </p:blipFill>
        <p:spPr>
          <a:xfrm>
            <a:off x="11132820" y="562356"/>
            <a:ext cx="329184" cy="329184"/>
          </a:xfrm>
          <a:prstGeom prst="rect">
            <a:avLst/>
          </a:prstGeom>
        </p:spPr>
      </p:pic>
      <p:sp>
        <p:nvSpPr>
          <p:cNvPr id="4" name="Text 1"/>
          <p:cNvSpPr/>
          <p:nvPr/>
        </p:nvSpPr>
        <p:spPr>
          <a:xfrm>
            <a:off x="548640" y="347472"/>
            <a:ext cx="10222992" cy="566928"/>
          </a:xfrm>
          <a:prstGeom prst="rect">
            <a:avLst/>
          </a:prstGeom>
          <a:noFill/>
          <a:ln/>
        </p:spPr>
        <p:txBody>
          <a:bodyPr wrap="square" lIns="0" tIns="0" rIns="0" bIns="0" rtlCol="0" anchor="ctr"/>
          <a:lstStyle/>
          <a:p>
            <a:pPr rtl="1" algn="r" indent="0" marL="0">
              <a:buNone/>
            </a:pPr>
            <a:r>
              <a:rPr lang="en-US" sz="2800" b="1" dirty="0">
                <a:solidFill>
                  <a:srgbClr val="2C5F2D"/>
                </a:solidFill>
                <a:latin typeface="Arial" pitchFamily="34" charset="0"/>
                <a:ea typeface="Arial" pitchFamily="34" charset="-122"/>
                <a:cs typeface="Arial" pitchFamily="34" charset="-120"/>
              </a:rPr>
              <a:t>רשימת מקורות</a:t>
            </a:r>
            <a:endParaRPr lang="en-US" sz="2800" dirty="0"/>
          </a:p>
        </p:txBody>
      </p:sp>
      <p:sp>
        <p:nvSpPr>
          <p:cNvPr id="5" name="Text 2"/>
          <p:cNvSpPr/>
          <p:nvPr/>
        </p:nvSpPr>
        <p:spPr>
          <a:xfrm>
            <a:off x="777240" y="1737360"/>
            <a:ext cx="10634472" cy="2926080"/>
          </a:xfrm>
          <a:prstGeom prst="rect">
            <a:avLst/>
          </a:prstGeom>
          <a:noFill/>
          <a:ln/>
        </p:spPr>
        <p:txBody>
          <a:bodyPr wrap="square" lIns="0" tIns="0" rIns="0" bIns="0" rtlCol="0" anchor="t"/>
          <a:lstStyle/>
          <a:p>
            <a:pPr algn="r" marL="152400" indent="-152400">
              <a:lnSpc>
                <a:spcPct val="108000"/>
              </a:lnSpc>
              <a:spcAft>
                <a:spcPts val="1400"/>
              </a:spcAft>
              <a:buSzPct val="100000"/>
              <a:buChar char="•"/>
            </a:pPr>
            <a:r>
              <a:rPr lang="en-US" sz="1400" dirty="0">
                <a:solidFill>
                  <a:srgbClr val="26331F"/>
                </a:solidFill>
                <a:latin typeface="Arial" pitchFamily="34" charset="0"/>
                <a:ea typeface="Arial" pitchFamily="34" charset="-122"/>
                <a:cs typeface="Arial" pitchFamily="34" charset="-120"/>
              </a:rPr>
              <a:t>לוטן, א' (2026). האבולוציה של הצמחים: מהים ליבשה [מצגת הרצאה]. קורס בוטניקה וזואולוגיה.‏</a:t>
            </a:r>
            <a:endParaRPr lang="en-US" sz="1400" dirty="0"/>
          </a:p>
          <a:p>
            <a:pPr algn="r" marL="152400" indent="-152400">
              <a:lnSpc>
                <a:spcPct val="108000"/>
              </a:lnSpc>
              <a:spcAft>
                <a:spcPts val="1400"/>
              </a:spcAft>
              <a:buSzPct val="100000"/>
              <a:buChar char="•"/>
            </a:pPr>
            <a:r>
              <a:rPr lang="en-US" sz="1400" dirty="0">
                <a:solidFill>
                  <a:srgbClr val="26331F"/>
                </a:solidFill>
                <a:latin typeface="Arial" pitchFamily="34" charset="0"/>
                <a:ea typeface="Arial" pitchFamily="34" charset="-122"/>
                <a:cs typeface="Arial" pitchFamily="34" charset="-120"/>
              </a:rPr>
              <a:t>לוטן, א' (2026). עבודה מסכמת, בוטניקה, סרטון לימודי [הנחיות מטלה]. קורס בוטניקה וזואולוגיה.‏</a:t>
            </a:r>
            <a:endParaRPr lang="en-US" sz="1400" dirty="0"/>
          </a:p>
          <a:p>
            <a:pPr algn="r" marL="152400" indent="-152400">
              <a:lnSpc>
                <a:spcPct val="108000"/>
              </a:lnSpc>
              <a:spcAft>
                <a:spcPts val="1400"/>
              </a:spcAft>
              <a:buSzPct val="100000"/>
              <a:buChar char="•"/>
            </a:pPr>
            <a:r>
              <a:rPr lang="en-US" sz="1400" dirty="0">
                <a:solidFill>
                  <a:srgbClr val="26331F"/>
                </a:solidFill>
                <a:latin typeface="Arial" pitchFamily="34" charset="0"/>
                <a:ea typeface="Arial" pitchFamily="34" charset="-122"/>
                <a:cs typeface="Arial" pitchFamily="34" charset="-120"/>
              </a:rPr>
              <a:t>להשלים לפני ההגשה: דפי מידע על אורן ירושלים (למשל צמח השדה או צמחיית ישראל ברשת) ועל היביסקוס סיני באתרים שבהם נעזרתם, עם קישור מלא ותאריך אחזור.‏</a:t>
            </a:r>
            <a:endParaRPr lang="en-US" sz="1400" dirty="0"/>
          </a:p>
        </p:txBody>
      </p:sp>
      <p:sp>
        <p:nvSpPr>
          <p:cNvPr id="6" name="Shape 3"/>
          <p:cNvSpPr/>
          <p:nvPr/>
        </p:nvSpPr>
        <p:spPr>
          <a:xfrm>
            <a:off x="777240" y="4892040"/>
            <a:ext cx="10634472" cy="1371600"/>
          </a:xfrm>
          <a:prstGeom prst="roundRect">
            <a:avLst>
              <a:gd name="adj" fmla="val 8000"/>
            </a:avLst>
          </a:prstGeom>
          <a:solidFill>
            <a:srgbClr val="F0F4EA"/>
          </a:solidFill>
          <a:ln/>
        </p:spPr>
      </p:sp>
      <p:sp>
        <p:nvSpPr>
          <p:cNvPr id="7" name="Text 4"/>
          <p:cNvSpPr/>
          <p:nvPr/>
        </p:nvSpPr>
        <p:spPr>
          <a:xfrm>
            <a:off x="1051560" y="5074920"/>
            <a:ext cx="10085832" cy="1005840"/>
          </a:xfrm>
          <a:prstGeom prst="rect">
            <a:avLst/>
          </a:prstGeom>
          <a:noFill/>
          <a:ln/>
        </p:spPr>
        <p:txBody>
          <a:bodyPr wrap="square" lIns="0" tIns="0" rIns="0" bIns="0" rtlCol="0" anchor="ctr"/>
          <a:lstStyle/>
          <a:p>
            <a:pPr algn="r" indent="0" marL="0">
              <a:lnSpc>
                <a:spcPct val="115000"/>
              </a:lnSpc>
              <a:buNone/>
            </a:pPr>
            <a:r>
              <a:rPr lang="en-US" sz="1350" b="1" dirty="0">
                <a:solidFill>
                  <a:srgbClr val="26331F"/>
                </a:solidFill>
                <a:latin typeface="Arial" pitchFamily="34" charset="0"/>
                <a:ea typeface="Arial" pitchFamily="34" charset="-122"/>
                <a:cs typeface="Arial" pitchFamily="34" charset="-120"/>
              </a:rPr>
              <a:t>תזכורת להגשה: </a:t>
            </a:r>
            <a:pPr algn="r" indent="0" marL="0">
              <a:lnSpc>
                <a:spcPct val="115000"/>
              </a:lnSpc>
              <a:buNone/>
            </a:pPr>
            <a:r>
              <a:rPr lang="en-US" sz="1350" dirty="0">
                <a:solidFill>
                  <a:srgbClr val="26331F"/>
                </a:solidFill>
                <a:latin typeface="Arial" pitchFamily="34" charset="0"/>
                <a:ea typeface="Arial" pitchFamily="34" charset="-122"/>
                <a:cs typeface="Arial" pitchFamily="34" charset="-120"/>
              </a:rPr>
              <a:t>לצרף הצהרת שימוש בבינה מלאכותית לפי הטופס הרשמי שבאתר הקורס, ולוודא שהסרטון (5 עד 7 דקות) מוגש במודל עד 31.8.26.‏</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2026-08-25T08:29:47Z</dcterms:created>
  <dcterms:modified xsi:type="dcterms:W3CDTF">2026-08-25T08:29:47Z</dcterms:modified>
</cp:coreProperties>
</file>