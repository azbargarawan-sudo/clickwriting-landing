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פתיחה לסרטון (כ-20 שניות): שלום, בסרטון הזה אציג שני עצים נפוצים באזור מגוריי, אורן ירושלים וחרוב מצוי. כל אחד מהם שייך לקבוצה אחרת של צמחים בעלי זרעים: האורן לחשופי הזרע והחרוב למכוסי הזרע. דרך שני העצים אראה איך שתי הקבוצות פותרות את אותן בעיות, רבייה והפצה ביבשה, בדרכים שונות לגמרי. [להשלים: שם מלא ות.ז. בשקף]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מבנה הסרטון (כ-20 שניות): לכל עץ אעבור על ששת הנושאים שנדרשו במטלה: מיון סיסטמתי, התכונות שמשייכות אותו לקבוצתו, צורת החיים, התפוצה הטבעית והנוכחית, צורת ההאבקה ואופן הפצת הזרעים. בסוף אשווה בין השניים ואוסיף שני נושאי רשות: פנולוגיה והקשר לאדם.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רקע מהקורס (כ-30 שניות): שתי הקבוצות שייכות לצמחים בעלי הזרעים. אצל שתיהן השלב הדומיננטי במחזור החיים הוא הספורופיט הדיפלואידי, ולשתיהן התאמות מבניות ליבשה: קוטיקולה, פיוניות ורקמות הובלה. ההבדל הגדול הוא באיברי הרבייה: חשופי הזרע מייצרים אבקה וזרעים באצטרובלים, בלי פרח ובלי פרי, ואילו אצל מכוסי הזרע הפרח הוא איבר הרבייה והזרע מתפתח בתוך פרי. שני העצים שבחרתי מדגימים בדיוק את ההבדל הזה.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אורן ירושלים, מיון (כ-25 שניות): העץ הראשון הוא אורן ירושלים. הוא שייך לממלכת הצמחים, לקבוצת חשופי הזרע ובתוכה למחטניים, למשפחת האורניים, לסוג אורן ולמין אורן ירושלים, Pinus halepensis. שימו לב שנבחר מין מסוים, כפי שנדרש במטלה, ולא רק 'אורן'. [צלמו את עצמכם ליד עץ אורן אמיתי באזור המגורים]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אורן, שיוך וצורת חיים (כ-40 שניות): מה משייך את האורן לחשופי הזרע? אין לו פרחים ואין פירות. איברי הרבייה הם אצטרובלים: הזכריים קטנים ומשחררים כמויות גדולות של אבקה, והנקביים מעוצים, והזרעים יושבים חשופים על הקשקשים שלהם. העלים דמויי מחט ומכוסים קוטיקולה עבה, התאמה שמצמצמת איבוד מים. צורת החיים: עץ ירוק-עד שמגיע לגובה של עשרה עד עשרים מטרים. [מומלץ להראות מחט ואצטרובל מול המצלמה]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אורן, תפוצה (כ-30 שניות): התפוצה הטבעית של אורן ירושלים היא סביב אגן הים התיכון, ובישראל הוא גדל בר בכרמל, בגליל ובהרי יהודה. האדם שינה מאוד את תמונת התפוצה: זה המין העיקרי שניטע ביערות ישראל מאז ראשית המאה העשרים, ומהיערות הנטועים הוא מתפשט מאליו לשטחים פתוחים. כלומר, התפוצה הנוכחית רחבה בהרבה מהטבעית.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אורן, האבקה והפצה (כ-40 שניות): גם ההאבקה וגם ההפצה אצל האורן נעשות ברוח. באביב אפשר לראות ענני אבקה צהובה משתחררים מהאצטרובלים הזכריים; גרגר שמגיע לאצטרובל נקבי מפרה את הביצית. הזרע הבשל נושא כנפית דקה והרוח מעיפה אותו הרחק מעץ האם. תופעה מעניינת: חלק מהאצטרובלים נשארים סגורים על העץ שנים ונפתחים דווקא אחרי שריפה, וכך האורן מתחדש במהירות בשטח שנשרף. [אפשר להדגים אצטרובל פתוח וסגור ולנער זרע עם כנפית]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חרוב, מיון (כ-25 שניות): העץ השני הוא חרוב מצוי. הוא שייך לממלכת הצמחים, לקבוצת מכוסי הזרע ובתוכה לדו-פסיגיים, למשפחת הקטניות, לסוג חרוב ולמין חרוב מצוי, Ceratonia siliqua. גם כאן, מין מסוים ולא רק 'חרוב'. [צלמו את עצמכם ליד עץ חרוב באזור המגורים]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חרוב, שיוך וצורת חיים (כ-40 שניות): החרוב מדגים את תכונות מכוסי הזרע: יש לו פרחים, גם אם קטנים ולא מרשימים, והזרעים שלו מתפתחים בתוך פרי, תרמיל חום שמוכר לכולנו. זו בדיוק המשמעות של 'מכוסה זרע', הזרע עטוף ומוגן. צורת החיים: עץ ירוק-עד בגובה חמישה עד עשרה מטרים, עם עלים מנוצים קשים ומבריקים. החרוב לרוב דו-ביתי: יש עצי זכר ועצי נקבה, ורק הנקבות נושאות פרי. [כדאי להראות עלה, תפרחת אם העונה מתאימה, ותרמיל]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חרוב, תפוצה (כ-30 שניות): התפוצה הטבעית של החרוב היא סביב הים התיכון, בעיקר בחלקו המזרחי, ובישראל הוא מרכיב בולט בחורש בשפלה ובהרים הנמוכים. בעזרת האדם הוא הגיע רחוק: הוא מתורבת אלפי שנים בזכות התרמילים המתוקים, וניטע היום גם ברחובות ובגינות. כך ששוב, כמו אצל האורן, האדם הרחיב מאוד את התפוצה.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חרוב, האבקה והפצה (כ-40 שניות): כאן ההבדל מהאורן חד. החרוב פורח דווקא בסתיו, והתפרחות שלו מדיפות ריח חזק שמושך זבובים ודבורים; הם המאביקים העיקריים שמעבירים אבקה מעצי הזכר לעצי הנקבה. ההפצה נעשית דרך הפרי: התרמיל המתוק מושך שועלים, תנים, מכרסמים ובהמות בית. הם אוכלים את הציפה, והזרעים הקשים עוברים את מערכת העיכול בשלום ומופרשים רחוק מעץ האם. העץ בעצם משלם בפרי תמורת שירותי משלוח.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השוואה (כ-40 שניות): נסכם את ההבדלים זה מול זה. האורן, חשוף זרע ממשפחת האורניים, מסתמך כולו על הרוח: גם להאבקה וגם להפצת הזרעים בעלי הכנפית, ואפילו נעזר בשריפות להתחדשות. החרוב, מכוסה זרע ממשפחת הקטניות, מגייס בעלי חיים לשני השלבים: חרקים מאביקים את פרחיו בסתיו, ויונקים מפיצים את זרעיו דרך התרמיל המתוק. אותן שתי משימות בדיוק, האבקה והפצה, ושתי אסטרטגיות הפוכות.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נושאי רשות (כ-30 שניות): שתי תוספות מעניינות. הראשונה, פנולוגיה: לשני העצים לוח שנה כמעט הפוך. האורן מאביק באביב ומפזר זרעים בקיץ, והחרוב פורח דווקא בסתיו והתרמילים שלו מבשילים רק בקיץ שאחרי. השנייה, הקשר לאדם: מזרעי החרוב האחידים נגזרה יחידת הקראט של אבני החן, והאורן הוא העץ שמעצב את נוף היערות הנטועים של ישראל. [אפשר להחליף בנושא רשות אחר או להוסיף קשר אישי שלכם לעצים]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סיכום לסרטון (כ-25 שניות): ראינו שני עצים שגדלים לעיתים באותו חורש ממש, ובכל זאת מייצגים שתי קבוצות שונות של צמחים בעלי זרעים. האורן, חשוף הזרע, בנה את כל מחזור החיים שלו על הרוח. החרוב, מכוסה הזרע, קשר את גורלו בבעלי חיים, מהזבוב המאביק ועד השועל שמפיץ את זרעיו. תודה על הצפייה.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שקף המקורות לא חייב להופיע בסרטון עצמו, אבל טוב לסיים בו כדי להראות על מה התבססתם. לפני ההגשה: להשלים את פרטי אתרי המידע שבהם השתמשתם בפועל (עם קישור ותאריך אחזור), למלא את הצהרת השימוש בבינה מלאכותית לפי הטופס הרשמי של הקורס, ולוודא שאורך הסרטון בין חמש לשבע דקות.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0"/>
        </a:solidFill>
      </p:bgPr>
    </p:bg>
    <p:spTree>
      <p:nvGrpSpPr>
        <p:cNvPr id="1" name=""/>
        <p:cNvGrpSpPr/>
        <p:nvPr/>
      </p:nvGrpSpPr>
      <p:grpSpPr>
        <a:xfrm>
          <a:off x="0" y="0"/>
          <a:ext cx="0" cy="0"/>
          <a:chOff x="0" y="0"/>
          <a:chExt cx="0" cy="0"/>
        </a:xfrm>
      </p:grpSpPr>
      <p:sp>
        <p:nvSpPr>
          <p:cNvPr id="2" name="Shape 0"/>
          <p:cNvSpPr/>
          <p:nvPr/>
        </p:nvSpPr>
        <p:spPr>
          <a:xfrm>
            <a:off x="6414516" y="777240"/>
            <a:ext cx="960120" cy="960120"/>
          </a:xfrm>
          <a:prstGeom prst="ellipse">
            <a:avLst/>
          </a:prstGeom>
          <a:solidFill>
            <a:srgbClr val="2F6B5C"/>
          </a:solidFill>
          <a:ln/>
        </p:spPr>
      </p:sp>
      <p:pic>
        <p:nvPicPr>
          <p:cNvPr id="3" name="Image 0" descr="preencoded.png">    </p:cNvPr>
          <p:cNvPicPr>
            <a:picLocks noChangeAspect="1"/>
          </p:cNvPicPr>
          <p:nvPr/>
        </p:nvPicPr>
        <p:blipFill>
          <a:blip r:embed="rId1"/>
          <a:stretch>
            <a:fillRect/>
          </a:stretch>
        </p:blipFill>
        <p:spPr>
          <a:xfrm>
            <a:off x="6664147" y="1026871"/>
            <a:ext cx="460858" cy="460858"/>
          </a:xfrm>
          <a:prstGeom prst="rect">
            <a:avLst/>
          </a:prstGeom>
        </p:spPr>
      </p:pic>
      <p:sp>
        <p:nvSpPr>
          <p:cNvPr id="4" name="Shape 1"/>
          <p:cNvSpPr/>
          <p:nvPr/>
        </p:nvSpPr>
        <p:spPr>
          <a:xfrm>
            <a:off x="4814316" y="777240"/>
            <a:ext cx="960120" cy="960120"/>
          </a:xfrm>
          <a:prstGeom prst="ellipse">
            <a:avLst/>
          </a:prstGeom>
          <a:solidFill>
            <a:srgbClr val="8A5A2B"/>
          </a:solidFill>
          <a:ln/>
        </p:spPr>
      </p:sp>
      <p:pic>
        <p:nvPicPr>
          <p:cNvPr id="5" name="Image 1" descr="preencoded.png">    </p:cNvPr>
          <p:cNvPicPr>
            <a:picLocks noChangeAspect="1"/>
          </p:cNvPicPr>
          <p:nvPr/>
        </p:nvPicPr>
        <p:blipFill>
          <a:blip r:embed="rId2"/>
          <a:stretch>
            <a:fillRect/>
          </a:stretch>
        </p:blipFill>
        <p:spPr>
          <a:xfrm>
            <a:off x="5063947" y="1026871"/>
            <a:ext cx="460858" cy="460858"/>
          </a:xfrm>
          <a:prstGeom prst="rect">
            <a:avLst/>
          </a:prstGeom>
        </p:spPr>
      </p:pic>
      <p:sp>
        <p:nvSpPr>
          <p:cNvPr id="6" name="Text 2"/>
          <p:cNvSpPr/>
          <p:nvPr/>
        </p:nvSpPr>
        <p:spPr>
          <a:xfrm>
            <a:off x="1097280" y="1965960"/>
            <a:ext cx="9994392" cy="822960"/>
          </a:xfrm>
          <a:prstGeom prst="rect">
            <a:avLst/>
          </a:prstGeom>
          <a:noFill/>
          <a:ln/>
        </p:spPr>
        <p:txBody>
          <a:bodyPr wrap="square" lIns="0" tIns="0" rIns="0" bIns="0" rtlCol="0" anchor="ctr"/>
          <a:lstStyle/>
          <a:p>
            <a:pPr rtl="1" algn="ctr" indent="0" marL="0">
              <a:buNone/>
            </a:pPr>
            <a:r>
              <a:rPr lang="en-US" sz="4000" b="1" dirty="0">
                <a:solidFill>
                  <a:srgbClr val="FFFFFF"/>
                </a:solidFill>
                <a:latin typeface="Arial" pitchFamily="34" charset="0"/>
                <a:ea typeface="Arial" pitchFamily="34" charset="-122"/>
                <a:cs typeface="Arial" pitchFamily="34" charset="-120"/>
              </a:rPr>
              <a:t>עבודה מסכמת בבוטניקה: סרטון לימודי</a:t>
            </a:r>
            <a:endParaRPr lang="en-US" sz="4000" dirty="0"/>
          </a:p>
        </p:txBody>
      </p:sp>
      <p:sp>
        <p:nvSpPr>
          <p:cNvPr id="7" name="Text 3"/>
          <p:cNvSpPr/>
          <p:nvPr/>
        </p:nvSpPr>
        <p:spPr>
          <a:xfrm>
            <a:off x="1097280" y="2834640"/>
            <a:ext cx="9994392" cy="548640"/>
          </a:xfrm>
          <a:prstGeom prst="rect">
            <a:avLst/>
          </a:prstGeom>
          <a:noFill/>
          <a:ln/>
        </p:spPr>
        <p:txBody>
          <a:bodyPr wrap="square" lIns="0" tIns="0" rIns="0" bIns="0" rtlCol="0" anchor="ctr"/>
          <a:lstStyle/>
          <a:p>
            <a:pPr algn="ctr" indent="0" marL="0">
              <a:buNone/>
            </a:pPr>
            <a:r>
              <a:rPr lang="en-US" sz="2100" b="1" dirty="0">
                <a:solidFill>
                  <a:srgbClr val="97BC62"/>
                </a:solidFill>
                <a:latin typeface="Arial" pitchFamily="34" charset="0"/>
                <a:ea typeface="Arial" pitchFamily="34" charset="-122"/>
                <a:cs typeface="Arial" pitchFamily="34" charset="-120"/>
              </a:rPr>
              <a:t>אורן ירושלים </a:t>
            </a:r>
            <a:pPr algn="ctr" indent="0" marL="0">
              <a:buNone/>
            </a:pPr>
            <a:r>
              <a:rPr lang="en-US" sz="2100" i="1" dirty="0">
                <a:solidFill>
                  <a:srgbClr val="97BC62"/>
                </a:solidFill>
                <a:latin typeface="Times New Roman" pitchFamily="34" charset="0"/>
                <a:ea typeface="Times New Roman" pitchFamily="34" charset="-122"/>
                <a:cs typeface="Times New Roman" pitchFamily="34" charset="-120"/>
              </a:rPr>
              <a:t>(Pinus halepensis)</a:t>
            </a:r>
            <a:pPr algn="ctr" indent="0" marL="0">
              <a:buNone/>
            </a:pPr>
            <a:r>
              <a:rPr lang="en-US" sz="2100" b="1" dirty="0">
                <a:solidFill>
                  <a:srgbClr val="97BC62"/>
                </a:solidFill>
                <a:latin typeface="Arial" pitchFamily="34" charset="0"/>
                <a:ea typeface="Arial" pitchFamily="34" charset="-122"/>
                <a:cs typeface="Arial" pitchFamily="34" charset="-120"/>
              </a:rPr>
              <a:t> מול חרוב מצוי </a:t>
            </a:r>
            <a:pPr algn="ctr" indent="0" marL="0">
              <a:buNone/>
            </a:pPr>
            <a:r>
              <a:rPr lang="en-US" sz="2100" i="1" dirty="0">
                <a:solidFill>
                  <a:srgbClr val="97BC62"/>
                </a:solidFill>
                <a:latin typeface="Times New Roman" pitchFamily="34" charset="0"/>
                <a:ea typeface="Times New Roman" pitchFamily="34" charset="-122"/>
                <a:cs typeface="Times New Roman" pitchFamily="34" charset="-120"/>
              </a:rPr>
              <a:t>(Ceratonia siliqua)</a:t>
            </a:r>
            <a:endParaRPr lang="en-US" sz="2100" dirty="0"/>
          </a:p>
        </p:txBody>
      </p:sp>
      <p:sp>
        <p:nvSpPr>
          <p:cNvPr id="8" name="Text 4"/>
          <p:cNvSpPr/>
          <p:nvPr/>
        </p:nvSpPr>
        <p:spPr>
          <a:xfrm>
            <a:off x="1097280" y="3429000"/>
            <a:ext cx="9994392" cy="457200"/>
          </a:xfrm>
          <a:prstGeom prst="rect">
            <a:avLst/>
          </a:prstGeom>
          <a:noFill/>
          <a:ln/>
        </p:spPr>
        <p:txBody>
          <a:bodyPr wrap="square" lIns="0" tIns="0" rIns="0" bIns="0" rtlCol="0" anchor="ctr"/>
          <a:lstStyle/>
          <a:p>
            <a:pPr rtl="1" algn="ctr" indent="0" marL="0">
              <a:buNone/>
            </a:pPr>
            <a:r>
              <a:rPr lang="en-US" sz="1600" dirty="0">
                <a:solidFill>
                  <a:srgbClr val="D8E4C8"/>
                </a:solidFill>
                <a:latin typeface="Arial" pitchFamily="34" charset="0"/>
                <a:ea typeface="Arial" pitchFamily="34" charset="-122"/>
                <a:cs typeface="Arial" pitchFamily="34" charset="-120"/>
              </a:rPr>
              <a:t>שני עצים משתי קבוצות: חשופי זרע ומכוסי זרע</a:t>
            </a:r>
            <a:endParaRPr lang="en-US" sz="1600" dirty="0"/>
          </a:p>
        </p:txBody>
      </p:sp>
      <p:sp>
        <p:nvSpPr>
          <p:cNvPr id="9" name="Text 5"/>
          <p:cNvSpPr/>
          <p:nvPr/>
        </p:nvSpPr>
        <p:spPr>
          <a:xfrm>
            <a:off x="1097280" y="4572000"/>
            <a:ext cx="9994392" cy="1280160"/>
          </a:xfrm>
          <a:prstGeom prst="rect">
            <a:avLst/>
          </a:prstGeom>
          <a:noFill/>
          <a:ln/>
        </p:spPr>
        <p:txBody>
          <a:bodyPr wrap="square" lIns="0" tIns="0" rIns="0" bIns="0" rtlCol="0" anchor="ctr"/>
          <a:lstStyle/>
          <a:p>
            <a:pPr algn="ctr" indent="0" marL="0">
              <a:lnSpc>
                <a:spcPct val="135000"/>
              </a:lnSpc>
              <a:buNone/>
            </a:pPr>
            <a:r>
              <a:rPr lang="en-US" sz="1500" dirty="0">
                <a:solidFill>
                  <a:srgbClr val="FFFFFF"/>
                </a:solidFill>
                <a:latin typeface="Arial" pitchFamily="34" charset="0"/>
                <a:ea typeface="Arial" pitchFamily="34" charset="-122"/>
                <a:cs typeface="Arial" pitchFamily="34" charset="-120"/>
              </a:rPr>
              <a:t>קורס בוטניקה וזואולוגיה | מרצה: ד"ר אלון לוטן</a:t>
            </a:r>
            <a:endParaRPr lang="en-US" sz="1500" dirty="0"/>
          </a:p>
          <a:p>
            <a:pPr algn="ctr" indent="0" marL="0">
              <a:lnSpc>
                <a:spcPct val="135000"/>
              </a:lnSpc>
              <a:buNone/>
            </a:pPr>
            <a:r>
              <a:rPr lang="en-US" sz="1500" dirty="0">
                <a:solidFill>
                  <a:srgbClr val="FFFFFF"/>
                </a:solidFill>
                <a:latin typeface="Arial" pitchFamily="34" charset="0"/>
                <a:ea typeface="Arial" pitchFamily="34" charset="-122"/>
                <a:cs typeface="Arial" pitchFamily="34" charset="-120"/>
              </a:rPr>
              <a:t>מגיש/ה: ______________ ת.ז: ______________‏</a:t>
            </a:r>
            <a:endParaRPr lang="en-US" sz="1500" dirty="0"/>
          </a:p>
          <a:p>
            <a:pPr algn="ctr" indent="0" marL="0">
              <a:lnSpc>
                <a:spcPct val="135000"/>
              </a:lnSpc>
              <a:buNone/>
            </a:pPr>
            <a:r>
              <a:rPr lang="en-US" sz="1500" dirty="0">
                <a:solidFill>
                  <a:srgbClr val="FFFFFF"/>
                </a:solidFill>
                <a:latin typeface="Arial" pitchFamily="34" charset="0"/>
                <a:ea typeface="Arial" pitchFamily="34" charset="-122"/>
                <a:cs typeface="Arial" pitchFamily="34" charset="-120"/>
              </a:rPr>
              <a:t>מועד הגשה: אוגוסט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54512" y="384048"/>
            <a:ext cx="685800" cy="685800"/>
          </a:xfrm>
          <a:prstGeom prst="ellipse">
            <a:avLst/>
          </a:prstGeom>
          <a:solidFill>
            <a:srgbClr val="F0F4EA"/>
          </a:solidFill>
          <a:ln/>
        </p:spPr>
      </p:sp>
      <p:pic>
        <p:nvPicPr>
          <p:cNvPr id="3" name="Image 0" descr="preencoded.png">    </p:cNvPr>
          <p:cNvPicPr>
            <a:picLocks noChangeAspect="1"/>
          </p:cNvPicPr>
          <p:nvPr/>
        </p:nvPicPr>
        <p:blipFill>
          <a:blip r:embed="rId1"/>
          <a:stretch>
            <a:fillRect/>
          </a:stretch>
        </p:blipFill>
        <p:spPr>
          <a:xfrm>
            <a:off x="11132820" y="562356"/>
            <a:ext cx="329184" cy="329184"/>
          </a:xfrm>
          <a:prstGeom prst="rect">
            <a:avLst/>
          </a:prstGeom>
        </p:spPr>
      </p:pic>
      <p:sp>
        <p:nvSpPr>
          <p:cNvPr id="4" name="Text 1"/>
          <p:cNvSpPr/>
          <p:nvPr/>
        </p:nvSpPr>
        <p:spPr>
          <a:xfrm>
            <a:off x="548640" y="347472"/>
            <a:ext cx="10222992" cy="566928"/>
          </a:xfrm>
          <a:prstGeom prst="rect">
            <a:avLst/>
          </a:prstGeom>
          <a:noFill/>
          <a:ln/>
        </p:spPr>
        <p:txBody>
          <a:bodyPr wrap="square" lIns="0" tIns="0" rIns="0" bIns="0" rtlCol="0" anchor="ctr"/>
          <a:lstStyle/>
          <a:p>
            <a:pPr rtl="1" algn="r" indent="0" marL="0">
              <a:buNone/>
            </a:pPr>
            <a:r>
              <a:rPr lang="en-US" sz="2800" b="1" dirty="0">
                <a:solidFill>
                  <a:srgbClr val="2C5F2D"/>
                </a:solidFill>
                <a:latin typeface="Arial" pitchFamily="34" charset="0"/>
                <a:ea typeface="Arial" pitchFamily="34" charset="-122"/>
                <a:cs typeface="Arial" pitchFamily="34" charset="-120"/>
              </a:rPr>
              <a:t>מה נראה בסרטון</a:t>
            </a:r>
            <a:endParaRPr lang="en-US" sz="2800" dirty="0"/>
          </a:p>
        </p:txBody>
      </p:sp>
      <p:sp>
        <p:nvSpPr>
          <p:cNvPr id="5" name="Text 2"/>
          <p:cNvSpPr/>
          <p:nvPr/>
        </p:nvSpPr>
        <p:spPr>
          <a:xfrm>
            <a:off x="548640" y="932688"/>
            <a:ext cx="10222992" cy="365760"/>
          </a:xfrm>
          <a:prstGeom prst="rect">
            <a:avLst/>
          </a:prstGeom>
          <a:noFill/>
          <a:ln/>
        </p:spPr>
        <p:txBody>
          <a:bodyPr wrap="square" lIns="0" tIns="0" rIns="0" bIns="0" rtlCol="0" anchor="t"/>
          <a:lstStyle/>
          <a:p>
            <a:pPr rtl="1" algn="r" indent="0" marL="0">
              <a:buNone/>
            </a:pPr>
            <a:r>
              <a:rPr lang="en-US" sz="1400" dirty="0">
                <a:solidFill>
                  <a:srgbClr val="5F6E53"/>
                </a:solidFill>
                <a:latin typeface="Arial" pitchFamily="34" charset="0"/>
                <a:ea typeface="Arial" pitchFamily="34" charset="-122"/>
                <a:cs typeface="Arial" pitchFamily="34" charset="-120"/>
              </a:rPr>
              <a:t>שישה נושאי חובה לכל עץ, לפי דרישות המטלה</a:t>
            </a:r>
            <a:endParaRPr lang="en-US" sz="1400" dirty="0"/>
          </a:p>
        </p:txBody>
      </p:sp>
      <p:sp>
        <p:nvSpPr>
          <p:cNvPr id="6" name="Shape 3"/>
          <p:cNvSpPr/>
          <p:nvPr/>
        </p:nvSpPr>
        <p:spPr>
          <a:xfrm>
            <a:off x="6199632" y="1600200"/>
            <a:ext cx="5394960" cy="1371600"/>
          </a:xfrm>
          <a:prstGeom prst="roundRect">
            <a:avLst>
              <a:gd name="adj" fmla="val 8000"/>
            </a:avLst>
          </a:prstGeom>
          <a:solidFill>
            <a:srgbClr val="F0F4EA"/>
          </a:solidFill>
          <a:ln/>
        </p:spPr>
      </p:sp>
      <p:sp>
        <p:nvSpPr>
          <p:cNvPr id="7" name="Shape 4"/>
          <p:cNvSpPr/>
          <p:nvPr/>
        </p:nvSpPr>
        <p:spPr>
          <a:xfrm>
            <a:off x="10451592" y="1901952"/>
            <a:ext cx="768096" cy="768096"/>
          </a:xfrm>
          <a:prstGeom prst="ellipse">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10651297" y="2101657"/>
            <a:ext cx="368686" cy="368686"/>
          </a:xfrm>
          <a:prstGeom prst="rect">
            <a:avLst/>
          </a:prstGeom>
        </p:spPr>
      </p:pic>
      <p:sp>
        <p:nvSpPr>
          <p:cNvPr id="9" name="Shape 5"/>
          <p:cNvSpPr/>
          <p:nvPr/>
        </p:nvSpPr>
        <p:spPr>
          <a:xfrm>
            <a:off x="6455664" y="1874520"/>
            <a:ext cx="384048" cy="384048"/>
          </a:xfrm>
          <a:prstGeom prst="ellipse">
            <a:avLst/>
          </a:prstGeom>
          <a:solidFill>
            <a:srgbClr val="97BC62"/>
          </a:solidFill>
          <a:ln/>
        </p:spPr>
      </p:sp>
      <p:sp>
        <p:nvSpPr>
          <p:cNvPr id="10" name="Text 6"/>
          <p:cNvSpPr/>
          <p:nvPr/>
        </p:nvSpPr>
        <p:spPr>
          <a:xfrm>
            <a:off x="6455664" y="1874520"/>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א</a:t>
            </a:r>
            <a:endParaRPr lang="en-US" sz="1400" dirty="0"/>
          </a:p>
        </p:txBody>
      </p:sp>
      <p:sp>
        <p:nvSpPr>
          <p:cNvPr id="11" name="Text 7"/>
          <p:cNvSpPr/>
          <p:nvPr/>
        </p:nvSpPr>
        <p:spPr>
          <a:xfrm>
            <a:off x="6976872" y="1801368"/>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מיון סיסטמתי</a:t>
            </a:r>
            <a:endParaRPr lang="en-US" sz="1650" dirty="0"/>
          </a:p>
        </p:txBody>
      </p:sp>
      <p:sp>
        <p:nvSpPr>
          <p:cNvPr id="12" name="Text 8"/>
          <p:cNvSpPr/>
          <p:nvPr/>
        </p:nvSpPr>
        <p:spPr>
          <a:xfrm>
            <a:off x="6976872" y="2240280"/>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משפחה, סוג ומין</a:t>
            </a:r>
            <a:endParaRPr lang="en-US" sz="1250" dirty="0"/>
          </a:p>
        </p:txBody>
      </p:sp>
      <p:sp>
        <p:nvSpPr>
          <p:cNvPr id="13" name="Shape 9"/>
          <p:cNvSpPr/>
          <p:nvPr/>
        </p:nvSpPr>
        <p:spPr>
          <a:xfrm>
            <a:off x="6199632" y="3172968"/>
            <a:ext cx="5394960" cy="1371600"/>
          </a:xfrm>
          <a:prstGeom prst="roundRect">
            <a:avLst>
              <a:gd name="adj" fmla="val 8000"/>
            </a:avLst>
          </a:prstGeom>
          <a:solidFill>
            <a:srgbClr val="F0F4EA"/>
          </a:solidFill>
          <a:ln/>
        </p:spPr>
      </p:sp>
      <p:sp>
        <p:nvSpPr>
          <p:cNvPr id="14" name="Shape 10"/>
          <p:cNvSpPr/>
          <p:nvPr/>
        </p:nvSpPr>
        <p:spPr>
          <a:xfrm>
            <a:off x="10451592" y="3474720"/>
            <a:ext cx="768096" cy="768096"/>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10651297" y="3674425"/>
            <a:ext cx="368686" cy="368686"/>
          </a:xfrm>
          <a:prstGeom prst="rect">
            <a:avLst/>
          </a:prstGeom>
        </p:spPr>
      </p:pic>
      <p:sp>
        <p:nvSpPr>
          <p:cNvPr id="16" name="Shape 11"/>
          <p:cNvSpPr/>
          <p:nvPr/>
        </p:nvSpPr>
        <p:spPr>
          <a:xfrm>
            <a:off x="6455664" y="3447288"/>
            <a:ext cx="384048" cy="384048"/>
          </a:xfrm>
          <a:prstGeom prst="ellipse">
            <a:avLst/>
          </a:prstGeom>
          <a:solidFill>
            <a:srgbClr val="97BC62"/>
          </a:solidFill>
          <a:ln/>
        </p:spPr>
      </p:sp>
      <p:sp>
        <p:nvSpPr>
          <p:cNvPr id="17" name="Text 12"/>
          <p:cNvSpPr/>
          <p:nvPr/>
        </p:nvSpPr>
        <p:spPr>
          <a:xfrm>
            <a:off x="6455664" y="3447288"/>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ב</a:t>
            </a:r>
            <a:endParaRPr lang="en-US" sz="1400" dirty="0"/>
          </a:p>
        </p:txBody>
      </p:sp>
      <p:sp>
        <p:nvSpPr>
          <p:cNvPr id="18" name="Text 13"/>
          <p:cNvSpPr/>
          <p:nvPr/>
        </p:nvSpPr>
        <p:spPr>
          <a:xfrm>
            <a:off x="6976872" y="3374136"/>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שיוך לקבוצה</a:t>
            </a:r>
            <a:endParaRPr lang="en-US" sz="1650" dirty="0"/>
          </a:p>
        </p:txBody>
      </p:sp>
      <p:sp>
        <p:nvSpPr>
          <p:cNvPr id="19" name="Text 14"/>
          <p:cNvSpPr/>
          <p:nvPr/>
        </p:nvSpPr>
        <p:spPr>
          <a:xfrm>
            <a:off x="6976872" y="3813048"/>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אילו תכונות קובעות: חשוף זרע או מכוסה זרע</a:t>
            </a:r>
            <a:endParaRPr lang="en-US" sz="1250" dirty="0"/>
          </a:p>
        </p:txBody>
      </p:sp>
      <p:sp>
        <p:nvSpPr>
          <p:cNvPr id="20" name="Shape 15"/>
          <p:cNvSpPr/>
          <p:nvPr/>
        </p:nvSpPr>
        <p:spPr>
          <a:xfrm>
            <a:off x="6199632" y="4745736"/>
            <a:ext cx="5394960" cy="1371600"/>
          </a:xfrm>
          <a:prstGeom prst="roundRect">
            <a:avLst>
              <a:gd name="adj" fmla="val 8000"/>
            </a:avLst>
          </a:prstGeom>
          <a:solidFill>
            <a:srgbClr val="F0F4EA"/>
          </a:solidFill>
          <a:ln/>
        </p:spPr>
      </p:sp>
      <p:sp>
        <p:nvSpPr>
          <p:cNvPr id="21" name="Shape 16"/>
          <p:cNvSpPr/>
          <p:nvPr/>
        </p:nvSpPr>
        <p:spPr>
          <a:xfrm>
            <a:off x="10451592" y="5047488"/>
            <a:ext cx="768096" cy="768096"/>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10651297" y="5247193"/>
            <a:ext cx="368686" cy="368686"/>
          </a:xfrm>
          <a:prstGeom prst="rect">
            <a:avLst/>
          </a:prstGeom>
        </p:spPr>
      </p:pic>
      <p:sp>
        <p:nvSpPr>
          <p:cNvPr id="23" name="Shape 17"/>
          <p:cNvSpPr/>
          <p:nvPr/>
        </p:nvSpPr>
        <p:spPr>
          <a:xfrm>
            <a:off x="6455664" y="5020056"/>
            <a:ext cx="384048" cy="384048"/>
          </a:xfrm>
          <a:prstGeom prst="ellipse">
            <a:avLst/>
          </a:prstGeom>
          <a:solidFill>
            <a:srgbClr val="97BC62"/>
          </a:solidFill>
          <a:ln/>
        </p:spPr>
      </p:sp>
      <p:sp>
        <p:nvSpPr>
          <p:cNvPr id="24" name="Text 18"/>
          <p:cNvSpPr/>
          <p:nvPr/>
        </p:nvSpPr>
        <p:spPr>
          <a:xfrm>
            <a:off x="6455664" y="5020056"/>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ג</a:t>
            </a:r>
            <a:endParaRPr lang="en-US" sz="1400" dirty="0"/>
          </a:p>
        </p:txBody>
      </p:sp>
      <p:sp>
        <p:nvSpPr>
          <p:cNvPr id="25" name="Text 19"/>
          <p:cNvSpPr/>
          <p:nvPr/>
        </p:nvSpPr>
        <p:spPr>
          <a:xfrm>
            <a:off x="6976872" y="4946904"/>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צורת חיים</a:t>
            </a:r>
            <a:endParaRPr lang="en-US" sz="1650" dirty="0"/>
          </a:p>
        </p:txBody>
      </p:sp>
      <p:sp>
        <p:nvSpPr>
          <p:cNvPr id="26" name="Text 20"/>
          <p:cNvSpPr/>
          <p:nvPr/>
        </p:nvSpPr>
        <p:spPr>
          <a:xfrm>
            <a:off x="6976872" y="5385816"/>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עץ, שיח או מטפס</a:t>
            </a:r>
            <a:endParaRPr lang="en-US" sz="1250" dirty="0"/>
          </a:p>
        </p:txBody>
      </p:sp>
      <p:sp>
        <p:nvSpPr>
          <p:cNvPr id="27" name="Shape 21"/>
          <p:cNvSpPr/>
          <p:nvPr/>
        </p:nvSpPr>
        <p:spPr>
          <a:xfrm>
            <a:off x="393192" y="1600200"/>
            <a:ext cx="5394960" cy="1371600"/>
          </a:xfrm>
          <a:prstGeom prst="roundRect">
            <a:avLst>
              <a:gd name="adj" fmla="val 8000"/>
            </a:avLst>
          </a:prstGeom>
          <a:solidFill>
            <a:srgbClr val="F0F4EA"/>
          </a:solidFill>
          <a:ln/>
        </p:spPr>
      </p:sp>
      <p:sp>
        <p:nvSpPr>
          <p:cNvPr id="28" name="Shape 22"/>
          <p:cNvSpPr/>
          <p:nvPr/>
        </p:nvSpPr>
        <p:spPr>
          <a:xfrm>
            <a:off x="4645152" y="1901952"/>
            <a:ext cx="768096" cy="768096"/>
          </a:xfrm>
          <a:prstGeom prst="ellipse">
            <a:avLst/>
          </a:prstGeom>
          <a:solidFill>
            <a:srgbClr val="FFFFFF"/>
          </a:solidFill>
          <a:ln/>
        </p:spPr>
      </p:sp>
      <p:pic>
        <p:nvPicPr>
          <p:cNvPr id="29" name="Image 4" descr="preencoded.png">    </p:cNvPr>
          <p:cNvPicPr>
            <a:picLocks noChangeAspect="1"/>
          </p:cNvPicPr>
          <p:nvPr/>
        </p:nvPicPr>
        <p:blipFill>
          <a:blip r:embed="rId5"/>
          <a:stretch>
            <a:fillRect/>
          </a:stretch>
        </p:blipFill>
        <p:spPr>
          <a:xfrm>
            <a:off x="4844857" y="2101657"/>
            <a:ext cx="368686" cy="368686"/>
          </a:xfrm>
          <a:prstGeom prst="rect">
            <a:avLst/>
          </a:prstGeom>
        </p:spPr>
      </p:pic>
      <p:sp>
        <p:nvSpPr>
          <p:cNvPr id="30" name="Shape 23"/>
          <p:cNvSpPr/>
          <p:nvPr/>
        </p:nvSpPr>
        <p:spPr>
          <a:xfrm>
            <a:off x="649224" y="1874520"/>
            <a:ext cx="384048" cy="384048"/>
          </a:xfrm>
          <a:prstGeom prst="ellipse">
            <a:avLst/>
          </a:prstGeom>
          <a:solidFill>
            <a:srgbClr val="97BC62"/>
          </a:solidFill>
          <a:ln/>
        </p:spPr>
      </p:sp>
      <p:sp>
        <p:nvSpPr>
          <p:cNvPr id="31" name="Text 24"/>
          <p:cNvSpPr/>
          <p:nvPr/>
        </p:nvSpPr>
        <p:spPr>
          <a:xfrm>
            <a:off x="649224" y="1874520"/>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ד</a:t>
            </a:r>
            <a:endParaRPr lang="en-US" sz="1400" dirty="0"/>
          </a:p>
        </p:txBody>
      </p:sp>
      <p:sp>
        <p:nvSpPr>
          <p:cNvPr id="32" name="Text 25"/>
          <p:cNvSpPr/>
          <p:nvPr/>
        </p:nvSpPr>
        <p:spPr>
          <a:xfrm>
            <a:off x="1170432" y="1801368"/>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תפוצה</a:t>
            </a:r>
            <a:endParaRPr lang="en-US" sz="1650" dirty="0"/>
          </a:p>
        </p:txBody>
      </p:sp>
      <p:sp>
        <p:nvSpPr>
          <p:cNvPr id="33" name="Text 26"/>
          <p:cNvSpPr/>
          <p:nvPr/>
        </p:nvSpPr>
        <p:spPr>
          <a:xfrm>
            <a:off x="1170432" y="2240280"/>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טבעית ונוכחית, כולל השפעת האדם</a:t>
            </a:r>
            <a:endParaRPr lang="en-US" sz="1250" dirty="0"/>
          </a:p>
        </p:txBody>
      </p:sp>
      <p:sp>
        <p:nvSpPr>
          <p:cNvPr id="34" name="Shape 27"/>
          <p:cNvSpPr/>
          <p:nvPr/>
        </p:nvSpPr>
        <p:spPr>
          <a:xfrm>
            <a:off x="393192" y="3172968"/>
            <a:ext cx="5394960" cy="1371600"/>
          </a:xfrm>
          <a:prstGeom prst="roundRect">
            <a:avLst>
              <a:gd name="adj" fmla="val 8000"/>
            </a:avLst>
          </a:prstGeom>
          <a:solidFill>
            <a:srgbClr val="F0F4EA"/>
          </a:solidFill>
          <a:ln/>
        </p:spPr>
      </p:sp>
      <p:sp>
        <p:nvSpPr>
          <p:cNvPr id="35" name="Shape 28"/>
          <p:cNvSpPr/>
          <p:nvPr/>
        </p:nvSpPr>
        <p:spPr>
          <a:xfrm>
            <a:off x="4645152" y="3474720"/>
            <a:ext cx="768096" cy="768096"/>
          </a:xfrm>
          <a:prstGeom prst="ellipse">
            <a:avLst/>
          </a:prstGeom>
          <a:solidFill>
            <a:srgbClr val="FFFFFF"/>
          </a:solidFill>
          <a:ln/>
        </p:spPr>
      </p:sp>
      <p:pic>
        <p:nvPicPr>
          <p:cNvPr id="36" name="Image 5" descr="preencoded.png">    </p:cNvPr>
          <p:cNvPicPr>
            <a:picLocks noChangeAspect="1"/>
          </p:cNvPicPr>
          <p:nvPr/>
        </p:nvPicPr>
        <p:blipFill>
          <a:blip r:embed="rId6"/>
          <a:stretch>
            <a:fillRect/>
          </a:stretch>
        </p:blipFill>
        <p:spPr>
          <a:xfrm>
            <a:off x="4844857" y="3674425"/>
            <a:ext cx="368686" cy="368686"/>
          </a:xfrm>
          <a:prstGeom prst="rect">
            <a:avLst/>
          </a:prstGeom>
        </p:spPr>
      </p:pic>
      <p:sp>
        <p:nvSpPr>
          <p:cNvPr id="37" name="Shape 29"/>
          <p:cNvSpPr/>
          <p:nvPr/>
        </p:nvSpPr>
        <p:spPr>
          <a:xfrm>
            <a:off x="649224" y="3447288"/>
            <a:ext cx="384048" cy="384048"/>
          </a:xfrm>
          <a:prstGeom prst="ellipse">
            <a:avLst/>
          </a:prstGeom>
          <a:solidFill>
            <a:srgbClr val="97BC62"/>
          </a:solidFill>
          <a:ln/>
        </p:spPr>
      </p:sp>
      <p:sp>
        <p:nvSpPr>
          <p:cNvPr id="38" name="Text 30"/>
          <p:cNvSpPr/>
          <p:nvPr/>
        </p:nvSpPr>
        <p:spPr>
          <a:xfrm>
            <a:off x="649224" y="3447288"/>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ה</a:t>
            </a:r>
            <a:endParaRPr lang="en-US" sz="1400" dirty="0"/>
          </a:p>
        </p:txBody>
      </p:sp>
      <p:sp>
        <p:nvSpPr>
          <p:cNvPr id="39" name="Text 31"/>
          <p:cNvSpPr/>
          <p:nvPr/>
        </p:nvSpPr>
        <p:spPr>
          <a:xfrm>
            <a:off x="1170432" y="3374136"/>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צורת האבקה</a:t>
            </a:r>
            <a:endParaRPr lang="en-US" sz="1650" dirty="0"/>
          </a:p>
        </p:txBody>
      </p:sp>
      <p:sp>
        <p:nvSpPr>
          <p:cNvPr id="40" name="Text 32"/>
          <p:cNvSpPr/>
          <p:nvPr/>
        </p:nvSpPr>
        <p:spPr>
          <a:xfrm>
            <a:off x="1170432" y="3813048"/>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איך מואבק ומי המאביקים העיקריים</a:t>
            </a:r>
            <a:endParaRPr lang="en-US" sz="1250" dirty="0"/>
          </a:p>
        </p:txBody>
      </p:sp>
      <p:sp>
        <p:nvSpPr>
          <p:cNvPr id="41" name="Shape 33"/>
          <p:cNvSpPr/>
          <p:nvPr/>
        </p:nvSpPr>
        <p:spPr>
          <a:xfrm>
            <a:off x="393192" y="4745736"/>
            <a:ext cx="5394960" cy="1371600"/>
          </a:xfrm>
          <a:prstGeom prst="roundRect">
            <a:avLst>
              <a:gd name="adj" fmla="val 8000"/>
            </a:avLst>
          </a:prstGeom>
          <a:solidFill>
            <a:srgbClr val="F0F4EA"/>
          </a:solidFill>
          <a:ln/>
        </p:spPr>
      </p:sp>
      <p:sp>
        <p:nvSpPr>
          <p:cNvPr id="42" name="Shape 34"/>
          <p:cNvSpPr/>
          <p:nvPr/>
        </p:nvSpPr>
        <p:spPr>
          <a:xfrm>
            <a:off x="4645152" y="5047488"/>
            <a:ext cx="768096" cy="768096"/>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4844857" y="5247193"/>
            <a:ext cx="368686" cy="368686"/>
          </a:xfrm>
          <a:prstGeom prst="rect">
            <a:avLst/>
          </a:prstGeom>
        </p:spPr>
      </p:pic>
      <p:sp>
        <p:nvSpPr>
          <p:cNvPr id="44" name="Shape 35"/>
          <p:cNvSpPr/>
          <p:nvPr/>
        </p:nvSpPr>
        <p:spPr>
          <a:xfrm>
            <a:off x="649224" y="5020056"/>
            <a:ext cx="384048" cy="384048"/>
          </a:xfrm>
          <a:prstGeom prst="ellipse">
            <a:avLst/>
          </a:prstGeom>
          <a:solidFill>
            <a:srgbClr val="97BC62"/>
          </a:solidFill>
          <a:ln/>
        </p:spPr>
      </p:sp>
      <p:sp>
        <p:nvSpPr>
          <p:cNvPr id="45" name="Text 36"/>
          <p:cNvSpPr/>
          <p:nvPr/>
        </p:nvSpPr>
        <p:spPr>
          <a:xfrm>
            <a:off x="649224" y="5020056"/>
            <a:ext cx="384048" cy="384048"/>
          </a:xfrm>
          <a:prstGeom prst="rect">
            <a:avLst/>
          </a:prstGeom>
          <a:noFill/>
          <a:ln/>
        </p:spPr>
        <p:txBody>
          <a:bodyPr wrap="square" lIns="0" tIns="0" rIns="0" bIns="0" rtlCol="0" anchor="ctr"/>
          <a:lstStyle/>
          <a:p>
            <a:pPr rtl="1" algn="ctr" indent="0" marL="0">
              <a:buNone/>
            </a:pPr>
            <a:r>
              <a:rPr lang="en-US" sz="1400" b="1" dirty="0">
                <a:solidFill>
                  <a:srgbClr val="26331F"/>
                </a:solidFill>
                <a:latin typeface="Arial" pitchFamily="34" charset="0"/>
                <a:ea typeface="Arial" pitchFamily="34" charset="-122"/>
                <a:cs typeface="Arial" pitchFamily="34" charset="-120"/>
              </a:rPr>
              <a:t>ו</a:t>
            </a:r>
            <a:endParaRPr lang="en-US" sz="1400" dirty="0"/>
          </a:p>
        </p:txBody>
      </p:sp>
      <p:sp>
        <p:nvSpPr>
          <p:cNvPr id="46" name="Text 37"/>
          <p:cNvSpPr/>
          <p:nvPr/>
        </p:nvSpPr>
        <p:spPr>
          <a:xfrm>
            <a:off x="1170432" y="4946904"/>
            <a:ext cx="3337560" cy="411480"/>
          </a:xfrm>
          <a:prstGeom prst="rect">
            <a:avLst/>
          </a:prstGeom>
          <a:noFill/>
          <a:ln/>
        </p:spPr>
        <p:txBody>
          <a:bodyPr wrap="square" lIns="0" tIns="0" rIns="0" bIns="0" rtlCol="0" anchor="ctr"/>
          <a:lstStyle/>
          <a:p>
            <a:pPr rtl="1" algn="r" indent="0" marL="0">
              <a:buNone/>
            </a:pPr>
            <a:r>
              <a:rPr lang="en-US" sz="1650" b="1" dirty="0">
                <a:solidFill>
                  <a:srgbClr val="26331F"/>
                </a:solidFill>
                <a:latin typeface="Arial" pitchFamily="34" charset="0"/>
                <a:ea typeface="Arial" pitchFamily="34" charset="-122"/>
                <a:cs typeface="Arial" pitchFamily="34" charset="-120"/>
              </a:rPr>
              <a:t>הפצת זרעים</a:t>
            </a:r>
            <a:endParaRPr lang="en-US" sz="1650" dirty="0"/>
          </a:p>
        </p:txBody>
      </p:sp>
      <p:sp>
        <p:nvSpPr>
          <p:cNvPr id="47" name="Text 38"/>
          <p:cNvSpPr/>
          <p:nvPr/>
        </p:nvSpPr>
        <p:spPr>
          <a:xfrm>
            <a:off x="1170432" y="5385816"/>
            <a:ext cx="3337560" cy="566928"/>
          </a:xfrm>
          <a:prstGeom prst="rect">
            <a:avLst/>
          </a:prstGeom>
          <a:noFill/>
          <a:ln/>
        </p:spPr>
        <p:txBody>
          <a:bodyPr wrap="square" lIns="0" tIns="0" rIns="0" bIns="0" rtlCol="0" anchor="t"/>
          <a:lstStyle/>
          <a:p>
            <a:pPr rtl="1" algn="r" indent="0" marL="0">
              <a:buNone/>
            </a:pPr>
            <a:r>
              <a:rPr lang="en-US" sz="1250" dirty="0">
                <a:solidFill>
                  <a:srgbClr val="5F6E53"/>
                </a:solidFill>
                <a:latin typeface="Arial" pitchFamily="34" charset="0"/>
                <a:ea typeface="Arial" pitchFamily="34" charset="-122"/>
                <a:cs typeface="Arial" pitchFamily="34" charset="-120"/>
              </a:rPr>
              <a:t>מי או מה מפיץ את הזרעים ומה התהליך</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54512" y="384048"/>
            <a:ext cx="685800" cy="685800"/>
          </a:xfrm>
          <a:prstGeom prst="ellipse">
            <a:avLst/>
          </a:prstGeom>
          <a:solidFill>
            <a:srgbClr val="F0F4EA"/>
          </a:solidFill>
          <a:ln/>
        </p:spPr>
      </p:sp>
      <p:pic>
        <p:nvPicPr>
          <p:cNvPr id="3" name="Image 0" descr="preencoded.png">    </p:cNvPr>
          <p:cNvPicPr>
            <a:picLocks noChangeAspect="1"/>
          </p:cNvPicPr>
          <p:nvPr/>
        </p:nvPicPr>
        <p:blipFill>
          <a:blip r:embed="rId1"/>
          <a:stretch>
            <a:fillRect/>
          </a:stretch>
        </p:blipFill>
        <p:spPr>
          <a:xfrm>
            <a:off x="11132820" y="562356"/>
            <a:ext cx="329184" cy="329184"/>
          </a:xfrm>
          <a:prstGeom prst="rect">
            <a:avLst/>
          </a:prstGeom>
        </p:spPr>
      </p:pic>
      <p:sp>
        <p:nvSpPr>
          <p:cNvPr id="4" name="Text 1"/>
          <p:cNvSpPr/>
          <p:nvPr/>
        </p:nvSpPr>
        <p:spPr>
          <a:xfrm>
            <a:off x="548640" y="347472"/>
            <a:ext cx="10222992" cy="566928"/>
          </a:xfrm>
          <a:prstGeom prst="rect">
            <a:avLst/>
          </a:prstGeom>
          <a:noFill/>
          <a:ln/>
        </p:spPr>
        <p:txBody>
          <a:bodyPr wrap="square" lIns="0" tIns="0" rIns="0" bIns="0" rtlCol="0" anchor="ctr"/>
          <a:lstStyle/>
          <a:p>
            <a:pPr rtl="1" algn="r" indent="0" marL="0">
              <a:buNone/>
            </a:pPr>
            <a:r>
              <a:rPr lang="en-US" sz="2800" b="1" dirty="0">
                <a:solidFill>
                  <a:srgbClr val="2C5F2D"/>
                </a:solidFill>
                <a:latin typeface="Arial" pitchFamily="34" charset="0"/>
                <a:ea typeface="Arial" pitchFamily="34" charset="-122"/>
                <a:cs typeface="Arial" pitchFamily="34" charset="-120"/>
              </a:rPr>
              <a:t>רקע קצר: צמחים בעלי זרעים</a:t>
            </a:r>
            <a:endParaRPr lang="en-US" sz="2800" dirty="0"/>
          </a:p>
        </p:txBody>
      </p:sp>
      <p:sp>
        <p:nvSpPr>
          <p:cNvPr id="5" name="Text 2"/>
          <p:cNvSpPr/>
          <p:nvPr/>
        </p:nvSpPr>
        <p:spPr>
          <a:xfrm>
            <a:off x="548640" y="932688"/>
            <a:ext cx="10222992" cy="365760"/>
          </a:xfrm>
          <a:prstGeom prst="rect">
            <a:avLst/>
          </a:prstGeom>
          <a:noFill/>
          <a:ln/>
        </p:spPr>
        <p:txBody>
          <a:bodyPr wrap="square" lIns="0" tIns="0" rIns="0" bIns="0" rtlCol="0" anchor="t"/>
          <a:lstStyle/>
          <a:p>
            <a:pPr rtl="1" algn="r" indent="0" marL="0">
              <a:buNone/>
            </a:pPr>
            <a:r>
              <a:rPr lang="en-US" sz="1400" dirty="0">
                <a:solidFill>
                  <a:srgbClr val="5F6E53"/>
                </a:solidFill>
                <a:latin typeface="Arial" pitchFamily="34" charset="0"/>
                <a:ea typeface="Arial" pitchFamily="34" charset="-122"/>
                <a:cs typeface="Arial" pitchFamily="34" charset="-120"/>
              </a:rPr>
              <a:t>מה משותף לשתי הקבוצות, ומה מפריד ביניהן (לוטן, 2026)</a:t>
            </a:r>
            <a:endParaRPr lang="en-US" sz="1400" dirty="0"/>
          </a:p>
        </p:txBody>
      </p:sp>
      <p:sp>
        <p:nvSpPr>
          <p:cNvPr id="6" name="Shape 3"/>
          <p:cNvSpPr/>
          <p:nvPr/>
        </p:nvSpPr>
        <p:spPr>
          <a:xfrm>
            <a:off x="594360" y="1600200"/>
            <a:ext cx="11000232" cy="1417320"/>
          </a:xfrm>
          <a:prstGeom prst="roundRect">
            <a:avLst>
              <a:gd name="adj" fmla="val 7742"/>
            </a:avLst>
          </a:prstGeom>
          <a:solidFill>
            <a:srgbClr val="F0F4EA"/>
          </a:solidFill>
          <a:ln/>
        </p:spPr>
      </p:sp>
      <p:sp>
        <p:nvSpPr>
          <p:cNvPr id="7" name="Text 4"/>
          <p:cNvSpPr/>
          <p:nvPr/>
        </p:nvSpPr>
        <p:spPr>
          <a:xfrm>
            <a:off x="868680" y="1755648"/>
            <a:ext cx="10451592" cy="365760"/>
          </a:xfrm>
          <a:prstGeom prst="rect">
            <a:avLst/>
          </a:prstGeom>
          <a:noFill/>
          <a:ln/>
        </p:spPr>
        <p:txBody>
          <a:bodyPr wrap="square" lIns="0" tIns="0" rIns="0" bIns="0" rtlCol="0" anchor="ctr"/>
          <a:lstStyle/>
          <a:p>
            <a:pPr rtl="1" algn="r" indent="0" marL="0">
              <a:buNone/>
            </a:pPr>
            <a:r>
              <a:rPr lang="en-US" sz="1550" b="1" dirty="0">
                <a:solidFill>
                  <a:srgbClr val="2C5F2D"/>
                </a:solidFill>
                <a:latin typeface="Arial" pitchFamily="34" charset="0"/>
                <a:ea typeface="Arial" pitchFamily="34" charset="-122"/>
                <a:cs typeface="Arial" pitchFamily="34" charset="-120"/>
              </a:rPr>
              <a:t>משותף לכל בעלי הזרעים</a:t>
            </a:r>
            <a:endParaRPr lang="en-US" sz="1550" dirty="0"/>
          </a:p>
        </p:txBody>
      </p:sp>
      <p:sp>
        <p:nvSpPr>
          <p:cNvPr id="8" name="Text 5"/>
          <p:cNvSpPr/>
          <p:nvPr/>
        </p:nvSpPr>
        <p:spPr>
          <a:xfrm>
            <a:off x="868680" y="2121408"/>
            <a:ext cx="10451592" cy="822960"/>
          </a:xfrm>
          <a:prstGeom prst="rect">
            <a:avLst/>
          </a:prstGeom>
          <a:noFill/>
          <a:ln/>
        </p:spPr>
        <p:txBody>
          <a:bodyPr wrap="square" lIns="0" tIns="0" rIns="0" bIns="0" rtlCol="0" anchor="t"/>
          <a:lstStyle/>
          <a:p>
            <a:pPr rtl="1" algn="r" indent="0" marL="0">
              <a:lnSpc>
                <a:spcPct val="112000"/>
              </a:lnSpc>
              <a:buNone/>
            </a:pPr>
            <a:r>
              <a:rPr lang="en-US" sz="1350" dirty="0">
                <a:solidFill>
                  <a:srgbClr val="26331F"/>
                </a:solidFill>
                <a:latin typeface="Arial" pitchFamily="34" charset="0"/>
                <a:ea typeface="Arial" pitchFamily="34" charset="-122"/>
                <a:cs typeface="Arial" pitchFamily="34" charset="-120"/>
              </a:rPr>
              <a:t>השלב הדומיננטי במחזור החיים הוא הספורופיט הדיפלואידי (2n), עם התאמות מבניות לחיים ביבשה: קוטיקולה נגד התייבשות, פיוניות לחילופי גזים, רקמות הובלה, עלים ושורשים. הרבייה וההפצה מבוססות על האבקה ועל זרעים.</a:t>
            </a:r>
            <a:endParaRPr lang="en-US" sz="1350" dirty="0"/>
          </a:p>
        </p:txBody>
      </p:sp>
      <p:sp>
        <p:nvSpPr>
          <p:cNvPr id="9" name="Shape 6"/>
          <p:cNvSpPr/>
          <p:nvPr/>
        </p:nvSpPr>
        <p:spPr>
          <a:xfrm>
            <a:off x="6300216" y="3246120"/>
            <a:ext cx="5294376" cy="3017520"/>
          </a:xfrm>
          <a:prstGeom prst="roundRect">
            <a:avLst>
              <a:gd name="adj" fmla="val 3636"/>
            </a:avLst>
          </a:prstGeom>
          <a:solidFill>
            <a:srgbClr val="E8F1ED"/>
          </a:solidFill>
          <a:ln/>
        </p:spPr>
      </p:sp>
      <p:sp>
        <p:nvSpPr>
          <p:cNvPr id="10" name="Shape 7"/>
          <p:cNvSpPr/>
          <p:nvPr/>
        </p:nvSpPr>
        <p:spPr>
          <a:xfrm>
            <a:off x="10634472" y="3474720"/>
            <a:ext cx="731520" cy="7315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10824667" y="3664915"/>
            <a:ext cx="351130" cy="351130"/>
          </a:xfrm>
          <a:prstGeom prst="rect">
            <a:avLst/>
          </a:prstGeom>
        </p:spPr>
      </p:pic>
      <p:sp>
        <p:nvSpPr>
          <p:cNvPr id="12" name="Text 8"/>
          <p:cNvSpPr/>
          <p:nvPr/>
        </p:nvSpPr>
        <p:spPr>
          <a:xfrm>
            <a:off x="6620256" y="3538728"/>
            <a:ext cx="3877056" cy="548640"/>
          </a:xfrm>
          <a:prstGeom prst="rect">
            <a:avLst/>
          </a:prstGeom>
          <a:noFill/>
          <a:ln/>
        </p:spPr>
        <p:txBody>
          <a:bodyPr wrap="square" lIns="0" tIns="0" rIns="0" bIns="0" rtlCol="0" anchor="ctr"/>
          <a:lstStyle/>
          <a:p>
            <a:pPr rtl="1" algn="r" indent="0" marL="0">
              <a:buNone/>
            </a:pPr>
            <a:r>
              <a:rPr lang="en-US" sz="1900" b="1" dirty="0">
                <a:solidFill>
                  <a:srgbClr val="2F6B5C"/>
                </a:solidFill>
                <a:latin typeface="Arial" pitchFamily="34" charset="0"/>
                <a:ea typeface="Arial" pitchFamily="34" charset="-122"/>
                <a:cs typeface="Arial" pitchFamily="34" charset="-120"/>
              </a:rPr>
              <a:t>חשופי זרע</a:t>
            </a:r>
            <a:endParaRPr lang="en-US" sz="1900" dirty="0"/>
          </a:p>
        </p:txBody>
      </p:sp>
      <p:sp>
        <p:nvSpPr>
          <p:cNvPr id="13" name="Text 9"/>
          <p:cNvSpPr/>
          <p:nvPr/>
        </p:nvSpPr>
        <p:spPr>
          <a:xfrm>
            <a:off x="6620256" y="4251960"/>
            <a:ext cx="4654296" cy="1828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אין פרחים ואין פירות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האבקה ויצירת זרעים באצטרובלים: אצטרובל זכרי מפיק אבקה, אצטרובל נקבי נושא את הזרעים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הקבוצה הדומיננטית: המחטניים</a:t>
            </a:r>
            <a:endParaRPr lang="en-US" sz="1450" dirty="0"/>
          </a:p>
        </p:txBody>
      </p:sp>
      <p:sp>
        <p:nvSpPr>
          <p:cNvPr id="14" name="Shape 10"/>
          <p:cNvSpPr/>
          <p:nvPr/>
        </p:nvSpPr>
        <p:spPr>
          <a:xfrm>
            <a:off x="594360" y="3246120"/>
            <a:ext cx="5294376" cy="3017520"/>
          </a:xfrm>
          <a:prstGeom prst="roundRect">
            <a:avLst>
              <a:gd name="adj" fmla="val 3636"/>
            </a:avLst>
          </a:prstGeom>
          <a:solidFill>
            <a:srgbClr val="F5EDE1"/>
          </a:solidFill>
          <a:ln/>
        </p:spPr>
      </p:sp>
      <p:sp>
        <p:nvSpPr>
          <p:cNvPr id="15" name="Shape 11"/>
          <p:cNvSpPr/>
          <p:nvPr/>
        </p:nvSpPr>
        <p:spPr>
          <a:xfrm>
            <a:off x="4928616" y="3474720"/>
            <a:ext cx="731520" cy="7315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118811" y="3664915"/>
            <a:ext cx="351130" cy="351130"/>
          </a:xfrm>
          <a:prstGeom prst="rect">
            <a:avLst/>
          </a:prstGeom>
        </p:spPr>
      </p:pic>
      <p:sp>
        <p:nvSpPr>
          <p:cNvPr id="17" name="Text 12"/>
          <p:cNvSpPr/>
          <p:nvPr/>
        </p:nvSpPr>
        <p:spPr>
          <a:xfrm>
            <a:off x="914400" y="3538728"/>
            <a:ext cx="3877056" cy="548640"/>
          </a:xfrm>
          <a:prstGeom prst="rect">
            <a:avLst/>
          </a:prstGeom>
          <a:noFill/>
          <a:ln/>
        </p:spPr>
        <p:txBody>
          <a:bodyPr wrap="square" lIns="0" tIns="0" rIns="0" bIns="0" rtlCol="0" anchor="ctr"/>
          <a:lstStyle/>
          <a:p>
            <a:pPr rtl="1" algn="r" indent="0" marL="0">
              <a:buNone/>
            </a:pPr>
            <a:r>
              <a:rPr lang="en-US" sz="1900" b="1" dirty="0">
                <a:solidFill>
                  <a:srgbClr val="8A5A2B"/>
                </a:solidFill>
                <a:latin typeface="Arial" pitchFamily="34" charset="0"/>
                <a:ea typeface="Arial" pitchFamily="34" charset="-122"/>
                <a:cs typeface="Arial" pitchFamily="34" charset="-120"/>
              </a:rPr>
              <a:t>מכוסי זרע</a:t>
            </a:r>
            <a:endParaRPr lang="en-US" sz="1900" dirty="0"/>
          </a:p>
        </p:txBody>
      </p:sp>
      <p:sp>
        <p:nvSpPr>
          <p:cNvPr id="18" name="Text 13"/>
          <p:cNvSpPr/>
          <p:nvPr/>
        </p:nvSpPr>
        <p:spPr>
          <a:xfrm>
            <a:off x="914400" y="4251960"/>
            <a:ext cx="4654296" cy="1828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צמחים בעלי פרחים ופירות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הביצית והזרע עטופים: הזרע מתפתח בתוך פרי המגן עליו ומסייע בהפצתו</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הקבוצה הגדולה והמגוונת ביותר של צמחי היבשה</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2F6B5C"/>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הראשון · חשוף זרע</a:t>
            </a:r>
            <a:endParaRPr lang="en-US" sz="1250" dirty="0"/>
          </a:p>
        </p:txBody>
      </p:sp>
      <p:sp>
        <p:nvSpPr>
          <p:cNvPr id="4" name="Text 2"/>
          <p:cNvSpPr/>
          <p:nvPr/>
        </p:nvSpPr>
        <p:spPr>
          <a:xfrm>
            <a:off x="548640" y="914400"/>
            <a:ext cx="11045952" cy="594360"/>
          </a:xfrm>
          <a:prstGeom prst="rect">
            <a:avLst/>
          </a:prstGeom>
          <a:noFill/>
          <a:ln/>
        </p:spPr>
        <p:txBody>
          <a:bodyPr wrap="square" lIns="0" tIns="0" rIns="0" bIns="0" rtlCol="0" anchor="ctr"/>
          <a:lstStyle/>
          <a:p>
            <a:pPr algn="r" indent="0" marL="0">
              <a:buNone/>
            </a:pPr>
            <a:r>
              <a:rPr lang="en-US" sz="3000" b="1" dirty="0">
                <a:solidFill>
                  <a:srgbClr val="2F6B5C"/>
                </a:solidFill>
                <a:latin typeface="Arial" pitchFamily="34" charset="0"/>
                <a:ea typeface="Arial" pitchFamily="34" charset="-122"/>
                <a:cs typeface="Arial" pitchFamily="34" charset="-120"/>
              </a:rPr>
              <a:t>אורן ירושלים </a:t>
            </a:r>
            <a:pPr algn="r" indent="0" marL="0">
              <a:buNone/>
            </a:pPr>
            <a:r>
              <a:rPr lang="en-US" sz="3000" b="1" i="1" dirty="0">
                <a:solidFill>
                  <a:srgbClr val="5F6E53"/>
                </a:solidFill>
                <a:latin typeface="Times New Roman" pitchFamily="34" charset="0"/>
                <a:ea typeface="Times New Roman" pitchFamily="34" charset="-122"/>
                <a:cs typeface="Times New Roman" pitchFamily="34" charset="-120"/>
              </a:rPr>
              <a:t>(Pinus halepensis)</a:t>
            </a:r>
            <a:endParaRPr lang="en-US" sz="3000" dirty="0"/>
          </a:p>
        </p:txBody>
      </p:sp>
      <p:sp>
        <p:nvSpPr>
          <p:cNvPr id="5" name="Shape 3"/>
          <p:cNvSpPr/>
          <p:nvPr/>
        </p:nvSpPr>
        <p:spPr>
          <a:xfrm>
            <a:off x="594360" y="457200"/>
            <a:ext cx="2148840" cy="347472"/>
          </a:xfrm>
          <a:prstGeom prst="roundRect">
            <a:avLst>
              <a:gd name="adj" fmla="val 50000"/>
            </a:avLst>
          </a:prstGeom>
          <a:solidFill>
            <a:srgbClr val="97BC62"/>
          </a:solidFill>
          <a:ln/>
        </p:spPr>
      </p:sp>
      <p:sp>
        <p:nvSpPr>
          <p:cNvPr id="6" name="Text 4"/>
          <p:cNvSpPr/>
          <p:nvPr/>
        </p:nvSpPr>
        <p:spPr>
          <a:xfrm>
            <a:off x="594360" y="457200"/>
            <a:ext cx="214884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סעיף א: מיון סיסטמתי</a:t>
            </a:r>
            <a:endParaRPr lang="en-US" sz="1100" dirty="0"/>
          </a:p>
        </p:txBody>
      </p:sp>
      <p:sp>
        <p:nvSpPr>
          <p:cNvPr id="7" name="Shape 5"/>
          <p:cNvSpPr/>
          <p:nvPr/>
        </p:nvSpPr>
        <p:spPr>
          <a:xfrm>
            <a:off x="5559552" y="1783080"/>
            <a:ext cx="6035040" cy="786384"/>
          </a:xfrm>
          <a:prstGeom prst="roundRect">
            <a:avLst>
              <a:gd name="adj" fmla="val 13953"/>
            </a:avLst>
          </a:prstGeom>
          <a:solidFill>
            <a:srgbClr val="F0F4EA"/>
          </a:solidFill>
          <a:ln/>
        </p:spPr>
      </p:sp>
      <p:sp>
        <p:nvSpPr>
          <p:cNvPr id="8" name="Text 6"/>
          <p:cNvSpPr/>
          <p:nvPr/>
        </p:nvSpPr>
        <p:spPr>
          <a:xfrm>
            <a:off x="9994392" y="1783080"/>
            <a:ext cx="1417320" cy="786384"/>
          </a:xfrm>
          <a:prstGeom prst="rect">
            <a:avLst/>
          </a:prstGeom>
          <a:noFill/>
          <a:ln/>
        </p:spPr>
        <p:txBody>
          <a:bodyPr wrap="square" lIns="0" tIns="0" rIns="0" bIns="0" rtlCol="0" anchor="ctr"/>
          <a:lstStyle/>
          <a:p>
            <a:pPr rtl="1" algn="r" indent="0" marL="0">
              <a:buNone/>
            </a:pPr>
            <a:r>
              <a:rPr lang="en-US" sz="1400" b="1" dirty="0">
                <a:solidFill>
                  <a:srgbClr val="2F6B5C"/>
                </a:solidFill>
                <a:latin typeface="Arial" pitchFamily="34" charset="0"/>
                <a:ea typeface="Arial" pitchFamily="34" charset="-122"/>
                <a:cs typeface="Arial" pitchFamily="34" charset="-120"/>
              </a:rPr>
              <a:t>ממלכה</a:t>
            </a:r>
            <a:endParaRPr lang="en-US" sz="1400" dirty="0"/>
          </a:p>
        </p:txBody>
      </p:sp>
      <p:sp>
        <p:nvSpPr>
          <p:cNvPr id="9" name="Text 7"/>
          <p:cNvSpPr/>
          <p:nvPr/>
        </p:nvSpPr>
        <p:spPr>
          <a:xfrm>
            <a:off x="5788152" y="17830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הצמחים</a:t>
            </a:r>
            <a:endParaRPr lang="en-US" sz="1350" dirty="0"/>
          </a:p>
        </p:txBody>
      </p:sp>
      <p:sp>
        <p:nvSpPr>
          <p:cNvPr id="10" name="Shape 8"/>
          <p:cNvSpPr/>
          <p:nvPr/>
        </p:nvSpPr>
        <p:spPr>
          <a:xfrm>
            <a:off x="5559552" y="2697480"/>
            <a:ext cx="6035040" cy="786384"/>
          </a:xfrm>
          <a:prstGeom prst="roundRect">
            <a:avLst>
              <a:gd name="adj" fmla="val 13953"/>
            </a:avLst>
          </a:prstGeom>
          <a:solidFill>
            <a:srgbClr val="F0F4EA"/>
          </a:solidFill>
          <a:ln/>
        </p:spPr>
      </p:sp>
      <p:sp>
        <p:nvSpPr>
          <p:cNvPr id="11" name="Text 9"/>
          <p:cNvSpPr/>
          <p:nvPr/>
        </p:nvSpPr>
        <p:spPr>
          <a:xfrm>
            <a:off x="9994392" y="2697480"/>
            <a:ext cx="1417320" cy="786384"/>
          </a:xfrm>
          <a:prstGeom prst="rect">
            <a:avLst/>
          </a:prstGeom>
          <a:noFill/>
          <a:ln/>
        </p:spPr>
        <p:txBody>
          <a:bodyPr wrap="square" lIns="0" tIns="0" rIns="0" bIns="0" rtlCol="0" anchor="ctr"/>
          <a:lstStyle/>
          <a:p>
            <a:pPr rtl="1" algn="r" indent="0" marL="0">
              <a:buNone/>
            </a:pPr>
            <a:r>
              <a:rPr lang="en-US" sz="1400" b="1" dirty="0">
                <a:solidFill>
                  <a:srgbClr val="2F6B5C"/>
                </a:solidFill>
                <a:latin typeface="Arial" pitchFamily="34" charset="0"/>
                <a:ea typeface="Arial" pitchFamily="34" charset="-122"/>
                <a:cs typeface="Arial" pitchFamily="34" charset="-120"/>
              </a:rPr>
              <a:t>קבוצה</a:t>
            </a:r>
            <a:endParaRPr lang="en-US" sz="1400" dirty="0"/>
          </a:p>
        </p:txBody>
      </p:sp>
      <p:sp>
        <p:nvSpPr>
          <p:cNvPr id="12" name="Text 10"/>
          <p:cNvSpPr/>
          <p:nvPr/>
        </p:nvSpPr>
        <p:spPr>
          <a:xfrm>
            <a:off x="5788152" y="26974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צמחים בעלי זרעים: חשופי זרע (מחטניים)</a:t>
            </a:r>
            <a:endParaRPr lang="en-US" sz="1350" dirty="0"/>
          </a:p>
        </p:txBody>
      </p:sp>
      <p:sp>
        <p:nvSpPr>
          <p:cNvPr id="13" name="Shape 11"/>
          <p:cNvSpPr/>
          <p:nvPr/>
        </p:nvSpPr>
        <p:spPr>
          <a:xfrm>
            <a:off x="5559552" y="3611880"/>
            <a:ext cx="6035040" cy="786384"/>
          </a:xfrm>
          <a:prstGeom prst="roundRect">
            <a:avLst>
              <a:gd name="adj" fmla="val 13953"/>
            </a:avLst>
          </a:prstGeom>
          <a:solidFill>
            <a:srgbClr val="F0F4EA"/>
          </a:solidFill>
          <a:ln/>
        </p:spPr>
      </p:sp>
      <p:sp>
        <p:nvSpPr>
          <p:cNvPr id="14" name="Text 12"/>
          <p:cNvSpPr/>
          <p:nvPr/>
        </p:nvSpPr>
        <p:spPr>
          <a:xfrm>
            <a:off x="9994392" y="3611880"/>
            <a:ext cx="1417320" cy="786384"/>
          </a:xfrm>
          <a:prstGeom prst="rect">
            <a:avLst/>
          </a:prstGeom>
          <a:noFill/>
          <a:ln/>
        </p:spPr>
        <p:txBody>
          <a:bodyPr wrap="square" lIns="0" tIns="0" rIns="0" bIns="0" rtlCol="0" anchor="ctr"/>
          <a:lstStyle/>
          <a:p>
            <a:pPr rtl="1" algn="r" indent="0" marL="0">
              <a:buNone/>
            </a:pPr>
            <a:r>
              <a:rPr lang="en-US" sz="1400" b="1" dirty="0">
                <a:solidFill>
                  <a:srgbClr val="2F6B5C"/>
                </a:solidFill>
                <a:latin typeface="Arial" pitchFamily="34" charset="0"/>
                <a:ea typeface="Arial" pitchFamily="34" charset="-122"/>
                <a:cs typeface="Arial" pitchFamily="34" charset="-120"/>
              </a:rPr>
              <a:t>משפחה</a:t>
            </a:r>
            <a:endParaRPr lang="en-US" sz="1400" dirty="0"/>
          </a:p>
        </p:txBody>
      </p:sp>
      <p:sp>
        <p:nvSpPr>
          <p:cNvPr id="15" name="Text 13"/>
          <p:cNvSpPr/>
          <p:nvPr/>
        </p:nvSpPr>
        <p:spPr>
          <a:xfrm>
            <a:off x="5788152" y="36118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אורניים (Pinaceae)</a:t>
            </a:r>
            <a:endParaRPr lang="en-US" sz="1350" dirty="0"/>
          </a:p>
        </p:txBody>
      </p:sp>
      <p:sp>
        <p:nvSpPr>
          <p:cNvPr id="16" name="Shape 14"/>
          <p:cNvSpPr/>
          <p:nvPr/>
        </p:nvSpPr>
        <p:spPr>
          <a:xfrm>
            <a:off x="5559552" y="4526280"/>
            <a:ext cx="6035040" cy="786384"/>
          </a:xfrm>
          <a:prstGeom prst="roundRect">
            <a:avLst>
              <a:gd name="adj" fmla="val 13953"/>
            </a:avLst>
          </a:prstGeom>
          <a:solidFill>
            <a:srgbClr val="F0F4EA"/>
          </a:solidFill>
          <a:ln/>
        </p:spPr>
      </p:sp>
      <p:sp>
        <p:nvSpPr>
          <p:cNvPr id="17" name="Text 15"/>
          <p:cNvSpPr/>
          <p:nvPr/>
        </p:nvSpPr>
        <p:spPr>
          <a:xfrm>
            <a:off x="9994392" y="4526280"/>
            <a:ext cx="1417320" cy="786384"/>
          </a:xfrm>
          <a:prstGeom prst="rect">
            <a:avLst/>
          </a:prstGeom>
          <a:noFill/>
          <a:ln/>
        </p:spPr>
        <p:txBody>
          <a:bodyPr wrap="square" lIns="0" tIns="0" rIns="0" bIns="0" rtlCol="0" anchor="ctr"/>
          <a:lstStyle/>
          <a:p>
            <a:pPr rtl="1" algn="r" indent="0" marL="0">
              <a:buNone/>
            </a:pPr>
            <a:r>
              <a:rPr lang="en-US" sz="1400" b="1" dirty="0">
                <a:solidFill>
                  <a:srgbClr val="2F6B5C"/>
                </a:solidFill>
                <a:latin typeface="Arial" pitchFamily="34" charset="0"/>
                <a:ea typeface="Arial" pitchFamily="34" charset="-122"/>
                <a:cs typeface="Arial" pitchFamily="34" charset="-120"/>
              </a:rPr>
              <a:t>סוג</a:t>
            </a:r>
            <a:endParaRPr lang="en-US" sz="1400" dirty="0"/>
          </a:p>
        </p:txBody>
      </p:sp>
      <p:sp>
        <p:nvSpPr>
          <p:cNvPr id="18" name="Text 16"/>
          <p:cNvSpPr/>
          <p:nvPr/>
        </p:nvSpPr>
        <p:spPr>
          <a:xfrm>
            <a:off x="5788152" y="45262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אורן (Pinus)</a:t>
            </a:r>
            <a:endParaRPr lang="en-US" sz="1350" dirty="0"/>
          </a:p>
        </p:txBody>
      </p:sp>
      <p:sp>
        <p:nvSpPr>
          <p:cNvPr id="19" name="Shape 17"/>
          <p:cNvSpPr/>
          <p:nvPr/>
        </p:nvSpPr>
        <p:spPr>
          <a:xfrm>
            <a:off x="5559552" y="5440680"/>
            <a:ext cx="6035040" cy="786384"/>
          </a:xfrm>
          <a:prstGeom prst="roundRect">
            <a:avLst>
              <a:gd name="adj" fmla="val 13953"/>
            </a:avLst>
          </a:prstGeom>
          <a:solidFill>
            <a:srgbClr val="E8F1ED"/>
          </a:solidFill>
          <a:ln/>
        </p:spPr>
      </p:sp>
      <p:sp>
        <p:nvSpPr>
          <p:cNvPr id="20" name="Text 18"/>
          <p:cNvSpPr/>
          <p:nvPr/>
        </p:nvSpPr>
        <p:spPr>
          <a:xfrm>
            <a:off x="9994392" y="5440680"/>
            <a:ext cx="1417320" cy="786384"/>
          </a:xfrm>
          <a:prstGeom prst="rect">
            <a:avLst/>
          </a:prstGeom>
          <a:noFill/>
          <a:ln/>
        </p:spPr>
        <p:txBody>
          <a:bodyPr wrap="square" lIns="0" tIns="0" rIns="0" bIns="0" rtlCol="0" anchor="ctr"/>
          <a:lstStyle/>
          <a:p>
            <a:pPr rtl="1" algn="r" indent="0" marL="0">
              <a:buNone/>
            </a:pPr>
            <a:r>
              <a:rPr lang="en-US" sz="1400" b="1" dirty="0">
                <a:solidFill>
                  <a:srgbClr val="2F6B5C"/>
                </a:solidFill>
                <a:latin typeface="Arial" pitchFamily="34" charset="0"/>
                <a:ea typeface="Arial" pitchFamily="34" charset="-122"/>
                <a:cs typeface="Arial" pitchFamily="34" charset="-120"/>
              </a:rPr>
              <a:t>מין</a:t>
            </a:r>
            <a:endParaRPr lang="en-US" sz="1400" dirty="0"/>
          </a:p>
        </p:txBody>
      </p:sp>
      <p:sp>
        <p:nvSpPr>
          <p:cNvPr id="21" name="Text 19"/>
          <p:cNvSpPr/>
          <p:nvPr/>
        </p:nvSpPr>
        <p:spPr>
          <a:xfrm>
            <a:off x="5788152" y="54406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אורן ירושלים (Pinus halepensis)</a:t>
            </a:r>
            <a:endParaRPr lang="en-US" sz="1350" dirty="0"/>
          </a:p>
        </p:txBody>
      </p:sp>
      <p:sp>
        <p:nvSpPr>
          <p:cNvPr id="22" name="Shape 20"/>
          <p:cNvSpPr/>
          <p:nvPr/>
        </p:nvSpPr>
        <p:spPr>
          <a:xfrm>
            <a:off x="594360" y="1783080"/>
            <a:ext cx="4892040" cy="4434840"/>
          </a:xfrm>
          <a:prstGeom prst="roundRect">
            <a:avLst>
              <a:gd name="adj" fmla="val 2474"/>
            </a:avLst>
          </a:prstGeom>
          <a:solidFill>
            <a:srgbClr val="FAFBF7"/>
          </a:solidFill>
          <a:ln w="19050">
            <a:solidFill>
              <a:srgbClr val="97BC62"/>
            </a:solidFill>
            <a:prstDash val="dash"/>
          </a:ln>
        </p:spPr>
      </p:sp>
      <p:pic>
        <p:nvPicPr>
          <p:cNvPr id="23" name="Image 0" descr="preencoded.png">    </p:cNvPr>
          <p:cNvPicPr>
            <a:picLocks noChangeAspect="1"/>
          </p:cNvPicPr>
          <p:nvPr/>
        </p:nvPicPr>
        <p:blipFill>
          <a:blip r:embed="rId1"/>
          <a:stretch>
            <a:fillRect/>
          </a:stretch>
        </p:blipFill>
        <p:spPr>
          <a:xfrm>
            <a:off x="2720340" y="3451860"/>
            <a:ext cx="640080" cy="640080"/>
          </a:xfrm>
          <a:prstGeom prst="rect">
            <a:avLst/>
          </a:prstGeom>
        </p:spPr>
      </p:pic>
      <p:sp>
        <p:nvSpPr>
          <p:cNvPr id="24" name="Text 21"/>
          <p:cNvSpPr/>
          <p:nvPr/>
        </p:nvSpPr>
        <p:spPr>
          <a:xfrm>
            <a:off x="777240" y="4137660"/>
            <a:ext cx="4526280" cy="731520"/>
          </a:xfrm>
          <a:prstGeom prst="rect">
            <a:avLst/>
          </a:prstGeom>
          <a:noFill/>
          <a:ln/>
        </p:spPr>
        <p:txBody>
          <a:bodyPr wrap="square" lIns="0" tIns="0" rIns="0" bIns="0" rtlCol="0" anchor="ctr"/>
          <a:lstStyle/>
          <a:p>
            <a:pPr rtl="1" algn="ctr" indent="0" marL="0">
              <a:buNone/>
            </a:pPr>
            <a:r>
              <a:rPr lang="en-US" sz="1150" dirty="0">
                <a:solidFill>
                  <a:srgbClr val="5F6E53"/>
                </a:solidFill>
                <a:latin typeface="Arial" pitchFamily="34" charset="0"/>
                <a:ea typeface="Arial" pitchFamily="34" charset="-122"/>
                <a:cs typeface="Arial" pitchFamily="34" charset="-120"/>
              </a:rPr>
              <a:t>כאן תמונה או צילום וידאו שלכם ליד העץ:</a:t>
            </a:r>
            <a:endParaRPr lang="en-US" sz="1150" dirty="0"/>
          </a:p>
          <a:p>
            <a:pPr rtl="1" algn="ctr" indent="0" marL="0">
              <a:buNone/>
            </a:pPr>
            <a:r>
              <a:rPr lang="en-US" sz="1150" dirty="0">
                <a:solidFill>
                  <a:srgbClr val="5F6E53"/>
                </a:solidFill>
                <a:latin typeface="Arial" pitchFamily="34" charset="0"/>
                <a:ea typeface="Arial" pitchFamily="34" charset="-122"/>
                <a:cs typeface="Arial" pitchFamily="34" charset="-120"/>
              </a:rPr>
              <a:t>מראה כללי של אורן ירושלים באזור המגורים</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2F6B5C"/>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הראשון · חשוף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2F6B5C"/>
                </a:solidFill>
                <a:latin typeface="Arial" pitchFamily="34" charset="0"/>
                <a:ea typeface="Arial" pitchFamily="34" charset="-122"/>
                <a:cs typeface="Arial" pitchFamily="34" charset="-120"/>
              </a:rPr>
              <a:t>אורן ירושלים: למה חשוף זרע, ואיזו צורת חיים</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סעיפים ב + ג</a:t>
            </a:r>
            <a:endParaRPr lang="en-US" sz="1100" dirty="0"/>
          </a:p>
        </p:txBody>
      </p:sp>
      <p:sp>
        <p:nvSpPr>
          <p:cNvPr id="7" name="Shape 5"/>
          <p:cNvSpPr/>
          <p:nvPr/>
        </p:nvSpPr>
        <p:spPr>
          <a:xfrm>
            <a:off x="6300216" y="1737360"/>
            <a:ext cx="5294376" cy="3886200"/>
          </a:xfrm>
          <a:prstGeom prst="roundRect">
            <a:avLst>
              <a:gd name="adj" fmla="val 2824"/>
            </a:avLst>
          </a:prstGeom>
          <a:solidFill>
            <a:srgbClr val="E8F1ED"/>
          </a:solidFill>
          <a:ln/>
        </p:spPr>
      </p:sp>
      <p:sp>
        <p:nvSpPr>
          <p:cNvPr id="8" name="Text 6"/>
          <p:cNvSpPr/>
          <p:nvPr/>
        </p:nvSpPr>
        <p:spPr>
          <a:xfrm>
            <a:off x="6620256" y="1965960"/>
            <a:ext cx="4654296" cy="411480"/>
          </a:xfrm>
          <a:prstGeom prst="rect">
            <a:avLst/>
          </a:prstGeom>
          <a:noFill/>
          <a:ln/>
        </p:spPr>
        <p:txBody>
          <a:bodyPr wrap="square" lIns="0" tIns="0" rIns="0" bIns="0" rtlCol="0" anchor="ctr"/>
          <a:lstStyle/>
          <a:p>
            <a:pPr rtl="1" algn="r" indent="0" marL="0">
              <a:buNone/>
            </a:pPr>
            <a:r>
              <a:rPr lang="en-US" sz="1600" b="1" dirty="0">
                <a:solidFill>
                  <a:srgbClr val="2F6B5C"/>
                </a:solidFill>
                <a:latin typeface="Arial" pitchFamily="34" charset="0"/>
                <a:ea typeface="Arial" pitchFamily="34" charset="-122"/>
                <a:cs typeface="Arial" pitchFamily="34" charset="-120"/>
              </a:rPr>
              <a:t>תכונות המשייכות לחשופי הזרע (ב)</a:t>
            </a:r>
            <a:endParaRPr lang="en-US" sz="1600" dirty="0"/>
          </a:p>
        </p:txBody>
      </p:sp>
      <p:sp>
        <p:nvSpPr>
          <p:cNvPr id="9" name="Text 7"/>
          <p:cNvSpPr/>
          <p:nvPr/>
        </p:nvSpPr>
        <p:spPr>
          <a:xfrm>
            <a:off x="6620256" y="2468880"/>
            <a:ext cx="4654296" cy="2971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אין פרחים ואין פירות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הזרעים יושבים חשופים על קשקשי האצטרובל הנקבי המעוצה, בלי פרי עוטף</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אצטרובלים זכריים קטנים ורכים משחררים אבקה באביב</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עלים דמויי מחט עם קוטיקולה עבה: התאמה לצמצום איבוד מים בקיץ הים-תיכוני</a:t>
            </a:r>
            <a:endParaRPr lang="en-US" sz="1450" dirty="0"/>
          </a:p>
        </p:txBody>
      </p:sp>
      <p:sp>
        <p:nvSpPr>
          <p:cNvPr id="10" name="Shape 8"/>
          <p:cNvSpPr/>
          <p:nvPr/>
        </p:nvSpPr>
        <p:spPr>
          <a:xfrm>
            <a:off x="594360" y="1737360"/>
            <a:ext cx="5294376" cy="3886200"/>
          </a:xfrm>
          <a:prstGeom prst="roundRect">
            <a:avLst>
              <a:gd name="adj" fmla="val 2824"/>
            </a:avLst>
          </a:prstGeom>
          <a:solidFill>
            <a:srgbClr val="F0F4EA"/>
          </a:solidFill>
          <a:ln/>
        </p:spPr>
      </p:sp>
      <p:sp>
        <p:nvSpPr>
          <p:cNvPr id="11" name="Text 9"/>
          <p:cNvSpPr/>
          <p:nvPr/>
        </p:nvSpPr>
        <p:spPr>
          <a:xfrm>
            <a:off x="914400" y="1965960"/>
            <a:ext cx="4654296"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צורת חיים (ג)</a:t>
            </a:r>
            <a:endParaRPr lang="en-US" sz="1600" dirty="0"/>
          </a:p>
        </p:txBody>
      </p:sp>
      <p:sp>
        <p:nvSpPr>
          <p:cNvPr id="12" name="Text 10"/>
          <p:cNvSpPr/>
          <p:nvPr/>
        </p:nvSpPr>
        <p:spPr>
          <a:xfrm>
            <a:off x="914400" y="2468880"/>
            <a:ext cx="4654296" cy="2971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עץ ירוק-עד, בדרך כלל בגובה 10 עד 20 מטרים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גזע מרכזי מעוצה וצמרת מסועפת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קצב גידול מהיר יחסית לעצי חורש אחרים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בשקף זה כדאי לצלם מקרוב: מחטים, אצטרובל צעיר ואצטרובל בוגר</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2F6B5C"/>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הראשון · חשוף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2F6B5C"/>
                </a:solidFill>
                <a:latin typeface="Arial" pitchFamily="34" charset="0"/>
                <a:ea typeface="Arial" pitchFamily="34" charset="-122"/>
                <a:cs typeface="Arial" pitchFamily="34" charset="-120"/>
              </a:rPr>
              <a:t>אורן ירושלים: תפוצה טבעית ונוכחית</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סעיף ד: תפוצה</a:t>
            </a:r>
            <a:endParaRPr lang="en-US" sz="1100" dirty="0"/>
          </a:p>
        </p:txBody>
      </p:sp>
      <p:sp>
        <p:nvSpPr>
          <p:cNvPr id="7" name="Shape 5"/>
          <p:cNvSpPr/>
          <p:nvPr/>
        </p:nvSpPr>
        <p:spPr>
          <a:xfrm>
            <a:off x="5559552" y="1737360"/>
            <a:ext cx="6035040" cy="2103120"/>
          </a:xfrm>
          <a:prstGeom prst="roundRect">
            <a:avLst>
              <a:gd name="adj" fmla="val 5217"/>
            </a:avLst>
          </a:prstGeom>
          <a:solidFill>
            <a:srgbClr val="F0F4EA"/>
          </a:solidFill>
          <a:ln/>
        </p:spPr>
      </p:sp>
      <p:sp>
        <p:nvSpPr>
          <p:cNvPr id="8" name="Shape 6"/>
          <p:cNvSpPr/>
          <p:nvPr/>
        </p:nvSpPr>
        <p:spPr>
          <a:xfrm>
            <a:off x="10680192" y="1920240"/>
            <a:ext cx="658368" cy="65836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0851368" y="2091416"/>
            <a:ext cx="316017" cy="316017"/>
          </a:xfrm>
          <a:prstGeom prst="rect">
            <a:avLst/>
          </a:prstGeom>
        </p:spPr>
      </p:pic>
      <p:sp>
        <p:nvSpPr>
          <p:cNvPr id="10" name="Text 7"/>
          <p:cNvSpPr/>
          <p:nvPr/>
        </p:nvSpPr>
        <p:spPr>
          <a:xfrm>
            <a:off x="5879592" y="1965960"/>
            <a:ext cx="4663440"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תפוצה טבעית</a:t>
            </a:r>
            <a:endParaRPr lang="en-US" sz="1600" dirty="0"/>
          </a:p>
        </p:txBody>
      </p:sp>
      <p:sp>
        <p:nvSpPr>
          <p:cNvPr id="11" name="Text 8"/>
          <p:cNvSpPr/>
          <p:nvPr/>
        </p:nvSpPr>
        <p:spPr>
          <a:xfrm>
            <a:off x="5879592" y="2423160"/>
            <a:ext cx="5394960" cy="128016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אגן הים התיכון: מספרד ועד המזרח התיכון</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בישראל: חורש טבעי בכרמל, בגליל ובהרי יהודה</a:t>
            </a:r>
            <a:endParaRPr lang="en-US" sz="1450" dirty="0"/>
          </a:p>
        </p:txBody>
      </p:sp>
      <p:sp>
        <p:nvSpPr>
          <p:cNvPr id="12" name="Shape 9"/>
          <p:cNvSpPr/>
          <p:nvPr/>
        </p:nvSpPr>
        <p:spPr>
          <a:xfrm>
            <a:off x="5559552" y="4069080"/>
            <a:ext cx="6035040" cy="2103120"/>
          </a:xfrm>
          <a:prstGeom prst="roundRect">
            <a:avLst>
              <a:gd name="adj" fmla="val 5217"/>
            </a:avLst>
          </a:prstGeom>
          <a:solidFill>
            <a:srgbClr val="E8F1ED"/>
          </a:solidFill>
          <a:ln/>
        </p:spPr>
      </p:sp>
      <p:sp>
        <p:nvSpPr>
          <p:cNvPr id="13" name="Shape 10"/>
          <p:cNvSpPr/>
          <p:nvPr/>
        </p:nvSpPr>
        <p:spPr>
          <a:xfrm>
            <a:off x="10680192" y="4251960"/>
            <a:ext cx="658368" cy="658368"/>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10851368" y="4423136"/>
            <a:ext cx="316017" cy="316017"/>
          </a:xfrm>
          <a:prstGeom prst="rect">
            <a:avLst/>
          </a:prstGeom>
        </p:spPr>
      </p:pic>
      <p:sp>
        <p:nvSpPr>
          <p:cNvPr id="15" name="Text 11"/>
          <p:cNvSpPr/>
          <p:nvPr/>
        </p:nvSpPr>
        <p:spPr>
          <a:xfrm>
            <a:off x="5879592" y="4297680"/>
            <a:ext cx="4663440" cy="411480"/>
          </a:xfrm>
          <a:prstGeom prst="rect">
            <a:avLst/>
          </a:prstGeom>
          <a:noFill/>
          <a:ln/>
        </p:spPr>
        <p:txBody>
          <a:bodyPr wrap="square" lIns="0" tIns="0" rIns="0" bIns="0" rtlCol="0" anchor="ctr"/>
          <a:lstStyle/>
          <a:p>
            <a:pPr rtl="1" algn="r" indent="0" marL="0">
              <a:buNone/>
            </a:pPr>
            <a:r>
              <a:rPr lang="en-US" sz="1600" b="1" dirty="0">
                <a:solidFill>
                  <a:srgbClr val="2F6B5C"/>
                </a:solidFill>
                <a:latin typeface="Arial" pitchFamily="34" charset="0"/>
                <a:ea typeface="Arial" pitchFamily="34" charset="-122"/>
                <a:cs typeface="Arial" pitchFamily="34" charset="-120"/>
              </a:rPr>
              <a:t>תפוצה נוכחית: בעזרת האדם</a:t>
            </a:r>
            <a:endParaRPr lang="en-US" sz="1600" dirty="0"/>
          </a:p>
        </p:txBody>
      </p:sp>
      <p:sp>
        <p:nvSpPr>
          <p:cNvPr id="16" name="Text 12"/>
          <p:cNvSpPr/>
          <p:nvPr/>
        </p:nvSpPr>
        <p:spPr>
          <a:xfrm>
            <a:off x="5879592" y="4754880"/>
            <a:ext cx="5394960" cy="13258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המין העיקרי בנטיעות היער בישראל מאז ראשית המאה העשרים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מהיערות הנטועים הוא מתפשט מאליו לשטחים פתוחים סמוכים</a:t>
            </a:r>
            <a:endParaRPr lang="en-US" sz="1450" dirty="0"/>
          </a:p>
        </p:txBody>
      </p:sp>
      <p:sp>
        <p:nvSpPr>
          <p:cNvPr id="17" name="Shape 13"/>
          <p:cNvSpPr/>
          <p:nvPr/>
        </p:nvSpPr>
        <p:spPr>
          <a:xfrm>
            <a:off x="594360" y="1737360"/>
            <a:ext cx="4709160" cy="4480560"/>
          </a:xfrm>
          <a:prstGeom prst="roundRect">
            <a:avLst>
              <a:gd name="adj" fmla="val 2449"/>
            </a:avLst>
          </a:prstGeom>
          <a:solidFill>
            <a:srgbClr val="FAFBF7"/>
          </a:solidFill>
          <a:ln w="19050">
            <a:solidFill>
              <a:srgbClr val="97BC62"/>
            </a:solidFill>
            <a:prstDash val="dash"/>
          </a:ln>
        </p:spPr>
      </p:sp>
      <p:pic>
        <p:nvPicPr>
          <p:cNvPr id="18" name="Image 2" descr="preencoded.png">    </p:cNvPr>
          <p:cNvPicPr>
            <a:picLocks noChangeAspect="1"/>
          </p:cNvPicPr>
          <p:nvPr/>
        </p:nvPicPr>
        <p:blipFill>
          <a:blip r:embed="rId3"/>
          <a:stretch>
            <a:fillRect/>
          </a:stretch>
        </p:blipFill>
        <p:spPr>
          <a:xfrm>
            <a:off x="2628900" y="3429000"/>
            <a:ext cx="640080" cy="640080"/>
          </a:xfrm>
          <a:prstGeom prst="rect">
            <a:avLst/>
          </a:prstGeom>
        </p:spPr>
      </p:pic>
      <p:sp>
        <p:nvSpPr>
          <p:cNvPr id="19" name="Text 14"/>
          <p:cNvSpPr/>
          <p:nvPr/>
        </p:nvSpPr>
        <p:spPr>
          <a:xfrm>
            <a:off x="777240" y="4114800"/>
            <a:ext cx="4343400" cy="731520"/>
          </a:xfrm>
          <a:prstGeom prst="rect">
            <a:avLst/>
          </a:prstGeom>
          <a:noFill/>
          <a:ln/>
        </p:spPr>
        <p:txBody>
          <a:bodyPr wrap="square" lIns="0" tIns="0" rIns="0" bIns="0" rtlCol="0" anchor="ctr"/>
          <a:lstStyle/>
          <a:p>
            <a:pPr rtl="1" algn="ctr" indent="0" marL="0">
              <a:buNone/>
            </a:pPr>
            <a:r>
              <a:rPr lang="en-US" sz="1150" dirty="0">
                <a:solidFill>
                  <a:srgbClr val="5F6E53"/>
                </a:solidFill>
                <a:latin typeface="Arial" pitchFamily="34" charset="0"/>
                <a:ea typeface="Arial" pitchFamily="34" charset="-122"/>
                <a:cs typeface="Arial" pitchFamily="34" charset="-120"/>
              </a:rPr>
              <a:t>כאן צילום שלכם: העץ בסביבתו</a:t>
            </a:r>
            <a:endParaRPr lang="en-US" sz="1150" dirty="0"/>
          </a:p>
          <a:p>
            <a:pPr rtl="1" algn="ctr" indent="0" marL="0">
              <a:buNone/>
            </a:pPr>
            <a:r>
              <a:rPr lang="en-US" sz="1150" dirty="0">
                <a:solidFill>
                  <a:srgbClr val="5F6E53"/>
                </a:solidFill>
                <a:latin typeface="Arial" pitchFamily="34" charset="0"/>
                <a:ea typeface="Arial" pitchFamily="34" charset="-122"/>
                <a:cs typeface="Arial" pitchFamily="34" charset="-120"/>
              </a:rPr>
              <a:t>(חורש, יער נטוע או שכונה)</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2F6B5C"/>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הראשון · חשוף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2F6B5C"/>
                </a:solidFill>
                <a:latin typeface="Arial" pitchFamily="34" charset="0"/>
                <a:ea typeface="Arial" pitchFamily="34" charset="-122"/>
                <a:cs typeface="Arial" pitchFamily="34" charset="-120"/>
              </a:rPr>
              <a:t>אורן ירושלים: האבקה והפצת זרעים ברוח</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סעיפים ה + ו</a:t>
            </a:r>
            <a:endParaRPr lang="en-US" sz="1100" dirty="0"/>
          </a:p>
        </p:txBody>
      </p:sp>
      <p:sp>
        <p:nvSpPr>
          <p:cNvPr id="7" name="Shape 5"/>
          <p:cNvSpPr/>
          <p:nvPr/>
        </p:nvSpPr>
        <p:spPr>
          <a:xfrm>
            <a:off x="6300216" y="1737360"/>
            <a:ext cx="5294376" cy="3886200"/>
          </a:xfrm>
          <a:prstGeom prst="roundRect">
            <a:avLst>
              <a:gd name="adj" fmla="val 2824"/>
            </a:avLst>
          </a:prstGeom>
          <a:solidFill>
            <a:srgbClr val="F0F4EA"/>
          </a:solidFill>
          <a:ln/>
        </p:spPr>
      </p:sp>
      <p:sp>
        <p:nvSpPr>
          <p:cNvPr id="8" name="Shape 6"/>
          <p:cNvSpPr/>
          <p:nvPr/>
        </p:nvSpPr>
        <p:spPr>
          <a:xfrm>
            <a:off x="10680192" y="1938528"/>
            <a:ext cx="658368" cy="65836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0851368" y="2109704"/>
            <a:ext cx="316017" cy="316017"/>
          </a:xfrm>
          <a:prstGeom prst="rect">
            <a:avLst/>
          </a:prstGeom>
        </p:spPr>
      </p:pic>
      <p:sp>
        <p:nvSpPr>
          <p:cNvPr id="10" name="Text 7"/>
          <p:cNvSpPr/>
          <p:nvPr/>
        </p:nvSpPr>
        <p:spPr>
          <a:xfrm>
            <a:off x="6620256" y="1993392"/>
            <a:ext cx="3922776"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צורת האבקה (ה): רוח</a:t>
            </a:r>
            <a:endParaRPr lang="en-US" sz="1600" dirty="0"/>
          </a:p>
        </p:txBody>
      </p:sp>
      <p:sp>
        <p:nvSpPr>
          <p:cNvPr id="11" name="Text 8"/>
          <p:cNvSpPr/>
          <p:nvPr/>
        </p:nvSpPr>
        <p:spPr>
          <a:xfrm>
            <a:off x="6620256" y="2514600"/>
            <a:ext cx="4654296" cy="29260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האבקת רוח, בלי מאביקים בעלי חיים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באביב האצטרובלים הזכריים משחררים כמויות עצומות של אבקה צהובה</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גרגר אבקה שנוחת על אצטרובל נקבי מפרה את הביצית החשופה</a:t>
            </a:r>
            <a:endParaRPr lang="en-US" sz="1450" dirty="0"/>
          </a:p>
        </p:txBody>
      </p:sp>
      <p:sp>
        <p:nvSpPr>
          <p:cNvPr id="12" name="Shape 9"/>
          <p:cNvSpPr/>
          <p:nvPr/>
        </p:nvSpPr>
        <p:spPr>
          <a:xfrm>
            <a:off x="594360" y="1737360"/>
            <a:ext cx="5294376" cy="3886200"/>
          </a:xfrm>
          <a:prstGeom prst="roundRect">
            <a:avLst>
              <a:gd name="adj" fmla="val 2824"/>
            </a:avLst>
          </a:prstGeom>
          <a:solidFill>
            <a:srgbClr val="E8F1ED"/>
          </a:solidFill>
          <a:ln/>
        </p:spPr>
      </p:sp>
      <p:sp>
        <p:nvSpPr>
          <p:cNvPr id="13" name="Shape 10"/>
          <p:cNvSpPr/>
          <p:nvPr/>
        </p:nvSpPr>
        <p:spPr>
          <a:xfrm>
            <a:off x="4974336" y="1938528"/>
            <a:ext cx="658368" cy="658368"/>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5145512" y="2109704"/>
            <a:ext cx="316017" cy="316017"/>
          </a:xfrm>
          <a:prstGeom prst="rect">
            <a:avLst/>
          </a:prstGeom>
        </p:spPr>
      </p:pic>
      <p:sp>
        <p:nvSpPr>
          <p:cNvPr id="15" name="Text 11"/>
          <p:cNvSpPr/>
          <p:nvPr/>
        </p:nvSpPr>
        <p:spPr>
          <a:xfrm>
            <a:off x="914400" y="1993392"/>
            <a:ext cx="3922776" cy="411480"/>
          </a:xfrm>
          <a:prstGeom prst="rect">
            <a:avLst/>
          </a:prstGeom>
          <a:noFill/>
          <a:ln/>
        </p:spPr>
        <p:txBody>
          <a:bodyPr wrap="square" lIns="0" tIns="0" rIns="0" bIns="0" rtlCol="0" anchor="ctr"/>
          <a:lstStyle/>
          <a:p>
            <a:pPr rtl="1" algn="r" indent="0" marL="0">
              <a:buNone/>
            </a:pPr>
            <a:r>
              <a:rPr lang="en-US" sz="1600" b="1" dirty="0">
                <a:solidFill>
                  <a:srgbClr val="2F6B5C"/>
                </a:solidFill>
                <a:latin typeface="Arial" pitchFamily="34" charset="0"/>
                <a:ea typeface="Arial" pitchFamily="34" charset="-122"/>
                <a:cs typeface="Arial" pitchFamily="34" charset="-120"/>
              </a:rPr>
              <a:t>הפצת זרעים (ו): רוח ואש</a:t>
            </a:r>
            <a:endParaRPr lang="en-US" sz="1600" dirty="0"/>
          </a:p>
        </p:txBody>
      </p:sp>
      <p:sp>
        <p:nvSpPr>
          <p:cNvPr id="16" name="Text 12"/>
          <p:cNvSpPr/>
          <p:nvPr/>
        </p:nvSpPr>
        <p:spPr>
          <a:xfrm>
            <a:off x="914400" y="2514600"/>
            <a:ext cx="4654296" cy="29260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לכל זרע כנפית דקה, והרוח נושאת אותו הרחק מעץ האם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האצטרובל מבשיל כשנתיים ונפתח בימים חמים ויבשים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חלק מהאצטרובלים נשארים סגורים שנים ונפתחים אחרי שריפה: כך היער מתחדש על קרקע פנויה</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8A5A2B"/>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השני · מכוסה זרע</a:t>
            </a:r>
            <a:endParaRPr lang="en-US" sz="1250" dirty="0"/>
          </a:p>
        </p:txBody>
      </p:sp>
      <p:sp>
        <p:nvSpPr>
          <p:cNvPr id="4" name="Text 2"/>
          <p:cNvSpPr/>
          <p:nvPr/>
        </p:nvSpPr>
        <p:spPr>
          <a:xfrm>
            <a:off x="548640" y="914400"/>
            <a:ext cx="11045952" cy="594360"/>
          </a:xfrm>
          <a:prstGeom prst="rect">
            <a:avLst/>
          </a:prstGeom>
          <a:noFill/>
          <a:ln/>
        </p:spPr>
        <p:txBody>
          <a:bodyPr wrap="square" lIns="0" tIns="0" rIns="0" bIns="0" rtlCol="0" anchor="ctr"/>
          <a:lstStyle/>
          <a:p>
            <a:pPr algn="r" indent="0" marL="0">
              <a:buNone/>
            </a:pPr>
            <a:r>
              <a:rPr lang="en-US" sz="3000" b="1" dirty="0">
                <a:solidFill>
                  <a:srgbClr val="8A5A2B"/>
                </a:solidFill>
                <a:latin typeface="Arial" pitchFamily="34" charset="0"/>
                <a:ea typeface="Arial" pitchFamily="34" charset="-122"/>
                <a:cs typeface="Arial" pitchFamily="34" charset="-120"/>
              </a:rPr>
              <a:t>חרוב מצוי </a:t>
            </a:r>
            <a:pPr algn="r" indent="0" marL="0">
              <a:buNone/>
            </a:pPr>
            <a:r>
              <a:rPr lang="en-US" sz="3000" b="1" i="1" dirty="0">
                <a:solidFill>
                  <a:srgbClr val="5F6E53"/>
                </a:solidFill>
                <a:latin typeface="Times New Roman" pitchFamily="34" charset="0"/>
                <a:ea typeface="Times New Roman" pitchFamily="34" charset="-122"/>
                <a:cs typeface="Times New Roman" pitchFamily="34" charset="-120"/>
              </a:rPr>
              <a:t>(Ceratonia siliqua)</a:t>
            </a:r>
            <a:endParaRPr lang="en-US" sz="30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סעיף א: מיון סיסטמתי</a:t>
            </a:r>
            <a:endParaRPr lang="en-US" sz="1100" dirty="0"/>
          </a:p>
        </p:txBody>
      </p:sp>
      <p:sp>
        <p:nvSpPr>
          <p:cNvPr id="7" name="Shape 5"/>
          <p:cNvSpPr/>
          <p:nvPr/>
        </p:nvSpPr>
        <p:spPr>
          <a:xfrm>
            <a:off x="5559552" y="1783080"/>
            <a:ext cx="6035040" cy="786384"/>
          </a:xfrm>
          <a:prstGeom prst="roundRect">
            <a:avLst>
              <a:gd name="adj" fmla="val 13953"/>
            </a:avLst>
          </a:prstGeom>
          <a:solidFill>
            <a:srgbClr val="F0F4EA"/>
          </a:solidFill>
          <a:ln/>
        </p:spPr>
      </p:sp>
      <p:sp>
        <p:nvSpPr>
          <p:cNvPr id="8" name="Text 6"/>
          <p:cNvSpPr/>
          <p:nvPr/>
        </p:nvSpPr>
        <p:spPr>
          <a:xfrm>
            <a:off x="9994392" y="1783080"/>
            <a:ext cx="1417320" cy="786384"/>
          </a:xfrm>
          <a:prstGeom prst="rect">
            <a:avLst/>
          </a:prstGeom>
          <a:noFill/>
          <a:ln/>
        </p:spPr>
        <p:txBody>
          <a:bodyPr wrap="square" lIns="0" tIns="0" rIns="0" bIns="0" rtlCol="0" anchor="ctr"/>
          <a:lstStyle/>
          <a:p>
            <a:pPr rtl="1" algn="r" indent="0" marL="0">
              <a:buNone/>
            </a:pPr>
            <a:r>
              <a:rPr lang="en-US" sz="1400" b="1" dirty="0">
                <a:solidFill>
                  <a:srgbClr val="8A5A2B"/>
                </a:solidFill>
                <a:latin typeface="Arial" pitchFamily="34" charset="0"/>
                <a:ea typeface="Arial" pitchFamily="34" charset="-122"/>
                <a:cs typeface="Arial" pitchFamily="34" charset="-120"/>
              </a:rPr>
              <a:t>ממלכה</a:t>
            </a:r>
            <a:endParaRPr lang="en-US" sz="1400" dirty="0"/>
          </a:p>
        </p:txBody>
      </p:sp>
      <p:sp>
        <p:nvSpPr>
          <p:cNvPr id="9" name="Text 7"/>
          <p:cNvSpPr/>
          <p:nvPr/>
        </p:nvSpPr>
        <p:spPr>
          <a:xfrm>
            <a:off x="5788152" y="17830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הצמחים</a:t>
            </a:r>
            <a:endParaRPr lang="en-US" sz="1350" dirty="0"/>
          </a:p>
        </p:txBody>
      </p:sp>
      <p:sp>
        <p:nvSpPr>
          <p:cNvPr id="10" name="Shape 8"/>
          <p:cNvSpPr/>
          <p:nvPr/>
        </p:nvSpPr>
        <p:spPr>
          <a:xfrm>
            <a:off x="5559552" y="2697480"/>
            <a:ext cx="6035040" cy="786384"/>
          </a:xfrm>
          <a:prstGeom prst="roundRect">
            <a:avLst>
              <a:gd name="adj" fmla="val 13953"/>
            </a:avLst>
          </a:prstGeom>
          <a:solidFill>
            <a:srgbClr val="F0F4EA"/>
          </a:solidFill>
          <a:ln/>
        </p:spPr>
      </p:sp>
      <p:sp>
        <p:nvSpPr>
          <p:cNvPr id="11" name="Text 9"/>
          <p:cNvSpPr/>
          <p:nvPr/>
        </p:nvSpPr>
        <p:spPr>
          <a:xfrm>
            <a:off x="9994392" y="2697480"/>
            <a:ext cx="1417320" cy="786384"/>
          </a:xfrm>
          <a:prstGeom prst="rect">
            <a:avLst/>
          </a:prstGeom>
          <a:noFill/>
          <a:ln/>
        </p:spPr>
        <p:txBody>
          <a:bodyPr wrap="square" lIns="0" tIns="0" rIns="0" bIns="0" rtlCol="0" anchor="ctr"/>
          <a:lstStyle/>
          <a:p>
            <a:pPr rtl="1" algn="r" indent="0" marL="0">
              <a:buNone/>
            </a:pPr>
            <a:r>
              <a:rPr lang="en-US" sz="1400" b="1" dirty="0">
                <a:solidFill>
                  <a:srgbClr val="8A5A2B"/>
                </a:solidFill>
                <a:latin typeface="Arial" pitchFamily="34" charset="0"/>
                <a:ea typeface="Arial" pitchFamily="34" charset="-122"/>
                <a:cs typeface="Arial" pitchFamily="34" charset="-120"/>
              </a:rPr>
              <a:t>קבוצה</a:t>
            </a:r>
            <a:endParaRPr lang="en-US" sz="1400" dirty="0"/>
          </a:p>
        </p:txBody>
      </p:sp>
      <p:sp>
        <p:nvSpPr>
          <p:cNvPr id="12" name="Text 10"/>
          <p:cNvSpPr/>
          <p:nvPr/>
        </p:nvSpPr>
        <p:spPr>
          <a:xfrm>
            <a:off x="5788152" y="26974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צמחים בעלי זרעים: מכוסי זרע, דו-פסיגיים</a:t>
            </a:r>
            <a:endParaRPr lang="en-US" sz="1350" dirty="0"/>
          </a:p>
        </p:txBody>
      </p:sp>
      <p:sp>
        <p:nvSpPr>
          <p:cNvPr id="13" name="Shape 11"/>
          <p:cNvSpPr/>
          <p:nvPr/>
        </p:nvSpPr>
        <p:spPr>
          <a:xfrm>
            <a:off x="5559552" y="3611880"/>
            <a:ext cx="6035040" cy="786384"/>
          </a:xfrm>
          <a:prstGeom prst="roundRect">
            <a:avLst>
              <a:gd name="adj" fmla="val 13953"/>
            </a:avLst>
          </a:prstGeom>
          <a:solidFill>
            <a:srgbClr val="F0F4EA"/>
          </a:solidFill>
          <a:ln/>
        </p:spPr>
      </p:sp>
      <p:sp>
        <p:nvSpPr>
          <p:cNvPr id="14" name="Text 12"/>
          <p:cNvSpPr/>
          <p:nvPr/>
        </p:nvSpPr>
        <p:spPr>
          <a:xfrm>
            <a:off x="9994392" y="3611880"/>
            <a:ext cx="1417320" cy="786384"/>
          </a:xfrm>
          <a:prstGeom prst="rect">
            <a:avLst/>
          </a:prstGeom>
          <a:noFill/>
          <a:ln/>
        </p:spPr>
        <p:txBody>
          <a:bodyPr wrap="square" lIns="0" tIns="0" rIns="0" bIns="0" rtlCol="0" anchor="ctr"/>
          <a:lstStyle/>
          <a:p>
            <a:pPr rtl="1" algn="r" indent="0" marL="0">
              <a:buNone/>
            </a:pPr>
            <a:r>
              <a:rPr lang="en-US" sz="1400" b="1" dirty="0">
                <a:solidFill>
                  <a:srgbClr val="8A5A2B"/>
                </a:solidFill>
                <a:latin typeface="Arial" pitchFamily="34" charset="0"/>
                <a:ea typeface="Arial" pitchFamily="34" charset="-122"/>
                <a:cs typeface="Arial" pitchFamily="34" charset="-120"/>
              </a:rPr>
              <a:t>משפחה</a:t>
            </a:r>
            <a:endParaRPr lang="en-US" sz="1400" dirty="0"/>
          </a:p>
        </p:txBody>
      </p:sp>
      <p:sp>
        <p:nvSpPr>
          <p:cNvPr id="15" name="Text 13"/>
          <p:cNvSpPr/>
          <p:nvPr/>
        </p:nvSpPr>
        <p:spPr>
          <a:xfrm>
            <a:off x="5788152" y="36118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קטניות (Fabaceae)</a:t>
            </a:r>
            <a:endParaRPr lang="en-US" sz="1350" dirty="0"/>
          </a:p>
        </p:txBody>
      </p:sp>
      <p:sp>
        <p:nvSpPr>
          <p:cNvPr id="16" name="Shape 14"/>
          <p:cNvSpPr/>
          <p:nvPr/>
        </p:nvSpPr>
        <p:spPr>
          <a:xfrm>
            <a:off x="5559552" y="4526280"/>
            <a:ext cx="6035040" cy="786384"/>
          </a:xfrm>
          <a:prstGeom prst="roundRect">
            <a:avLst>
              <a:gd name="adj" fmla="val 13953"/>
            </a:avLst>
          </a:prstGeom>
          <a:solidFill>
            <a:srgbClr val="F0F4EA"/>
          </a:solidFill>
          <a:ln/>
        </p:spPr>
      </p:sp>
      <p:sp>
        <p:nvSpPr>
          <p:cNvPr id="17" name="Text 15"/>
          <p:cNvSpPr/>
          <p:nvPr/>
        </p:nvSpPr>
        <p:spPr>
          <a:xfrm>
            <a:off x="9994392" y="4526280"/>
            <a:ext cx="1417320" cy="786384"/>
          </a:xfrm>
          <a:prstGeom prst="rect">
            <a:avLst/>
          </a:prstGeom>
          <a:noFill/>
          <a:ln/>
        </p:spPr>
        <p:txBody>
          <a:bodyPr wrap="square" lIns="0" tIns="0" rIns="0" bIns="0" rtlCol="0" anchor="ctr"/>
          <a:lstStyle/>
          <a:p>
            <a:pPr rtl="1" algn="r" indent="0" marL="0">
              <a:buNone/>
            </a:pPr>
            <a:r>
              <a:rPr lang="en-US" sz="1400" b="1" dirty="0">
                <a:solidFill>
                  <a:srgbClr val="8A5A2B"/>
                </a:solidFill>
                <a:latin typeface="Arial" pitchFamily="34" charset="0"/>
                <a:ea typeface="Arial" pitchFamily="34" charset="-122"/>
                <a:cs typeface="Arial" pitchFamily="34" charset="-120"/>
              </a:rPr>
              <a:t>סוג</a:t>
            </a:r>
            <a:endParaRPr lang="en-US" sz="1400" dirty="0"/>
          </a:p>
        </p:txBody>
      </p:sp>
      <p:sp>
        <p:nvSpPr>
          <p:cNvPr id="18" name="Text 16"/>
          <p:cNvSpPr/>
          <p:nvPr/>
        </p:nvSpPr>
        <p:spPr>
          <a:xfrm>
            <a:off x="5788152" y="45262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חרוב (Ceratonia)</a:t>
            </a:r>
            <a:endParaRPr lang="en-US" sz="1350" dirty="0"/>
          </a:p>
        </p:txBody>
      </p:sp>
      <p:sp>
        <p:nvSpPr>
          <p:cNvPr id="19" name="Shape 17"/>
          <p:cNvSpPr/>
          <p:nvPr/>
        </p:nvSpPr>
        <p:spPr>
          <a:xfrm>
            <a:off x="5559552" y="5440680"/>
            <a:ext cx="6035040" cy="786384"/>
          </a:xfrm>
          <a:prstGeom prst="roundRect">
            <a:avLst>
              <a:gd name="adj" fmla="val 13953"/>
            </a:avLst>
          </a:prstGeom>
          <a:solidFill>
            <a:srgbClr val="F5EDE1"/>
          </a:solidFill>
          <a:ln/>
        </p:spPr>
      </p:sp>
      <p:sp>
        <p:nvSpPr>
          <p:cNvPr id="20" name="Text 18"/>
          <p:cNvSpPr/>
          <p:nvPr/>
        </p:nvSpPr>
        <p:spPr>
          <a:xfrm>
            <a:off x="9994392" y="5440680"/>
            <a:ext cx="1417320" cy="786384"/>
          </a:xfrm>
          <a:prstGeom prst="rect">
            <a:avLst/>
          </a:prstGeom>
          <a:noFill/>
          <a:ln/>
        </p:spPr>
        <p:txBody>
          <a:bodyPr wrap="square" lIns="0" tIns="0" rIns="0" bIns="0" rtlCol="0" anchor="ctr"/>
          <a:lstStyle/>
          <a:p>
            <a:pPr rtl="1" algn="r" indent="0" marL="0">
              <a:buNone/>
            </a:pPr>
            <a:r>
              <a:rPr lang="en-US" sz="1400" b="1" dirty="0">
                <a:solidFill>
                  <a:srgbClr val="8A5A2B"/>
                </a:solidFill>
                <a:latin typeface="Arial" pitchFamily="34" charset="0"/>
                <a:ea typeface="Arial" pitchFamily="34" charset="-122"/>
                <a:cs typeface="Arial" pitchFamily="34" charset="-120"/>
              </a:rPr>
              <a:t>מין</a:t>
            </a:r>
            <a:endParaRPr lang="en-US" sz="1400" dirty="0"/>
          </a:p>
        </p:txBody>
      </p:sp>
      <p:sp>
        <p:nvSpPr>
          <p:cNvPr id="21" name="Text 19"/>
          <p:cNvSpPr/>
          <p:nvPr/>
        </p:nvSpPr>
        <p:spPr>
          <a:xfrm>
            <a:off x="5788152" y="5440680"/>
            <a:ext cx="4114800" cy="786384"/>
          </a:xfrm>
          <a:prstGeom prst="rect">
            <a:avLst/>
          </a:prstGeom>
          <a:noFill/>
          <a:ln/>
        </p:spPr>
        <p:txBody>
          <a:bodyPr wrap="square" lIns="0" tIns="0" rIns="0" bIns="0" rtlCol="0" anchor="ctr"/>
          <a:lstStyle/>
          <a:p>
            <a:pPr rtl="1" algn="r" indent="0" marL="0">
              <a:buNone/>
            </a:pPr>
            <a:r>
              <a:rPr lang="en-US" sz="1350" dirty="0">
                <a:solidFill>
                  <a:srgbClr val="26331F"/>
                </a:solidFill>
                <a:latin typeface="Arial" pitchFamily="34" charset="0"/>
                <a:ea typeface="Arial" pitchFamily="34" charset="-122"/>
                <a:cs typeface="Arial" pitchFamily="34" charset="-120"/>
              </a:rPr>
              <a:t>חרוב מצוי (Ceratonia siliqua)</a:t>
            </a:r>
            <a:endParaRPr lang="en-US" sz="1350" dirty="0"/>
          </a:p>
        </p:txBody>
      </p:sp>
      <p:sp>
        <p:nvSpPr>
          <p:cNvPr id="22" name="Shape 20"/>
          <p:cNvSpPr/>
          <p:nvPr/>
        </p:nvSpPr>
        <p:spPr>
          <a:xfrm>
            <a:off x="594360" y="1783080"/>
            <a:ext cx="4892040" cy="4434840"/>
          </a:xfrm>
          <a:prstGeom prst="roundRect">
            <a:avLst>
              <a:gd name="adj" fmla="val 2474"/>
            </a:avLst>
          </a:prstGeom>
          <a:solidFill>
            <a:srgbClr val="FAFBF7"/>
          </a:solidFill>
          <a:ln w="19050">
            <a:solidFill>
              <a:srgbClr val="97BC62"/>
            </a:solidFill>
            <a:prstDash val="dash"/>
          </a:ln>
        </p:spPr>
      </p:sp>
      <p:pic>
        <p:nvPicPr>
          <p:cNvPr id="23" name="Image 0" descr="preencoded.png">    </p:cNvPr>
          <p:cNvPicPr>
            <a:picLocks noChangeAspect="1"/>
          </p:cNvPicPr>
          <p:nvPr/>
        </p:nvPicPr>
        <p:blipFill>
          <a:blip r:embed="rId1"/>
          <a:stretch>
            <a:fillRect/>
          </a:stretch>
        </p:blipFill>
        <p:spPr>
          <a:xfrm>
            <a:off x="2720340" y="3451860"/>
            <a:ext cx="640080" cy="640080"/>
          </a:xfrm>
          <a:prstGeom prst="rect">
            <a:avLst/>
          </a:prstGeom>
        </p:spPr>
      </p:pic>
      <p:sp>
        <p:nvSpPr>
          <p:cNvPr id="24" name="Text 21"/>
          <p:cNvSpPr/>
          <p:nvPr/>
        </p:nvSpPr>
        <p:spPr>
          <a:xfrm>
            <a:off x="777240" y="4137660"/>
            <a:ext cx="4526280" cy="731520"/>
          </a:xfrm>
          <a:prstGeom prst="rect">
            <a:avLst/>
          </a:prstGeom>
          <a:noFill/>
          <a:ln/>
        </p:spPr>
        <p:txBody>
          <a:bodyPr wrap="square" lIns="0" tIns="0" rIns="0" bIns="0" rtlCol="0" anchor="ctr"/>
          <a:lstStyle/>
          <a:p>
            <a:pPr rtl="1" algn="ctr" indent="0" marL="0">
              <a:buNone/>
            </a:pPr>
            <a:r>
              <a:rPr lang="en-US" sz="1150" dirty="0">
                <a:solidFill>
                  <a:srgbClr val="5F6E53"/>
                </a:solidFill>
                <a:latin typeface="Arial" pitchFamily="34" charset="0"/>
                <a:ea typeface="Arial" pitchFamily="34" charset="-122"/>
                <a:cs typeface="Arial" pitchFamily="34" charset="-120"/>
              </a:rPr>
              <a:t>כאן תמונה או צילום וידאו שלכם ליד העץ:</a:t>
            </a:r>
            <a:endParaRPr lang="en-US" sz="1150" dirty="0"/>
          </a:p>
          <a:p>
            <a:pPr rtl="1" algn="ctr" indent="0" marL="0">
              <a:buNone/>
            </a:pPr>
            <a:r>
              <a:rPr lang="en-US" sz="1150" dirty="0">
                <a:solidFill>
                  <a:srgbClr val="5F6E53"/>
                </a:solidFill>
                <a:latin typeface="Arial" pitchFamily="34" charset="0"/>
                <a:ea typeface="Arial" pitchFamily="34" charset="-122"/>
                <a:cs typeface="Arial" pitchFamily="34" charset="-120"/>
              </a:rPr>
              <a:t>מראה כללי של חרוב מצוי באזור המגורים</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8A5A2B"/>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השני · מכוסה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8A5A2B"/>
                </a:solidFill>
                <a:latin typeface="Arial" pitchFamily="34" charset="0"/>
                <a:ea typeface="Arial" pitchFamily="34" charset="-122"/>
                <a:cs typeface="Arial" pitchFamily="34" charset="-120"/>
              </a:rPr>
              <a:t>חרוב מצוי: למה מכוסה זרע, ואיזו צורת חיים</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סעיפים ב + ג</a:t>
            </a:r>
            <a:endParaRPr lang="en-US" sz="1100" dirty="0"/>
          </a:p>
        </p:txBody>
      </p:sp>
      <p:sp>
        <p:nvSpPr>
          <p:cNvPr id="7" name="Shape 5"/>
          <p:cNvSpPr/>
          <p:nvPr/>
        </p:nvSpPr>
        <p:spPr>
          <a:xfrm>
            <a:off x="6300216" y="1737360"/>
            <a:ext cx="5294376" cy="3886200"/>
          </a:xfrm>
          <a:prstGeom prst="roundRect">
            <a:avLst>
              <a:gd name="adj" fmla="val 2824"/>
            </a:avLst>
          </a:prstGeom>
          <a:solidFill>
            <a:srgbClr val="F5EDE1"/>
          </a:solidFill>
          <a:ln/>
        </p:spPr>
      </p:sp>
      <p:sp>
        <p:nvSpPr>
          <p:cNvPr id="8" name="Text 6"/>
          <p:cNvSpPr/>
          <p:nvPr/>
        </p:nvSpPr>
        <p:spPr>
          <a:xfrm>
            <a:off x="6620256" y="1965960"/>
            <a:ext cx="4654296" cy="411480"/>
          </a:xfrm>
          <a:prstGeom prst="rect">
            <a:avLst/>
          </a:prstGeom>
          <a:noFill/>
          <a:ln/>
        </p:spPr>
        <p:txBody>
          <a:bodyPr wrap="square" lIns="0" tIns="0" rIns="0" bIns="0" rtlCol="0" anchor="ctr"/>
          <a:lstStyle/>
          <a:p>
            <a:pPr rtl="1" algn="r" indent="0" marL="0">
              <a:buNone/>
            </a:pPr>
            <a:r>
              <a:rPr lang="en-US" sz="1600" b="1" dirty="0">
                <a:solidFill>
                  <a:srgbClr val="8A5A2B"/>
                </a:solidFill>
                <a:latin typeface="Arial" pitchFamily="34" charset="0"/>
                <a:ea typeface="Arial" pitchFamily="34" charset="-122"/>
                <a:cs typeface="Arial" pitchFamily="34" charset="-120"/>
              </a:rPr>
              <a:t>תכונות המשייכות למכוסי הזרע (ב)</a:t>
            </a:r>
            <a:endParaRPr lang="en-US" sz="1600" dirty="0"/>
          </a:p>
        </p:txBody>
      </p:sp>
      <p:sp>
        <p:nvSpPr>
          <p:cNvPr id="9" name="Text 7"/>
          <p:cNvSpPr/>
          <p:nvPr/>
        </p:nvSpPr>
        <p:spPr>
          <a:xfrm>
            <a:off x="6620256" y="2468880"/>
            <a:ext cx="4654296" cy="2971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מפתח פרחים: קטנים, ירקרקים-אדמדמים, בתפרחות צפופות היוצאות מענפים מעוצים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הזרעים מתפתחים בתוך פרי: תרמיל חום וארוך, האופייני למשפחת הקטניות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הפרי עוטף את הזרעים, מגן עליהם ומסייע בהפצתם</a:t>
            </a:r>
            <a:endParaRPr lang="en-US" sz="1450" dirty="0"/>
          </a:p>
        </p:txBody>
      </p:sp>
      <p:sp>
        <p:nvSpPr>
          <p:cNvPr id="10" name="Shape 8"/>
          <p:cNvSpPr/>
          <p:nvPr/>
        </p:nvSpPr>
        <p:spPr>
          <a:xfrm>
            <a:off x="594360" y="1737360"/>
            <a:ext cx="5294376" cy="3886200"/>
          </a:xfrm>
          <a:prstGeom prst="roundRect">
            <a:avLst>
              <a:gd name="adj" fmla="val 2824"/>
            </a:avLst>
          </a:prstGeom>
          <a:solidFill>
            <a:srgbClr val="F0F4EA"/>
          </a:solidFill>
          <a:ln/>
        </p:spPr>
      </p:sp>
      <p:sp>
        <p:nvSpPr>
          <p:cNvPr id="11" name="Text 9"/>
          <p:cNvSpPr/>
          <p:nvPr/>
        </p:nvSpPr>
        <p:spPr>
          <a:xfrm>
            <a:off x="914400" y="1965960"/>
            <a:ext cx="4654296"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צורת חיים (ג)</a:t>
            </a:r>
            <a:endParaRPr lang="en-US" sz="1600" dirty="0"/>
          </a:p>
        </p:txBody>
      </p:sp>
      <p:sp>
        <p:nvSpPr>
          <p:cNvPr id="12" name="Text 10"/>
          <p:cNvSpPr/>
          <p:nvPr/>
        </p:nvSpPr>
        <p:spPr>
          <a:xfrm>
            <a:off x="914400" y="2468880"/>
            <a:ext cx="4654296" cy="29718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עץ ירוק-עד רחב צמרת, בגובה 5 עד 10 מטרים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עלים מנוצים ובהם עלעלים עגולים, קשים ומבריקים: קוטיקולה עבה כהתאמה ליובש</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לרוב עץ דו-ביתי: עצי זכר ועצי נקבה נפרדים, ורק עצי הנקבה נושאים תרמילים</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8A5A2B"/>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השני · מכוסה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8A5A2B"/>
                </a:solidFill>
                <a:latin typeface="Arial" pitchFamily="34" charset="0"/>
                <a:ea typeface="Arial" pitchFamily="34" charset="-122"/>
                <a:cs typeface="Arial" pitchFamily="34" charset="-120"/>
              </a:rPr>
              <a:t>חרוב מצוי: תפוצה טבעית ונוכחית</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סעיף ד: תפוצה</a:t>
            </a:r>
            <a:endParaRPr lang="en-US" sz="1100" dirty="0"/>
          </a:p>
        </p:txBody>
      </p:sp>
      <p:sp>
        <p:nvSpPr>
          <p:cNvPr id="7" name="Shape 5"/>
          <p:cNvSpPr/>
          <p:nvPr/>
        </p:nvSpPr>
        <p:spPr>
          <a:xfrm>
            <a:off x="5559552" y="1737360"/>
            <a:ext cx="6035040" cy="2103120"/>
          </a:xfrm>
          <a:prstGeom prst="roundRect">
            <a:avLst>
              <a:gd name="adj" fmla="val 5217"/>
            </a:avLst>
          </a:prstGeom>
          <a:solidFill>
            <a:srgbClr val="F0F4EA"/>
          </a:solidFill>
          <a:ln/>
        </p:spPr>
      </p:sp>
      <p:sp>
        <p:nvSpPr>
          <p:cNvPr id="8" name="Shape 6"/>
          <p:cNvSpPr/>
          <p:nvPr/>
        </p:nvSpPr>
        <p:spPr>
          <a:xfrm>
            <a:off x="10680192" y="1920240"/>
            <a:ext cx="658368" cy="65836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0851368" y="2091416"/>
            <a:ext cx="316017" cy="316017"/>
          </a:xfrm>
          <a:prstGeom prst="rect">
            <a:avLst/>
          </a:prstGeom>
        </p:spPr>
      </p:pic>
      <p:sp>
        <p:nvSpPr>
          <p:cNvPr id="10" name="Text 7"/>
          <p:cNvSpPr/>
          <p:nvPr/>
        </p:nvSpPr>
        <p:spPr>
          <a:xfrm>
            <a:off x="5879592" y="1965960"/>
            <a:ext cx="4663440"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תפוצה טבעית</a:t>
            </a:r>
            <a:endParaRPr lang="en-US" sz="1600" dirty="0"/>
          </a:p>
        </p:txBody>
      </p:sp>
      <p:sp>
        <p:nvSpPr>
          <p:cNvPr id="11" name="Text 8"/>
          <p:cNvSpPr/>
          <p:nvPr/>
        </p:nvSpPr>
        <p:spPr>
          <a:xfrm>
            <a:off x="5879592" y="2423160"/>
            <a:ext cx="5394960" cy="128016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אגן הים התיכון, ובעיקר חלקו המזרחי</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בישראל: מרכיב בולט בחורש הים-תיכוני בשפלה, בהרים הנמוכים ובצפון הנגב</a:t>
            </a:r>
            <a:endParaRPr lang="en-US" sz="1450" dirty="0"/>
          </a:p>
        </p:txBody>
      </p:sp>
      <p:sp>
        <p:nvSpPr>
          <p:cNvPr id="12" name="Shape 9"/>
          <p:cNvSpPr/>
          <p:nvPr/>
        </p:nvSpPr>
        <p:spPr>
          <a:xfrm>
            <a:off x="5559552" y="4069080"/>
            <a:ext cx="6035040" cy="2103120"/>
          </a:xfrm>
          <a:prstGeom prst="roundRect">
            <a:avLst>
              <a:gd name="adj" fmla="val 5217"/>
            </a:avLst>
          </a:prstGeom>
          <a:solidFill>
            <a:srgbClr val="F5EDE1"/>
          </a:solidFill>
          <a:ln/>
        </p:spPr>
      </p:sp>
      <p:sp>
        <p:nvSpPr>
          <p:cNvPr id="13" name="Shape 10"/>
          <p:cNvSpPr/>
          <p:nvPr/>
        </p:nvSpPr>
        <p:spPr>
          <a:xfrm>
            <a:off x="10680192" y="4251960"/>
            <a:ext cx="658368" cy="658368"/>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10851368" y="4423136"/>
            <a:ext cx="316017" cy="316017"/>
          </a:xfrm>
          <a:prstGeom prst="rect">
            <a:avLst/>
          </a:prstGeom>
        </p:spPr>
      </p:pic>
      <p:sp>
        <p:nvSpPr>
          <p:cNvPr id="15" name="Text 11"/>
          <p:cNvSpPr/>
          <p:nvPr/>
        </p:nvSpPr>
        <p:spPr>
          <a:xfrm>
            <a:off x="5879592" y="4297680"/>
            <a:ext cx="4663440" cy="411480"/>
          </a:xfrm>
          <a:prstGeom prst="rect">
            <a:avLst/>
          </a:prstGeom>
          <a:noFill/>
          <a:ln/>
        </p:spPr>
        <p:txBody>
          <a:bodyPr wrap="square" lIns="0" tIns="0" rIns="0" bIns="0" rtlCol="0" anchor="ctr"/>
          <a:lstStyle/>
          <a:p>
            <a:pPr rtl="1" algn="r" indent="0" marL="0">
              <a:buNone/>
            </a:pPr>
            <a:r>
              <a:rPr lang="en-US" sz="1600" b="1" dirty="0">
                <a:solidFill>
                  <a:srgbClr val="8A5A2B"/>
                </a:solidFill>
                <a:latin typeface="Arial" pitchFamily="34" charset="0"/>
                <a:ea typeface="Arial" pitchFamily="34" charset="-122"/>
                <a:cs typeface="Arial" pitchFamily="34" charset="-120"/>
              </a:rPr>
              <a:t>תפוצה נוכחית: בעזרת האדם</a:t>
            </a:r>
            <a:endParaRPr lang="en-US" sz="1600" dirty="0"/>
          </a:p>
        </p:txBody>
      </p:sp>
      <p:sp>
        <p:nvSpPr>
          <p:cNvPr id="16" name="Text 12"/>
          <p:cNvSpPr/>
          <p:nvPr/>
        </p:nvSpPr>
        <p:spPr>
          <a:xfrm>
            <a:off x="5879592" y="4754880"/>
            <a:ext cx="5394960" cy="13258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מתורבת אלפי שנים סביב הים התיכון בזכות פירותיו המתוקים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ניטע רבות בישראל בחורשות, בשדרות רחוב ובגינון</a:t>
            </a:r>
            <a:endParaRPr lang="en-US" sz="1450" dirty="0"/>
          </a:p>
        </p:txBody>
      </p:sp>
      <p:sp>
        <p:nvSpPr>
          <p:cNvPr id="17" name="Shape 13"/>
          <p:cNvSpPr/>
          <p:nvPr/>
        </p:nvSpPr>
        <p:spPr>
          <a:xfrm>
            <a:off x="594360" y="1737360"/>
            <a:ext cx="4709160" cy="4480560"/>
          </a:xfrm>
          <a:prstGeom prst="roundRect">
            <a:avLst>
              <a:gd name="adj" fmla="val 2449"/>
            </a:avLst>
          </a:prstGeom>
          <a:solidFill>
            <a:srgbClr val="FAFBF7"/>
          </a:solidFill>
          <a:ln w="19050">
            <a:solidFill>
              <a:srgbClr val="97BC62"/>
            </a:solidFill>
            <a:prstDash val="dash"/>
          </a:ln>
        </p:spPr>
      </p:sp>
      <p:pic>
        <p:nvPicPr>
          <p:cNvPr id="18" name="Image 2" descr="preencoded.png">    </p:cNvPr>
          <p:cNvPicPr>
            <a:picLocks noChangeAspect="1"/>
          </p:cNvPicPr>
          <p:nvPr/>
        </p:nvPicPr>
        <p:blipFill>
          <a:blip r:embed="rId3"/>
          <a:stretch>
            <a:fillRect/>
          </a:stretch>
        </p:blipFill>
        <p:spPr>
          <a:xfrm>
            <a:off x="2628900" y="3429000"/>
            <a:ext cx="640080" cy="640080"/>
          </a:xfrm>
          <a:prstGeom prst="rect">
            <a:avLst/>
          </a:prstGeom>
        </p:spPr>
      </p:pic>
      <p:sp>
        <p:nvSpPr>
          <p:cNvPr id="19" name="Text 14"/>
          <p:cNvSpPr/>
          <p:nvPr/>
        </p:nvSpPr>
        <p:spPr>
          <a:xfrm>
            <a:off x="777240" y="4114800"/>
            <a:ext cx="4343400" cy="731520"/>
          </a:xfrm>
          <a:prstGeom prst="rect">
            <a:avLst/>
          </a:prstGeom>
          <a:noFill/>
          <a:ln/>
        </p:spPr>
        <p:txBody>
          <a:bodyPr wrap="square" lIns="0" tIns="0" rIns="0" bIns="0" rtlCol="0" anchor="ctr"/>
          <a:lstStyle/>
          <a:p>
            <a:pPr rtl="1" algn="ctr" indent="0" marL="0">
              <a:buNone/>
            </a:pPr>
            <a:r>
              <a:rPr lang="en-US" sz="1150" dirty="0">
                <a:solidFill>
                  <a:srgbClr val="5F6E53"/>
                </a:solidFill>
                <a:latin typeface="Arial" pitchFamily="34" charset="0"/>
                <a:ea typeface="Arial" pitchFamily="34" charset="-122"/>
                <a:cs typeface="Arial" pitchFamily="34" charset="-120"/>
              </a:rPr>
              <a:t>כאן צילום שלכם: העץ בסביבתו</a:t>
            </a:r>
            <a:endParaRPr lang="en-US" sz="1150" dirty="0"/>
          </a:p>
          <a:p>
            <a:pPr rtl="1" algn="ctr" indent="0" marL="0">
              <a:buNone/>
            </a:pPr>
            <a:r>
              <a:rPr lang="en-US" sz="1150" dirty="0">
                <a:solidFill>
                  <a:srgbClr val="5F6E53"/>
                </a:solidFill>
                <a:latin typeface="Arial" pitchFamily="34" charset="0"/>
                <a:ea typeface="Arial" pitchFamily="34" charset="-122"/>
                <a:cs typeface="Arial" pitchFamily="34" charset="-120"/>
              </a:rPr>
              <a:t>(חורש, שדרה או גינה ציבורית)</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17152" y="411480"/>
            <a:ext cx="2377440" cy="384048"/>
          </a:xfrm>
          <a:prstGeom prst="roundRect">
            <a:avLst>
              <a:gd name="adj" fmla="val 50000"/>
            </a:avLst>
          </a:prstGeom>
          <a:solidFill>
            <a:srgbClr val="8A5A2B"/>
          </a:solidFill>
          <a:ln/>
        </p:spPr>
      </p:sp>
      <p:sp>
        <p:nvSpPr>
          <p:cNvPr id="3" name="Text 1"/>
          <p:cNvSpPr/>
          <p:nvPr/>
        </p:nvSpPr>
        <p:spPr>
          <a:xfrm>
            <a:off x="9217152" y="411480"/>
            <a:ext cx="237744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העץ השני · מכוסה זרע</a:t>
            </a:r>
            <a:endParaRPr lang="en-US" sz="1250" dirty="0"/>
          </a:p>
        </p:txBody>
      </p:sp>
      <p:sp>
        <p:nvSpPr>
          <p:cNvPr id="4" name="Text 2"/>
          <p:cNvSpPr/>
          <p:nvPr/>
        </p:nvSpPr>
        <p:spPr>
          <a:xfrm>
            <a:off x="548640" y="914400"/>
            <a:ext cx="11045952" cy="548640"/>
          </a:xfrm>
          <a:prstGeom prst="rect">
            <a:avLst/>
          </a:prstGeom>
          <a:noFill/>
          <a:ln/>
        </p:spPr>
        <p:txBody>
          <a:bodyPr wrap="square" lIns="0" tIns="0" rIns="0" bIns="0" rtlCol="0" anchor="ctr"/>
          <a:lstStyle/>
          <a:p>
            <a:pPr rtl="1" algn="r" indent="0" marL="0">
              <a:buNone/>
            </a:pPr>
            <a:r>
              <a:rPr lang="en-US" sz="2600" b="1" dirty="0">
                <a:solidFill>
                  <a:srgbClr val="8A5A2B"/>
                </a:solidFill>
                <a:latin typeface="Arial" pitchFamily="34" charset="0"/>
                <a:ea typeface="Arial" pitchFamily="34" charset="-122"/>
                <a:cs typeface="Arial" pitchFamily="34" charset="-120"/>
              </a:rPr>
              <a:t>חרוב מצוי: האבקה בחרקים והפצה ביונקים</a:t>
            </a:r>
            <a:endParaRPr lang="en-US" sz="2600" dirty="0"/>
          </a:p>
        </p:txBody>
      </p:sp>
      <p:sp>
        <p:nvSpPr>
          <p:cNvPr id="5" name="Shape 3"/>
          <p:cNvSpPr/>
          <p:nvPr/>
        </p:nvSpPr>
        <p:spPr>
          <a:xfrm>
            <a:off x="594360" y="457200"/>
            <a:ext cx="2103120" cy="347472"/>
          </a:xfrm>
          <a:prstGeom prst="roundRect">
            <a:avLst>
              <a:gd name="adj" fmla="val 50000"/>
            </a:avLst>
          </a:prstGeom>
          <a:solidFill>
            <a:srgbClr val="97BC62"/>
          </a:solidFill>
          <a:ln/>
        </p:spPr>
      </p:sp>
      <p:sp>
        <p:nvSpPr>
          <p:cNvPr id="6" name="Text 4"/>
          <p:cNvSpPr/>
          <p:nvPr/>
        </p:nvSpPr>
        <p:spPr>
          <a:xfrm>
            <a:off x="594360" y="457200"/>
            <a:ext cx="2103120" cy="347472"/>
          </a:xfrm>
          <a:prstGeom prst="rect">
            <a:avLst/>
          </a:prstGeom>
          <a:noFill/>
          <a:ln/>
        </p:spPr>
        <p:txBody>
          <a:bodyPr wrap="square" lIns="0" tIns="0" rIns="0" bIns="0" rtlCol="0" anchor="ctr"/>
          <a:lstStyle/>
          <a:p>
            <a:pPr rtl="1" algn="ctr" indent="0" marL="0">
              <a:buNone/>
            </a:pPr>
            <a:r>
              <a:rPr lang="en-US" sz="1100" b="1" dirty="0">
                <a:solidFill>
                  <a:srgbClr val="26331F"/>
                </a:solidFill>
                <a:latin typeface="Arial" pitchFamily="34" charset="0"/>
                <a:ea typeface="Arial" pitchFamily="34" charset="-122"/>
                <a:cs typeface="Arial" pitchFamily="34" charset="-120"/>
              </a:rPr>
              <a:t>סעיפים ה + ו</a:t>
            </a:r>
            <a:endParaRPr lang="en-US" sz="1100" dirty="0"/>
          </a:p>
        </p:txBody>
      </p:sp>
      <p:sp>
        <p:nvSpPr>
          <p:cNvPr id="7" name="Shape 5"/>
          <p:cNvSpPr/>
          <p:nvPr/>
        </p:nvSpPr>
        <p:spPr>
          <a:xfrm>
            <a:off x="6300216" y="1737360"/>
            <a:ext cx="5294376" cy="3886200"/>
          </a:xfrm>
          <a:prstGeom prst="roundRect">
            <a:avLst>
              <a:gd name="adj" fmla="val 2824"/>
            </a:avLst>
          </a:prstGeom>
          <a:solidFill>
            <a:srgbClr val="F0F4EA"/>
          </a:solidFill>
          <a:ln/>
        </p:spPr>
      </p:sp>
      <p:sp>
        <p:nvSpPr>
          <p:cNvPr id="8" name="Shape 6"/>
          <p:cNvSpPr/>
          <p:nvPr/>
        </p:nvSpPr>
        <p:spPr>
          <a:xfrm>
            <a:off x="10680192" y="1938528"/>
            <a:ext cx="658368" cy="65836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0851368" y="2109704"/>
            <a:ext cx="316017" cy="316017"/>
          </a:xfrm>
          <a:prstGeom prst="rect">
            <a:avLst/>
          </a:prstGeom>
        </p:spPr>
      </p:pic>
      <p:sp>
        <p:nvSpPr>
          <p:cNvPr id="10" name="Text 7"/>
          <p:cNvSpPr/>
          <p:nvPr/>
        </p:nvSpPr>
        <p:spPr>
          <a:xfrm>
            <a:off x="6620256" y="1993392"/>
            <a:ext cx="3922776"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צורת האבקה (ה): בעיקר חרקים</a:t>
            </a:r>
            <a:endParaRPr lang="en-US" sz="1600" dirty="0"/>
          </a:p>
        </p:txBody>
      </p:sp>
      <p:sp>
        <p:nvSpPr>
          <p:cNvPr id="11" name="Text 8"/>
          <p:cNvSpPr/>
          <p:nvPr/>
        </p:nvSpPr>
        <p:spPr>
          <a:xfrm>
            <a:off x="6620256" y="2514600"/>
            <a:ext cx="4654296" cy="29260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פורח בסתיו, בניגוד לרוב עצי החורש</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התפרחות מדיפות ריח חזק המושך את המאביקים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המאביקים העיקריים: זבובים ודבורים, וייתכן שגם הרוח תורמת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המאביקים מעבירים אבקה מעצי הזכר לפרחי עצי הנקבה</a:t>
            </a:r>
            <a:endParaRPr lang="en-US" sz="1450" dirty="0"/>
          </a:p>
        </p:txBody>
      </p:sp>
      <p:sp>
        <p:nvSpPr>
          <p:cNvPr id="12" name="Shape 9"/>
          <p:cNvSpPr/>
          <p:nvPr/>
        </p:nvSpPr>
        <p:spPr>
          <a:xfrm>
            <a:off x="594360" y="1737360"/>
            <a:ext cx="5294376" cy="3886200"/>
          </a:xfrm>
          <a:prstGeom prst="roundRect">
            <a:avLst>
              <a:gd name="adj" fmla="val 2824"/>
            </a:avLst>
          </a:prstGeom>
          <a:solidFill>
            <a:srgbClr val="F5EDE1"/>
          </a:solidFill>
          <a:ln/>
        </p:spPr>
      </p:sp>
      <p:sp>
        <p:nvSpPr>
          <p:cNvPr id="13" name="Shape 10"/>
          <p:cNvSpPr/>
          <p:nvPr/>
        </p:nvSpPr>
        <p:spPr>
          <a:xfrm>
            <a:off x="4974336" y="1938528"/>
            <a:ext cx="658368" cy="658368"/>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5145512" y="2109704"/>
            <a:ext cx="316017" cy="316017"/>
          </a:xfrm>
          <a:prstGeom prst="rect">
            <a:avLst/>
          </a:prstGeom>
        </p:spPr>
      </p:pic>
      <p:sp>
        <p:nvSpPr>
          <p:cNvPr id="15" name="Text 11"/>
          <p:cNvSpPr/>
          <p:nvPr/>
        </p:nvSpPr>
        <p:spPr>
          <a:xfrm>
            <a:off x="914400" y="1993392"/>
            <a:ext cx="3922776" cy="411480"/>
          </a:xfrm>
          <a:prstGeom prst="rect">
            <a:avLst/>
          </a:prstGeom>
          <a:noFill/>
          <a:ln/>
        </p:spPr>
        <p:txBody>
          <a:bodyPr wrap="square" lIns="0" tIns="0" rIns="0" bIns="0" rtlCol="0" anchor="ctr"/>
          <a:lstStyle/>
          <a:p>
            <a:pPr rtl="1" algn="r" indent="0" marL="0">
              <a:buNone/>
            </a:pPr>
            <a:r>
              <a:rPr lang="en-US" sz="1600" b="1" dirty="0">
                <a:solidFill>
                  <a:srgbClr val="8A5A2B"/>
                </a:solidFill>
                <a:latin typeface="Arial" pitchFamily="34" charset="0"/>
                <a:ea typeface="Arial" pitchFamily="34" charset="-122"/>
                <a:cs typeface="Arial" pitchFamily="34" charset="-120"/>
              </a:rPr>
              <a:t>הפצת זרעים (ו): יונקים אוכלי פרי</a:t>
            </a:r>
            <a:endParaRPr lang="en-US" sz="1600" dirty="0"/>
          </a:p>
        </p:txBody>
      </p:sp>
      <p:sp>
        <p:nvSpPr>
          <p:cNvPr id="16" name="Text 12"/>
          <p:cNvSpPr/>
          <p:nvPr/>
        </p:nvSpPr>
        <p:spPr>
          <a:xfrm>
            <a:off x="914400" y="2514600"/>
            <a:ext cx="4654296" cy="292608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התרמיל הבשל מתוק ועשיר בסוכרים: פיתיון לבעלי חיים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שועלים, תנים, מכרסמים ובהמות בית אוכלים את התרמילים</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הזרעים הקשים שורדים את מערכת העיכול ומופרשים הרחק מעץ האם, מוכנים לנביטה</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54512" y="384048"/>
            <a:ext cx="685800" cy="685800"/>
          </a:xfrm>
          <a:prstGeom prst="ellipse">
            <a:avLst/>
          </a:prstGeom>
          <a:solidFill>
            <a:srgbClr val="F0F4EA"/>
          </a:solidFill>
          <a:ln/>
        </p:spPr>
      </p:sp>
      <p:pic>
        <p:nvPicPr>
          <p:cNvPr id="3" name="Image 0" descr="preencoded.png">    </p:cNvPr>
          <p:cNvPicPr>
            <a:picLocks noChangeAspect="1"/>
          </p:cNvPicPr>
          <p:nvPr/>
        </p:nvPicPr>
        <p:blipFill>
          <a:blip r:embed="rId1"/>
          <a:stretch>
            <a:fillRect/>
          </a:stretch>
        </p:blipFill>
        <p:spPr>
          <a:xfrm>
            <a:off x="11132820" y="562356"/>
            <a:ext cx="329184" cy="329184"/>
          </a:xfrm>
          <a:prstGeom prst="rect">
            <a:avLst/>
          </a:prstGeom>
        </p:spPr>
      </p:pic>
      <p:sp>
        <p:nvSpPr>
          <p:cNvPr id="4" name="Text 1"/>
          <p:cNvSpPr/>
          <p:nvPr/>
        </p:nvSpPr>
        <p:spPr>
          <a:xfrm>
            <a:off x="548640" y="347472"/>
            <a:ext cx="10222992" cy="566928"/>
          </a:xfrm>
          <a:prstGeom prst="rect">
            <a:avLst/>
          </a:prstGeom>
          <a:noFill/>
          <a:ln/>
        </p:spPr>
        <p:txBody>
          <a:bodyPr wrap="square" lIns="0" tIns="0" rIns="0" bIns="0" rtlCol="0" anchor="ctr"/>
          <a:lstStyle/>
          <a:p>
            <a:pPr rtl="1" algn="r" indent="0" marL="0">
              <a:buNone/>
            </a:pPr>
            <a:r>
              <a:rPr lang="en-US" sz="2800" b="1" dirty="0">
                <a:solidFill>
                  <a:srgbClr val="2C5F2D"/>
                </a:solidFill>
                <a:latin typeface="Arial" pitchFamily="34" charset="0"/>
                <a:ea typeface="Arial" pitchFamily="34" charset="-122"/>
                <a:cs typeface="Arial" pitchFamily="34" charset="-120"/>
              </a:rPr>
              <a:t>שני העצים זה מול זה</a:t>
            </a:r>
            <a:endParaRPr lang="en-US" sz="2800" dirty="0"/>
          </a:p>
        </p:txBody>
      </p:sp>
      <p:sp>
        <p:nvSpPr>
          <p:cNvPr id="5" name="Text 2"/>
          <p:cNvSpPr/>
          <p:nvPr/>
        </p:nvSpPr>
        <p:spPr>
          <a:xfrm>
            <a:off x="548640" y="932688"/>
            <a:ext cx="10222992" cy="365760"/>
          </a:xfrm>
          <a:prstGeom prst="rect">
            <a:avLst/>
          </a:prstGeom>
          <a:noFill/>
          <a:ln/>
        </p:spPr>
        <p:txBody>
          <a:bodyPr wrap="square" lIns="0" tIns="0" rIns="0" bIns="0" rtlCol="0" anchor="t"/>
          <a:lstStyle/>
          <a:p>
            <a:pPr rtl="1" algn="r" indent="0" marL="0">
              <a:buNone/>
            </a:pPr>
            <a:r>
              <a:rPr lang="en-US" sz="1400" dirty="0">
                <a:solidFill>
                  <a:srgbClr val="5F6E53"/>
                </a:solidFill>
                <a:latin typeface="Arial" pitchFamily="34" charset="0"/>
                <a:ea typeface="Arial" pitchFamily="34" charset="-122"/>
                <a:cs typeface="Arial" pitchFamily="34" charset="-120"/>
              </a:rPr>
              <a:t>אותן משימות, פתרונות הפוכים</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817352" cy="4480560"/>
        </p:xfrm>
        <a:graphic>
          <a:graphicData uri="http://schemas.openxmlformats.org/drawingml/2006/table">
            <a:tbl>
              <a:tblPr/>
              <a:tblGrid>
                <a:gridCol w="4206240"/>
                <a:gridCol w="4206240"/>
                <a:gridCol w="2404872"/>
              </a:tblGrid>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חרוב מצוי</a:t>
                      </a:r>
                      <a:endParaRPr lang="en-US" sz="140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A5A2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אורן ירושלים</a:t>
                      </a:r>
                      <a:endParaRPr lang="en-US" sz="140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F6B5C"/>
                    </a:solidFill>
                  </a:tcPr>
                </a:tc>
                <a:tc>
                  <a:txBody>
                    <a:bodyPr/>
                    <a:lstStyle/>
                    <a:p>
                      <a:pPr indent="0" marL="0">
                        <a:buNone/>
                      </a:pPr>
                      <a:endParaRPr lang="en-US" sz="1200" dirty="0"/>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C5F2D"/>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מכוסי זרע (קטניות)</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חשופי זרע (מחטניים)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קבוצה</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פרחים בתפרחות, זרעים בתוך תרמיל</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אצטרובלים, זרעים חשופים על קשקשים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איברי רבייה</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עלים מנוצים רחבים ומבריקים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עלים דמויי מחט</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עלים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בעיקר חרקים (זבובים ודבורים), בסתיו</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רוח, באביב</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האבקה</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יונקים אוכלי פרי</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רוח (זרע בעל כנפית), נפתח גם אחרי שריפה</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הפצת זרעים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r h="640080">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לרוב דו-ביתי: עצי זכר ועצי נקבה</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F8F2"/>
                    </a:solidFill>
                  </a:tcPr>
                </a:tc>
                <a:tc>
                  <a:txBody>
                    <a:bodyPr/>
                    <a:lstStyle/>
                    <a:p>
                      <a:pPr rtl="1" algn="r" indent="0" marL="0">
                        <a:buNone/>
                      </a:pPr>
                      <a:r>
                        <a:rPr lang="en-US" sz="1250" dirty="0">
                          <a:solidFill>
                            <a:srgbClr val="26331F"/>
                          </a:solidFill>
                          <a:latin typeface="Arial" pitchFamily="34" charset="0"/>
                          <a:ea typeface="Arial" pitchFamily="34" charset="-122"/>
                          <a:cs typeface="Arial" pitchFamily="34" charset="-120"/>
                        </a:rPr>
                        <a:t>אצטרובלים זכריים ונקביים על אותו עץ</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8F6"/>
                    </a:solidFill>
                  </a:tcPr>
                </a:tc>
                <a:tc>
                  <a:txBody>
                    <a:bodyPr/>
                    <a:lstStyle/>
                    <a:p>
                      <a:pPr rtl="1" algn="r" indent="0" marL="0">
                        <a:buNone/>
                      </a:pPr>
                      <a:r>
                        <a:rPr lang="en-US" sz="1250" b="1" dirty="0">
                          <a:solidFill>
                            <a:srgbClr val="2C5F2D"/>
                          </a:solidFill>
                          <a:latin typeface="Arial" pitchFamily="34" charset="0"/>
                          <a:ea typeface="Arial" pitchFamily="34" charset="-122"/>
                          <a:cs typeface="Arial" pitchFamily="34" charset="-120"/>
                        </a:rPr>
                        <a:t>חלוקה לזוויגים</a:t>
                      </a:r>
                      <a:endParaRPr lang="en-US" sz="1250" dirty="0">
                        <a:latin typeface="Arial" charset="0"/>
                        <a:ea typeface="Arial" charset="0"/>
                        <a:cs typeface="Arial" charset="0"/>
                      </a:endParaRPr>
                    </a:p>
                  </a:txBody>
                  <a:tcPr marL="109728" marR="109728"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E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54512" y="384048"/>
            <a:ext cx="685800" cy="685800"/>
          </a:xfrm>
          <a:prstGeom prst="ellipse">
            <a:avLst/>
          </a:prstGeom>
          <a:solidFill>
            <a:srgbClr val="F0F4EA"/>
          </a:solidFill>
          <a:ln/>
        </p:spPr>
      </p:sp>
      <p:pic>
        <p:nvPicPr>
          <p:cNvPr id="3" name="Image 0" descr="preencoded.png">    </p:cNvPr>
          <p:cNvPicPr>
            <a:picLocks noChangeAspect="1"/>
          </p:cNvPicPr>
          <p:nvPr/>
        </p:nvPicPr>
        <p:blipFill>
          <a:blip r:embed="rId1"/>
          <a:stretch>
            <a:fillRect/>
          </a:stretch>
        </p:blipFill>
        <p:spPr>
          <a:xfrm>
            <a:off x="11132820" y="562356"/>
            <a:ext cx="329184" cy="329184"/>
          </a:xfrm>
          <a:prstGeom prst="rect">
            <a:avLst/>
          </a:prstGeom>
        </p:spPr>
      </p:pic>
      <p:sp>
        <p:nvSpPr>
          <p:cNvPr id="4" name="Text 1"/>
          <p:cNvSpPr/>
          <p:nvPr/>
        </p:nvSpPr>
        <p:spPr>
          <a:xfrm>
            <a:off x="548640" y="347472"/>
            <a:ext cx="10222992" cy="566928"/>
          </a:xfrm>
          <a:prstGeom prst="rect">
            <a:avLst/>
          </a:prstGeom>
          <a:noFill/>
          <a:ln/>
        </p:spPr>
        <p:txBody>
          <a:bodyPr wrap="square" lIns="0" tIns="0" rIns="0" bIns="0" rtlCol="0" anchor="ctr"/>
          <a:lstStyle/>
          <a:p>
            <a:pPr rtl="1" algn="r" indent="0" marL="0">
              <a:buNone/>
            </a:pPr>
            <a:r>
              <a:rPr lang="en-US" sz="2800" b="1" dirty="0">
                <a:solidFill>
                  <a:srgbClr val="2C5F2D"/>
                </a:solidFill>
                <a:latin typeface="Arial" pitchFamily="34" charset="0"/>
                <a:ea typeface="Arial" pitchFamily="34" charset="-122"/>
                <a:cs typeface="Arial" pitchFamily="34" charset="-120"/>
              </a:rPr>
              <a:t>מעבר לנדרש: פנולוגיה וקשר לאדם</a:t>
            </a:r>
            <a:endParaRPr lang="en-US" sz="2800" dirty="0"/>
          </a:p>
        </p:txBody>
      </p:sp>
      <p:sp>
        <p:nvSpPr>
          <p:cNvPr id="5" name="Text 2"/>
          <p:cNvSpPr/>
          <p:nvPr/>
        </p:nvSpPr>
        <p:spPr>
          <a:xfrm>
            <a:off x="548640" y="932688"/>
            <a:ext cx="10222992" cy="365760"/>
          </a:xfrm>
          <a:prstGeom prst="rect">
            <a:avLst/>
          </a:prstGeom>
          <a:noFill/>
          <a:ln/>
        </p:spPr>
        <p:txBody>
          <a:bodyPr wrap="square" lIns="0" tIns="0" rIns="0" bIns="0" rtlCol="0" anchor="t"/>
          <a:lstStyle/>
          <a:p>
            <a:pPr rtl="1" algn="r" indent="0" marL="0">
              <a:buNone/>
            </a:pPr>
            <a:r>
              <a:rPr lang="en-US" sz="1400" dirty="0">
                <a:solidFill>
                  <a:srgbClr val="5F6E53"/>
                </a:solidFill>
                <a:latin typeface="Arial" pitchFamily="34" charset="0"/>
                <a:ea typeface="Arial" pitchFamily="34" charset="-122"/>
                <a:cs typeface="Arial" pitchFamily="34" charset="-120"/>
              </a:rPr>
              <a:t>שני נושאי רשות מתוך המטלה</a:t>
            </a:r>
            <a:endParaRPr lang="en-US" sz="1400" dirty="0"/>
          </a:p>
        </p:txBody>
      </p:sp>
      <p:sp>
        <p:nvSpPr>
          <p:cNvPr id="6" name="Shape 3"/>
          <p:cNvSpPr/>
          <p:nvPr/>
        </p:nvSpPr>
        <p:spPr>
          <a:xfrm>
            <a:off x="6300216" y="1691640"/>
            <a:ext cx="5294376" cy="4114800"/>
          </a:xfrm>
          <a:prstGeom prst="roundRect">
            <a:avLst>
              <a:gd name="adj" fmla="val 2667"/>
            </a:avLst>
          </a:prstGeom>
          <a:solidFill>
            <a:srgbClr val="F0F4EA"/>
          </a:solidFill>
          <a:ln/>
        </p:spPr>
      </p:sp>
      <p:sp>
        <p:nvSpPr>
          <p:cNvPr id="7" name="Text 4"/>
          <p:cNvSpPr/>
          <p:nvPr/>
        </p:nvSpPr>
        <p:spPr>
          <a:xfrm>
            <a:off x="6620256" y="1920240"/>
            <a:ext cx="4654296" cy="411480"/>
          </a:xfrm>
          <a:prstGeom prst="rect">
            <a:avLst/>
          </a:prstGeom>
          <a:noFill/>
          <a:ln/>
        </p:spPr>
        <p:txBody>
          <a:bodyPr wrap="square" lIns="0" tIns="0" rIns="0" bIns="0" rtlCol="0" anchor="ctr"/>
          <a:lstStyle/>
          <a:p>
            <a:pPr rtl="1" algn="r" indent="0" marL="0">
              <a:buNone/>
            </a:pPr>
            <a:r>
              <a:rPr lang="en-US" sz="1600" b="1" dirty="0">
                <a:solidFill>
                  <a:srgbClr val="2C5F2D"/>
                </a:solidFill>
                <a:latin typeface="Arial" pitchFamily="34" charset="0"/>
                <a:ea typeface="Arial" pitchFamily="34" charset="-122"/>
                <a:cs typeface="Arial" pitchFamily="34" charset="-120"/>
              </a:rPr>
              <a:t>פנולוגיה: לוח שנה הפוך</a:t>
            </a:r>
            <a:endParaRPr lang="en-US" sz="1600" dirty="0"/>
          </a:p>
        </p:txBody>
      </p:sp>
      <p:sp>
        <p:nvSpPr>
          <p:cNvPr id="8" name="Text 5"/>
          <p:cNvSpPr/>
          <p:nvPr/>
        </p:nvSpPr>
        <p:spPr>
          <a:xfrm>
            <a:off x="6620256" y="2423160"/>
            <a:ext cx="4654296" cy="32004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אורן ירושלים: שחרור אבקה באביב, הבשלת האצטרובל נמשכת כשנתיים, פיזור זרעים בימי שרב ואחרי שריפות</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חרוב מצוי: פריחה בסתיו (ספטמבר עד נובמבר), התרמילים מבשילים בקיץ שאחרי, כשנה לאחר ההאבקה</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שניהם ירוקי-עד: אין שלכת מרוכזת, והעלווה מתחלפת בהדרגה</a:t>
            </a:r>
            <a:endParaRPr lang="en-US" sz="1450" dirty="0"/>
          </a:p>
        </p:txBody>
      </p:sp>
      <p:sp>
        <p:nvSpPr>
          <p:cNvPr id="9" name="Shape 6"/>
          <p:cNvSpPr/>
          <p:nvPr/>
        </p:nvSpPr>
        <p:spPr>
          <a:xfrm>
            <a:off x="594360" y="1691640"/>
            <a:ext cx="5294376" cy="4114800"/>
          </a:xfrm>
          <a:prstGeom prst="roundRect">
            <a:avLst>
              <a:gd name="adj" fmla="val 2667"/>
            </a:avLst>
          </a:prstGeom>
          <a:solidFill>
            <a:srgbClr val="F5EDE1"/>
          </a:solidFill>
          <a:ln/>
        </p:spPr>
      </p:sp>
      <p:sp>
        <p:nvSpPr>
          <p:cNvPr id="10" name="Text 7"/>
          <p:cNvSpPr/>
          <p:nvPr/>
        </p:nvSpPr>
        <p:spPr>
          <a:xfrm>
            <a:off x="914400" y="1920240"/>
            <a:ext cx="4654296" cy="411480"/>
          </a:xfrm>
          <a:prstGeom prst="rect">
            <a:avLst/>
          </a:prstGeom>
          <a:noFill/>
          <a:ln/>
        </p:spPr>
        <p:txBody>
          <a:bodyPr wrap="square" lIns="0" tIns="0" rIns="0" bIns="0" rtlCol="0" anchor="ctr"/>
          <a:lstStyle/>
          <a:p>
            <a:pPr rtl="1" algn="r" indent="0" marL="0">
              <a:buNone/>
            </a:pPr>
            <a:r>
              <a:rPr lang="en-US" sz="1600" b="1" dirty="0">
                <a:solidFill>
                  <a:srgbClr val="8A5A2B"/>
                </a:solidFill>
                <a:latin typeface="Arial" pitchFamily="34" charset="0"/>
                <a:ea typeface="Arial" pitchFamily="34" charset="-122"/>
                <a:cs typeface="Arial" pitchFamily="34" charset="-120"/>
              </a:rPr>
              <a:t>קשר לאדם ולהיסטוריה</a:t>
            </a:r>
            <a:endParaRPr lang="en-US" sz="1600" dirty="0"/>
          </a:p>
        </p:txBody>
      </p:sp>
      <p:sp>
        <p:nvSpPr>
          <p:cNvPr id="11" name="Text 8"/>
          <p:cNvSpPr/>
          <p:nvPr/>
        </p:nvSpPr>
        <p:spPr>
          <a:xfrm>
            <a:off x="914400" y="2423160"/>
            <a:ext cx="4654296" cy="3200400"/>
          </a:xfrm>
          <a:prstGeom prst="rect">
            <a:avLst/>
          </a:prstGeom>
          <a:noFill/>
          <a:ln/>
        </p:spPr>
        <p:txBody>
          <a:bodyPr wrap="square" lIns="0" tIns="0" rIns="0" bIns="0" rtlCol="0" anchor="t"/>
          <a:lstStyle/>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חרוב: מקור מזון עתיק; מזרעיו האחידים יחסית נגזרה יחידת המשקל קראט של אבני החן</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חרוב במסורת: 'חרובים אכל חוני המעגל', סמל לסבלנות, כי העץ נותן פרי שנים רבות אחרי הנטיעה</a:t>
            </a:r>
            <a:endParaRPr lang="en-US" sz="1450" dirty="0"/>
          </a:p>
          <a:p>
            <a:pPr algn="r" marL="152400" indent="-152400">
              <a:lnSpc>
                <a:spcPct val="108000"/>
              </a:lnSpc>
              <a:spcAft>
                <a:spcPts val="800"/>
              </a:spcAft>
              <a:buSzPct val="100000"/>
              <a:buChar char="•"/>
            </a:pPr>
            <a:r>
              <a:rPr lang="en-US" sz="1450" dirty="0">
                <a:solidFill>
                  <a:srgbClr val="26331F"/>
                </a:solidFill>
                <a:latin typeface="Arial" pitchFamily="34" charset="0"/>
                <a:ea typeface="Arial" pitchFamily="34" charset="-122"/>
                <a:cs typeface="Arial" pitchFamily="34" charset="-120"/>
              </a:rPr>
              <a:t>אורן ירושלים: עץ היער הנטוע הנפוץ בישראל, שעיצב את נוף ההר במאה האחרונה</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20"/>
        </a:solidFill>
      </p:bgPr>
    </p:bg>
    <p:spTree>
      <p:nvGrpSpPr>
        <p:cNvPr id="1" name=""/>
        <p:cNvGrpSpPr/>
        <p:nvPr/>
      </p:nvGrpSpPr>
      <p:grpSpPr>
        <a:xfrm>
          <a:off x="0" y="0"/>
          <a:ext cx="0" cy="0"/>
          <a:chOff x="0" y="0"/>
          <a:chExt cx="0" cy="0"/>
        </a:xfrm>
      </p:grpSpPr>
      <p:sp>
        <p:nvSpPr>
          <p:cNvPr id="2" name="Text 0"/>
          <p:cNvSpPr/>
          <p:nvPr/>
        </p:nvSpPr>
        <p:spPr>
          <a:xfrm>
            <a:off x="914400" y="640080"/>
            <a:ext cx="10360152" cy="640080"/>
          </a:xfrm>
          <a:prstGeom prst="rect">
            <a:avLst/>
          </a:prstGeom>
          <a:noFill/>
          <a:ln/>
        </p:spPr>
        <p:txBody>
          <a:bodyPr wrap="square" lIns="0" tIns="0" rIns="0" bIns="0" rtlCol="0" anchor="ctr"/>
          <a:lstStyle/>
          <a:p>
            <a:pPr rtl="1" algn="ctr" indent="0" marL="0">
              <a:buNone/>
            </a:pPr>
            <a:r>
              <a:rPr lang="en-US" sz="3200" b="1" dirty="0">
                <a:solidFill>
                  <a:srgbClr val="FFFFFF"/>
                </a:solidFill>
                <a:latin typeface="Arial" pitchFamily="34" charset="0"/>
                <a:ea typeface="Arial" pitchFamily="34" charset="-122"/>
                <a:cs typeface="Arial" pitchFamily="34" charset="-120"/>
              </a:rPr>
              <a:t>סיכום: שתי דרכים לחיות ביבשה</a:t>
            </a:r>
            <a:endParaRPr lang="en-US" sz="3200" dirty="0"/>
          </a:p>
        </p:txBody>
      </p:sp>
      <p:sp>
        <p:nvSpPr>
          <p:cNvPr id="3" name="Shape 1"/>
          <p:cNvSpPr/>
          <p:nvPr/>
        </p:nvSpPr>
        <p:spPr>
          <a:xfrm>
            <a:off x="6323076" y="1600200"/>
            <a:ext cx="4951476" cy="3291840"/>
          </a:xfrm>
          <a:prstGeom prst="roundRect">
            <a:avLst>
              <a:gd name="adj" fmla="val 3333"/>
            </a:avLst>
          </a:prstGeom>
          <a:solidFill>
            <a:srgbClr val="2A4A33"/>
          </a:solidFill>
          <a:ln/>
        </p:spPr>
      </p:sp>
      <p:sp>
        <p:nvSpPr>
          <p:cNvPr id="4" name="Shape 2"/>
          <p:cNvSpPr/>
          <p:nvPr/>
        </p:nvSpPr>
        <p:spPr>
          <a:xfrm>
            <a:off x="8433054" y="1874520"/>
            <a:ext cx="731520" cy="731520"/>
          </a:xfrm>
          <a:prstGeom prst="ellipse">
            <a:avLst/>
          </a:prstGeom>
          <a:solidFill>
            <a:srgbClr val="2F6B5C"/>
          </a:solidFill>
          <a:ln/>
        </p:spPr>
      </p:sp>
      <p:pic>
        <p:nvPicPr>
          <p:cNvPr id="5" name="Image 0" descr="preencoded.png">    </p:cNvPr>
          <p:cNvPicPr>
            <a:picLocks noChangeAspect="1"/>
          </p:cNvPicPr>
          <p:nvPr/>
        </p:nvPicPr>
        <p:blipFill>
          <a:blip r:embed="rId1"/>
          <a:stretch>
            <a:fillRect/>
          </a:stretch>
        </p:blipFill>
        <p:spPr>
          <a:xfrm>
            <a:off x="8623249" y="2064715"/>
            <a:ext cx="351130" cy="351130"/>
          </a:xfrm>
          <a:prstGeom prst="rect">
            <a:avLst/>
          </a:prstGeom>
        </p:spPr>
      </p:pic>
      <p:sp>
        <p:nvSpPr>
          <p:cNvPr id="6" name="Text 3"/>
          <p:cNvSpPr/>
          <p:nvPr/>
        </p:nvSpPr>
        <p:spPr>
          <a:xfrm>
            <a:off x="6597396" y="2697480"/>
            <a:ext cx="4402836" cy="45720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אורן ירושלים</a:t>
            </a:r>
            <a:endParaRPr lang="en-US" sz="1800" dirty="0"/>
          </a:p>
        </p:txBody>
      </p:sp>
      <p:sp>
        <p:nvSpPr>
          <p:cNvPr id="7" name="Text 4"/>
          <p:cNvSpPr/>
          <p:nvPr/>
        </p:nvSpPr>
        <p:spPr>
          <a:xfrm>
            <a:off x="6643116" y="3200400"/>
            <a:ext cx="4311396" cy="1463040"/>
          </a:xfrm>
          <a:prstGeom prst="rect">
            <a:avLst/>
          </a:prstGeom>
          <a:noFill/>
          <a:ln/>
        </p:spPr>
        <p:txBody>
          <a:bodyPr wrap="square" lIns="0" tIns="0" rIns="0" bIns="0" rtlCol="0" anchor="ctr"/>
          <a:lstStyle/>
          <a:p>
            <a:pPr rtl="1" algn="ctr" indent="0" marL="0">
              <a:lnSpc>
                <a:spcPct val="115000"/>
              </a:lnSpc>
              <a:buNone/>
            </a:pPr>
            <a:r>
              <a:rPr lang="en-US" sz="1350" dirty="0">
                <a:solidFill>
                  <a:srgbClr val="D8E4C8"/>
                </a:solidFill>
                <a:latin typeface="Arial" pitchFamily="34" charset="0"/>
                <a:ea typeface="Arial" pitchFamily="34" charset="-122"/>
                <a:cs typeface="Arial" pitchFamily="34" charset="-120"/>
              </a:rPr>
              <a:t>חשוף זרע שסומך על הרוח: אבקה באביב, זרעים בעלי כנפית, ואצטרובלים שנפתחים אחרי שריפה</a:t>
            </a:r>
            <a:endParaRPr lang="en-US" sz="1350" dirty="0"/>
          </a:p>
        </p:txBody>
      </p:sp>
      <p:sp>
        <p:nvSpPr>
          <p:cNvPr id="8" name="Shape 5"/>
          <p:cNvSpPr/>
          <p:nvPr/>
        </p:nvSpPr>
        <p:spPr>
          <a:xfrm>
            <a:off x="914400" y="1600200"/>
            <a:ext cx="4951476" cy="3291840"/>
          </a:xfrm>
          <a:prstGeom prst="roundRect">
            <a:avLst>
              <a:gd name="adj" fmla="val 3333"/>
            </a:avLst>
          </a:prstGeom>
          <a:solidFill>
            <a:srgbClr val="4A3A26"/>
          </a:solidFill>
          <a:ln/>
        </p:spPr>
      </p:sp>
      <p:sp>
        <p:nvSpPr>
          <p:cNvPr id="9" name="Shape 6"/>
          <p:cNvSpPr/>
          <p:nvPr/>
        </p:nvSpPr>
        <p:spPr>
          <a:xfrm>
            <a:off x="3024378" y="1874520"/>
            <a:ext cx="731520" cy="731520"/>
          </a:xfrm>
          <a:prstGeom prst="ellipse">
            <a:avLst/>
          </a:prstGeom>
          <a:solidFill>
            <a:srgbClr val="8A5A2B"/>
          </a:solidFill>
          <a:ln/>
        </p:spPr>
      </p:sp>
      <p:pic>
        <p:nvPicPr>
          <p:cNvPr id="10" name="Image 1" descr="preencoded.png">    </p:cNvPr>
          <p:cNvPicPr>
            <a:picLocks noChangeAspect="1"/>
          </p:cNvPicPr>
          <p:nvPr/>
        </p:nvPicPr>
        <p:blipFill>
          <a:blip r:embed="rId2"/>
          <a:stretch>
            <a:fillRect/>
          </a:stretch>
        </p:blipFill>
        <p:spPr>
          <a:xfrm>
            <a:off x="3214573" y="2064715"/>
            <a:ext cx="351130" cy="351130"/>
          </a:xfrm>
          <a:prstGeom prst="rect">
            <a:avLst/>
          </a:prstGeom>
        </p:spPr>
      </p:pic>
      <p:sp>
        <p:nvSpPr>
          <p:cNvPr id="11" name="Text 7"/>
          <p:cNvSpPr/>
          <p:nvPr/>
        </p:nvSpPr>
        <p:spPr>
          <a:xfrm>
            <a:off x="1188720" y="2697480"/>
            <a:ext cx="4402836" cy="45720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חרוב מצוי</a:t>
            </a:r>
            <a:endParaRPr lang="en-US" sz="1800" dirty="0"/>
          </a:p>
        </p:txBody>
      </p:sp>
      <p:sp>
        <p:nvSpPr>
          <p:cNvPr id="12" name="Text 8"/>
          <p:cNvSpPr/>
          <p:nvPr/>
        </p:nvSpPr>
        <p:spPr>
          <a:xfrm>
            <a:off x="1188720" y="3200400"/>
            <a:ext cx="4311396" cy="1463040"/>
          </a:xfrm>
          <a:prstGeom prst="rect">
            <a:avLst/>
          </a:prstGeom>
          <a:noFill/>
          <a:ln/>
        </p:spPr>
        <p:txBody>
          <a:bodyPr wrap="square" lIns="0" tIns="0" rIns="0" bIns="0" rtlCol="0" anchor="ctr"/>
          <a:lstStyle/>
          <a:p>
            <a:pPr rtl="1" algn="ctr" indent="0" marL="0">
              <a:lnSpc>
                <a:spcPct val="115000"/>
              </a:lnSpc>
              <a:buNone/>
            </a:pPr>
            <a:r>
              <a:rPr lang="en-US" sz="1350" dirty="0">
                <a:solidFill>
                  <a:srgbClr val="EBDDC4"/>
                </a:solidFill>
                <a:latin typeface="Arial" pitchFamily="34" charset="0"/>
                <a:ea typeface="Arial" pitchFamily="34" charset="-122"/>
                <a:cs typeface="Arial" pitchFamily="34" charset="-120"/>
              </a:rPr>
              <a:t>מכוסה זרע שמגייס בעלי חיים: חרקים מאביקים את פרחי הסתיו, ויונקים מפיצים את הזרעים בתרמיל המתוק</a:t>
            </a:r>
            <a:endParaRPr lang="en-US" sz="1350" dirty="0"/>
          </a:p>
        </p:txBody>
      </p:sp>
      <p:sp>
        <p:nvSpPr>
          <p:cNvPr id="13" name="Text 9"/>
          <p:cNvSpPr/>
          <p:nvPr/>
        </p:nvSpPr>
        <p:spPr>
          <a:xfrm>
            <a:off x="1371600" y="5257800"/>
            <a:ext cx="9445752" cy="822960"/>
          </a:xfrm>
          <a:prstGeom prst="rect">
            <a:avLst/>
          </a:prstGeom>
          <a:noFill/>
          <a:ln/>
        </p:spPr>
        <p:txBody>
          <a:bodyPr wrap="square" lIns="0" tIns="0" rIns="0" bIns="0" rtlCol="0" anchor="ctr"/>
          <a:lstStyle/>
          <a:p>
            <a:pPr rtl="1" algn="ctr" indent="0" marL="0">
              <a:buNone/>
            </a:pPr>
            <a:r>
              <a:rPr lang="en-US" sz="1600" i="1" dirty="0">
                <a:solidFill>
                  <a:srgbClr val="97BC62"/>
                </a:solidFill>
                <a:latin typeface="Arial" pitchFamily="34" charset="0"/>
                <a:ea typeface="Arial" pitchFamily="34" charset="-122"/>
                <a:cs typeface="Arial" pitchFamily="34" charset="-120"/>
              </a:rPr>
              <a:t>שני שכנים באותו חורש, ושתי אסטרטגיות רבייה שהתפתחו במרחק של עשרות מיליוני שנים זו מזו</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54512" y="384048"/>
            <a:ext cx="685800" cy="685800"/>
          </a:xfrm>
          <a:prstGeom prst="ellipse">
            <a:avLst/>
          </a:prstGeom>
          <a:solidFill>
            <a:srgbClr val="F0F4EA"/>
          </a:solidFill>
          <a:ln/>
        </p:spPr>
      </p:sp>
      <p:pic>
        <p:nvPicPr>
          <p:cNvPr id="3" name="Image 0" descr="preencoded.png">    </p:cNvPr>
          <p:cNvPicPr>
            <a:picLocks noChangeAspect="1"/>
          </p:cNvPicPr>
          <p:nvPr/>
        </p:nvPicPr>
        <p:blipFill>
          <a:blip r:embed="rId1"/>
          <a:stretch>
            <a:fillRect/>
          </a:stretch>
        </p:blipFill>
        <p:spPr>
          <a:xfrm>
            <a:off x="11132820" y="562356"/>
            <a:ext cx="329184" cy="329184"/>
          </a:xfrm>
          <a:prstGeom prst="rect">
            <a:avLst/>
          </a:prstGeom>
        </p:spPr>
      </p:pic>
      <p:sp>
        <p:nvSpPr>
          <p:cNvPr id="4" name="Text 1"/>
          <p:cNvSpPr/>
          <p:nvPr/>
        </p:nvSpPr>
        <p:spPr>
          <a:xfrm>
            <a:off x="548640" y="347472"/>
            <a:ext cx="10222992" cy="566928"/>
          </a:xfrm>
          <a:prstGeom prst="rect">
            <a:avLst/>
          </a:prstGeom>
          <a:noFill/>
          <a:ln/>
        </p:spPr>
        <p:txBody>
          <a:bodyPr wrap="square" lIns="0" tIns="0" rIns="0" bIns="0" rtlCol="0" anchor="ctr"/>
          <a:lstStyle/>
          <a:p>
            <a:pPr rtl="1" algn="r" indent="0" marL="0">
              <a:buNone/>
            </a:pPr>
            <a:r>
              <a:rPr lang="en-US" sz="2800" b="1" dirty="0">
                <a:solidFill>
                  <a:srgbClr val="2C5F2D"/>
                </a:solidFill>
                <a:latin typeface="Arial" pitchFamily="34" charset="0"/>
                <a:ea typeface="Arial" pitchFamily="34" charset="-122"/>
                <a:cs typeface="Arial" pitchFamily="34" charset="-120"/>
              </a:rPr>
              <a:t>רשימת מקורות</a:t>
            </a:r>
            <a:endParaRPr lang="en-US" sz="2800" dirty="0"/>
          </a:p>
        </p:txBody>
      </p:sp>
      <p:sp>
        <p:nvSpPr>
          <p:cNvPr id="5" name="Text 2"/>
          <p:cNvSpPr/>
          <p:nvPr/>
        </p:nvSpPr>
        <p:spPr>
          <a:xfrm>
            <a:off x="777240" y="1737360"/>
            <a:ext cx="10634472" cy="2926080"/>
          </a:xfrm>
          <a:prstGeom prst="rect">
            <a:avLst/>
          </a:prstGeom>
          <a:noFill/>
          <a:ln/>
        </p:spPr>
        <p:txBody>
          <a:bodyPr wrap="square" lIns="0" tIns="0" rIns="0" bIns="0" rtlCol="0" anchor="t"/>
          <a:lstStyle/>
          <a:p>
            <a:pPr algn="r" marL="152400" indent="-152400">
              <a:lnSpc>
                <a:spcPct val="108000"/>
              </a:lnSpc>
              <a:spcAft>
                <a:spcPts val="1400"/>
              </a:spcAft>
              <a:buSzPct val="100000"/>
              <a:buChar char="•"/>
            </a:pPr>
            <a:r>
              <a:rPr lang="en-US" sz="1400" dirty="0">
                <a:solidFill>
                  <a:srgbClr val="26331F"/>
                </a:solidFill>
                <a:latin typeface="Arial" pitchFamily="34" charset="0"/>
                <a:ea typeface="Arial" pitchFamily="34" charset="-122"/>
                <a:cs typeface="Arial" pitchFamily="34" charset="-120"/>
              </a:rPr>
              <a:t>לוטן, א' (2026). האבולוציה של הצמחים: מהים ליבשה [מצגת הרצאה]. קורס בוטניקה וזואולוגיה.‏</a:t>
            </a:r>
            <a:endParaRPr lang="en-US" sz="1400" dirty="0"/>
          </a:p>
          <a:p>
            <a:pPr algn="r" marL="152400" indent="-152400">
              <a:lnSpc>
                <a:spcPct val="108000"/>
              </a:lnSpc>
              <a:spcAft>
                <a:spcPts val="1400"/>
              </a:spcAft>
              <a:buSzPct val="100000"/>
              <a:buChar char="•"/>
            </a:pPr>
            <a:r>
              <a:rPr lang="en-US" sz="1400" dirty="0">
                <a:solidFill>
                  <a:srgbClr val="26331F"/>
                </a:solidFill>
                <a:latin typeface="Arial" pitchFamily="34" charset="0"/>
                <a:ea typeface="Arial" pitchFamily="34" charset="-122"/>
                <a:cs typeface="Arial" pitchFamily="34" charset="-120"/>
              </a:rPr>
              <a:t>לוטן, א' (2026). עבודה מסכמת, בוטניקה, סרטון לימודי [הנחיות מטלה]. קורס בוטניקה וזואולוגיה.‏</a:t>
            </a:r>
            <a:endParaRPr lang="en-US" sz="1400" dirty="0"/>
          </a:p>
          <a:p>
            <a:pPr algn="r" marL="152400" indent="-152400">
              <a:lnSpc>
                <a:spcPct val="108000"/>
              </a:lnSpc>
              <a:spcAft>
                <a:spcPts val="1400"/>
              </a:spcAft>
              <a:buSzPct val="100000"/>
              <a:buChar char="•"/>
            </a:pPr>
            <a:r>
              <a:rPr lang="en-US" sz="1400" dirty="0">
                <a:solidFill>
                  <a:srgbClr val="26331F"/>
                </a:solidFill>
                <a:latin typeface="Arial" pitchFamily="34" charset="0"/>
                <a:ea typeface="Arial" pitchFamily="34" charset="-122"/>
                <a:cs typeface="Arial" pitchFamily="34" charset="-120"/>
              </a:rPr>
              <a:t>להשלים לפני ההגשה: דפי המין של אורן ירושלים ושל חרוב מצוי באתר שבו נעזרתם, למשל צמח השדה או צמחיית ישראל ברשת, עם קישור מלא ותאריך אחזור.‏</a:t>
            </a:r>
            <a:endParaRPr lang="en-US" sz="1400" dirty="0"/>
          </a:p>
        </p:txBody>
      </p:sp>
      <p:sp>
        <p:nvSpPr>
          <p:cNvPr id="6" name="Shape 3"/>
          <p:cNvSpPr/>
          <p:nvPr/>
        </p:nvSpPr>
        <p:spPr>
          <a:xfrm>
            <a:off x="777240" y="4892040"/>
            <a:ext cx="10634472" cy="1371600"/>
          </a:xfrm>
          <a:prstGeom prst="roundRect">
            <a:avLst>
              <a:gd name="adj" fmla="val 8000"/>
            </a:avLst>
          </a:prstGeom>
          <a:solidFill>
            <a:srgbClr val="F0F4EA"/>
          </a:solidFill>
          <a:ln/>
        </p:spPr>
      </p:sp>
      <p:sp>
        <p:nvSpPr>
          <p:cNvPr id="7" name="Text 4"/>
          <p:cNvSpPr/>
          <p:nvPr/>
        </p:nvSpPr>
        <p:spPr>
          <a:xfrm>
            <a:off x="1051560" y="5074920"/>
            <a:ext cx="10085832" cy="1005840"/>
          </a:xfrm>
          <a:prstGeom prst="rect">
            <a:avLst/>
          </a:prstGeom>
          <a:noFill/>
          <a:ln/>
        </p:spPr>
        <p:txBody>
          <a:bodyPr wrap="square" lIns="0" tIns="0" rIns="0" bIns="0" rtlCol="0" anchor="ctr"/>
          <a:lstStyle/>
          <a:p>
            <a:pPr algn="r" indent="0" marL="0">
              <a:lnSpc>
                <a:spcPct val="115000"/>
              </a:lnSpc>
              <a:buNone/>
            </a:pPr>
            <a:r>
              <a:rPr lang="en-US" sz="1350" b="1" dirty="0">
                <a:solidFill>
                  <a:srgbClr val="26331F"/>
                </a:solidFill>
                <a:latin typeface="Arial" pitchFamily="34" charset="0"/>
                <a:ea typeface="Arial" pitchFamily="34" charset="-122"/>
                <a:cs typeface="Arial" pitchFamily="34" charset="-120"/>
              </a:rPr>
              <a:t>תזכורת להגשה: </a:t>
            </a:r>
            <a:pPr algn="r" indent="0" marL="0">
              <a:lnSpc>
                <a:spcPct val="115000"/>
              </a:lnSpc>
              <a:buNone/>
            </a:pPr>
            <a:r>
              <a:rPr lang="en-US" sz="1350" dirty="0">
                <a:solidFill>
                  <a:srgbClr val="26331F"/>
                </a:solidFill>
                <a:latin typeface="Arial" pitchFamily="34" charset="0"/>
                <a:ea typeface="Arial" pitchFamily="34" charset="-122"/>
                <a:cs typeface="Arial" pitchFamily="34" charset="-120"/>
              </a:rPr>
              <a:t>לצרף הצהרת שימוש בבינה מלאכותית לפי הטופס הרשמי שבאתר הקורס, ולוודא שהסרטון (5 עד 7 דקות) מוגש במודל עד 31.8.26.‏</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2026-08-23T20:41:46Z</dcterms:created>
  <dcterms:modified xsi:type="dcterms:W3CDTF">2026-08-23T20:41:46Z</dcterms:modified>
</cp:coreProperties>
</file>