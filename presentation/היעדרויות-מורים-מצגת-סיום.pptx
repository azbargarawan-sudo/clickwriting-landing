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[חנון | כדקה ורבע]
בוקר רגיל, 7:30. מורה מתקשרת ואומרת שהיא לא תגיע היום. בתוך כמה דקות המנהל צריך להחליט: מי נכנס לכיתה, מה יקרה בשיעור, ומי ישלם את המחיר.
הנושא שלנו הוא היעדרויות מורים. היעדרות כשלעצמה היא לא הבעיה, היא חלק מהחיים של כל בית ספר. מה שמעניין אותנו הוא מה שהמנהל עושה ברגע הזה.
שאלת המחקר שלנו: כיצד מנהלי בתי ספר בצפון הארץ מתארים את התמודדותם עם היעדרויות מורים, ואילו אסטרטגיות ושיקולים מנחים את החלטותיהם לשמירה על רצף לימודי?
למה דווקא השאלה הזאת? כי בכל בית ספר ראינו שאותה היעדרות יכולה להסתיים בשיעור שממשיך כרגיל, או בשעה של השגחה בלבד. ההבדל תלוי בהחלטות של המנהל.
המחקר שלנו חשוב כי היעדרות מורים קורית כמעט בכל יום, וההחלטה של המנהל באותו בוקר קובעת אם התלמידים יקבלו שיעור אמיתי או רק השגחה.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[אולפת | כדקה ושלושת רבעי]
מה למדנו מהספרות? שתי תובנות.
הראשונה: היעדרויות מורים פוגעות בלמידה, והפגיעה גדלה כשההיעדרויות מצטברות. מחקרים גדולים בארצות הברית, של מילר ועמיתיו ושל קלוטפלטר ועמיתיו, הראו קשר בין מספר ימי ההיעדרות של המורה לבין הישגי התלמידים.
השנייה, שהפתיעה אותנו: המנהל לא רק מגיב להיעדרות. מחקר ישראלי של שפירא־לישצ'ינסקי ורוזנבלט מצא שהאקלים שהמנהל יוצר בבית הספר קשור גם להיקף ההיעדרויות.
ואיפה המתח? בתיאוריה, רצף לימודי הוא עניין פדגוגי: שהחומר ימשיך, שהיחסים והשגרה יישמרו. אבל בשבע וחצי בבוקר המנהל צריך קודם כול שמישהו יהיה בכיתה.
והפער: רוב המחקר בודק כמה מורים נעדרים, למה, ומה המחיר. מעט ידוע על מה שהמנהל עושה ושוקל ברגע ההיעדרות עצמו.
זה גם שינה את החשיבה שלנו. בהתחלה חשבנו שהבעיה לוגיסטית, רק למצוא ממלא מקום. היום אנחנו מבינים שרצף הוא פדגוגי, ארגוני ורגשי, ושהמנהל פועל גם לפני ההיעדרות ולא רק אחריה.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[חנון | כדקה וחצי]
איך נבדוק את זה? נצא לשטח ונשוחח עם 12 מנהלים ומנהלות מבתי ספר בצפון הארץ. בחרנו בתי ספר מאזורים שונים, עירוניים וכפריים, יסודיים ועל־יסודיים, ומנהלים עם ותק שונה, כדי לראות מגוון של דרכי פעולה. בחרנו במנהלים כי הם מקבלי ההחלטות.
הכלי שלנו הוא ראיון חצי מובנה. נבקש מכל מנהל לתאר בוקר אחד של היעדרות, צעד אחר צעד, ונשאל גם על היעדרות ממושכת. ראיון מאפשר לנו להבין את השיקולים ואת הדילמות, ולא רק את הנוהל הכתוב.
מה נחפש? אסטרטגיות מונעות לעומת אסטרטגיות מגיבות, הבדלים בין היעדרות קצרה לממושכת, ובעיקר את השיקולים: פדגוגיה, תקציב, הוגנות כלפי הצוות שמחליף, ורווחת המורה הנעדרת.
האתגר הגדול: מנהלים עלולים להציג תמונה יפה מהמציאות. לכן נבקש דוגמאות מוחשיות ולא רק עקרונות.
[אולפת | כחצי דקה]
ומה יפתיע אותנו? אם יתברר שמה שמנחה את ההחלטה הוא בעיקר השקט והסדר בבית הספר ולא רצף לימודי. זה יערער הנחה שלנו.
אם המחקר שלנו יהיה מוצלח, בסופו נבין טוב יותר איך מנהלים מאזנים, בזמן אמת, בין הצורך שמישהו יהיה בכיתה לבין הזכות של התלמידים לרצף לימודי אמיתי.
תודה.
[שאלות המשך אפשריות]
למה רק מנהלים? כי השאלה היא על קבלת החלטות, והם אלה שמחליטים. במחקר המשך אפשר לשמוע גם את המורים המחליפים.
למה צפון? יש לנו גישה, ויש בצפון מגוון רחב של יישובים ומגזרים.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43B"/>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1</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E9A23B"/>
                </a:solidFill>
                <a:latin typeface="Arial" pitchFamily="34" charset="0"/>
                <a:ea typeface="Arial" pitchFamily="34" charset="-122"/>
                <a:cs typeface="Arial" pitchFamily="34" charset="-120"/>
              </a:rPr>
              <a:t>מה אנחנו מנסים להבין?</a:t>
            </a:r>
            <a:endParaRPr lang="he-IL" sz="1300" dirty="0"/>
          </a:p>
        </p:txBody>
      </p:sp>
      <p:sp>
        <p:nvSpPr>
          <p:cNvPr id="5" name="Text 3"/>
          <p:cNvSpPr txBox="1"/>
          <p:nvPr/>
        </p:nvSpPr>
        <p:spPr>
          <a:xfrm>
            <a:off x="548640" y="502920"/>
            <a:ext cx="5120640" cy="365760"/>
          </a:xfrm>
          <a:prstGeom prst="rect">
            <a:avLst/>
          </a:prstGeom>
          <a:noFill/>
          <a:ln/>
        </p:spPr>
        <p:txBody>
          <a:bodyPr wrap="square" lIns="0" tIns="0" rIns="0" bIns="0" rtlCol="0" anchor="ctr"/>
          <a:lstStyle/>
          <a:p>
            <a:pPr rtl="1" algn="l" indent="0" marL="0">
              <a:buNone/>
            </a:pPr>
            <a:r>
              <a:rPr lang="en-US" sz="1100" dirty="0">
                <a:solidFill>
                  <a:srgbClr val="A9D2D5"/>
                </a:solidFill>
                <a:latin typeface="Arial" pitchFamily="34" charset="0"/>
                <a:ea typeface="Arial" pitchFamily="34" charset="-122"/>
                <a:cs typeface="Arial" pitchFamily="34" charset="-120"/>
              </a:rPr>
              <a:t>חנון מנסור · אולפת עבד אל חי  |  סמינריון בעבודת הניהול ובמנהל חינוך</a:t>
            </a:r>
            <a:endParaRPr lang="en-US" sz="1100" dirty="0"/>
          </a:p>
        </p:txBody>
      </p:sp>
      <p:sp>
        <p:nvSpPr>
          <p:cNvPr id="6" name="Text 4"/>
          <p:cNvSpPr txBox="1"/>
          <p:nvPr/>
        </p:nvSpPr>
        <p:spPr>
          <a:xfrm>
            <a:off x="548640" y="1188720"/>
            <a:ext cx="11091672" cy="777240"/>
          </a:xfrm>
          <a:prstGeom prst="rect">
            <a:avLst/>
          </a:prstGeom>
          <a:noFill/>
          <a:ln/>
        </p:spPr>
        <p:txBody>
          <a:bodyPr wrap="square" lIns="0" tIns="0" rIns="0" bIns="0" rtlCol="0" anchor="ctr"/>
          <a:lstStyle/>
          <a:p>
            <a:pPr rtl="1" algn="r" indent="0" marL="0">
              <a:buNone/>
            </a:pPr>
            <a:r>
              <a:rPr lang="he-IL" altLang="en-US" sz="4000" b="1" dirty="0">
                <a:solidFill>
                  <a:srgbClr val="FFFFFF"/>
                </a:solidFill>
                <a:latin typeface="Arial" pitchFamily="34" charset="0"/>
                <a:ea typeface="Arial" pitchFamily="34" charset="-122"/>
                <a:cs typeface="Arial" pitchFamily="34" charset="-120"/>
              </a:rPr>
              <a:t>מה קורה בבית הספר כשהמורה לא מגיע?</a:t>
            </a:r>
            <a:endParaRPr lang="he-IL" sz="4000" dirty="0"/>
          </a:p>
        </p:txBody>
      </p:sp>
      <p:sp>
        <p:nvSpPr>
          <p:cNvPr id="7" name="Text 5"/>
          <p:cNvSpPr txBox="1"/>
          <p:nvPr/>
        </p:nvSpPr>
        <p:spPr>
          <a:xfrm>
            <a:off x="548640" y="2011680"/>
            <a:ext cx="11091672" cy="411480"/>
          </a:xfrm>
          <a:prstGeom prst="rect">
            <a:avLst/>
          </a:prstGeom>
          <a:noFill/>
          <a:ln/>
        </p:spPr>
        <p:txBody>
          <a:bodyPr wrap="square" lIns="0" tIns="0" rIns="0" bIns="0" rtlCol="0" anchor="ctr"/>
          <a:lstStyle/>
          <a:p>
            <a:pPr rtl="1" algn="r" indent="0" marL="0">
              <a:buNone/>
            </a:pPr>
            <a:r>
              <a:rPr lang="he-IL" altLang="en-US" sz="1800" dirty="0">
                <a:solidFill>
                  <a:srgbClr val="A9D2D5"/>
                </a:solidFill>
                <a:latin typeface="Arial" pitchFamily="34" charset="0"/>
                <a:ea typeface="Arial" pitchFamily="34" charset="-122"/>
                <a:cs typeface="Arial" pitchFamily="34" charset="-120"/>
              </a:rPr>
              <a:t>הנושא: אסטרטגיות ניהוליות בהתמודדות עם היעדרויות מורים ושמירה על רצף לימודי</a:t>
            </a:r>
            <a:endParaRPr lang="he-IL" sz="1800" dirty="0"/>
          </a:p>
        </p:txBody>
      </p:sp>
      <p:sp>
        <p:nvSpPr>
          <p:cNvPr id="8" name="Shape 6"/>
          <p:cNvSpPr/>
          <p:nvPr/>
        </p:nvSpPr>
        <p:spPr>
          <a:xfrm>
            <a:off x="4572000" y="2697480"/>
            <a:ext cx="7068312" cy="2103120"/>
          </a:xfrm>
          <a:prstGeom prst="roundRect">
            <a:avLst>
              <a:gd name="adj" fmla="val 5217"/>
            </a:avLst>
          </a:prstGeom>
          <a:solidFill>
            <a:srgbClr val="1D4A52"/>
          </a:solidFill>
          <a:ln w="12700">
            <a:solidFill>
              <a:srgbClr val="1D4A52"/>
            </a:solidFill>
            <a:prstDash val="solid"/>
          </a:ln>
        </p:spPr>
      </p:sp>
      <p:sp>
        <p:nvSpPr>
          <p:cNvPr id="9" name="Text 7"/>
          <p:cNvSpPr txBox="1"/>
          <p:nvPr/>
        </p:nvSpPr>
        <p:spPr>
          <a:xfrm>
            <a:off x="4892040" y="2880360"/>
            <a:ext cx="6428232" cy="320040"/>
          </a:xfrm>
          <a:prstGeom prst="rect">
            <a:avLst/>
          </a:prstGeom>
          <a:noFill/>
          <a:ln/>
        </p:spPr>
        <p:txBody>
          <a:bodyPr wrap="square" lIns="0" tIns="0" rIns="0" bIns="0" rtlCol="0" anchor="t"/>
          <a:lstStyle/>
          <a:p>
            <a:pPr rtl="1" algn="r" indent="0" marL="0">
              <a:buNone/>
            </a:pPr>
            <a:r>
              <a:rPr lang="he-IL" altLang="en-US" sz="1400" b="1" dirty="0">
                <a:solidFill>
                  <a:srgbClr val="E9A23B"/>
                </a:solidFill>
                <a:latin typeface="Arial" pitchFamily="34" charset="0"/>
                <a:ea typeface="Arial" pitchFamily="34" charset="-122"/>
                <a:cs typeface="Arial" pitchFamily="34" charset="-120"/>
              </a:rPr>
              <a:t>שאלת המחקר</a:t>
            </a:r>
            <a:endParaRPr lang="he-IL" sz="1400" dirty="0"/>
          </a:p>
        </p:txBody>
      </p:sp>
      <p:sp>
        <p:nvSpPr>
          <p:cNvPr id="10" name="Text 8"/>
          <p:cNvSpPr txBox="1"/>
          <p:nvPr/>
        </p:nvSpPr>
        <p:spPr>
          <a:xfrm>
            <a:off x="4892040" y="3246120"/>
            <a:ext cx="6428232" cy="1371600"/>
          </a:xfrm>
          <a:prstGeom prst="rect">
            <a:avLst/>
          </a:prstGeom>
          <a:noFill/>
          <a:ln/>
        </p:spPr>
        <p:txBody>
          <a:bodyPr wrap="square" lIns="0" tIns="0" rIns="0" bIns="0" rtlCol="0" anchor="t"/>
          <a:lstStyle/>
          <a:p>
            <a:pPr rtl="1" algn="r" indent="0" marL="0">
              <a:lnSpc>
                <a:spcPct val="110000"/>
              </a:lnSpc>
              <a:buNone/>
            </a:pPr>
            <a:r>
              <a:rPr lang="he-IL" altLang="en-US" sz="2000" b="1" dirty="0">
                <a:solidFill>
                  <a:srgbClr val="FFFFFF"/>
                </a:solidFill>
                <a:latin typeface="Arial" pitchFamily="34" charset="0"/>
                <a:ea typeface="Arial" pitchFamily="34" charset="-122"/>
                <a:cs typeface="Arial" pitchFamily="34" charset="-120"/>
              </a:rPr>
              <a:t>כיצד מנהלי בתי ספר בצפון הארץ מתארים את התמודדותם עם היעדרויות מורים, ואילו אסטרטגיות ושיקולים מנחים את החלטותיהם לשמירה על רצף לימודי?</a:t>
            </a:r>
            <a:endParaRPr lang="he-IL" sz="2000" dirty="0"/>
          </a:p>
        </p:txBody>
      </p:sp>
      <p:sp>
        <p:nvSpPr>
          <p:cNvPr id="11" name="Text 9"/>
          <p:cNvSpPr txBox="1"/>
          <p:nvPr/>
        </p:nvSpPr>
        <p:spPr>
          <a:xfrm>
            <a:off x="548640" y="2697480"/>
            <a:ext cx="3703320" cy="320040"/>
          </a:xfrm>
          <a:prstGeom prst="rect">
            <a:avLst/>
          </a:prstGeom>
          <a:noFill/>
          <a:ln/>
        </p:spPr>
        <p:txBody>
          <a:bodyPr wrap="square" lIns="0" tIns="0" rIns="0" bIns="0" rtlCol="0" anchor="t"/>
          <a:lstStyle/>
          <a:p>
            <a:pPr rtl="1" algn="r" indent="0" marL="0">
              <a:buNone/>
            </a:pPr>
            <a:r>
              <a:rPr lang="he-IL" altLang="en-US" sz="1400" b="1" dirty="0">
                <a:solidFill>
                  <a:srgbClr val="E9A23B"/>
                </a:solidFill>
                <a:latin typeface="Arial" pitchFamily="34" charset="0"/>
                <a:ea typeface="Arial" pitchFamily="34" charset="-122"/>
                <a:cs typeface="Arial" pitchFamily="34" charset="-120"/>
              </a:rPr>
              <a:t>למה דווקא השאלה הזאת?</a:t>
            </a:r>
            <a:endParaRPr lang="he-IL" sz="1400" dirty="0"/>
          </a:p>
        </p:txBody>
      </p:sp>
      <p:sp>
        <p:nvSpPr>
          <p:cNvPr id="12" name="Shape 10"/>
          <p:cNvSpPr/>
          <p:nvPr/>
        </p:nvSpPr>
        <p:spPr>
          <a:xfrm>
            <a:off x="3904488" y="3127248"/>
            <a:ext cx="347472" cy="347472"/>
          </a:xfrm>
          <a:prstGeom prst="ellipse">
            <a:avLst/>
          </a:prstGeom>
          <a:solidFill>
            <a:srgbClr val="E9A23B"/>
          </a:solidFill>
          <a:ln w="12700">
            <a:solidFill>
              <a:srgbClr val="E9A23B"/>
            </a:solidFill>
            <a:prstDash val="solid"/>
          </a:ln>
        </p:spPr>
      </p:sp>
      <p:pic>
        <p:nvPicPr>
          <p:cNvPr id="13" name="Image 0" descr="preencoded.png">    </p:cNvPr>
          <p:cNvPicPr>
            <a:picLocks noChangeAspect="1"/>
          </p:cNvPicPr>
          <p:nvPr/>
        </p:nvPicPr>
        <p:blipFill>
          <a:blip r:embed="rId1"/>
          <a:stretch>
            <a:fillRect/>
          </a:stretch>
        </p:blipFill>
        <p:spPr>
          <a:xfrm>
            <a:off x="3991356" y="3214116"/>
            <a:ext cx="173736" cy="173736"/>
          </a:xfrm>
          <a:prstGeom prst="rect">
            <a:avLst/>
          </a:prstGeom>
        </p:spPr>
      </p:pic>
      <p:sp>
        <p:nvSpPr>
          <p:cNvPr id="14" name="Text 11"/>
          <p:cNvSpPr txBox="1"/>
          <p:nvPr/>
        </p:nvSpPr>
        <p:spPr>
          <a:xfrm>
            <a:off x="548640" y="3127248"/>
            <a:ext cx="3200400" cy="347472"/>
          </a:xfrm>
          <a:prstGeom prst="rect">
            <a:avLst/>
          </a:prstGeom>
          <a:noFill/>
          <a:ln/>
        </p:spPr>
        <p:txBody>
          <a:bodyPr wrap="square" lIns="0" tIns="0" rIns="0" bIns="0" rtlCol="0" anchor="ctr"/>
          <a:lstStyle/>
          <a:p>
            <a:pPr rtl="1" algn="r" indent="0" marL="0">
              <a:buNone/>
            </a:pPr>
            <a:r>
              <a:rPr lang="he-IL" altLang="en-US" sz="1400" dirty="0">
                <a:solidFill>
                  <a:srgbClr val="FFFFFF"/>
                </a:solidFill>
                <a:latin typeface="Arial" pitchFamily="34" charset="0"/>
                <a:ea typeface="Arial" pitchFamily="34" charset="-122"/>
                <a:cs typeface="Arial" pitchFamily="34" charset="-120"/>
              </a:rPr>
              <a:t>מי נכנס לכיתה במקום המורה?</a:t>
            </a:r>
            <a:endParaRPr lang="he-IL" sz="1400" dirty="0"/>
          </a:p>
        </p:txBody>
      </p:sp>
      <p:sp>
        <p:nvSpPr>
          <p:cNvPr id="15" name="Shape 12"/>
          <p:cNvSpPr/>
          <p:nvPr/>
        </p:nvSpPr>
        <p:spPr>
          <a:xfrm>
            <a:off x="3904488" y="3557016"/>
            <a:ext cx="347472" cy="347472"/>
          </a:xfrm>
          <a:prstGeom prst="ellipse">
            <a:avLst/>
          </a:prstGeom>
          <a:solidFill>
            <a:srgbClr val="E9A23B"/>
          </a:solidFill>
          <a:ln w="12700">
            <a:solidFill>
              <a:srgbClr val="E9A23B"/>
            </a:solidFill>
            <a:prstDash val="solid"/>
          </a:ln>
        </p:spPr>
      </p:sp>
      <p:pic>
        <p:nvPicPr>
          <p:cNvPr id="16" name="Image 1" descr="preencoded.png">    </p:cNvPr>
          <p:cNvPicPr>
            <a:picLocks noChangeAspect="1"/>
          </p:cNvPicPr>
          <p:nvPr/>
        </p:nvPicPr>
        <p:blipFill>
          <a:blip r:embed="rId2"/>
          <a:stretch>
            <a:fillRect/>
          </a:stretch>
        </p:blipFill>
        <p:spPr>
          <a:xfrm>
            <a:off x="3991356" y="3643884"/>
            <a:ext cx="173736" cy="173736"/>
          </a:xfrm>
          <a:prstGeom prst="rect">
            <a:avLst/>
          </a:prstGeom>
        </p:spPr>
      </p:pic>
      <p:sp>
        <p:nvSpPr>
          <p:cNvPr id="17" name="Text 13"/>
          <p:cNvSpPr txBox="1"/>
          <p:nvPr/>
        </p:nvSpPr>
        <p:spPr>
          <a:xfrm>
            <a:off x="548640" y="3557016"/>
            <a:ext cx="3200400" cy="347472"/>
          </a:xfrm>
          <a:prstGeom prst="rect">
            <a:avLst/>
          </a:prstGeom>
          <a:noFill/>
          <a:ln/>
        </p:spPr>
        <p:txBody>
          <a:bodyPr wrap="square" lIns="0" tIns="0" rIns="0" bIns="0" rtlCol="0" anchor="ctr"/>
          <a:lstStyle/>
          <a:p>
            <a:pPr rtl="1" algn="r" indent="0" marL="0">
              <a:buNone/>
            </a:pPr>
            <a:r>
              <a:rPr lang="he-IL" altLang="en-US" sz="1400" dirty="0">
                <a:solidFill>
                  <a:srgbClr val="FFFFFF"/>
                </a:solidFill>
                <a:latin typeface="Arial" pitchFamily="34" charset="0"/>
                <a:ea typeface="Arial" pitchFamily="34" charset="-122"/>
                <a:cs typeface="Arial" pitchFamily="34" charset="-120"/>
              </a:rPr>
              <a:t>מי מחליט, ולפי אילו שיקולים?</a:t>
            </a:r>
            <a:endParaRPr lang="he-IL" sz="1400" dirty="0"/>
          </a:p>
        </p:txBody>
      </p:sp>
      <p:sp>
        <p:nvSpPr>
          <p:cNvPr id="18" name="Shape 14"/>
          <p:cNvSpPr/>
          <p:nvPr/>
        </p:nvSpPr>
        <p:spPr>
          <a:xfrm>
            <a:off x="3904488" y="3986784"/>
            <a:ext cx="347472" cy="347472"/>
          </a:xfrm>
          <a:prstGeom prst="ellipse">
            <a:avLst/>
          </a:prstGeom>
          <a:solidFill>
            <a:srgbClr val="E9A23B"/>
          </a:solidFill>
          <a:ln w="12700">
            <a:solidFill>
              <a:srgbClr val="E9A23B"/>
            </a:solidFill>
            <a:prstDash val="solid"/>
          </a:ln>
        </p:spPr>
      </p:sp>
      <p:pic>
        <p:nvPicPr>
          <p:cNvPr id="19" name="Image 2" descr="preencoded.png">    </p:cNvPr>
          <p:cNvPicPr>
            <a:picLocks noChangeAspect="1"/>
          </p:cNvPicPr>
          <p:nvPr/>
        </p:nvPicPr>
        <p:blipFill>
          <a:blip r:embed="rId3"/>
          <a:stretch>
            <a:fillRect/>
          </a:stretch>
        </p:blipFill>
        <p:spPr>
          <a:xfrm>
            <a:off x="3991356" y="4073652"/>
            <a:ext cx="173736" cy="173736"/>
          </a:xfrm>
          <a:prstGeom prst="rect">
            <a:avLst/>
          </a:prstGeom>
        </p:spPr>
      </p:pic>
      <p:sp>
        <p:nvSpPr>
          <p:cNvPr id="20" name="Text 15"/>
          <p:cNvSpPr txBox="1"/>
          <p:nvPr/>
        </p:nvSpPr>
        <p:spPr>
          <a:xfrm>
            <a:off x="548640" y="3986784"/>
            <a:ext cx="3200400" cy="347472"/>
          </a:xfrm>
          <a:prstGeom prst="rect">
            <a:avLst/>
          </a:prstGeom>
          <a:noFill/>
          <a:ln/>
        </p:spPr>
        <p:txBody>
          <a:bodyPr wrap="square" lIns="0" tIns="0" rIns="0" bIns="0" rtlCol="0" anchor="ctr"/>
          <a:lstStyle/>
          <a:p>
            <a:pPr rtl="1" algn="r" indent="0" marL="0">
              <a:buNone/>
            </a:pPr>
            <a:r>
              <a:rPr lang="he-IL" altLang="en-US" sz="1400" dirty="0">
                <a:solidFill>
                  <a:srgbClr val="FFFFFF"/>
                </a:solidFill>
                <a:latin typeface="Arial" pitchFamily="34" charset="0"/>
                <a:ea typeface="Arial" pitchFamily="34" charset="-122"/>
                <a:cs typeface="Arial" pitchFamily="34" charset="-120"/>
              </a:rPr>
              <a:t>מה קורה לשיעור עצמו?</a:t>
            </a:r>
            <a:endParaRPr lang="he-IL" sz="1400" dirty="0"/>
          </a:p>
        </p:txBody>
      </p:sp>
      <p:sp>
        <p:nvSpPr>
          <p:cNvPr id="21" name="Shape 16"/>
          <p:cNvSpPr/>
          <p:nvPr/>
        </p:nvSpPr>
        <p:spPr>
          <a:xfrm>
            <a:off x="3904488" y="4416552"/>
            <a:ext cx="347472" cy="347472"/>
          </a:xfrm>
          <a:prstGeom prst="ellipse">
            <a:avLst/>
          </a:prstGeom>
          <a:solidFill>
            <a:srgbClr val="E9A23B"/>
          </a:solidFill>
          <a:ln w="12700">
            <a:solidFill>
              <a:srgbClr val="E9A23B"/>
            </a:solidFill>
            <a:prstDash val="solid"/>
          </a:ln>
        </p:spPr>
      </p:sp>
      <p:pic>
        <p:nvPicPr>
          <p:cNvPr id="22" name="Image 3" descr="preencoded.png">    </p:cNvPr>
          <p:cNvPicPr>
            <a:picLocks noChangeAspect="1"/>
          </p:cNvPicPr>
          <p:nvPr/>
        </p:nvPicPr>
        <p:blipFill>
          <a:blip r:embed="rId4"/>
          <a:stretch>
            <a:fillRect/>
          </a:stretch>
        </p:blipFill>
        <p:spPr>
          <a:xfrm>
            <a:off x="3991356" y="4503420"/>
            <a:ext cx="173736" cy="173736"/>
          </a:xfrm>
          <a:prstGeom prst="rect">
            <a:avLst/>
          </a:prstGeom>
        </p:spPr>
      </p:pic>
      <p:sp>
        <p:nvSpPr>
          <p:cNvPr id="23" name="Text 17"/>
          <p:cNvSpPr txBox="1"/>
          <p:nvPr/>
        </p:nvSpPr>
        <p:spPr>
          <a:xfrm>
            <a:off x="548640" y="4416552"/>
            <a:ext cx="3200400" cy="347472"/>
          </a:xfrm>
          <a:prstGeom prst="rect">
            <a:avLst/>
          </a:prstGeom>
          <a:noFill/>
          <a:ln/>
        </p:spPr>
        <p:txBody>
          <a:bodyPr wrap="square" lIns="0" tIns="0" rIns="0" bIns="0" rtlCol="0" anchor="ctr"/>
          <a:lstStyle/>
          <a:p>
            <a:pPr rtl="1" algn="r" indent="0" marL="0">
              <a:buNone/>
            </a:pPr>
            <a:r>
              <a:rPr lang="he-IL" altLang="en-US" sz="1400" dirty="0">
                <a:solidFill>
                  <a:srgbClr val="FFFFFF"/>
                </a:solidFill>
                <a:latin typeface="Arial" pitchFamily="34" charset="0"/>
                <a:ea typeface="Arial" pitchFamily="34" charset="-122"/>
                <a:cs typeface="Arial" pitchFamily="34" charset="-120"/>
              </a:rPr>
              <a:t>מה המחיר לצוות שמחליף?</a:t>
            </a:r>
            <a:endParaRPr lang="he-IL" sz="1400" dirty="0"/>
          </a:p>
        </p:txBody>
      </p:sp>
      <p:sp>
        <p:nvSpPr>
          <p:cNvPr id="24" name="Shape 18"/>
          <p:cNvSpPr/>
          <p:nvPr/>
        </p:nvSpPr>
        <p:spPr>
          <a:xfrm>
            <a:off x="548640" y="5120640"/>
            <a:ext cx="11091672" cy="1143000"/>
          </a:xfrm>
          <a:prstGeom prst="roundRect">
            <a:avLst>
              <a:gd name="adj" fmla="val 9600"/>
            </a:avLst>
          </a:prstGeom>
          <a:solidFill>
            <a:srgbClr val="12343B"/>
          </a:solidFill>
          <a:ln w="19050">
            <a:solidFill>
              <a:srgbClr val="E9A23B"/>
            </a:solidFill>
            <a:prstDash val="solid"/>
          </a:ln>
        </p:spPr>
      </p:sp>
      <p:sp>
        <p:nvSpPr>
          <p:cNvPr id="25" name="Shape 19"/>
          <p:cNvSpPr/>
          <p:nvPr/>
        </p:nvSpPr>
        <p:spPr>
          <a:xfrm>
            <a:off x="10927080" y="5330952"/>
            <a:ext cx="502920" cy="502920"/>
          </a:xfrm>
          <a:prstGeom prst="ellipse">
            <a:avLst/>
          </a:prstGeom>
          <a:solidFill>
            <a:srgbClr val="E9A23B"/>
          </a:solidFill>
          <a:ln w="12700">
            <a:solidFill>
              <a:srgbClr val="E9A23B"/>
            </a:solidFill>
            <a:prstDash val="solid"/>
          </a:ln>
        </p:spPr>
      </p:sp>
      <p:pic>
        <p:nvPicPr>
          <p:cNvPr id="26" name="Image 4" descr="preencoded.png">    </p:cNvPr>
          <p:cNvPicPr>
            <a:picLocks noChangeAspect="1"/>
          </p:cNvPicPr>
          <p:nvPr/>
        </p:nvPicPr>
        <p:blipFill>
          <a:blip r:embed="rId5"/>
          <a:stretch>
            <a:fillRect/>
          </a:stretch>
        </p:blipFill>
        <p:spPr>
          <a:xfrm>
            <a:off x="11052810" y="5456682"/>
            <a:ext cx="251460" cy="251460"/>
          </a:xfrm>
          <a:prstGeom prst="rect">
            <a:avLst/>
          </a:prstGeom>
        </p:spPr>
      </p:pic>
      <p:sp>
        <p:nvSpPr>
          <p:cNvPr id="27" name="Text 20"/>
          <p:cNvSpPr txBox="1"/>
          <p:nvPr/>
        </p:nvSpPr>
        <p:spPr>
          <a:xfrm>
            <a:off x="822960" y="5257800"/>
            <a:ext cx="9921240" cy="868680"/>
          </a:xfrm>
          <a:prstGeom prst="rect">
            <a:avLst/>
          </a:prstGeom>
          <a:noFill/>
          <a:ln/>
        </p:spPr>
        <p:txBody>
          <a:bodyPr wrap="square" lIns="0" tIns="0" rIns="0" bIns="0" rtlCol="0" anchor="ctr"/>
          <a:lstStyle/>
          <a:p>
            <a:pPr algn="r" indent="0" marL="0">
              <a:buNone/>
            </a:pPr>
            <a:r>
              <a:rPr lang="he-IL" altLang="en-US" sz="1800" b="1" dirty="0">
                <a:solidFill>
                  <a:srgbClr val="E9A23B"/>
                </a:solidFill>
                <a:latin typeface="Arial" pitchFamily="34" charset="0"/>
                <a:ea typeface="Arial" pitchFamily="34" charset="-122"/>
                <a:cs typeface="Arial" pitchFamily="34" charset="-120"/>
              </a:rPr>
              <a:t>המחקר שלנו חשוב כי </a:t>
            </a:r>
            <a:pPr algn="r" indent="0" marL="0">
              <a:buNone/>
            </a:pPr>
            <a:r>
              <a:rPr lang="he-IL" altLang="en-US" sz="1800" dirty="0">
                <a:solidFill>
                  <a:srgbClr val="FFFFFF"/>
                </a:solidFill>
                <a:latin typeface="Arial" pitchFamily="34" charset="0"/>
                <a:ea typeface="Arial" pitchFamily="34" charset="-122"/>
                <a:cs typeface="Arial" pitchFamily="34" charset="-120"/>
              </a:rPr>
              <a:t>היעדרות מורים קורית כמעט בכל יום, וההחלטה של המנהל באותו בוקר קובעת אם התלמידים יקבלו שיעור אמיתי או רק השגחה.</a:t>
            </a:r>
            <a:endParaRPr lang="he-IL"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2</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מה אנחנו כבר יודעים ומה עדיין לא?</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600" b="1" dirty="0">
                <a:solidFill>
                  <a:srgbClr val="12343B"/>
                </a:solidFill>
                <a:latin typeface="Arial" pitchFamily="34" charset="0"/>
                <a:ea typeface="Arial" pitchFamily="34" charset="-122"/>
                <a:cs typeface="Arial" pitchFamily="34" charset="-120"/>
              </a:rPr>
              <a:t>הספרות שינתה את השאלה שלנו</a:t>
            </a:r>
            <a:endParaRPr lang="he-IL" sz="3600" dirty="0"/>
          </a:p>
        </p:txBody>
      </p:sp>
      <p:sp>
        <p:nvSpPr>
          <p:cNvPr id="6" name="Shape 4"/>
          <p:cNvSpPr/>
          <p:nvPr/>
        </p:nvSpPr>
        <p:spPr>
          <a:xfrm>
            <a:off x="8119872" y="1965960"/>
            <a:ext cx="3520440" cy="2331720"/>
          </a:xfrm>
          <a:prstGeom prst="roundRect">
            <a:avLst>
              <a:gd name="adj" fmla="val 4706"/>
            </a:avLst>
          </a:prstGeom>
          <a:solidFill>
            <a:srgbClr val="E4F0F0"/>
          </a:solidFill>
          <a:ln w="12700">
            <a:solidFill>
              <a:srgbClr val="E4F0F0"/>
            </a:solidFill>
            <a:prstDash val="solid"/>
          </a:ln>
        </p:spPr>
      </p:sp>
      <p:sp>
        <p:nvSpPr>
          <p:cNvPr id="7" name="Shape 5"/>
          <p:cNvSpPr/>
          <p:nvPr/>
        </p:nvSpPr>
        <p:spPr>
          <a:xfrm>
            <a:off x="10954512" y="2167128"/>
            <a:ext cx="457200" cy="457200"/>
          </a:xfrm>
          <a:prstGeom prst="ellipse">
            <a:avLst/>
          </a:prstGeom>
          <a:solidFill>
            <a:srgbClr val="12343B"/>
          </a:solidFill>
          <a:ln w="12700">
            <a:solidFill>
              <a:srgbClr val="12343B"/>
            </a:solidFill>
            <a:prstDash val="solid"/>
          </a:ln>
        </p:spPr>
      </p:sp>
      <p:pic>
        <p:nvPicPr>
          <p:cNvPr id="8" name="Image 0" descr="preencoded.png">    </p:cNvPr>
          <p:cNvPicPr>
            <a:picLocks noChangeAspect="1"/>
          </p:cNvPicPr>
          <p:nvPr/>
        </p:nvPicPr>
        <p:blipFill>
          <a:blip r:embed="rId1"/>
          <a:stretch>
            <a:fillRect/>
          </a:stretch>
        </p:blipFill>
        <p:spPr>
          <a:xfrm>
            <a:off x="11068812" y="2281428"/>
            <a:ext cx="228600" cy="228600"/>
          </a:xfrm>
          <a:prstGeom prst="rect">
            <a:avLst/>
          </a:prstGeom>
        </p:spPr>
      </p:pic>
      <p:sp>
        <p:nvSpPr>
          <p:cNvPr id="9" name="Text 6"/>
          <p:cNvSpPr txBox="1"/>
          <p:nvPr/>
        </p:nvSpPr>
        <p:spPr>
          <a:xfrm>
            <a:off x="8348472" y="2194560"/>
            <a:ext cx="2468880" cy="411480"/>
          </a:xfrm>
          <a:prstGeom prst="rect">
            <a:avLst/>
          </a:prstGeom>
          <a:noFill/>
          <a:ln/>
        </p:spPr>
        <p:txBody>
          <a:bodyPr wrap="square" lIns="0" tIns="0" rIns="0" bIns="0" rtlCol="0" anchor="ctr"/>
          <a:lstStyle/>
          <a:p>
            <a:pPr rtl="1" algn="r" indent="0" marL="0">
              <a:buNone/>
            </a:pPr>
            <a:r>
              <a:rPr lang="he-IL" altLang="en-US" sz="1800" b="1" dirty="0">
                <a:solidFill>
                  <a:srgbClr val="12343B"/>
                </a:solidFill>
                <a:latin typeface="Arial" pitchFamily="34" charset="0"/>
                <a:ea typeface="Arial" pitchFamily="34" charset="-122"/>
                <a:cs typeface="Arial" pitchFamily="34" charset="-120"/>
              </a:rPr>
              <a:t>מה כבר ידוע</a:t>
            </a:r>
            <a:endParaRPr lang="he-IL" sz="1800" dirty="0"/>
          </a:p>
        </p:txBody>
      </p:sp>
      <p:sp>
        <p:nvSpPr>
          <p:cNvPr id="10" name="Shape 7"/>
          <p:cNvSpPr/>
          <p:nvPr/>
        </p:nvSpPr>
        <p:spPr>
          <a:xfrm>
            <a:off x="4334256" y="1965960"/>
            <a:ext cx="3520440" cy="2331720"/>
          </a:xfrm>
          <a:prstGeom prst="roundRect">
            <a:avLst>
              <a:gd name="adj" fmla="val 4706"/>
            </a:avLst>
          </a:prstGeom>
          <a:solidFill>
            <a:srgbClr val="E4F0F0"/>
          </a:solidFill>
          <a:ln w="12700">
            <a:solidFill>
              <a:srgbClr val="E4F0F0"/>
            </a:solidFill>
            <a:prstDash val="solid"/>
          </a:ln>
        </p:spPr>
      </p:sp>
      <p:sp>
        <p:nvSpPr>
          <p:cNvPr id="11" name="Shape 8"/>
          <p:cNvSpPr/>
          <p:nvPr/>
        </p:nvSpPr>
        <p:spPr>
          <a:xfrm>
            <a:off x="7168896" y="2167128"/>
            <a:ext cx="457200" cy="457200"/>
          </a:xfrm>
          <a:prstGeom prst="ellipse">
            <a:avLst/>
          </a:prstGeom>
          <a:solidFill>
            <a:srgbClr val="12343B"/>
          </a:solidFill>
          <a:ln w="12700">
            <a:solidFill>
              <a:srgbClr val="12343B"/>
            </a:solidFill>
            <a:prstDash val="solid"/>
          </a:ln>
        </p:spPr>
      </p:sp>
      <p:pic>
        <p:nvPicPr>
          <p:cNvPr id="12" name="Image 1" descr="preencoded.png">    </p:cNvPr>
          <p:cNvPicPr>
            <a:picLocks noChangeAspect="1"/>
          </p:cNvPicPr>
          <p:nvPr/>
        </p:nvPicPr>
        <p:blipFill>
          <a:blip r:embed="rId2"/>
          <a:stretch>
            <a:fillRect/>
          </a:stretch>
        </p:blipFill>
        <p:spPr>
          <a:xfrm>
            <a:off x="7283196" y="2281428"/>
            <a:ext cx="228600" cy="228600"/>
          </a:xfrm>
          <a:prstGeom prst="rect">
            <a:avLst/>
          </a:prstGeom>
        </p:spPr>
      </p:pic>
      <p:sp>
        <p:nvSpPr>
          <p:cNvPr id="13" name="Text 9"/>
          <p:cNvSpPr txBox="1"/>
          <p:nvPr/>
        </p:nvSpPr>
        <p:spPr>
          <a:xfrm>
            <a:off x="4562856" y="2194560"/>
            <a:ext cx="2468880" cy="411480"/>
          </a:xfrm>
          <a:prstGeom prst="rect">
            <a:avLst/>
          </a:prstGeom>
          <a:noFill/>
          <a:ln/>
        </p:spPr>
        <p:txBody>
          <a:bodyPr wrap="square" lIns="0" tIns="0" rIns="0" bIns="0" rtlCol="0" anchor="ctr"/>
          <a:lstStyle/>
          <a:p>
            <a:pPr rtl="1" algn="r" indent="0" marL="0">
              <a:buNone/>
            </a:pPr>
            <a:r>
              <a:rPr lang="he-IL" altLang="en-US" sz="1800" b="1" dirty="0">
                <a:solidFill>
                  <a:srgbClr val="12343B"/>
                </a:solidFill>
                <a:latin typeface="Arial" pitchFamily="34" charset="0"/>
                <a:ea typeface="Arial" pitchFamily="34" charset="-122"/>
                <a:cs typeface="Arial" pitchFamily="34" charset="-120"/>
              </a:rPr>
              <a:t>איפה המתח</a:t>
            </a:r>
            <a:endParaRPr lang="he-IL" sz="1800" dirty="0"/>
          </a:p>
        </p:txBody>
      </p:sp>
      <p:sp>
        <p:nvSpPr>
          <p:cNvPr id="14" name="Shape 10"/>
          <p:cNvSpPr/>
          <p:nvPr/>
        </p:nvSpPr>
        <p:spPr>
          <a:xfrm>
            <a:off x="548640" y="1965960"/>
            <a:ext cx="3520440" cy="2331720"/>
          </a:xfrm>
          <a:prstGeom prst="roundRect">
            <a:avLst>
              <a:gd name="adj" fmla="val 4706"/>
            </a:avLst>
          </a:prstGeom>
          <a:solidFill>
            <a:srgbClr val="E4F0F0"/>
          </a:solidFill>
          <a:ln w="12700">
            <a:solidFill>
              <a:srgbClr val="E4F0F0"/>
            </a:solidFill>
            <a:prstDash val="solid"/>
          </a:ln>
        </p:spPr>
      </p:sp>
      <p:sp>
        <p:nvSpPr>
          <p:cNvPr id="15" name="Shape 11"/>
          <p:cNvSpPr/>
          <p:nvPr/>
        </p:nvSpPr>
        <p:spPr>
          <a:xfrm>
            <a:off x="3383280" y="2167128"/>
            <a:ext cx="457200" cy="457200"/>
          </a:xfrm>
          <a:prstGeom prst="ellipse">
            <a:avLst/>
          </a:prstGeom>
          <a:solidFill>
            <a:srgbClr val="12343B"/>
          </a:solidFill>
          <a:ln w="12700">
            <a:solidFill>
              <a:srgbClr val="12343B"/>
            </a:solidFill>
            <a:prstDash val="solid"/>
          </a:ln>
        </p:spPr>
      </p:sp>
      <p:pic>
        <p:nvPicPr>
          <p:cNvPr id="16" name="Image 2" descr="preencoded.png">    </p:cNvPr>
          <p:cNvPicPr>
            <a:picLocks noChangeAspect="1"/>
          </p:cNvPicPr>
          <p:nvPr/>
        </p:nvPicPr>
        <p:blipFill>
          <a:blip r:embed="rId3"/>
          <a:stretch>
            <a:fillRect/>
          </a:stretch>
        </p:blipFill>
        <p:spPr>
          <a:xfrm>
            <a:off x="3497580" y="2281428"/>
            <a:ext cx="228600" cy="228600"/>
          </a:xfrm>
          <a:prstGeom prst="rect">
            <a:avLst/>
          </a:prstGeom>
        </p:spPr>
      </p:pic>
      <p:sp>
        <p:nvSpPr>
          <p:cNvPr id="17" name="Text 12"/>
          <p:cNvSpPr txBox="1"/>
          <p:nvPr/>
        </p:nvSpPr>
        <p:spPr>
          <a:xfrm>
            <a:off x="777240" y="2194560"/>
            <a:ext cx="2468880" cy="411480"/>
          </a:xfrm>
          <a:prstGeom prst="rect">
            <a:avLst/>
          </a:prstGeom>
          <a:noFill/>
          <a:ln/>
        </p:spPr>
        <p:txBody>
          <a:bodyPr wrap="square" lIns="0" tIns="0" rIns="0" bIns="0" rtlCol="0" anchor="ctr"/>
          <a:lstStyle/>
          <a:p>
            <a:pPr rtl="1" algn="r" indent="0" marL="0">
              <a:buNone/>
            </a:pPr>
            <a:r>
              <a:rPr lang="he-IL" altLang="en-US" sz="1800" b="1" dirty="0">
                <a:solidFill>
                  <a:srgbClr val="12343B"/>
                </a:solidFill>
                <a:latin typeface="Arial" pitchFamily="34" charset="0"/>
                <a:ea typeface="Arial" pitchFamily="34" charset="-122"/>
                <a:cs typeface="Arial" pitchFamily="34" charset="-120"/>
              </a:rPr>
              <a:t>מה עדיין לא ברור</a:t>
            </a:r>
            <a:endParaRPr lang="he-IL" sz="1800" dirty="0"/>
          </a:p>
        </p:txBody>
      </p:sp>
      <p:sp>
        <p:nvSpPr>
          <p:cNvPr id="18" name="Shape 13"/>
          <p:cNvSpPr/>
          <p:nvPr/>
        </p:nvSpPr>
        <p:spPr>
          <a:xfrm>
            <a:off x="7827264" y="2971800"/>
            <a:ext cx="320040" cy="320040"/>
          </a:xfrm>
          <a:prstGeom prst="ellipse">
            <a:avLst/>
          </a:prstGeom>
          <a:solidFill>
            <a:srgbClr val="E9A23B"/>
          </a:solidFill>
          <a:ln w="12700">
            <a:solidFill>
              <a:srgbClr val="E9A23B"/>
            </a:solidFill>
            <a:prstDash val="solid"/>
          </a:ln>
        </p:spPr>
      </p:sp>
      <p:pic>
        <p:nvPicPr>
          <p:cNvPr id="19" name="Image 3" descr="preencoded.png">    </p:cNvPr>
          <p:cNvPicPr>
            <a:picLocks noChangeAspect="1"/>
          </p:cNvPicPr>
          <p:nvPr/>
        </p:nvPicPr>
        <p:blipFill>
          <a:blip r:embed="rId4"/>
          <a:stretch>
            <a:fillRect/>
          </a:stretch>
        </p:blipFill>
        <p:spPr>
          <a:xfrm>
            <a:off x="7907274" y="3051810"/>
            <a:ext cx="160020" cy="160020"/>
          </a:xfrm>
          <a:prstGeom prst="rect">
            <a:avLst/>
          </a:prstGeom>
        </p:spPr>
      </p:pic>
      <p:sp>
        <p:nvSpPr>
          <p:cNvPr id="20" name="Shape 14"/>
          <p:cNvSpPr/>
          <p:nvPr/>
        </p:nvSpPr>
        <p:spPr>
          <a:xfrm>
            <a:off x="4041648" y="2971800"/>
            <a:ext cx="320040" cy="320040"/>
          </a:xfrm>
          <a:prstGeom prst="ellipse">
            <a:avLst/>
          </a:prstGeom>
          <a:solidFill>
            <a:srgbClr val="E9A23B"/>
          </a:solidFill>
          <a:ln w="12700">
            <a:solidFill>
              <a:srgbClr val="E9A23B"/>
            </a:solidFill>
            <a:prstDash val="solid"/>
          </a:ln>
        </p:spPr>
      </p:sp>
      <p:pic>
        <p:nvPicPr>
          <p:cNvPr id="21" name="Image 4" descr="preencoded.png">    </p:cNvPr>
          <p:cNvPicPr>
            <a:picLocks noChangeAspect="1"/>
          </p:cNvPicPr>
          <p:nvPr/>
        </p:nvPicPr>
        <p:blipFill>
          <a:blip r:embed="rId5"/>
          <a:stretch>
            <a:fillRect/>
          </a:stretch>
        </p:blipFill>
        <p:spPr>
          <a:xfrm>
            <a:off x="4121658" y="3051810"/>
            <a:ext cx="160020" cy="160020"/>
          </a:xfrm>
          <a:prstGeom prst="rect">
            <a:avLst/>
          </a:prstGeom>
        </p:spPr>
      </p:pic>
      <p:sp>
        <p:nvSpPr>
          <p:cNvPr id="22" name="Text 15"/>
          <p:cNvSpPr txBox="1"/>
          <p:nvPr/>
        </p:nvSpPr>
        <p:spPr>
          <a:xfrm>
            <a:off x="8348472" y="2788920"/>
            <a:ext cx="3063240" cy="1371600"/>
          </a:xfrm>
          <a:prstGeom prst="rect">
            <a:avLst/>
          </a:prstGeom>
          <a:noFill/>
          <a:ln/>
        </p:spPr>
        <p:txBody>
          <a:bodyPr wrap="square" lIns="0" tIns="0" rIns="0" bIns="0" rtlCol="0" anchor="t"/>
          <a:lstStyle/>
          <a:p>
            <a:pPr algn="r" indent="0" marL="0">
              <a:buNone/>
            </a:pPr>
            <a:r>
              <a:rPr lang="he-IL" altLang="en-US" sz="1350" b="1" dirty="0">
                <a:solidFill>
                  <a:srgbClr val="1B2B2E"/>
                </a:solidFill>
                <a:latin typeface="Arial" pitchFamily="34" charset="0"/>
                <a:ea typeface="Arial" pitchFamily="34" charset="-122"/>
                <a:cs typeface="Arial" pitchFamily="34" charset="-120"/>
              </a:rPr>
              <a:t>היעדרויות פוגעות בלמידה, במיוחד כשהן מצטברות</a:t>
            </a:r>
            <a:endParaRPr lang="he-IL" sz="1350" dirty="0"/>
          </a:p>
          <a:p>
            <a:pPr algn="r" indent="0" marL="0">
              <a:buNone/>
            </a:pPr>
            <a:r>
              <a:rPr lang="he-IL" altLang="en-US" sz="1000" dirty="0">
                <a:solidFill>
                  <a:srgbClr val="4F6A6E"/>
                </a:solidFill>
                <a:latin typeface="Arial" pitchFamily="34" charset="0"/>
                <a:ea typeface="Arial" pitchFamily="34" charset="-122"/>
                <a:cs typeface="Arial" pitchFamily="34" charset="-120"/>
              </a:rPr>
              <a:t>Miller et al., 2008; Clotfelter et al., 2009</a:t>
            </a:r>
            <a:endParaRPr lang="he-IL" sz="1350" dirty="0"/>
          </a:p>
          <a:p>
            <a:pPr algn="r" indent="0" marL="0">
              <a:buNone/>
            </a:pPr>
            <a:r>
              <a:rPr lang="he-IL" altLang="en-US" sz="600" dirty="0">
                <a:solidFill>
                  <a:srgbClr val="1B2B2E"/>
                </a:solidFill>
                <a:latin typeface="Arial" pitchFamily="34" charset="0"/>
                <a:ea typeface="Arial" pitchFamily="34" charset="-122"/>
                <a:cs typeface="Arial" pitchFamily="34" charset="-120"/>
              </a:rPr>
              <a:t> </a:t>
            </a:r>
            <a:endParaRPr lang="he-IL" sz="1350" dirty="0"/>
          </a:p>
          <a:p>
            <a:pPr algn="r" indent="0" marL="0">
              <a:buNone/>
            </a:pPr>
            <a:r>
              <a:rPr lang="he-IL" altLang="en-US" sz="1350" b="1" dirty="0">
                <a:solidFill>
                  <a:srgbClr val="1B2B2E"/>
                </a:solidFill>
                <a:latin typeface="Arial" pitchFamily="34" charset="0"/>
                <a:ea typeface="Arial" pitchFamily="34" charset="-122"/>
                <a:cs typeface="Arial" pitchFamily="34" charset="-120"/>
              </a:rPr>
              <a:t>המנהל לא רק מגיב: האקלים שהוא יוצר קשור גם להיקף ההיעדרויות</a:t>
            </a:r>
            <a:endParaRPr lang="he-IL" sz="1350" dirty="0"/>
          </a:p>
          <a:p>
            <a:pPr algn="r" indent="0" marL="0">
              <a:buNone/>
            </a:pPr>
            <a:r>
              <a:rPr lang="he-IL" altLang="en-US" sz="1000" dirty="0">
                <a:solidFill>
                  <a:srgbClr val="4F6A6E"/>
                </a:solidFill>
                <a:latin typeface="Arial" pitchFamily="34" charset="0"/>
                <a:ea typeface="Arial" pitchFamily="34" charset="-122"/>
                <a:cs typeface="Arial" pitchFamily="34" charset="-120"/>
              </a:rPr>
              <a:t>Shapira-Lishchinsky &amp; Rosenblatt, 2010</a:t>
            </a:r>
            <a:endParaRPr lang="he-IL" sz="1350" dirty="0"/>
          </a:p>
        </p:txBody>
      </p:sp>
      <p:sp>
        <p:nvSpPr>
          <p:cNvPr id="23" name="Text 16"/>
          <p:cNvSpPr txBox="1"/>
          <p:nvPr/>
        </p:nvSpPr>
        <p:spPr>
          <a:xfrm>
            <a:off x="4562856" y="2788920"/>
            <a:ext cx="3063240" cy="1371600"/>
          </a:xfrm>
          <a:prstGeom prst="rect">
            <a:avLst/>
          </a:prstGeom>
          <a:noFill/>
          <a:ln/>
        </p:spPr>
        <p:txBody>
          <a:bodyPr wrap="square" lIns="0" tIns="0" rIns="0" bIns="0" rtlCol="0" anchor="t"/>
          <a:lstStyle/>
          <a:p>
            <a:pPr algn="r" indent="0" marL="0">
              <a:buNone/>
            </a:pPr>
            <a:r>
              <a:rPr lang="he-IL" altLang="en-US" sz="1350" b="1" dirty="0">
                <a:solidFill>
                  <a:srgbClr val="1B2B2E"/>
                </a:solidFill>
                <a:latin typeface="Arial" pitchFamily="34" charset="0"/>
                <a:ea typeface="Arial" pitchFamily="34" charset="-122"/>
                <a:cs typeface="Arial" pitchFamily="34" charset="-120"/>
              </a:rPr>
              <a:t>בתיאוריה: </a:t>
            </a:r>
            <a:pPr algn="r" indent="0" marL="0">
              <a:buNone/>
            </a:pPr>
            <a:r>
              <a:rPr lang="he-IL" altLang="en-US" sz="1350" dirty="0">
                <a:solidFill>
                  <a:srgbClr val="1B2B2E"/>
                </a:solidFill>
                <a:latin typeface="Arial" pitchFamily="34" charset="0"/>
                <a:ea typeface="Arial" pitchFamily="34" charset="-122"/>
                <a:cs typeface="Arial" pitchFamily="34" charset="-120"/>
              </a:rPr>
              <a:t>רצף לימודי הוא עניין פדגוגי, כלומר המשך תוכן, יחסים ושגרה.</a:t>
            </a:r>
            <a:endParaRPr lang="he-IL" sz="1350" dirty="0"/>
          </a:p>
          <a:p>
            <a:pPr algn="r" indent="0" marL="0">
              <a:buNone/>
            </a:pPr>
            <a:r>
              <a:rPr lang="he-IL" altLang="en-US" sz="600" dirty="0">
                <a:solidFill>
                  <a:srgbClr val="1B2B2E"/>
                </a:solidFill>
                <a:latin typeface="Arial" pitchFamily="34" charset="0"/>
                <a:ea typeface="Arial" pitchFamily="34" charset="-122"/>
                <a:cs typeface="Arial" pitchFamily="34" charset="-120"/>
              </a:rPr>
              <a:t> </a:t>
            </a:r>
            <a:endParaRPr lang="he-IL" sz="1350" dirty="0"/>
          </a:p>
          <a:p>
            <a:pPr algn="r" indent="0" marL="0">
              <a:buNone/>
            </a:pPr>
            <a:r>
              <a:rPr lang="he-IL" altLang="en-US" sz="1350" b="1" dirty="0">
                <a:solidFill>
                  <a:srgbClr val="1B2B2E"/>
                </a:solidFill>
                <a:latin typeface="Arial" pitchFamily="34" charset="0"/>
                <a:ea typeface="Arial" pitchFamily="34" charset="-122"/>
                <a:cs typeface="Arial" pitchFamily="34" charset="-120"/>
              </a:rPr>
              <a:t>במציאות, ב־7:30 בבוקר: </a:t>
            </a:r>
            <a:pPr algn="r" indent="0" marL="0">
              <a:buNone/>
            </a:pPr>
            <a:r>
              <a:rPr lang="he-IL" altLang="en-US" sz="1350" dirty="0">
                <a:solidFill>
                  <a:srgbClr val="1B2B2E"/>
                </a:solidFill>
                <a:latin typeface="Arial" pitchFamily="34" charset="0"/>
                <a:ea typeface="Arial" pitchFamily="34" charset="-122"/>
                <a:cs typeface="Arial" pitchFamily="34" charset="-120"/>
              </a:rPr>
              <a:t>קודם כול צריך שמישהו יהיה בכיתה.</a:t>
            </a:r>
            <a:endParaRPr lang="he-IL" sz="1350" dirty="0"/>
          </a:p>
        </p:txBody>
      </p:sp>
      <p:sp>
        <p:nvSpPr>
          <p:cNvPr id="24" name="Text 17"/>
          <p:cNvSpPr txBox="1"/>
          <p:nvPr/>
        </p:nvSpPr>
        <p:spPr>
          <a:xfrm>
            <a:off x="777240" y="2788920"/>
            <a:ext cx="3063240" cy="1371600"/>
          </a:xfrm>
          <a:prstGeom prst="rect">
            <a:avLst/>
          </a:prstGeom>
          <a:noFill/>
          <a:ln/>
        </p:spPr>
        <p:txBody>
          <a:bodyPr wrap="square" lIns="0" tIns="0" rIns="0" bIns="0" rtlCol="0" anchor="t"/>
          <a:lstStyle/>
          <a:p>
            <a:pPr algn="r" indent="0" marL="0">
              <a:buNone/>
            </a:pPr>
            <a:r>
              <a:rPr lang="he-IL" altLang="en-US" sz="1350" dirty="0">
                <a:solidFill>
                  <a:srgbClr val="1B2B2E"/>
                </a:solidFill>
                <a:latin typeface="Arial" pitchFamily="34" charset="0"/>
                <a:ea typeface="Arial" pitchFamily="34" charset="-122"/>
                <a:cs typeface="Arial" pitchFamily="34" charset="-120"/>
              </a:rPr>
              <a:t>המחקר בודק בעיקר </a:t>
            </a:r>
            <a:pPr algn="r" indent="0" marL="0">
              <a:buNone/>
            </a:pPr>
            <a:r>
              <a:rPr lang="he-IL" altLang="en-US" sz="1350" b="1" dirty="0">
                <a:solidFill>
                  <a:srgbClr val="1B2B2E"/>
                </a:solidFill>
                <a:latin typeface="Arial" pitchFamily="34" charset="0"/>
                <a:ea typeface="Arial" pitchFamily="34" charset="-122"/>
                <a:cs typeface="Arial" pitchFamily="34" charset="-120"/>
              </a:rPr>
              <a:t>כמה ולמה</a:t>
            </a:r>
            <a:pPr algn="r" indent="0" marL="0">
              <a:buNone/>
            </a:pPr>
            <a:r>
              <a:rPr lang="he-IL" altLang="en-US" sz="1350" dirty="0">
                <a:solidFill>
                  <a:srgbClr val="1B2B2E"/>
                </a:solidFill>
                <a:latin typeface="Arial" pitchFamily="34" charset="0"/>
                <a:ea typeface="Arial" pitchFamily="34" charset="-122"/>
                <a:cs typeface="Arial" pitchFamily="34" charset="-120"/>
              </a:rPr>
              <a:t> מורים נעדרים ומה המחיר.</a:t>
            </a:r>
            <a:endParaRPr lang="he-IL" sz="1350" dirty="0"/>
          </a:p>
          <a:p>
            <a:pPr algn="r" indent="0" marL="0">
              <a:buNone/>
            </a:pPr>
            <a:r>
              <a:rPr lang="he-IL" altLang="en-US" sz="600" dirty="0">
                <a:solidFill>
                  <a:srgbClr val="1B2B2E"/>
                </a:solidFill>
                <a:latin typeface="Arial" pitchFamily="34" charset="0"/>
                <a:ea typeface="Arial" pitchFamily="34" charset="-122"/>
                <a:cs typeface="Arial" pitchFamily="34" charset="-120"/>
              </a:rPr>
              <a:t> </a:t>
            </a:r>
            <a:endParaRPr lang="he-IL" sz="1350" dirty="0"/>
          </a:p>
          <a:p>
            <a:pPr algn="r" indent="0" marL="0">
              <a:buNone/>
            </a:pPr>
            <a:r>
              <a:rPr lang="he-IL" altLang="en-US" sz="1350" dirty="0">
                <a:solidFill>
                  <a:srgbClr val="1B2B2E"/>
                </a:solidFill>
                <a:latin typeface="Arial" pitchFamily="34" charset="0"/>
                <a:ea typeface="Arial" pitchFamily="34" charset="-122"/>
                <a:cs typeface="Arial" pitchFamily="34" charset="-120"/>
              </a:rPr>
              <a:t>מעט ידוע על מה שהמנהל </a:t>
            </a:r>
            <a:pPr algn="r" indent="0" marL="0">
              <a:buNone/>
            </a:pPr>
            <a:r>
              <a:rPr lang="he-IL" altLang="en-US" sz="1350" b="1" dirty="0">
                <a:solidFill>
                  <a:srgbClr val="1B2B2E"/>
                </a:solidFill>
                <a:latin typeface="Arial" pitchFamily="34" charset="0"/>
                <a:ea typeface="Arial" pitchFamily="34" charset="-122"/>
                <a:cs typeface="Arial" pitchFamily="34" charset="-120"/>
              </a:rPr>
              <a:t>עושה ושוקל</a:t>
            </a:r>
            <a:pPr algn="r" indent="0" marL="0">
              <a:buNone/>
            </a:pPr>
            <a:r>
              <a:rPr lang="he-IL" altLang="en-US" sz="1350" dirty="0">
                <a:solidFill>
                  <a:srgbClr val="1B2B2E"/>
                </a:solidFill>
                <a:latin typeface="Arial" pitchFamily="34" charset="0"/>
                <a:ea typeface="Arial" pitchFamily="34" charset="-122"/>
                <a:cs typeface="Arial" pitchFamily="34" charset="-120"/>
              </a:rPr>
              <a:t> ברגע ההיעדרות עצמו.</a:t>
            </a:r>
            <a:endParaRPr lang="he-IL" sz="1350" dirty="0"/>
          </a:p>
        </p:txBody>
      </p:sp>
      <p:sp>
        <p:nvSpPr>
          <p:cNvPr id="25" name="Shape 18"/>
          <p:cNvSpPr/>
          <p:nvPr/>
        </p:nvSpPr>
        <p:spPr>
          <a:xfrm>
            <a:off x="548640" y="4617720"/>
            <a:ext cx="11091672" cy="1645920"/>
          </a:xfrm>
          <a:prstGeom prst="roundRect">
            <a:avLst>
              <a:gd name="adj" fmla="val 6667"/>
            </a:avLst>
          </a:prstGeom>
          <a:solidFill>
            <a:srgbClr val="12343B"/>
          </a:solidFill>
          <a:ln w="12700">
            <a:solidFill>
              <a:srgbClr val="12343B"/>
            </a:solidFill>
            <a:prstDash val="solid"/>
          </a:ln>
        </p:spPr>
      </p:sp>
      <p:sp>
        <p:nvSpPr>
          <p:cNvPr id="26" name="Text 19"/>
          <p:cNvSpPr txBox="1"/>
          <p:nvPr/>
        </p:nvSpPr>
        <p:spPr>
          <a:xfrm>
            <a:off x="868680" y="4754880"/>
            <a:ext cx="10451592" cy="365760"/>
          </a:xfrm>
          <a:prstGeom prst="rect">
            <a:avLst/>
          </a:prstGeom>
          <a:noFill/>
          <a:ln/>
        </p:spPr>
        <p:txBody>
          <a:bodyPr wrap="square" lIns="0" tIns="0" rIns="0" bIns="0" rtlCol="0" anchor="t"/>
          <a:lstStyle/>
          <a:p>
            <a:pPr rtl="1" algn="r" indent="0" marL="0">
              <a:buNone/>
            </a:pPr>
            <a:r>
              <a:rPr lang="he-IL" altLang="en-US" sz="1400" b="1" dirty="0">
                <a:solidFill>
                  <a:srgbClr val="E9A23B"/>
                </a:solidFill>
                <a:latin typeface="Arial" pitchFamily="34" charset="0"/>
                <a:ea typeface="Arial" pitchFamily="34" charset="-122"/>
                <a:cs typeface="Arial" pitchFamily="34" charset="-120"/>
              </a:rPr>
              <a:t>השינוי בחשיבה שלנו</a:t>
            </a:r>
            <a:endParaRPr lang="he-IL" sz="1400" dirty="0"/>
          </a:p>
        </p:txBody>
      </p:sp>
      <p:sp>
        <p:nvSpPr>
          <p:cNvPr id="27" name="Text 20"/>
          <p:cNvSpPr txBox="1"/>
          <p:nvPr/>
        </p:nvSpPr>
        <p:spPr>
          <a:xfrm>
            <a:off x="6720840" y="5166360"/>
            <a:ext cx="4599432" cy="914400"/>
          </a:xfrm>
          <a:prstGeom prst="rect">
            <a:avLst/>
          </a:prstGeom>
          <a:noFill/>
          <a:ln/>
        </p:spPr>
        <p:txBody>
          <a:bodyPr wrap="square" lIns="0" tIns="0" rIns="0" bIns="0" rtlCol="0" anchor="ctr"/>
          <a:lstStyle/>
          <a:p>
            <a:pPr algn="r" indent="0" marL="0">
              <a:buNone/>
            </a:pPr>
            <a:r>
              <a:rPr lang="he-IL" altLang="en-US" sz="1600" b="1" dirty="0">
                <a:solidFill>
                  <a:srgbClr val="A9D2D5"/>
                </a:solidFill>
                <a:latin typeface="Arial" pitchFamily="34" charset="0"/>
                <a:ea typeface="Arial" pitchFamily="34" charset="-122"/>
                <a:cs typeface="Arial" pitchFamily="34" charset="-120"/>
              </a:rPr>
              <a:t>בתחילת הדרך חשבנו</a:t>
            </a:r>
            <a:endParaRPr lang="he-IL" sz="1600" dirty="0"/>
          </a:p>
          <a:p>
            <a:pPr algn="r" indent="0" marL="0">
              <a:buNone/>
            </a:pPr>
            <a:r>
              <a:rPr lang="he-IL" altLang="en-US" sz="1600" dirty="0">
                <a:solidFill>
                  <a:srgbClr val="A9D2D5"/>
                </a:solidFill>
                <a:latin typeface="Arial" pitchFamily="34" charset="0"/>
                <a:ea typeface="Arial" pitchFamily="34" charset="-122"/>
                <a:cs typeface="Arial" pitchFamily="34" charset="-120"/>
              </a:rPr>
              <a:t>שהבעיה לוגיסטית: למצוא ממלא מקום.</a:t>
            </a:r>
            <a:endParaRPr lang="he-IL" sz="1600" dirty="0"/>
          </a:p>
        </p:txBody>
      </p:sp>
      <p:sp>
        <p:nvSpPr>
          <p:cNvPr id="28" name="Shape 21"/>
          <p:cNvSpPr/>
          <p:nvPr/>
        </p:nvSpPr>
        <p:spPr>
          <a:xfrm>
            <a:off x="5852160" y="5394960"/>
            <a:ext cx="457200" cy="457200"/>
          </a:xfrm>
          <a:prstGeom prst="ellipse">
            <a:avLst/>
          </a:prstGeom>
          <a:solidFill>
            <a:srgbClr val="E9A23B"/>
          </a:solidFill>
          <a:ln w="12700">
            <a:solidFill>
              <a:srgbClr val="E9A23B"/>
            </a:solidFill>
            <a:prstDash val="solid"/>
          </a:ln>
        </p:spPr>
      </p:sp>
      <p:pic>
        <p:nvPicPr>
          <p:cNvPr id="29" name="Image 5" descr="preencoded.png">    </p:cNvPr>
          <p:cNvPicPr>
            <a:picLocks noChangeAspect="1"/>
          </p:cNvPicPr>
          <p:nvPr/>
        </p:nvPicPr>
        <p:blipFill>
          <a:blip r:embed="rId6"/>
          <a:stretch>
            <a:fillRect/>
          </a:stretch>
        </p:blipFill>
        <p:spPr>
          <a:xfrm>
            <a:off x="5966460" y="5509260"/>
            <a:ext cx="228600" cy="228600"/>
          </a:xfrm>
          <a:prstGeom prst="rect">
            <a:avLst/>
          </a:prstGeom>
        </p:spPr>
      </p:pic>
      <p:sp>
        <p:nvSpPr>
          <p:cNvPr id="30" name="Text 22"/>
          <p:cNvSpPr txBox="1"/>
          <p:nvPr/>
        </p:nvSpPr>
        <p:spPr>
          <a:xfrm>
            <a:off x="868680" y="5166360"/>
            <a:ext cx="4754880" cy="914400"/>
          </a:xfrm>
          <a:prstGeom prst="rect">
            <a:avLst/>
          </a:prstGeom>
          <a:noFill/>
          <a:ln/>
        </p:spPr>
        <p:txBody>
          <a:bodyPr wrap="square" lIns="0" tIns="0" rIns="0" bIns="0" rtlCol="0" anchor="ctr"/>
          <a:lstStyle/>
          <a:p>
            <a:pPr algn="r" indent="0" marL="0">
              <a:buNone/>
            </a:pPr>
            <a:r>
              <a:rPr lang="he-IL" altLang="en-US" sz="1600" b="1" dirty="0">
                <a:solidFill>
                  <a:srgbClr val="E9A23B"/>
                </a:solidFill>
                <a:latin typeface="Arial" pitchFamily="34" charset="0"/>
                <a:ea typeface="Arial" pitchFamily="34" charset="-122"/>
                <a:cs typeface="Arial" pitchFamily="34" charset="-120"/>
              </a:rPr>
              <a:t>היום אנחנו מבינים</a:t>
            </a:r>
            <a:endParaRPr lang="he-IL" sz="1600" dirty="0"/>
          </a:p>
          <a:p>
            <a:pPr algn="r" indent="0" marL="0">
              <a:buNone/>
            </a:pPr>
            <a:r>
              <a:rPr lang="he-IL" altLang="en-US" sz="1600" b="1" dirty="0">
                <a:solidFill>
                  <a:srgbClr val="FFFFFF"/>
                </a:solidFill>
                <a:latin typeface="Arial" pitchFamily="34" charset="0"/>
                <a:ea typeface="Arial" pitchFamily="34" charset="-122"/>
                <a:cs typeface="Arial" pitchFamily="34" charset="-120"/>
              </a:rPr>
              <a:t>שרצף הוא פדגוגי, ארגוני ורגשי, ושהמנהל פועל גם לפני ההיעדרות ולא רק אחריה.</a:t>
            </a:r>
            <a:endParaRPr lang="he-IL"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3</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יוצאים לשטח</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600" b="1" dirty="0">
                <a:solidFill>
                  <a:srgbClr val="12343B"/>
                </a:solidFill>
                <a:latin typeface="Arial" pitchFamily="34" charset="0"/>
                <a:ea typeface="Arial" pitchFamily="34" charset="-122"/>
                <a:cs typeface="Arial" pitchFamily="34" charset="-120"/>
              </a:rPr>
              <a:t>12 שיחות עם מי שמחליטים בבוקר</a:t>
            </a:r>
            <a:endParaRPr lang="he-IL" sz="3600" dirty="0"/>
          </a:p>
        </p:txBody>
      </p:sp>
      <p:sp>
        <p:nvSpPr>
          <p:cNvPr id="6" name="Shape 4"/>
          <p:cNvSpPr/>
          <p:nvPr/>
        </p:nvSpPr>
        <p:spPr>
          <a:xfrm>
            <a:off x="8778240" y="1965960"/>
            <a:ext cx="2862072" cy="2880360"/>
          </a:xfrm>
          <a:prstGeom prst="roundRect">
            <a:avLst>
              <a:gd name="adj" fmla="val 3834"/>
            </a:avLst>
          </a:prstGeom>
          <a:solidFill>
            <a:srgbClr val="12343B"/>
          </a:solidFill>
          <a:ln w="12700">
            <a:solidFill>
              <a:srgbClr val="12343B"/>
            </a:solidFill>
            <a:prstDash val="solid"/>
          </a:ln>
        </p:spPr>
      </p:sp>
      <p:sp>
        <p:nvSpPr>
          <p:cNvPr id="7" name="Text 5"/>
          <p:cNvSpPr txBox="1"/>
          <p:nvPr/>
        </p:nvSpPr>
        <p:spPr>
          <a:xfrm>
            <a:off x="9006840" y="2148840"/>
            <a:ext cx="2404872" cy="320040"/>
          </a:xfrm>
          <a:prstGeom prst="rect">
            <a:avLst/>
          </a:prstGeom>
          <a:noFill/>
          <a:ln/>
        </p:spPr>
        <p:txBody>
          <a:bodyPr wrap="square" lIns="0" tIns="0" rIns="0" bIns="0" rtlCol="0" anchor="t"/>
          <a:lstStyle/>
          <a:p>
            <a:pPr rtl="1" algn="r" indent="0" marL="0">
              <a:buNone/>
            </a:pPr>
            <a:r>
              <a:rPr lang="he-IL" altLang="en-US" sz="1400" b="1" dirty="0">
                <a:solidFill>
                  <a:srgbClr val="E9A23B"/>
                </a:solidFill>
                <a:latin typeface="Arial" pitchFamily="34" charset="0"/>
                <a:ea typeface="Arial" pitchFamily="34" charset="-122"/>
                <a:cs typeface="Arial" pitchFamily="34" charset="-120"/>
              </a:rPr>
              <a:t>את מי נחקור</a:t>
            </a:r>
            <a:endParaRPr lang="he-IL" sz="1400" dirty="0"/>
          </a:p>
        </p:txBody>
      </p:sp>
      <p:sp>
        <p:nvSpPr>
          <p:cNvPr id="8" name="Text 6"/>
          <p:cNvSpPr txBox="1"/>
          <p:nvPr/>
        </p:nvSpPr>
        <p:spPr>
          <a:xfrm>
            <a:off x="9006840" y="2423160"/>
            <a:ext cx="2404872" cy="868680"/>
          </a:xfrm>
          <a:prstGeom prst="rect">
            <a:avLst/>
          </a:prstGeom>
          <a:noFill/>
          <a:ln/>
        </p:spPr>
        <p:txBody>
          <a:bodyPr wrap="square" lIns="0" tIns="0" rIns="0" bIns="0" rtlCol="0" anchor="ctr"/>
          <a:lstStyle/>
          <a:p>
            <a:pPr algn="r" indent="0" marL="0">
              <a:buNone/>
            </a:pPr>
            <a:r>
              <a:rPr lang="en-US" sz="6000" b="1" dirty="0">
                <a:solidFill>
                  <a:srgbClr val="FFFFFF"/>
                </a:solidFill>
                <a:latin typeface="Arial" pitchFamily="34" charset="0"/>
                <a:ea typeface="Arial" pitchFamily="34" charset="-122"/>
                <a:cs typeface="Arial" pitchFamily="34" charset="-120"/>
              </a:rPr>
              <a:t>12</a:t>
            </a:r>
            <a:endParaRPr lang="en-US" sz="6000" dirty="0"/>
          </a:p>
        </p:txBody>
      </p:sp>
      <p:sp>
        <p:nvSpPr>
          <p:cNvPr id="9" name="Text 7"/>
          <p:cNvSpPr txBox="1"/>
          <p:nvPr/>
        </p:nvSpPr>
        <p:spPr>
          <a:xfrm>
            <a:off x="9006840" y="3429000"/>
            <a:ext cx="2404872" cy="1280160"/>
          </a:xfrm>
          <a:prstGeom prst="rect">
            <a:avLst/>
          </a:prstGeom>
          <a:noFill/>
          <a:ln/>
        </p:spPr>
        <p:txBody>
          <a:bodyPr wrap="square" lIns="0" tIns="0" rIns="0" bIns="0" rtlCol="0" anchor="t"/>
          <a:lstStyle/>
          <a:p>
            <a:pPr algn="r" indent="0" marL="0">
              <a:buNone/>
            </a:pPr>
            <a:r>
              <a:rPr lang="he-IL" altLang="en-US" sz="1600" b="1" dirty="0">
                <a:solidFill>
                  <a:srgbClr val="FFFFFF"/>
                </a:solidFill>
                <a:latin typeface="Arial" pitchFamily="34" charset="0"/>
                <a:ea typeface="Arial" pitchFamily="34" charset="-122"/>
                <a:cs typeface="Arial" pitchFamily="34" charset="-120"/>
              </a:rPr>
              <a:t>מנהלים ומנהלות</a:t>
            </a:r>
            <a:endParaRPr lang="he-IL" sz="1600" dirty="0"/>
          </a:p>
          <a:p>
            <a:pPr algn="r" indent="0" marL="0">
              <a:buNone/>
            </a:pPr>
            <a:r>
              <a:rPr lang="he-IL" altLang="en-US" sz="1200" dirty="0">
                <a:solidFill>
                  <a:srgbClr val="A9D2D5"/>
                </a:solidFill>
                <a:latin typeface="Arial" pitchFamily="34" charset="0"/>
                <a:ea typeface="Arial" pitchFamily="34" charset="-122"/>
                <a:cs typeface="Arial" pitchFamily="34" charset="-120"/>
              </a:rPr>
              <a:t>בצפון הארץ, מאזורים ויישובים שונים: עירוני וכפרי, יסודי ועל־יסודי, ותק שונה</a:t>
            </a:r>
            <a:endParaRPr lang="he-IL" sz="1600" dirty="0"/>
          </a:p>
          <a:p>
            <a:pPr algn="r" indent="0" marL="0">
              <a:buNone/>
            </a:pPr>
            <a:r>
              <a:rPr lang="he-IL" altLang="en-US" sz="500" dirty="0">
                <a:solidFill>
                  <a:srgbClr val="FFFFFF"/>
                </a:solidFill>
                <a:latin typeface="Arial" pitchFamily="34" charset="0"/>
                <a:ea typeface="Arial" pitchFamily="34" charset="-122"/>
                <a:cs typeface="Arial" pitchFamily="34" charset="-120"/>
              </a:rPr>
              <a:t> </a:t>
            </a:r>
            <a:endParaRPr lang="he-IL" sz="1600" dirty="0"/>
          </a:p>
          <a:p>
            <a:pPr algn="r" indent="0" marL="0">
              <a:buNone/>
            </a:pPr>
            <a:r>
              <a:rPr lang="he-IL" altLang="en-US" sz="1200" b="1" dirty="0">
                <a:solidFill>
                  <a:srgbClr val="E9A23B"/>
                </a:solidFill>
                <a:latin typeface="Arial" pitchFamily="34" charset="0"/>
                <a:ea typeface="Arial" pitchFamily="34" charset="-122"/>
                <a:cs typeface="Arial" pitchFamily="34" charset="-120"/>
              </a:rPr>
              <a:t>למה הם? הם מקבלי ההחלטות.</a:t>
            </a:r>
            <a:endParaRPr lang="he-IL" sz="1600" dirty="0"/>
          </a:p>
        </p:txBody>
      </p:sp>
      <p:sp>
        <p:nvSpPr>
          <p:cNvPr id="10" name="Shape 8"/>
          <p:cNvSpPr/>
          <p:nvPr/>
        </p:nvSpPr>
        <p:spPr>
          <a:xfrm>
            <a:off x="4663440" y="1965960"/>
            <a:ext cx="3840480" cy="1371600"/>
          </a:xfrm>
          <a:prstGeom prst="roundRect">
            <a:avLst>
              <a:gd name="adj" fmla="val 6667"/>
            </a:avLst>
          </a:prstGeom>
          <a:solidFill>
            <a:srgbClr val="E4F0F0"/>
          </a:solidFill>
          <a:ln w="12700">
            <a:solidFill>
              <a:srgbClr val="E4F0F0"/>
            </a:solidFill>
            <a:prstDash val="solid"/>
          </a:ln>
        </p:spPr>
      </p:sp>
      <p:sp>
        <p:nvSpPr>
          <p:cNvPr id="11" name="Shape 9"/>
          <p:cNvSpPr/>
          <p:nvPr/>
        </p:nvSpPr>
        <p:spPr>
          <a:xfrm>
            <a:off x="7936992" y="2121408"/>
            <a:ext cx="402336" cy="402336"/>
          </a:xfrm>
          <a:prstGeom prst="ellipse">
            <a:avLst/>
          </a:prstGeom>
          <a:solidFill>
            <a:srgbClr val="12343B"/>
          </a:solidFill>
          <a:ln w="12700">
            <a:solidFill>
              <a:srgbClr val="12343B"/>
            </a:solidFill>
            <a:prstDash val="solid"/>
          </a:ln>
        </p:spPr>
      </p:sp>
      <p:pic>
        <p:nvPicPr>
          <p:cNvPr id="12" name="Image 0" descr="preencoded.png">    </p:cNvPr>
          <p:cNvPicPr>
            <a:picLocks noChangeAspect="1"/>
          </p:cNvPicPr>
          <p:nvPr/>
        </p:nvPicPr>
        <p:blipFill>
          <a:blip r:embed="rId1"/>
          <a:stretch>
            <a:fillRect/>
          </a:stretch>
        </p:blipFill>
        <p:spPr>
          <a:xfrm>
            <a:off x="8037576" y="2221992"/>
            <a:ext cx="201168" cy="201168"/>
          </a:xfrm>
          <a:prstGeom prst="rect">
            <a:avLst/>
          </a:prstGeom>
        </p:spPr>
      </p:pic>
      <p:sp>
        <p:nvSpPr>
          <p:cNvPr id="13" name="Text 10"/>
          <p:cNvSpPr txBox="1"/>
          <p:nvPr/>
        </p:nvSpPr>
        <p:spPr>
          <a:xfrm>
            <a:off x="4846320" y="2121408"/>
            <a:ext cx="2971800" cy="402336"/>
          </a:xfrm>
          <a:prstGeom prst="rect">
            <a:avLst/>
          </a:prstGeom>
          <a:noFill/>
          <a:ln/>
        </p:spPr>
        <p:txBody>
          <a:bodyPr wrap="square" lIns="0" tIns="0" rIns="0" bIns="0" rtlCol="0" anchor="ctr"/>
          <a:lstStyle/>
          <a:p>
            <a:pPr rtl="1" algn="r" indent="0" marL="0">
              <a:buNone/>
            </a:pPr>
            <a:r>
              <a:rPr lang="he-IL" altLang="en-US" sz="1500" b="1" dirty="0">
                <a:solidFill>
                  <a:srgbClr val="12343B"/>
                </a:solidFill>
                <a:latin typeface="Arial" pitchFamily="34" charset="0"/>
                <a:ea typeface="Arial" pitchFamily="34" charset="-122"/>
                <a:cs typeface="Arial" pitchFamily="34" charset="-120"/>
              </a:rPr>
              <a:t>איך נחקור</a:t>
            </a:r>
            <a:endParaRPr lang="he-IL" sz="1500" dirty="0"/>
          </a:p>
        </p:txBody>
      </p:sp>
      <p:sp>
        <p:nvSpPr>
          <p:cNvPr id="14" name="Text 11"/>
          <p:cNvSpPr txBox="1"/>
          <p:nvPr/>
        </p:nvSpPr>
        <p:spPr>
          <a:xfrm>
            <a:off x="4846320" y="2569464"/>
            <a:ext cx="3474720" cy="713232"/>
          </a:xfrm>
          <a:prstGeom prst="rect">
            <a:avLst/>
          </a:prstGeom>
          <a:noFill/>
          <a:ln/>
        </p:spPr>
        <p:txBody>
          <a:bodyPr wrap="square" lIns="0" tIns="0" rIns="0" bIns="0" rtlCol="0" anchor="t"/>
          <a:lstStyle/>
          <a:p>
            <a:pPr rtl="1" algn="r" indent="0" marL="0">
              <a:buNone/>
            </a:pPr>
            <a:r>
              <a:rPr lang="he-IL" altLang="en-US" sz="1200" dirty="0">
                <a:solidFill>
                  <a:srgbClr val="1B2B2E"/>
                </a:solidFill>
                <a:latin typeface="Arial" pitchFamily="34" charset="0"/>
                <a:ea typeface="Arial" pitchFamily="34" charset="-122"/>
                <a:cs typeface="Arial" pitchFamily="34" charset="-120"/>
              </a:rPr>
              <a:t>ראיון חצי מובנה (45 עד 60 דקות). נבקש מכל מנהל: "ספר/י לי על בוקר אחד של היעדרות". אחר כך ניתוח תמטי.</a:t>
            </a:r>
            <a:endParaRPr lang="he-IL" sz="1200" dirty="0"/>
          </a:p>
        </p:txBody>
      </p:sp>
      <p:sp>
        <p:nvSpPr>
          <p:cNvPr id="15" name="Shape 12"/>
          <p:cNvSpPr/>
          <p:nvPr/>
        </p:nvSpPr>
        <p:spPr>
          <a:xfrm>
            <a:off x="548640" y="1965960"/>
            <a:ext cx="3840480" cy="1371600"/>
          </a:xfrm>
          <a:prstGeom prst="roundRect">
            <a:avLst>
              <a:gd name="adj" fmla="val 6667"/>
            </a:avLst>
          </a:prstGeom>
          <a:solidFill>
            <a:srgbClr val="E4F0F0"/>
          </a:solidFill>
          <a:ln w="12700">
            <a:solidFill>
              <a:srgbClr val="E4F0F0"/>
            </a:solidFill>
            <a:prstDash val="solid"/>
          </a:ln>
        </p:spPr>
      </p:sp>
      <p:sp>
        <p:nvSpPr>
          <p:cNvPr id="16" name="Shape 13"/>
          <p:cNvSpPr/>
          <p:nvPr/>
        </p:nvSpPr>
        <p:spPr>
          <a:xfrm>
            <a:off x="3822192" y="2121408"/>
            <a:ext cx="402336" cy="402336"/>
          </a:xfrm>
          <a:prstGeom prst="ellipse">
            <a:avLst/>
          </a:prstGeom>
          <a:solidFill>
            <a:srgbClr val="12343B"/>
          </a:solidFill>
          <a:ln w="12700">
            <a:solidFill>
              <a:srgbClr val="12343B"/>
            </a:solidFill>
            <a:prstDash val="solid"/>
          </a:ln>
        </p:spPr>
      </p:sp>
      <p:pic>
        <p:nvPicPr>
          <p:cNvPr id="17" name="Image 1" descr="preencoded.png">    </p:cNvPr>
          <p:cNvPicPr>
            <a:picLocks noChangeAspect="1"/>
          </p:cNvPicPr>
          <p:nvPr/>
        </p:nvPicPr>
        <p:blipFill>
          <a:blip r:embed="rId2"/>
          <a:stretch>
            <a:fillRect/>
          </a:stretch>
        </p:blipFill>
        <p:spPr>
          <a:xfrm>
            <a:off x="3922776" y="2221992"/>
            <a:ext cx="201168" cy="201168"/>
          </a:xfrm>
          <a:prstGeom prst="rect">
            <a:avLst/>
          </a:prstGeom>
        </p:spPr>
      </p:pic>
      <p:sp>
        <p:nvSpPr>
          <p:cNvPr id="18" name="Text 14"/>
          <p:cNvSpPr txBox="1"/>
          <p:nvPr/>
        </p:nvSpPr>
        <p:spPr>
          <a:xfrm>
            <a:off x="731520" y="2121408"/>
            <a:ext cx="2971800" cy="402336"/>
          </a:xfrm>
          <a:prstGeom prst="rect">
            <a:avLst/>
          </a:prstGeom>
          <a:noFill/>
          <a:ln/>
        </p:spPr>
        <p:txBody>
          <a:bodyPr wrap="square" lIns="0" tIns="0" rIns="0" bIns="0" rtlCol="0" anchor="ctr"/>
          <a:lstStyle/>
          <a:p>
            <a:pPr rtl="1" algn="r" indent="0" marL="0">
              <a:buNone/>
            </a:pPr>
            <a:r>
              <a:rPr lang="he-IL" altLang="en-US" sz="1500" b="1" dirty="0">
                <a:solidFill>
                  <a:srgbClr val="12343B"/>
                </a:solidFill>
                <a:latin typeface="Arial" pitchFamily="34" charset="0"/>
                <a:ea typeface="Arial" pitchFamily="34" charset="-122"/>
                <a:cs typeface="Arial" pitchFamily="34" charset="-120"/>
              </a:rPr>
              <a:t>מה אנחנו מחפשים</a:t>
            </a:r>
            <a:endParaRPr lang="he-IL" sz="1500" dirty="0"/>
          </a:p>
        </p:txBody>
      </p:sp>
      <p:sp>
        <p:nvSpPr>
          <p:cNvPr id="19" name="Text 15"/>
          <p:cNvSpPr txBox="1"/>
          <p:nvPr/>
        </p:nvSpPr>
        <p:spPr>
          <a:xfrm>
            <a:off x="731520" y="2569464"/>
            <a:ext cx="3474720" cy="713232"/>
          </a:xfrm>
          <a:prstGeom prst="rect">
            <a:avLst/>
          </a:prstGeom>
          <a:noFill/>
          <a:ln/>
        </p:spPr>
        <p:txBody>
          <a:bodyPr wrap="square" lIns="0" tIns="0" rIns="0" bIns="0" rtlCol="0" anchor="t"/>
          <a:lstStyle/>
          <a:p>
            <a:pPr rtl="1" algn="r" indent="0" marL="0">
              <a:buNone/>
            </a:pPr>
            <a:r>
              <a:rPr lang="he-IL" altLang="en-US" sz="1200" dirty="0">
                <a:solidFill>
                  <a:srgbClr val="1B2B2E"/>
                </a:solidFill>
                <a:latin typeface="Arial" pitchFamily="34" charset="0"/>
                <a:ea typeface="Arial" pitchFamily="34" charset="-122"/>
                <a:cs typeface="Arial" pitchFamily="34" charset="-120"/>
              </a:rPr>
              <a:t>אסטרטגיות מונעות או מגיבות; היעדרות קצרה או ממושכת; שיקולים: פדגוגיה, תקציב, הוגנות לצוות, רווחת המורה.</a:t>
            </a:r>
            <a:endParaRPr lang="he-IL" sz="1200" dirty="0"/>
          </a:p>
        </p:txBody>
      </p:sp>
      <p:sp>
        <p:nvSpPr>
          <p:cNvPr id="20" name="Shape 16"/>
          <p:cNvSpPr/>
          <p:nvPr/>
        </p:nvSpPr>
        <p:spPr>
          <a:xfrm>
            <a:off x="4663440" y="3474720"/>
            <a:ext cx="3840480" cy="1371600"/>
          </a:xfrm>
          <a:prstGeom prst="roundRect">
            <a:avLst>
              <a:gd name="adj" fmla="val 6667"/>
            </a:avLst>
          </a:prstGeom>
          <a:solidFill>
            <a:srgbClr val="E4F0F0"/>
          </a:solidFill>
          <a:ln w="12700">
            <a:solidFill>
              <a:srgbClr val="E4F0F0"/>
            </a:solidFill>
            <a:prstDash val="solid"/>
          </a:ln>
        </p:spPr>
      </p:sp>
      <p:sp>
        <p:nvSpPr>
          <p:cNvPr id="21" name="Shape 17"/>
          <p:cNvSpPr/>
          <p:nvPr/>
        </p:nvSpPr>
        <p:spPr>
          <a:xfrm>
            <a:off x="7936992" y="3630168"/>
            <a:ext cx="402336" cy="402336"/>
          </a:xfrm>
          <a:prstGeom prst="ellipse">
            <a:avLst/>
          </a:prstGeom>
          <a:solidFill>
            <a:srgbClr val="12343B"/>
          </a:solidFill>
          <a:ln w="12700">
            <a:solidFill>
              <a:srgbClr val="12343B"/>
            </a:solidFill>
            <a:prstDash val="solid"/>
          </a:ln>
        </p:spPr>
      </p:sp>
      <p:pic>
        <p:nvPicPr>
          <p:cNvPr id="22" name="Image 2" descr="preencoded.png">    </p:cNvPr>
          <p:cNvPicPr>
            <a:picLocks noChangeAspect="1"/>
          </p:cNvPicPr>
          <p:nvPr/>
        </p:nvPicPr>
        <p:blipFill>
          <a:blip r:embed="rId3"/>
          <a:stretch>
            <a:fillRect/>
          </a:stretch>
        </p:blipFill>
        <p:spPr>
          <a:xfrm>
            <a:off x="8037576" y="3730752"/>
            <a:ext cx="201168" cy="201168"/>
          </a:xfrm>
          <a:prstGeom prst="rect">
            <a:avLst/>
          </a:prstGeom>
        </p:spPr>
      </p:pic>
      <p:sp>
        <p:nvSpPr>
          <p:cNvPr id="23" name="Text 18"/>
          <p:cNvSpPr txBox="1"/>
          <p:nvPr/>
        </p:nvSpPr>
        <p:spPr>
          <a:xfrm>
            <a:off x="4846320" y="3630168"/>
            <a:ext cx="2971800" cy="402336"/>
          </a:xfrm>
          <a:prstGeom prst="rect">
            <a:avLst/>
          </a:prstGeom>
          <a:noFill/>
          <a:ln/>
        </p:spPr>
        <p:txBody>
          <a:bodyPr wrap="square" lIns="0" tIns="0" rIns="0" bIns="0" rtlCol="0" anchor="ctr"/>
          <a:lstStyle/>
          <a:p>
            <a:pPr rtl="1" algn="r" indent="0" marL="0">
              <a:buNone/>
            </a:pPr>
            <a:r>
              <a:rPr lang="he-IL" altLang="en-US" sz="1500" b="1" dirty="0">
                <a:solidFill>
                  <a:srgbClr val="12343B"/>
                </a:solidFill>
                <a:latin typeface="Arial" pitchFamily="34" charset="0"/>
                <a:ea typeface="Arial" pitchFamily="34" charset="-122"/>
                <a:cs typeface="Arial" pitchFamily="34" charset="-120"/>
              </a:rPr>
              <a:t>האתגר הגדול</a:t>
            </a:r>
            <a:endParaRPr lang="he-IL" sz="1500" dirty="0"/>
          </a:p>
        </p:txBody>
      </p:sp>
      <p:sp>
        <p:nvSpPr>
          <p:cNvPr id="24" name="Text 19"/>
          <p:cNvSpPr txBox="1"/>
          <p:nvPr/>
        </p:nvSpPr>
        <p:spPr>
          <a:xfrm>
            <a:off x="4846320" y="4078224"/>
            <a:ext cx="3474720" cy="713232"/>
          </a:xfrm>
          <a:prstGeom prst="rect">
            <a:avLst/>
          </a:prstGeom>
          <a:noFill/>
          <a:ln/>
        </p:spPr>
        <p:txBody>
          <a:bodyPr wrap="square" lIns="0" tIns="0" rIns="0" bIns="0" rtlCol="0" anchor="t"/>
          <a:lstStyle/>
          <a:p>
            <a:pPr rtl="1" algn="r" indent="0" marL="0">
              <a:buNone/>
            </a:pPr>
            <a:r>
              <a:rPr lang="he-IL" altLang="en-US" sz="1200" dirty="0">
                <a:solidFill>
                  <a:srgbClr val="1B2B2E"/>
                </a:solidFill>
                <a:latin typeface="Arial" pitchFamily="34" charset="0"/>
                <a:ea typeface="Arial" pitchFamily="34" charset="-122"/>
                <a:cs typeface="Arial" pitchFamily="34" charset="-120"/>
              </a:rPr>
              <a:t>מנהלים עלולים להציג תמונה יפה מהמציאות, ומה שהם מתארים לא תמיד זהה למה שקורה. קשה גם למצוא זמן ביומן שלהם.</a:t>
            </a:r>
            <a:endParaRPr lang="he-IL" sz="1200" dirty="0"/>
          </a:p>
        </p:txBody>
      </p:sp>
      <p:sp>
        <p:nvSpPr>
          <p:cNvPr id="25" name="Shape 20"/>
          <p:cNvSpPr/>
          <p:nvPr/>
        </p:nvSpPr>
        <p:spPr>
          <a:xfrm>
            <a:off x="548640" y="3474720"/>
            <a:ext cx="3840480" cy="1371600"/>
          </a:xfrm>
          <a:prstGeom prst="roundRect">
            <a:avLst>
              <a:gd name="adj" fmla="val 6667"/>
            </a:avLst>
          </a:prstGeom>
          <a:solidFill>
            <a:srgbClr val="E4F0F0"/>
          </a:solidFill>
          <a:ln w="12700">
            <a:solidFill>
              <a:srgbClr val="E4F0F0"/>
            </a:solidFill>
            <a:prstDash val="solid"/>
          </a:ln>
        </p:spPr>
      </p:sp>
      <p:sp>
        <p:nvSpPr>
          <p:cNvPr id="26" name="Shape 21"/>
          <p:cNvSpPr/>
          <p:nvPr/>
        </p:nvSpPr>
        <p:spPr>
          <a:xfrm>
            <a:off x="3822192" y="3630168"/>
            <a:ext cx="402336" cy="402336"/>
          </a:xfrm>
          <a:prstGeom prst="ellipse">
            <a:avLst/>
          </a:prstGeom>
          <a:solidFill>
            <a:srgbClr val="12343B"/>
          </a:solidFill>
          <a:ln w="12700">
            <a:solidFill>
              <a:srgbClr val="12343B"/>
            </a:solidFill>
            <a:prstDash val="solid"/>
          </a:ln>
        </p:spPr>
      </p:sp>
      <p:pic>
        <p:nvPicPr>
          <p:cNvPr id="27" name="Image 3" descr="preencoded.png">    </p:cNvPr>
          <p:cNvPicPr>
            <a:picLocks noChangeAspect="1"/>
          </p:cNvPicPr>
          <p:nvPr/>
        </p:nvPicPr>
        <p:blipFill>
          <a:blip r:embed="rId4"/>
          <a:stretch>
            <a:fillRect/>
          </a:stretch>
        </p:blipFill>
        <p:spPr>
          <a:xfrm>
            <a:off x="3922776" y="3730752"/>
            <a:ext cx="201168" cy="201168"/>
          </a:xfrm>
          <a:prstGeom prst="rect">
            <a:avLst/>
          </a:prstGeom>
        </p:spPr>
      </p:pic>
      <p:sp>
        <p:nvSpPr>
          <p:cNvPr id="28" name="Text 22"/>
          <p:cNvSpPr txBox="1"/>
          <p:nvPr/>
        </p:nvSpPr>
        <p:spPr>
          <a:xfrm>
            <a:off x="731520" y="3630168"/>
            <a:ext cx="2971800" cy="402336"/>
          </a:xfrm>
          <a:prstGeom prst="rect">
            <a:avLst/>
          </a:prstGeom>
          <a:noFill/>
          <a:ln/>
        </p:spPr>
        <p:txBody>
          <a:bodyPr wrap="square" lIns="0" tIns="0" rIns="0" bIns="0" rtlCol="0" anchor="ctr"/>
          <a:lstStyle/>
          <a:p>
            <a:pPr rtl="1" algn="r" indent="0" marL="0">
              <a:buNone/>
            </a:pPr>
            <a:r>
              <a:rPr lang="he-IL" altLang="en-US" sz="1500" b="1" dirty="0">
                <a:solidFill>
                  <a:srgbClr val="12343B"/>
                </a:solidFill>
                <a:latin typeface="Arial" pitchFamily="34" charset="0"/>
                <a:ea typeface="Arial" pitchFamily="34" charset="-122"/>
                <a:cs typeface="Arial" pitchFamily="34" charset="-120"/>
              </a:rPr>
              <a:t>מה יפתיע אותנו</a:t>
            </a:r>
            <a:endParaRPr lang="he-IL" sz="1500" dirty="0"/>
          </a:p>
        </p:txBody>
      </p:sp>
      <p:sp>
        <p:nvSpPr>
          <p:cNvPr id="29" name="Text 23"/>
          <p:cNvSpPr txBox="1"/>
          <p:nvPr/>
        </p:nvSpPr>
        <p:spPr>
          <a:xfrm>
            <a:off x="731520" y="4078224"/>
            <a:ext cx="3474720" cy="713232"/>
          </a:xfrm>
          <a:prstGeom prst="rect">
            <a:avLst/>
          </a:prstGeom>
          <a:noFill/>
          <a:ln/>
        </p:spPr>
        <p:txBody>
          <a:bodyPr wrap="square" lIns="0" tIns="0" rIns="0" bIns="0" rtlCol="0" anchor="t"/>
          <a:lstStyle/>
          <a:p>
            <a:pPr rtl="1" algn="r" indent="0" marL="0">
              <a:buNone/>
            </a:pPr>
            <a:r>
              <a:rPr lang="he-IL" altLang="en-US" sz="1200" dirty="0">
                <a:solidFill>
                  <a:srgbClr val="1B2B2E"/>
                </a:solidFill>
                <a:latin typeface="Arial" pitchFamily="34" charset="0"/>
                <a:ea typeface="Arial" pitchFamily="34" charset="-122"/>
                <a:cs typeface="Arial" pitchFamily="34" charset="-120"/>
              </a:rPr>
              <a:t>אם יתברר שמה שמנחה את ההחלטה הוא בעיקר "שקט וסדר" ולא רצף לימודי.</a:t>
            </a:r>
            <a:endParaRPr lang="he-IL" sz="1200" dirty="0"/>
          </a:p>
        </p:txBody>
      </p:sp>
      <p:sp>
        <p:nvSpPr>
          <p:cNvPr id="30" name="Shape 24"/>
          <p:cNvSpPr/>
          <p:nvPr/>
        </p:nvSpPr>
        <p:spPr>
          <a:xfrm>
            <a:off x="548640" y="5074920"/>
            <a:ext cx="11091672" cy="1188720"/>
          </a:xfrm>
          <a:prstGeom prst="roundRect">
            <a:avLst>
              <a:gd name="adj" fmla="val 9231"/>
            </a:avLst>
          </a:prstGeom>
          <a:solidFill>
            <a:srgbClr val="12343B"/>
          </a:solidFill>
          <a:ln w="12700">
            <a:solidFill>
              <a:srgbClr val="12343B"/>
            </a:solidFill>
            <a:prstDash val="solid"/>
          </a:ln>
        </p:spPr>
      </p:sp>
      <p:sp>
        <p:nvSpPr>
          <p:cNvPr id="31" name="Text 25"/>
          <p:cNvSpPr txBox="1"/>
          <p:nvPr/>
        </p:nvSpPr>
        <p:spPr>
          <a:xfrm>
            <a:off x="868680" y="5166360"/>
            <a:ext cx="10451592" cy="1005840"/>
          </a:xfrm>
          <a:prstGeom prst="rect">
            <a:avLst/>
          </a:prstGeom>
          <a:noFill/>
          <a:ln/>
        </p:spPr>
        <p:txBody>
          <a:bodyPr wrap="square" lIns="0" tIns="0" rIns="0" bIns="0" rtlCol="0" anchor="ctr"/>
          <a:lstStyle/>
          <a:p>
            <a:pPr algn="r" indent="0" marL="0">
              <a:buNone/>
            </a:pPr>
            <a:r>
              <a:rPr lang="he-IL" altLang="en-US" sz="1800" b="1" dirty="0">
                <a:solidFill>
                  <a:srgbClr val="E9A23B"/>
                </a:solidFill>
                <a:latin typeface="Arial" pitchFamily="34" charset="0"/>
                <a:ea typeface="Arial" pitchFamily="34" charset="-122"/>
                <a:cs typeface="Arial" pitchFamily="34" charset="-120"/>
              </a:rPr>
              <a:t>אם המחקר שלנו יהיה מוצלח, בסופו נבין טוב יותר </a:t>
            </a:r>
            <a:pPr algn="r" indent="0" marL="0">
              <a:buNone/>
            </a:pPr>
            <a:r>
              <a:rPr lang="he-IL" altLang="en-US" sz="1800" dirty="0">
                <a:solidFill>
                  <a:srgbClr val="FFFFFF"/>
                </a:solidFill>
                <a:latin typeface="Arial" pitchFamily="34" charset="0"/>
                <a:ea typeface="Arial" pitchFamily="34" charset="-122"/>
                <a:cs typeface="Arial" pitchFamily="34" charset="-120"/>
              </a:rPr>
              <a:t>איך מנהלים מאזנים, בזמן אמת, בין הצורך שמישהו יהיה בכיתה לבין הזכות של התלמידים לרצף לימודי אמיתי.</a:t>
            </a:r>
            <a:endParaRPr lang="he-IL"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2026-09-26T21:16:37Z</dcterms:created>
  <dcterms:modified xsi:type="dcterms:W3CDTF">2026-09-26T21:16:37Z</dcterms:modified>
</cp:coreProperties>
</file>