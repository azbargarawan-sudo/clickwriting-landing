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[חנון | כדקה ורבע]
בוקר רגיל, שבע וחצי. מורה מתקשרת ואומרת שהיא לא תגיע היום. בתוך כמה דקות המנהל צריך להחליט: מי נכנס לכיתה, מה יקרה בשיעור, ומי מהצוות ישלם את המחיר.
המחקר שלנו עוסק בהיעדרויות מורים. ההיעדרות עצמה היא חלק מהחיים של כל בית ספר. מה שמעניין אותנו הוא מה שהמנהל עושה ברגע הזה.
לכן שאלת המחקר שלנו היא: כיצד מנהלי בתי ספר בערים בצפון הארץ מתארים את התמודדותם עם היעדרויות מורים, ואילו אסטרטגיות ושיקולים מנחים את החלטותיהם לשמירה על רצף לימודי?
השאלה הזאת מעסיקה אותנו כי ראינו שאותה היעדרות יכולה להסתיים בשיעור שממשיך כרגיל, או בשעה של השגחה בלבד. ההבדל תלוי בהחלטות של המנהל.
המחקר שלנו חשוב כי הוא מאיר את מה שקורה מאחורי הקלעים של ההחלטות האלה, שמשפיעות ישירות על הלמידה של התלמידים.
[מעבר לאולפת]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[אולפת | כדקה ושלושת רבעי]
מה למדנו מהספרות? קודם כול, שהיעדרויות מורים אינן עניין טכני. מחקרים גדולים, של מילר ועמיתיו ושל קלוטפלטר ועמיתיו, מצאו שהיעדרויות פוגעות בהישגי התלמידים, והפגיעה גדלה ככל שהן מצטברות.
מה שהפתיע אותנו הוא שהמנהל לא רק מגיב להיעדרות. מחקר ישראלי של שפירא־לישצ'ינסקי ורוזנבלט מצא שהאקלים שהמנהל יוצר בבית הספר קשור גם להיקף ההיעדרויות.
אבל כאן נוצר מתח. בתיאוריה, רצף לימודי הוא עניין פדגוגי: שהחומר ימשיך, שהיחסים והשגרה יישמרו. במציאות, בשבע וחצי בבוקר, המנהל צריך קודם כול שמישהו יהיה בכיתה. ורוב המחקרים בודקים כמה מורים נעדרים ולמה, ולא מה המנהל עושה ושוקל ברגע ההיעדרות עצמו.
הקריאה שינתה גם את החשיבה שלנו. בהתחלה חשבנו שהבעיה לוגיסטית, רק למצוא ממלא מקום. היום אנחנו מבינים שרצף הוא פדגוגי, ארגוני ורגשי, ושהמנהל פועל גם לפני ההיעדרות ולא רק אחריה.
[מעבר לחנון]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[חנון | כדקה וחצי]
איך נבדוק את זה? נשוחח עם 12 מנהלים ומנהלות של בתי ספר בערים בצפון הארץ, יסודיים ועל־יסודיים, עם ותק שונה. בחרנו במנהלים כי הם מקבלי ההחלטות בבוקר ההיעדרות, ובחרנו בערים כדי לבחון את התופעה בהקשר אחיד ולהשוות בין ערים שונות.
הכלי שלנו הוא ראיון חצי מובנה. נבקש מכל מנהל לתאר בוקר אחד של היעדרות, צעד אחר צעד, ונשאל גם על היעדרות ממושכת. כך נבין את השיקולים ואת הדילמות, ולא רק את הנוהל הכתוב. בניתוח נחפש אסטרטגיות מונעות לעומת מגיבות, ואת האיזון בין פדגוגיה, תקציב, הוגנות כלפי הצוות שמחליף, ורווחת המורה הנעדרת.
האתגר המרכזי: מנהלים עלולים להציג תמונה יפה מהמציאות. לכן נבקש דוגמאות מוחשיות ולא רק עקרונות.
[אולפת | כחצי דקה]
ומה יפתיע אותנו? אם יתברר שמה שמנחה את ההחלטה בפועל הוא השקט והסדר בבית הספר ולא הרצף הלימודי. זה יערער הנחה שלנו.
אם המחקר שלנו יהיה מוצלח, בסופו נבין טוב יותר איך מנהלים מאזנים, בזמן אמת, בין הצורך שמישהו יהיה בכיתה לבין הזכות של התלמידים לרצף לימודי אמיתי.
תודה.
[שאלות המשך אפשריות]
למה רק מנהלים? כי השאלה היא על קבלת החלטות, והם אלה שמחליטים. במחקר המשך אפשר לשמוע גם את המורים המחליפים.
למה רק ערים? כדי לבחון את התופעה בהקשר אחיד. בתי ספר בכפרים פועלים בתנאים אחרים, וזה יכול להיות כיוון למחקר המשך.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43B"/>
        </a:solidFill>
      </p:bgPr>
    </p:bg>
    <p:spTree>
      <p:nvGrpSpPr>
        <p:cNvPr id="1" name=""/>
        <p:cNvGrpSpPr/>
        <p:nvPr/>
      </p:nvGrpSpPr>
      <p:grpSpPr>
        <a:xfrm>
          <a:off x="0" y="0"/>
          <a:ext cx="0" cy="0"/>
          <a:chOff x="0" y="0"/>
          <a:chExt cx="0" cy="0"/>
        </a:xfrm>
      </p:grpSpPr>
      <p:sp>
        <p:nvSpPr>
          <p:cNvPr id="2" name="Shape 0"/>
          <p:cNvSpPr/>
          <p:nvPr/>
        </p:nvSpPr>
        <p:spPr>
          <a:xfrm>
            <a:off x="11091672" y="411480"/>
            <a:ext cx="548640" cy="548640"/>
          </a:xfrm>
          <a:prstGeom prst="ellipse">
            <a:avLst/>
          </a:prstGeom>
          <a:solidFill>
            <a:srgbClr val="E9A23B"/>
          </a:solidFill>
          <a:ln w="12700">
            <a:solidFill>
              <a:srgbClr val="E9A23B"/>
            </a:solidFill>
            <a:prstDash val="solid"/>
          </a:ln>
        </p:spPr>
      </p:sp>
      <p:sp>
        <p:nvSpPr>
          <p:cNvPr id="3" name="Text 1"/>
          <p:cNvSpPr txBox="1"/>
          <p:nvPr/>
        </p:nvSpPr>
        <p:spPr>
          <a:xfrm>
            <a:off x="11091672" y="411480"/>
            <a:ext cx="548640" cy="548640"/>
          </a:xfrm>
          <a:prstGeom prst="rect">
            <a:avLst/>
          </a:prstGeom>
          <a:noFill/>
          <a:ln/>
        </p:spPr>
        <p:txBody>
          <a:bodyPr wrap="square" lIns="0" tIns="0" rIns="0" bIns="0" rtlCol="0" anchor="ctr"/>
          <a:lstStyle/>
          <a:p>
            <a:pPr algn="ctr" indent="0" marL="0">
              <a:buNone/>
            </a:pPr>
            <a:r>
              <a:rPr lang="en-US" sz="2000" b="1" dirty="0">
                <a:solidFill>
                  <a:srgbClr val="12343B"/>
                </a:solidFill>
                <a:latin typeface="Arial" pitchFamily="34" charset="0"/>
                <a:ea typeface="Arial" pitchFamily="34" charset="-122"/>
                <a:cs typeface="Arial" pitchFamily="34" charset="-120"/>
              </a:rPr>
              <a:t>1</a:t>
            </a:r>
            <a:endParaRPr lang="en-US" sz="2000" dirty="0"/>
          </a:p>
        </p:txBody>
      </p:sp>
      <p:sp>
        <p:nvSpPr>
          <p:cNvPr id="4" name="Text 2"/>
          <p:cNvSpPr txBox="1"/>
          <p:nvPr/>
        </p:nvSpPr>
        <p:spPr>
          <a:xfrm>
            <a:off x="5943600" y="502920"/>
            <a:ext cx="4983480" cy="365760"/>
          </a:xfrm>
          <a:prstGeom prst="rect">
            <a:avLst/>
          </a:prstGeom>
          <a:noFill/>
          <a:ln/>
        </p:spPr>
        <p:txBody>
          <a:bodyPr wrap="square" lIns="0" tIns="0" rIns="0" bIns="0" rtlCol="0" anchor="ctr"/>
          <a:lstStyle/>
          <a:p>
            <a:pPr rtl="1" algn="r" indent="0" marL="0">
              <a:buNone/>
            </a:pPr>
            <a:r>
              <a:rPr lang="he-IL" altLang="en-US" sz="1300" b="1" dirty="0">
                <a:solidFill>
                  <a:srgbClr val="E9A23B"/>
                </a:solidFill>
                <a:latin typeface="Arial" pitchFamily="34" charset="0"/>
                <a:ea typeface="Arial" pitchFamily="34" charset="-122"/>
                <a:cs typeface="Arial" pitchFamily="34" charset="-120"/>
              </a:rPr>
              <a:t>מה אנחנו מנסים להבין?</a:t>
            </a:r>
            <a:endParaRPr lang="he-IL" sz="1300" dirty="0"/>
          </a:p>
        </p:txBody>
      </p:sp>
      <p:sp>
        <p:nvSpPr>
          <p:cNvPr id="5" name="Text 3"/>
          <p:cNvSpPr txBox="1"/>
          <p:nvPr/>
        </p:nvSpPr>
        <p:spPr>
          <a:xfrm>
            <a:off x="548640" y="502920"/>
            <a:ext cx="5120640" cy="365760"/>
          </a:xfrm>
          <a:prstGeom prst="rect">
            <a:avLst/>
          </a:prstGeom>
          <a:noFill/>
          <a:ln/>
        </p:spPr>
        <p:txBody>
          <a:bodyPr wrap="square" lIns="0" tIns="0" rIns="0" bIns="0" rtlCol="0" anchor="ctr"/>
          <a:lstStyle/>
          <a:p>
            <a:pPr rtl="1" algn="l" indent="0" marL="0">
              <a:buNone/>
            </a:pPr>
            <a:r>
              <a:rPr lang="en-US" sz="1100" dirty="0">
                <a:solidFill>
                  <a:srgbClr val="A9D2D5"/>
                </a:solidFill>
                <a:latin typeface="Arial" pitchFamily="34" charset="0"/>
                <a:ea typeface="Arial" pitchFamily="34" charset="-122"/>
                <a:cs typeface="Arial" pitchFamily="34" charset="-120"/>
              </a:rPr>
              <a:t>חנון מנסור · אולפת עבד אל חי  |  סמינריון בעבודת הניהול ובמנהל חינוך</a:t>
            </a:r>
            <a:endParaRPr lang="en-US" sz="1100" dirty="0"/>
          </a:p>
        </p:txBody>
      </p:sp>
      <p:sp>
        <p:nvSpPr>
          <p:cNvPr id="6" name="Text 4"/>
          <p:cNvSpPr txBox="1"/>
          <p:nvPr/>
        </p:nvSpPr>
        <p:spPr>
          <a:xfrm>
            <a:off x="548640" y="1143000"/>
            <a:ext cx="11091672" cy="777240"/>
          </a:xfrm>
          <a:prstGeom prst="rect">
            <a:avLst/>
          </a:prstGeom>
          <a:noFill/>
          <a:ln/>
        </p:spPr>
        <p:txBody>
          <a:bodyPr wrap="square" lIns="0" tIns="0" rIns="0" bIns="0" rtlCol="0" anchor="ctr"/>
          <a:lstStyle/>
          <a:p>
            <a:pPr rtl="1" algn="r" indent="0" marL="0">
              <a:buNone/>
            </a:pPr>
            <a:r>
              <a:rPr lang="he-IL" altLang="en-US" sz="4000" b="1" dirty="0">
                <a:solidFill>
                  <a:srgbClr val="FFFFFF"/>
                </a:solidFill>
                <a:latin typeface="Arial" pitchFamily="34" charset="0"/>
                <a:ea typeface="Arial" pitchFamily="34" charset="-122"/>
                <a:cs typeface="Arial" pitchFamily="34" charset="-120"/>
              </a:rPr>
              <a:t>מה קורה בבית הספר כשהמורה לא מגיע?</a:t>
            </a:r>
            <a:endParaRPr lang="he-IL" sz="4000" dirty="0"/>
          </a:p>
        </p:txBody>
      </p:sp>
      <p:sp>
        <p:nvSpPr>
          <p:cNvPr id="7" name="Shape 5"/>
          <p:cNvSpPr/>
          <p:nvPr/>
        </p:nvSpPr>
        <p:spPr>
          <a:xfrm>
            <a:off x="11183112" y="2350008"/>
            <a:ext cx="457200" cy="457200"/>
          </a:xfrm>
          <a:prstGeom prst="ellipse">
            <a:avLst/>
          </a:prstGeom>
          <a:solidFill>
            <a:srgbClr val="E9A23B"/>
          </a:solidFill>
          <a:ln w="12700">
            <a:solidFill>
              <a:srgbClr val="E9A23B"/>
            </a:solidFill>
            <a:prstDash val="solid"/>
          </a:ln>
        </p:spPr>
      </p:sp>
      <p:pic>
        <p:nvPicPr>
          <p:cNvPr id="8" name="Image 0" descr="preencoded.png">    </p:cNvPr>
          <p:cNvPicPr>
            <a:picLocks noChangeAspect="1"/>
          </p:cNvPicPr>
          <p:nvPr/>
        </p:nvPicPr>
        <p:blipFill>
          <a:blip r:embed="rId1"/>
          <a:stretch>
            <a:fillRect/>
          </a:stretch>
        </p:blipFill>
        <p:spPr>
          <a:xfrm>
            <a:off x="11297412" y="2464308"/>
            <a:ext cx="228600" cy="228600"/>
          </a:xfrm>
          <a:prstGeom prst="rect">
            <a:avLst/>
          </a:prstGeom>
        </p:spPr>
      </p:pic>
      <p:sp>
        <p:nvSpPr>
          <p:cNvPr id="9" name="Text 6"/>
          <p:cNvSpPr txBox="1"/>
          <p:nvPr/>
        </p:nvSpPr>
        <p:spPr>
          <a:xfrm>
            <a:off x="548640" y="2331720"/>
            <a:ext cx="10405872" cy="1143000"/>
          </a:xfrm>
          <a:prstGeom prst="rect">
            <a:avLst/>
          </a:prstGeom>
          <a:noFill/>
          <a:ln/>
        </p:spPr>
        <p:txBody>
          <a:bodyPr wrap="square" lIns="0" tIns="0" rIns="0" bIns="0" rtlCol="0" anchor="t"/>
          <a:lstStyle/>
          <a:p>
            <a:pPr algn="r" indent="0" marL="0">
              <a:lnSpc>
                <a:spcPct val="115000"/>
              </a:lnSpc>
              <a:buNone/>
            </a:pPr>
            <a:r>
              <a:rPr lang="he-IL" altLang="en-US" sz="1700" b="1" dirty="0">
                <a:solidFill>
                  <a:srgbClr val="E9A23B"/>
                </a:solidFill>
                <a:latin typeface="Arial" pitchFamily="34" charset="0"/>
                <a:ea typeface="Arial" pitchFamily="34" charset="-122"/>
                <a:cs typeface="Arial" pitchFamily="34" charset="-120"/>
              </a:rPr>
              <a:t>המחקר שלנו עוסק בהיעדרויות מורים, </a:t>
            </a:r>
            <a:pPr algn="r" indent="0" marL="0">
              <a:lnSpc>
                <a:spcPct val="115000"/>
              </a:lnSpc>
              <a:buNone/>
            </a:pPr>
            <a:r>
              <a:rPr lang="he-IL" altLang="en-US" sz="1700" dirty="0">
                <a:solidFill>
                  <a:srgbClr val="FFFFFF"/>
                </a:solidFill>
                <a:latin typeface="Arial" pitchFamily="34" charset="0"/>
                <a:ea typeface="Arial" pitchFamily="34" charset="-122"/>
                <a:cs typeface="Arial" pitchFamily="34" charset="-120"/>
              </a:rPr>
              <a:t>תופעה שמוכרת לכל בית ספר ומתרחשת כמעט בכל יום. ההיעדרות עצמה אינה הבעיה. המורכבות מתחילה ברגע שבו המנהל צריך להחליט בתוך דקות מי ייכנס לכיתה, מה יקרה בשיעור ומי מהצוות ישלם את המחיר.</a:t>
            </a:r>
            <a:endParaRPr lang="he-IL" sz="1700" dirty="0"/>
          </a:p>
        </p:txBody>
      </p:sp>
      <p:sp>
        <p:nvSpPr>
          <p:cNvPr id="10" name="Shape 7"/>
          <p:cNvSpPr/>
          <p:nvPr/>
        </p:nvSpPr>
        <p:spPr>
          <a:xfrm>
            <a:off x="11183112" y="3675888"/>
            <a:ext cx="457200" cy="457200"/>
          </a:xfrm>
          <a:prstGeom prst="ellipse">
            <a:avLst/>
          </a:prstGeom>
          <a:solidFill>
            <a:srgbClr val="E9A23B"/>
          </a:solidFill>
          <a:ln w="12700">
            <a:solidFill>
              <a:srgbClr val="E9A23B"/>
            </a:solidFill>
            <a:prstDash val="solid"/>
          </a:ln>
        </p:spPr>
      </p:sp>
      <p:pic>
        <p:nvPicPr>
          <p:cNvPr id="11" name="Image 1" descr="preencoded.png">    </p:cNvPr>
          <p:cNvPicPr>
            <a:picLocks noChangeAspect="1"/>
          </p:cNvPicPr>
          <p:nvPr/>
        </p:nvPicPr>
        <p:blipFill>
          <a:blip r:embed="rId2"/>
          <a:stretch>
            <a:fillRect/>
          </a:stretch>
        </p:blipFill>
        <p:spPr>
          <a:xfrm>
            <a:off x="11297412" y="3790188"/>
            <a:ext cx="228600" cy="228600"/>
          </a:xfrm>
          <a:prstGeom prst="rect">
            <a:avLst/>
          </a:prstGeom>
        </p:spPr>
      </p:pic>
      <p:sp>
        <p:nvSpPr>
          <p:cNvPr id="12" name="Text 8"/>
          <p:cNvSpPr txBox="1"/>
          <p:nvPr/>
        </p:nvSpPr>
        <p:spPr>
          <a:xfrm>
            <a:off x="548640" y="3657600"/>
            <a:ext cx="10405872" cy="1143000"/>
          </a:xfrm>
          <a:prstGeom prst="rect">
            <a:avLst/>
          </a:prstGeom>
          <a:noFill/>
          <a:ln/>
        </p:spPr>
        <p:txBody>
          <a:bodyPr wrap="square" lIns="0" tIns="0" rIns="0" bIns="0" rtlCol="0" anchor="t"/>
          <a:lstStyle/>
          <a:p>
            <a:pPr algn="r" indent="0" marL="0">
              <a:lnSpc>
                <a:spcPct val="115000"/>
              </a:lnSpc>
              <a:buNone/>
            </a:pPr>
            <a:r>
              <a:rPr lang="he-IL" altLang="en-US" sz="1700" dirty="0">
                <a:solidFill>
                  <a:srgbClr val="FFFFFF"/>
                </a:solidFill>
                <a:latin typeface="Arial" pitchFamily="34" charset="0"/>
                <a:ea typeface="Arial" pitchFamily="34" charset="-122"/>
                <a:cs typeface="Arial" pitchFamily="34" charset="-120"/>
              </a:rPr>
              <a:t>לכן אנחנו שואלים: </a:t>
            </a:r>
            <a:pPr algn="r" indent="0" marL="0">
              <a:lnSpc>
                <a:spcPct val="115000"/>
              </a:lnSpc>
              <a:buNone/>
            </a:pPr>
            <a:r>
              <a:rPr lang="he-IL" altLang="en-US" sz="1700" b="1" dirty="0">
                <a:solidFill>
                  <a:srgbClr val="FFFFFF"/>
                </a:solidFill>
                <a:latin typeface="Arial" pitchFamily="34" charset="0"/>
                <a:ea typeface="Arial" pitchFamily="34" charset="-122"/>
                <a:cs typeface="Arial" pitchFamily="34" charset="-120"/>
              </a:rPr>
              <a:t>כיצד מנהלי בתי ספר בערים בצפון הארץ מתארים את התמודדותם עם היעדרויות מורים, ואילו אסטרטגיות ושיקולים מנחים את החלטותיהם לשמירה על רצף לימודי?</a:t>
            </a:r>
            <a:endParaRPr lang="he-IL" sz="1700" dirty="0"/>
          </a:p>
        </p:txBody>
      </p:sp>
      <p:sp>
        <p:nvSpPr>
          <p:cNvPr id="13" name="Shape 9"/>
          <p:cNvSpPr/>
          <p:nvPr/>
        </p:nvSpPr>
        <p:spPr>
          <a:xfrm>
            <a:off x="11183112" y="4773168"/>
            <a:ext cx="457200" cy="457200"/>
          </a:xfrm>
          <a:prstGeom prst="ellipse">
            <a:avLst/>
          </a:prstGeom>
          <a:solidFill>
            <a:srgbClr val="E9A23B"/>
          </a:solidFill>
          <a:ln w="12700">
            <a:solidFill>
              <a:srgbClr val="E9A23B"/>
            </a:solidFill>
            <a:prstDash val="solid"/>
          </a:ln>
        </p:spPr>
      </p:sp>
      <p:pic>
        <p:nvPicPr>
          <p:cNvPr id="14" name="Image 2" descr="preencoded.png">    </p:cNvPr>
          <p:cNvPicPr>
            <a:picLocks noChangeAspect="1"/>
          </p:cNvPicPr>
          <p:nvPr/>
        </p:nvPicPr>
        <p:blipFill>
          <a:blip r:embed="rId3"/>
          <a:stretch>
            <a:fillRect/>
          </a:stretch>
        </p:blipFill>
        <p:spPr>
          <a:xfrm>
            <a:off x="11297412" y="4887468"/>
            <a:ext cx="228600" cy="228600"/>
          </a:xfrm>
          <a:prstGeom prst="rect">
            <a:avLst/>
          </a:prstGeom>
        </p:spPr>
      </p:pic>
      <p:sp>
        <p:nvSpPr>
          <p:cNvPr id="15" name="Text 10"/>
          <p:cNvSpPr txBox="1"/>
          <p:nvPr/>
        </p:nvSpPr>
        <p:spPr>
          <a:xfrm>
            <a:off x="548640" y="4754880"/>
            <a:ext cx="10405872" cy="1463040"/>
          </a:xfrm>
          <a:prstGeom prst="rect">
            <a:avLst/>
          </a:prstGeom>
          <a:noFill/>
          <a:ln/>
        </p:spPr>
        <p:txBody>
          <a:bodyPr wrap="square" lIns="0" tIns="0" rIns="0" bIns="0" rtlCol="0" anchor="t"/>
          <a:lstStyle/>
          <a:p>
            <a:pPr algn="r" indent="0" marL="0">
              <a:lnSpc>
                <a:spcPct val="115000"/>
              </a:lnSpc>
              <a:buNone/>
            </a:pPr>
            <a:r>
              <a:rPr lang="he-IL" altLang="en-US" sz="1700" b="1" dirty="0">
                <a:solidFill>
                  <a:srgbClr val="E9A23B"/>
                </a:solidFill>
                <a:latin typeface="Arial" pitchFamily="34" charset="0"/>
                <a:ea typeface="Arial" pitchFamily="34" charset="-122"/>
                <a:cs typeface="Arial" pitchFamily="34" charset="-120"/>
              </a:rPr>
              <a:t>השאלה הזאת מעסיקה אותנו </a:t>
            </a:r>
            <a:pPr algn="r" indent="0" marL="0">
              <a:lnSpc>
                <a:spcPct val="115000"/>
              </a:lnSpc>
              <a:buNone/>
            </a:pPr>
            <a:r>
              <a:rPr lang="he-IL" altLang="en-US" sz="1700" dirty="0">
                <a:solidFill>
                  <a:srgbClr val="FFFFFF"/>
                </a:solidFill>
                <a:latin typeface="Arial" pitchFamily="34" charset="0"/>
                <a:ea typeface="Arial" pitchFamily="34" charset="-122"/>
                <a:cs typeface="Arial" pitchFamily="34" charset="-120"/>
              </a:rPr>
              <a:t>משום שראינו שאותה היעדרות יכולה להסתיים בשיעור שממשיך כרגיל, או בשעה של השגחה בלבד, וההבדל נקבע בהחלטות של המנהל. המחקר שלנו חשוב כי הוא מאיר את מה שקורה מאחורי הקלעים של ההחלטות האלה, שמשפיעות ישירות על הלמידה של התלמידים.</a:t>
            </a:r>
            <a:endParaRPr lang="he-IL"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091672" y="411480"/>
            <a:ext cx="548640" cy="548640"/>
          </a:xfrm>
          <a:prstGeom prst="ellipse">
            <a:avLst/>
          </a:prstGeom>
          <a:solidFill>
            <a:srgbClr val="E9A23B"/>
          </a:solidFill>
          <a:ln w="12700">
            <a:solidFill>
              <a:srgbClr val="E9A23B"/>
            </a:solidFill>
            <a:prstDash val="solid"/>
          </a:ln>
        </p:spPr>
      </p:sp>
      <p:sp>
        <p:nvSpPr>
          <p:cNvPr id="3" name="Text 1"/>
          <p:cNvSpPr txBox="1"/>
          <p:nvPr/>
        </p:nvSpPr>
        <p:spPr>
          <a:xfrm>
            <a:off x="11091672" y="411480"/>
            <a:ext cx="548640" cy="548640"/>
          </a:xfrm>
          <a:prstGeom prst="rect">
            <a:avLst/>
          </a:prstGeom>
          <a:noFill/>
          <a:ln/>
        </p:spPr>
        <p:txBody>
          <a:bodyPr wrap="square" lIns="0" tIns="0" rIns="0" bIns="0" rtlCol="0" anchor="ctr"/>
          <a:lstStyle/>
          <a:p>
            <a:pPr algn="ctr" indent="0" marL="0">
              <a:buNone/>
            </a:pPr>
            <a:r>
              <a:rPr lang="en-US" sz="2000" b="1" dirty="0">
                <a:solidFill>
                  <a:srgbClr val="12343B"/>
                </a:solidFill>
                <a:latin typeface="Arial" pitchFamily="34" charset="0"/>
                <a:ea typeface="Arial" pitchFamily="34" charset="-122"/>
                <a:cs typeface="Arial" pitchFamily="34" charset="-120"/>
              </a:rPr>
              <a:t>2</a:t>
            </a:r>
            <a:endParaRPr lang="en-US" sz="2000" dirty="0"/>
          </a:p>
        </p:txBody>
      </p:sp>
      <p:sp>
        <p:nvSpPr>
          <p:cNvPr id="4" name="Text 2"/>
          <p:cNvSpPr txBox="1"/>
          <p:nvPr/>
        </p:nvSpPr>
        <p:spPr>
          <a:xfrm>
            <a:off x="5943600" y="502920"/>
            <a:ext cx="4983480" cy="365760"/>
          </a:xfrm>
          <a:prstGeom prst="rect">
            <a:avLst/>
          </a:prstGeom>
          <a:noFill/>
          <a:ln/>
        </p:spPr>
        <p:txBody>
          <a:bodyPr wrap="square" lIns="0" tIns="0" rIns="0" bIns="0" rtlCol="0" anchor="ctr"/>
          <a:lstStyle/>
          <a:p>
            <a:pPr rtl="1" algn="r" indent="0" marL="0">
              <a:buNone/>
            </a:pPr>
            <a:r>
              <a:rPr lang="he-IL" altLang="en-US" sz="1300" b="1" dirty="0">
                <a:solidFill>
                  <a:srgbClr val="4F6A6E"/>
                </a:solidFill>
                <a:latin typeface="Arial" pitchFamily="34" charset="0"/>
                <a:ea typeface="Arial" pitchFamily="34" charset="-122"/>
                <a:cs typeface="Arial" pitchFamily="34" charset="-120"/>
              </a:rPr>
              <a:t>מה אנחנו כבר יודעים ומה עדיין לא?</a:t>
            </a:r>
            <a:endParaRPr lang="he-IL" sz="1300" dirty="0"/>
          </a:p>
        </p:txBody>
      </p:sp>
      <p:sp>
        <p:nvSpPr>
          <p:cNvPr id="5" name="Text 3"/>
          <p:cNvSpPr txBox="1"/>
          <p:nvPr/>
        </p:nvSpPr>
        <p:spPr>
          <a:xfrm>
            <a:off x="548640" y="1051560"/>
            <a:ext cx="11091672" cy="685800"/>
          </a:xfrm>
          <a:prstGeom prst="rect">
            <a:avLst/>
          </a:prstGeom>
          <a:noFill/>
          <a:ln/>
        </p:spPr>
        <p:txBody>
          <a:bodyPr wrap="square" lIns="0" tIns="0" rIns="0" bIns="0" rtlCol="0" anchor="ctr"/>
          <a:lstStyle/>
          <a:p>
            <a:pPr rtl="1" algn="r" indent="0" marL="0">
              <a:buNone/>
            </a:pPr>
            <a:r>
              <a:rPr lang="he-IL" altLang="en-US" sz="3600" b="1" dirty="0">
                <a:solidFill>
                  <a:srgbClr val="12343B"/>
                </a:solidFill>
                <a:latin typeface="Arial" pitchFamily="34" charset="0"/>
                <a:ea typeface="Arial" pitchFamily="34" charset="-122"/>
                <a:cs typeface="Arial" pitchFamily="34" charset="-120"/>
              </a:rPr>
              <a:t>הספרות שינתה את השאלה שלנו</a:t>
            </a:r>
            <a:endParaRPr lang="he-IL" sz="3600" dirty="0"/>
          </a:p>
        </p:txBody>
      </p:sp>
      <p:sp>
        <p:nvSpPr>
          <p:cNvPr id="6" name="Shape 4"/>
          <p:cNvSpPr/>
          <p:nvPr/>
        </p:nvSpPr>
        <p:spPr>
          <a:xfrm>
            <a:off x="11183112" y="2029968"/>
            <a:ext cx="457200" cy="457200"/>
          </a:xfrm>
          <a:prstGeom prst="ellipse">
            <a:avLst/>
          </a:prstGeom>
          <a:solidFill>
            <a:srgbClr val="12343B"/>
          </a:solidFill>
          <a:ln w="12700">
            <a:solidFill>
              <a:srgbClr val="12343B"/>
            </a:solidFill>
            <a:prstDash val="solid"/>
          </a:ln>
        </p:spPr>
      </p:sp>
      <p:pic>
        <p:nvPicPr>
          <p:cNvPr id="7" name="Image 0" descr="preencoded.png">    </p:cNvPr>
          <p:cNvPicPr>
            <a:picLocks noChangeAspect="1"/>
          </p:cNvPicPr>
          <p:nvPr/>
        </p:nvPicPr>
        <p:blipFill>
          <a:blip r:embed="rId1"/>
          <a:stretch>
            <a:fillRect/>
          </a:stretch>
        </p:blipFill>
        <p:spPr>
          <a:xfrm>
            <a:off x="11297412" y="2144268"/>
            <a:ext cx="228600" cy="228600"/>
          </a:xfrm>
          <a:prstGeom prst="rect">
            <a:avLst/>
          </a:prstGeom>
        </p:spPr>
      </p:pic>
      <p:sp>
        <p:nvSpPr>
          <p:cNvPr id="8" name="Text 5"/>
          <p:cNvSpPr txBox="1"/>
          <p:nvPr/>
        </p:nvSpPr>
        <p:spPr>
          <a:xfrm>
            <a:off x="548640" y="2011680"/>
            <a:ext cx="10405872" cy="1005840"/>
          </a:xfrm>
          <a:prstGeom prst="rect">
            <a:avLst/>
          </a:prstGeom>
          <a:noFill/>
          <a:ln/>
        </p:spPr>
        <p:txBody>
          <a:bodyPr wrap="square" lIns="0" tIns="0" rIns="0" bIns="0" rtlCol="0" anchor="t"/>
          <a:lstStyle/>
          <a:p>
            <a:pPr algn="r" indent="0" marL="0">
              <a:lnSpc>
                <a:spcPct val="115000"/>
              </a:lnSpc>
              <a:buNone/>
            </a:pPr>
            <a:r>
              <a:rPr lang="he-IL" altLang="en-US" sz="1600" b="1" dirty="0">
                <a:solidFill>
                  <a:srgbClr val="12343B"/>
                </a:solidFill>
                <a:latin typeface="Arial" pitchFamily="34" charset="0"/>
                <a:ea typeface="Arial" pitchFamily="34" charset="-122"/>
                <a:cs typeface="Arial" pitchFamily="34" charset="-120"/>
              </a:rPr>
              <a:t>הספרות מלמדת שהיעדרויות מורים אינן עניין טכני בלבד: </a:t>
            </a:r>
            <a:pPr algn="r" indent="0" marL="0">
              <a:lnSpc>
                <a:spcPct val="115000"/>
              </a:lnSpc>
              <a:buNone/>
            </a:pPr>
            <a:r>
              <a:rPr lang="he-IL" altLang="en-US" sz="1600" dirty="0">
                <a:solidFill>
                  <a:srgbClr val="1B2B2E"/>
                </a:solidFill>
                <a:latin typeface="Arial" pitchFamily="34" charset="0"/>
                <a:ea typeface="Arial" pitchFamily="34" charset="-122"/>
                <a:cs typeface="Arial" pitchFamily="34" charset="-120"/>
              </a:rPr>
              <a:t>מילר ועמיתיו (2008) וקלוטפלטר ועמיתיו (2009) מצאו שהן פוגעות בהישגי התלמידים, והפגיעה גדלה ככל שההיעדרויות מצטברות. שפירא־לישצ'ינסקי ורוזנבלט (2010) הראו שהמנהל אינו רק מגיב להיעדרות, שכן האקלים שהוא מעצב בבית הספר קשור גם להיקף ההיעדרויות.</a:t>
            </a:r>
            <a:endParaRPr lang="he-IL" sz="1600" dirty="0"/>
          </a:p>
        </p:txBody>
      </p:sp>
      <p:sp>
        <p:nvSpPr>
          <p:cNvPr id="9" name="Text 6"/>
          <p:cNvSpPr txBox="1"/>
          <p:nvPr/>
        </p:nvSpPr>
        <p:spPr>
          <a:xfrm>
            <a:off x="548640" y="3017520"/>
            <a:ext cx="10405872" cy="274320"/>
          </a:xfrm>
          <a:prstGeom prst="rect">
            <a:avLst/>
          </a:prstGeom>
          <a:noFill/>
          <a:ln/>
        </p:spPr>
        <p:txBody>
          <a:bodyPr wrap="square" lIns="0" tIns="0" rIns="0" bIns="0" rtlCol="0" anchor="ctr"/>
          <a:lstStyle/>
          <a:p>
            <a:pPr algn="r" indent="0" marL="0">
              <a:buNone/>
            </a:pPr>
            <a:r>
              <a:rPr lang="en-US" sz="1000" dirty="0">
                <a:solidFill>
                  <a:srgbClr val="4F6A6E"/>
                </a:solidFill>
                <a:latin typeface="Arial" pitchFamily="34" charset="0"/>
                <a:ea typeface="Arial" pitchFamily="34" charset="-122"/>
                <a:cs typeface="Arial" pitchFamily="34" charset="-120"/>
              </a:rPr>
              <a:t>Miller et al., 2008 · Clotfelter et al., 2009 · Shapira-Lishchinsky &amp; Rosenblatt, 2010</a:t>
            </a:r>
            <a:endParaRPr lang="en-US" sz="1000" dirty="0"/>
          </a:p>
        </p:txBody>
      </p:sp>
      <p:sp>
        <p:nvSpPr>
          <p:cNvPr id="10" name="Shape 7"/>
          <p:cNvSpPr/>
          <p:nvPr/>
        </p:nvSpPr>
        <p:spPr>
          <a:xfrm>
            <a:off x="11183112" y="3447288"/>
            <a:ext cx="457200" cy="457200"/>
          </a:xfrm>
          <a:prstGeom prst="ellipse">
            <a:avLst/>
          </a:prstGeom>
          <a:solidFill>
            <a:srgbClr val="12343B"/>
          </a:solidFill>
          <a:ln w="12700">
            <a:solidFill>
              <a:srgbClr val="12343B"/>
            </a:solidFill>
            <a:prstDash val="solid"/>
          </a:ln>
        </p:spPr>
      </p:sp>
      <p:pic>
        <p:nvPicPr>
          <p:cNvPr id="11" name="Image 1" descr="preencoded.png">    </p:cNvPr>
          <p:cNvPicPr>
            <a:picLocks noChangeAspect="1"/>
          </p:cNvPicPr>
          <p:nvPr/>
        </p:nvPicPr>
        <p:blipFill>
          <a:blip r:embed="rId2"/>
          <a:stretch>
            <a:fillRect/>
          </a:stretch>
        </p:blipFill>
        <p:spPr>
          <a:xfrm>
            <a:off x="11297412" y="3561588"/>
            <a:ext cx="228600" cy="228600"/>
          </a:xfrm>
          <a:prstGeom prst="rect">
            <a:avLst/>
          </a:prstGeom>
        </p:spPr>
      </p:pic>
      <p:sp>
        <p:nvSpPr>
          <p:cNvPr id="12" name="Text 8"/>
          <p:cNvSpPr txBox="1"/>
          <p:nvPr/>
        </p:nvSpPr>
        <p:spPr>
          <a:xfrm>
            <a:off x="548640" y="3429000"/>
            <a:ext cx="10405872" cy="1234440"/>
          </a:xfrm>
          <a:prstGeom prst="rect">
            <a:avLst/>
          </a:prstGeom>
          <a:noFill/>
          <a:ln/>
        </p:spPr>
        <p:txBody>
          <a:bodyPr wrap="square" lIns="0" tIns="0" rIns="0" bIns="0" rtlCol="0" anchor="t"/>
          <a:lstStyle/>
          <a:p>
            <a:pPr algn="r" indent="0" marL="0">
              <a:lnSpc>
                <a:spcPct val="115000"/>
              </a:lnSpc>
              <a:buNone/>
            </a:pPr>
            <a:r>
              <a:rPr lang="he-IL" altLang="en-US" sz="1600" b="1" dirty="0">
                <a:solidFill>
                  <a:srgbClr val="12343B"/>
                </a:solidFill>
                <a:latin typeface="Arial" pitchFamily="34" charset="0"/>
                <a:ea typeface="Arial" pitchFamily="34" charset="-122"/>
                <a:cs typeface="Arial" pitchFamily="34" charset="-120"/>
              </a:rPr>
              <a:t>אלא שכאן נוצר מתח: </a:t>
            </a:r>
            <a:pPr algn="r" indent="0" marL="0">
              <a:lnSpc>
                <a:spcPct val="115000"/>
              </a:lnSpc>
              <a:buNone/>
            </a:pPr>
            <a:r>
              <a:rPr lang="he-IL" altLang="en-US" sz="1600" dirty="0">
                <a:solidFill>
                  <a:srgbClr val="1B2B2E"/>
                </a:solidFill>
                <a:latin typeface="Arial" pitchFamily="34" charset="0"/>
                <a:ea typeface="Arial" pitchFamily="34" charset="-122"/>
                <a:cs typeface="Arial" pitchFamily="34" charset="-120"/>
              </a:rPr>
              <a:t>בתיאוריה, רצף לימודי הוא עניין פדגוגי של המשך תוכן, יחסים ושגרה. במציאות, בשבע וחצי בבוקר, המנהל צריך קודם כול שמישהו יהיה בכיתה. רוב המחקרים בודקים כמה מורים נעדרים, מדוע ומה המחיר, ומעט ידוע על מה שהמנהל עושה ושוקל ברגע ההיעדרות עצמו.</a:t>
            </a:r>
            <a:endParaRPr lang="he-IL" sz="1600" dirty="0"/>
          </a:p>
        </p:txBody>
      </p:sp>
      <p:sp>
        <p:nvSpPr>
          <p:cNvPr id="13" name="Shape 9"/>
          <p:cNvSpPr/>
          <p:nvPr/>
        </p:nvSpPr>
        <p:spPr>
          <a:xfrm>
            <a:off x="548640" y="4892040"/>
            <a:ext cx="11091672" cy="1143000"/>
          </a:xfrm>
          <a:prstGeom prst="roundRect">
            <a:avLst>
              <a:gd name="adj" fmla="val 9600"/>
            </a:avLst>
          </a:prstGeom>
          <a:solidFill>
            <a:srgbClr val="12343B"/>
          </a:solidFill>
          <a:ln w="12700">
            <a:solidFill>
              <a:srgbClr val="12343B"/>
            </a:solidFill>
            <a:prstDash val="solid"/>
          </a:ln>
        </p:spPr>
      </p:sp>
      <p:sp>
        <p:nvSpPr>
          <p:cNvPr id="14" name="Shape 10"/>
          <p:cNvSpPr/>
          <p:nvPr/>
        </p:nvSpPr>
        <p:spPr>
          <a:xfrm>
            <a:off x="10908792" y="5047488"/>
            <a:ext cx="457200" cy="457200"/>
          </a:xfrm>
          <a:prstGeom prst="ellipse">
            <a:avLst/>
          </a:prstGeom>
          <a:solidFill>
            <a:srgbClr val="E9A23B"/>
          </a:solidFill>
          <a:ln w="12700">
            <a:solidFill>
              <a:srgbClr val="E9A23B"/>
            </a:solidFill>
            <a:prstDash val="solid"/>
          </a:ln>
        </p:spPr>
      </p:sp>
      <p:pic>
        <p:nvPicPr>
          <p:cNvPr id="15" name="Image 2" descr="preencoded.png">    </p:cNvPr>
          <p:cNvPicPr>
            <a:picLocks noChangeAspect="1"/>
          </p:cNvPicPr>
          <p:nvPr/>
        </p:nvPicPr>
        <p:blipFill>
          <a:blip r:embed="rId3"/>
          <a:stretch>
            <a:fillRect/>
          </a:stretch>
        </p:blipFill>
        <p:spPr>
          <a:xfrm>
            <a:off x="11023092" y="5161788"/>
            <a:ext cx="228600" cy="228600"/>
          </a:xfrm>
          <a:prstGeom prst="rect">
            <a:avLst/>
          </a:prstGeom>
        </p:spPr>
      </p:pic>
      <p:sp>
        <p:nvSpPr>
          <p:cNvPr id="16" name="Text 11"/>
          <p:cNvSpPr txBox="1"/>
          <p:nvPr/>
        </p:nvSpPr>
        <p:spPr>
          <a:xfrm>
            <a:off x="868680" y="5029200"/>
            <a:ext cx="9811512" cy="868680"/>
          </a:xfrm>
          <a:prstGeom prst="rect">
            <a:avLst/>
          </a:prstGeom>
          <a:noFill/>
          <a:ln/>
        </p:spPr>
        <p:txBody>
          <a:bodyPr wrap="square" lIns="0" tIns="0" rIns="0" bIns="0" rtlCol="0" anchor="t"/>
          <a:lstStyle/>
          <a:p>
            <a:pPr algn="r" indent="0" marL="0">
              <a:lnSpc>
                <a:spcPct val="115000"/>
              </a:lnSpc>
              <a:buNone/>
            </a:pPr>
            <a:r>
              <a:rPr lang="he-IL" altLang="en-US" sz="1600" b="1" dirty="0">
                <a:solidFill>
                  <a:srgbClr val="E9A23B"/>
                </a:solidFill>
                <a:latin typeface="Arial" pitchFamily="34" charset="0"/>
                <a:ea typeface="Arial" pitchFamily="34" charset="-122"/>
                <a:cs typeface="Arial" pitchFamily="34" charset="-120"/>
              </a:rPr>
              <a:t>הקריאה שינתה גם את החשיבה שלנו. </a:t>
            </a:r>
            <a:pPr algn="r" indent="0" marL="0">
              <a:lnSpc>
                <a:spcPct val="115000"/>
              </a:lnSpc>
              <a:buNone/>
            </a:pPr>
            <a:r>
              <a:rPr lang="he-IL" altLang="en-US" sz="1600" dirty="0">
                <a:solidFill>
                  <a:srgbClr val="FFFFFF"/>
                </a:solidFill>
                <a:latin typeface="Arial" pitchFamily="34" charset="0"/>
                <a:ea typeface="Arial" pitchFamily="34" charset="-122"/>
                <a:cs typeface="Arial" pitchFamily="34" charset="-120"/>
              </a:rPr>
              <a:t>בתחילת הדרך ראינו בבעיה עניין לוגיסטי של מציאת ממלא מקום. היום אנחנו מבינים שרצף לימודי הוא פדגוגי, ארגוני ורגשי, ושהמנהל פועל גם לפני ההיעדרות ולא רק אחריה.</a:t>
            </a:r>
            <a:endParaRPr lang="he-IL"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091672" y="411480"/>
            <a:ext cx="548640" cy="548640"/>
          </a:xfrm>
          <a:prstGeom prst="ellipse">
            <a:avLst/>
          </a:prstGeom>
          <a:solidFill>
            <a:srgbClr val="E9A23B"/>
          </a:solidFill>
          <a:ln w="12700">
            <a:solidFill>
              <a:srgbClr val="E9A23B"/>
            </a:solidFill>
            <a:prstDash val="solid"/>
          </a:ln>
        </p:spPr>
      </p:sp>
      <p:sp>
        <p:nvSpPr>
          <p:cNvPr id="3" name="Text 1"/>
          <p:cNvSpPr txBox="1"/>
          <p:nvPr/>
        </p:nvSpPr>
        <p:spPr>
          <a:xfrm>
            <a:off x="11091672" y="411480"/>
            <a:ext cx="548640" cy="548640"/>
          </a:xfrm>
          <a:prstGeom prst="rect">
            <a:avLst/>
          </a:prstGeom>
          <a:noFill/>
          <a:ln/>
        </p:spPr>
        <p:txBody>
          <a:bodyPr wrap="square" lIns="0" tIns="0" rIns="0" bIns="0" rtlCol="0" anchor="ctr"/>
          <a:lstStyle/>
          <a:p>
            <a:pPr algn="ctr" indent="0" marL="0">
              <a:buNone/>
            </a:pPr>
            <a:r>
              <a:rPr lang="en-US" sz="2000" b="1" dirty="0">
                <a:solidFill>
                  <a:srgbClr val="12343B"/>
                </a:solidFill>
                <a:latin typeface="Arial" pitchFamily="34" charset="0"/>
                <a:ea typeface="Arial" pitchFamily="34" charset="-122"/>
                <a:cs typeface="Arial" pitchFamily="34" charset="-120"/>
              </a:rPr>
              <a:t>3</a:t>
            </a:r>
            <a:endParaRPr lang="en-US" sz="2000" dirty="0"/>
          </a:p>
        </p:txBody>
      </p:sp>
      <p:sp>
        <p:nvSpPr>
          <p:cNvPr id="4" name="Text 2"/>
          <p:cNvSpPr txBox="1"/>
          <p:nvPr/>
        </p:nvSpPr>
        <p:spPr>
          <a:xfrm>
            <a:off x="5943600" y="502920"/>
            <a:ext cx="4983480" cy="365760"/>
          </a:xfrm>
          <a:prstGeom prst="rect">
            <a:avLst/>
          </a:prstGeom>
          <a:noFill/>
          <a:ln/>
        </p:spPr>
        <p:txBody>
          <a:bodyPr wrap="square" lIns="0" tIns="0" rIns="0" bIns="0" rtlCol="0" anchor="ctr"/>
          <a:lstStyle/>
          <a:p>
            <a:pPr rtl="1" algn="r" indent="0" marL="0">
              <a:buNone/>
            </a:pPr>
            <a:r>
              <a:rPr lang="he-IL" altLang="en-US" sz="1300" b="1" dirty="0">
                <a:solidFill>
                  <a:srgbClr val="4F6A6E"/>
                </a:solidFill>
                <a:latin typeface="Arial" pitchFamily="34" charset="0"/>
                <a:ea typeface="Arial" pitchFamily="34" charset="-122"/>
                <a:cs typeface="Arial" pitchFamily="34" charset="-120"/>
              </a:rPr>
              <a:t>יוצאים לשטח</a:t>
            </a:r>
            <a:endParaRPr lang="he-IL" sz="1300" dirty="0"/>
          </a:p>
        </p:txBody>
      </p:sp>
      <p:sp>
        <p:nvSpPr>
          <p:cNvPr id="5" name="Text 3"/>
          <p:cNvSpPr txBox="1"/>
          <p:nvPr/>
        </p:nvSpPr>
        <p:spPr>
          <a:xfrm>
            <a:off x="548640" y="1051560"/>
            <a:ext cx="11091672" cy="685800"/>
          </a:xfrm>
          <a:prstGeom prst="rect">
            <a:avLst/>
          </a:prstGeom>
          <a:noFill/>
          <a:ln/>
        </p:spPr>
        <p:txBody>
          <a:bodyPr wrap="square" lIns="0" tIns="0" rIns="0" bIns="0" rtlCol="0" anchor="ctr"/>
          <a:lstStyle/>
          <a:p>
            <a:pPr rtl="1" algn="r" indent="0" marL="0">
              <a:buNone/>
            </a:pPr>
            <a:r>
              <a:rPr lang="he-IL" altLang="en-US" sz="3600" b="1" dirty="0">
                <a:solidFill>
                  <a:srgbClr val="12343B"/>
                </a:solidFill>
                <a:latin typeface="Arial" pitchFamily="34" charset="0"/>
                <a:ea typeface="Arial" pitchFamily="34" charset="-122"/>
                <a:cs typeface="Arial" pitchFamily="34" charset="-120"/>
              </a:rPr>
              <a:t>12 שיחות עם מי שמחליטים בבוקר</a:t>
            </a:r>
            <a:endParaRPr lang="he-IL" sz="3600" dirty="0"/>
          </a:p>
        </p:txBody>
      </p:sp>
      <p:sp>
        <p:nvSpPr>
          <p:cNvPr id="6" name="Shape 4"/>
          <p:cNvSpPr/>
          <p:nvPr/>
        </p:nvSpPr>
        <p:spPr>
          <a:xfrm>
            <a:off x="548640" y="2011680"/>
            <a:ext cx="2377440" cy="2743200"/>
          </a:xfrm>
          <a:prstGeom prst="roundRect">
            <a:avLst>
              <a:gd name="adj" fmla="val 4615"/>
            </a:avLst>
          </a:prstGeom>
          <a:solidFill>
            <a:srgbClr val="12343B"/>
          </a:solidFill>
          <a:ln w="12700">
            <a:solidFill>
              <a:srgbClr val="12343B"/>
            </a:solidFill>
            <a:prstDash val="solid"/>
          </a:ln>
        </p:spPr>
      </p:sp>
      <p:sp>
        <p:nvSpPr>
          <p:cNvPr id="7" name="Text 5"/>
          <p:cNvSpPr txBox="1"/>
          <p:nvPr/>
        </p:nvSpPr>
        <p:spPr>
          <a:xfrm>
            <a:off x="548640" y="2514600"/>
            <a:ext cx="2377440" cy="1005840"/>
          </a:xfrm>
          <a:prstGeom prst="rect">
            <a:avLst/>
          </a:prstGeom>
          <a:noFill/>
          <a:ln/>
        </p:spPr>
        <p:txBody>
          <a:bodyPr wrap="square" lIns="0" tIns="0" rIns="0" bIns="0" rtlCol="0" anchor="ctr"/>
          <a:lstStyle/>
          <a:p>
            <a:pPr algn="ctr" indent="0" marL="0">
              <a:buNone/>
            </a:pPr>
            <a:r>
              <a:rPr lang="en-US" sz="6600" b="1" dirty="0">
                <a:solidFill>
                  <a:srgbClr val="E9A23B"/>
                </a:solidFill>
                <a:latin typeface="Arial" pitchFamily="34" charset="0"/>
                <a:ea typeface="Arial" pitchFamily="34" charset="-122"/>
                <a:cs typeface="Arial" pitchFamily="34" charset="-120"/>
              </a:rPr>
              <a:t>12</a:t>
            </a:r>
            <a:endParaRPr lang="en-US" sz="6600" dirty="0"/>
          </a:p>
        </p:txBody>
      </p:sp>
      <p:sp>
        <p:nvSpPr>
          <p:cNvPr id="8" name="Text 6"/>
          <p:cNvSpPr txBox="1"/>
          <p:nvPr/>
        </p:nvSpPr>
        <p:spPr>
          <a:xfrm>
            <a:off x="731520" y="3611880"/>
            <a:ext cx="2011680" cy="914400"/>
          </a:xfrm>
          <a:prstGeom prst="rect">
            <a:avLst/>
          </a:prstGeom>
          <a:noFill/>
          <a:ln/>
        </p:spPr>
        <p:txBody>
          <a:bodyPr wrap="square" lIns="0" tIns="0" rIns="0" bIns="0" rtlCol="0" anchor="t"/>
          <a:lstStyle/>
          <a:p>
            <a:pPr algn="ctr" indent="0" marL="0">
              <a:buNone/>
            </a:pPr>
            <a:r>
              <a:rPr lang="en-US" sz="1600" b="1" dirty="0">
                <a:solidFill>
                  <a:srgbClr val="FFFFFF"/>
                </a:solidFill>
                <a:latin typeface="Arial" pitchFamily="34" charset="0"/>
                <a:ea typeface="Arial" pitchFamily="34" charset="-122"/>
                <a:cs typeface="Arial" pitchFamily="34" charset="-120"/>
              </a:rPr>
              <a:t>מנהלים ומנהלות</a:t>
            </a:r>
            <a:endParaRPr lang="en-US" sz="1600" dirty="0"/>
          </a:p>
          <a:p>
            <a:pPr algn="ctr" indent="0" marL="0">
              <a:buNone/>
            </a:pPr>
            <a:r>
              <a:rPr lang="en-US" sz="1400" dirty="0">
                <a:solidFill>
                  <a:srgbClr val="A9D2D5"/>
                </a:solidFill>
                <a:latin typeface="Arial" pitchFamily="34" charset="0"/>
                <a:ea typeface="Arial" pitchFamily="34" charset="-122"/>
                <a:cs typeface="Arial" pitchFamily="34" charset="-120"/>
              </a:rPr>
              <a:t>בערים בצפון הארץ</a:t>
            </a:r>
            <a:endParaRPr lang="en-US" sz="1600" dirty="0"/>
          </a:p>
        </p:txBody>
      </p:sp>
      <p:sp>
        <p:nvSpPr>
          <p:cNvPr id="9" name="Shape 7"/>
          <p:cNvSpPr/>
          <p:nvPr/>
        </p:nvSpPr>
        <p:spPr>
          <a:xfrm>
            <a:off x="11183112" y="2029968"/>
            <a:ext cx="457200" cy="457200"/>
          </a:xfrm>
          <a:prstGeom prst="ellipse">
            <a:avLst/>
          </a:prstGeom>
          <a:solidFill>
            <a:srgbClr val="12343B"/>
          </a:solidFill>
          <a:ln w="12700">
            <a:solidFill>
              <a:srgbClr val="12343B"/>
            </a:solidFill>
            <a:prstDash val="solid"/>
          </a:ln>
        </p:spPr>
      </p:sp>
      <p:pic>
        <p:nvPicPr>
          <p:cNvPr id="10" name="Image 0" descr="preencoded.png">    </p:cNvPr>
          <p:cNvPicPr>
            <a:picLocks noChangeAspect="1"/>
          </p:cNvPicPr>
          <p:nvPr/>
        </p:nvPicPr>
        <p:blipFill>
          <a:blip r:embed="rId1"/>
          <a:stretch>
            <a:fillRect/>
          </a:stretch>
        </p:blipFill>
        <p:spPr>
          <a:xfrm>
            <a:off x="11297412" y="2144268"/>
            <a:ext cx="228600" cy="228600"/>
          </a:xfrm>
          <a:prstGeom prst="rect">
            <a:avLst/>
          </a:prstGeom>
        </p:spPr>
      </p:pic>
      <p:sp>
        <p:nvSpPr>
          <p:cNvPr id="11" name="Text 8"/>
          <p:cNvSpPr txBox="1"/>
          <p:nvPr/>
        </p:nvSpPr>
        <p:spPr>
          <a:xfrm>
            <a:off x="3200400" y="2011680"/>
            <a:ext cx="7754112" cy="914400"/>
          </a:xfrm>
          <a:prstGeom prst="rect">
            <a:avLst/>
          </a:prstGeom>
          <a:noFill/>
          <a:ln/>
        </p:spPr>
        <p:txBody>
          <a:bodyPr wrap="square" lIns="0" tIns="0" rIns="0" bIns="0" rtlCol="0" anchor="t"/>
          <a:lstStyle/>
          <a:p>
            <a:pPr algn="r" indent="0" marL="0">
              <a:lnSpc>
                <a:spcPct val="115000"/>
              </a:lnSpc>
              <a:buNone/>
            </a:pPr>
            <a:r>
              <a:rPr lang="he-IL" altLang="en-US" sz="1500" b="1" dirty="0">
                <a:solidFill>
                  <a:srgbClr val="12343B"/>
                </a:solidFill>
                <a:latin typeface="Arial" pitchFamily="34" charset="0"/>
                <a:ea typeface="Arial" pitchFamily="34" charset="-122"/>
                <a:cs typeface="Arial" pitchFamily="34" charset="-120"/>
              </a:rPr>
              <a:t>נשוחח עם 12 מנהלים ומנהלות </a:t>
            </a:r>
            <a:pPr algn="r" indent="0" marL="0">
              <a:lnSpc>
                <a:spcPct val="115000"/>
              </a:lnSpc>
              <a:buNone/>
            </a:pPr>
            <a:r>
              <a:rPr lang="he-IL" altLang="en-US" sz="1500" dirty="0">
                <a:solidFill>
                  <a:srgbClr val="1B2B2E"/>
                </a:solidFill>
                <a:latin typeface="Arial" pitchFamily="34" charset="0"/>
                <a:ea typeface="Arial" pitchFamily="34" charset="-122"/>
                <a:cs typeface="Arial" pitchFamily="34" charset="-120"/>
              </a:rPr>
              <a:t>של בתי ספר בערים בצפון הארץ, יסודיים ועל־יסודיים ובעלי ותק שונה. בחרנו במנהלים כי הם מקבלי ההחלטות בבוקר ההיעדרות, ובערים כדי לבחון את התופעה בהקשר אחיד ולהשוות בין ערים שונות.</a:t>
            </a:r>
            <a:endParaRPr lang="he-IL" sz="1500" dirty="0"/>
          </a:p>
        </p:txBody>
      </p:sp>
      <p:sp>
        <p:nvSpPr>
          <p:cNvPr id="12" name="Shape 9"/>
          <p:cNvSpPr/>
          <p:nvPr/>
        </p:nvSpPr>
        <p:spPr>
          <a:xfrm>
            <a:off x="11183112" y="3081528"/>
            <a:ext cx="457200" cy="457200"/>
          </a:xfrm>
          <a:prstGeom prst="ellipse">
            <a:avLst/>
          </a:prstGeom>
          <a:solidFill>
            <a:srgbClr val="12343B"/>
          </a:solidFill>
          <a:ln w="12700">
            <a:solidFill>
              <a:srgbClr val="12343B"/>
            </a:solidFill>
            <a:prstDash val="solid"/>
          </a:ln>
        </p:spPr>
      </p:sp>
      <p:pic>
        <p:nvPicPr>
          <p:cNvPr id="13" name="Image 1" descr="preencoded.png">    </p:cNvPr>
          <p:cNvPicPr>
            <a:picLocks noChangeAspect="1"/>
          </p:cNvPicPr>
          <p:nvPr/>
        </p:nvPicPr>
        <p:blipFill>
          <a:blip r:embed="rId2"/>
          <a:stretch>
            <a:fillRect/>
          </a:stretch>
        </p:blipFill>
        <p:spPr>
          <a:xfrm>
            <a:off x="11297412" y="3195828"/>
            <a:ext cx="228600" cy="228600"/>
          </a:xfrm>
          <a:prstGeom prst="rect">
            <a:avLst/>
          </a:prstGeom>
        </p:spPr>
      </p:pic>
      <p:sp>
        <p:nvSpPr>
          <p:cNvPr id="14" name="Text 10"/>
          <p:cNvSpPr txBox="1"/>
          <p:nvPr/>
        </p:nvSpPr>
        <p:spPr>
          <a:xfrm>
            <a:off x="3200400" y="3063240"/>
            <a:ext cx="7754112" cy="1143000"/>
          </a:xfrm>
          <a:prstGeom prst="rect">
            <a:avLst/>
          </a:prstGeom>
          <a:noFill/>
          <a:ln/>
        </p:spPr>
        <p:txBody>
          <a:bodyPr wrap="square" lIns="0" tIns="0" rIns="0" bIns="0" rtlCol="0" anchor="t"/>
          <a:lstStyle/>
          <a:p>
            <a:pPr algn="r" indent="0" marL="0">
              <a:lnSpc>
                <a:spcPct val="115000"/>
              </a:lnSpc>
              <a:buNone/>
            </a:pPr>
            <a:r>
              <a:rPr lang="he-IL" altLang="en-US" sz="1500" b="1" dirty="0">
                <a:solidFill>
                  <a:srgbClr val="12343B"/>
                </a:solidFill>
                <a:latin typeface="Arial" pitchFamily="34" charset="0"/>
                <a:ea typeface="Arial" pitchFamily="34" charset="-122"/>
                <a:cs typeface="Arial" pitchFamily="34" charset="-120"/>
              </a:rPr>
              <a:t>בראיונות חצי מובנים </a:t>
            </a:r>
            <a:pPr algn="r" indent="0" marL="0">
              <a:lnSpc>
                <a:spcPct val="115000"/>
              </a:lnSpc>
              <a:buNone/>
            </a:pPr>
            <a:r>
              <a:rPr lang="he-IL" altLang="en-US" sz="1500" dirty="0">
                <a:solidFill>
                  <a:srgbClr val="1B2B2E"/>
                </a:solidFill>
                <a:latin typeface="Arial" pitchFamily="34" charset="0"/>
                <a:ea typeface="Arial" pitchFamily="34" charset="-122"/>
                <a:cs typeface="Arial" pitchFamily="34" charset="-120"/>
              </a:rPr>
              <a:t>נבקש מכל מנהל לתאר בוקר אחד של היעדרות וגם היעדרות ממושכת. כך נוכל להבין שיקולים ודילמות ולא רק נהלים כתובים. בניתוח תמטי נחפש אסטרטגיות מונעות לעומת מגיבות, ואת האיזון בין פדגוגיה, תקציב, הוגנות כלפי הצוות ורווחת המורה.</a:t>
            </a:r>
            <a:endParaRPr lang="he-IL" sz="1500" dirty="0"/>
          </a:p>
        </p:txBody>
      </p:sp>
      <p:sp>
        <p:nvSpPr>
          <p:cNvPr id="15" name="Shape 11"/>
          <p:cNvSpPr/>
          <p:nvPr/>
        </p:nvSpPr>
        <p:spPr>
          <a:xfrm>
            <a:off x="11183112" y="4178808"/>
            <a:ext cx="457200" cy="457200"/>
          </a:xfrm>
          <a:prstGeom prst="ellipse">
            <a:avLst/>
          </a:prstGeom>
          <a:solidFill>
            <a:srgbClr val="12343B"/>
          </a:solidFill>
          <a:ln w="12700">
            <a:solidFill>
              <a:srgbClr val="12343B"/>
            </a:solidFill>
            <a:prstDash val="solid"/>
          </a:ln>
        </p:spPr>
      </p:sp>
      <p:pic>
        <p:nvPicPr>
          <p:cNvPr id="16" name="Image 2" descr="preencoded.png">    </p:cNvPr>
          <p:cNvPicPr>
            <a:picLocks noChangeAspect="1"/>
          </p:cNvPicPr>
          <p:nvPr/>
        </p:nvPicPr>
        <p:blipFill>
          <a:blip r:embed="rId3"/>
          <a:stretch>
            <a:fillRect/>
          </a:stretch>
        </p:blipFill>
        <p:spPr>
          <a:xfrm>
            <a:off x="11297412" y="4293108"/>
            <a:ext cx="228600" cy="228600"/>
          </a:xfrm>
          <a:prstGeom prst="rect">
            <a:avLst/>
          </a:prstGeom>
        </p:spPr>
      </p:pic>
      <p:sp>
        <p:nvSpPr>
          <p:cNvPr id="17" name="Text 12"/>
          <p:cNvSpPr txBox="1"/>
          <p:nvPr/>
        </p:nvSpPr>
        <p:spPr>
          <a:xfrm>
            <a:off x="3200400" y="4160520"/>
            <a:ext cx="7754112" cy="868680"/>
          </a:xfrm>
          <a:prstGeom prst="rect">
            <a:avLst/>
          </a:prstGeom>
          <a:noFill/>
          <a:ln/>
        </p:spPr>
        <p:txBody>
          <a:bodyPr wrap="square" lIns="0" tIns="0" rIns="0" bIns="0" rtlCol="0" anchor="t"/>
          <a:lstStyle/>
          <a:p>
            <a:pPr algn="r" indent="0" marL="0">
              <a:lnSpc>
                <a:spcPct val="115000"/>
              </a:lnSpc>
              <a:buNone/>
            </a:pPr>
            <a:r>
              <a:rPr lang="he-IL" altLang="en-US" sz="1500" b="1" dirty="0">
                <a:solidFill>
                  <a:srgbClr val="12343B"/>
                </a:solidFill>
                <a:latin typeface="Arial" pitchFamily="34" charset="0"/>
                <a:ea typeface="Arial" pitchFamily="34" charset="-122"/>
                <a:cs typeface="Arial" pitchFamily="34" charset="-120"/>
              </a:rPr>
              <a:t>האתגר המרכזי </a:t>
            </a:r>
            <a:pPr algn="r" indent="0" marL="0">
              <a:lnSpc>
                <a:spcPct val="115000"/>
              </a:lnSpc>
              <a:buNone/>
            </a:pPr>
            <a:r>
              <a:rPr lang="he-IL" altLang="en-US" sz="1500" dirty="0">
                <a:solidFill>
                  <a:srgbClr val="1B2B2E"/>
                </a:solidFill>
                <a:latin typeface="Arial" pitchFamily="34" charset="0"/>
                <a:ea typeface="Arial" pitchFamily="34" charset="-122"/>
                <a:cs typeface="Arial" pitchFamily="34" charset="-120"/>
              </a:rPr>
              <a:t>הוא שמנהלים עלולים להציג תמונה יפה מהמציאות, ולכן נבקש דוגמאות מוחשיות. ממצא שיפתיע אותנו: שמה שמנחה את ההחלטה בפועל הוא השקט והסדר ולא הרצף הלימודי.</a:t>
            </a:r>
            <a:endParaRPr lang="he-IL" sz="1500" dirty="0"/>
          </a:p>
        </p:txBody>
      </p:sp>
      <p:sp>
        <p:nvSpPr>
          <p:cNvPr id="18" name="Shape 13"/>
          <p:cNvSpPr/>
          <p:nvPr/>
        </p:nvSpPr>
        <p:spPr>
          <a:xfrm>
            <a:off x="548640" y="5394960"/>
            <a:ext cx="11091672" cy="960120"/>
          </a:xfrm>
          <a:prstGeom prst="roundRect">
            <a:avLst>
              <a:gd name="adj" fmla="val 11429"/>
            </a:avLst>
          </a:prstGeom>
          <a:solidFill>
            <a:srgbClr val="12343B"/>
          </a:solidFill>
          <a:ln w="12700">
            <a:solidFill>
              <a:srgbClr val="12343B"/>
            </a:solidFill>
            <a:prstDash val="solid"/>
          </a:ln>
        </p:spPr>
      </p:sp>
      <p:sp>
        <p:nvSpPr>
          <p:cNvPr id="19" name="Text 14"/>
          <p:cNvSpPr txBox="1"/>
          <p:nvPr/>
        </p:nvSpPr>
        <p:spPr>
          <a:xfrm>
            <a:off x="868680" y="5468112"/>
            <a:ext cx="10451592" cy="822960"/>
          </a:xfrm>
          <a:prstGeom prst="rect">
            <a:avLst/>
          </a:prstGeom>
          <a:noFill/>
          <a:ln/>
        </p:spPr>
        <p:txBody>
          <a:bodyPr wrap="square" lIns="0" tIns="0" rIns="0" bIns="0" rtlCol="0" anchor="ctr"/>
          <a:lstStyle/>
          <a:p>
            <a:pPr algn="r" indent="0" marL="0">
              <a:buNone/>
            </a:pPr>
            <a:r>
              <a:rPr lang="he-IL" altLang="en-US" sz="1700" b="1" dirty="0">
                <a:solidFill>
                  <a:srgbClr val="E9A23B"/>
                </a:solidFill>
                <a:latin typeface="Arial" pitchFamily="34" charset="0"/>
                <a:ea typeface="Arial" pitchFamily="34" charset="-122"/>
                <a:cs typeface="Arial" pitchFamily="34" charset="-120"/>
              </a:rPr>
              <a:t>אם המחקר שלנו יהיה מוצלח, בסופו נבין טוב יותר </a:t>
            </a:r>
            <a:pPr algn="r" indent="0" marL="0">
              <a:buNone/>
            </a:pPr>
            <a:r>
              <a:rPr lang="he-IL" altLang="en-US" sz="1700" dirty="0">
                <a:solidFill>
                  <a:srgbClr val="FFFFFF"/>
                </a:solidFill>
                <a:latin typeface="Arial" pitchFamily="34" charset="0"/>
                <a:ea typeface="Arial" pitchFamily="34" charset="-122"/>
                <a:cs typeface="Arial" pitchFamily="34" charset="-120"/>
              </a:rPr>
              <a:t>איך מנהלים מאזנים, בזמן אמת, בין הצורך שמישהו יהיה בכיתה לבין הזכות של התלמידים לרצף לימודי אמיתי.</a:t>
            </a:r>
            <a:endParaRPr lang="he-IL"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אסטרטגיות ניהוליות בהתמודדות עם היעדרויות מורים</dc:title>
  <dc:subject>PptxGenJS Presentation</dc:subject>
  <dc:creator>חנון מנסור, אולפת עבד אל חי</dc:creator>
  <cp:lastModifiedBy>חנון מנסור, אולפת עבד אל חי</cp:lastModifiedBy>
  <cp:revision>1</cp:revision>
  <dcterms:created xsi:type="dcterms:W3CDTF">2026-09-26T23:05:14Z</dcterms:created>
  <dcterms:modified xsi:type="dcterms:W3CDTF">2026-09-26T23:05:14Z</dcterms:modified>
</cp:coreProperties>
</file>