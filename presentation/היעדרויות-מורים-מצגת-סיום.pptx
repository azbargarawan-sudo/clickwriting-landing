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כדקה]
בוקר רגיל, שבע וחצי. מורה מתקשרת ואומרת שהיא לא תגיע היום. בתוך כמה דקות המנהל צריך להחליט: מי נכנס לכיתה, מה יקרה בשיעור, ומי מהצוות ישלם את המחיר.
המחקר שלנו עוסק בהיעדרויות מורים. ההיעדרות עצמה היא חלק מהחיים של כל בית ספר. מה שמעניין אותנו הוא מה שהמנהל עושה ברגע הזה.
לכן שאלת המחקר שלנו היא: כיצד מנהלי בתי ספר בערים בצפון הארץ מתארים את התמודדותם עם היעדרויות מורים, ואילו אסטרטגיות ושיקולים מנחים את החלטותיהם לשמירה על רצף לימודי?
השאלה הזאת מעסיקה אותנו כי ראינו שאותה היעדרות יכולה להסתיים בשיעור שממשיך כרגיל, או בשעה של השגחה בלבד. ההבדל תלוי בהחלטות של המנהל.
המחקר שלנו חשוב כי הוא מאיר את מה שקורה מאחורי הקלעים של ההחלטות האלה, שמשפיעות ישירות על הלמידה של התלמידים.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[אולפת | כדקה ורבע]
מה למדנו מהספרות? קודם כול, שהיעדרויות מורים אינן עניין טכני. מחקרים גדולים, של מילר ועמיתיו ושל קלוטפלטר ועמיתיו, מצאו שהיעדרויות פוגעות בהישגי התלמידים, והפגיעה גדלה ככל שהן מצטברות.
מה שהפתיע אותנו הוא שהמנהל לא רק מגיב להיעדרות. מחקר ישראלי של שפירא־לישצ'ינסקי ורוזנבלט מצא שהאקלים שהמנהל יוצר בבית הספר קשור גם להיקף ההיעדרויות.
אבל כאן נוצר מתח. בתיאוריה, רצף לימודי הוא עניין פדגוגי: שהחומר ימשיך, שהיחסים והשגרה יישמרו. במציאות, בשבע וחצי בבוקר, המנהל צריך קודם כול שמישהו יהיה בכיתה. ורוב המחקרים בודקים כמה מורים נעדרים ולמה, ולא מה המנהל עושה ושוקל ברגע ההיעדרות עצמו.
הקריאה שינתה גם את החשיבה שלנו. בהתחלה חשבנו שהבעיה לוגיסטית, רק למצוא ממלא מקום. היום אנחנו מבינים שרצף הוא פדגוגי, ארגוני ורגשי, ושהמנהל פועל גם לפני ההיעדרות ולא רק אחריה.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כחמישים שניות]
כך נראה הסיפור התיאורטי שלנו, מימין לשמאל.
הוא מתחיל בהיעדרות מורים, ועובר אל המושג המרכזי: רצף לימודי. אנחנו מבינים את הרצף בשלושה ממדים. פדגוגי: שהתוכן והלמידה ממשיכים. ארגוני: שיבוץ, מערכת שעות, והעומס על הצוות שמחליף. ורגשי: שהתלמידים נשארים עם מבוגר מוכר ומרגישים ביטחון.
הרצף הזה תלוי בקבלת החלטות ניהולית. המנהל שוקל צרכים מתחרים, בזמן קצר ובמשאבים מוגבלים.
מתוך ההחלטות האלה נגזרות האסטרטגיות. יש אסטרטגיות מגיבות, כמו ממלא מקום, איחוד כיתות או שעה פרטנית, ויש אסטרטגיות מונעות, כמו מאגר ממלאי מקום קבוע וחומרי עבודה מוכנים מראש. את החוליה האחרונה הזאת, איך בדיוק זה קורה בשטח, אנחנו רוצים לחקור.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[אולפת | כדקה]
איך נבדוק את זה? נשוחח עם 12 מנהלים ומנהלות של בתי ספר בערים בצפון הארץ, יסודיים ועל־יסודיים, עם ותק שונה. בחרנו במנהלים כי הם מקבלי ההחלטות בבוקר ההיעדרות, ובחרנו בערים כדי לבחון את התופעה בהקשר אחיד ולהשוות בין ערים שונות.
בניתוח הראיונות נחפש תמות: אסטרטגיות מונעות לעומת מגיבות, הבדלים בין היעדרות קצרה לממושכת, ואת האיזון בין פדגוגיה, תקציב, הוגנות כלפי הצוות שמחליף, ורווחת המורה הנעדרת.
האתגר המרכזי: מנהלים עלולים להציג תמונה יפה מהמציאות. לכן נבקש דוגמאות מוחשיות ולא רק עקרונות.
ומה יפתיע אותנו? אם יתברר שמה שמנחה את ההחלטה בפועל הוא השקט והסדר בבית הספר ולא הרצף הלימודי. זה יערער הנחה שלנו.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כארבעים שניות]
איך ייראה הראיון? נפתח בשאלות רקע על בית הספר, על הצוות ועל הדרך של המנהל לתפקיד, כדי ליצור אמון ולהבין את ההקשר.
בלב הראיון נבקש סיפור מוחשי: ספר לי על הבוקר האחרון שבו מורה לא הגיע. מה עשית, צעד אחר צעד? מה היה שונה כשההיעדרות נמשכה כמה שבועות? במה התחשבת כשהחלטת מי יחליף? כך נשמע את השיקולים ואת הדילמות, ולא רק את הנוהל הכתוב.
ונקפיד על אתיקה: הסכמה מדעת, הקלטה רק באישור, ואנונימיות מלאה.
[אולפת | כרבע דקה]
אם המחקר שלנו יהיה מוצלח, בסופו נבין טוב יותר איך מנהלים מאזנים, בזמן אמת, בין הצורך שמישהו יהיה בכיתה לבין הזכות של התלמידים לרצף לימודי אמיתי.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43B"/>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1</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E9A23B"/>
                </a:solidFill>
                <a:latin typeface="Arial" pitchFamily="34" charset="0"/>
                <a:ea typeface="Arial" pitchFamily="34" charset="-122"/>
                <a:cs typeface="Arial" pitchFamily="34" charset="-120"/>
              </a:rPr>
              <a:t>מה אנחנו מנסים להבין?</a:t>
            </a:r>
            <a:endParaRPr lang="he-IL" sz="1300" dirty="0"/>
          </a:p>
        </p:txBody>
      </p:sp>
      <p:sp>
        <p:nvSpPr>
          <p:cNvPr id="5" name="Text 3"/>
          <p:cNvSpPr txBox="1"/>
          <p:nvPr/>
        </p:nvSpPr>
        <p:spPr>
          <a:xfrm>
            <a:off x="548640" y="502920"/>
            <a:ext cx="5120640" cy="365760"/>
          </a:xfrm>
          <a:prstGeom prst="rect">
            <a:avLst/>
          </a:prstGeom>
          <a:noFill/>
          <a:ln/>
        </p:spPr>
        <p:txBody>
          <a:bodyPr wrap="square" lIns="0" tIns="0" rIns="0" bIns="0" rtlCol="0" anchor="ctr"/>
          <a:lstStyle/>
          <a:p>
            <a:pPr rtl="1" algn="l" indent="0" marL="0">
              <a:buNone/>
            </a:pPr>
            <a:r>
              <a:rPr lang="en-US" sz="1100" dirty="0">
                <a:solidFill>
                  <a:srgbClr val="A9D2D5"/>
                </a:solidFill>
                <a:latin typeface="Arial" pitchFamily="34" charset="0"/>
                <a:ea typeface="Arial" pitchFamily="34" charset="-122"/>
                <a:cs typeface="Arial" pitchFamily="34" charset="-120"/>
              </a:rPr>
              <a:t>חנון מנסור · אולפת עבד אל חי  |  סמינריון בעבודת הניהול ובמנהל חינוך</a:t>
            </a:r>
            <a:endParaRPr lang="en-US" sz="1100" dirty="0"/>
          </a:p>
        </p:txBody>
      </p:sp>
      <p:sp>
        <p:nvSpPr>
          <p:cNvPr id="6" name="Text 4"/>
          <p:cNvSpPr txBox="1"/>
          <p:nvPr/>
        </p:nvSpPr>
        <p:spPr>
          <a:xfrm>
            <a:off x="548640" y="1143000"/>
            <a:ext cx="11091672" cy="777240"/>
          </a:xfrm>
          <a:prstGeom prst="rect">
            <a:avLst/>
          </a:prstGeom>
          <a:noFill/>
          <a:ln/>
        </p:spPr>
        <p:txBody>
          <a:bodyPr wrap="square" lIns="0" tIns="0" rIns="0" bIns="0" rtlCol="0" anchor="ctr"/>
          <a:lstStyle/>
          <a:p>
            <a:pPr rtl="1" algn="r" indent="0" marL="0">
              <a:buNone/>
            </a:pPr>
            <a:r>
              <a:rPr lang="he-IL" altLang="en-US" sz="4000" b="1" dirty="0">
                <a:solidFill>
                  <a:srgbClr val="FFFFFF"/>
                </a:solidFill>
                <a:latin typeface="Arial" pitchFamily="34" charset="0"/>
                <a:ea typeface="Arial" pitchFamily="34" charset="-122"/>
                <a:cs typeface="Arial" pitchFamily="34" charset="-120"/>
              </a:rPr>
              <a:t>מה קורה בבית הספר כשהמורה לא מגיע?</a:t>
            </a:r>
            <a:endParaRPr lang="he-IL" sz="4000" dirty="0"/>
          </a:p>
        </p:txBody>
      </p:sp>
      <p:sp>
        <p:nvSpPr>
          <p:cNvPr id="7" name="Shape 5"/>
          <p:cNvSpPr/>
          <p:nvPr/>
        </p:nvSpPr>
        <p:spPr>
          <a:xfrm>
            <a:off x="11183112" y="2350008"/>
            <a:ext cx="457200" cy="457200"/>
          </a:xfrm>
          <a:prstGeom prst="ellipse">
            <a:avLst/>
          </a:prstGeom>
          <a:solidFill>
            <a:srgbClr val="E9A23B"/>
          </a:solidFill>
          <a:ln w="12700">
            <a:solidFill>
              <a:srgbClr val="E9A23B"/>
            </a:solidFill>
            <a:prstDash val="solid"/>
          </a:ln>
        </p:spPr>
      </p:sp>
      <p:pic>
        <p:nvPicPr>
          <p:cNvPr id="8" name="Image 0" descr="preencoded.png">    </p:cNvPr>
          <p:cNvPicPr>
            <a:picLocks noChangeAspect="1"/>
          </p:cNvPicPr>
          <p:nvPr/>
        </p:nvPicPr>
        <p:blipFill>
          <a:blip r:embed="rId1"/>
          <a:stretch>
            <a:fillRect/>
          </a:stretch>
        </p:blipFill>
        <p:spPr>
          <a:xfrm>
            <a:off x="11297412" y="2464308"/>
            <a:ext cx="228600" cy="228600"/>
          </a:xfrm>
          <a:prstGeom prst="rect">
            <a:avLst/>
          </a:prstGeom>
        </p:spPr>
      </p:pic>
      <p:sp>
        <p:nvSpPr>
          <p:cNvPr id="9" name="Text 6"/>
          <p:cNvSpPr txBox="1"/>
          <p:nvPr/>
        </p:nvSpPr>
        <p:spPr>
          <a:xfrm>
            <a:off x="548640" y="2331720"/>
            <a:ext cx="10405872" cy="1143000"/>
          </a:xfrm>
          <a:prstGeom prst="rect">
            <a:avLst/>
          </a:prstGeom>
          <a:noFill/>
          <a:ln/>
        </p:spPr>
        <p:txBody>
          <a:bodyPr wrap="square" lIns="0" tIns="0" rIns="0" bIns="0" rtlCol="0" anchor="t"/>
          <a:lstStyle/>
          <a:p>
            <a:pPr algn="r" indent="0" marL="0">
              <a:lnSpc>
                <a:spcPct val="115000"/>
              </a:lnSpc>
              <a:buNone/>
            </a:pPr>
            <a:r>
              <a:rPr lang="he-IL" altLang="en-US" sz="1700" b="1" dirty="0">
                <a:solidFill>
                  <a:srgbClr val="E9A23B"/>
                </a:solidFill>
                <a:latin typeface="Arial" pitchFamily="34" charset="0"/>
                <a:ea typeface="Arial" pitchFamily="34" charset="-122"/>
                <a:cs typeface="Arial" pitchFamily="34" charset="-120"/>
              </a:rPr>
              <a:t>המחקר שלנו עוסק בהיעדרויות מורים, </a:t>
            </a:r>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תופעה שמוכרת לכל בית ספר ומתרחשת כמעט בכל יום. ההיעדרות עצמה אינה הבעיה. המורכבות מתחילה ברגע שבו המנהל צריך להחליט בתוך דקות מי ייכנס לכיתה, מה יקרה בשיעור ומי מהצוות ישלם את המחיר.</a:t>
            </a:r>
            <a:endParaRPr lang="he-IL" sz="1700" dirty="0"/>
          </a:p>
        </p:txBody>
      </p:sp>
      <p:sp>
        <p:nvSpPr>
          <p:cNvPr id="10" name="Shape 7"/>
          <p:cNvSpPr/>
          <p:nvPr/>
        </p:nvSpPr>
        <p:spPr>
          <a:xfrm>
            <a:off x="11183112" y="3675888"/>
            <a:ext cx="457200" cy="457200"/>
          </a:xfrm>
          <a:prstGeom prst="ellipse">
            <a:avLst/>
          </a:prstGeom>
          <a:solidFill>
            <a:srgbClr val="E9A23B"/>
          </a:solidFill>
          <a:ln w="12700">
            <a:solidFill>
              <a:srgbClr val="E9A23B"/>
            </a:solidFill>
            <a:prstDash val="solid"/>
          </a:ln>
        </p:spPr>
      </p:sp>
      <p:pic>
        <p:nvPicPr>
          <p:cNvPr id="11" name="Image 1" descr="preencoded.png">    </p:cNvPr>
          <p:cNvPicPr>
            <a:picLocks noChangeAspect="1"/>
          </p:cNvPicPr>
          <p:nvPr/>
        </p:nvPicPr>
        <p:blipFill>
          <a:blip r:embed="rId2"/>
          <a:stretch>
            <a:fillRect/>
          </a:stretch>
        </p:blipFill>
        <p:spPr>
          <a:xfrm>
            <a:off x="11297412" y="3790188"/>
            <a:ext cx="228600" cy="228600"/>
          </a:xfrm>
          <a:prstGeom prst="rect">
            <a:avLst/>
          </a:prstGeom>
        </p:spPr>
      </p:pic>
      <p:sp>
        <p:nvSpPr>
          <p:cNvPr id="12" name="Text 8"/>
          <p:cNvSpPr txBox="1"/>
          <p:nvPr/>
        </p:nvSpPr>
        <p:spPr>
          <a:xfrm>
            <a:off x="548640" y="3657600"/>
            <a:ext cx="10405872" cy="1143000"/>
          </a:xfrm>
          <a:prstGeom prst="rect">
            <a:avLst/>
          </a:prstGeom>
          <a:noFill/>
          <a:ln/>
        </p:spPr>
        <p:txBody>
          <a:bodyPr wrap="square" lIns="0" tIns="0" rIns="0" bIns="0" rtlCol="0" anchor="t"/>
          <a:lstStyle/>
          <a:p>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לכן אנחנו שואלים: </a:t>
            </a:r>
            <a:pPr algn="r" indent="0" marL="0">
              <a:lnSpc>
                <a:spcPct val="115000"/>
              </a:lnSpc>
              <a:buNone/>
            </a:pPr>
            <a:r>
              <a:rPr lang="he-IL" altLang="en-US" sz="17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1700" dirty="0"/>
          </a:p>
        </p:txBody>
      </p:sp>
      <p:sp>
        <p:nvSpPr>
          <p:cNvPr id="13" name="Shape 9"/>
          <p:cNvSpPr/>
          <p:nvPr/>
        </p:nvSpPr>
        <p:spPr>
          <a:xfrm>
            <a:off x="11183112" y="4773168"/>
            <a:ext cx="457200" cy="457200"/>
          </a:xfrm>
          <a:prstGeom prst="ellipse">
            <a:avLst/>
          </a:prstGeom>
          <a:solidFill>
            <a:srgbClr val="E9A23B"/>
          </a:solidFill>
          <a:ln w="12700">
            <a:solidFill>
              <a:srgbClr val="E9A23B"/>
            </a:solidFill>
            <a:prstDash val="solid"/>
          </a:ln>
        </p:spPr>
      </p:sp>
      <p:pic>
        <p:nvPicPr>
          <p:cNvPr id="14" name="Image 2" descr="preencoded.png">    </p:cNvPr>
          <p:cNvPicPr>
            <a:picLocks noChangeAspect="1"/>
          </p:cNvPicPr>
          <p:nvPr/>
        </p:nvPicPr>
        <p:blipFill>
          <a:blip r:embed="rId3"/>
          <a:stretch>
            <a:fillRect/>
          </a:stretch>
        </p:blipFill>
        <p:spPr>
          <a:xfrm>
            <a:off x="11297412" y="4887468"/>
            <a:ext cx="228600" cy="228600"/>
          </a:xfrm>
          <a:prstGeom prst="rect">
            <a:avLst/>
          </a:prstGeom>
        </p:spPr>
      </p:pic>
      <p:sp>
        <p:nvSpPr>
          <p:cNvPr id="15" name="Text 10"/>
          <p:cNvSpPr txBox="1"/>
          <p:nvPr/>
        </p:nvSpPr>
        <p:spPr>
          <a:xfrm>
            <a:off x="548640" y="4754880"/>
            <a:ext cx="10405872" cy="1463040"/>
          </a:xfrm>
          <a:prstGeom prst="rect">
            <a:avLst/>
          </a:prstGeom>
          <a:noFill/>
          <a:ln/>
        </p:spPr>
        <p:txBody>
          <a:bodyPr wrap="square" lIns="0" tIns="0" rIns="0" bIns="0" rtlCol="0" anchor="t"/>
          <a:lstStyle/>
          <a:p>
            <a:pPr algn="r" indent="0" marL="0">
              <a:lnSpc>
                <a:spcPct val="115000"/>
              </a:lnSpc>
              <a:buNone/>
            </a:pPr>
            <a:r>
              <a:rPr lang="he-IL" altLang="en-US" sz="1700" b="1" dirty="0">
                <a:solidFill>
                  <a:srgbClr val="E9A23B"/>
                </a:solidFill>
                <a:latin typeface="Arial" pitchFamily="34" charset="0"/>
                <a:ea typeface="Arial" pitchFamily="34" charset="-122"/>
                <a:cs typeface="Arial" pitchFamily="34" charset="-120"/>
              </a:rPr>
              <a:t>השאלה הזאת מעסיקה אותנו </a:t>
            </a:r>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משום שראינו שאותה היעדרות יכולה להסתיים בשיעור שממשיך כרגיל, או בשעה של השגחה בלבד, וההבדל נקבע בהחלטות של המנהל. המחקר שלנו חשוב כי הוא מאיר את מה שקורה מאחורי הקלעים של ההחלטות האלה, שמשפיעות ישירות על הלמידה של התלמידים.</a:t>
            </a:r>
            <a:endParaRPr lang="he-IL"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2</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הספרות שינתה את השאלה שלנו</a:t>
            </a:r>
            <a:endParaRPr lang="he-IL" sz="3600" dirty="0"/>
          </a:p>
        </p:txBody>
      </p:sp>
      <p:sp>
        <p:nvSpPr>
          <p:cNvPr id="6" name="Shape 4"/>
          <p:cNvSpPr/>
          <p:nvPr/>
        </p:nvSpPr>
        <p:spPr>
          <a:xfrm>
            <a:off x="11183112" y="2029968"/>
            <a:ext cx="457200" cy="457200"/>
          </a:xfrm>
          <a:prstGeom prst="ellipse">
            <a:avLst/>
          </a:prstGeom>
          <a:solidFill>
            <a:srgbClr val="12343B"/>
          </a:solidFill>
          <a:ln w="12700">
            <a:solidFill>
              <a:srgbClr val="12343B"/>
            </a:solidFill>
            <a:prstDash val="solid"/>
          </a:ln>
        </p:spPr>
      </p:sp>
      <p:pic>
        <p:nvPicPr>
          <p:cNvPr id="7"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8" name="Text 5"/>
          <p:cNvSpPr txBox="1"/>
          <p:nvPr/>
        </p:nvSpPr>
        <p:spPr>
          <a:xfrm>
            <a:off x="548640" y="2011680"/>
            <a:ext cx="10405872" cy="10058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הספרות מלמדת שהיעדרויות מורים אינן עניין טכני בלבד: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מילר ועמיתיו (2008) וקלוטפלטר ועמיתיו (2009) מצאו שהן פוגעות בהישגי התלמידים, והפגיעה גדלה ככל שההיעדרויות מצטברות. שפירא־לישצ'ינסקי ורוזנבלט (2010) הראו שהמנהל אינו רק מגיב להיעדרות, שכן האקלים שהוא מעצב בבית הספר קשור גם להיקף ההיעדרויות.</a:t>
            </a:r>
            <a:endParaRPr lang="he-IL" sz="1600" dirty="0"/>
          </a:p>
        </p:txBody>
      </p:sp>
      <p:sp>
        <p:nvSpPr>
          <p:cNvPr id="9" name="Text 6"/>
          <p:cNvSpPr txBox="1"/>
          <p:nvPr/>
        </p:nvSpPr>
        <p:spPr>
          <a:xfrm>
            <a:off x="548640" y="3017520"/>
            <a:ext cx="10405872" cy="274320"/>
          </a:xfrm>
          <a:prstGeom prst="rect">
            <a:avLst/>
          </a:prstGeom>
          <a:noFill/>
          <a:ln/>
        </p:spPr>
        <p:txBody>
          <a:bodyPr wrap="square" lIns="0" tIns="0" rIns="0" bIns="0" rtlCol="0" anchor="ctr"/>
          <a:lstStyle/>
          <a:p>
            <a:pPr algn="r" indent="0" marL="0">
              <a:buNone/>
            </a:pPr>
            <a:r>
              <a:rPr lang="en-US" sz="1000" dirty="0">
                <a:solidFill>
                  <a:srgbClr val="4F6A6E"/>
                </a:solidFill>
                <a:latin typeface="Arial" pitchFamily="34" charset="0"/>
                <a:ea typeface="Arial" pitchFamily="34" charset="-122"/>
                <a:cs typeface="Arial" pitchFamily="34" charset="-120"/>
              </a:rPr>
              <a:t>Miller et al., 2008 · Clotfelter et al., 2009 · Shapira-Lishchinsky &amp; Rosenblatt, 2010</a:t>
            </a:r>
            <a:endParaRPr lang="en-US" sz="1000" dirty="0"/>
          </a:p>
        </p:txBody>
      </p:sp>
      <p:sp>
        <p:nvSpPr>
          <p:cNvPr id="10" name="Shape 7"/>
          <p:cNvSpPr/>
          <p:nvPr/>
        </p:nvSpPr>
        <p:spPr>
          <a:xfrm>
            <a:off x="11183112" y="3447288"/>
            <a:ext cx="457200" cy="457200"/>
          </a:xfrm>
          <a:prstGeom prst="ellipse">
            <a:avLst/>
          </a:prstGeom>
          <a:solidFill>
            <a:srgbClr val="12343B"/>
          </a:solidFill>
          <a:ln w="12700">
            <a:solidFill>
              <a:srgbClr val="12343B"/>
            </a:solidFill>
            <a:prstDash val="solid"/>
          </a:ln>
        </p:spPr>
      </p:sp>
      <p:pic>
        <p:nvPicPr>
          <p:cNvPr id="11" name="Image 1" descr="preencoded.png">    </p:cNvPr>
          <p:cNvPicPr>
            <a:picLocks noChangeAspect="1"/>
          </p:cNvPicPr>
          <p:nvPr/>
        </p:nvPicPr>
        <p:blipFill>
          <a:blip r:embed="rId2"/>
          <a:stretch>
            <a:fillRect/>
          </a:stretch>
        </p:blipFill>
        <p:spPr>
          <a:xfrm>
            <a:off x="11297412" y="3561588"/>
            <a:ext cx="228600" cy="228600"/>
          </a:xfrm>
          <a:prstGeom prst="rect">
            <a:avLst/>
          </a:prstGeom>
        </p:spPr>
      </p:pic>
      <p:sp>
        <p:nvSpPr>
          <p:cNvPr id="12" name="Text 8"/>
          <p:cNvSpPr txBox="1"/>
          <p:nvPr/>
        </p:nvSpPr>
        <p:spPr>
          <a:xfrm>
            <a:off x="548640" y="3429000"/>
            <a:ext cx="10405872" cy="12344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אלא שכאן נוצר מתח: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בתיאוריה, רצף לימודי הוא עניין פדגוגי של המשך תוכן, יחסים ושגרה. במציאות, בשבע וחצי בבוקר, המנהל צריך קודם כול שמישהו יהיה בכיתה. רוב המחקרים בודקים כמה מורים נעדרים, מדוע ומה המחיר, ומעט ידוע על מה שהמנהל עושה ושוקל ברגע ההיעדרות עצמו.</a:t>
            </a:r>
            <a:endParaRPr lang="he-IL" sz="1600" dirty="0"/>
          </a:p>
        </p:txBody>
      </p:sp>
      <p:sp>
        <p:nvSpPr>
          <p:cNvPr id="13" name="Shape 9"/>
          <p:cNvSpPr/>
          <p:nvPr/>
        </p:nvSpPr>
        <p:spPr>
          <a:xfrm>
            <a:off x="548640" y="4892040"/>
            <a:ext cx="11091672" cy="1143000"/>
          </a:xfrm>
          <a:prstGeom prst="roundRect">
            <a:avLst>
              <a:gd name="adj" fmla="val 9600"/>
            </a:avLst>
          </a:prstGeom>
          <a:solidFill>
            <a:srgbClr val="12343B"/>
          </a:solidFill>
          <a:ln w="12700">
            <a:solidFill>
              <a:srgbClr val="12343B"/>
            </a:solidFill>
            <a:prstDash val="solid"/>
          </a:ln>
        </p:spPr>
      </p:sp>
      <p:sp>
        <p:nvSpPr>
          <p:cNvPr id="14" name="Shape 10"/>
          <p:cNvSpPr/>
          <p:nvPr/>
        </p:nvSpPr>
        <p:spPr>
          <a:xfrm>
            <a:off x="10908792" y="5047488"/>
            <a:ext cx="457200" cy="457200"/>
          </a:xfrm>
          <a:prstGeom prst="ellipse">
            <a:avLst/>
          </a:prstGeom>
          <a:solidFill>
            <a:srgbClr val="E9A23B"/>
          </a:solidFill>
          <a:ln w="12700">
            <a:solidFill>
              <a:srgbClr val="E9A23B"/>
            </a:solidFill>
            <a:prstDash val="solid"/>
          </a:ln>
        </p:spPr>
      </p:sp>
      <p:pic>
        <p:nvPicPr>
          <p:cNvPr id="15" name="Image 2" descr="preencoded.png">    </p:cNvPr>
          <p:cNvPicPr>
            <a:picLocks noChangeAspect="1"/>
          </p:cNvPicPr>
          <p:nvPr/>
        </p:nvPicPr>
        <p:blipFill>
          <a:blip r:embed="rId3"/>
          <a:stretch>
            <a:fillRect/>
          </a:stretch>
        </p:blipFill>
        <p:spPr>
          <a:xfrm>
            <a:off x="11023092" y="5161788"/>
            <a:ext cx="228600" cy="228600"/>
          </a:xfrm>
          <a:prstGeom prst="rect">
            <a:avLst/>
          </a:prstGeom>
        </p:spPr>
      </p:pic>
      <p:sp>
        <p:nvSpPr>
          <p:cNvPr id="16" name="Text 11"/>
          <p:cNvSpPr txBox="1"/>
          <p:nvPr/>
        </p:nvSpPr>
        <p:spPr>
          <a:xfrm>
            <a:off x="868680" y="5029200"/>
            <a:ext cx="9811512" cy="86868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E9A23B"/>
                </a:solidFill>
                <a:latin typeface="Arial" pitchFamily="34" charset="0"/>
                <a:ea typeface="Arial" pitchFamily="34" charset="-122"/>
                <a:cs typeface="Arial" pitchFamily="34" charset="-120"/>
              </a:rPr>
              <a:t>הקריאה שינתה גם את החשיבה שלנו. </a:t>
            </a:r>
            <a:pPr algn="r" indent="0" marL="0">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הדרך ראינו בבעיה עניין לוגיסטי של מציאת ממלא מקום. היום אנחנו מבינים שרצף לימודי הוא פדגוגי, ארגוני ורגשי, ושהמנהל פועל גם לפני ההיעדרות ולא רק אחריה.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3</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מפת הספרות</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הסיפור התיאורטי שלנו</a:t>
            </a:r>
            <a:endParaRPr lang="he-IL" sz="3600" dirty="0"/>
          </a:p>
        </p:txBody>
      </p:sp>
      <p:sp>
        <p:nvSpPr>
          <p:cNvPr id="6" name="Shape 4"/>
          <p:cNvSpPr/>
          <p:nvPr/>
        </p:nvSpPr>
        <p:spPr>
          <a:xfrm>
            <a:off x="9262872" y="2011680"/>
            <a:ext cx="2377440" cy="1234440"/>
          </a:xfrm>
          <a:prstGeom prst="roundRect">
            <a:avLst>
              <a:gd name="adj" fmla="val 8889"/>
            </a:avLst>
          </a:prstGeom>
          <a:solidFill>
            <a:srgbClr val="E4F0F0"/>
          </a:solidFill>
          <a:ln w="12700">
            <a:solidFill>
              <a:srgbClr val="E4F0F0"/>
            </a:solidFill>
            <a:prstDash val="solid"/>
          </a:ln>
        </p:spPr>
      </p:sp>
      <p:sp>
        <p:nvSpPr>
          <p:cNvPr id="7" name="Shape 5"/>
          <p:cNvSpPr/>
          <p:nvPr/>
        </p:nvSpPr>
        <p:spPr>
          <a:xfrm>
            <a:off x="10222992" y="2176272"/>
            <a:ext cx="457200" cy="457200"/>
          </a:xfrm>
          <a:prstGeom prst="ellipse">
            <a:avLst/>
          </a:prstGeom>
          <a:solidFill>
            <a:srgbClr val="12343B"/>
          </a:solidFill>
          <a:ln w="12700">
            <a:solidFill>
              <a:srgbClr val="12343B"/>
            </a:solidFill>
            <a:prstDash val="solid"/>
          </a:ln>
        </p:spPr>
      </p:sp>
      <p:pic>
        <p:nvPicPr>
          <p:cNvPr id="8" name="Image 0" descr="preencoded.png">    </p:cNvPr>
          <p:cNvPicPr>
            <a:picLocks noChangeAspect="1"/>
          </p:cNvPicPr>
          <p:nvPr/>
        </p:nvPicPr>
        <p:blipFill>
          <a:blip r:embed="rId1"/>
          <a:stretch>
            <a:fillRect/>
          </a:stretch>
        </p:blipFill>
        <p:spPr>
          <a:xfrm>
            <a:off x="10337292" y="2290572"/>
            <a:ext cx="228600" cy="228600"/>
          </a:xfrm>
          <a:prstGeom prst="rect">
            <a:avLst/>
          </a:prstGeom>
        </p:spPr>
      </p:pic>
      <p:sp>
        <p:nvSpPr>
          <p:cNvPr id="9" name="Text 6"/>
          <p:cNvSpPr txBox="1"/>
          <p:nvPr/>
        </p:nvSpPr>
        <p:spPr>
          <a:xfrm>
            <a:off x="9354312" y="2697480"/>
            <a:ext cx="2194560" cy="411480"/>
          </a:xfrm>
          <a:prstGeom prst="rect">
            <a:avLst/>
          </a:prstGeom>
          <a:noFill/>
          <a:ln/>
        </p:spPr>
        <p:txBody>
          <a:bodyPr wrap="square" lIns="0" tIns="0" rIns="0" bIns="0" rtlCol="0" anchor="ctr"/>
          <a:lstStyle/>
          <a:p>
            <a:pPr rtl="1" algn="ctr" indent="0" marL="0">
              <a:buNone/>
            </a:pPr>
            <a:r>
              <a:rPr lang="en-US" sz="1500" b="1" dirty="0">
                <a:solidFill>
                  <a:srgbClr val="12343B"/>
                </a:solidFill>
                <a:latin typeface="Arial" pitchFamily="34" charset="0"/>
                <a:ea typeface="Arial" pitchFamily="34" charset="-122"/>
                <a:cs typeface="Arial" pitchFamily="34" charset="-120"/>
              </a:rPr>
              <a:t>היעדרות מורים</a:t>
            </a:r>
            <a:endParaRPr lang="en-US" sz="1500" dirty="0"/>
          </a:p>
        </p:txBody>
      </p:sp>
      <p:sp>
        <p:nvSpPr>
          <p:cNvPr id="10" name="Shape 7"/>
          <p:cNvSpPr/>
          <p:nvPr/>
        </p:nvSpPr>
        <p:spPr>
          <a:xfrm>
            <a:off x="8833104" y="2464308"/>
            <a:ext cx="329184" cy="329184"/>
          </a:xfrm>
          <a:prstGeom prst="ellipse">
            <a:avLst/>
          </a:prstGeom>
          <a:solidFill>
            <a:srgbClr val="E9A23B"/>
          </a:solidFill>
          <a:ln w="12700">
            <a:solidFill>
              <a:srgbClr val="E9A23B"/>
            </a:solidFill>
            <a:prstDash val="solid"/>
          </a:ln>
        </p:spPr>
      </p:sp>
      <p:pic>
        <p:nvPicPr>
          <p:cNvPr id="11" name="Image 1" descr="preencoded.png">    </p:cNvPr>
          <p:cNvPicPr>
            <a:picLocks noChangeAspect="1"/>
          </p:cNvPicPr>
          <p:nvPr/>
        </p:nvPicPr>
        <p:blipFill>
          <a:blip r:embed="rId2"/>
          <a:stretch>
            <a:fillRect/>
          </a:stretch>
        </p:blipFill>
        <p:spPr>
          <a:xfrm>
            <a:off x="8915400" y="2546604"/>
            <a:ext cx="164592" cy="164592"/>
          </a:xfrm>
          <a:prstGeom prst="rect">
            <a:avLst/>
          </a:prstGeom>
        </p:spPr>
      </p:pic>
      <p:sp>
        <p:nvSpPr>
          <p:cNvPr id="12" name="Shape 8"/>
          <p:cNvSpPr/>
          <p:nvPr/>
        </p:nvSpPr>
        <p:spPr>
          <a:xfrm>
            <a:off x="6355080" y="2011680"/>
            <a:ext cx="2377440" cy="1234440"/>
          </a:xfrm>
          <a:prstGeom prst="roundRect">
            <a:avLst>
              <a:gd name="adj" fmla="val 8889"/>
            </a:avLst>
          </a:prstGeom>
          <a:solidFill>
            <a:srgbClr val="E4F0F0"/>
          </a:solidFill>
          <a:ln w="12700">
            <a:solidFill>
              <a:srgbClr val="E4F0F0"/>
            </a:solidFill>
            <a:prstDash val="solid"/>
          </a:ln>
        </p:spPr>
      </p:sp>
      <p:sp>
        <p:nvSpPr>
          <p:cNvPr id="13" name="Shape 9"/>
          <p:cNvSpPr/>
          <p:nvPr/>
        </p:nvSpPr>
        <p:spPr>
          <a:xfrm>
            <a:off x="7315200" y="2176272"/>
            <a:ext cx="457200" cy="457200"/>
          </a:xfrm>
          <a:prstGeom prst="ellipse">
            <a:avLst/>
          </a:prstGeom>
          <a:solidFill>
            <a:srgbClr val="12343B"/>
          </a:solidFill>
          <a:ln w="12700">
            <a:solidFill>
              <a:srgbClr val="12343B"/>
            </a:solidFill>
            <a:prstDash val="solid"/>
          </a:ln>
        </p:spPr>
      </p:sp>
      <p:pic>
        <p:nvPicPr>
          <p:cNvPr id="14" name="Image 2" descr="preencoded.png">    </p:cNvPr>
          <p:cNvPicPr>
            <a:picLocks noChangeAspect="1"/>
          </p:cNvPicPr>
          <p:nvPr/>
        </p:nvPicPr>
        <p:blipFill>
          <a:blip r:embed="rId3"/>
          <a:stretch>
            <a:fillRect/>
          </a:stretch>
        </p:blipFill>
        <p:spPr>
          <a:xfrm>
            <a:off x="7429500" y="2290572"/>
            <a:ext cx="228600" cy="228600"/>
          </a:xfrm>
          <a:prstGeom prst="rect">
            <a:avLst/>
          </a:prstGeom>
        </p:spPr>
      </p:pic>
      <p:sp>
        <p:nvSpPr>
          <p:cNvPr id="15" name="Text 10"/>
          <p:cNvSpPr txBox="1"/>
          <p:nvPr/>
        </p:nvSpPr>
        <p:spPr>
          <a:xfrm>
            <a:off x="6446520" y="2697480"/>
            <a:ext cx="2194560" cy="411480"/>
          </a:xfrm>
          <a:prstGeom prst="rect">
            <a:avLst/>
          </a:prstGeom>
          <a:noFill/>
          <a:ln/>
        </p:spPr>
        <p:txBody>
          <a:bodyPr wrap="square" lIns="0" tIns="0" rIns="0" bIns="0" rtlCol="0" anchor="ctr"/>
          <a:lstStyle/>
          <a:p>
            <a:pPr rtl="1" algn="ctr" indent="0" marL="0">
              <a:buNone/>
            </a:pPr>
            <a:r>
              <a:rPr lang="en-US" sz="1500" b="1" dirty="0">
                <a:solidFill>
                  <a:srgbClr val="12343B"/>
                </a:solidFill>
                <a:latin typeface="Arial" pitchFamily="34" charset="0"/>
                <a:ea typeface="Arial" pitchFamily="34" charset="-122"/>
                <a:cs typeface="Arial" pitchFamily="34" charset="-120"/>
              </a:rPr>
              <a:t>רצף לימודי</a:t>
            </a:r>
            <a:endParaRPr lang="en-US" sz="1500" dirty="0"/>
          </a:p>
        </p:txBody>
      </p:sp>
      <p:sp>
        <p:nvSpPr>
          <p:cNvPr id="16" name="Shape 11"/>
          <p:cNvSpPr/>
          <p:nvPr/>
        </p:nvSpPr>
        <p:spPr>
          <a:xfrm>
            <a:off x="5925312" y="2464308"/>
            <a:ext cx="329184" cy="329184"/>
          </a:xfrm>
          <a:prstGeom prst="ellipse">
            <a:avLst/>
          </a:prstGeom>
          <a:solidFill>
            <a:srgbClr val="E9A23B"/>
          </a:solidFill>
          <a:ln w="12700">
            <a:solidFill>
              <a:srgbClr val="E9A23B"/>
            </a:solidFill>
            <a:prstDash val="solid"/>
          </a:ln>
        </p:spPr>
      </p:sp>
      <p:pic>
        <p:nvPicPr>
          <p:cNvPr id="17" name="Image 3" descr="preencoded.png">    </p:cNvPr>
          <p:cNvPicPr>
            <a:picLocks noChangeAspect="1"/>
          </p:cNvPicPr>
          <p:nvPr/>
        </p:nvPicPr>
        <p:blipFill>
          <a:blip r:embed="rId4"/>
          <a:stretch>
            <a:fillRect/>
          </a:stretch>
        </p:blipFill>
        <p:spPr>
          <a:xfrm>
            <a:off x="6007608" y="2546604"/>
            <a:ext cx="164592" cy="164592"/>
          </a:xfrm>
          <a:prstGeom prst="rect">
            <a:avLst/>
          </a:prstGeom>
        </p:spPr>
      </p:pic>
      <p:sp>
        <p:nvSpPr>
          <p:cNvPr id="18" name="Shape 12"/>
          <p:cNvSpPr/>
          <p:nvPr/>
        </p:nvSpPr>
        <p:spPr>
          <a:xfrm>
            <a:off x="3447288" y="2011680"/>
            <a:ext cx="2377440" cy="1234440"/>
          </a:xfrm>
          <a:prstGeom prst="roundRect">
            <a:avLst>
              <a:gd name="adj" fmla="val 8889"/>
            </a:avLst>
          </a:prstGeom>
          <a:solidFill>
            <a:srgbClr val="E4F0F0"/>
          </a:solidFill>
          <a:ln w="12700">
            <a:solidFill>
              <a:srgbClr val="E4F0F0"/>
            </a:solidFill>
            <a:prstDash val="solid"/>
          </a:ln>
        </p:spPr>
      </p:sp>
      <p:sp>
        <p:nvSpPr>
          <p:cNvPr id="19" name="Shape 13"/>
          <p:cNvSpPr/>
          <p:nvPr/>
        </p:nvSpPr>
        <p:spPr>
          <a:xfrm>
            <a:off x="4407408" y="2176272"/>
            <a:ext cx="457200" cy="457200"/>
          </a:xfrm>
          <a:prstGeom prst="ellipse">
            <a:avLst/>
          </a:prstGeom>
          <a:solidFill>
            <a:srgbClr val="12343B"/>
          </a:solidFill>
          <a:ln w="12700">
            <a:solidFill>
              <a:srgbClr val="12343B"/>
            </a:solidFill>
            <a:prstDash val="solid"/>
          </a:ln>
        </p:spPr>
      </p:sp>
      <p:pic>
        <p:nvPicPr>
          <p:cNvPr id="20" name="Image 4" descr="preencoded.png">    </p:cNvPr>
          <p:cNvPicPr>
            <a:picLocks noChangeAspect="1"/>
          </p:cNvPicPr>
          <p:nvPr/>
        </p:nvPicPr>
        <p:blipFill>
          <a:blip r:embed="rId5"/>
          <a:stretch>
            <a:fillRect/>
          </a:stretch>
        </p:blipFill>
        <p:spPr>
          <a:xfrm>
            <a:off x="4521708" y="2290572"/>
            <a:ext cx="228600" cy="228600"/>
          </a:xfrm>
          <a:prstGeom prst="rect">
            <a:avLst/>
          </a:prstGeom>
        </p:spPr>
      </p:pic>
      <p:sp>
        <p:nvSpPr>
          <p:cNvPr id="21" name="Text 14"/>
          <p:cNvSpPr txBox="1"/>
          <p:nvPr/>
        </p:nvSpPr>
        <p:spPr>
          <a:xfrm>
            <a:off x="3538728" y="2697480"/>
            <a:ext cx="2194560" cy="411480"/>
          </a:xfrm>
          <a:prstGeom prst="rect">
            <a:avLst/>
          </a:prstGeom>
          <a:noFill/>
          <a:ln/>
        </p:spPr>
        <p:txBody>
          <a:bodyPr wrap="square" lIns="0" tIns="0" rIns="0" bIns="0" rtlCol="0" anchor="ctr"/>
          <a:lstStyle/>
          <a:p>
            <a:pPr rtl="1" algn="ctr" indent="0" marL="0">
              <a:buNone/>
            </a:pPr>
            <a:r>
              <a:rPr lang="en-US" sz="1500" b="1" dirty="0">
                <a:solidFill>
                  <a:srgbClr val="12343B"/>
                </a:solidFill>
                <a:latin typeface="Arial" pitchFamily="34" charset="0"/>
                <a:ea typeface="Arial" pitchFamily="34" charset="-122"/>
                <a:cs typeface="Arial" pitchFamily="34" charset="-120"/>
              </a:rPr>
              <a:t>קבלת החלטות ניהולית</a:t>
            </a:r>
            <a:endParaRPr lang="en-US" sz="1500" dirty="0"/>
          </a:p>
        </p:txBody>
      </p:sp>
      <p:sp>
        <p:nvSpPr>
          <p:cNvPr id="22" name="Shape 15"/>
          <p:cNvSpPr/>
          <p:nvPr/>
        </p:nvSpPr>
        <p:spPr>
          <a:xfrm>
            <a:off x="3017520" y="2464308"/>
            <a:ext cx="329184" cy="329184"/>
          </a:xfrm>
          <a:prstGeom prst="ellipse">
            <a:avLst/>
          </a:prstGeom>
          <a:solidFill>
            <a:srgbClr val="E9A23B"/>
          </a:solidFill>
          <a:ln w="12700">
            <a:solidFill>
              <a:srgbClr val="E9A23B"/>
            </a:solidFill>
            <a:prstDash val="solid"/>
          </a:ln>
        </p:spPr>
      </p:sp>
      <p:pic>
        <p:nvPicPr>
          <p:cNvPr id="23" name="Image 5" descr="preencoded.png">    </p:cNvPr>
          <p:cNvPicPr>
            <a:picLocks noChangeAspect="1"/>
          </p:cNvPicPr>
          <p:nvPr/>
        </p:nvPicPr>
        <p:blipFill>
          <a:blip r:embed="rId6"/>
          <a:stretch>
            <a:fillRect/>
          </a:stretch>
        </p:blipFill>
        <p:spPr>
          <a:xfrm>
            <a:off x="3099816" y="2546604"/>
            <a:ext cx="164592" cy="164592"/>
          </a:xfrm>
          <a:prstGeom prst="rect">
            <a:avLst/>
          </a:prstGeom>
        </p:spPr>
      </p:pic>
      <p:sp>
        <p:nvSpPr>
          <p:cNvPr id="24" name="Shape 16"/>
          <p:cNvSpPr/>
          <p:nvPr/>
        </p:nvSpPr>
        <p:spPr>
          <a:xfrm>
            <a:off x="539496" y="2011680"/>
            <a:ext cx="2377440" cy="1234440"/>
          </a:xfrm>
          <a:prstGeom prst="roundRect">
            <a:avLst>
              <a:gd name="adj" fmla="val 8889"/>
            </a:avLst>
          </a:prstGeom>
          <a:solidFill>
            <a:srgbClr val="12343B"/>
          </a:solidFill>
          <a:ln w="12700">
            <a:solidFill>
              <a:srgbClr val="12343B"/>
            </a:solidFill>
            <a:prstDash val="solid"/>
          </a:ln>
        </p:spPr>
      </p:sp>
      <p:sp>
        <p:nvSpPr>
          <p:cNvPr id="25" name="Shape 17"/>
          <p:cNvSpPr/>
          <p:nvPr/>
        </p:nvSpPr>
        <p:spPr>
          <a:xfrm>
            <a:off x="1499616" y="2176272"/>
            <a:ext cx="457200" cy="457200"/>
          </a:xfrm>
          <a:prstGeom prst="ellipse">
            <a:avLst/>
          </a:prstGeom>
          <a:solidFill>
            <a:srgbClr val="E9A23B"/>
          </a:solidFill>
          <a:ln w="12700">
            <a:solidFill>
              <a:srgbClr val="E9A23B"/>
            </a:solidFill>
            <a:prstDash val="solid"/>
          </a:ln>
        </p:spPr>
      </p:sp>
      <p:pic>
        <p:nvPicPr>
          <p:cNvPr id="26" name="Image 6" descr="preencoded.png">    </p:cNvPr>
          <p:cNvPicPr>
            <a:picLocks noChangeAspect="1"/>
          </p:cNvPicPr>
          <p:nvPr/>
        </p:nvPicPr>
        <p:blipFill>
          <a:blip r:embed="rId7"/>
          <a:stretch>
            <a:fillRect/>
          </a:stretch>
        </p:blipFill>
        <p:spPr>
          <a:xfrm>
            <a:off x="1613916" y="2290572"/>
            <a:ext cx="228600" cy="228600"/>
          </a:xfrm>
          <a:prstGeom prst="rect">
            <a:avLst/>
          </a:prstGeom>
        </p:spPr>
      </p:pic>
      <p:sp>
        <p:nvSpPr>
          <p:cNvPr id="27" name="Text 18"/>
          <p:cNvSpPr txBox="1"/>
          <p:nvPr/>
        </p:nvSpPr>
        <p:spPr>
          <a:xfrm>
            <a:off x="630936" y="2697480"/>
            <a:ext cx="2194560" cy="41148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אסטרטגיות</a:t>
            </a:r>
            <a:endParaRPr lang="en-US" sz="1500" dirty="0"/>
          </a:p>
        </p:txBody>
      </p:sp>
      <p:sp>
        <p:nvSpPr>
          <p:cNvPr id="28" name="Shape 19"/>
          <p:cNvSpPr/>
          <p:nvPr/>
        </p:nvSpPr>
        <p:spPr>
          <a:xfrm>
            <a:off x="11183112" y="3767328"/>
            <a:ext cx="457200" cy="457200"/>
          </a:xfrm>
          <a:prstGeom prst="ellipse">
            <a:avLst/>
          </a:prstGeom>
          <a:solidFill>
            <a:srgbClr val="12343B"/>
          </a:solidFill>
          <a:ln w="12700">
            <a:solidFill>
              <a:srgbClr val="12343B"/>
            </a:solidFill>
            <a:prstDash val="solid"/>
          </a:ln>
        </p:spPr>
      </p:sp>
      <p:pic>
        <p:nvPicPr>
          <p:cNvPr id="29" name="Image 7" descr="preencoded.png">    </p:cNvPr>
          <p:cNvPicPr>
            <a:picLocks noChangeAspect="1"/>
          </p:cNvPicPr>
          <p:nvPr/>
        </p:nvPicPr>
        <p:blipFill>
          <a:blip r:embed="rId8"/>
          <a:stretch>
            <a:fillRect/>
          </a:stretch>
        </p:blipFill>
        <p:spPr>
          <a:xfrm>
            <a:off x="11297412" y="3881628"/>
            <a:ext cx="228600" cy="228600"/>
          </a:xfrm>
          <a:prstGeom prst="rect">
            <a:avLst/>
          </a:prstGeom>
        </p:spPr>
      </p:pic>
      <p:sp>
        <p:nvSpPr>
          <p:cNvPr id="30" name="Text 20"/>
          <p:cNvSpPr txBox="1"/>
          <p:nvPr/>
        </p:nvSpPr>
        <p:spPr>
          <a:xfrm>
            <a:off x="548640" y="3749040"/>
            <a:ext cx="10405872" cy="12344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הסיפור מתחיל בהיעדרות מורים ועובר אל הרצף הלימודי,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שאנחנו מבינים בשלושה ממדים: פדגוגי, כלומר המשך התוכן והלמידה; ארגוני, כלומר שיבוץ, מערכת שעות ועומס על הצוות; ורגשי, כלומר היחסים והביטחון של התלמידים עם מבוגר מוכר.</a:t>
            </a:r>
            <a:endParaRPr lang="he-IL" sz="1600" dirty="0"/>
          </a:p>
        </p:txBody>
      </p:sp>
      <p:sp>
        <p:nvSpPr>
          <p:cNvPr id="31" name="Shape 21"/>
          <p:cNvSpPr/>
          <p:nvPr/>
        </p:nvSpPr>
        <p:spPr>
          <a:xfrm>
            <a:off x="11183112" y="4773168"/>
            <a:ext cx="457200" cy="457200"/>
          </a:xfrm>
          <a:prstGeom prst="ellipse">
            <a:avLst/>
          </a:prstGeom>
          <a:solidFill>
            <a:srgbClr val="12343B"/>
          </a:solidFill>
          <a:ln w="12700">
            <a:solidFill>
              <a:srgbClr val="12343B"/>
            </a:solidFill>
            <a:prstDash val="solid"/>
          </a:ln>
        </p:spPr>
      </p:sp>
      <p:pic>
        <p:nvPicPr>
          <p:cNvPr id="32" name="Image 8" descr="preencoded.png">    </p:cNvPr>
          <p:cNvPicPr>
            <a:picLocks noChangeAspect="1"/>
          </p:cNvPicPr>
          <p:nvPr/>
        </p:nvPicPr>
        <p:blipFill>
          <a:blip r:embed="rId9"/>
          <a:stretch>
            <a:fillRect/>
          </a:stretch>
        </p:blipFill>
        <p:spPr>
          <a:xfrm>
            <a:off x="11297412" y="4887468"/>
            <a:ext cx="228600" cy="228600"/>
          </a:xfrm>
          <a:prstGeom prst="rect">
            <a:avLst/>
          </a:prstGeom>
        </p:spPr>
      </p:pic>
      <p:sp>
        <p:nvSpPr>
          <p:cNvPr id="33" name="Text 22"/>
          <p:cNvSpPr txBox="1"/>
          <p:nvPr/>
        </p:nvSpPr>
        <p:spPr>
          <a:xfrm>
            <a:off x="548640" y="4754880"/>
            <a:ext cx="10405872" cy="12344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הרצף הזה תלוי בקבלת החלטות ניהולית,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שבה המנהל שוקל צרכים מתחרים בזמן קצר ובמשאבים מוגבלים. מתוך ההחלטות האלה נגזרות האסטרטגיות: חלקן מגיבות, כמו ממלא מקום, איחוד כיתות או שעה פרטנית, וחלקן מונעות, כמו מאגר ממלאי מקום קבוע וחומרי עבודה מוכנים מראש.</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4</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יוצאים לשטח</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12 שיחות עם מי שמחליטים בבוקר</a:t>
            </a:r>
            <a:endParaRPr lang="he-IL" sz="3600" dirty="0"/>
          </a:p>
        </p:txBody>
      </p:sp>
      <p:sp>
        <p:nvSpPr>
          <p:cNvPr id="6" name="Shape 4"/>
          <p:cNvSpPr/>
          <p:nvPr/>
        </p:nvSpPr>
        <p:spPr>
          <a:xfrm>
            <a:off x="548640" y="2011680"/>
            <a:ext cx="2377440" cy="4206240"/>
          </a:xfrm>
          <a:prstGeom prst="roundRect">
            <a:avLst>
              <a:gd name="adj" fmla="val 4615"/>
            </a:avLst>
          </a:prstGeom>
          <a:solidFill>
            <a:srgbClr val="12343B"/>
          </a:solidFill>
          <a:ln w="12700">
            <a:solidFill>
              <a:srgbClr val="12343B"/>
            </a:solidFill>
            <a:prstDash val="solid"/>
          </a:ln>
        </p:spPr>
      </p:sp>
      <p:sp>
        <p:nvSpPr>
          <p:cNvPr id="7" name="Text 5"/>
          <p:cNvSpPr txBox="1"/>
          <p:nvPr/>
        </p:nvSpPr>
        <p:spPr>
          <a:xfrm>
            <a:off x="548640" y="3017520"/>
            <a:ext cx="2377440" cy="1005840"/>
          </a:xfrm>
          <a:prstGeom prst="rect">
            <a:avLst/>
          </a:prstGeom>
          <a:noFill/>
          <a:ln/>
        </p:spPr>
        <p:txBody>
          <a:bodyPr wrap="square" lIns="0" tIns="0" rIns="0" bIns="0" rtlCol="0" anchor="ctr"/>
          <a:lstStyle/>
          <a:p>
            <a:pPr algn="ctr" indent="0" marL="0">
              <a:buNone/>
            </a:pPr>
            <a:r>
              <a:rPr lang="en-US" sz="6600" b="1" dirty="0">
                <a:solidFill>
                  <a:srgbClr val="E9A23B"/>
                </a:solidFill>
                <a:latin typeface="Arial" pitchFamily="34" charset="0"/>
                <a:ea typeface="Arial" pitchFamily="34" charset="-122"/>
                <a:cs typeface="Arial" pitchFamily="34" charset="-120"/>
              </a:rPr>
              <a:t>12</a:t>
            </a:r>
            <a:endParaRPr lang="en-US" sz="6600" dirty="0"/>
          </a:p>
        </p:txBody>
      </p:sp>
      <p:sp>
        <p:nvSpPr>
          <p:cNvPr id="8" name="Text 6"/>
          <p:cNvSpPr txBox="1"/>
          <p:nvPr/>
        </p:nvSpPr>
        <p:spPr>
          <a:xfrm>
            <a:off x="731520" y="4114800"/>
            <a:ext cx="2011680" cy="91440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a:buNone/>
            </a:pPr>
            <a:r>
              <a:rPr lang="en-US" sz="1400" dirty="0">
                <a:solidFill>
                  <a:srgbClr val="A9D2D5"/>
                </a:solidFill>
                <a:latin typeface="Arial" pitchFamily="34" charset="0"/>
                <a:ea typeface="Arial" pitchFamily="34" charset="-122"/>
                <a:cs typeface="Arial" pitchFamily="34" charset="-120"/>
              </a:rPr>
              <a:t>בערים בצפון הארץ</a:t>
            </a:r>
            <a:endParaRPr lang="en-US" sz="1600" dirty="0"/>
          </a:p>
        </p:txBody>
      </p:sp>
      <p:sp>
        <p:nvSpPr>
          <p:cNvPr id="9" name="Shape 7"/>
          <p:cNvSpPr/>
          <p:nvPr/>
        </p:nvSpPr>
        <p:spPr>
          <a:xfrm>
            <a:off x="11183112" y="2029968"/>
            <a:ext cx="457200" cy="457200"/>
          </a:xfrm>
          <a:prstGeom prst="ellipse">
            <a:avLst/>
          </a:prstGeom>
          <a:solidFill>
            <a:srgbClr val="12343B"/>
          </a:solidFill>
          <a:ln w="12700">
            <a:solidFill>
              <a:srgbClr val="12343B"/>
            </a:solidFill>
            <a:prstDash val="solid"/>
          </a:ln>
        </p:spPr>
      </p:sp>
      <p:pic>
        <p:nvPicPr>
          <p:cNvPr id="10"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11" name="Text 8"/>
          <p:cNvSpPr txBox="1"/>
          <p:nvPr/>
        </p:nvSpPr>
        <p:spPr>
          <a:xfrm>
            <a:off x="3200400" y="2011680"/>
            <a:ext cx="7754112" cy="128016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נשוחח עם 12 מנהלים ומנהלות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של בתי ספר בערים בצפון הארץ, יסודיים ועל־יסודיים ובעלי ותק שונה. בחרנו במנהלים כי הם מקבלי ההחלטות בבוקר ההיעדרות, ובערים כדי לבחון את התופעה בהקשר אחיד ולהשוות בין ערים שונות.</a:t>
            </a:r>
            <a:endParaRPr lang="he-IL" sz="1600" dirty="0"/>
          </a:p>
        </p:txBody>
      </p:sp>
      <p:sp>
        <p:nvSpPr>
          <p:cNvPr id="12" name="Shape 9"/>
          <p:cNvSpPr/>
          <p:nvPr/>
        </p:nvSpPr>
        <p:spPr>
          <a:xfrm>
            <a:off x="11183112" y="3493008"/>
            <a:ext cx="457200" cy="457200"/>
          </a:xfrm>
          <a:prstGeom prst="ellipse">
            <a:avLst/>
          </a:prstGeom>
          <a:solidFill>
            <a:srgbClr val="12343B"/>
          </a:solidFill>
          <a:ln w="12700">
            <a:solidFill>
              <a:srgbClr val="12343B"/>
            </a:solidFill>
            <a:prstDash val="solid"/>
          </a:ln>
        </p:spPr>
      </p:sp>
      <p:pic>
        <p:nvPicPr>
          <p:cNvPr id="13" name="Image 1" descr="preencoded.png">    </p:cNvPr>
          <p:cNvPicPr>
            <a:picLocks noChangeAspect="1"/>
          </p:cNvPicPr>
          <p:nvPr/>
        </p:nvPicPr>
        <p:blipFill>
          <a:blip r:embed="rId2"/>
          <a:stretch>
            <a:fillRect/>
          </a:stretch>
        </p:blipFill>
        <p:spPr>
          <a:xfrm>
            <a:off x="11297412" y="3607308"/>
            <a:ext cx="228600" cy="228600"/>
          </a:xfrm>
          <a:prstGeom prst="rect">
            <a:avLst/>
          </a:prstGeom>
        </p:spPr>
      </p:pic>
      <p:sp>
        <p:nvSpPr>
          <p:cNvPr id="14" name="Text 10"/>
          <p:cNvSpPr txBox="1"/>
          <p:nvPr/>
        </p:nvSpPr>
        <p:spPr>
          <a:xfrm>
            <a:off x="3200400" y="3474720"/>
            <a:ext cx="7754112" cy="128016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בניתוח תמטי של הראיונות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נחפש אסטרטגיות מונעות לעומת מגיבות, הבדלים בין היעדרות קצרה לממושכת, ואת האיזון בין פדגוגיה, תקציב, הוגנות כלפי הצוות שמחליף ורווחת המורה הנעדרת.</a:t>
            </a:r>
            <a:endParaRPr lang="he-IL" sz="1600" dirty="0"/>
          </a:p>
        </p:txBody>
      </p:sp>
      <p:sp>
        <p:nvSpPr>
          <p:cNvPr id="15" name="Shape 11"/>
          <p:cNvSpPr/>
          <p:nvPr/>
        </p:nvSpPr>
        <p:spPr>
          <a:xfrm>
            <a:off x="11183112" y="4956048"/>
            <a:ext cx="457200" cy="457200"/>
          </a:xfrm>
          <a:prstGeom prst="ellipse">
            <a:avLst/>
          </a:prstGeom>
          <a:solidFill>
            <a:srgbClr val="12343B"/>
          </a:solidFill>
          <a:ln w="12700">
            <a:solidFill>
              <a:srgbClr val="12343B"/>
            </a:solidFill>
            <a:prstDash val="solid"/>
          </a:ln>
        </p:spPr>
      </p:sp>
      <p:pic>
        <p:nvPicPr>
          <p:cNvPr id="16" name="Image 2" descr="preencoded.png">    </p:cNvPr>
          <p:cNvPicPr>
            <a:picLocks noChangeAspect="1"/>
          </p:cNvPicPr>
          <p:nvPr/>
        </p:nvPicPr>
        <p:blipFill>
          <a:blip r:embed="rId3"/>
          <a:stretch>
            <a:fillRect/>
          </a:stretch>
        </p:blipFill>
        <p:spPr>
          <a:xfrm>
            <a:off x="11297412" y="5070348"/>
            <a:ext cx="228600" cy="228600"/>
          </a:xfrm>
          <a:prstGeom prst="rect">
            <a:avLst/>
          </a:prstGeom>
        </p:spPr>
      </p:pic>
      <p:sp>
        <p:nvSpPr>
          <p:cNvPr id="17" name="Text 12"/>
          <p:cNvSpPr txBox="1"/>
          <p:nvPr/>
        </p:nvSpPr>
        <p:spPr>
          <a:xfrm>
            <a:off x="3200400" y="4937760"/>
            <a:ext cx="7754112" cy="128016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האתגר המרכזי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הוא שמנהלים עלולים להציג תמונה יפה מהמציאות, ולכן נבקש דוגמאות מוחשיות. ממצא שיפתיע אותנו: שמה שמנחה את ההחלטה בפועל הוא השקט והסדר ולא הרצף הלימודי.</a:t>
            </a:r>
            <a:endParaRPr lang="he-IL"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5</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איך ייראה הראיון</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200" b="1" dirty="0">
                <a:solidFill>
                  <a:srgbClr val="12343B"/>
                </a:solidFill>
                <a:latin typeface="Arial" pitchFamily="34" charset="0"/>
                <a:ea typeface="Arial" pitchFamily="34" charset="-122"/>
                <a:cs typeface="Arial" pitchFamily="34" charset="-120"/>
              </a:rPr>
              <a:t>"ספר/י לי על הבוקר האחרון שבו מורה לא הגיע"</a:t>
            </a:r>
            <a:endParaRPr lang="he-IL" sz="3200" dirty="0"/>
          </a:p>
        </p:txBody>
      </p:sp>
      <p:sp>
        <p:nvSpPr>
          <p:cNvPr id="6" name="Shape 4"/>
          <p:cNvSpPr/>
          <p:nvPr/>
        </p:nvSpPr>
        <p:spPr>
          <a:xfrm>
            <a:off x="11183112" y="2029968"/>
            <a:ext cx="457200" cy="457200"/>
          </a:xfrm>
          <a:prstGeom prst="ellipse">
            <a:avLst/>
          </a:prstGeom>
          <a:solidFill>
            <a:srgbClr val="12343B"/>
          </a:solidFill>
          <a:ln w="12700">
            <a:solidFill>
              <a:srgbClr val="12343B"/>
            </a:solidFill>
            <a:prstDash val="solid"/>
          </a:ln>
        </p:spPr>
      </p:sp>
      <p:pic>
        <p:nvPicPr>
          <p:cNvPr id="7"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8" name="Text 5"/>
          <p:cNvSpPr txBox="1"/>
          <p:nvPr/>
        </p:nvSpPr>
        <p:spPr>
          <a:xfrm>
            <a:off x="548640" y="2011680"/>
            <a:ext cx="10405872" cy="86868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נפתח בשאלות רקע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על בית הספר, על הצוות ועל הדרך של המנהל לתפקיד, כדי ליצור אמון ולהבין את ההקשר שבו מתקבלות ההחלטות.</a:t>
            </a:r>
            <a:endParaRPr lang="he-IL" sz="1600" dirty="0"/>
          </a:p>
        </p:txBody>
      </p:sp>
      <p:sp>
        <p:nvSpPr>
          <p:cNvPr id="9" name="Shape 6"/>
          <p:cNvSpPr/>
          <p:nvPr/>
        </p:nvSpPr>
        <p:spPr>
          <a:xfrm>
            <a:off x="11183112" y="2944368"/>
            <a:ext cx="457200" cy="457200"/>
          </a:xfrm>
          <a:prstGeom prst="ellipse">
            <a:avLst/>
          </a:prstGeom>
          <a:solidFill>
            <a:srgbClr val="12343B"/>
          </a:solidFill>
          <a:ln w="12700">
            <a:solidFill>
              <a:srgbClr val="12343B"/>
            </a:solidFill>
            <a:prstDash val="solid"/>
          </a:ln>
        </p:spPr>
      </p:sp>
      <p:pic>
        <p:nvPicPr>
          <p:cNvPr id="10" name="Image 1" descr="preencoded.png">    </p:cNvPr>
          <p:cNvPicPr>
            <a:picLocks noChangeAspect="1"/>
          </p:cNvPicPr>
          <p:nvPr/>
        </p:nvPicPr>
        <p:blipFill>
          <a:blip r:embed="rId2"/>
          <a:stretch>
            <a:fillRect/>
          </a:stretch>
        </p:blipFill>
        <p:spPr>
          <a:xfrm>
            <a:off x="11297412" y="3058668"/>
            <a:ext cx="228600" cy="228600"/>
          </a:xfrm>
          <a:prstGeom prst="rect">
            <a:avLst/>
          </a:prstGeom>
        </p:spPr>
      </p:pic>
      <p:sp>
        <p:nvSpPr>
          <p:cNvPr id="11" name="Text 7"/>
          <p:cNvSpPr txBox="1"/>
          <p:nvPr/>
        </p:nvSpPr>
        <p:spPr>
          <a:xfrm>
            <a:off x="548640" y="2926080"/>
            <a:ext cx="10405872" cy="12344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בלב הראיון נבקש סיפור מוחשי: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מה עשית באותו בוקר, צעד אחר צעד? מה היה שונה כשההיעדרות נמשכה כמה שבועות? במה התחשבת כשהחלטת מי יחליף? כך נשמע את השיקולים ואת הדילמות, ולא רק את הנוהל הכתוב.</a:t>
            </a:r>
            <a:endParaRPr lang="he-IL" sz="1600" dirty="0"/>
          </a:p>
        </p:txBody>
      </p:sp>
      <p:sp>
        <p:nvSpPr>
          <p:cNvPr id="12" name="Shape 8"/>
          <p:cNvSpPr/>
          <p:nvPr/>
        </p:nvSpPr>
        <p:spPr>
          <a:xfrm>
            <a:off x="11183112" y="3950208"/>
            <a:ext cx="457200" cy="457200"/>
          </a:xfrm>
          <a:prstGeom prst="ellipse">
            <a:avLst/>
          </a:prstGeom>
          <a:solidFill>
            <a:srgbClr val="12343B"/>
          </a:solidFill>
          <a:ln w="12700">
            <a:solidFill>
              <a:srgbClr val="12343B"/>
            </a:solidFill>
            <a:prstDash val="solid"/>
          </a:ln>
        </p:spPr>
      </p:sp>
      <p:pic>
        <p:nvPicPr>
          <p:cNvPr id="13" name="Image 2" descr="preencoded.png">    </p:cNvPr>
          <p:cNvPicPr>
            <a:picLocks noChangeAspect="1"/>
          </p:cNvPicPr>
          <p:nvPr/>
        </p:nvPicPr>
        <p:blipFill>
          <a:blip r:embed="rId3"/>
          <a:stretch>
            <a:fillRect/>
          </a:stretch>
        </p:blipFill>
        <p:spPr>
          <a:xfrm>
            <a:off x="11297412" y="4064508"/>
            <a:ext cx="228600" cy="228600"/>
          </a:xfrm>
          <a:prstGeom prst="rect">
            <a:avLst/>
          </a:prstGeom>
        </p:spPr>
      </p:pic>
      <p:sp>
        <p:nvSpPr>
          <p:cNvPr id="14" name="Text 9"/>
          <p:cNvSpPr txBox="1"/>
          <p:nvPr/>
        </p:nvSpPr>
        <p:spPr>
          <a:xfrm>
            <a:off x="548640" y="3931920"/>
            <a:ext cx="10405872" cy="86868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נקפיד על אתיקה: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הסכמה מדעת, הקלטה רק באישור, ושמירה על אנונימיות, כך ששמות המנהלים, בתי הספר והערים לא יופיעו בעבודה.</a:t>
            </a:r>
            <a:endParaRPr lang="he-IL" sz="1600" dirty="0"/>
          </a:p>
        </p:txBody>
      </p:sp>
      <p:sp>
        <p:nvSpPr>
          <p:cNvPr id="15" name="Shape 10"/>
          <p:cNvSpPr/>
          <p:nvPr/>
        </p:nvSpPr>
        <p:spPr>
          <a:xfrm>
            <a:off x="548640" y="5257800"/>
            <a:ext cx="11091672" cy="1051560"/>
          </a:xfrm>
          <a:prstGeom prst="roundRect">
            <a:avLst>
              <a:gd name="adj" fmla="val 10435"/>
            </a:avLst>
          </a:prstGeom>
          <a:solidFill>
            <a:srgbClr val="12343B"/>
          </a:solidFill>
          <a:ln w="12700">
            <a:solidFill>
              <a:srgbClr val="12343B"/>
            </a:solidFill>
            <a:prstDash val="solid"/>
          </a:ln>
        </p:spPr>
      </p:sp>
      <p:sp>
        <p:nvSpPr>
          <p:cNvPr id="16" name="Text 11"/>
          <p:cNvSpPr txBox="1"/>
          <p:nvPr/>
        </p:nvSpPr>
        <p:spPr>
          <a:xfrm>
            <a:off x="868680" y="5349240"/>
            <a:ext cx="10451592" cy="868680"/>
          </a:xfrm>
          <a:prstGeom prst="rect">
            <a:avLst/>
          </a:prstGeom>
          <a:noFill/>
          <a:ln/>
        </p:spPr>
        <p:txBody>
          <a:bodyPr wrap="square" lIns="0" tIns="0" rIns="0" bIns="0" rtlCol="0" anchor="ctr"/>
          <a:lstStyle/>
          <a:p>
            <a:pPr algn="r" indent="0" marL="0">
              <a:buNone/>
            </a:pPr>
            <a:r>
              <a:rPr lang="he-IL" altLang="en-US" sz="1700" b="1" dirty="0">
                <a:solidFill>
                  <a:srgbClr val="E9A23B"/>
                </a:solidFill>
                <a:latin typeface="Arial" pitchFamily="34" charset="0"/>
                <a:ea typeface="Arial" pitchFamily="34" charset="-122"/>
                <a:cs typeface="Arial" pitchFamily="34" charset="-120"/>
              </a:rPr>
              <a:t>אם המחקר שלנו יהיה מוצלח, בסופו נבין טוב יותר </a:t>
            </a:r>
            <a:pPr algn="r" indent="0" marL="0">
              <a:buNone/>
            </a:pPr>
            <a:r>
              <a:rPr lang="he-IL" altLang="en-US" sz="1700" dirty="0">
                <a:solidFill>
                  <a:srgbClr val="FFFFFF"/>
                </a:solidFill>
                <a:latin typeface="Arial" pitchFamily="34" charset="0"/>
                <a:ea typeface="Arial" pitchFamily="34" charset="-122"/>
                <a:cs typeface="Arial" pitchFamily="34" charset="-120"/>
              </a:rPr>
              <a:t>איך מנהלים מאזנים, בזמן אמת, בין הצורך שמישהו יהיה בכיתה לבין הזכות של התלמידים לרצף לימודי אמיתי.</a:t>
            </a:r>
            <a:endParaRPr lang="he-IL"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2026-09-26T23:07:14Z</dcterms:created>
  <dcterms:modified xsi:type="dcterms:W3CDTF">2026-09-26T23:07:14Z</dcterms:modified>
</cp:coreProperties>
</file>