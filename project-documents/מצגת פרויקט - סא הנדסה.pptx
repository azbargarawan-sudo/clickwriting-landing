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107259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מידע לניהול בקשות לקוח,</a:t>
            </a:r>
            <a:endParaRPr lang="en-US" sz="4000" dirty="0"/>
          </a:p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שיבוצי עובדים ושכר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B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חברת ס.א הנדסה | שיקום, תיקון ושיפוץ מבנים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956048" y="3794760"/>
            <a:ext cx="2286000" cy="0"/>
          </a:xfrm>
          <a:prstGeom prst="line">
            <a:avLst/>
          </a:prstGeom>
          <a:noFill/>
          <a:ln w="31750">
            <a:solidFill>
              <a:srgbClr val="E88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6908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9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מגיש: כאמל עואד, ת.ז 211901368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9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מנחה: ד"ר אלי וינטראוב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9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 (105002592), תשפ"ו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אוגוסט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הארגון: ס.א הנדסה</a:t>
            </a:r>
            <a:endParaRPr lang="en-US" sz="3000" dirty="0"/>
          </a:p>
        </p:txBody>
      </p:sp>
      <p:pic>
        <p:nvPicPr>
          <p:cNvPr id="3" name="Image 0" descr="orig/media/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206240" cy="498348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263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נזק מבני לאחר שריפה, מאתרי העבודה של החברה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0" y="1280160"/>
            <a:ext cx="6656832" cy="1115568"/>
          </a:xfrm>
          <a:prstGeom prst="roundRect">
            <a:avLst>
              <a:gd name="adj" fmla="val 6557"/>
            </a:avLst>
          </a:prstGeom>
          <a:solidFill>
            <a:srgbClr val="EAF4F2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1389888"/>
            <a:ext cx="248716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החברה עושה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66360" y="1737360"/>
            <a:ext cx="6382512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שיקום ותיקון מבנים שנפגעו משריפות, נזקי מים, פגיעות טילים; שיפוצים כלליים ופירוק אסבסט מוסמך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2542032"/>
            <a:ext cx="6656832" cy="1115568"/>
          </a:xfrm>
          <a:prstGeom prst="roundRect">
            <a:avLst>
              <a:gd name="adj" fmla="val 6557"/>
            </a:avLst>
          </a:prstGeom>
          <a:solidFill>
            <a:srgbClr val="EAF4F2"/>
          </a:solidFill>
          <a:ln/>
        </p:spPr>
      </p:sp>
      <p:sp>
        <p:nvSpPr>
          <p:cNvPr id="9" name="Text 6"/>
          <p:cNvSpPr/>
          <p:nvPr/>
        </p:nvSpPr>
        <p:spPr>
          <a:xfrm>
            <a:off x="9052560" y="2651760"/>
            <a:ext cx="248716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זמינות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66360" y="2999232"/>
            <a:ext cx="6382512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מענה חירום 24/7: צוות ראשוני יוצא לאתר מיד עם קבלת הדיווח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3803904"/>
            <a:ext cx="6656832" cy="1115568"/>
          </a:xfrm>
          <a:prstGeom prst="roundRect">
            <a:avLst>
              <a:gd name="adj" fmla="val 6557"/>
            </a:avLst>
          </a:prstGeom>
          <a:solidFill>
            <a:srgbClr val="EAF4F2"/>
          </a:solidFill>
          <a:ln/>
        </p:spPr>
      </p:sp>
      <p:sp>
        <p:nvSpPr>
          <p:cNvPr id="12" name="Text 9"/>
          <p:cNvSpPr/>
          <p:nvPr/>
        </p:nvSpPr>
        <p:spPr>
          <a:xfrm>
            <a:off x="9052560" y="3913632"/>
            <a:ext cx="248716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6360" y="4261104"/>
            <a:ext cx="6382512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פרטיים, עסקים, ועדי בתים וחברות ביטוח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5065776"/>
            <a:ext cx="6656832" cy="1115568"/>
          </a:xfrm>
          <a:prstGeom prst="roundRect">
            <a:avLst>
              <a:gd name="adj" fmla="val 6557"/>
            </a:avLst>
          </a:prstGeom>
          <a:solidFill>
            <a:srgbClr val="EAF4F2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0" y="5175504"/>
            <a:ext cx="248716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 העבודה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5522976"/>
            <a:ext cx="6382512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שמאות והערכת נזק, הצעת מחיר, שיבוץ עובדים וקבלני משנה, ביצוע ומסירה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המצב הקיים ובעיותיו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מהראיונות עם בעל החברה והעובדים ומתצפית על יום עבודה עלו ארבע בעיות מרכזיות, כולן תוצאה של ניהול ידני ללא כלי ממוחשב מרכזי: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91072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BEADB"/>
          </a:solidFill>
          <a:ln/>
        </p:spPr>
      </p:sp>
      <p:sp>
        <p:nvSpPr>
          <p:cNvPr id="5" name="Shape 3"/>
          <p:cNvSpPr/>
          <p:nvPr/>
        </p:nvSpPr>
        <p:spPr>
          <a:xfrm>
            <a:off x="11000232" y="1874520"/>
            <a:ext cx="457200" cy="457200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19672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הולך לאיבוד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19672" y="25146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נרשמות פעמיים או נשכחות, אין תיק לקוח מרוכז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5239512" y="187452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11" name="Text 9"/>
          <p:cNvSpPr/>
          <p:nvPr/>
        </p:nvSpPr>
        <p:spPr>
          <a:xfrm>
            <a:off x="523951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שיבוצים משתבשים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25146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תיאום טלפוני; עובדים וקבלנים לא מתעדכנים בזמן על שינויים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00232" y="420624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16" name="Text 14"/>
          <p:cNvSpPr/>
          <p:nvPr/>
        </p:nvSpPr>
        <p:spPr>
          <a:xfrm>
            <a:off x="1100023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כסף מחכה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9672" y="48463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מחיר נבנית 2-3 ימים; חשבוניות ותשלומים במעקב ידני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239512" y="420624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21" name="Text 19"/>
          <p:cNvSpPr/>
          <p:nvPr/>
        </p:nvSpPr>
        <p:spPr>
          <a:xfrm>
            <a:off x="523951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תמונת מצב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" y="48463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להנהלה אין דוחות; חישוב שכר חודשי גוזל יום עבודה שלם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הפרויקט ויעדים מדידים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הפרויקט: ניתוח, איפיון ועיצוב של מערכת מידע מרכזית אחת שתנהל את מחזור הטיפול המלא בבקשת לקוח, מקליטת הפנייה ועד החשבונית והשכר, ותספק להנהלה תמונת מצב שוטפת.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011680"/>
          <a:ext cx="981151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91840"/>
                <a:gridCol w="331927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היעד לאחר המערכת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המצב הקיים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המדד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4C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דקות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כ-20 דקות בממוצע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קליטת בקשה חדשה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4C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יום עבודה אחד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ימי עבודה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הכנת הצעת מחיר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4C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אפס, רישום מרוכז אחד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מספר מקרים בחודש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אובדן או כפילות רישום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4C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עדכון מיידי במערכת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סבב טלפונים, לעיתים באיחור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עדכון עובד על שיבוץ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4C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 שעה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יום עבודה מלא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הפקת דוח שכר חודשי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4C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זמינים בכל רגע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אינם קיימים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דוחות ניהוליים להנהלה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978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היעדים הוגדרו יחד עם בעל החברה בשלב ההצעה, והם ישמשו למדידת הצלחת המערכת לאחר הטמעתה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תיחום הפרויקט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245352" y="132588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E9F5E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2588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6EDE9"/>
          </a:solidFill>
          <a:ln/>
        </p:spPr>
      </p:sp>
      <p:sp>
        <p:nvSpPr>
          <p:cNvPr id="5" name="Text 3"/>
          <p:cNvSpPr/>
          <p:nvPr/>
        </p:nvSpPr>
        <p:spPr>
          <a:xfrm>
            <a:off x="6519672" y="1554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בתחולת הפרויקט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A64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מחוץ לתחולה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19672" y="21488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קליטת בקשות לקוח (נזק/שיבוץ) וניהול לקוחות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עיבוד בקשה, בדיקת זמינות והצעת מחיר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שיוך עובדים וקבלני משנה לשיבוצים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חשבוניות והזמנות חומר מספקים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 שכר חודשי מתוך השיבוצים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 הנהלה בזמן אמת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ותכנות מלא (הפרויקט מסתיים באב-טיפוס)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הנהלת חשבונות מלאה (ייצוא נתונים בלבד)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ממוחשב ישיר לחברות ביטוח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מובייל ושעון נוכחות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מלאי מפורט של חומרי בניין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הסבת נתונים היסטוריים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מתודולוגיה: מחזור חיים מלא במודל מפל המים (SDLC)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37192" y="16002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EAF4F2"/>
          </a:solidFill>
          <a:ln/>
        </p:spPr>
      </p:sp>
      <p:sp>
        <p:nvSpPr>
          <p:cNvPr id="4" name="Shape 2"/>
          <p:cNvSpPr/>
          <p:nvPr/>
        </p:nvSpPr>
        <p:spPr>
          <a:xfrm>
            <a:off x="10383012" y="182880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5" name="Text 3"/>
          <p:cNvSpPr/>
          <p:nvPr/>
        </p:nvSpPr>
        <p:spPr>
          <a:xfrm>
            <a:off x="1038301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28632" y="2377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ייזום והצעה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46920" y="2971800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הארגון, לימוד התהליך, תיחום ותוכנית עבודה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28632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הצעה אושרה 28.4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16002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EA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8115300" y="182880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11" name="Text 9"/>
          <p:cNvSpPr/>
          <p:nvPr/>
        </p:nvSpPr>
        <p:spPr>
          <a:xfrm>
            <a:off x="81153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2377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ואיפיון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79208" y="2971800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ראיונות ותצפית; תרשימי תהליכים, DFD, ERD ורשימת מסכים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1 הוגש 31.5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01768" y="16002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BEAD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47588" y="1828800"/>
            <a:ext cx="457200" cy="457200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7" name="Text 15"/>
          <p:cNvSpPr/>
          <p:nvPr/>
        </p:nvSpPr>
        <p:spPr>
          <a:xfrm>
            <a:off x="584758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93208" y="2377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11496" y="2971800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טבלאות ומפתחות, ממשקים, עץ תפריטים ועיצוב מסכים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93208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88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2 הוגש 30.6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34056" y="16002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EAF4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579876" y="182880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23" name="Text 21"/>
          <p:cNvSpPr/>
          <p:nvPr/>
        </p:nvSpPr>
        <p:spPr>
          <a:xfrm>
            <a:off x="357987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25496" y="2377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אב-טיפוס ואימות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43784" y="2971800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מול בעל החברה ותיקונים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25496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יולי 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" y="16002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EA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2164" y="1828800"/>
            <a:ext cx="457200" cy="457200"/>
          </a:xfrm>
          <a:prstGeom prst="ellipse">
            <a:avLst/>
          </a:prstGeom>
          <a:solidFill>
            <a:srgbClr val="0F4C46"/>
          </a:solidFill>
          <a:ln/>
        </p:spPr>
      </p:sp>
      <p:sp>
        <p:nvSpPr>
          <p:cNvPr id="29" name="Text 27"/>
          <p:cNvSpPr/>
          <p:nvPr/>
        </p:nvSpPr>
        <p:spPr>
          <a:xfrm>
            <a:off x="131216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" y="23774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והצגה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6072" y="2971800"/>
            <a:ext cx="1929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מצגת, מסקנות והמלצות, תיק פרויקט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C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אוגוסט 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892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מסתיים בתוצר מאושר לפני המעבר לשלב הבא. שיטות איסוף המידע: ראיונות חצי-מובנים, תצפית ישירה וניתוח מסמכים, עם אימות כל תוצר מול בעל החברה.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562356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כלים: draw.io לתרשימים | Figma לעיצוב המסכים | GanttProject לגאנט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העבודה ותרשים הגאנט, סטטוס 30.6.2026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התוכנית כוללת 31 פעילויות בארבעה שלבים, עם תלות בין הפעילויות ומרווחי ביטחון לפני כל הגשה. בירוק: מה שבוצע; בתכלת: המתוכנן להמשך. כל מועדי ההגשה נשמרו.</a:t>
            </a:r>
            <a:endParaRPr lang="en-US" sz="1400" dirty="0"/>
          </a:p>
        </p:txBody>
      </p:sp>
      <p:pic>
        <p:nvPicPr>
          <p:cNvPr id="4" name="Image 0" descr="gantt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9354312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איפיון: התהליך הארגוני המרכזי</a:t>
            </a:r>
            <a:endParaRPr lang="en-US" sz="3000" dirty="0"/>
          </a:p>
        </p:txBody>
      </p:sp>
      <p:pic>
        <p:nvPicPr>
          <p:cNvPr id="3" name="Image 0" descr="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234440"/>
            <a:ext cx="8622792" cy="4727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60350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התהליך שמופה בראיונות ובתצפית: מקבלת הפנייה, דרך השמאות והצעת המחיר, ועד הביצוע, המסירה והגבייה. המערכת מתעדת ומנהלת כל תחנה בתהליך; העבודה הפיזית עצמה נשארת מחוץ לתחולה.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איפיון: תרשים זרימת הנתונים (DFD)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108960" cy="5120640"/>
          </a:xfrm>
          <a:prstGeom prst="roundRect">
            <a:avLst>
              <a:gd name="adj" fmla="val 2353"/>
            </a:avLst>
          </a:prstGeom>
          <a:solidFill>
            <a:srgbClr val="EAF4F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הבקשה במערכת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2743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קליטת פנייה מהלקוח</a:t>
            </a:r>
            <a:endParaRPr lang="en-US" sz="14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עיבוד פרטי הנזק / השיבוץ</a:t>
            </a:r>
            <a:endParaRPr lang="en-US" sz="14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הכנת הצעת מחיר ללקוח</a:t>
            </a:r>
            <a:endParaRPr lang="en-US" sz="14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אישור: חוזה, שיבוץ ושמירה במערכת</a:t>
            </a:r>
            <a:endParaRPr lang="en-US" sz="14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דחייה: סגירת התיק ותיעוד</a:t>
            </a:r>
            <a:endParaRPr lang="en-US" sz="1400" dirty="0"/>
          </a:p>
        </p:txBody>
      </p:sp>
      <p:pic>
        <p:nvPicPr>
          <p:cNvPr id="6" name="Image 0" descr="pdfimg/p09_06_1090x6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691640"/>
            <a:ext cx="7772400" cy="4334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איפיון: מודל הנתונים (ERD)</a:t>
            </a:r>
            <a:endParaRPr lang="en-US" sz="3000" dirty="0"/>
          </a:p>
        </p:txBody>
      </p:sp>
      <p:pic>
        <p:nvPicPr>
          <p:cNvPr id="3" name="Image 0" descr="pdfimg/p10_07_1306x7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234440"/>
            <a:ext cx="8165592" cy="4736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1264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התרשים מגדיר את ישויות הליבה, עובדים, אתרים/קבלנים, שיבוצים, חשבוניות ושכר, את תכונותיהן ואת הקשרים ביניהן. בשלב העיצוב נגזר ממנו מבנה הטבלאות והמפתחות שיוצג בהמשך.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עיצוב: טבלאות בסיס הנתונים ומפתחות הגישה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926080"/>
                <a:gridCol w="2194560"/>
                <a:gridCol w="21305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שדות עיקריים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מפתחות זרים (FK)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מפתח ראשי (PK)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טבלה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שם, טלפון, מייל, כתובת, סוג לקוח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לקוח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לקוחות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סוג, תאריך, תיאור, סטטוס, עלויות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לקוח, קוד אתר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מספר בקשה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בקשות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אתר, כתובת, איש קשר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אתר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אתרים/קבלנים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שם, ת.ז, מקצוע, סוג העסקה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עובד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עובדים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תאריכי תחילה וסיום, סטטוס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עובד, קוד אתר, מס׳ בקשה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שיבוץ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שיבוצים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תאריך, סוג, סכום, סטטוס תשלום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אתר, קוד לקוח, קוד ספק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מספר חשבונית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חשבוניות והזמנות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ימי עבודה, ברוטו, ניכויים, נטו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עובד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קוד עובד + חודש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שכר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17220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חודד בשלב העיצוב: נוספו טבלאות לקוחות ובקשות, ולכל חשבונית הוגדר מספר ייחודי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עיצוב: עץ התפריטים לפי תפקידי המשתמשים</a:t>
            </a:r>
            <a:endParaRPr lang="en-US" sz="3000" dirty="0"/>
          </a:p>
        </p:txBody>
      </p:sp>
      <p:pic>
        <p:nvPicPr>
          <p:cNvPr id="3" name="Image 0" descr="pdfimg/p14_08_1141x6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234440"/>
            <a:ext cx="8257032" cy="4718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1264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ענפים תפעוליים הנגזרים מהטבלאות ומהתהליך. הגישה נקבעת לפי תפקיד: נציג השירות רואה את ענף הלקוחות, מנהל העבודה גם את העובדים והאתרים, וההנהלה את הכול, כולל שכר וכספים.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עיצוב: מסכי המערכת (Figma)</a:t>
            </a:r>
            <a:endParaRPr lang="en-US" sz="3000" dirty="0"/>
          </a:p>
        </p:txBody>
      </p:sp>
      <p:pic>
        <p:nvPicPr>
          <p:cNvPr id="3" name="Image 0" descr="pdfimg/p15_09_900x6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1188720"/>
            <a:ext cx="3310128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B5AF">
                <a:alpha val="5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135624" y="20345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קליטת בקשה חדשה</a:t>
            </a:r>
            <a:endParaRPr lang="en-US" sz="1500" dirty="0"/>
          </a:p>
        </p:txBody>
      </p:sp>
      <p:pic>
        <p:nvPicPr>
          <p:cNvPr id="5" name="Image 1" descr="pdfimg/p16_10_900x6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188720"/>
            <a:ext cx="3310128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B5AF">
                <a:alpha val="5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48056" y="20345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מחיר ללקוח</a:t>
            </a:r>
            <a:endParaRPr lang="en-US" sz="1500" dirty="0"/>
          </a:p>
        </p:txBody>
      </p:sp>
      <p:pic>
        <p:nvPicPr>
          <p:cNvPr id="7" name="Image 2" descr="pdfimg/p17_12_900x5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3913632"/>
            <a:ext cx="3310128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B5AF">
                <a:alpha val="50000"/>
              </a:srgbClr>
            </a:outerShdw>
          </a:effectLst>
        </p:spPr>
      </p:pic>
      <p:sp>
        <p:nvSpPr>
          <p:cNvPr id="8" name="Text 3"/>
          <p:cNvSpPr/>
          <p:nvPr/>
        </p:nvSpPr>
        <p:spPr>
          <a:xfrm>
            <a:off x="6135624" y="47594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שיוך עובד לשיבוץ</a:t>
            </a:r>
            <a:endParaRPr lang="en-US" sz="1500" dirty="0"/>
          </a:p>
        </p:txBody>
      </p:sp>
      <p:pic>
        <p:nvPicPr>
          <p:cNvPr id="9" name="Image 3" descr="pdfimg/p18_13_901x7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3913632"/>
            <a:ext cx="3310128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B5AF">
                <a:alpha val="50000"/>
              </a:srgbClr>
            </a:outerShdw>
          </a:effectLst>
        </p:spPr>
      </p:pic>
      <p:sp>
        <p:nvSpPr>
          <p:cNvPr id="10" name="Text 4"/>
          <p:cNvSpPr/>
          <p:nvPr/>
        </p:nvSpPr>
        <p:spPr>
          <a:xfrm>
            <a:off x="448056" y="47594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שכר חודשי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502920" y="6446520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מסכים נוספים: עיבוד בקשה וניהול חשבוניות; כל ששת המסכים עוצבו עיצוב מלא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 הפרויקט והתועלת לחברה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53912" y="12344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 המורכבות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153912" y="1783080"/>
            <a:ext cx="5532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 טבלאות קשורות ותהליך שחוצה את כל הארגון</a:t>
            </a:r>
            <a:endParaRPr lang="en-US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שישה גורמי חוץ: לקוחות, ביטוח, ספקים, קבלני משנה</a:t>
            </a:r>
            <a:endParaRPr lang="en-US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עבודות רבות במקביל בסביבת חירום</a:t>
            </a:r>
            <a:endParaRPr lang="en-US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ארגון אמיתי: ראיונות, תצפית ואימות בשטח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התועלת במדדים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532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שעות ניהול ידני ופחות טעויות חיוב</a:t>
            </a:r>
            <a:endParaRPr lang="en-US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גבייה מהירה יותר ותזרים בריא</a:t>
            </a:r>
            <a:endParaRPr lang="en-US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יכולת לטפל ביותר עבודות במקביל</a:t>
            </a:r>
            <a:endParaRPr lang="en-US" sz="15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 להנהלה ולרואה החשבון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343400"/>
            <a:ext cx="11183112" cy="1920240"/>
          </a:xfrm>
          <a:prstGeom prst="roundRect">
            <a:avLst>
              <a:gd name="adj" fmla="val 3810"/>
            </a:avLst>
          </a:prstGeom>
          <a:solidFill>
            <a:srgbClr val="EAF4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262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 הפרויקט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ההצעה, האיפיון והעיצוב הושלמו והוגשו במועדם. אב-הטיפוס אומת מול בעל החברה ביולי, ותיק הפרויקט המלא יוגש עד 31.8.2026.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 והמלצות להמשך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25312" y="14630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 עיקריות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25312" y="2011680"/>
            <a:ext cx="5532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ראיונות ותצפית בשטח חשפו צרכים שלא עלו מהתיאור הראשוני, ושינו את מודל הנתונים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עיגון התוכנית באבני הדרך של הקורס אפשר עמידה בכל המועדים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כל תוצר מול בעל החברה חסך תיקונים מאוחרים ויקרים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פיתוחים עתידיים מומלצים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ותכנות המערכת על בסיס העיצוב המאושר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פורטל לקוח להגשת בקשה ומעקב סטטוס עצמאי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ייעודי לציוד ולחברות העזרה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ישיר לחברות הביטוח ואפליקציה לעובדי השטח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56048" y="5394960"/>
            <a:ext cx="2286000" cy="0"/>
          </a:xfrm>
          <a:prstGeom prst="line">
            <a:avLst/>
          </a:prstGeom>
          <a:noFill/>
          <a:ln w="31750">
            <a:solidFill>
              <a:srgbClr val="E886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6235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על ההקשבה | כאמל עואד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6400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9AA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פרקטיקום בניהול מערכות מידע, תשפ"ו | ס.א הנדסה | כאמל עואד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2026-07-31T18:55:16Z</dcterms:created>
  <dcterms:modified xsi:type="dcterms:W3CDTF">2026-07-31T18:55:16Z</dcterms:modified>
</cp:coreProperties>
</file>