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234440"/>
            <a:ext cx="1072591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מידע לניהול בקשות לקוח,</a:t>
            </a:r>
            <a:endParaRPr lang="en-US" sz="4000" dirty="0"/>
          </a:p>
          <a:p>
            <a:pPr rtl="1"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שיבוצי עובדים ושכר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dirty="0">
                <a:solidFill>
                  <a:srgbClr val="BFE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חברת ס.א הנדסה | שיקום, תיקון ושיפוץ מבנים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956048" y="3794760"/>
            <a:ext cx="2286000" cy="0"/>
          </a:xfrm>
          <a:prstGeom prst="line">
            <a:avLst/>
          </a:prstGeom>
          <a:noFill/>
          <a:ln w="31750">
            <a:solidFill>
              <a:srgbClr val="E886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069080"/>
            <a:ext cx="1072591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D9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מגיש: כאמל עואד, ת.ז 211901368</a:t>
            </a:r>
            <a:endParaRPr lang="en-US" sz="16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D9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מנחה: ד"ר אלי וינטראוב</a:t>
            </a:r>
            <a:endParaRPr lang="en-US" sz="16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D9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פרקטיקום בניהול מערכות מידע (105002592), תשפ"ו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80644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C9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אוגוסט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הארגון: ס.א הנדסה</a:t>
            </a:r>
            <a:endParaRPr lang="en-US" sz="3000" dirty="0"/>
          </a:p>
        </p:txBody>
      </p:sp>
      <p:pic>
        <p:nvPicPr>
          <p:cNvPr id="3" name="Image 0" descr="orig/media/im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4206240" cy="498348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6263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i="1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נזק מבני לאחר שריפה, מאתרי העבודה של החברה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029200" y="1280160"/>
            <a:ext cx="6656832" cy="1115568"/>
          </a:xfrm>
          <a:prstGeom prst="roundRect">
            <a:avLst>
              <a:gd name="adj" fmla="val 6557"/>
            </a:avLst>
          </a:prstGeom>
          <a:solidFill>
            <a:srgbClr val="EAF4F2"/>
          </a:solidFill>
          <a:ln/>
        </p:spPr>
      </p:sp>
      <p:sp>
        <p:nvSpPr>
          <p:cNvPr id="6" name="Text 3"/>
          <p:cNvSpPr/>
          <p:nvPr/>
        </p:nvSpPr>
        <p:spPr>
          <a:xfrm>
            <a:off x="9052560" y="1389888"/>
            <a:ext cx="2487168" cy="3657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החברה עושה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166360" y="1737360"/>
            <a:ext cx="6382512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שיקום ותיקון מבנים שנפגעו משריפות, נזקי מים, פגיעות טילים; שיפוצים כלליים ופירוק אסבסט מוסמך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0" y="2542032"/>
            <a:ext cx="6656832" cy="1115568"/>
          </a:xfrm>
          <a:prstGeom prst="roundRect">
            <a:avLst>
              <a:gd name="adj" fmla="val 6557"/>
            </a:avLst>
          </a:prstGeom>
          <a:solidFill>
            <a:srgbClr val="EAF4F2"/>
          </a:solidFill>
          <a:ln/>
        </p:spPr>
      </p:sp>
      <p:sp>
        <p:nvSpPr>
          <p:cNvPr id="9" name="Text 6"/>
          <p:cNvSpPr/>
          <p:nvPr/>
        </p:nvSpPr>
        <p:spPr>
          <a:xfrm>
            <a:off x="9052560" y="2651760"/>
            <a:ext cx="2487168" cy="3657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זמינות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166360" y="2999232"/>
            <a:ext cx="6382512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מענה חירום 24/7: צוות ראשוני יוצא לאתר מיד עם קבלת הדיווח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0" y="3803904"/>
            <a:ext cx="6656832" cy="1115568"/>
          </a:xfrm>
          <a:prstGeom prst="roundRect">
            <a:avLst>
              <a:gd name="adj" fmla="val 6557"/>
            </a:avLst>
          </a:prstGeom>
          <a:solidFill>
            <a:srgbClr val="EAF4F2"/>
          </a:solidFill>
          <a:ln/>
        </p:spPr>
      </p:sp>
      <p:sp>
        <p:nvSpPr>
          <p:cNvPr id="12" name="Text 9"/>
          <p:cNvSpPr/>
          <p:nvPr/>
        </p:nvSpPr>
        <p:spPr>
          <a:xfrm>
            <a:off x="9052560" y="3913632"/>
            <a:ext cx="2487168" cy="3657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66360" y="4261104"/>
            <a:ext cx="6382512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פרטיים, עסקים, ועדי בתים וחברות ביטוח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0" y="5065776"/>
            <a:ext cx="6656832" cy="1115568"/>
          </a:xfrm>
          <a:prstGeom prst="roundRect">
            <a:avLst>
              <a:gd name="adj" fmla="val 6557"/>
            </a:avLst>
          </a:prstGeom>
          <a:solidFill>
            <a:srgbClr val="EAF4F2"/>
          </a:solidFill>
          <a:ln/>
        </p:spPr>
      </p:sp>
      <p:sp>
        <p:nvSpPr>
          <p:cNvPr id="15" name="Text 12"/>
          <p:cNvSpPr/>
          <p:nvPr/>
        </p:nvSpPr>
        <p:spPr>
          <a:xfrm>
            <a:off x="9052560" y="5175504"/>
            <a:ext cx="2487168" cy="3657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שרשרת העבודה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5522976"/>
            <a:ext cx="6382512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שמאות והערכת נזק, הצעת מחיר, שיבוץ עובדים וקבלני משנה, ביצוע ומסירה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המצב הקיים: הכול מנוהל ביד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כלי ממוחשב מרכזי; העבודה מתנהלת בטלפון, בהודעות וברישומים מפוזרים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291072" y="164592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BEADB"/>
          </a:solidFill>
          <a:ln/>
        </p:spPr>
      </p:sp>
      <p:sp>
        <p:nvSpPr>
          <p:cNvPr id="5" name="Shape 3"/>
          <p:cNvSpPr/>
          <p:nvPr/>
        </p:nvSpPr>
        <p:spPr>
          <a:xfrm>
            <a:off x="11000232" y="1874520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6" name="Text 4"/>
          <p:cNvSpPr/>
          <p:nvPr/>
        </p:nvSpPr>
        <p:spPr>
          <a:xfrm>
            <a:off x="11000232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19672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הולך לאיבוד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19672" y="251460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בקשות נרשמות פעמיים או נשכחות, אין תיק לקוח מרוכז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30352" y="164592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EA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5239512" y="1874520"/>
            <a:ext cx="457200" cy="457200"/>
          </a:xfrm>
          <a:prstGeom prst="ellipse">
            <a:avLst/>
          </a:prstGeom>
          <a:solidFill>
            <a:srgbClr val="0F4C46"/>
          </a:solidFill>
          <a:ln/>
        </p:spPr>
      </p:sp>
      <p:sp>
        <p:nvSpPr>
          <p:cNvPr id="11" name="Text 9"/>
          <p:cNvSpPr/>
          <p:nvPr/>
        </p:nvSpPr>
        <p:spPr>
          <a:xfrm>
            <a:off x="5239512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8952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שיבוצים משתבשים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8952" y="251460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תיאום טלפוני; עובדים וקבלנים לא מתעדכנים בזמן על שינויים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91072" y="397764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EA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00232" y="4206240"/>
            <a:ext cx="457200" cy="457200"/>
          </a:xfrm>
          <a:prstGeom prst="ellipse">
            <a:avLst/>
          </a:prstGeom>
          <a:solidFill>
            <a:srgbClr val="0F4C46"/>
          </a:solidFill>
          <a:ln/>
        </p:spPr>
      </p:sp>
      <p:sp>
        <p:nvSpPr>
          <p:cNvPr id="16" name="Text 14"/>
          <p:cNvSpPr/>
          <p:nvPr/>
        </p:nvSpPr>
        <p:spPr>
          <a:xfrm>
            <a:off x="11000232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19672" y="42062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כסף מחכה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19672" y="4846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הצעת מחיר נבנית 2-3 ימים; חשבוניות ותשלומים במעקב ידני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30352" y="397764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EA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239512" y="4206240"/>
            <a:ext cx="457200" cy="457200"/>
          </a:xfrm>
          <a:prstGeom prst="ellipse">
            <a:avLst/>
          </a:prstGeom>
          <a:solidFill>
            <a:srgbClr val="0F4C46"/>
          </a:solidFill>
          <a:ln/>
        </p:spPr>
      </p:sp>
      <p:sp>
        <p:nvSpPr>
          <p:cNvPr id="21" name="Text 19"/>
          <p:cNvSpPr/>
          <p:nvPr/>
        </p:nvSpPr>
        <p:spPr>
          <a:xfrm>
            <a:off x="5239512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58952" y="42062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תמונת מצב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8952" y="4846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להנהלה אין דוחות; חישוב שכר חודשי גוזל יום עבודה שלם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מטרת הפרויקט ויעדים מדידים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2412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ניתוח, איפיון ועיצוב של מערכת מידע מרכזית שמנהלת את כל מחזור הטיפול בבקשה: מקליטת הפנייה ועד החשבונית והשכר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015984" y="20574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AF4F2"/>
          </a:solidFill>
          <a:ln/>
        </p:spPr>
      </p:sp>
      <p:sp>
        <p:nvSpPr>
          <p:cNvPr id="5" name="Text 3"/>
          <p:cNvSpPr/>
          <p:nvPr/>
        </p:nvSpPr>
        <p:spPr>
          <a:xfrm>
            <a:off x="9153144" y="2258568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קליטת בקשה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53144" y="2834640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strike="sngStrike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דק׳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53144" y="342900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E8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דק׳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53144" y="4343400"/>
            <a:ext cx="239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היעד לאחר המערכת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81344" y="20574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AF4F2"/>
          </a:solidFill>
          <a:ln/>
        </p:spPr>
      </p:sp>
      <p:sp>
        <p:nvSpPr>
          <p:cNvPr id="10" name="Text 8"/>
          <p:cNvSpPr/>
          <p:nvPr/>
        </p:nvSpPr>
        <p:spPr>
          <a:xfrm>
            <a:off x="6318504" y="2258568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הכנת הצעת מחיר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18504" y="2834640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strike="sngStrike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ימים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318504" y="342900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E8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אחד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318504" y="4343400"/>
            <a:ext cx="239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היעד לאחר המערכת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46704" y="20574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AF4F2"/>
          </a:solidFill>
          <a:ln/>
        </p:spPr>
      </p:sp>
      <p:sp>
        <p:nvSpPr>
          <p:cNvPr id="15" name="Text 13"/>
          <p:cNvSpPr/>
          <p:nvPr/>
        </p:nvSpPr>
        <p:spPr>
          <a:xfrm>
            <a:off x="3483864" y="2258568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 שכר חודשי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83864" y="2834640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strike="sngStrike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מלא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483864" y="342900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E8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שעה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483864" y="4343400"/>
            <a:ext cx="239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היעד לאחר המערכת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12064" y="20574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AF4F2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" y="2258568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אובדן / כפילות רישום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9224" y="2834640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strike="sngStrike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מדי חודש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9224" y="342900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E8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אפס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49224" y="4343400"/>
            <a:ext cx="239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היעד לאחר המערכת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525780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ובנוסף: עדכון מיידי של כל עובד על שיבוצו, ותמונת מצב ניהולית זמינה בכל רגע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תיחום הפרויקט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245352" y="1325880"/>
            <a:ext cx="5440680" cy="5029200"/>
          </a:xfrm>
          <a:prstGeom prst="roundRect">
            <a:avLst>
              <a:gd name="adj" fmla="val 1455"/>
            </a:avLst>
          </a:prstGeom>
          <a:solidFill>
            <a:srgbClr val="E9F5EC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325880"/>
            <a:ext cx="5440680" cy="5029200"/>
          </a:xfrm>
          <a:prstGeom prst="roundRect">
            <a:avLst>
              <a:gd name="adj" fmla="val 1455"/>
            </a:avLst>
          </a:prstGeom>
          <a:solidFill>
            <a:srgbClr val="F6EDE9"/>
          </a:solidFill>
          <a:ln/>
        </p:spPr>
      </p:sp>
      <p:sp>
        <p:nvSpPr>
          <p:cNvPr id="5" name="Text 3"/>
          <p:cNvSpPr/>
          <p:nvPr/>
        </p:nvSpPr>
        <p:spPr>
          <a:xfrm>
            <a:off x="6519672" y="15544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A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בתחולת הפרויקט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A64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מחוץ לתחולה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519672" y="214884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קליטת בקשות לקוח (נזק/שיבוץ) וניהול לקוחות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עיבוד בקשה, בדיקת זמינות והצעת מחיר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שיוך עובדים וקבלני משנה לשיבוצים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חשבוניות והזמנות חומר מספקים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 שכר חודשי מתוך השיבוצים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דוחות הנהלה בזמן אמת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פיתוח ותכנות מלא (הפרויקט מסתיים באב-טיפוס)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הנהלת חשבונות מלאה (ייצוא נתונים בלבד)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ממשק ממוחשב ישיר לחברות ביטוח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מובייל ושעון נוכחות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מלאי מפורט של חומרי בניין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הסבת נתונים היסטוריים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מתודולוגיה: מחזור חיים מלא במודל מפל המים (SDLC)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537192" y="1600200"/>
            <a:ext cx="2148840" cy="3017520"/>
          </a:xfrm>
          <a:prstGeom prst="roundRect">
            <a:avLst>
              <a:gd name="adj" fmla="val 3404"/>
            </a:avLst>
          </a:prstGeom>
          <a:solidFill>
            <a:srgbClr val="EAF4F2"/>
          </a:solidFill>
          <a:ln/>
        </p:spPr>
      </p:sp>
      <p:sp>
        <p:nvSpPr>
          <p:cNvPr id="4" name="Shape 2"/>
          <p:cNvSpPr/>
          <p:nvPr/>
        </p:nvSpPr>
        <p:spPr>
          <a:xfrm>
            <a:off x="10383012" y="1828800"/>
            <a:ext cx="457200" cy="457200"/>
          </a:xfrm>
          <a:prstGeom prst="ellipse">
            <a:avLst/>
          </a:prstGeom>
          <a:solidFill>
            <a:srgbClr val="0F4C46"/>
          </a:solidFill>
          <a:ln/>
        </p:spPr>
      </p:sp>
      <p:sp>
        <p:nvSpPr>
          <p:cNvPr id="5" name="Text 3"/>
          <p:cNvSpPr/>
          <p:nvPr/>
        </p:nvSpPr>
        <p:spPr>
          <a:xfrm>
            <a:off x="10383012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28632" y="23774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ייזום והצעה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46920" y="2971800"/>
            <a:ext cx="1929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הארגון, לימוד התהליך, תיחום ותוכנית עבודה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628632" y="42062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C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אושרה 28.4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69480" y="1600200"/>
            <a:ext cx="2148840" cy="3017520"/>
          </a:xfrm>
          <a:prstGeom prst="roundRect">
            <a:avLst>
              <a:gd name="adj" fmla="val 3404"/>
            </a:avLst>
          </a:prstGeom>
          <a:solidFill>
            <a:srgbClr val="EA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8115300" y="1828800"/>
            <a:ext cx="457200" cy="457200"/>
          </a:xfrm>
          <a:prstGeom prst="ellipse">
            <a:avLst/>
          </a:prstGeom>
          <a:solidFill>
            <a:srgbClr val="0F4C46"/>
          </a:solidFill>
          <a:ln/>
        </p:spPr>
      </p:sp>
      <p:sp>
        <p:nvSpPr>
          <p:cNvPr id="11" name="Text 9"/>
          <p:cNvSpPr/>
          <p:nvPr/>
        </p:nvSpPr>
        <p:spPr>
          <a:xfrm>
            <a:off x="811530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60920" y="23774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ניתוח ואיפיון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79208" y="2971800"/>
            <a:ext cx="1929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ראיונות ותצפית; תרשימי תהליכים, DFD, ERD ורשימת מסכים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360920" y="42062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C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 1 הוגש 31.5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01768" y="1600200"/>
            <a:ext cx="2148840" cy="3017520"/>
          </a:xfrm>
          <a:prstGeom prst="roundRect">
            <a:avLst>
              <a:gd name="adj" fmla="val 3404"/>
            </a:avLst>
          </a:prstGeom>
          <a:solidFill>
            <a:srgbClr val="FBEADB"/>
          </a:solidFill>
          <a:ln/>
        </p:spPr>
      </p:sp>
      <p:sp>
        <p:nvSpPr>
          <p:cNvPr id="16" name="Shape 14"/>
          <p:cNvSpPr/>
          <p:nvPr/>
        </p:nvSpPr>
        <p:spPr>
          <a:xfrm>
            <a:off x="5847588" y="1828800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17" name="Text 15"/>
          <p:cNvSpPr/>
          <p:nvPr/>
        </p:nvSpPr>
        <p:spPr>
          <a:xfrm>
            <a:off x="584758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93208" y="23774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עיצוב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11496" y="2971800"/>
            <a:ext cx="1929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טבלאות ומפתחות, ממשקים, עץ תפריטים ועיצוב מסכים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93208" y="42062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8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 2 הוגש 30.6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34056" y="1600200"/>
            <a:ext cx="2148840" cy="3017520"/>
          </a:xfrm>
          <a:prstGeom prst="roundRect">
            <a:avLst>
              <a:gd name="adj" fmla="val 3404"/>
            </a:avLst>
          </a:prstGeom>
          <a:solidFill>
            <a:srgbClr val="EA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9876" y="1828800"/>
            <a:ext cx="457200" cy="457200"/>
          </a:xfrm>
          <a:prstGeom prst="ellipse">
            <a:avLst/>
          </a:prstGeom>
          <a:solidFill>
            <a:srgbClr val="0F4C46"/>
          </a:solidFill>
          <a:ln/>
        </p:spPr>
      </p:sp>
      <p:sp>
        <p:nvSpPr>
          <p:cNvPr id="23" name="Text 21"/>
          <p:cNvSpPr/>
          <p:nvPr/>
        </p:nvSpPr>
        <p:spPr>
          <a:xfrm>
            <a:off x="3579876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825496" y="23774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אב-טיפוס ואימות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843784" y="2971800"/>
            <a:ext cx="1929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אימות מול בעל החברה ותיקונים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825496" y="42062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C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יולי 2026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" y="1600200"/>
            <a:ext cx="2148840" cy="3017520"/>
          </a:xfrm>
          <a:prstGeom prst="roundRect">
            <a:avLst>
              <a:gd name="adj" fmla="val 3404"/>
            </a:avLst>
          </a:prstGeom>
          <a:solidFill>
            <a:srgbClr val="EA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1312164" y="1828800"/>
            <a:ext cx="457200" cy="457200"/>
          </a:xfrm>
          <a:prstGeom prst="ellipse">
            <a:avLst/>
          </a:prstGeom>
          <a:solidFill>
            <a:srgbClr val="0F4C46"/>
          </a:solidFill>
          <a:ln/>
        </p:spPr>
      </p:sp>
      <p:sp>
        <p:nvSpPr>
          <p:cNvPr id="29" name="Text 27"/>
          <p:cNvSpPr/>
          <p:nvPr/>
        </p:nvSpPr>
        <p:spPr>
          <a:xfrm>
            <a:off x="1312164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57784" y="23774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והצגה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76072" y="2971800"/>
            <a:ext cx="1929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מצגת, מסקנות והמלצות, תיק פרויקט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57784" y="42062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C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אוגוסט 2026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2920" y="4892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שלב מסתיים בתוצר מאושר לפני המעבר לשלב הבא. שיטות איסוף המידע: ראיונות חצי-מובנים, תצפית ישירה וניתוח מסמכים, עם אימות כל תוצר מול בעל החברה.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02920" y="562356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כלים: draw.io לתרשימים | Figma לעיצוב המסכים | GanttProject לגאנט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העבודה: 31 פעילויות, כל אבני הדרך נשמרו</a:t>
            </a:r>
            <a:endParaRPr lang="en-US" sz="3000" dirty="0"/>
          </a:p>
        </p:txBody>
      </p:sp>
      <p:pic>
        <p:nvPicPr>
          <p:cNvPr id="3" name="Image 0" descr="gantt_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143000"/>
            <a:ext cx="9902952" cy="5532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איפיון: התהליך הארגוני מקצה לקצה</a:t>
            </a:r>
            <a:endParaRPr lang="en-US" sz="3000" dirty="0"/>
          </a:p>
        </p:txBody>
      </p:sp>
      <p:pic>
        <p:nvPicPr>
          <p:cNvPr id="3" name="Image 0" descr="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325880"/>
            <a:ext cx="9262872" cy="5074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איפיון: תרשים זרימת הנתונים (DFD)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3108960" cy="5120640"/>
          </a:xfrm>
          <a:prstGeom prst="roundRect">
            <a:avLst>
              <a:gd name="adj" fmla="val 2353"/>
            </a:avLst>
          </a:prstGeom>
          <a:solidFill>
            <a:srgbClr val="EAF4F2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 הבקשה במערכת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2148840"/>
            <a:ext cx="27432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קליטת פנייה מהלקוח</a:t>
            </a:r>
            <a:endParaRPr lang="en-US" sz="14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עיבוד פרטי הנזק / השיבוץ</a:t>
            </a:r>
            <a:endParaRPr lang="en-US" sz="14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הכנת הצעת מחיר ללקוח</a:t>
            </a:r>
            <a:endParaRPr lang="en-US" sz="14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אישור: חוזה, שיבוץ ושמירה במערכת</a:t>
            </a:r>
            <a:endParaRPr lang="en-US" sz="14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דחייה: סגירת התיק ותיעוד</a:t>
            </a:r>
            <a:endParaRPr lang="en-US" sz="1400" dirty="0"/>
          </a:p>
        </p:txBody>
      </p:sp>
      <p:pic>
        <p:nvPicPr>
          <p:cNvPr id="6" name="Image 0" descr="pdfimg/p09_06_1090x6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1691640"/>
            <a:ext cx="7772400" cy="43342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איפיון: מודל הנתונים (ERD)</a:t>
            </a:r>
            <a:endParaRPr lang="en-US" sz="3000" dirty="0"/>
          </a:p>
        </p:txBody>
      </p:sp>
      <p:pic>
        <p:nvPicPr>
          <p:cNvPr id="3" name="Image 0" descr="pdfimg/p10_07_1306x7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234440"/>
            <a:ext cx="8165592" cy="47365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6126480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הישויות המרכזיות: עובדים, אתרים/קבלנים, שיבוצים, חשבוניות ושכר, והקשרים ביניהן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עיצוב: טבלאות בסיס הנתונים ומפתחות הגישה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83112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926080"/>
                <a:gridCol w="2194560"/>
                <a:gridCol w="21305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שדות עיקריים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מפתחות זרים (FK)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מפתח ראשי (PK)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טבלה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4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שם, טלפון, מייל, כתובת, סוג לקוח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קוד לקוח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לקוחות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סוג, תאריך, תיאור, סטטוס, עלויות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קוד לקוח, קוד אתר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מספר בקשה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בקשות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אתר, כתובת, איש קשר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קוד אתר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אתרים/קבלנים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שם, ת.ז, מקצוע, סוג העסקה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קוד עובד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עובדים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תאריכי תחילה וסיום, סטטוס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קוד עובד, קוד אתר, מס׳ בקשה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קוד שיבוץ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שיבוצים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תאריך, סוג, סכום, סטטוס תשלום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קוד אתר, קוד לקוח, קוד ספק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מספר חשבונית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חשבוניות והזמנות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ימי עבודה, ברוטו, ניכויים, נטו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קוד עובד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קוד עובד + חודש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שכר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6172200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חודד בשלב העיצוב: נוספו טבלאות לקוחות ובקשות, ולכל חשבונית הוגדר מספר ייחודי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עיצוב: עץ התפריטים לפי תפקידי המשתמשים</a:t>
            </a:r>
            <a:endParaRPr lang="en-US" sz="3000" dirty="0"/>
          </a:p>
        </p:txBody>
      </p:sp>
      <p:pic>
        <p:nvPicPr>
          <p:cNvPr id="3" name="Image 0" descr="pdfimg/p14_08_1141x65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714232" cy="4983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עיצוב: מסכי המערכת (Figma)</a:t>
            </a:r>
            <a:endParaRPr lang="en-US" sz="3000" dirty="0"/>
          </a:p>
        </p:txBody>
      </p:sp>
      <p:pic>
        <p:nvPicPr>
          <p:cNvPr id="3" name="Image 0" descr="pdfimg/p15_09_900x69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5904" y="1188720"/>
            <a:ext cx="3310128" cy="22402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B5AF">
                <a:alpha val="50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6135624" y="20345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קליטת בקשה חדשה</a:t>
            </a:r>
            <a:endParaRPr lang="en-US" sz="1500" dirty="0"/>
          </a:p>
        </p:txBody>
      </p:sp>
      <p:pic>
        <p:nvPicPr>
          <p:cNvPr id="5" name="Image 1" descr="pdfimg/p16_10_900x64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336" y="1188720"/>
            <a:ext cx="3310128" cy="22402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B5AF">
                <a:alpha val="50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48056" y="20345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הצעת מחיר ללקוח</a:t>
            </a:r>
            <a:endParaRPr lang="en-US" sz="1500" dirty="0"/>
          </a:p>
        </p:txBody>
      </p:sp>
      <p:pic>
        <p:nvPicPr>
          <p:cNvPr id="7" name="Image 2" descr="pdfimg/p17_12_900x59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3913632"/>
            <a:ext cx="3310128" cy="22402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B5AF">
                <a:alpha val="50000"/>
              </a:srgbClr>
            </a:outerShdw>
          </a:effectLst>
        </p:spPr>
      </p:pic>
      <p:sp>
        <p:nvSpPr>
          <p:cNvPr id="8" name="Text 3"/>
          <p:cNvSpPr/>
          <p:nvPr/>
        </p:nvSpPr>
        <p:spPr>
          <a:xfrm>
            <a:off x="6135624" y="475945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שיוך עובד לשיבוץ</a:t>
            </a:r>
            <a:endParaRPr lang="en-US" sz="1500" dirty="0"/>
          </a:p>
        </p:txBody>
      </p:sp>
      <p:pic>
        <p:nvPicPr>
          <p:cNvPr id="9" name="Image 3" descr="pdfimg/p18_13_901x72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8336" y="3913632"/>
            <a:ext cx="3310128" cy="22402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B5AF">
                <a:alpha val="50000"/>
              </a:srgbClr>
            </a:outerShdw>
          </a:effectLst>
        </p:spPr>
      </p:pic>
      <p:sp>
        <p:nvSpPr>
          <p:cNvPr id="10" name="Text 4"/>
          <p:cNvSpPr/>
          <p:nvPr/>
        </p:nvSpPr>
        <p:spPr>
          <a:xfrm>
            <a:off x="448056" y="475945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 שכר חודשי</a:t>
            </a:r>
            <a:endParaRPr lang="en-US" sz="1500" dirty="0"/>
          </a:p>
        </p:txBody>
      </p:sp>
      <p:sp>
        <p:nvSpPr>
          <p:cNvPr id="11" name="Text 5"/>
          <p:cNvSpPr/>
          <p:nvPr/>
        </p:nvSpPr>
        <p:spPr>
          <a:xfrm>
            <a:off x="502920" y="6446520"/>
            <a:ext cx="11183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מסכים נוספים: עיבוד בקשה וניהול חשבוניות; כל ששת המסכים עוצבו עיצוב מלא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מורכבות הפרויקט והתועלת לחברה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53912" y="123444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 המורכבות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153912" y="1783080"/>
            <a:ext cx="55321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 טבלאות קשורות ותהליך שחוצה את כל הארגון</a:t>
            </a:r>
            <a:endParaRPr lang="en-US" sz="15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שישה גורמי חוץ: לקוחות, ביטוח, ספקים, קבלני משנה</a:t>
            </a:r>
            <a:endParaRPr lang="en-US" sz="15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עבודות רבות במקביל בסביבת חירום</a:t>
            </a:r>
            <a:endParaRPr lang="en-US" sz="15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ארגון אמיתי: ראיונות, תצפית ואימות בשטח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התועלת במדדים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55321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פחות שעות ניהול ידני ופחות טעויות חיוב</a:t>
            </a:r>
            <a:endParaRPr lang="en-US" sz="15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גבייה מהירה יותר ותזרים בריא</a:t>
            </a:r>
            <a:endParaRPr lang="en-US" sz="15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יכולת לטפל ביותר עבודות במקביל</a:t>
            </a:r>
            <a:endParaRPr lang="en-US" sz="15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שקיפות מלאה להנהלה ולרואה החשבון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4343400"/>
            <a:ext cx="11183112" cy="1920240"/>
          </a:xfrm>
          <a:prstGeom prst="roundRect">
            <a:avLst>
              <a:gd name="adj" fmla="val 3810"/>
            </a:avLst>
          </a:prstGeom>
          <a:solidFill>
            <a:srgbClr val="EAF4F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52628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F4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סטטוס הפרויקט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498348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ההצעה, האיפיון והעיצוב הושלמו והוגשו במועדם. אב-הטיפוס אומת מול בעל החברה ביולי, ותיק הפרויקט המלא יוגש עד 31.8.2026.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4C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מסקנות והמלצות להמשך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25312" y="146304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5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מסקנות עיקריות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25312" y="2011680"/>
            <a:ext cx="5532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ראיונות ותצפית בשטח חשפו צרכים שלא עלו מהתיאור הראשוני, ושינו את מודל הנתונים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עיגון התוכנית באבני הדרך של הקורס אפשר עמידה בכל המועדים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אימות כל תוצר מול בעל החברה חסך תיקונים מאוחרים ויקרים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5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פיתוחים עתידיים מומלצים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פיתוח ותכנות המערכת על בסיס העיצוב המאושר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פורטל לקוח להגשת בקשה ומעקב סטטוס עצמאי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ייעודי לציוד ולחברות העזרה</a:t>
            </a:r>
            <a:endParaRPr lang="en-US" sz="15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ממשק ישיר לחברות הביטוח ואפליקציה לעובדי השטח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956048" y="5394960"/>
            <a:ext cx="2286000" cy="0"/>
          </a:xfrm>
          <a:prstGeom prst="line">
            <a:avLst/>
          </a:prstGeom>
          <a:noFill/>
          <a:ln w="31750">
            <a:solidFill>
              <a:srgbClr val="E886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562356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תודה על ההקשבה | כאמל עואד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2026-07-31T18:45:51Z</dcterms:created>
  <dcterms:modified xsi:type="dcterms:W3CDTF">2026-07-31T18:45:51Z</dcterms:modified>
</cp:coreProperties>
</file>