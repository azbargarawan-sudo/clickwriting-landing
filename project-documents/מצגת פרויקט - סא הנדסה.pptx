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קצרה: שמי כאמל עואד, אציג פרויקט פרקטיקום שביצעתי בחברת ס.א הנדסה, חברה אמיתית לשיקום מבנים לאחר נזק. הפרויקט הוא ניתוח, איפיון ועיצוב של מערכת מידע לניהול בקשות לקוח, שיבוצי עובדים ושכר. ההצגה תימשך כ-13 דקות. אל תקריא את השקף.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הצג את מפת הדרכים בקצרה, כ-30 שניות. אמור שההצגה עוקבת אחר מבנה תיק הפרויקט: מתחילים בארגון ובבעיה, ממשיכים למטרות ולתיחום, אחר כך מתודולוגיה וגאנט, ואז שני שלבי התוצרים, איפיון ועיצוב, ומסיימים במסקנות. אל תקרא את שש הכותרות אחת אחת.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ספר על החברה במילים שלך: חברה פרטית שמתמחה בשיקום מבנים אחרי שריפה, הצפה או פגיעה, עם צוות מוסמך לפירוק אסבסט. הדגש שזו עבודת חירום, החברה זמינה 24/7 וצוות יוצא לאתר מיד. התמונה היא מאתר עבודה אמיתי של החברה. אפשר לספר בקצרה איך הגעת לארגון ואיך התקבל האישור לבצע בו את הפרויקט.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הסבר שהבעיות לא הומצאו אלא עלו משלושה מקורות: ראיונות עם בעל החברה ועם עובדים, ריאיון השלמה עם רואה החשבון, ותצפית על יום עבודה מלא. תן דוגמה קונקרטית מהריאיון: בעל החברה סיפר שתיאום טלפוני גורם לכפילות פגישות ולעיכוב בעדכון קבלנים. הבעיה הראשונה מודגשת כי היא המקור לשאר.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אל תקרא את כל הטבלה. בחר שתי שורות ותן עליהן דגש: קליטת בקשה שיורדת מ-20 דקות לחמש, ודוח שכר חודשי שיורד מיום עבודה מלא לשעה. הסבר שהיעדים נקבעו יחד עם בעל החברה ולא על ידי לבד, ולכן אפשר יהיה למדוד בהמשך אם המערכת הצליחה.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הדגש שהתיחום הוא ההחלטה החשובה בפרויקט: הוא מגדיר מה מבטיחים ומה לא. ציין שהעמודה השמאלית חשובה לא פחות מהימנית, כי היא מונעת ציפיות מוגזמות מצד הארגון. הסבר במיוחד שהפרויקט מסתיים באב-טיפוס מעוצב ולא בתכנות, כפי שאושר בהצעה.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נמק את הבחירה במפל המים ולא בשיטה איטרטיבית: אבני הדרך של הקורס קבועות מראש, הפרויקט מבוצע לבד, והדרישות יציבות כי התהליך הארגוני כבר קיים. הדגש את שיטות איסוף המידע, כי משם הגיעו כל הדרישות. ציין שכל תוצר אושר מול בעל החברה לפני המעבר לשלב הבא.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הצג את הגאנט כתמונה אחת ואל תעבור פעילות אחר פעילות. אמור שהתוכנית נבנתה עם תלות בין פעילויות ועם מרווחי ביטחון לפני כל הגשה, ושהמעקב נעשה שבועי. ציין שלושה שינויים שבוצעו בפועל, כולם בתוך שלב העיצוב: הוספת ריאיון עם רואה החשבון, הזזת תחילת בניית הטבלאות, והתארכות עיצוב המסכים מיומיים לעשרה ימים. אף אבן דרך לא נפגעה.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עבור על התהליך בקצרה לפי הכיוון: פנייה, רישום, צוות ראשוני, שמאות, הצעת מחיר, ואז נקודת ההחלטה של הלקוח או חברת הביטוח. הדגש את נקודת ההחלטה הצהובה: אישור מוביל לשיבוץ ולביצוע, דחייה סוגרת את התיק עם תיעוד הסיבה. זה התהליך שממנו נגזרו כל המסכים.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הסבר את התרשים משמאל: בקשה נכנסת עוברת בדיקת פרטים, עיבוד, ופנייה לבסיס הנתונים המרכזי שמרכז מידע על עובדים, כספים, חומרים וציוד. משם מוכנה הצעת מחיר, ובהתאם להחלטת הלקוח נחתם חוזה או נסגר התיק. הצד הימני מפרט את גורמי החוץ. ציין שהמיפוי הזה הוא הבסיס לטבלת הממשקים שתוצג בשלב העיצוב.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הסבר את ההבדל בין השקף הקודם לשקף הזה: הקודם הראה את מבנה המערכת ואת סביבתה, וזה מראה את זרימת הנתונים בין התהליכים. עקוב אחרי החיצים: לקוח, קליטה, עיבוד, הצעה, ואז שתי התוצאות. הדגש שהמאגר הוא מערכת המידע של החברה, ושכל נתון נשמר פעם אחת.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הצג את חמש הישויות ואת הקשר המרכזי ביניהן: עובד משובץ לאתר, שיבוץ מייצר ימי עבודה, וימי העבודה מזינים את השכר. אמור שזה התוצר שהכי השתנה בהמשך: בשלב העיצוב גיליתי שחסרות שתי ישויות, לקוחות ובקשות, וזה תיקון שאני מציג בשקף הבא.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שמראה את העומק המקצועי, אז אל תמהר. הסבר שני עקרונות: מניעת כפילות, כל נתון נשמר פעם אחת ושאר הטבלאות מפנות אליו במפתח זר; ושלמות קשרים, אי אפשר ליצור שיבוץ לעובד שלא קיים. ציין את התיקון שביצעתי: במקור מפתח החשבוניות היה קוד הקבלן, וזו שגיאה, כי לקבלן יש יותר מחשבונית אחת.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הסבר שהטבלה נגזרת ישירות מתרשים סביבת המערכת שהוצג באיפיון, ושלכל ממשק הוגדרו שלושה דברים: כיוון הזרימה, אילו שדות עוברים, ואיך זה ממומש בפועל. ציין שהגדרת הממשקים קבעה גם את ההרשאות: נתוני שכר וכספים נגישים להנהלה ולרואה החשבון בלבד. הייצוא לרואה החשבון נוסף אחרי הריאיון איתו.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הסבר שעץ התפריטים אינו החלטה עיצובית שרירותית אלא נגזר משני מקורות: מבנה הטבלאות ותהליכי העבודה. הדגש את עקרון ההרשאות לפי תפקיד, שהוא גם מענה לדרישת אבטחת המידע שהוגדרה בהצעה: לא כל עובד רואה נתוני שכר.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בחר מסך אחד והעבר עליו את התהליך המלא, למשל קליטת בקשה: מה מזינים, אילו שדות חובה, ומה קורה בשמירה, נפתחת רשומה בסטטוס ממתין לעיבוד. הסבר שכל המסכים בנויים באותה פריסה, כותרת, נתיב ניווט, שדות וכפתורי פעולה, כדי לקצר את זמן הלמידה של עובדים ללא רקע טכנולוגי.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אל תציג את האתגרים כתירוצים אלא כניהול סיכונים: כל אתגר זוהה מראש בהצעה ולכל אחד תוכננה דרך התמודדות. תן דוגמה אחת מוחשית, למשל שעומס הלימודים נספג במרווחי הביטחון שתוכננו לפני כל הגשה, ולכן אף מועד לא נדחה.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סגור במסר אחד: הפרויקט הראה שגם בארגון קטן שמנוהל ידנית אפשר למפות תהליך שלם ולתרגם אותו למערכת מידע מלאה. ציין את הלקח האישי המשמעותי ביותר עבורך, למשל שהריאיון עם רואה החשבון שינה את מודל הנתונים, ולכן היה כדאי לתכנן אותו כבר בשלב האיפיון. סיים בהזמנה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4C46"/>
        </a:solidFill>
      </p:bgPr>
    </p:bg>
    <p:spTree>
      <p:nvGrpSpPr>
        <p:cNvPr id="1" name=""/>
        <p:cNvGrpSpPr/>
        <p:nvPr/>
      </p:nvGrpSpPr>
      <p:grpSpPr>
        <a:xfrm>
          <a:off x="0" y="0"/>
          <a:ext cx="0" cy="0"/>
          <a:chOff x="0" y="0"/>
          <a:chExt cx="0" cy="0"/>
        </a:xfrm>
      </p:grpSpPr>
      <p:sp>
        <p:nvSpPr>
          <p:cNvPr id="2" name="Text 0"/>
          <p:cNvSpPr/>
          <p:nvPr/>
        </p:nvSpPr>
        <p:spPr>
          <a:xfrm>
            <a:off x="731520" y="1234440"/>
            <a:ext cx="10725912" cy="1737360"/>
          </a:xfrm>
          <a:prstGeom prst="rect">
            <a:avLst/>
          </a:prstGeom>
          <a:noFill/>
          <a:ln/>
        </p:spPr>
        <p:txBody>
          <a:bodyPr wrap="square"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מערכת מידע לניהול בקשות לקוח,</a:t>
            </a:r>
            <a:endParaRPr lang="en-US" sz="4000" dirty="0"/>
          </a:p>
          <a:p>
            <a:pPr rtl="1" algn="ctr" indent="0" marL="0">
              <a:buNone/>
            </a:pPr>
            <a:r>
              <a:rPr lang="en-US" sz="4000" b="1" dirty="0">
                <a:solidFill>
                  <a:srgbClr val="FFFFFF"/>
                </a:solidFill>
                <a:latin typeface="Arial" pitchFamily="34" charset="0"/>
                <a:ea typeface="Arial" pitchFamily="34" charset="-122"/>
                <a:cs typeface="Arial" pitchFamily="34" charset="-120"/>
              </a:rPr>
              <a:t>שיבוצי עובדים ושכר</a:t>
            </a:r>
            <a:endParaRPr lang="en-US" sz="4000" dirty="0"/>
          </a:p>
        </p:txBody>
      </p:sp>
      <p:sp>
        <p:nvSpPr>
          <p:cNvPr id="3" name="Text 1"/>
          <p:cNvSpPr/>
          <p:nvPr/>
        </p:nvSpPr>
        <p:spPr>
          <a:xfrm>
            <a:off x="731520" y="3017520"/>
            <a:ext cx="10725912" cy="502920"/>
          </a:xfrm>
          <a:prstGeom prst="rect">
            <a:avLst/>
          </a:prstGeom>
          <a:noFill/>
          <a:ln/>
        </p:spPr>
        <p:txBody>
          <a:bodyPr wrap="square" rtlCol="0" anchor="ctr"/>
          <a:lstStyle/>
          <a:p>
            <a:pPr rtl="1" algn="ctr" indent="0" marL="0">
              <a:buNone/>
            </a:pPr>
            <a:r>
              <a:rPr lang="en-US" sz="2000" dirty="0">
                <a:solidFill>
                  <a:srgbClr val="BFE3DC"/>
                </a:solidFill>
                <a:latin typeface="Arial" pitchFamily="34" charset="0"/>
                <a:ea typeface="Arial" pitchFamily="34" charset="-122"/>
                <a:cs typeface="Arial" pitchFamily="34" charset="-120"/>
              </a:rPr>
              <a:t>חברת ס.א הנדסה | שיקום, תיקון ושיפוץ מבנים</a:t>
            </a:r>
            <a:endParaRPr lang="en-US" sz="2000" dirty="0"/>
          </a:p>
        </p:txBody>
      </p:sp>
      <p:sp>
        <p:nvSpPr>
          <p:cNvPr id="4" name="Shape 2"/>
          <p:cNvSpPr/>
          <p:nvPr/>
        </p:nvSpPr>
        <p:spPr>
          <a:xfrm>
            <a:off x="4956048" y="3794760"/>
            <a:ext cx="2286000" cy="0"/>
          </a:xfrm>
          <a:prstGeom prst="line">
            <a:avLst/>
          </a:prstGeom>
          <a:noFill/>
          <a:ln w="31750">
            <a:solidFill>
              <a:srgbClr val="E8862E"/>
            </a:solidFill>
            <a:prstDash val="solid"/>
          </a:ln>
        </p:spPr>
      </p:sp>
      <p:sp>
        <p:nvSpPr>
          <p:cNvPr id="5" name="Text 3"/>
          <p:cNvSpPr/>
          <p:nvPr/>
        </p:nvSpPr>
        <p:spPr>
          <a:xfrm>
            <a:off x="731520" y="4069080"/>
            <a:ext cx="10725912" cy="1371600"/>
          </a:xfrm>
          <a:prstGeom prst="rect">
            <a:avLst/>
          </a:prstGeom>
          <a:noFill/>
          <a:ln/>
        </p:spPr>
        <p:txBody>
          <a:bodyPr wrap="square" rtlCol="0" anchor="ctr"/>
          <a:lstStyle/>
          <a:p>
            <a:pPr algn="ctr" indent="0" marL="0">
              <a:spcAft>
                <a:spcPts val="800"/>
              </a:spcAft>
              <a:buNone/>
            </a:pPr>
            <a:r>
              <a:rPr lang="en-US" sz="1600" dirty="0">
                <a:solidFill>
                  <a:srgbClr val="D9ECE8"/>
                </a:solidFill>
                <a:latin typeface="Arial" pitchFamily="34" charset="0"/>
                <a:ea typeface="Arial" pitchFamily="34" charset="-122"/>
                <a:cs typeface="Arial" pitchFamily="34" charset="-120"/>
              </a:rPr>
              <a:t>מגיש: כאמל עואד, ת.ז 211901368</a:t>
            </a:r>
            <a:endParaRPr lang="en-US" sz="1600" dirty="0"/>
          </a:p>
          <a:p>
            <a:pPr algn="ctr" indent="0" marL="0">
              <a:spcAft>
                <a:spcPts val="800"/>
              </a:spcAft>
              <a:buNone/>
            </a:pPr>
            <a:r>
              <a:rPr lang="en-US" sz="1600" dirty="0">
                <a:solidFill>
                  <a:srgbClr val="D9ECE8"/>
                </a:solidFill>
                <a:latin typeface="Arial" pitchFamily="34" charset="0"/>
                <a:ea typeface="Arial" pitchFamily="34" charset="-122"/>
                <a:cs typeface="Arial" pitchFamily="34" charset="-120"/>
              </a:rPr>
              <a:t>מנחה: ד"ר אלי וינטראוב</a:t>
            </a:r>
            <a:endParaRPr lang="en-US" sz="1600" dirty="0"/>
          </a:p>
          <a:p>
            <a:pPr algn="ctr" indent="0" marL="0">
              <a:spcAft>
                <a:spcPts val="800"/>
              </a:spcAft>
              <a:buNone/>
            </a:pPr>
            <a:r>
              <a:rPr lang="en-US" sz="1600" dirty="0">
                <a:solidFill>
                  <a:srgbClr val="D9ECE8"/>
                </a:solidFill>
                <a:latin typeface="Arial" pitchFamily="34" charset="0"/>
                <a:ea typeface="Arial" pitchFamily="34" charset="-122"/>
                <a:cs typeface="Arial" pitchFamily="34" charset="-120"/>
              </a:rPr>
              <a:t>פרקטיקום בניהול מערכות מידע (105002592), תשפ"ו</a:t>
            </a:r>
            <a:endParaRPr lang="en-US" sz="1600" dirty="0"/>
          </a:p>
        </p:txBody>
      </p:sp>
      <p:sp>
        <p:nvSpPr>
          <p:cNvPr id="6" name="Text 4"/>
          <p:cNvSpPr/>
          <p:nvPr/>
        </p:nvSpPr>
        <p:spPr>
          <a:xfrm>
            <a:off x="731520" y="5806440"/>
            <a:ext cx="10725912" cy="365760"/>
          </a:xfrm>
          <a:prstGeom prst="rect">
            <a:avLst/>
          </a:prstGeom>
          <a:noFill/>
          <a:ln/>
        </p:spPr>
        <p:txBody>
          <a:bodyPr wrap="square" rtlCol="0" anchor="ctr"/>
          <a:lstStyle/>
          <a:p>
            <a:pPr algn="ctr" indent="0" marL="0">
              <a:buNone/>
            </a:pPr>
            <a:r>
              <a:rPr lang="en-US" sz="1400" dirty="0">
                <a:solidFill>
                  <a:srgbClr val="9CC9C1"/>
                </a:solidFill>
                <a:latin typeface="Arial" pitchFamily="34" charset="0"/>
                <a:ea typeface="Arial" pitchFamily="34" charset="-122"/>
                <a:cs typeface="Arial" pitchFamily="34" charset="-120"/>
              </a:rPr>
              <a:t>אוגוסט 2026</a:t>
            </a:r>
            <a:endParaRPr lang="en-US" sz="1400" dirty="0"/>
          </a:p>
        </p:txBody>
      </p:sp>
    </p:spTree>
  </p:cSld>
  <p:clrMapOvr>
    <a:masterClrMapping/>
  </p:clrMapOvr>
  <p:transition spd="slow">
    <p:push dir="l"/>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מבנה ההצגה</a:t>
            </a:r>
            <a:endParaRPr lang="en-US" sz="3000" dirty="0"/>
          </a:p>
        </p:txBody>
      </p:sp>
      <p:sp>
        <p:nvSpPr>
          <p:cNvPr id="3" name="Shape 1"/>
          <p:cNvSpPr/>
          <p:nvPr/>
        </p:nvSpPr>
        <p:spPr>
          <a:xfrm>
            <a:off x="8174736" y="1600200"/>
            <a:ext cx="3511296" cy="1874520"/>
          </a:xfrm>
          <a:prstGeom prst="roundRect">
            <a:avLst>
              <a:gd name="adj" fmla="val 3902"/>
            </a:avLst>
          </a:prstGeom>
          <a:solidFill>
            <a:srgbClr val="EAF4F2"/>
          </a:solidFill>
          <a:ln/>
        </p:spPr>
      </p:sp>
      <p:sp>
        <p:nvSpPr>
          <p:cNvPr id="4" name="Shape 2"/>
          <p:cNvSpPr/>
          <p:nvPr/>
        </p:nvSpPr>
        <p:spPr>
          <a:xfrm>
            <a:off x="11027664" y="1828800"/>
            <a:ext cx="438912" cy="438912"/>
          </a:xfrm>
          <a:prstGeom prst="ellipse">
            <a:avLst/>
          </a:prstGeom>
          <a:solidFill>
            <a:srgbClr val="0F4C46"/>
          </a:solidFill>
          <a:ln/>
        </p:spPr>
      </p:sp>
      <p:sp>
        <p:nvSpPr>
          <p:cNvPr id="5" name="Text 3"/>
          <p:cNvSpPr/>
          <p:nvPr/>
        </p:nvSpPr>
        <p:spPr>
          <a:xfrm>
            <a:off x="11027664" y="181051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8375904" y="1828800"/>
            <a:ext cx="2505456" cy="438912"/>
          </a:xfrm>
          <a:prstGeom prst="rect">
            <a:avLst/>
          </a:prstGeom>
          <a:noFill/>
          <a:ln/>
        </p:spPr>
        <p:txBody>
          <a:bodyPr wrap="square" lIns="0" tIns="0" rIns="0" bIns="0" rtlCol="0" anchor="ctr"/>
          <a:lstStyle/>
          <a:p>
            <a:pPr rtl="1" algn="r" indent="0" marL="0">
              <a:buNone/>
            </a:pPr>
            <a:r>
              <a:rPr lang="en-US" sz="1550" b="1" dirty="0">
                <a:solidFill>
                  <a:srgbClr val="1F2937"/>
                </a:solidFill>
                <a:latin typeface="Arial" pitchFamily="34" charset="0"/>
                <a:ea typeface="Arial" pitchFamily="34" charset="-122"/>
                <a:cs typeface="Arial" pitchFamily="34" charset="-120"/>
              </a:rPr>
              <a:t>הארגון והמצב הקיים</a:t>
            </a:r>
            <a:endParaRPr lang="en-US" sz="1550" dirty="0"/>
          </a:p>
        </p:txBody>
      </p:sp>
      <p:sp>
        <p:nvSpPr>
          <p:cNvPr id="7" name="Text 5"/>
          <p:cNvSpPr/>
          <p:nvPr/>
        </p:nvSpPr>
        <p:spPr>
          <a:xfrm>
            <a:off x="8375904" y="2441448"/>
            <a:ext cx="3108960" cy="868680"/>
          </a:xfrm>
          <a:prstGeom prst="rect">
            <a:avLst/>
          </a:prstGeom>
          <a:noFill/>
          <a:ln/>
        </p:spPr>
        <p:txBody>
          <a:bodyPr wrap="square" lIns="0" tIns="0" rIns="0" bIns="0" rtlCol="0" anchor="t"/>
          <a:lstStyle/>
          <a:p>
            <a:pPr rtl="1" algn="r" indent="0" marL="0">
              <a:buNone/>
            </a:pPr>
            <a:r>
              <a:rPr lang="en-US" sz="1300" dirty="0">
                <a:solidFill>
                  <a:srgbClr val="5B6B68"/>
                </a:solidFill>
                <a:latin typeface="Arial" pitchFamily="34" charset="0"/>
                <a:ea typeface="Arial" pitchFamily="34" charset="-122"/>
                <a:cs typeface="Arial" pitchFamily="34" charset="-120"/>
              </a:rPr>
              <a:t>מי החברה, איך עובדים היום ואילו בעיות זוהו</a:t>
            </a:r>
            <a:endParaRPr lang="en-US" sz="1300" dirty="0"/>
          </a:p>
        </p:txBody>
      </p:sp>
      <p:sp>
        <p:nvSpPr>
          <p:cNvPr id="8" name="Shape 6"/>
          <p:cNvSpPr/>
          <p:nvPr/>
        </p:nvSpPr>
        <p:spPr>
          <a:xfrm>
            <a:off x="4343400" y="1600200"/>
            <a:ext cx="3511296" cy="1874520"/>
          </a:xfrm>
          <a:prstGeom prst="roundRect">
            <a:avLst>
              <a:gd name="adj" fmla="val 3902"/>
            </a:avLst>
          </a:prstGeom>
          <a:solidFill>
            <a:srgbClr val="EAF4F2"/>
          </a:solidFill>
          <a:ln/>
        </p:spPr>
      </p:sp>
      <p:sp>
        <p:nvSpPr>
          <p:cNvPr id="9" name="Shape 7"/>
          <p:cNvSpPr/>
          <p:nvPr/>
        </p:nvSpPr>
        <p:spPr>
          <a:xfrm>
            <a:off x="7196328" y="1828800"/>
            <a:ext cx="438912" cy="438912"/>
          </a:xfrm>
          <a:prstGeom prst="ellipse">
            <a:avLst/>
          </a:prstGeom>
          <a:solidFill>
            <a:srgbClr val="0F4C46"/>
          </a:solidFill>
          <a:ln/>
        </p:spPr>
      </p:sp>
      <p:sp>
        <p:nvSpPr>
          <p:cNvPr id="10" name="Text 8"/>
          <p:cNvSpPr/>
          <p:nvPr/>
        </p:nvSpPr>
        <p:spPr>
          <a:xfrm>
            <a:off x="7196328" y="181051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4544568" y="1828800"/>
            <a:ext cx="2505456" cy="438912"/>
          </a:xfrm>
          <a:prstGeom prst="rect">
            <a:avLst/>
          </a:prstGeom>
          <a:noFill/>
          <a:ln/>
        </p:spPr>
        <p:txBody>
          <a:bodyPr wrap="square" lIns="0" tIns="0" rIns="0" bIns="0" rtlCol="0" anchor="ctr"/>
          <a:lstStyle/>
          <a:p>
            <a:pPr rtl="1" algn="r" indent="0" marL="0">
              <a:buNone/>
            </a:pPr>
            <a:r>
              <a:rPr lang="en-US" sz="1550" b="1" dirty="0">
                <a:solidFill>
                  <a:srgbClr val="1F2937"/>
                </a:solidFill>
                <a:latin typeface="Arial" pitchFamily="34" charset="0"/>
                <a:ea typeface="Arial" pitchFamily="34" charset="-122"/>
                <a:cs typeface="Arial" pitchFamily="34" charset="-120"/>
              </a:rPr>
              <a:t>מטרות, יעדים ותיחום</a:t>
            </a:r>
            <a:endParaRPr lang="en-US" sz="1550" dirty="0"/>
          </a:p>
        </p:txBody>
      </p:sp>
      <p:sp>
        <p:nvSpPr>
          <p:cNvPr id="12" name="Text 10"/>
          <p:cNvSpPr/>
          <p:nvPr/>
        </p:nvSpPr>
        <p:spPr>
          <a:xfrm>
            <a:off x="4544568" y="2441448"/>
            <a:ext cx="3108960" cy="868680"/>
          </a:xfrm>
          <a:prstGeom prst="rect">
            <a:avLst/>
          </a:prstGeom>
          <a:noFill/>
          <a:ln/>
        </p:spPr>
        <p:txBody>
          <a:bodyPr wrap="square" lIns="0" tIns="0" rIns="0" bIns="0" rtlCol="0" anchor="t"/>
          <a:lstStyle/>
          <a:p>
            <a:pPr rtl="1" algn="r" indent="0" marL="0">
              <a:buNone/>
            </a:pPr>
            <a:r>
              <a:rPr lang="en-US" sz="1300" dirty="0">
                <a:solidFill>
                  <a:srgbClr val="5B6B68"/>
                </a:solidFill>
                <a:latin typeface="Arial" pitchFamily="34" charset="0"/>
                <a:ea typeface="Arial" pitchFamily="34" charset="-122"/>
                <a:cs typeface="Arial" pitchFamily="34" charset="-120"/>
              </a:rPr>
              <a:t>מה המערכת אמורה לפתור ומה מחוץ לתחולה</a:t>
            </a:r>
            <a:endParaRPr lang="en-US" sz="1300" dirty="0"/>
          </a:p>
        </p:txBody>
      </p:sp>
      <p:sp>
        <p:nvSpPr>
          <p:cNvPr id="13" name="Shape 11"/>
          <p:cNvSpPr/>
          <p:nvPr/>
        </p:nvSpPr>
        <p:spPr>
          <a:xfrm>
            <a:off x="512064" y="1600200"/>
            <a:ext cx="3511296" cy="1874520"/>
          </a:xfrm>
          <a:prstGeom prst="roundRect">
            <a:avLst>
              <a:gd name="adj" fmla="val 3902"/>
            </a:avLst>
          </a:prstGeom>
          <a:solidFill>
            <a:srgbClr val="EAF4F2"/>
          </a:solidFill>
          <a:ln/>
        </p:spPr>
      </p:sp>
      <p:sp>
        <p:nvSpPr>
          <p:cNvPr id="14" name="Shape 12"/>
          <p:cNvSpPr/>
          <p:nvPr/>
        </p:nvSpPr>
        <p:spPr>
          <a:xfrm>
            <a:off x="3364992" y="1828800"/>
            <a:ext cx="438912" cy="438912"/>
          </a:xfrm>
          <a:prstGeom prst="ellipse">
            <a:avLst/>
          </a:prstGeom>
          <a:solidFill>
            <a:srgbClr val="0F4C46"/>
          </a:solidFill>
          <a:ln/>
        </p:spPr>
      </p:sp>
      <p:sp>
        <p:nvSpPr>
          <p:cNvPr id="15" name="Text 13"/>
          <p:cNvSpPr/>
          <p:nvPr/>
        </p:nvSpPr>
        <p:spPr>
          <a:xfrm>
            <a:off x="3364992" y="181051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p:nvPr/>
        </p:nvSpPr>
        <p:spPr>
          <a:xfrm>
            <a:off x="713232" y="1828800"/>
            <a:ext cx="2505456" cy="438912"/>
          </a:xfrm>
          <a:prstGeom prst="rect">
            <a:avLst/>
          </a:prstGeom>
          <a:noFill/>
          <a:ln/>
        </p:spPr>
        <p:txBody>
          <a:bodyPr wrap="square" lIns="0" tIns="0" rIns="0" bIns="0" rtlCol="0" anchor="ctr"/>
          <a:lstStyle/>
          <a:p>
            <a:pPr rtl="1" algn="r" indent="0" marL="0">
              <a:buNone/>
            </a:pPr>
            <a:r>
              <a:rPr lang="en-US" sz="1550" b="1" dirty="0">
                <a:solidFill>
                  <a:srgbClr val="1F2937"/>
                </a:solidFill>
                <a:latin typeface="Arial" pitchFamily="34" charset="0"/>
                <a:ea typeface="Arial" pitchFamily="34" charset="-122"/>
                <a:cs typeface="Arial" pitchFamily="34" charset="-120"/>
              </a:rPr>
              <a:t>מתודולוגיה ותוכנית עבודה</a:t>
            </a:r>
            <a:endParaRPr lang="en-US" sz="1550" dirty="0"/>
          </a:p>
        </p:txBody>
      </p:sp>
      <p:sp>
        <p:nvSpPr>
          <p:cNvPr id="17" name="Text 15"/>
          <p:cNvSpPr/>
          <p:nvPr/>
        </p:nvSpPr>
        <p:spPr>
          <a:xfrm>
            <a:off x="713232" y="2441448"/>
            <a:ext cx="3108960" cy="868680"/>
          </a:xfrm>
          <a:prstGeom prst="rect">
            <a:avLst/>
          </a:prstGeom>
          <a:noFill/>
          <a:ln/>
        </p:spPr>
        <p:txBody>
          <a:bodyPr wrap="square" lIns="0" tIns="0" rIns="0" bIns="0" rtlCol="0" anchor="t"/>
          <a:lstStyle/>
          <a:p>
            <a:pPr rtl="1" algn="r" indent="0" marL="0">
              <a:buNone/>
            </a:pPr>
            <a:r>
              <a:rPr lang="en-US" sz="1300" dirty="0">
                <a:solidFill>
                  <a:srgbClr val="5B6B68"/>
                </a:solidFill>
                <a:latin typeface="Arial" pitchFamily="34" charset="0"/>
                <a:ea typeface="Arial" pitchFamily="34" charset="-122"/>
                <a:cs typeface="Arial" pitchFamily="34" charset="-120"/>
              </a:rPr>
              <a:t>מודל הביצוע, שיטות איסוף המידע ותרשים הגאנט</a:t>
            </a:r>
            <a:endParaRPr lang="en-US" sz="1300" dirty="0"/>
          </a:p>
        </p:txBody>
      </p:sp>
      <p:sp>
        <p:nvSpPr>
          <p:cNvPr id="18" name="Shape 16"/>
          <p:cNvSpPr/>
          <p:nvPr/>
        </p:nvSpPr>
        <p:spPr>
          <a:xfrm>
            <a:off x="8174736" y="3840480"/>
            <a:ext cx="3511296" cy="1874520"/>
          </a:xfrm>
          <a:prstGeom prst="roundRect">
            <a:avLst>
              <a:gd name="adj" fmla="val 3902"/>
            </a:avLst>
          </a:prstGeom>
          <a:solidFill>
            <a:srgbClr val="EAF4F2"/>
          </a:solidFill>
          <a:ln/>
        </p:spPr>
      </p:sp>
      <p:sp>
        <p:nvSpPr>
          <p:cNvPr id="19" name="Shape 17"/>
          <p:cNvSpPr/>
          <p:nvPr/>
        </p:nvSpPr>
        <p:spPr>
          <a:xfrm>
            <a:off x="11027664" y="4069080"/>
            <a:ext cx="438912" cy="438912"/>
          </a:xfrm>
          <a:prstGeom prst="ellipse">
            <a:avLst/>
          </a:prstGeom>
          <a:solidFill>
            <a:srgbClr val="0F4C46"/>
          </a:solidFill>
          <a:ln/>
        </p:spPr>
      </p:sp>
      <p:sp>
        <p:nvSpPr>
          <p:cNvPr id="20" name="Text 18"/>
          <p:cNvSpPr/>
          <p:nvPr/>
        </p:nvSpPr>
        <p:spPr>
          <a:xfrm>
            <a:off x="11027664" y="405079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1" name="Text 19"/>
          <p:cNvSpPr/>
          <p:nvPr/>
        </p:nvSpPr>
        <p:spPr>
          <a:xfrm>
            <a:off x="8375904" y="4069080"/>
            <a:ext cx="2505456" cy="438912"/>
          </a:xfrm>
          <a:prstGeom prst="rect">
            <a:avLst/>
          </a:prstGeom>
          <a:noFill/>
          <a:ln/>
        </p:spPr>
        <p:txBody>
          <a:bodyPr wrap="square" lIns="0" tIns="0" rIns="0" bIns="0" rtlCol="0" anchor="ctr"/>
          <a:lstStyle/>
          <a:p>
            <a:pPr rtl="1" algn="r" indent="0" marL="0">
              <a:buNone/>
            </a:pPr>
            <a:r>
              <a:rPr lang="en-US" sz="1550" b="1" dirty="0">
                <a:solidFill>
                  <a:srgbClr val="1F2937"/>
                </a:solidFill>
                <a:latin typeface="Arial" pitchFamily="34" charset="0"/>
                <a:ea typeface="Arial" pitchFamily="34" charset="-122"/>
                <a:cs typeface="Arial" pitchFamily="34" charset="-120"/>
              </a:rPr>
              <a:t>תוצרי שלב האיפיון</a:t>
            </a:r>
            <a:endParaRPr lang="en-US" sz="1550" dirty="0"/>
          </a:p>
        </p:txBody>
      </p:sp>
      <p:sp>
        <p:nvSpPr>
          <p:cNvPr id="22" name="Text 20"/>
          <p:cNvSpPr/>
          <p:nvPr/>
        </p:nvSpPr>
        <p:spPr>
          <a:xfrm>
            <a:off x="8375904" y="4681728"/>
            <a:ext cx="3108960" cy="868680"/>
          </a:xfrm>
          <a:prstGeom prst="rect">
            <a:avLst/>
          </a:prstGeom>
          <a:noFill/>
          <a:ln/>
        </p:spPr>
        <p:txBody>
          <a:bodyPr wrap="square" lIns="0" tIns="0" rIns="0" bIns="0" rtlCol="0" anchor="t"/>
          <a:lstStyle/>
          <a:p>
            <a:pPr rtl="1" algn="r" indent="0" marL="0">
              <a:buNone/>
            </a:pPr>
            <a:r>
              <a:rPr lang="en-US" sz="1300" dirty="0">
                <a:solidFill>
                  <a:srgbClr val="5B6B68"/>
                </a:solidFill>
                <a:latin typeface="Arial" pitchFamily="34" charset="0"/>
                <a:ea typeface="Arial" pitchFamily="34" charset="-122"/>
                <a:cs typeface="Arial" pitchFamily="34" charset="-120"/>
              </a:rPr>
              <a:t>תהליכים, מבנה וסביבת המערכת, DFD ו-ERD</a:t>
            </a:r>
            <a:endParaRPr lang="en-US" sz="1300" dirty="0"/>
          </a:p>
        </p:txBody>
      </p:sp>
      <p:sp>
        <p:nvSpPr>
          <p:cNvPr id="23" name="Shape 21"/>
          <p:cNvSpPr/>
          <p:nvPr/>
        </p:nvSpPr>
        <p:spPr>
          <a:xfrm>
            <a:off x="4343400" y="3840480"/>
            <a:ext cx="3511296" cy="1874520"/>
          </a:xfrm>
          <a:prstGeom prst="roundRect">
            <a:avLst>
              <a:gd name="adj" fmla="val 3902"/>
            </a:avLst>
          </a:prstGeom>
          <a:solidFill>
            <a:srgbClr val="EAF4F2"/>
          </a:solidFill>
          <a:ln/>
        </p:spPr>
      </p:sp>
      <p:sp>
        <p:nvSpPr>
          <p:cNvPr id="24" name="Shape 22"/>
          <p:cNvSpPr/>
          <p:nvPr/>
        </p:nvSpPr>
        <p:spPr>
          <a:xfrm>
            <a:off x="7196328" y="4069080"/>
            <a:ext cx="438912" cy="438912"/>
          </a:xfrm>
          <a:prstGeom prst="ellipse">
            <a:avLst/>
          </a:prstGeom>
          <a:solidFill>
            <a:srgbClr val="0F4C46"/>
          </a:solidFill>
          <a:ln/>
        </p:spPr>
      </p:sp>
      <p:sp>
        <p:nvSpPr>
          <p:cNvPr id="25" name="Text 23"/>
          <p:cNvSpPr/>
          <p:nvPr/>
        </p:nvSpPr>
        <p:spPr>
          <a:xfrm>
            <a:off x="7196328" y="405079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4"/>
          <p:cNvSpPr/>
          <p:nvPr/>
        </p:nvSpPr>
        <p:spPr>
          <a:xfrm>
            <a:off x="4544568" y="4069080"/>
            <a:ext cx="2505456" cy="438912"/>
          </a:xfrm>
          <a:prstGeom prst="rect">
            <a:avLst/>
          </a:prstGeom>
          <a:noFill/>
          <a:ln/>
        </p:spPr>
        <p:txBody>
          <a:bodyPr wrap="square" lIns="0" tIns="0" rIns="0" bIns="0" rtlCol="0" anchor="ctr"/>
          <a:lstStyle/>
          <a:p>
            <a:pPr rtl="1" algn="r" indent="0" marL="0">
              <a:buNone/>
            </a:pPr>
            <a:r>
              <a:rPr lang="en-US" sz="1550" b="1" dirty="0">
                <a:solidFill>
                  <a:srgbClr val="1F2937"/>
                </a:solidFill>
                <a:latin typeface="Arial" pitchFamily="34" charset="0"/>
                <a:ea typeface="Arial" pitchFamily="34" charset="-122"/>
                <a:cs typeface="Arial" pitchFamily="34" charset="-120"/>
              </a:rPr>
              <a:t>תוצרי שלב העיצוב</a:t>
            </a:r>
            <a:endParaRPr lang="en-US" sz="1550" dirty="0"/>
          </a:p>
        </p:txBody>
      </p:sp>
      <p:sp>
        <p:nvSpPr>
          <p:cNvPr id="27" name="Text 25"/>
          <p:cNvSpPr/>
          <p:nvPr/>
        </p:nvSpPr>
        <p:spPr>
          <a:xfrm>
            <a:off x="4544568" y="4681728"/>
            <a:ext cx="3108960" cy="868680"/>
          </a:xfrm>
          <a:prstGeom prst="rect">
            <a:avLst/>
          </a:prstGeom>
          <a:noFill/>
          <a:ln/>
        </p:spPr>
        <p:txBody>
          <a:bodyPr wrap="square" lIns="0" tIns="0" rIns="0" bIns="0" rtlCol="0" anchor="t"/>
          <a:lstStyle/>
          <a:p>
            <a:pPr rtl="1" algn="r" indent="0" marL="0">
              <a:buNone/>
            </a:pPr>
            <a:r>
              <a:rPr lang="en-US" sz="1300" dirty="0">
                <a:solidFill>
                  <a:srgbClr val="5B6B68"/>
                </a:solidFill>
                <a:latin typeface="Arial" pitchFamily="34" charset="0"/>
                <a:ea typeface="Arial" pitchFamily="34" charset="-122"/>
                <a:cs typeface="Arial" pitchFamily="34" charset="-120"/>
              </a:rPr>
              <a:t>טבלאות ומפתחות, ממשקים, עץ תפריטים ומסכים</a:t>
            </a:r>
            <a:endParaRPr lang="en-US" sz="1300" dirty="0"/>
          </a:p>
        </p:txBody>
      </p:sp>
      <p:sp>
        <p:nvSpPr>
          <p:cNvPr id="28" name="Shape 26"/>
          <p:cNvSpPr/>
          <p:nvPr/>
        </p:nvSpPr>
        <p:spPr>
          <a:xfrm>
            <a:off x="512064" y="3840480"/>
            <a:ext cx="3511296" cy="1874520"/>
          </a:xfrm>
          <a:prstGeom prst="roundRect">
            <a:avLst>
              <a:gd name="adj" fmla="val 3902"/>
            </a:avLst>
          </a:prstGeom>
          <a:solidFill>
            <a:srgbClr val="EAF4F2"/>
          </a:solidFill>
          <a:ln/>
        </p:spPr>
      </p:sp>
      <p:sp>
        <p:nvSpPr>
          <p:cNvPr id="29" name="Shape 27"/>
          <p:cNvSpPr/>
          <p:nvPr/>
        </p:nvSpPr>
        <p:spPr>
          <a:xfrm>
            <a:off x="3364992" y="4069080"/>
            <a:ext cx="438912" cy="438912"/>
          </a:xfrm>
          <a:prstGeom prst="ellipse">
            <a:avLst/>
          </a:prstGeom>
          <a:solidFill>
            <a:srgbClr val="0F4C46"/>
          </a:solidFill>
          <a:ln/>
        </p:spPr>
      </p:sp>
      <p:sp>
        <p:nvSpPr>
          <p:cNvPr id="30" name="Text 28"/>
          <p:cNvSpPr/>
          <p:nvPr/>
        </p:nvSpPr>
        <p:spPr>
          <a:xfrm>
            <a:off x="3364992" y="405079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1" name="Text 29"/>
          <p:cNvSpPr/>
          <p:nvPr/>
        </p:nvSpPr>
        <p:spPr>
          <a:xfrm>
            <a:off x="713232" y="4069080"/>
            <a:ext cx="2505456" cy="438912"/>
          </a:xfrm>
          <a:prstGeom prst="rect">
            <a:avLst/>
          </a:prstGeom>
          <a:noFill/>
          <a:ln/>
        </p:spPr>
        <p:txBody>
          <a:bodyPr wrap="square" lIns="0" tIns="0" rIns="0" bIns="0" rtlCol="0" anchor="ctr"/>
          <a:lstStyle/>
          <a:p>
            <a:pPr rtl="1" algn="r" indent="0" marL="0">
              <a:buNone/>
            </a:pPr>
            <a:r>
              <a:rPr lang="en-US" sz="1550" b="1" dirty="0">
                <a:solidFill>
                  <a:srgbClr val="1F2937"/>
                </a:solidFill>
                <a:latin typeface="Arial" pitchFamily="34" charset="0"/>
                <a:ea typeface="Arial" pitchFamily="34" charset="-122"/>
                <a:cs typeface="Arial" pitchFamily="34" charset="-120"/>
              </a:rPr>
              <a:t>מסקנות והמלצות</a:t>
            </a:r>
            <a:endParaRPr lang="en-US" sz="1550" dirty="0"/>
          </a:p>
        </p:txBody>
      </p:sp>
      <p:sp>
        <p:nvSpPr>
          <p:cNvPr id="32" name="Text 30"/>
          <p:cNvSpPr/>
          <p:nvPr/>
        </p:nvSpPr>
        <p:spPr>
          <a:xfrm>
            <a:off x="713232" y="4681728"/>
            <a:ext cx="3108960" cy="868680"/>
          </a:xfrm>
          <a:prstGeom prst="rect">
            <a:avLst/>
          </a:prstGeom>
          <a:noFill/>
          <a:ln/>
        </p:spPr>
        <p:txBody>
          <a:bodyPr wrap="square" lIns="0" tIns="0" rIns="0" bIns="0" rtlCol="0" anchor="t"/>
          <a:lstStyle/>
          <a:p>
            <a:pPr rtl="1" algn="r" indent="0" marL="0">
              <a:buNone/>
            </a:pPr>
            <a:r>
              <a:rPr lang="en-US" sz="1300" dirty="0">
                <a:solidFill>
                  <a:srgbClr val="5B6B68"/>
                </a:solidFill>
                <a:latin typeface="Arial" pitchFamily="34" charset="0"/>
                <a:ea typeface="Arial" pitchFamily="34" charset="-122"/>
                <a:cs typeface="Arial" pitchFamily="34" charset="-120"/>
              </a:rPr>
              <a:t>מה נלמד ומה מומלץ להמשך</a:t>
            </a:r>
            <a:endParaRPr lang="en-US" sz="1300" dirty="0"/>
          </a:p>
        </p:txBody>
      </p:sp>
      <p:sp>
        <p:nvSpPr>
          <p:cNvPr id="33" name="Text 31"/>
          <p:cNvSpPr/>
          <p:nvPr/>
        </p:nvSpPr>
        <p:spPr>
          <a:xfrm>
            <a:off x="502920" y="5943600"/>
            <a:ext cx="11183112" cy="365760"/>
          </a:xfrm>
          <a:prstGeom prst="rect">
            <a:avLst/>
          </a:prstGeom>
          <a:noFill/>
          <a:ln/>
        </p:spPr>
        <p:txBody>
          <a:bodyPr wrap="square" lIns="0" tIns="0" rIns="0" bIns="0" rtlCol="0" anchor="ctr"/>
          <a:lstStyle/>
          <a:p>
            <a:pPr rtl="1" algn="r" indent="0" marL="0">
              <a:buNone/>
            </a:pPr>
            <a:r>
              <a:rPr lang="en-US" sz="1300" i="1" dirty="0">
                <a:solidFill>
                  <a:srgbClr val="5B6B68"/>
                </a:solidFill>
                <a:latin typeface="Arial" pitchFamily="34" charset="0"/>
                <a:ea typeface="Arial" pitchFamily="34" charset="-122"/>
                <a:cs typeface="Arial" pitchFamily="34" charset="-120"/>
              </a:rPr>
              <a:t>ההצגה עוקבת אחר סדר הפרקים בתיק הפרויקט, בקיצור המתאים למסגרת הזמן</a:t>
            </a:r>
            <a:endParaRPr lang="en-US" sz="1300" dirty="0"/>
          </a:p>
        </p:txBody>
      </p:sp>
      <p:sp>
        <p:nvSpPr>
          <p:cNvPr id="34" name="Text 32"/>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2</a:t>
            </a:r>
            <a:endParaRPr lang="en-US" sz="1000" dirty="0"/>
          </a:p>
        </p:txBody>
      </p:sp>
      <p:sp>
        <p:nvSpPr>
          <p:cNvPr id="35" name="Text 33"/>
          <p:cNvSpPr/>
          <p:nvPr/>
        </p:nvSpPr>
        <p:spPr>
          <a:xfrm>
            <a:off x="320040" y="6400800"/>
            <a:ext cx="5120640" cy="274320"/>
          </a:xfrm>
          <a:prstGeom prst="rect">
            <a:avLst/>
          </a:prstGeom>
          <a:noFill/>
          <a:ln/>
        </p:spPr>
        <p:txBody>
          <a:bodyPr wrap="square" lIns="0" tIns="0" rIns="0" bIns="0" rtlCol="0" anchor="ctr"/>
          <a:lstStyle/>
          <a:p>
            <a:pPr rtl="1" algn="l" indent="0" marL="0">
              <a:buNone/>
            </a:pPr>
            <a:r>
              <a:rPr lang="en-US" sz="900" dirty="0">
                <a:solidFill>
                  <a:srgbClr val="9AA7A4"/>
                </a:solidFill>
                <a:latin typeface="Arial" pitchFamily="34" charset="0"/>
                <a:ea typeface="Arial" pitchFamily="34" charset="-122"/>
                <a:cs typeface="Arial" pitchFamily="34" charset="-120"/>
              </a:rPr>
              <a:t>פרקטיקום בניהול מערכות מידע, תשפ"ו | ס.א הנדסה | כאמל עואד</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הארגון: ס.א הנדסה</a:t>
            </a:r>
            <a:endParaRPr lang="en-US" sz="3000" dirty="0"/>
          </a:p>
        </p:txBody>
      </p:sp>
      <p:pic>
        <p:nvPicPr>
          <p:cNvPr id="3" name="Image 0" descr="orig/media/image.jpg">    </p:cNvPr>
          <p:cNvPicPr>
            <a:picLocks noChangeAspect="1"/>
          </p:cNvPicPr>
          <p:nvPr/>
        </p:nvPicPr>
        <p:blipFill>
          <a:blip r:embed="rId1"/>
          <a:stretch>
            <a:fillRect/>
          </a:stretch>
        </p:blipFill>
        <p:spPr>
          <a:xfrm>
            <a:off x="502920" y="1234440"/>
            <a:ext cx="4206240" cy="4983480"/>
          </a:xfrm>
          <a:prstGeom prst="ellipse">
            <a:avLst/>
          </a:prstGeom>
        </p:spPr>
      </p:pic>
      <p:sp>
        <p:nvSpPr>
          <p:cNvPr id="4" name="Text 1"/>
          <p:cNvSpPr/>
          <p:nvPr/>
        </p:nvSpPr>
        <p:spPr>
          <a:xfrm>
            <a:off x="502920" y="6263640"/>
            <a:ext cx="4206240" cy="320040"/>
          </a:xfrm>
          <a:prstGeom prst="rect">
            <a:avLst/>
          </a:prstGeom>
          <a:noFill/>
          <a:ln/>
        </p:spPr>
        <p:txBody>
          <a:bodyPr wrap="square" rtlCol="0" anchor="ctr"/>
          <a:lstStyle/>
          <a:p>
            <a:pPr rtl="1" algn="ctr" indent="0" marL="0">
              <a:buNone/>
            </a:pPr>
            <a:r>
              <a:rPr lang="en-US" sz="1100" i="1" dirty="0">
                <a:solidFill>
                  <a:srgbClr val="5B6B68"/>
                </a:solidFill>
                <a:latin typeface="Arial" pitchFamily="34" charset="0"/>
                <a:ea typeface="Arial" pitchFamily="34" charset="-122"/>
                <a:cs typeface="Arial" pitchFamily="34" charset="-120"/>
              </a:rPr>
              <a:t>נזק מבני לאחר שריפה, מאתרי העבודה של החברה</a:t>
            </a:r>
            <a:endParaRPr lang="en-US" sz="1100" dirty="0"/>
          </a:p>
        </p:txBody>
      </p:sp>
      <p:sp>
        <p:nvSpPr>
          <p:cNvPr id="5" name="Shape 2"/>
          <p:cNvSpPr/>
          <p:nvPr/>
        </p:nvSpPr>
        <p:spPr>
          <a:xfrm>
            <a:off x="5029200" y="1280160"/>
            <a:ext cx="6656832" cy="1115568"/>
          </a:xfrm>
          <a:prstGeom prst="roundRect">
            <a:avLst>
              <a:gd name="adj" fmla="val 6557"/>
            </a:avLst>
          </a:prstGeom>
          <a:solidFill>
            <a:srgbClr val="EAF4F2"/>
          </a:solidFill>
          <a:ln/>
        </p:spPr>
      </p:sp>
      <p:sp>
        <p:nvSpPr>
          <p:cNvPr id="6" name="Text 3"/>
          <p:cNvSpPr/>
          <p:nvPr/>
        </p:nvSpPr>
        <p:spPr>
          <a:xfrm>
            <a:off x="9052560" y="1389888"/>
            <a:ext cx="2487168" cy="365760"/>
          </a:xfrm>
          <a:prstGeom prst="rect">
            <a:avLst/>
          </a:prstGeom>
          <a:noFill/>
          <a:ln/>
        </p:spPr>
        <p:txBody>
          <a:bodyPr wrap="square" lIns="762" tIns="762" rIns="762" bIns="762" rtlCol="0" anchor="ctr"/>
          <a:lstStyle/>
          <a:p>
            <a:pPr rtl="1" algn="r" indent="0" marL="0">
              <a:buNone/>
            </a:pPr>
            <a:r>
              <a:rPr lang="en-US" sz="1600" b="1" dirty="0">
                <a:solidFill>
                  <a:srgbClr val="0F4C46"/>
                </a:solidFill>
                <a:latin typeface="Arial" pitchFamily="34" charset="0"/>
                <a:ea typeface="Arial" pitchFamily="34" charset="-122"/>
                <a:cs typeface="Arial" pitchFamily="34" charset="-120"/>
              </a:rPr>
              <a:t>מה החברה עושה</a:t>
            </a:r>
            <a:endParaRPr lang="en-US" sz="1600" dirty="0"/>
          </a:p>
        </p:txBody>
      </p:sp>
      <p:sp>
        <p:nvSpPr>
          <p:cNvPr id="7" name="Text 4"/>
          <p:cNvSpPr/>
          <p:nvPr/>
        </p:nvSpPr>
        <p:spPr>
          <a:xfrm>
            <a:off x="5166360" y="1737360"/>
            <a:ext cx="6382512" cy="603504"/>
          </a:xfrm>
          <a:prstGeom prst="rect">
            <a:avLst/>
          </a:prstGeom>
          <a:noFill/>
          <a:ln/>
        </p:spPr>
        <p:txBody>
          <a:bodyPr wrap="square" lIns="762" tIns="762" rIns="762" bIns="762" rtlCol="0" anchor="t"/>
          <a:lstStyle/>
          <a:p>
            <a:pPr rtl="1" algn="r" indent="0" marL="0">
              <a:buNone/>
            </a:pPr>
            <a:r>
              <a:rPr lang="en-US" sz="1300" dirty="0">
                <a:solidFill>
                  <a:srgbClr val="1F2937"/>
                </a:solidFill>
                <a:latin typeface="Arial" pitchFamily="34" charset="0"/>
                <a:ea typeface="Arial" pitchFamily="34" charset="-122"/>
                <a:cs typeface="Arial" pitchFamily="34" charset="-120"/>
              </a:rPr>
              <a:t>שיקום ותיקון מבנים שנפגעו משריפות, נזקי מים, פגיעות טילים; שיפוצים כלליים ופירוק אסבסט מוסמך</a:t>
            </a:r>
            <a:endParaRPr lang="en-US" sz="1300" dirty="0"/>
          </a:p>
        </p:txBody>
      </p:sp>
      <p:sp>
        <p:nvSpPr>
          <p:cNvPr id="8" name="Shape 5"/>
          <p:cNvSpPr/>
          <p:nvPr/>
        </p:nvSpPr>
        <p:spPr>
          <a:xfrm>
            <a:off x="5029200" y="2542032"/>
            <a:ext cx="6656832" cy="1115568"/>
          </a:xfrm>
          <a:prstGeom prst="roundRect">
            <a:avLst>
              <a:gd name="adj" fmla="val 6557"/>
            </a:avLst>
          </a:prstGeom>
          <a:solidFill>
            <a:srgbClr val="EAF4F2"/>
          </a:solidFill>
          <a:ln/>
        </p:spPr>
      </p:sp>
      <p:sp>
        <p:nvSpPr>
          <p:cNvPr id="9" name="Text 6"/>
          <p:cNvSpPr/>
          <p:nvPr/>
        </p:nvSpPr>
        <p:spPr>
          <a:xfrm>
            <a:off x="9052560" y="2651760"/>
            <a:ext cx="2487168" cy="365760"/>
          </a:xfrm>
          <a:prstGeom prst="rect">
            <a:avLst/>
          </a:prstGeom>
          <a:noFill/>
          <a:ln/>
        </p:spPr>
        <p:txBody>
          <a:bodyPr wrap="square" lIns="762" tIns="762" rIns="762" bIns="762" rtlCol="0" anchor="ctr"/>
          <a:lstStyle/>
          <a:p>
            <a:pPr rtl="1" algn="r" indent="0" marL="0">
              <a:buNone/>
            </a:pPr>
            <a:r>
              <a:rPr lang="en-US" sz="1600" b="1" dirty="0">
                <a:solidFill>
                  <a:srgbClr val="0F4C46"/>
                </a:solidFill>
                <a:latin typeface="Arial" pitchFamily="34" charset="0"/>
                <a:ea typeface="Arial" pitchFamily="34" charset="-122"/>
                <a:cs typeface="Arial" pitchFamily="34" charset="-120"/>
              </a:rPr>
              <a:t>זמינות</a:t>
            </a:r>
            <a:endParaRPr lang="en-US" sz="1600" dirty="0"/>
          </a:p>
        </p:txBody>
      </p:sp>
      <p:sp>
        <p:nvSpPr>
          <p:cNvPr id="10" name="Text 7"/>
          <p:cNvSpPr/>
          <p:nvPr/>
        </p:nvSpPr>
        <p:spPr>
          <a:xfrm>
            <a:off x="5166360" y="2999232"/>
            <a:ext cx="6382512" cy="603504"/>
          </a:xfrm>
          <a:prstGeom prst="rect">
            <a:avLst/>
          </a:prstGeom>
          <a:noFill/>
          <a:ln/>
        </p:spPr>
        <p:txBody>
          <a:bodyPr wrap="square" lIns="762" tIns="762" rIns="762" bIns="762" rtlCol="0" anchor="t"/>
          <a:lstStyle/>
          <a:p>
            <a:pPr rtl="1" algn="r" indent="0" marL="0">
              <a:buNone/>
            </a:pPr>
            <a:r>
              <a:rPr lang="en-US" sz="1300" dirty="0">
                <a:solidFill>
                  <a:srgbClr val="1F2937"/>
                </a:solidFill>
                <a:latin typeface="Arial" pitchFamily="34" charset="0"/>
                <a:ea typeface="Arial" pitchFamily="34" charset="-122"/>
                <a:cs typeface="Arial" pitchFamily="34" charset="-120"/>
              </a:rPr>
              <a:t>מענה חירום 24/7: צוות ראשוני יוצא לאתר מיד עם קבלת הדיווח</a:t>
            </a:r>
            <a:endParaRPr lang="en-US" sz="1300" dirty="0"/>
          </a:p>
        </p:txBody>
      </p:sp>
      <p:sp>
        <p:nvSpPr>
          <p:cNvPr id="11" name="Shape 8"/>
          <p:cNvSpPr/>
          <p:nvPr/>
        </p:nvSpPr>
        <p:spPr>
          <a:xfrm>
            <a:off x="5029200" y="3803904"/>
            <a:ext cx="6656832" cy="1115568"/>
          </a:xfrm>
          <a:prstGeom prst="roundRect">
            <a:avLst>
              <a:gd name="adj" fmla="val 6557"/>
            </a:avLst>
          </a:prstGeom>
          <a:solidFill>
            <a:srgbClr val="EAF4F2"/>
          </a:solidFill>
          <a:ln/>
        </p:spPr>
      </p:sp>
      <p:sp>
        <p:nvSpPr>
          <p:cNvPr id="12" name="Text 9"/>
          <p:cNvSpPr/>
          <p:nvPr/>
        </p:nvSpPr>
        <p:spPr>
          <a:xfrm>
            <a:off x="9052560" y="3913632"/>
            <a:ext cx="2487168" cy="365760"/>
          </a:xfrm>
          <a:prstGeom prst="rect">
            <a:avLst/>
          </a:prstGeom>
          <a:noFill/>
          <a:ln/>
        </p:spPr>
        <p:txBody>
          <a:bodyPr wrap="square" lIns="762" tIns="762" rIns="762" bIns="762" rtlCol="0" anchor="ctr"/>
          <a:lstStyle/>
          <a:p>
            <a:pPr rtl="1" algn="r" indent="0" marL="0">
              <a:buNone/>
            </a:pPr>
            <a:r>
              <a:rPr lang="en-US" sz="1600" b="1" dirty="0">
                <a:solidFill>
                  <a:srgbClr val="0F4C46"/>
                </a:solidFill>
                <a:latin typeface="Arial" pitchFamily="34" charset="0"/>
                <a:ea typeface="Arial" pitchFamily="34" charset="-122"/>
                <a:cs typeface="Arial" pitchFamily="34" charset="-120"/>
              </a:rPr>
              <a:t>לקוחות</a:t>
            </a:r>
            <a:endParaRPr lang="en-US" sz="1600" dirty="0"/>
          </a:p>
        </p:txBody>
      </p:sp>
      <p:sp>
        <p:nvSpPr>
          <p:cNvPr id="13" name="Text 10"/>
          <p:cNvSpPr/>
          <p:nvPr/>
        </p:nvSpPr>
        <p:spPr>
          <a:xfrm>
            <a:off x="5166360" y="4261104"/>
            <a:ext cx="6382512" cy="603504"/>
          </a:xfrm>
          <a:prstGeom prst="rect">
            <a:avLst/>
          </a:prstGeom>
          <a:noFill/>
          <a:ln/>
        </p:spPr>
        <p:txBody>
          <a:bodyPr wrap="square" lIns="762" tIns="762" rIns="762" bIns="762" rtlCol="0" anchor="t"/>
          <a:lstStyle/>
          <a:p>
            <a:pPr rtl="1" algn="r" indent="0" marL="0">
              <a:buNone/>
            </a:pPr>
            <a:r>
              <a:rPr lang="en-US" sz="1300" dirty="0">
                <a:solidFill>
                  <a:srgbClr val="1F2937"/>
                </a:solidFill>
                <a:latin typeface="Arial" pitchFamily="34" charset="0"/>
                <a:ea typeface="Arial" pitchFamily="34" charset="-122"/>
                <a:cs typeface="Arial" pitchFamily="34" charset="-120"/>
              </a:rPr>
              <a:t>לקוחות פרטיים, עסקים, ועדי בתים וחברות ביטוח</a:t>
            </a:r>
            <a:endParaRPr lang="en-US" sz="1300" dirty="0"/>
          </a:p>
        </p:txBody>
      </p:sp>
      <p:sp>
        <p:nvSpPr>
          <p:cNvPr id="14" name="Shape 11"/>
          <p:cNvSpPr/>
          <p:nvPr/>
        </p:nvSpPr>
        <p:spPr>
          <a:xfrm>
            <a:off x="5029200" y="5065776"/>
            <a:ext cx="6656832" cy="1115568"/>
          </a:xfrm>
          <a:prstGeom prst="roundRect">
            <a:avLst>
              <a:gd name="adj" fmla="val 6557"/>
            </a:avLst>
          </a:prstGeom>
          <a:solidFill>
            <a:srgbClr val="EAF4F2"/>
          </a:solidFill>
          <a:ln/>
        </p:spPr>
      </p:sp>
      <p:sp>
        <p:nvSpPr>
          <p:cNvPr id="15" name="Text 12"/>
          <p:cNvSpPr/>
          <p:nvPr/>
        </p:nvSpPr>
        <p:spPr>
          <a:xfrm>
            <a:off x="9052560" y="5175504"/>
            <a:ext cx="2487168" cy="365760"/>
          </a:xfrm>
          <a:prstGeom prst="rect">
            <a:avLst/>
          </a:prstGeom>
          <a:noFill/>
          <a:ln/>
        </p:spPr>
        <p:txBody>
          <a:bodyPr wrap="square" lIns="762" tIns="762" rIns="762" bIns="762" rtlCol="0" anchor="ctr"/>
          <a:lstStyle/>
          <a:p>
            <a:pPr rtl="1" algn="r" indent="0" marL="0">
              <a:buNone/>
            </a:pPr>
            <a:r>
              <a:rPr lang="en-US" sz="1600" b="1" dirty="0">
                <a:solidFill>
                  <a:srgbClr val="0F4C46"/>
                </a:solidFill>
                <a:latin typeface="Arial" pitchFamily="34" charset="0"/>
                <a:ea typeface="Arial" pitchFamily="34" charset="-122"/>
                <a:cs typeface="Arial" pitchFamily="34" charset="-120"/>
              </a:rPr>
              <a:t>שרשרת העבודה</a:t>
            </a:r>
            <a:endParaRPr lang="en-US" sz="1600" dirty="0"/>
          </a:p>
        </p:txBody>
      </p:sp>
      <p:sp>
        <p:nvSpPr>
          <p:cNvPr id="16" name="Text 13"/>
          <p:cNvSpPr/>
          <p:nvPr/>
        </p:nvSpPr>
        <p:spPr>
          <a:xfrm>
            <a:off x="5166360" y="5522976"/>
            <a:ext cx="6382512" cy="603504"/>
          </a:xfrm>
          <a:prstGeom prst="rect">
            <a:avLst/>
          </a:prstGeom>
          <a:noFill/>
          <a:ln/>
        </p:spPr>
        <p:txBody>
          <a:bodyPr wrap="square" lIns="762" tIns="762" rIns="762" bIns="762" rtlCol="0" anchor="t"/>
          <a:lstStyle/>
          <a:p>
            <a:pPr rtl="1" algn="r" indent="0" marL="0">
              <a:buNone/>
            </a:pPr>
            <a:r>
              <a:rPr lang="en-US" sz="1300" dirty="0">
                <a:solidFill>
                  <a:srgbClr val="1F2937"/>
                </a:solidFill>
                <a:latin typeface="Arial" pitchFamily="34" charset="0"/>
                <a:ea typeface="Arial" pitchFamily="34" charset="-122"/>
                <a:cs typeface="Arial" pitchFamily="34" charset="-120"/>
              </a:rPr>
              <a:t>שמאות והערכת נזק, הצעת מחיר, שיבוץ עובדים וקבלני משנה, ביצוע ומסירה</a:t>
            </a:r>
            <a:endParaRPr lang="en-US" sz="1300" dirty="0"/>
          </a:p>
        </p:txBody>
      </p:sp>
      <p:sp>
        <p:nvSpPr>
          <p:cNvPr id="17" name="Text 14"/>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3</a:t>
            </a:r>
            <a:endParaRPr lang="en-US" sz="1000" dirty="0"/>
          </a:p>
        </p:txBody>
      </p:sp>
      <p:sp>
        <p:nvSpPr>
          <p:cNvPr id="18" name="Text 15"/>
          <p:cNvSpPr/>
          <p:nvPr/>
        </p:nvSpPr>
        <p:spPr>
          <a:xfrm>
            <a:off x="320040" y="6400800"/>
            <a:ext cx="5120640" cy="274320"/>
          </a:xfrm>
          <a:prstGeom prst="rect">
            <a:avLst/>
          </a:prstGeom>
          <a:noFill/>
          <a:ln/>
        </p:spPr>
        <p:txBody>
          <a:bodyPr wrap="square" lIns="0" tIns="0" rIns="0" bIns="0" rtlCol="0" anchor="ctr"/>
          <a:lstStyle/>
          <a:p>
            <a:pPr rtl="1" algn="l" indent="0" marL="0">
              <a:buNone/>
            </a:pPr>
            <a:r>
              <a:rPr lang="en-US" sz="900" dirty="0">
                <a:solidFill>
                  <a:srgbClr val="9AA7A4"/>
                </a:solidFill>
                <a:latin typeface="Arial" pitchFamily="34" charset="0"/>
                <a:ea typeface="Arial" pitchFamily="34" charset="-122"/>
                <a:cs typeface="Arial" pitchFamily="34" charset="-120"/>
              </a:rPr>
              <a:t>פרקטיקום בניהול מערכות מידע, תשפ"ו | ס.א הנדסה | כאמל עואד</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ניתוח המצב הקיים ובעיותיו</a:t>
            </a:r>
            <a:endParaRPr lang="en-US" sz="3000" dirty="0"/>
          </a:p>
        </p:txBody>
      </p:sp>
      <p:sp>
        <p:nvSpPr>
          <p:cNvPr id="3" name="Text 1"/>
          <p:cNvSpPr/>
          <p:nvPr/>
        </p:nvSpPr>
        <p:spPr>
          <a:xfrm>
            <a:off x="502920" y="1005840"/>
            <a:ext cx="11183112" cy="411480"/>
          </a:xfrm>
          <a:prstGeom prst="rect">
            <a:avLst/>
          </a:prstGeom>
          <a:noFill/>
          <a:ln/>
        </p:spPr>
        <p:txBody>
          <a:bodyPr wrap="square" lIns="0" tIns="0" rIns="0" bIns="0" rtlCol="0" anchor="ctr"/>
          <a:lstStyle/>
          <a:p>
            <a:pPr rtl="1" algn="r" indent="0" marL="0">
              <a:buNone/>
            </a:pPr>
            <a:r>
              <a:rPr lang="en-US" sz="1600" dirty="0">
                <a:solidFill>
                  <a:srgbClr val="5B6B68"/>
                </a:solidFill>
                <a:latin typeface="Arial" pitchFamily="34" charset="0"/>
                <a:ea typeface="Arial" pitchFamily="34" charset="-122"/>
                <a:cs typeface="Arial" pitchFamily="34" charset="-120"/>
              </a:rPr>
              <a:t>מהראיונות עם בעל החברה והעובדים ומתצפית על יום עבודה עלו ארבע בעיות מרכזיות, כולן תוצאה של ניהול ידני ללא כלי ממוחשב מרכזי:</a:t>
            </a:r>
            <a:endParaRPr lang="en-US" sz="1600" dirty="0"/>
          </a:p>
        </p:txBody>
      </p:sp>
      <p:sp>
        <p:nvSpPr>
          <p:cNvPr id="4" name="Shape 2"/>
          <p:cNvSpPr/>
          <p:nvPr/>
        </p:nvSpPr>
        <p:spPr>
          <a:xfrm>
            <a:off x="6291072" y="1645920"/>
            <a:ext cx="5394960" cy="1965960"/>
          </a:xfrm>
          <a:prstGeom prst="roundRect">
            <a:avLst>
              <a:gd name="adj" fmla="val 3721"/>
            </a:avLst>
          </a:prstGeom>
          <a:solidFill>
            <a:srgbClr val="FBEADB"/>
          </a:solidFill>
          <a:ln/>
        </p:spPr>
      </p:sp>
      <p:sp>
        <p:nvSpPr>
          <p:cNvPr id="5" name="Shape 3"/>
          <p:cNvSpPr/>
          <p:nvPr/>
        </p:nvSpPr>
        <p:spPr>
          <a:xfrm>
            <a:off x="11000232" y="1874520"/>
            <a:ext cx="457200" cy="457200"/>
          </a:xfrm>
          <a:prstGeom prst="ellipse">
            <a:avLst/>
          </a:prstGeom>
          <a:solidFill>
            <a:srgbClr val="E8862E"/>
          </a:solidFill>
          <a:ln/>
        </p:spPr>
      </p:sp>
      <p:sp>
        <p:nvSpPr>
          <p:cNvPr id="6" name="Text 4"/>
          <p:cNvSpPr/>
          <p:nvPr/>
        </p:nvSpPr>
        <p:spPr>
          <a:xfrm>
            <a:off x="11000232" y="18562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6519672" y="1874520"/>
            <a:ext cx="4343400" cy="457200"/>
          </a:xfrm>
          <a:prstGeom prst="rect">
            <a:avLst/>
          </a:prstGeom>
          <a:noFill/>
          <a:ln/>
        </p:spPr>
        <p:txBody>
          <a:bodyPr wrap="square" lIns="0" tIns="0" rIns="0" bIns="0" rtlCol="0" anchor="ctr"/>
          <a:lstStyle/>
          <a:p>
            <a:pPr rtl="1" algn="r" indent="0" marL="0">
              <a:buNone/>
            </a:pPr>
            <a:r>
              <a:rPr lang="en-US" sz="1800" b="1" dirty="0">
                <a:solidFill>
                  <a:srgbClr val="1F2937"/>
                </a:solidFill>
                <a:latin typeface="Arial" pitchFamily="34" charset="0"/>
                <a:ea typeface="Arial" pitchFamily="34" charset="-122"/>
                <a:cs typeface="Arial" pitchFamily="34" charset="-120"/>
              </a:rPr>
              <a:t>מידע הולך לאיבוד</a:t>
            </a:r>
            <a:endParaRPr lang="en-US" sz="1800" dirty="0"/>
          </a:p>
        </p:txBody>
      </p:sp>
      <p:sp>
        <p:nvSpPr>
          <p:cNvPr id="8" name="Text 6"/>
          <p:cNvSpPr/>
          <p:nvPr/>
        </p:nvSpPr>
        <p:spPr>
          <a:xfrm>
            <a:off x="6519672" y="2514600"/>
            <a:ext cx="4892040" cy="960120"/>
          </a:xfrm>
          <a:prstGeom prst="rect">
            <a:avLst/>
          </a:prstGeom>
          <a:noFill/>
          <a:ln/>
        </p:spPr>
        <p:txBody>
          <a:bodyPr wrap="square" lIns="0" tIns="0" rIns="0" bIns="0" rtlCol="0" anchor="t"/>
          <a:lstStyle/>
          <a:p>
            <a:pPr rtl="1" algn="r" indent="0" marL="0">
              <a:buNone/>
            </a:pPr>
            <a:r>
              <a:rPr lang="en-US" sz="1400" dirty="0">
                <a:solidFill>
                  <a:srgbClr val="5B6B68"/>
                </a:solidFill>
                <a:latin typeface="Arial" pitchFamily="34" charset="0"/>
                <a:ea typeface="Arial" pitchFamily="34" charset="-122"/>
                <a:cs typeface="Arial" pitchFamily="34" charset="-120"/>
              </a:rPr>
              <a:t>בקשות נרשמות פעמיים או נשכחות, אין תיק לקוח מרוכז</a:t>
            </a:r>
            <a:endParaRPr lang="en-US" sz="1400" dirty="0"/>
          </a:p>
        </p:txBody>
      </p:sp>
      <p:sp>
        <p:nvSpPr>
          <p:cNvPr id="9" name="Shape 7"/>
          <p:cNvSpPr/>
          <p:nvPr/>
        </p:nvSpPr>
        <p:spPr>
          <a:xfrm>
            <a:off x="530352" y="1645920"/>
            <a:ext cx="5394960" cy="1965960"/>
          </a:xfrm>
          <a:prstGeom prst="roundRect">
            <a:avLst>
              <a:gd name="adj" fmla="val 3721"/>
            </a:avLst>
          </a:prstGeom>
          <a:solidFill>
            <a:srgbClr val="EAF4F2"/>
          </a:solidFill>
          <a:ln/>
        </p:spPr>
      </p:sp>
      <p:sp>
        <p:nvSpPr>
          <p:cNvPr id="10" name="Shape 8"/>
          <p:cNvSpPr/>
          <p:nvPr/>
        </p:nvSpPr>
        <p:spPr>
          <a:xfrm>
            <a:off x="5239512" y="1874520"/>
            <a:ext cx="457200" cy="457200"/>
          </a:xfrm>
          <a:prstGeom prst="ellipse">
            <a:avLst/>
          </a:prstGeom>
          <a:solidFill>
            <a:srgbClr val="0F4C46"/>
          </a:solidFill>
          <a:ln/>
        </p:spPr>
      </p:sp>
      <p:sp>
        <p:nvSpPr>
          <p:cNvPr id="11" name="Text 9"/>
          <p:cNvSpPr/>
          <p:nvPr/>
        </p:nvSpPr>
        <p:spPr>
          <a:xfrm>
            <a:off x="5239512" y="18562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758952" y="1874520"/>
            <a:ext cx="4343400" cy="457200"/>
          </a:xfrm>
          <a:prstGeom prst="rect">
            <a:avLst/>
          </a:prstGeom>
          <a:noFill/>
          <a:ln/>
        </p:spPr>
        <p:txBody>
          <a:bodyPr wrap="square" lIns="0" tIns="0" rIns="0" bIns="0" rtlCol="0" anchor="ctr"/>
          <a:lstStyle/>
          <a:p>
            <a:pPr rtl="1" algn="r" indent="0" marL="0">
              <a:buNone/>
            </a:pPr>
            <a:r>
              <a:rPr lang="en-US" sz="1800" b="1" dirty="0">
                <a:solidFill>
                  <a:srgbClr val="1F2937"/>
                </a:solidFill>
                <a:latin typeface="Arial" pitchFamily="34" charset="0"/>
                <a:ea typeface="Arial" pitchFamily="34" charset="-122"/>
                <a:cs typeface="Arial" pitchFamily="34" charset="-120"/>
              </a:rPr>
              <a:t>שיבוצים משתבשים</a:t>
            </a:r>
            <a:endParaRPr lang="en-US" sz="1800" dirty="0"/>
          </a:p>
        </p:txBody>
      </p:sp>
      <p:sp>
        <p:nvSpPr>
          <p:cNvPr id="13" name="Text 11"/>
          <p:cNvSpPr/>
          <p:nvPr/>
        </p:nvSpPr>
        <p:spPr>
          <a:xfrm>
            <a:off x="758952" y="2514600"/>
            <a:ext cx="4892040" cy="960120"/>
          </a:xfrm>
          <a:prstGeom prst="rect">
            <a:avLst/>
          </a:prstGeom>
          <a:noFill/>
          <a:ln/>
        </p:spPr>
        <p:txBody>
          <a:bodyPr wrap="square" lIns="0" tIns="0" rIns="0" bIns="0" rtlCol="0" anchor="t"/>
          <a:lstStyle/>
          <a:p>
            <a:pPr rtl="1" algn="r" indent="0" marL="0">
              <a:buNone/>
            </a:pPr>
            <a:r>
              <a:rPr lang="en-US" sz="1400" dirty="0">
                <a:solidFill>
                  <a:srgbClr val="5B6B68"/>
                </a:solidFill>
                <a:latin typeface="Arial" pitchFamily="34" charset="0"/>
                <a:ea typeface="Arial" pitchFamily="34" charset="-122"/>
                <a:cs typeface="Arial" pitchFamily="34" charset="-120"/>
              </a:rPr>
              <a:t>תיאום טלפוני; עובדים וקבלנים לא מתעדכנים בזמן על שינויים</a:t>
            </a:r>
            <a:endParaRPr lang="en-US" sz="1400" dirty="0"/>
          </a:p>
        </p:txBody>
      </p:sp>
      <p:sp>
        <p:nvSpPr>
          <p:cNvPr id="14" name="Shape 12"/>
          <p:cNvSpPr/>
          <p:nvPr/>
        </p:nvSpPr>
        <p:spPr>
          <a:xfrm>
            <a:off x="6291072" y="3977640"/>
            <a:ext cx="5394960" cy="1965960"/>
          </a:xfrm>
          <a:prstGeom prst="roundRect">
            <a:avLst>
              <a:gd name="adj" fmla="val 3721"/>
            </a:avLst>
          </a:prstGeom>
          <a:solidFill>
            <a:srgbClr val="EAF4F2"/>
          </a:solidFill>
          <a:ln/>
        </p:spPr>
      </p:sp>
      <p:sp>
        <p:nvSpPr>
          <p:cNvPr id="15" name="Shape 13"/>
          <p:cNvSpPr/>
          <p:nvPr/>
        </p:nvSpPr>
        <p:spPr>
          <a:xfrm>
            <a:off x="11000232" y="4206240"/>
            <a:ext cx="457200" cy="457200"/>
          </a:xfrm>
          <a:prstGeom prst="ellipse">
            <a:avLst/>
          </a:prstGeom>
          <a:solidFill>
            <a:srgbClr val="0F4C46"/>
          </a:solidFill>
          <a:ln/>
        </p:spPr>
      </p:sp>
      <p:sp>
        <p:nvSpPr>
          <p:cNvPr id="16" name="Text 14"/>
          <p:cNvSpPr/>
          <p:nvPr/>
        </p:nvSpPr>
        <p:spPr>
          <a:xfrm>
            <a:off x="11000232" y="4187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6519672" y="4206240"/>
            <a:ext cx="4343400" cy="457200"/>
          </a:xfrm>
          <a:prstGeom prst="rect">
            <a:avLst/>
          </a:prstGeom>
          <a:noFill/>
          <a:ln/>
        </p:spPr>
        <p:txBody>
          <a:bodyPr wrap="square" lIns="0" tIns="0" rIns="0" bIns="0" rtlCol="0" anchor="ctr"/>
          <a:lstStyle/>
          <a:p>
            <a:pPr rtl="1" algn="r" indent="0" marL="0">
              <a:buNone/>
            </a:pPr>
            <a:r>
              <a:rPr lang="en-US" sz="1800" b="1" dirty="0">
                <a:solidFill>
                  <a:srgbClr val="1F2937"/>
                </a:solidFill>
                <a:latin typeface="Arial" pitchFamily="34" charset="0"/>
                <a:ea typeface="Arial" pitchFamily="34" charset="-122"/>
                <a:cs typeface="Arial" pitchFamily="34" charset="-120"/>
              </a:rPr>
              <a:t>כסף מחכה</a:t>
            </a:r>
            <a:endParaRPr lang="en-US" sz="1800" dirty="0"/>
          </a:p>
        </p:txBody>
      </p:sp>
      <p:sp>
        <p:nvSpPr>
          <p:cNvPr id="18" name="Text 16"/>
          <p:cNvSpPr/>
          <p:nvPr/>
        </p:nvSpPr>
        <p:spPr>
          <a:xfrm>
            <a:off x="6519672" y="4846320"/>
            <a:ext cx="4892040" cy="960120"/>
          </a:xfrm>
          <a:prstGeom prst="rect">
            <a:avLst/>
          </a:prstGeom>
          <a:noFill/>
          <a:ln/>
        </p:spPr>
        <p:txBody>
          <a:bodyPr wrap="square" lIns="0" tIns="0" rIns="0" bIns="0" rtlCol="0" anchor="t"/>
          <a:lstStyle/>
          <a:p>
            <a:pPr rtl="1" algn="r" indent="0" marL="0">
              <a:buNone/>
            </a:pPr>
            <a:r>
              <a:rPr lang="en-US" sz="1400" dirty="0">
                <a:solidFill>
                  <a:srgbClr val="5B6B68"/>
                </a:solidFill>
                <a:latin typeface="Arial" pitchFamily="34" charset="0"/>
                <a:ea typeface="Arial" pitchFamily="34" charset="-122"/>
                <a:cs typeface="Arial" pitchFamily="34" charset="-120"/>
              </a:rPr>
              <a:t>הצעת מחיר נבנית 2-3 ימים; חשבוניות ותשלומים במעקב ידני</a:t>
            </a:r>
            <a:endParaRPr lang="en-US" sz="1400" dirty="0"/>
          </a:p>
        </p:txBody>
      </p:sp>
      <p:sp>
        <p:nvSpPr>
          <p:cNvPr id="19" name="Shape 17"/>
          <p:cNvSpPr/>
          <p:nvPr/>
        </p:nvSpPr>
        <p:spPr>
          <a:xfrm>
            <a:off x="530352" y="3977640"/>
            <a:ext cx="5394960" cy="1965960"/>
          </a:xfrm>
          <a:prstGeom prst="roundRect">
            <a:avLst>
              <a:gd name="adj" fmla="val 3721"/>
            </a:avLst>
          </a:prstGeom>
          <a:solidFill>
            <a:srgbClr val="EAF4F2"/>
          </a:solidFill>
          <a:ln/>
        </p:spPr>
      </p:sp>
      <p:sp>
        <p:nvSpPr>
          <p:cNvPr id="20" name="Shape 18"/>
          <p:cNvSpPr/>
          <p:nvPr/>
        </p:nvSpPr>
        <p:spPr>
          <a:xfrm>
            <a:off x="5239512" y="4206240"/>
            <a:ext cx="457200" cy="457200"/>
          </a:xfrm>
          <a:prstGeom prst="ellipse">
            <a:avLst/>
          </a:prstGeom>
          <a:solidFill>
            <a:srgbClr val="0F4C46"/>
          </a:solidFill>
          <a:ln/>
        </p:spPr>
      </p:sp>
      <p:sp>
        <p:nvSpPr>
          <p:cNvPr id="21" name="Text 19"/>
          <p:cNvSpPr/>
          <p:nvPr/>
        </p:nvSpPr>
        <p:spPr>
          <a:xfrm>
            <a:off x="5239512" y="4187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p:nvPr/>
        </p:nvSpPr>
        <p:spPr>
          <a:xfrm>
            <a:off x="758952" y="4206240"/>
            <a:ext cx="4343400" cy="457200"/>
          </a:xfrm>
          <a:prstGeom prst="rect">
            <a:avLst/>
          </a:prstGeom>
          <a:noFill/>
          <a:ln/>
        </p:spPr>
        <p:txBody>
          <a:bodyPr wrap="square" lIns="0" tIns="0" rIns="0" bIns="0" rtlCol="0" anchor="ctr"/>
          <a:lstStyle/>
          <a:p>
            <a:pPr rtl="1" algn="r" indent="0" marL="0">
              <a:buNone/>
            </a:pPr>
            <a:r>
              <a:rPr lang="en-US" sz="1800" b="1" dirty="0">
                <a:solidFill>
                  <a:srgbClr val="1F2937"/>
                </a:solidFill>
                <a:latin typeface="Arial" pitchFamily="34" charset="0"/>
                <a:ea typeface="Arial" pitchFamily="34" charset="-122"/>
                <a:cs typeface="Arial" pitchFamily="34" charset="-120"/>
              </a:rPr>
              <a:t>אין תמונת מצב</a:t>
            </a:r>
            <a:endParaRPr lang="en-US" sz="1800" dirty="0"/>
          </a:p>
        </p:txBody>
      </p:sp>
      <p:sp>
        <p:nvSpPr>
          <p:cNvPr id="23" name="Text 21"/>
          <p:cNvSpPr/>
          <p:nvPr/>
        </p:nvSpPr>
        <p:spPr>
          <a:xfrm>
            <a:off x="758952" y="4846320"/>
            <a:ext cx="4892040" cy="960120"/>
          </a:xfrm>
          <a:prstGeom prst="rect">
            <a:avLst/>
          </a:prstGeom>
          <a:noFill/>
          <a:ln/>
        </p:spPr>
        <p:txBody>
          <a:bodyPr wrap="square" lIns="0" tIns="0" rIns="0" bIns="0" rtlCol="0" anchor="t"/>
          <a:lstStyle/>
          <a:p>
            <a:pPr rtl="1" algn="r" indent="0" marL="0">
              <a:buNone/>
            </a:pPr>
            <a:r>
              <a:rPr lang="en-US" sz="1400" dirty="0">
                <a:solidFill>
                  <a:srgbClr val="5B6B68"/>
                </a:solidFill>
                <a:latin typeface="Arial" pitchFamily="34" charset="0"/>
                <a:ea typeface="Arial" pitchFamily="34" charset="-122"/>
                <a:cs typeface="Arial" pitchFamily="34" charset="-120"/>
              </a:rPr>
              <a:t>להנהלה אין דוחות; חישוב שכר חודשי גוזל יום עבודה שלם</a:t>
            </a:r>
            <a:endParaRPr lang="en-US" sz="1400" dirty="0"/>
          </a:p>
        </p:txBody>
      </p:sp>
      <p:sp>
        <p:nvSpPr>
          <p:cNvPr id="24" name="Text 22"/>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4</a:t>
            </a:r>
            <a:endParaRPr lang="en-US" sz="1000" dirty="0"/>
          </a:p>
        </p:txBody>
      </p:sp>
      <p:sp>
        <p:nvSpPr>
          <p:cNvPr id="25" name="Text 23"/>
          <p:cNvSpPr/>
          <p:nvPr/>
        </p:nvSpPr>
        <p:spPr>
          <a:xfrm>
            <a:off x="320040" y="6400800"/>
            <a:ext cx="5120640" cy="274320"/>
          </a:xfrm>
          <a:prstGeom prst="rect">
            <a:avLst/>
          </a:prstGeom>
          <a:noFill/>
          <a:ln/>
        </p:spPr>
        <p:txBody>
          <a:bodyPr wrap="square" lIns="0" tIns="0" rIns="0" bIns="0" rtlCol="0" anchor="ctr"/>
          <a:lstStyle/>
          <a:p>
            <a:pPr rtl="1" algn="l" indent="0" marL="0">
              <a:buNone/>
            </a:pPr>
            <a:r>
              <a:rPr lang="en-US" sz="900" dirty="0">
                <a:solidFill>
                  <a:srgbClr val="9AA7A4"/>
                </a:solidFill>
                <a:latin typeface="Arial" pitchFamily="34" charset="0"/>
                <a:ea typeface="Arial" pitchFamily="34" charset="-122"/>
                <a:cs typeface="Arial" pitchFamily="34" charset="-120"/>
              </a:rPr>
              <a:t>פרקטיקום בניהול מערכות מידע, תשפ"ו | ס.א הנדסה | כאמל עואד</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מטרת הפרויקט ויעדים מדידים</a:t>
            </a:r>
            <a:endParaRPr lang="en-US" sz="3000" dirty="0"/>
          </a:p>
        </p:txBody>
      </p:sp>
      <p:sp>
        <p:nvSpPr>
          <p:cNvPr id="3" name="Text 1"/>
          <p:cNvSpPr/>
          <p:nvPr/>
        </p:nvSpPr>
        <p:spPr>
          <a:xfrm>
            <a:off x="502920" y="1051560"/>
            <a:ext cx="11183112" cy="777240"/>
          </a:xfrm>
          <a:prstGeom prst="rect">
            <a:avLst/>
          </a:prstGeom>
          <a:noFill/>
          <a:ln/>
        </p:spPr>
        <p:txBody>
          <a:bodyPr wrap="square" lIns="0" tIns="0" rIns="0" bIns="0" rtlCol="0" anchor="ctr"/>
          <a:lstStyle/>
          <a:p>
            <a:pPr rtl="1" algn="r" indent="0" marL="0">
              <a:buNone/>
            </a:pPr>
            <a:r>
              <a:rPr lang="en-US" sz="1600" dirty="0">
                <a:solidFill>
                  <a:srgbClr val="1F2937"/>
                </a:solidFill>
                <a:latin typeface="Arial" pitchFamily="34" charset="0"/>
                <a:ea typeface="Arial" pitchFamily="34" charset="-122"/>
                <a:cs typeface="Arial" pitchFamily="34" charset="-120"/>
              </a:rPr>
              <a:t>מטרת הפרויקט: ניתוח, איפיון ועיצוב של מערכת מידע מרכזית אחת שתנהל את מחזור הטיפול המלא בבקשת לקוח, מקליטת הפנייה ועד החשבונית והשכר, ותספק להנהלה תמונת מצב שוטפת.</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188720" y="2011680"/>
          <a:ext cx="9811512" cy="914400"/>
        </p:xfrm>
        <a:graphic>
          <a:graphicData uri="http://schemas.openxmlformats.org/drawingml/2006/table">
            <a:tbl>
              <a:tblPr/>
              <a:tblGrid>
                <a:gridCol w="3200400"/>
                <a:gridCol w="3291840"/>
                <a:gridCol w="3319272"/>
              </a:tblGrid>
              <a:tr h="530352">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היעד לאחר המערכת</a:t>
                      </a:r>
                      <a:endParaRPr lang="en-US" sz="14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המצב הקיים</a:t>
                      </a:r>
                      <a:endParaRPr lang="en-US" sz="14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המדד</a:t>
                      </a:r>
                      <a:endParaRPr lang="en-US" sz="14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r>
              <a:tr h="530352">
                <a:tc>
                  <a:txBody>
                    <a:bodyPr/>
                    <a:lstStyle/>
                    <a:p>
                      <a:pPr algn="ctr" indent="0" marL="0">
                        <a:buNone/>
                      </a:pPr>
                      <a:r>
                        <a:rPr lang="en-US" sz="1300" b="1" dirty="0">
                          <a:solidFill>
                            <a:srgbClr val="0F4C46"/>
                          </a:solidFill>
                          <a:latin typeface="Arial" pitchFamily="34" charset="0"/>
                          <a:ea typeface="Arial" pitchFamily="34" charset="-122"/>
                          <a:cs typeface="Arial" pitchFamily="34" charset="-120"/>
                        </a:rPr>
                        <a:t>5 דקות</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כ-20 דקות בממוצע</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300" b="1" dirty="0">
                          <a:solidFill>
                            <a:srgbClr val="1F2937"/>
                          </a:solidFill>
                          <a:latin typeface="Arial" pitchFamily="34" charset="0"/>
                          <a:ea typeface="Arial" pitchFamily="34" charset="-122"/>
                          <a:cs typeface="Arial" pitchFamily="34" charset="-120"/>
                        </a:rPr>
                        <a:t>זמן קליטת בקשה חדשה</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530352">
                <a:tc>
                  <a:txBody>
                    <a:bodyPr/>
                    <a:lstStyle/>
                    <a:p>
                      <a:pPr algn="ctr" indent="0" marL="0">
                        <a:buNone/>
                      </a:pPr>
                      <a:r>
                        <a:rPr lang="en-US" sz="1300" b="1" dirty="0">
                          <a:solidFill>
                            <a:srgbClr val="0F4C46"/>
                          </a:solidFill>
                          <a:latin typeface="Arial" pitchFamily="34" charset="0"/>
                          <a:ea typeface="Arial" pitchFamily="34" charset="-122"/>
                          <a:cs typeface="Arial" pitchFamily="34" charset="-120"/>
                        </a:rPr>
                        <a:t>יום עבודה אחד</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2-3 ימי עבודה</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1F2937"/>
                          </a:solidFill>
                          <a:latin typeface="Arial" pitchFamily="34" charset="0"/>
                          <a:ea typeface="Arial" pitchFamily="34" charset="-122"/>
                          <a:cs typeface="Arial" pitchFamily="34" charset="-120"/>
                        </a:rPr>
                        <a:t>זמן הכנת הצעת מחיר</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r h="530352">
                <a:tc>
                  <a:txBody>
                    <a:bodyPr/>
                    <a:lstStyle/>
                    <a:p>
                      <a:pPr algn="ctr" indent="0" marL="0">
                        <a:buNone/>
                      </a:pPr>
                      <a:r>
                        <a:rPr lang="en-US" sz="1300" b="1" dirty="0">
                          <a:solidFill>
                            <a:srgbClr val="0F4C46"/>
                          </a:solidFill>
                          <a:latin typeface="Arial" pitchFamily="34" charset="0"/>
                          <a:ea typeface="Arial" pitchFamily="34" charset="-122"/>
                          <a:cs typeface="Arial" pitchFamily="34" charset="-120"/>
                        </a:rPr>
                        <a:t>אפס, רישום מרוכז אחד</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מספר מקרים בחודש</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300" b="1" dirty="0">
                          <a:solidFill>
                            <a:srgbClr val="1F2937"/>
                          </a:solidFill>
                          <a:latin typeface="Arial" pitchFamily="34" charset="0"/>
                          <a:ea typeface="Arial" pitchFamily="34" charset="-122"/>
                          <a:cs typeface="Arial" pitchFamily="34" charset="-120"/>
                        </a:rPr>
                        <a:t>אובדן או כפילות רישום</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530352">
                <a:tc>
                  <a:txBody>
                    <a:bodyPr/>
                    <a:lstStyle/>
                    <a:p>
                      <a:pPr algn="ctr" indent="0" marL="0">
                        <a:buNone/>
                      </a:pPr>
                      <a:r>
                        <a:rPr lang="en-US" sz="1300" b="1" dirty="0">
                          <a:solidFill>
                            <a:srgbClr val="0F4C46"/>
                          </a:solidFill>
                          <a:latin typeface="Arial" pitchFamily="34" charset="0"/>
                          <a:ea typeface="Arial" pitchFamily="34" charset="-122"/>
                          <a:cs typeface="Arial" pitchFamily="34" charset="-120"/>
                        </a:rPr>
                        <a:t>עדכון מיידי במערכת</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סבב טלפונים, לעיתים באיחור</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1F2937"/>
                          </a:solidFill>
                          <a:latin typeface="Arial" pitchFamily="34" charset="0"/>
                          <a:ea typeface="Arial" pitchFamily="34" charset="-122"/>
                          <a:cs typeface="Arial" pitchFamily="34" charset="-120"/>
                        </a:rPr>
                        <a:t>עדכון עובד על שיבוץ</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r h="530352">
                <a:tc>
                  <a:txBody>
                    <a:bodyPr/>
                    <a:lstStyle/>
                    <a:p>
                      <a:pPr algn="ctr" indent="0" marL="0">
                        <a:buNone/>
                      </a:pPr>
                      <a:r>
                        <a:rPr lang="en-US" sz="1300" b="1" dirty="0">
                          <a:solidFill>
                            <a:srgbClr val="0F4C46"/>
                          </a:solidFill>
                          <a:latin typeface="Arial" pitchFamily="34" charset="0"/>
                          <a:ea typeface="Arial" pitchFamily="34" charset="-122"/>
                          <a:cs typeface="Arial" pitchFamily="34" charset="-120"/>
                        </a:rPr>
                        <a:t>עד שעה</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יום עבודה מלא</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300" b="1" dirty="0">
                          <a:solidFill>
                            <a:srgbClr val="1F2937"/>
                          </a:solidFill>
                          <a:latin typeface="Arial" pitchFamily="34" charset="0"/>
                          <a:ea typeface="Arial" pitchFamily="34" charset="-122"/>
                          <a:cs typeface="Arial" pitchFamily="34" charset="-120"/>
                        </a:rPr>
                        <a:t>הפקת דוח שכר חודשי</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530352">
                <a:tc>
                  <a:txBody>
                    <a:bodyPr/>
                    <a:lstStyle/>
                    <a:p>
                      <a:pPr algn="ctr" indent="0" marL="0">
                        <a:buNone/>
                      </a:pPr>
                      <a:r>
                        <a:rPr lang="en-US" sz="1300" b="1" dirty="0">
                          <a:solidFill>
                            <a:srgbClr val="0F4C46"/>
                          </a:solidFill>
                          <a:latin typeface="Arial" pitchFamily="34" charset="0"/>
                          <a:ea typeface="Arial" pitchFamily="34" charset="-122"/>
                          <a:cs typeface="Arial" pitchFamily="34" charset="-120"/>
                        </a:rPr>
                        <a:t>זמינים בכל רגע</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אינם קיימים</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1F2937"/>
                          </a:solidFill>
                          <a:latin typeface="Arial" pitchFamily="34" charset="0"/>
                          <a:ea typeface="Arial" pitchFamily="34" charset="-122"/>
                          <a:cs typeface="Arial" pitchFamily="34" charset="-120"/>
                        </a:rPr>
                        <a:t>דוחות ניהוליים להנהלה</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5897880"/>
            <a:ext cx="11183112" cy="411480"/>
          </a:xfrm>
          <a:prstGeom prst="rect">
            <a:avLst/>
          </a:prstGeom>
          <a:noFill/>
          <a:ln/>
        </p:spPr>
        <p:txBody>
          <a:bodyPr wrap="square" lIns="0" tIns="0" rIns="0" bIns="0" rtlCol="0" anchor="ctr"/>
          <a:lstStyle/>
          <a:p>
            <a:pPr rtl="1" algn="r" indent="0" marL="0">
              <a:buNone/>
            </a:pPr>
            <a:r>
              <a:rPr lang="en-US" sz="1300" i="1" dirty="0">
                <a:solidFill>
                  <a:srgbClr val="5B6B68"/>
                </a:solidFill>
                <a:latin typeface="Arial" pitchFamily="34" charset="0"/>
                <a:ea typeface="Arial" pitchFamily="34" charset="-122"/>
                <a:cs typeface="Arial" pitchFamily="34" charset="-120"/>
              </a:rPr>
              <a:t>היעדים הוגדרו יחד עם בעל החברה בשלב ההצעה, והם ישמשו למדידת הצלחת המערכת לאחר הטמעתה</a:t>
            </a:r>
            <a:endParaRPr lang="en-US" sz="1300" dirty="0"/>
          </a:p>
        </p:txBody>
      </p:sp>
      <p:sp>
        <p:nvSpPr>
          <p:cNvPr id="6" name="Text 3"/>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5</a:t>
            </a:r>
            <a:endParaRPr lang="en-US" sz="1000" dirty="0"/>
          </a:p>
        </p:txBody>
      </p:sp>
      <p:sp>
        <p:nvSpPr>
          <p:cNvPr id="7" name="Text 4"/>
          <p:cNvSpPr/>
          <p:nvPr/>
        </p:nvSpPr>
        <p:spPr>
          <a:xfrm>
            <a:off x="320040" y="6400800"/>
            <a:ext cx="5120640" cy="274320"/>
          </a:xfrm>
          <a:prstGeom prst="rect">
            <a:avLst/>
          </a:prstGeom>
          <a:noFill/>
          <a:ln/>
        </p:spPr>
        <p:txBody>
          <a:bodyPr wrap="square" lIns="0" tIns="0" rIns="0" bIns="0" rtlCol="0" anchor="ctr"/>
          <a:lstStyle/>
          <a:p>
            <a:pPr rtl="1" algn="l" indent="0" marL="0">
              <a:buNone/>
            </a:pPr>
            <a:r>
              <a:rPr lang="en-US" sz="900" dirty="0">
                <a:solidFill>
                  <a:srgbClr val="9AA7A4"/>
                </a:solidFill>
                <a:latin typeface="Arial" pitchFamily="34" charset="0"/>
                <a:ea typeface="Arial" pitchFamily="34" charset="-122"/>
                <a:cs typeface="Arial" pitchFamily="34" charset="-120"/>
              </a:rPr>
              <a:t>פרקטיקום בניהול מערכות מידע, תשפ"ו | ס.א הנדסה | כאמל עואד</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תיחום הפרויקט</a:t>
            </a:r>
            <a:endParaRPr lang="en-US" sz="3000" dirty="0"/>
          </a:p>
        </p:txBody>
      </p:sp>
      <p:sp>
        <p:nvSpPr>
          <p:cNvPr id="3" name="Shape 1"/>
          <p:cNvSpPr/>
          <p:nvPr/>
        </p:nvSpPr>
        <p:spPr>
          <a:xfrm>
            <a:off x="6245352" y="1325880"/>
            <a:ext cx="5440680" cy="4709160"/>
          </a:xfrm>
          <a:prstGeom prst="roundRect">
            <a:avLst>
              <a:gd name="adj" fmla="val 1553"/>
            </a:avLst>
          </a:prstGeom>
          <a:solidFill>
            <a:srgbClr val="E9F5EC"/>
          </a:solidFill>
          <a:ln/>
        </p:spPr>
      </p:sp>
      <p:sp>
        <p:nvSpPr>
          <p:cNvPr id="4" name="Shape 2"/>
          <p:cNvSpPr/>
          <p:nvPr/>
        </p:nvSpPr>
        <p:spPr>
          <a:xfrm>
            <a:off x="502920" y="1325880"/>
            <a:ext cx="5440680" cy="4709160"/>
          </a:xfrm>
          <a:prstGeom prst="roundRect">
            <a:avLst>
              <a:gd name="adj" fmla="val 1553"/>
            </a:avLst>
          </a:prstGeom>
          <a:solidFill>
            <a:srgbClr val="F6EDE9"/>
          </a:solidFill>
          <a:ln/>
        </p:spPr>
      </p:sp>
      <p:sp>
        <p:nvSpPr>
          <p:cNvPr id="5" name="Text 3"/>
          <p:cNvSpPr/>
          <p:nvPr/>
        </p:nvSpPr>
        <p:spPr>
          <a:xfrm>
            <a:off x="6519672" y="1554480"/>
            <a:ext cx="4892040" cy="457200"/>
          </a:xfrm>
          <a:prstGeom prst="rect">
            <a:avLst/>
          </a:prstGeom>
          <a:noFill/>
          <a:ln/>
        </p:spPr>
        <p:txBody>
          <a:bodyPr wrap="square" lIns="0" tIns="0" rIns="0" bIns="0" rtlCol="0" anchor="ctr"/>
          <a:lstStyle/>
          <a:p>
            <a:pPr rtl="1" algn="r" indent="0" marL="0">
              <a:buNone/>
            </a:pPr>
            <a:r>
              <a:rPr lang="en-US" sz="2000" b="1" dirty="0">
                <a:solidFill>
                  <a:srgbClr val="1A6B3C"/>
                </a:solidFill>
                <a:latin typeface="Arial" pitchFamily="34" charset="0"/>
                <a:ea typeface="Arial" pitchFamily="34" charset="-122"/>
                <a:cs typeface="Arial" pitchFamily="34" charset="-120"/>
              </a:rPr>
              <a:t>בתחולת הפרויקט</a:t>
            </a:r>
            <a:endParaRPr lang="en-US" sz="2000" dirty="0"/>
          </a:p>
        </p:txBody>
      </p:sp>
      <p:sp>
        <p:nvSpPr>
          <p:cNvPr id="6" name="Text 4"/>
          <p:cNvSpPr/>
          <p:nvPr/>
        </p:nvSpPr>
        <p:spPr>
          <a:xfrm>
            <a:off x="777240" y="1554480"/>
            <a:ext cx="4892040" cy="457200"/>
          </a:xfrm>
          <a:prstGeom prst="rect">
            <a:avLst/>
          </a:prstGeom>
          <a:noFill/>
          <a:ln/>
        </p:spPr>
        <p:txBody>
          <a:bodyPr wrap="square" lIns="0" tIns="0" rIns="0" bIns="0" rtlCol="0" anchor="ctr"/>
          <a:lstStyle/>
          <a:p>
            <a:pPr rtl="1" algn="r" indent="0" marL="0">
              <a:buNone/>
            </a:pPr>
            <a:r>
              <a:rPr lang="en-US" sz="2000" b="1" dirty="0">
                <a:solidFill>
                  <a:srgbClr val="A6432C"/>
                </a:solidFill>
                <a:latin typeface="Arial" pitchFamily="34" charset="0"/>
                <a:ea typeface="Arial" pitchFamily="34" charset="-122"/>
                <a:cs typeface="Arial" pitchFamily="34" charset="-120"/>
              </a:rPr>
              <a:t>מחוץ לתחולה</a:t>
            </a:r>
            <a:endParaRPr lang="en-US" sz="2000" dirty="0"/>
          </a:p>
        </p:txBody>
      </p:sp>
      <p:sp>
        <p:nvSpPr>
          <p:cNvPr id="7" name="Text 5"/>
          <p:cNvSpPr/>
          <p:nvPr/>
        </p:nvSpPr>
        <p:spPr>
          <a:xfrm>
            <a:off x="6519672" y="2148840"/>
            <a:ext cx="4846320" cy="3657600"/>
          </a:xfrm>
          <a:prstGeom prst="rect">
            <a:avLst/>
          </a:prstGeom>
          <a:noFill/>
          <a:ln/>
        </p:spPr>
        <p:txBody>
          <a:bodyPr wrap="square" rtlCol="0" anchor="t"/>
          <a:lstStyle/>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קליטת בקשות לקוח (נזק/שיבוץ) וניהול לקוחות</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עיבוד בקשה, בדיקת זמינות והצעת מחיר</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שיוך עובדים וקבלני משנה לשיבוצים</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חשבוניות והזמנות חומר מספקים</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חישוב שכר חודשי מתוך השיבוצים</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דוחות הנהלה בזמן אמת</a:t>
            </a:r>
            <a:endParaRPr lang="en-US" sz="1500" dirty="0"/>
          </a:p>
        </p:txBody>
      </p:sp>
      <p:sp>
        <p:nvSpPr>
          <p:cNvPr id="8" name="Text 6"/>
          <p:cNvSpPr/>
          <p:nvPr/>
        </p:nvSpPr>
        <p:spPr>
          <a:xfrm>
            <a:off x="777240" y="2148840"/>
            <a:ext cx="4846320" cy="3657600"/>
          </a:xfrm>
          <a:prstGeom prst="rect">
            <a:avLst/>
          </a:prstGeom>
          <a:noFill/>
          <a:ln/>
        </p:spPr>
        <p:txBody>
          <a:bodyPr wrap="square" rtlCol="0" anchor="t"/>
          <a:lstStyle/>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פיתוח ותכנות מלא (הפרויקט מסתיים באב-טיפוס)</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הנהלת חשבונות מלאה (ייצוא נתונים בלבד)</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ממשק ממוחשב ישיר לחברות ביטוח</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אפליקציית מובייל ושעון נוכחות</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ניהול מלאי מפורט של חומרי בניין</a:t>
            </a:r>
            <a:endParaRPr lang="en-US" sz="1500" dirty="0"/>
          </a:p>
          <a:p>
            <a:pPr algn="r" marL="342900" indent="-342900">
              <a:spcAft>
                <a:spcPts val="1200"/>
              </a:spcAft>
              <a:buSzPct val="100000"/>
              <a:buChar char="•"/>
            </a:pPr>
            <a:r>
              <a:rPr lang="en-US" sz="1500" dirty="0">
                <a:solidFill>
                  <a:srgbClr val="1F2937"/>
                </a:solidFill>
                <a:latin typeface="Arial" pitchFamily="34" charset="0"/>
                <a:ea typeface="Arial" pitchFamily="34" charset="-122"/>
                <a:cs typeface="Arial" pitchFamily="34" charset="-120"/>
              </a:rPr>
              <a:t>הסבת נתונים היסטוריים</a:t>
            </a:r>
            <a:endParaRPr lang="en-US" sz="1500" dirty="0"/>
          </a:p>
        </p:txBody>
      </p:sp>
      <p:sp>
        <p:nvSpPr>
          <p:cNvPr id="9" name="Text 7"/>
          <p:cNvSpPr/>
          <p:nvPr/>
        </p:nvSpPr>
        <p:spPr>
          <a:xfrm>
            <a:off x="502920" y="6144768"/>
            <a:ext cx="11183112" cy="365760"/>
          </a:xfrm>
          <a:prstGeom prst="rect">
            <a:avLst/>
          </a:prstGeom>
          <a:noFill/>
          <a:ln/>
        </p:spPr>
        <p:txBody>
          <a:bodyPr wrap="square" lIns="0" tIns="0" rIns="0" bIns="0" rtlCol="0" anchor="ctr"/>
          <a:lstStyle/>
          <a:p>
            <a:pPr rtl="1" algn="r" indent="0" marL="0">
              <a:buNone/>
            </a:pPr>
            <a:r>
              <a:rPr lang="en-US" sz="1300" i="1" dirty="0">
                <a:solidFill>
                  <a:srgbClr val="5B6B68"/>
                </a:solidFill>
                <a:latin typeface="Arial" pitchFamily="34" charset="0"/>
                <a:ea typeface="Arial" pitchFamily="34" charset="-122"/>
                <a:cs typeface="Arial" pitchFamily="34" charset="-120"/>
              </a:rPr>
              <a:t>התיחום נגזר ישירות מהתהליך הארגוני: המערכת מלווה כל שלב בתהליך, אך העבודה הפיזית באתר נשארת ידנית מטבעה</a:t>
            </a:r>
            <a:endParaRPr lang="en-US" sz="1300" dirty="0"/>
          </a:p>
        </p:txBody>
      </p:sp>
      <p:sp>
        <p:nvSpPr>
          <p:cNvPr id="10" name="Text 8"/>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6</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מתודולוגיה: מחזור חיים מלא במודל מפל המים (SDLC)</a:t>
            </a:r>
            <a:endParaRPr lang="en-US" sz="3000" dirty="0"/>
          </a:p>
        </p:txBody>
      </p:sp>
      <p:sp>
        <p:nvSpPr>
          <p:cNvPr id="3" name="Shape 1"/>
          <p:cNvSpPr/>
          <p:nvPr/>
        </p:nvSpPr>
        <p:spPr>
          <a:xfrm>
            <a:off x="9537192" y="1600200"/>
            <a:ext cx="2148840" cy="3017520"/>
          </a:xfrm>
          <a:prstGeom prst="roundRect">
            <a:avLst>
              <a:gd name="adj" fmla="val 3404"/>
            </a:avLst>
          </a:prstGeom>
          <a:solidFill>
            <a:srgbClr val="EAF4F2"/>
          </a:solidFill>
          <a:ln/>
        </p:spPr>
      </p:sp>
      <p:sp>
        <p:nvSpPr>
          <p:cNvPr id="4" name="Shape 2"/>
          <p:cNvSpPr/>
          <p:nvPr/>
        </p:nvSpPr>
        <p:spPr>
          <a:xfrm>
            <a:off x="10383012" y="1828800"/>
            <a:ext cx="457200" cy="457200"/>
          </a:xfrm>
          <a:prstGeom prst="ellipse">
            <a:avLst/>
          </a:prstGeom>
          <a:solidFill>
            <a:srgbClr val="0F4C46"/>
          </a:solidFill>
          <a:ln/>
        </p:spPr>
      </p:sp>
      <p:sp>
        <p:nvSpPr>
          <p:cNvPr id="5" name="Text 3"/>
          <p:cNvSpPr/>
          <p:nvPr/>
        </p:nvSpPr>
        <p:spPr>
          <a:xfrm>
            <a:off x="10383012" y="1810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9628632" y="2377440"/>
            <a:ext cx="1965960" cy="594360"/>
          </a:xfrm>
          <a:prstGeom prst="rect">
            <a:avLst/>
          </a:prstGeom>
          <a:noFill/>
          <a:ln/>
        </p:spPr>
        <p:txBody>
          <a:bodyPr wrap="square" lIns="0" tIns="0" rIns="0" bIns="0" rtlCol="0" anchor="ctr"/>
          <a:lstStyle/>
          <a:p>
            <a:pPr rtl="1" algn="ctr" indent="0" marL="0">
              <a:buNone/>
            </a:pPr>
            <a:r>
              <a:rPr lang="en-US" sz="1500" b="1" dirty="0">
                <a:solidFill>
                  <a:srgbClr val="1F2937"/>
                </a:solidFill>
                <a:latin typeface="Arial" pitchFamily="34" charset="0"/>
                <a:ea typeface="Arial" pitchFamily="34" charset="-122"/>
                <a:cs typeface="Arial" pitchFamily="34" charset="-120"/>
              </a:rPr>
              <a:t>ייזום והצעה</a:t>
            </a:r>
            <a:endParaRPr lang="en-US" sz="1500" dirty="0"/>
          </a:p>
        </p:txBody>
      </p:sp>
      <p:sp>
        <p:nvSpPr>
          <p:cNvPr id="7" name="Text 5"/>
          <p:cNvSpPr/>
          <p:nvPr/>
        </p:nvSpPr>
        <p:spPr>
          <a:xfrm>
            <a:off x="9646920" y="2971800"/>
            <a:ext cx="1929384" cy="1234440"/>
          </a:xfrm>
          <a:prstGeom prst="rect">
            <a:avLst/>
          </a:prstGeom>
          <a:noFill/>
          <a:ln/>
        </p:spPr>
        <p:txBody>
          <a:bodyPr wrap="square" lIns="0" tIns="0" rIns="0" bIns="0" rtlCol="0" anchor="t"/>
          <a:lstStyle/>
          <a:p>
            <a:pPr rtl="1" algn="ctr" indent="0" marL="0">
              <a:buNone/>
            </a:pPr>
            <a:r>
              <a:rPr lang="en-US" sz="1150" dirty="0">
                <a:solidFill>
                  <a:srgbClr val="5B6B68"/>
                </a:solidFill>
                <a:latin typeface="Arial" pitchFamily="34" charset="0"/>
                <a:ea typeface="Arial" pitchFamily="34" charset="-122"/>
                <a:cs typeface="Arial" pitchFamily="34" charset="-120"/>
              </a:rPr>
              <a:t>בחירת הארגון, לימוד התהליך, תיחום ותוכנית עבודה</a:t>
            </a:r>
            <a:endParaRPr lang="en-US" sz="1150" dirty="0"/>
          </a:p>
        </p:txBody>
      </p:sp>
      <p:sp>
        <p:nvSpPr>
          <p:cNvPr id="8" name="Text 6"/>
          <p:cNvSpPr/>
          <p:nvPr/>
        </p:nvSpPr>
        <p:spPr>
          <a:xfrm>
            <a:off x="9628632" y="4206240"/>
            <a:ext cx="1965960" cy="320040"/>
          </a:xfrm>
          <a:prstGeom prst="rect">
            <a:avLst/>
          </a:prstGeom>
          <a:noFill/>
          <a:ln/>
        </p:spPr>
        <p:txBody>
          <a:bodyPr wrap="square" lIns="0" tIns="0" rIns="0" bIns="0" rtlCol="0" anchor="ctr"/>
          <a:lstStyle/>
          <a:p>
            <a:pPr rtl="1" algn="ctr" indent="0" marL="0">
              <a:buNone/>
            </a:pPr>
            <a:r>
              <a:rPr lang="en-US" sz="1100" b="1" dirty="0">
                <a:solidFill>
                  <a:srgbClr val="1C7A6F"/>
                </a:solidFill>
                <a:latin typeface="Arial" pitchFamily="34" charset="0"/>
                <a:ea typeface="Arial" pitchFamily="34" charset="-122"/>
                <a:cs typeface="Arial" pitchFamily="34" charset="-120"/>
              </a:rPr>
              <a:t>הצעה אושרה 28.4</a:t>
            </a:r>
            <a:endParaRPr lang="en-US" sz="1100" dirty="0"/>
          </a:p>
        </p:txBody>
      </p:sp>
      <p:sp>
        <p:nvSpPr>
          <p:cNvPr id="9" name="Shape 7"/>
          <p:cNvSpPr/>
          <p:nvPr/>
        </p:nvSpPr>
        <p:spPr>
          <a:xfrm>
            <a:off x="7269480" y="1600200"/>
            <a:ext cx="2148840" cy="3017520"/>
          </a:xfrm>
          <a:prstGeom prst="roundRect">
            <a:avLst>
              <a:gd name="adj" fmla="val 3404"/>
            </a:avLst>
          </a:prstGeom>
          <a:solidFill>
            <a:srgbClr val="EAF4F2"/>
          </a:solidFill>
          <a:ln/>
        </p:spPr>
      </p:sp>
      <p:sp>
        <p:nvSpPr>
          <p:cNvPr id="10" name="Shape 8"/>
          <p:cNvSpPr/>
          <p:nvPr/>
        </p:nvSpPr>
        <p:spPr>
          <a:xfrm>
            <a:off x="8115300" y="1828800"/>
            <a:ext cx="457200" cy="457200"/>
          </a:xfrm>
          <a:prstGeom prst="ellipse">
            <a:avLst/>
          </a:prstGeom>
          <a:solidFill>
            <a:srgbClr val="0F4C46"/>
          </a:solidFill>
          <a:ln/>
        </p:spPr>
      </p:sp>
      <p:sp>
        <p:nvSpPr>
          <p:cNvPr id="11" name="Text 9"/>
          <p:cNvSpPr/>
          <p:nvPr/>
        </p:nvSpPr>
        <p:spPr>
          <a:xfrm>
            <a:off x="8115300" y="1810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7360920" y="2377440"/>
            <a:ext cx="1965960" cy="594360"/>
          </a:xfrm>
          <a:prstGeom prst="rect">
            <a:avLst/>
          </a:prstGeom>
          <a:noFill/>
          <a:ln/>
        </p:spPr>
        <p:txBody>
          <a:bodyPr wrap="square" lIns="0" tIns="0" rIns="0" bIns="0" rtlCol="0" anchor="ctr"/>
          <a:lstStyle/>
          <a:p>
            <a:pPr rtl="1" algn="ctr" indent="0" marL="0">
              <a:buNone/>
            </a:pPr>
            <a:r>
              <a:rPr lang="en-US" sz="1500" b="1" dirty="0">
                <a:solidFill>
                  <a:srgbClr val="1F2937"/>
                </a:solidFill>
                <a:latin typeface="Arial" pitchFamily="34" charset="0"/>
                <a:ea typeface="Arial" pitchFamily="34" charset="-122"/>
                <a:cs typeface="Arial" pitchFamily="34" charset="-120"/>
              </a:rPr>
              <a:t>ניתוח ואיפיון</a:t>
            </a:r>
            <a:endParaRPr lang="en-US" sz="1500" dirty="0"/>
          </a:p>
        </p:txBody>
      </p:sp>
      <p:sp>
        <p:nvSpPr>
          <p:cNvPr id="13" name="Text 11"/>
          <p:cNvSpPr/>
          <p:nvPr/>
        </p:nvSpPr>
        <p:spPr>
          <a:xfrm>
            <a:off x="7379208" y="2971800"/>
            <a:ext cx="1929384" cy="1234440"/>
          </a:xfrm>
          <a:prstGeom prst="rect">
            <a:avLst/>
          </a:prstGeom>
          <a:noFill/>
          <a:ln/>
        </p:spPr>
        <p:txBody>
          <a:bodyPr wrap="square" lIns="0" tIns="0" rIns="0" bIns="0" rtlCol="0" anchor="t"/>
          <a:lstStyle/>
          <a:p>
            <a:pPr rtl="1" algn="ctr" indent="0" marL="0">
              <a:buNone/>
            </a:pPr>
            <a:r>
              <a:rPr lang="en-US" sz="1150" dirty="0">
                <a:solidFill>
                  <a:srgbClr val="5B6B68"/>
                </a:solidFill>
                <a:latin typeface="Arial" pitchFamily="34" charset="0"/>
                <a:ea typeface="Arial" pitchFamily="34" charset="-122"/>
                <a:cs typeface="Arial" pitchFamily="34" charset="-120"/>
              </a:rPr>
              <a:t>ראיונות ותצפית; תרשימי תהליכים, DFD, ERD ורשימת מסכים</a:t>
            </a:r>
            <a:endParaRPr lang="en-US" sz="1150" dirty="0"/>
          </a:p>
        </p:txBody>
      </p:sp>
      <p:sp>
        <p:nvSpPr>
          <p:cNvPr id="14" name="Text 12"/>
          <p:cNvSpPr/>
          <p:nvPr/>
        </p:nvSpPr>
        <p:spPr>
          <a:xfrm>
            <a:off x="7360920" y="4206240"/>
            <a:ext cx="1965960" cy="320040"/>
          </a:xfrm>
          <a:prstGeom prst="rect">
            <a:avLst/>
          </a:prstGeom>
          <a:noFill/>
          <a:ln/>
        </p:spPr>
        <p:txBody>
          <a:bodyPr wrap="square" lIns="0" tIns="0" rIns="0" bIns="0" rtlCol="0" anchor="ctr"/>
          <a:lstStyle/>
          <a:p>
            <a:pPr rtl="1" algn="ctr" indent="0" marL="0">
              <a:buNone/>
            </a:pPr>
            <a:r>
              <a:rPr lang="en-US" sz="1100" b="1" dirty="0">
                <a:solidFill>
                  <a:srgbClr val="1C7A6F"/>
                </a:solidFill>
                <a:latin typeface="Arial" pitchFamily="34" charset="0"/>
                <a:ea typeface="Arial" pitchFamily="34" charset="-122"/>
                <a:cs typeface="Arial" pitchFamily="34" charset="-120"/>
              </a:rPr>
              <a:t>דוח 1 הוגש 31.5</a:t>
            </a:r>
            <a:endParaRPr lang="en-US" sz="1100" dirty="0"/>
          </a:p>
        </p:txBody>
      </p:sp>
      <p:sp>
        <p:nvSpPr>
          <p:cNvPr id="15" name="Shape 13"/>
          <p:cNvSpPr/>
          <p:nvPr/>
        </p:nvSpPr>
        <p:spPr>
          <a:xfrm>
            <a:off x="5001768" y="1600200"/>
            <a:ext cx="2148840" cy="3017520"/>
          </a:xfrm>
          <a:prstGeom prst="roundRect">
            <a:avLst>
              <a:gd name="adj" fmla="val 3404"/>
            </a:avLst>
          </a:prstGeom>
          <a:solidFill>
            <a:srgbClr val="FBEADB"/>
          </a:solidFill>
          <a:ln/>
        </p:spPr>
      </p:sp>
      <p:sp>
        <p:nvSpPr>
          <p:cNvPr id="16" name="Shape 14"/>
          <p:cNvSpPr/>
          <p:nvPr/>
        </p:nvSpPr>
        <p:spPr>
          <a:xfrm>
            <a:off x="5847588" y="1828800"/>
            <a:ext cx="457200" cy="457200"/>
          </a:xfrm>
          <a:prstGeom prst="ellipse">
            <a:avLst/>
          </a:prstGeom>
          <a:solidFill>
            <a:srgbClr val="E8862E"/>
          </a:solidFill>
          <a:ln/>
        </p:spPr>
      </p:sp>
      <p:sp>
        <p:nvSpPr>
          <p:cNvPr id="17" name="Text 15"/>
          <p:cNvSpPr/>
          <p:nvPr/>
        </p:nvSpPr>
        <p:spPr>
          <a:xfrm>
            <a:off x="5847588" y="1810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16"/>
          <p:cNvSpPr/>
          <p:nvPr/>
        </p:nvSpPr>
        <p:spPr>
          <a:xfrm>
            <a:off x="5093208" y="2377440"/>
            <a:ext cx="1965960" cy="594360"/>
          </a:xfrm>
          <a:prstGeom prst="rect">
            <a:avLst/>
          </a:prstGeom>
          <a:noFill/>
          <a:ln/>
        </p:spPr>
        <p:txBody>
          <a:bodyPr wrap="square" lIns="0" tIns="0" rIns="0" bIns="0" rtlCol="0" anchor="ctr"/>
          <a:lstStyle/>
          <a:p>
            <a:pPr rtl="1" algn="ctr" indent="0" marL="0">
              <a:buNone/>
            </a:pPr>
            <a:r>
              <a:rPr lang="en-US" sz="1500" b="1" dirty="0">
                <a:solidFill>
                  <a:srgbClr val="1F2937"/>
                </a:solidFill>
                <a:latin typeface="Arial" pitchFamily="34" charset="0"/>
                <a:ea typeface="Arial" pitchFamily="34" charset="-122"/>
                <a:cs typeface="Arial" pitchFamily="34" charset="-120"/>
              </a:rPr>
              <a:t>עיצוב</a:t>
            </a:r>
            <a:endParaRPr lang="en-US" sz="1500" dirty="0"/>
          </a:p>
        </p:txBody>
      </p:sp>
      <p:sp>
        <p:nvSpPr>
          <p:cNvPr id="19" name="Text 17"/>
          <p:cNvSpPr/>
          <p:nvPr/>
        </p:nvSpPr>
        <p:spPr>
          <a:xfrm>
            <a:off x="5111496" y="2971800"/>
            <a:ext cx="1929384" cy="1234440"/>
          </a:xfrm>
          <a:prstGeom prst="rect">
            <a:avLst/>
          </a:prstGeom>
          <a:noFill/>
          <a:ln/>
        </p:spPr>
        <p:txBody>
          <a:bodyPr wrap="square" lIns="0" tIns="0" rIns="0" bIns="0" rtlCol="0" anchor="t"/>
          <a:lstStyle/>
          <a:p>
            <a:pPr rtl="1" algn="ctr" indent="0" marL="0">
              <a:buNone/>
            </a:pPr>
            <a:r>
              <a:rPr lang="en-US" sz="1150" dirty="0">
                <a:solidFill>
                  <a:srgbClr val="5B6B68"/>
                </a:solidFill>
                <a:latin typeface="Arial" pitchFamily="34" charset="0"/>
                <a:ea typeface="Arial" pitchFamily="34" charset="-122"/>
                <a:cs typeface="Arial" pitchFamily="34" charset="-120"/>
              </a:rPr>
              <a:t>טבלאות ומפתחות, ממשקים, עץ תפריטים ועיצוב מסכים</a:t>
            </a:r>
            <a:endParaRPr lang="en-US" sz="1150" dirty="0"/>
          </a:p>
        </p:txBody>
      </p:sp>
      <p:sp>
        <p:nvSpPr>
          <p:cNvPr id="20" name="Text 18"/>
          <p:cNvSpPr/>
          <p:nvPr/>
        </p:nvSpPr>
        <p:spPr>
          <a:xfrm>
            <a:off x="5093208" y="4206240"/>
            <a:ext cx="1965960" cy="320040"/>
          </a:xfrm>
          <a:prstGeom prst="rect">
            <a:avLst/>
          </a:prstGeom>
          <a:noFill/>
          <a:ln/>
        </p:spPr>
        <p:txBody>
          <a:bodyPr wrap="square" lIns="0" tIns="0" rIns="0" bIns="0" rtlCol="0" anchor="ctr"/>
          <a:lstStyle/>
          <a:p>
            <a:pPr rtl="1" algn="ctr" indent="0" marL="0">
              <a:buNone/>
            </a:pPr>
            <a:r>
              <a:rPr lang="en-US" sz="1100" b="1" dirty="0">
                <a:solidFill>
                  <a:srgbClr val="E8862E"/>
                </a:solidFill>
                <a:latin typeface="Arial" pitchFamily="34" charset="0"/>
                <a:ea typeface="Arial" pitchFamily="34" charset="-122"/>
                <a:cs typeface="Arial" pitchFamily="34" charset="-120"/>
              </a:rPr>
              <a:t>דוח 2 הוגש 30.6</a:t>
            </a:r>
            <a:endParaRPr lang="en-US" sz="1100" dirty="0"/>
          </a:p>
        </p:txBody>
      </p:sp>
      <p:sp>
        <p:nvSpPr>
          <p:cNvPr id="21" name="Shape 19"/>
          <p:cNvSpPr/>
          <p:nvPr/>
        </p:nvSpPr>
        <p:spPr>
          <a:xfrm>
            <a:off x="2734056" y="1600200"/>
            <a:ext cx="2148840" cy="3017520"/>
          </a:xfrm>
          <a:prstGeom prst="roundRect">
            <a:avLst>
              <a:gd name="adj" fmla="val 3404"/>
            </a:avLst>
          </a:prstGeom>
          <a:solidFill>
            <a:srgbClr val="EAF4F2"/>
          </a:solidFill>
          <a:ln/>
        </p:spPr>
      </p:sp>
      <p:sp>
        <p:nvSpPr>
          <p:cNvPr id="22" name="Shape 20"/>
          <p:cNvSpPr/>
          <p:nvPr/>
        </p:nvSpPr>
        <p:spPr>
          <a:xfrm>
            <a:off x="3579876" y="1828800"/>
            <a:ext cx="457200" cy="457200"/>
          </a:xfrm>
          <a:prstGeom prst="ellipse">
            <a:avLst/>
          </a:prstGeom>
          <a:solidFill>
            <a:srgbClr val="0F4C46"/>
          </a:solidFill>
          <a:ln/>
        </p:spPr>
      </p:sp>
      <p:sp>
        <p:nvSpPr>
          <p:cNvPr id="23" name="Text 21"/>
          <p:cNvSpPr/>
          <p:nvPr/>
        </p:nvSpPr>
        <p:spPr>
          <a:xfrm>
            <a:off x="3579876" y="1810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2"/>
          <p:cNvSpPr/>
          <p:nvPr/>
        </p:nvSpPr>
        <p:spPr>
          <a:xfrm>
            <a:off x="2825496" y="2377440"/>
            <a:ext cx="1965960" cy="594360"/>
          </a:xfrm>
          <a:prstGeom prst="rect">
            <a:avLst/>
          </a:prstGeom>
          <a:noFill/>
          <a:ln/>
        </p:spPr>
        <p:txBody>
          <a:bodyPr wrap="square" lIns="0" tIns="0" rIns="0" bIns="0" rtlCol="0" anchor="ctr"/>
          <a:lstStyle/>
          <a:p>
            <a:pPr rtl="1" algn="ctr" indent="0" marL="0">
              <a:buNone/>
            </a:pPr>
            <a:r>
              <a:rPr lang="en-US" sz="1500" b="1" dirty="0">
                <a:solidFill>
                  <a:srgbClr val="1F2937"/>
                </a:solidFill>
                <a:latin typeface="Arial" pitchFamily="34" charset="0"/>
                <a:ea typeface="Arial" pitchFamily="34" charset="-122"/>
                <a:cs typeface="Arial" pitchFamily="34" charset="-120"/>
              </a:rPr>
              <a:t>אב-טיפוס ואימות</a:t>
            </a:r>
            <a:endParaRPr lang="en-US" sz="1500" dirty="0"/>
          </a:p>
        </p:txBody>
      </p:sp>
      <p:sp>
        <p:nvSpPr>
          <p:cNvPr id="25" name="Text 23"/>
          <p:cNvSpPr/>
          <p:nvPr/>
        </p:nvSpPr>
        <p:spPr>
          <a:xfrm>
            <a:off x="2843784" y="2971800"/>
            <a:ext cx="1929384" cy="1234440"/>
          </a:xfrm>
          <a:prstGeom prst="rect">
            <a:avLst/>
          </a:prstGeom>
          <a:noFill/>
          <a:ln/>
        </p:spPr>
        <p:txBody>
          <a:bodyPr wrap="square" lIns="0" tIns="0" rIns="0" bIns="0" rtlCol="0" anchor="t"/>
          <a:lstStyle/>
          <a:p>
            <a:pPr rtl="1" algn="ctr" indent="0" marL="0">
              <a:buNone/>
            </a:pPr>
            <a:r>
              <a:rPr lang="en-US" sz="1150" dirty="0">
                <a:solidFill>
                  <a:srgbClr val="5B6B68"/>
                </a:solidFill>
                <a:latin typeface="Arial" pitchFamily="34" charset="0"/>
                <a:ea typeface="Arial" pitchFamily="34" charset="-122"/>
                <a:cs typeface="Arial" pitchFamily="34" charset="-120"/>
              </a:rPr>
              <a:t>אימות מול בעל החברה ותיקונים</a:t>
            </a:r>
            <a:endParaRPr lang="en-US" sz="1150" dirty="0"/>
          </a:p>
        </p:txBody>
      </p:sp>
      <p:sp>
        <p:nvSpPr>
          <p:cNvPr id="26" name="Text 24"/>
          <p:cNvSpPr/>
          <p:nvPr/>
        </p:nvSpPr>
        <p:spPr>
          <a:xfrm>
            <a:off x="2825496" y="4206240"/>
            <a:ext cx="1965960" cy="320040"/>
          </a:xfrm>
          <a:prstGeom prst="rect">
            <a:avLst/>
          </a:prstGeom>
          <a:noFill/>
          <a:ln/>
        </p:spPr>
        <p:txBody>
          <a:bodyPr wrap="square" lIns="0" tIns="0" rIns="0" bIns="0" rtlCol="0" anchor="ctr"/>
          <a:lstStyle/>
          <a:p>
            <a:pPr rtl="1" algn="ctr" indent="0" marL="0">
              <a:buNone/>
            </a:pPr>
            <a:r>
              <a:rPr lang="en-US" sz="1100" b="1" dirty="0">
                <a:solidFill>
                  <a:srgbClr val="1C7A6F"/>
                </a:solidFill>
                <a:latin typeface="Arial" pitchFamily="34" charset="0"/>
                <a:ea typeface="Arial" pitchFamily="34" charset="-122"/>
                <a:cs typeface="Arial" pitchFamily="34" charset="-120"/>
              </a:rPr>
              <a:t>יולי 2026</a:t>
            </a:r>
            <a:endParaRPr lang="en-US" sz="1100" dirty="0"/>
          </a:p>
        </p:txBody>
      </p:sp>
      <p:sp>
        <p:nvSpPr>
          <p:cNvPr id="27" name="Shape 25"/>
          <p:cNvSpPr/>
          <p:nvPr/>
        </p:nvSpPr>
        <p:spPr>
          <a:xfrm>
            <a:off x="466344" y="1600200"/>
            <a:ext cx="2148840" cy="3017520"/>
          </a:xfrm>
          <a:prstGeom prst="roundRect">
            <a:avLst>
              <a:gd name="adj" fmla="val 3404"/>
            </a:avLst>
          </a:prstGeom>
          <a:solidFill>
            <a:srgbClr val="EAF4F2"/>
          </a:solidFill>
          <a:ln/>
        </p:spPr>
      </p:sp>
      <p:sp>
        <p:nvSpPr>
          <p:cNvPr id="28" name="Shape 26"/>
          <p:cNvSpPr/>
          <p:nvPr/>
        </p:nvSpPr>
        <p:spPr>
          <a:xfrm>
            <a:off x="1312164" y="1828800"/>
            <a:ext cx="457200" cy="457200"/>
          </a:xfrm>
          <a:prstGeom prst="ellipse">
            <a:avLst/>
          </a:prstGeom>
          <a:solidFill>
            <a:srgbClr val="0F4C46"/>
          </a:solidFill>
          <a:ln/>
        </p:spPr>
      </p:sp>
      <p:sp>
        <p:nvSpPr>
          <p:cNvPr id="29" name="Text 27"/>
          <p:cNvSpPr/>
          <p:nvPr/>
        </p:nvSpPr>
        <p:spPr>
          <a:xfrm>
            <a:off x="1312164" y="1810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0" name="Text 28"/>
          <p:cNvSpPr/>
          <p:nvPr/>
        </p:nvSpPr>
        <p:spPr>
          <a:xfrm>
            <a:off x="557784" y="2377440"/>
            <a:ext cx="1965960" cy="594360"/>
          </a:xfrm>
          <a:prstGeom prst="rect">
            <a:avLst/>
          </a:prstGeom>
          <a:noFill/>
          <a:ln/>
        </p:spPr>
        <p:txBody>
          <a:bodyPr wrap="square" lIns="0" tIns="0" rIns="0" bIns="0" rtlCol="0" anchor="ctr"/>
          <a:lstStyle/>
          <a:p>
            <a:pPr rtl="1" algn="ctr" indent="0" marL="0">
              <a:buNone/>
            </a:pPr>
            <a:r>
              <a:rPr lang="en-US" sz="1500" b="1" dirty="0">
                <a:solidFill>
                  <a:srgbClr val="1F2937"/>
                </a:solidFill>
                <a:latin typeface="Arial" pitchFamily="34" charset="0"/>
                <a:ea typeface="Arial" pitchFamily="34" charset="-122"/>
                <a:cs typeface="Arial" pitchFamily="34" charset="-120"/>
              </a:rPr>
              <a:t>סיכום והצגה</a:t>
            </a:r>
            <a:endParaRPr lang="en-US" sz="1500" dirty="0"/>
          </a:p>
        </p:txBody>
      </p:sp>
      <p:sp>
        <p:nvSpPr>
          <p:cNvPr id="31" name="Text 29"/>
          <p:cNvSpPr/>
          <p:nvPr/>
        </p:nvSpPr>
        <p:spPr>
          <a:xfrm>
            <a:off x="576072" y="2971800"/>
            <a:ext cx="1929384" cy="1234440"/>
          </a:xfrm>
          <a:prstGeom prst="rect">
            <a:avLst/>
          </a:prstGeom>
          <a:noFill/>
          <a:ln/>
        </p:spPr>
        <p:txBody>
          <a:bodyPr wrap="square" lIns="0" tIns="0" rIns="0" bIns="0" rtlCol="0" anchor="t"/>
          <a:lstStyle/>
          <a:p>
            <a:pPr rtl="1" algn="ctr" indent="0" marL="0">
              <a:buNone/>
            </a:pPr>
            <a:r>
              <a:rPr lang="en-US" sz="1150" dirty="0">
                <a:solidFill>
                  <a:srgbClr val="5B6B68"/>
                </a:solidFill>
                <a:latin typeface="Arial" pitchFamily="34" charset="0"/>
                <a:ea typeface="Arial" pitchFamily="34" charset="-122"/>
                <a:cs typeface="Arial" pitchFamily="34" charset="-120"/>
              </a:rPr>
              <a:t>מצגת, מסקנות והמלצות, תיק פרויקט</a:t>
            </a:r>
            <a:endParaRPr lang="en-US" sz="1150" dirty="0"/>
          </a:p>
        </p:txBody>
      </p:sp>
      <p:sp>
        <p:nvSpPr>
          <p:cNvPr id="32" name="Text 30"/>
          <p:cNvSpPr/>
          <p:nvPr/>
        </p:nvSpPr>
        <p:spPr>
          <a:xfrm>
            <a:off x="557784" y="4206240"/>
            <a:ext cx="1965960" cy="320040"/>
          </a:xfrm>
          <a:prstGeom prst="rect">
            <a:avLst/>
          </a:prstGeom>
          <a:noFill/>
          <a:ln/>
        </p:spPr>
        <p:txBody>
          <a:bodyPr wrap="square" lIns="0" tIns="0" rIns="0" bIns="0" rtlCol="0" anchor="ctr"/>
          <a:lstStyle/>
          <a:p>
            <a:pPr rtl="1" algn="ctr" indent="0" marL="0">
              <a:buNone/>
            </a:pPr>
            <a:r>
              <a:rPr lang="en-US" sz="1100" b="1" dirty="0">
                <a:solidFill>
                  <a:srgbClr val="1C7A6F"/>
                </a:solidFill>
                <a:latin typeface="Arial" pitchFamily="34" charset="0"/>
                <a:ea typeface="Arial" pitchFamily="34" charset="-122"/>
                <a:cs typeface="Arial" pitchFamily="34" charset="-120"/>
              </a:rPr>
              <a:t>אוגוסט 2026</a:t>
            </a:r>
            <a:endParaRPr lang="en-US" sz="1100" dirty="0"/>
          </a:p>
        </p:txBody>
      </p:sp>
      <p:sp>
        <p:nvSpPr>
          <p:cNvPr id="33" name="Text 31"/>
          <p:cNvSpPr/>
          <p:nvPr/>
        </p:nvSpPr>
        <p:spPr>
          <a:xfrm>
            <a:off x="502920" y="4892040"/>
            <a:ext cx="11183112" cy="640080"/>
          </a:xfrm>
          <a:prstGeom prst="rect">
            <a:avLst/>
          </a:prstGeom>
          <a:noFill/>
          <a:ln/>
        </p:spPr>
        <p:txBody>
          <a:bodyPr wrap="square" lIns="0" tIns="0" rIns="0" bIns="0" rtlCol="0" anchor="ctr"/>
          <a:lstStyle/>
          <a:p>
            <a:pPr rtl="1" algn="r" indent="0" marL="0">
              <a:buNone/>
            </a:pPr>
            <a:r>
              <a:rPr lang="en-US" sz="1400" dirty="0">
                <a:solidFill>
                  <a:srgbClr val="1F2937"/>
                </a:solidFill>
                <a:latin typeface="Arial" pitchFamily="34" charset="0"/>
                <a:ea typeface="Arial" pitchFamily="34" charset="-122"/>
                <a:cs typeface="Arial" pitchFamily="34" charset="-120"/>
              </a:rPr>
              <a:t>כל שלב מסתיים בתוצר מאושר לפני המעבר לשלב הבא. שיטות איסוף המידע: ראיונות חצי-מובנים, תצפית ישירה וניתוח מסמכים, עם אימות כל תוצר מול בעל החברה.</a:t>
            </a:r>
            <a:endParaRPr lang="en-US" sz="1400" dirty="0"/>
          </a:p>
        </p:txBody>
      </p:sp>
      <p:sp>
        <p:nvSpPr>
          <p:cNvPr id="34" name="Text 32"/>
          <p:cNvSpPr/>
          <p:nvPr/>
        </p:nvSpPr>
        <p:spPr>
          <a:xfrm>
            <a:off x="502920" y="5623560"/>
            <a:ext cx="11183112" cy="457200"/>
          </a:xfrm>
          <a:prstGeom prst="rect">
            <a:avLst/>
          </a:prstGeom>
          <a:noFill/>
          <a:ln/>
        </p:spPr>
        <p:txBody>
          <a:bodyPr wrap="square" lIns="0" tIns="0" rIns="0" bIns="0" rtlCol="0" anchor="ctr"/>
          <a:lstStyle/>
          <a:p>
            <a:pPr rtl="1" algn="r" indent="0" marL="0">
              <a:buNone/>
            </a:pPr>
            <a:r>
              <a:rPr lang="en-US" sz="1400" b="1" dirty="0">
                <a:solidFill>
                  <a:srgbClr val="0F4C46"/>
                </a:solidFill>
                <a:latin typeface="Arial" pitchFamily="34" charset="0"/>
                <a:ea typeface="Arial" pitchFamily="34" charset="-122"/>
                <a:cs typeface="Arial" pitchFamily="34" charset="-120"/>
              </a:rPr>
              <a:t>כלים: draw.io לתרשימים | Figma לעיצוב המסכים | GanttProject לגאנט</a:t>
            </a:r>
            <a:endParaRPr lang="en-US" sz="1400" dirty="0"/>
          </a:p>
        </p:txBody>
      </p:sp>
      <p:sp>
        <p:nvSpPr>
          <p:cNvPr id="35" name="Text 33"/>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7</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תוכנית העבודה ותרשים הגאנט, סטטוס 30.6.2026</a:t>
            </a:r>
            <a:endParaRPr lang="en-US" sz="3000" dirty="0"/>
          </a:p>
        </p:txBody>
      </p:sp>
      <p:sp>
        <p:nvSpPr>
          <p:cNvPr id="3" name="Text 1"/>
          <p:cNvSpPr/>
          <p:nvPr/>
        </p:nvSpPr>
        <p:spPr>
          <a:xfrm>
            <a:off x="502920" y="987552"/>
            <a:ext cx="11183112" cy="548640"/>
          </a:xfrm>
          <a:prstGeom prst="rect">
            <a:avLst/>
          </a:prstGeom>
          <a:noFill/>
          <a:ln/>
        </p:spPr>
        <p:txBody>
          <a:bodyPr wrap="square" lIns="0" tIns="0" rIns="0" bIns="0" rtlCol="0" anchor="ctr"/>
          <a:lstStyle/>
          <a:p>
            <a:pPr rtl="1" algn="r" indent="0" marL="0">
              <a:buNone/>
            </a:pPr>
            <a:r>
              <a:rPr lang="en-US" sz="1400" dirty="0">
                <a:solidFill>
                  <a:srgbClr val="5B6B68"/>
                </a:solidFill>
                <a:latin typeface="Arial" pitchFamily="34" charset="0"/>
                <a:ea typeface="Arial" pitchFamily="34" charset="-122"/>
                <a:cs typeface="Arial" pitchFamily="34" charset="-120"/>
              </a:rPr>
              <a:t>התוכנית כוללת 31 פעילויות בארבעה שלבים, עם תלות בין הפעילויות ומרווחי ביטחון לפני כל הגשה. בירוק: מה שבוצע; בתכלת: המתוכנן להמשך. כל מועדי ההגשה נשמרו.</a:t>
            </a:r>
            <a:endParaRPr lang="en-US" sz="1400" dirty="0"/>
          </a:p>
        </p:txBody>
      </p:sp>
      <p:pic>
        <p:nvPicPr>
          <p:cNvPr id="4" name="Image 0" descr="gantt_status.png">    </p:cNvPr>
          <p:cNvPicPr>
            <a:picLocks noChangeAspect="1"/>
          </p:cNvPicPr>
          <p:nvPr/>
        </p:nvPicPr>
        <p:blipFill>
          <a:blip r:embed="rId1"/>
          <a:stretch>
            <a:fillRect/>
          </a:stretch>
        </p:blipFill>
        <p:spPr>
          <a:xfrm>
            <a:off x="1417320" y="1600200"/>
            <a:ext cx="9354312" cy="4892040"/>
          </a:xfrm>
          <a:prstGeom prst="rect">
            <a:avLst/>
          </a:prstGeom>
        </p:spPr>
      </p:pic>
      <p:sp>
        <p:nvSpPr>
          <p:cNvPr id="5" name="Text 2"/>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8</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איפיון: התהליך הארגוני המרכזי</a:t>
            </a:r>
            <a:endParaRPr lang="en-US" sz="3000" dirty="0"/>
          </a:p>
        </p:txBody>
      </p:sp>
      <p:pic>
        <p:nvPicPr>
          <p:cNvPr id="3" name="Image 0" descr="process.png">    </p:cNvPr>
          <p:cNvPicPr>
            <a:picLocks noChangeAspect="1"/>
          </p:cNvPicPr>
          <p:nvPr/>
        </p:nvPicPr>
        <p:blipFill>
          <a:blip r:embed="rId1"/>
          <a:stretch>
            <a:fillRect/>
          </a:stretch>
        </p:blipFill>
        <p:spPr>
          <a:xfrm>
            <a:off x="1783080" y="1234440"/>
            <a:ext cx="8622792" cy="4727448"/>
          </a:xfrm>
          <a:prstGeom prst="rect">
            <a:avLst/>
          </a:prstGeom>
        </p:spPr>
      </p:pic>
      <p:sp>
        <p:nvSpPr>
          <p:cNvPr id="4" name="Text 1"/>
          <p:cNvSpPr/>
          <p:nvPr/>
        </p:nvSpPr>
        <p:spPr>
          <a:xfrm>
            <a:off x="777240" y="6035040"/>
            <a:ext cx="10634472" cy="640080"/>
          </a:xfrm>
          <a:prstGeom prst="rect">
            <a:avLst/>
          </a:prstGeom>
          <a:noFill/>
          <a:ln/>
        </p:spPr>
        <p:txBody>
          <a:bodyPr wrap="square" lIns="0" tIns="0" rIns="0" bIns="0" rtlCol="0" anchor="ctr"/>
          <a:lstStyle/>
          <a:p>
            <a:pPr rtl="1" algn="ctr" indent="0" marL="0">
              <a:buNone/>
            </a:pPr>
            <a:r>
              <a:rPr lang="en-US" sz="1300" dirty="0">
                <a:solidFill>
                  <a:srgbClr val="5B6B68"/>
                </a:solidFill>
                <a:latin typeface="Arial" pitchFamily="34" charset="0"/>
                <a:ea typeface="Arial" pitchFamily="34" charset="-122"/>
                <a:cs typeface="Arial" pitchFamily="34" charset="-120"/>
              </a:rPr>
              <a:t>התהליך שמופה בראיונות ובתצפית: מקבלת הפנייה, דרך השמאות והצעת המחיר, ועד הביצוע, המסירה והגבייה. המערכת מתעדת ומנהלת כל תחנה בתהליך; העבודה הפיזית עצמה נשארת מחוץ לתחולה.</a:t>
            </a:r>
            <a:endParaRPr lang="en-US" sz="1300" dirty="0"/>
          </a:p>
        </p:txBody>
      </p:sp>
      <p:sp>
        <p:nvSpPr>
          <p:cNvPr id="5" name="Text 2"/>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9</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איפיון: מבנה מערכת המידע וסביבתה</a:t>
            </a:r>
            <a:endParaRPr lang="en-US" sz="3000" dirty="0"/>
          </a:p>
        </p:txBody>
      </p:sp>
      <p:pic>
        <p:nvPicPr>
          <p:cNvPr id="3" name="Image 0" descr="pdfimg/p07_05_1163x977.png">    </p:cNvPr>
          <p:cNvPicPr>
            <a:picLocks noChangeAspect="1"/>
          </p:cNvPicPr>
          <p:nvPr/>
        </p:nvPicPr>
        <p:blipFill>
          <a:blip r:embed="rId1"/>
          <a:stretch>
            <a:fillRect/>
          </a:stretch>
        </p:blipFill>
        <p:spPr>
          <a:xfrm>
            <a:off x="548640" y="1188720"/>
            <a:ext cx="5943600" cy="4992624"/>
          </a:xfrm>
          <a:prstGeom prst="rect">
            <a:avLst/>
          </a:prstGeom>
        </p:spPr>
      </p:pic>
      <p:sp>
        <p:nvSpPr>
          <p:cNvPr id="4" name="Shape 1"/>
          <p:cNvSpPr/>
          <p:nvPr/>
        </p:nvSpPr>
        <p:spPr>
          <a:xfrm>
            <a:off x="6720840" y="1188720"/>
            <a:ext cx="4965192" cy="4992624"/>
          </a:xfrm>
          <a:prstGeom prst="roundRect">
            <a:avLst>
              <a:gd name="adj" fmla="val 1473"/>
            </a:avLst>
          </a:prstGeom>
          <a:solidFill>
            <a:srgbClr val="EAF4F2"/>
          </a:solidFill>
          <a:ln/>
        </p:spPr>
      </p:sp>
      <p:sp>
        <p:nvSpPr>
          <p:cNvPr id="5" name="Text 2"/>
          <p:cNvSpPr/>
          <p:nvPr/>
        </p:nvSpPr>
        <p:spPr>
          <a:xfrm>
            <a:off x="6949440" y="1417320"/>
            <a:ext cx="4507992" cy="457200"/>
          </a:xfrm>
          <a:prstGeom prst="rect">
            <a:avLst/>
          </a:prstGeom>
          <a:noFill/>
          <a:ln/>
        </p:spPr>
        <p:txBody>
          <a:bodyPr wrap="square" lIns="0" tIns="0" rIns="0" bIns="0" rtlCol="0" anchor="ctr"/>
          <a:lstStyle/>
          <a:p>
            <a:pPr rtl="1" algn="r" indent="0" marL="0">
              <a:buNone/>
            </a:pPr>
            <a:r>
              <a:rPr lang="en-US" sz="1600" b="1" dirty="0">
                <a:solidFill>
                  <a:srgbClr val="0F4C46"/>
                </a:solidFill>
                <a:latin typeface="Arial" pitchFamily="34" charset="0"/>
                <a:ea typeface="Arial" pitchFamily="34" charset="-122"/>
                <a:cs typeface="Arial" pitchFamily="34" charset="-120"/>
              </a:rPr>
              <a:t>הגורמים החיצוניים שהמערכת מתממשקת מולם</a:t>
            </a:r>
            <a:endParaRPr lang="en-US" sz="1600" dirty="0"/>
          </a:p>
        </p:txBody>
      </p:sp>
      <p:sp>
        <p:nvSpPr>
          <p:cNvPr id="6" name="Text 3"/>
          <p:cNvSpPr/>
          <p:nvPr/>
        </p:nvSpPr>
        <p:spPr>
          <a:xfrm>
            <a:off x="6949440" y="2011680"/>
            <a:ext cx="4507992" cy="3931920"/>
          </a:xfrm>
          <a:prstGeom prst="rect">
            <a:avLst/>
          </a:prstGeom>
          <a:noFill/>
          <a:ln/>
        </p:spPr>
        <p:txBody>
          <a:bodyPr wrap="square" rtlCol="0" anchor="t"/>
          <a:lstStyle/>
          <a:p>
            <a:pPr algn="r" marL="342900" indent="-342900">
              <a:spcAft>
                <a:spcPts val="1100"/>
              </a:spcAft>
              <a:buSzPct val="100000"/>
              <a:buChar char="•"/>
            </a:pPr>
            <a:r>
              <a:rPr lang="en-US" sz="1350" dirty="0">
                <a:solidFill>
                  <a:srgbClr val="1F2937"/>
                </a:solidFill>
                <a:latin typeface="Arial" pitchFamily="34" charset="0"/>
                <a:ea typeface="Arial" pitchFamily="34" charset="-122"/>
                <a:cs typeface="Arial" pitchFamily="34" charset="-120"/>
              </a:rPr>
              <a:t>לקוחות: מוסרים את פרטי הבקשה, מקבלים הצעת מחיר וסטטוס</a:t>
            </a:r>
            <a:endParaRPr lang="en-US" sz="1350" dirty="0"/>
          </a:p>
          <a:p>
            <a:pPr algn="r" marL="342900" indent="-342900">
              <a:spcAft>
                <a:spcPts val="1100"/>
              </a:spcAft>
              <a:buSzPct val="100000"/>
              <a:buChar char="•"/>
            </a:pPr>
            <a:r>
              <a:rPr lang="en-US" sz="1350" dirty="0">
                <a:solidFill>
                  <a:srgbClr val="1F2937"/>
                </a:solidFill>
                <a:latin typeface="Arial" pitchFamily="34" charset="0"/>
                <a:ea typeface="Arial" pitchFamily="34" charset="-122"/>
                <a:cs typeface="Arial" pitchFamily="34" charset="-120"/>
              </a:rPr>
              <a:t>הנהלה ובעלי החברה: מקבלים דוחות ובקרה מבסיס הנתונים</a:t>
            </a:r>
            <a:endParaRPr lang="en-US" sz="1350" dirty="0"/>
          </a:p>
          <a:p>
            <a:pPr algn="r" marL="342900" indent="-342900">
              <a:spcAft>
                <a:spcPts val="1100"/>
              </a:spcAft>
              <a:buSzPct val="100000"/>
              <a:buChar char="•"/>
            </a:pPr>
            <a:r>
              <a:rPr lang="en-US" sz="1350" dirty="0">
                <a:solidFill>
                  <a:srgbClr val="1F2937"/>
                </a:solidFill>
                <a:latin typeface="Arial" pitchFamily="34" charset="0"/>
                <a:ea typeface="Arial" pitchFamily="34" charset="-122"/>
                <a:cs typeface="Arial" pitchFamily="34" charset="-120"/>
              </a:rPr>
              <a:t>רואה חשבון: מקבל נתוני שכר וחשבוניות בייצוא חודשי</a:t>
            </a:r>
            <a:endParaRPr lang="en-US" sz="1350" dirty="0"/>
          </a:p>
          <a:p>
            <a:pPr algn="r" marL="342900" indent="-342900">
              <a:spcAft>
                <a:spcPts val="1100"/>
              </a:spcAft>
              <a:buSzPct val="100000"/>
              <a:buChar char="•"/>
            </a:pPr>
            <a:r>
              <a:rPr lang="en-US" sz="1350" dirty="0">
                <a:solidFill>
                  <a:srgbClr val="1F2937"/>
                </a:solidFill>
                <a:latin typeface="Arial" pitchFamily="34" charset="0"/>
                <a:ea typeface="Arial" pitchFamily="34" charset="-122"/>
                <a:cs typeface="Arial" pitchFamily="34" charset="-120"/>
              </a:rPr>
              <a:t>ספקים: מזינים הזמנות חומר ועלויות</a:t>
            </a:r>
            <a:endParaRPr lang="en-US" sz="1350" dirty="0"/>
          </a:p>
          <a:p>
            <a:pPr algn="r" marL="342900" indent="-342900">
              <a:spcAft>
                <a:spcPts val="1100"/>
              </a:spcAft>
              <a:buSzPct val="100000"/>
              <a:buChar char="•"/>
            </a:pPr>
            <a:r>
              <a:rPr lang="en-US" sz="1350" dirty="0">
                <a:solidFill>
                  <a:srgbClr val="1F2937"/>
                </a:solidFill>
                <a:latin typeface="Arial" pitchFamily="34" charset="0"/>
                <a:ea typeface="Arial" pitchFamily="34" charset="-122"/>
                <a:cs typeface="Arial" pitchFamily="34" charset="-120"/>
              </a:rPr>
              <a:t>קבלני משנה וכוח אדם: זמינות עובדים מול שיוך לשיבוץ</a:t>
            </a:r>
            <a:endParaRPr lang="en-US" sz="1350" dirty="0"/>
          </a:p>
          <a:p>
            <a:pPr algn="r" marL="342900" indent="-342900">
              <a:spcAft>
                <a:spcPts val="1100"/>
              </a:spcAft>
              <a:buSzPct val="100000"/>
              <a:buChar char="•"/>
            </a:pPr>
            <a:r>
              <a:rPr lang="en-US" sz="1350" dirty="0">
                <a:solidFill>
                  <a:srgbClr val="1F2937"/>
                </a:solidFill>
                <a:latin typeface="Arial" pitchFamily="34" charset="0"/>
                <a:ea typeface="Arial" pitchFamily="34" charset="-122"/>
                <a:cs typeface="Arial" pitchFamily="34" charset="-120"/>
              </a:rPr>
              <a:t>חברות עזרה: הזמנת ציוד ורכבים לפי צורך</a:t>
            </a:r>
            <a:endParaRPr lang="en-US" sz="1350" dirty="0"/>
          </a:p>
        </p:txBody>
      </p:sp>
      <p:sp>
        <p:nvSpPr>
          <p:cNvPr id="7" name="Text 4"/>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10</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איפיון: תרשים זרימת הנתונים (DFD)</a:t>
            </a:r>
            <a:endParaRPr lang="en-US" sz="3000" dirty="0"/>
          </a:p>
        </p:txBody>
      </p:sp>
      <p:sp>
        <p:nvSpPr>
          <p:cNvPr id="3" name="Shape 1"/>
          <p:cNvSpPr/>
          <p:nvPr/>
        </p:nvSpPr>
        <p:spPr>
          <a:xfrm>
            <a:off x="502920" y="1280160"/>
            <a:ext cx="3108960" cy="5120640"/>
          </a:xfrm>
          <a:prstGeom prst="roundRect">
            <a:avLst>
              <a:gd name="adj" fmla="val 2353"/>
            </a:avLst>
          </a:prstGeom>
          <a:solidFill>
            <a:srgbClr val="EAF4F2"/>
          </a:solidFill>
          <a:ln/>
        </p:spPr>
      </p:sp>
      <p:sp>
        <p:nvSpPr>
          <p:cNvPr id="4" name="Text 2"/>
          <p:cNvSpPr/>
          <p:nvPr/>
        </p:nvSpPr>
        <p:spPr>
          <a:xfrm>
            <a:off x="685800" y="1508760"/>
            <a:ext cx="2743200" cy="548640"/>
          </a:xfrm>
          <a:prstGeom prst="rect">
            <a:avLst/>
          </a:prstGeom>
          <a:noFill/>
          <a:ln/>
        </p:spPr>
        <p:txBody>
          <a:bodyPr wrap="square" lIns="0" tIns="0" rIns="0" bIns="0" rtlCol="0" anchor="ctr"/>
          <a:lstStyle/>
          <a:p>
            <a:pPr rtl="1" algn="r" indent="0" marL="0">
              <a:buNone/>
            </a:pPr>
            <a:r>
              <a:rPr lang="en-US" sz="1600" b="1" dirty="0">
                <a:solidFill>
                  <a:srgbClr val="0F4C46"/>
                </a:solidFill>
                <a:latin typeface="Arial" pitchFamily="34" charset="0"/>
                <a:ea typeface="Arial" pitchFamily="34" charset="-122"/>
                <a:cs typeface="Arial" pitchFamily="34" charset="-120"/>
              </a:rPr>
              <a:t>מסלול הבקשה במערכת</a:t>
            </a:r>
            <a:endParaRPr lang="en-US" sz="1600" dirty="0"/>
          </a:p>
        </p:txBody>
      </p:sp>
      <p:sp>
        <p:nvSpPr>
          <p:cNvPr id="5" name="Text 3"/>
          <p:cNvSpPr/>
          <p:nvPr/>
        </p:nvSpPr>
        <p:spPr>
          <a:xfrm>
            <a:off x="685800" y="2148840"/>
            <a:ext cx="2743200" cy="4023360"/>
          </a:xfrm>
          <a:prstGeom prst="rect">
            <a:avLst/>
          </a:prstGeom>
          <a:noFill/>
          <a:ln/>
        </p:spPr>
        <p:txBody>
          <a:bodyPr wrap="square" rtlCol="0" anchor="t"/>
          <a:lstStyle/>
          <a:p>
            <a:pPr algn="r" marL="342900" indent="-342900">
              <a:spcAft>
                <a:spcPts val="1200"/>
              </a:spcAft>
              <a:buSzPct val="100000"/>
              <a:buChar char="•"/>
            </a:pPr>
            <a:r>
              <a:rPr lang="en-US" sz="1400" dirty="0">
                <a:solidFill>
                  <a:srgbClr val="1F2937"/>
                </a:solidFill>
                <a:latin typeface="Arial" pitchFamily="34" charset="0"/>
                <a:ea typeface="Arial" pitchFamily="34" charset="-122"/>
                <a:cs typeface="Arial" pitchFamily="34" charset="-120"/>
              </a:rPr>
              <a:t>קליטת פנייה מהלקוח</a:t>
            </a:r>
            <a:endParaRPr lang="en-US" sz="1400" dirty="0"/>
          </a:p>
          <a:p>
            <a:pPr algn="r" marL="342900" indent="-342900">
              <a:spcAft>
                <a:spcPts val="1200"/>
              </a:spcAft>
              <a:buSzPct val="100000"/>
              <a:buChar char="•"/>
            </a:pPr>
            <a:r>
              <a:rPr lang="en-US" sz="1400" dirty="0">
                <a:solidFill>
                  <a:srgbClr val="1F2937"/>
                </a:solidFill>
                <a:latin typeface="Arial" pitchFamily="34" charset="0"/>
                <a:ea typeface="Arial" pitchFamily="34" charset="-122"/>
                <a:cs typeface="Arial" pitchFamily="34" charset="-120"/>
              </a:rPr>
              <a:t>עיבוד פרטי הנזק / השיבוץ</a:t>
            </a:r>
            <a:endParaRPr lang="en-US" sz="1400" dirty="0"/>
          </a:p>
          <a:p>
            <a:pPr algn="r" marL="342900" indent="-342900">
              <a:spcAft>
                <a:spcPts val="1200"/>
              </a:spcAft>
              <a:buSzPct val="100000"/>
              <a:buChar char="•"/>
            </a:pPr>
            <a:r>
              <a:rPr lang="en-US" sz="1400" dirty="0">
                <a:solidFill>
                  <a:srgbClr val="1F2937"/>
                </a:solidFill>
                <a:latin typeface="Arial" pitchFamily="34" charset="0"/>
                <a:ea typeface="Arial" pitchFamily="34" charset="-122"/>
                <a:cs typeface="Arial" pitchFamily="34" charset="-120"/>
              </a:rPr>
              <a:t>הכנת הצעת מחיר ללקוח</a:t>
            </a:r>
            <a:endParaRPr lang="en-US" sz="1400" dirty="0"/>
          </a:p>
          <a:p>
            <a:pPr algn="r" marL="342900" indent="-342900">
              <a:spcAft>
                <a:spcPts val="1200"/>
              </a:spcAft>
              <a:buSzPct val="100000"/>
              <a:buChar char="•"/>
            </a:pPr>
            <a:r>
              <a:rPr lang="en-US" sz="1400" dirty="0">
                <a:solidFill>
                  <a:srgbClr val="1F2937"/>
                </a:solidFill>
                <a:latin typeface="Arial" pitchFamily="34" charset="0"/>
                <a:ea typeface="Arial" pitchFamily="34" charset="-122"/>
                <a:cs typeface="Arial" pitchFamily="34" charset="-120"/>
              </a:rPr>
              <a:t>אישור: חוזה, שיבוץ ושמירה במערכת</a:t>
            </a:r>
            <a:endParaRPr lang="en-US" sz="1400" dirty="0"/>
          </a:p>
          <a:p>
            <a:pPr algn="r" marL="342900" indent="-342900">
              <a:spcAft>
                <a:spcPts val="1200"/>
              </a:spcAft>
              <a:buSzPct val="100000"/>
              <a:buChar char="•"/>
            </a:pPr>
            <a:r>
              <a:rPr lang="en-US" sz="1400" dirty="0">
                <a:solidFill>
                  <a:srgbClr val="1F2937"/>
                </a:solidFill>
                <a:latin typeface="Arial" pitchFamily="34" charset="0"/>
                <a:ea typeface="Arial" pitchFamily="34" charset="-122"/>
                <a:cs typeface="Arial" pitchFamily="34" charset="-120"/>
              </a:rPr>
              <a:t>דחייה: סגירת התיק ותיעוד</a:t>
            </a:r>
            <a:endParaRPr lang="en-US" sz="1400" dirty="0"/>
          </a:p>
        </p:txBody>
      </p:sp>
      <p:pic>
        <p:nvPicPr>
          <p:cNvPr id="6" name="Image 0" descr="pdfimg/p09_06_1090x608.png">    </p:cNvPr>
          <p:cNvPicPr>
            <a:picLocks noChangeAspect="1"/>
          </p:cNvPicPr>
          <p:nvPr/>
        </p:nvPicPr>
        <p:blipFill>
          <a:blip r:embed="rId1"/>
          <a:stretch>
            <a:fillRect/>
          </a:stretch>
        </p:blipFill>
        <p:spPr>
          <a:xfrm>
            <a:off x="3886200" y="1691640"/>
            <a:ext cx="7772400" cy="4334256"/>
          </a:xfrm>
          <a:prstGeom prst="rect">
            <a:avLst/>
          </a:prstGeom>
        </p:spPr>
      </p:pic>
      <p:sp>
        <p:nvSpPr>
          <p:cNvPr id="7" name="Text 4"/>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11</a:t>
            </a:r>
            <a:endParaRPr lang="en-US" sz="1000" dirty="0"/>
          </a:p>
        </p:txBody>
      </p:sp>
      <p:sp>
        <p:nvSpPr>
          <p:cNvPr id="8" name="Text 5"/>
          <p:cNvSpPr/>
          <p:nvPr/>
        </p:nvSpPr>
        <p:spPr>
          <a:xfrm>
            <a:off x="320040" y="6400800"/>
            <a:ext cx="5120640" cy="274320"/>
          </a:xfrm>
          <a:prstGeom prst="rect">
            <a:avLst/>
          </a:prstGeom>
          <a:noFill/>
          <a:ln/>
        </p:spPr>
        <p:txBody>
          <a:bodyPr wrap="square" lIns="0" tIns="0" rIns="0" bIns="0" rtlCol="0" anchor="ctr"/>
          <a:lstStyle/>
          <a:p>
            <a:pPr rtl="1" algn="l" indent="0" marL="0">
              <a:buNone/>
            </a:pPr>
            <a:r>
              <a:rPr lang="en-US" sz="900" dirty="0">
                <a:solidFill>
                  <a:srgbClr val="9AA7A4"/>
                </a:solidFill>
                <a:latin typeface="Arial" pitchFamily="34" charset="0"/>
                <a:ea typeface="Arial" pitchFamily="34" charset="-122"/>
                <a:cs typeface="Arial" pitchFamily="34" charset="-120"/>
              </a:rPr>
              <a:t>פרקטיקום בניהול מערכות מידע, תשפ"ו | ס.א הנדסה | כאמל עואד</a:t>
            </a:r>
            <a:endParaRPr lang="en-US" sz="9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איפיון: מודל הנתונים (ERD)</a:t>
            </a:r>
            <a:endParaRPr lang="en-US" sz="3000" dirty="0"/>
          </a:p>
        </p:txBody>
      </p:sp>
      <p:pic>
        <p:nvPicPr>
          <p:cNvPr id="3" name="Image 0" descr="pdfimg/p10_07_1306x758.png">    </p:cNvPr>
          <p:cNvPicPr>
            <a:picLocks noChangeAspect="1"/>
          </p:cNvPicPr>
          <p:nvPr/>
        </p:nvPicPr>
        <p:blipFill>
          <a:blip r:embed="rId1"/>
          <a:stretch>
            <a:fillRect/>
          </a:stretch>
        </p:blipFill>
        <p:spPr>
          <a:xfrm>
            <a:off x="2011680" y="1234440"/>
            <a:ext cx="8165592" cy="4736592"/>
          </a:xfrm>
          <a:prstGeom prst="rect">
            <a:avLst/>
          </a:prstGeom>
        </p:spPr>
      </p:pic>
      <p:sp>
        <p:nvSpPr>
          <p:cNvPr id="4" name="Text 1"/>
          <p:cNvSpPr/>
          <p:nvPr/>
        </p:nvSpPr>
        <p:spPr>
          <a:xfrm>
            <a:off x="502920" y="6126480"/>
            <a:ext cx="11183112" cy="457200"/>
          </a:xfrm>
          <a:prstGeom prst="rect">
            <a:avLst/>
          </a:prstGeom>
          <a:noFill/>
          <a:ln/>
        </p:spPr>
        <p:txBody>
          <a:bodyPr wrap="square" lIns="0" tIns="0" rIns="0" bIns="0" rtlCol="0" anchor="ctr"/>
          <a:lstStyle/>
          <a:p>
            <a:pPr rtl="1" algn="ctr" indent="0" marL="0">
              <a:buNone/>
            </a:pPr>
            <a:r>
              <a:rPr lang="en-US" sz="1300" i="1" dirty="0">
                <a:solidFill>
                  <a:srgbClr val="5B6B68"/>
                </a:solidFill>
                <a:latin typeface="Arial" pitchFamily="34" charset="0"/>
                <a:ea typeface="Arial" pitchFamily="34" charset="-122"/>
                <a:cs typeface="Arial" pitchFamily="34" charset="-120"/>
              </a:rPr>
              <a:t>התרשים מגדיר את ישויות הליבה, עובדים, אתרים/קבלנים, שיבוצים, חשבוניות ושכר, את תכונותיהן ואת הקשרים ביניהן. בשלב העיצוב נגזר ממנו מבנה הטבלאות והמפתחות שיוצג בהמשך.</a:t>
            </a:r>
            <a:endParaRPr lang="en-US" sz="1300" dirty="0"/>
          </a:p>
        </p:txBody>
      </p:sp>
      <p:sp>
        <p:nvSpPr>
          <p:cNvPr id="5" name="Text 2"/>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12</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עיצוב: טבלאות בסיס הנתונים ומפתחות הגישה</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83112" cy="914400"/>
        </p:xfrm>
        <a:graphic>
          <a:graphicData uri="http://schemas.openxmlformats.org/drawingml/2006/table">
            <a:tbl>
              <a:tblPr/>
              <a:tblGrid>
                <a:gridCol w="3931920"/>
                <a:gridCol w="2926080"/>
                <a:gridCol w="2194560"/>
                <a:gridCol w="2130552"/>
              </a:tblGrid>
              <a:tr h="566928">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שדות עיקריים</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מפתחות זרים (FK)</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מפתח ראשי (PK)</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טבלה</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r>
              <a:tr h="566928">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שם, טלפון, מייל, כתובת, סוג לקוח</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אין</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לקוח</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לקוחות</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566928">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סוג, תאריך, תיאור, סטטוס, עלויות</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לקוח, קוד אתר</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מספר בקשה</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בקשות</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שם אתר, כתובת, איש קשר</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אין</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אתר</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אתרים/קבלנים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566928">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שם, ת.ז, מקצוע, סוג העסקה</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אין</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עובד</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עובדים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תאריכי תחילה וסיום, סטטוס</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עובד, קוד אתר, מס׳ בקשה</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שיבוץ</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שיבוצים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566928">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תאריך, סוג, סכום, סטטוס תשלום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אתר, קוד לקוח, קוד ספק</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מספר חשבונית</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חשבוניות והזמנות</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ימי עבודה, ברוטו, ניכויים, נטו</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עובד</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קוד עובד + חודש</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שכר</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bl>
          </a:graphicData>
        </a:graphic>
      </p:graphicFrame>
      <p:sp>
        <p:nvSpPr>
          <p:cNvPr id="4" name="Text 1"/>
          <p:cNvSpPr/>
          <p:nvPr/>
        </p:nvSpPr>
        <p:spPr>
          <a:xfrm>
            <a:off x="502920" y="6144768"/>
            <a:ext cx="11183112" cy="411480"/>
          </a:xfrm>
          <a:prstGeom prst="rect">
            <a:avLst/>
          </a:prstGeom>
          <a:noFill/>
          <a:ln/>
        </p:spPr>
        <p:txBody>
          <a:bodyPr wrap="square" lIns="0" tIns="0" rIns="0" bIns="0" rtlCol="0" anchor="ctr"/>
          <a:lstStyle/>
          <a:p>
            <a:pPr rtl="1" algn="r" indent="0" marL="0">
              <a:buNone/>
            </a:pPr>
            <a:r>
              <a:rPr lang="en-US" sz="1300" i="1" dirty="0">
                <a:solidFill>
                  <a:srgbClr val="5B6B68"/>
                </a:solidFill>
                <a:latin typeface="Arial" pitchFamily="34" charset="0"/>
                <a:ea typeface="Arial" pitchFamily="34" charset="-122"/>
                <a:cs typeface="Arial" pitchFamily="34" charset="-120"/>
              </a:rPr>
              <a:t>המודל חודד בשלב העיצוב: נוספו טבלאות לקוחות ובקשות, ולכל חשבונית הוגדר מספר ייחודי</a:t>
            </a:r>
            <a:endParaRPr lang="en-US" sz="1300" dirty="0"/>
          </a:p>
        </p:txBody>
      </p:sp>
      <p:sp>
        <p:nvSpPr>
          <p:cNvPr id="5" name="Text 2"/>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13</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עיצוב: הממשקים עם סביבות המערכת</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914400"/>
        </p:xfrm>
        <a:graphic>
          <a:graphicData uri="http://schemas.openxmlformats.org/drawingml/2006/table">
            <a:tbl>
              <a:tblPr/>
              <a:tblGrid>
                <a:gridCol w="3749040"/>
                <a:gridCol w="3657600"/>
                <a:gridCol w="1371600"/>
                <a:gridCol w="2404872"/>
              </a:tblGrid>
              <a:tr h="64008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אופן מימוש מתוכנן</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מידע מועבר</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כיוון</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גורם חיצוני</a:t>
                      </a:r>
                      <a:endParaRPr lang="en-US" sz="13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0F4C46"/>
                    </a:solidFill>
                  </a:tcPr>
                </a:tc>
              </a:tr>
              <a:tr h="640080">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מסכי קליטת בקשה והצעת מחיר</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פרטי בקשה נכנסים; הצעה וסטטוס יוצאים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דו-כיווני</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לקוחות</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640080">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תפריט דוחות בהרשאת הנהלה בלבד</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דוחות שיבוצים, חשבוניות ושכר</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יוצא</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הנהלה ובעלי החברה</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r h="640080">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ייצוא קובץ Excel/CSV אחת לחודש</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נתוני שכר חודשי וחשבוניות</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יוצא</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רואה חשבון</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640080">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מסך ניהול חשבוניות והזמנות חומר</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פרטי הזמנת חומר ועלות</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נכנס</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ספקים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r h="640080">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מסך שיוך עובד לשיבוץ</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זמינות עובד מול שיוך ולוח זמנים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דו-כיווני</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קבלני משנה וכוח אדם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4FAF8"/>
                    </a:solidFill>
                  </a:tcPr>
                </a:tc>
              </a:tr>
              <a:tr h="640080">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רישום בטבלת החשבוניות; מסך ייעודי בהמשך</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הזמנת ציוד ורכבים ועלותם</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נכנס</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937"/>
                          </a:solidFill>
                          <a:latin typeface="Arial" pitchFamily="34" charset="0"/>
                          <a:ea typeface="Arial" pitchFamily="34" charset="-122"/>
                          <a:cs typeface="Arial" pitchFamily="34" charset="-120"/>
                        </a:rPr>
                        <a:t>חברות עזרה</a:t>
                      </a:r>
                      <a:endParaRPr lang="en-US" sz="1200" dirty="0">
                        <a:latin typeface="Arial" charset="0"/>
                        <a:ea typeface="Arial" charset="0"/>
                        <a:cs typeface="Arial" charset="0"/>
                      </a:endParaRPr>
                    </a:p>
                  </a:txBody>
                  <a:tcPr marL="54864" marR="54864" marT="54864" marB="54864" anchor="ctr">
                    <a:lnL w="9525" cap="flat" cmpd="sng" algn="ctr">
                      <a:solidFill>
                        <a:srgbClr val="D5E3DF"/>
                      </a:solidFill>
                      <a:prstDash val="solid"/>
                      <a:round/>
                      <a:headEnd type="none" w="med" len="med"/>
                      <a:tailEnd type="none" w="med" len="med"/>
                    </a:lnL>
                    <a:lnR w="9525" cap="flat" cmpd="sng" algn="ctr">
                      <a:solidFill>
                        <a:srgbClr val="D5E3DF"/>
                      </a:solidFill>
                      <a:prstDash val="solid"/>
                      <a:round/>
                      <a:headEnd type="none" w="med" len="med"/>
                      <a:tailEnd type="none" w="med" len="med"/>
                    </a:lnR>
                    <a:lnT w="9525" cap="flat" cmpd="sng" algn="ctr">
                      <a:solidFill>
                        <a:srgbClr val="D5E3DF"/>
                      </a:solidFill>
                      <a:prstDash val="solid"/>
                      <a:round/>
                      <a:headEnd type="none" w="med" len="med"/>
                      <a:tailEnd type="none" w="med" len="med"/>
                    </a:lnT>
                    <a:lnB w="9525" cap="flat" cmpd="sng" algn="ctr">
                      <a:solidFill>
                        <a:srgbClr val="D5E3DF"/>
                      </a:solidFill>
                      <a:prstDash val="solid"/>
                      <a:round/>
                      <a:headEnd type="none" w="med" len="med"/>
                      <a:tailEnd type="none" w="med" len="med"/>
                    </a:lnB>
                    <a:solidFill>
                      <a:srgbClr val="FFFFFF"/>
                    </a:solidFill>
                  </a:tcPr>
                </a:tc>
              </a:tr>
            </a:tbl>
          </a:graphicData>
        </a:graphic>
      </p:graphicFrame>
      <p:sp>
        <p:nvSpPr>
          <p:cNvPr id="4" name="Text 1"/>
          <p:cNvSpPr/>
          <p:nvPr/>
        </p:nvSpPr>
        <p:spPr>
          <a:xfrm>
            <a:off x="502920" y="5989320"/>
            <a:ext cx="11183112" cy="411480"/>
          </a:xfrm>
          <a:prstGeom prst="rect">
            <a:avLst/>
          </a:prstGeom>
          <a:noFill/>
          <a:ln/>
        </p:spPr>
        <p:txBody>
          <a:bodyPr wrap="square" lIns="0" tIns="0" rIns="0" bIns="0" rtlCol="0" anchor="ctr"/>
          <a:lstStyle/>
          <a:p>
            <a:pPr rtl="1" algn="r" indent="0" marL="0">
              <a:buNone/>
            </a:pPr>
            <a:r>
              <a:rPr lang="en-US" sz="1300" i="1" dirty="0">
                <a:solidFill>
                  <a:srgbClr val="5B6B68"/>
                </a:solidFill>
                <a:latin typeface="Arial" pitchFamily="34" charset="0"/>
                <a:ea typeface="Arial" pitchFamily="34" charset="-122"/>
                <a:cs typeface="Arial" pitchFamily="34" charset="-120"/>
              </a:rPr>
              <a:t>בשלב זה הממשקים אינם ממוחשבים ישירות אלא מתבצעים דרך מסכי המערכת; היוצא מן הכלל הוא הייצוא החודשי לרואה החשבון</a:t>
            </a:r>
            <a:endParaRPr lang="en-US" sz="1300" dirty="0"/>
          </a:p>
        </p:txBody>
      </p:sp>
      <p:sp>
        <p:nvSpPr>
          <p:cNvPr id="5" name="Text 2"/>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14</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עיצוב: עץ התפריטים לפי תפקידי המשתמשים</a:t>
            </a:r>
            <a:endParaRPr lang="en-US" sz="3000" dirty="0"/>
          </a:p>
        </p:txBody>
      </p:sp>
      <p:pic>
        <p:nvPicPr>
          <p:cNvPr id="3" name="Image 0" descr="pdfimg/p14_08_1141x652.png">    </p:cNvPr>
          <p:cNvPicPr>
            <a:picLocks noChangeAspect="1"/>
          </p:cNvPicPr>
          <p:nvPr/>
        </p:nvPicPr>
        <p:blipFill>
          <a:blip r:embed="rId1"/>
          <a:stretch>
            <a:fillRect/>
          </a:stretch>
        </p:blipFill>
        <p:spPr>
          <a:xfrm>
            <a:off x="1965960" y="1234440"/>
            <a:ext cx="8257032" cy="4718304"/>
          </a:xfrm>
          <a:prstGeom prst="rect">
            <a:avLst/>
          </a:prstGeom>
        </p:spPr>
      </p:pic>
      <p:sp>
        <p:nvSpPr>
          <p:cNvPr id="4" name="Text 1"/>
          <p:cNvSpPr/>
          <p:nvPr/>
        </p:nvSpPr>
        <p:spPr>
          <a:xfrm>
            <a:off x="502920" y="6126480"/>
            <a:ext cx="11183112" cy="548640"/>
          </a:xfrm>
          <a:prstGeom prst="rect">
            <a:avLst/>
          </a:prstGeom>
          <a:noFill/>
          <a:ln/>
        </p:spPr>
        <p:txBody>
          <a:bodyPr wrap="square" lIns="0" tIns="0" rIns="0" bIns="0" rtlCol="0" anchor="ctr"/>
          <a:lstStyle/>
          <a:p>
            <a:pPr rtl="1" algn="ctr" indent="0" marL="0">
              <a:buNone/>
            </a:pPr>
            <a:r>
              <a:rPr lang="en-US" sz="1300" dirty="0">
                <a:solidFill>
                  <a:srgbClr val="5B6B68"/>
                </a:solidFill>
                <a:latin typeface="Arial" pitchFamily="34" charset="0"/>
                <a:ea typeface="Arial" pitchFamily="34" charset="-122"/>
                <a:cs typeface="Arial" pitchFamily="34" charset="-120"/>
              </a:rPr>
              <a:t>חמישה ענפים תפעוליים הנגזרים מהטבלאות ומהתהליך. הגישה נקבעת לפי תפקיד: נציג השירות רואה את ענף הלקוחות, מנהל העבודה גם את העובדים והאתרים, וההנהלה את הכול, כולל שכר וכספים.</a:t>
            </a:r>
            <a:endParaRPr lang="en-US" sz="1300" dirty="0"/>
          </a:p>
        </p:txBody>
      </p:sp>
      <p:sp>
        <p:nvSpPr>
          <p:cNvPr id="5" name="Text 2"/>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15</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עיצוב: מסכי המערכת (Figma)</a:t>
            </a:r>
            <a:endParaRPr lang="en-US" sz="3000" dirty="0"/>
          </a:p>
        </p:txBody>
      </p:sp>
      <p:pic>
        <p:nvPicPr>
          <p:cNvPr id="3" name="Image 0" descr="pdfimg/p15_09_900x695.png">    </p:cNvPr>
          <p:cNvPicPr>
            <a:picLocks noChangeAspect="1"/>
          </p:cNvPicPr>
          <p:nvPr/>
        </p:nvPicPr>
        <p:blipFill>
          <a:blip r:embed="rId1"/>
          <a:stretch>
            <a:fillRect/>
          </a:stretch>
        </p:blipFill>
        <p:spPr>
          <a:xfrm>
            <a:off x="8375904" y="1188720"/>
            <a:ext cx="3310128" cy="2240280"/>
          </a:xfrm>
          <a:prstGeom prst="rect">
            <a:avLst/>
          </a:prstGeom>
          <a:effectLst>
            <a:outerShdw sx="100000" sy="100000" kx="0" ky="0" algn="bl" rotWithShape="0" blurRad="76200" dist="25400" dir="5400000">
              <a:srgbClr val="9AB5AF">
                <a:alpha val="50000"/>
              </a:srgbClr>
            </a:outerShdw>
          </a:effectLst>
        </p:spPr>
      </p:pic>
      <p:sp>
        <p:nvSpPr>
          <p:cNvPr id="4" name="Text 1"/>
          <p:cNvSpPr/>
          <p:nvPr/>
        </p:nvSpPr>
        <p:spPr>
          <a:xfrm>
            <a:off x="6135624" y="2034540"/>
            <a:ext cx="2103120" cy="548640"/>
          </a:xfrm>
          <a:prstGeom prst="rect">
            <a:avLst/>
          </a:prstGeom>
          <a:noFill/>
          <a:ln/>
        </p:spPr>
        <p:txBody>
          <a:bodyPr wrap="square" lIns="0" tIns="0" rIns="0" bIns="0" rtlCol="0" anchor="ctr"/>
          <a:lstStyle/>
          <a:p>
            <a:pPr rtl="1" algn="r" indent="0" marL="0">
              <a:buNone/>
            </a:pPr>
            <a:r>
              <a:rPr lang="en-US" sz="1500" b="1" dirty="0">
                <a:solidFill>
                  <a:srgbClr val="0F4C46"/>
                </a:solidFill>
                <a:latin typeface="Arial" pitchFamily="34" charset="0"/>
                <a:ea typeface="Arial" pitchFamily="34" charset="-122"/>
                <a:cs typeface="Arial" pitchFamily="34" charset="-120"/>
              </a:rPr>
              <a:t>קליטת בקשה חדשה</a:t>
            </a:r>
            <a:endParaRPr lang="en-US" sz="1500" dirty="0"/>
          </a:p>
        </p:txBody>
      </p:sp>
      <p:pic>
        <p:nvPicPr>
          <p:cNvPr id="5" name="Image 1" descr="pdfimg/p16_10_900x646.png">    </p:cNvPr>
          <p:cNvPicPr>
            <a:picLocks noChangeAspect="1"/>
          </p:cNvPicPr>
          <p:nvPr/>
        </p:nvPicPr>
        <p:blipFill>
          <a:blip r:embed="rId2"/>
          <a:stretch>
            <a:fillRect/>
          </a:stretch>
        </p:blipFill>
        <p:spPr>
          <a:xfrm>
            <a:off x="2688336" y="1188720"/>
            <a:ext cx="3310128" cy="2240280"/>
          </a:xfrm>
          <a:prstGeom prst="rect">
            <a:avLst/>
          </a:prstGeom>
          <a:effectLst>
            <a:outerShdw sx="100000" sy="100000" kx="0" ky="0" algn="bl" rotWithShape="0" blurRad="76200" dist="25400" dir="5400000">
              <a:srgbClr val="9AB5AF">
                <a:alpha val="50000"/>
              </a:srgbClr>
            </a:outerShdw>
          </a:effectLst>
        </p:spPr>
      </p:pic>
      <p:sp>
        <p:nvSpPr>
          <p:cNvPr id="6" name="Text 2"/>
          <p:cNvSpPr/>
          <p:nvPr/>
        </p:nvSpPr>
        <p:spPr>
          <a:xfrm>
            <a:off x="448056" y="2034540"/>
            <a:ext cx="2103120" cy="548640"/>
          </a:xfrm>
          <a:prstGeom prst="rect">
            <a:avLst/>
          </a:prstGeom>
          <a:noFill/>
          <a:ln/>
        </p:spPr>
        <p:txBody>
          <a:bodyPr wrap="square" lIns="0" tIns="0" rIns="0" bIns="0" rtlCol="0" anchor="ctr"/>
          <a:lstStyle/>
          <a:p>
            <a:pPr rtl="1" algn="r" indent="0" marL="0">
              <a:buNone/>
            </a:pPr>
            <a:r>
              <a:rPr lang="en-US" sz="1500" b="1" dirty="0">
                <a:solidFill>
                  <a:srgbClr val="0F4C46"/>
                </a:solidFill>
                <a:latin typeface="Arial" pitchFamily="34" charset="0"/>
                <a:ea typeface="Arial" pitchFamily="34" charset="-122"/>
                <a:cs typeface="Arial" pitchFamily="34" charset="-120"/>
              </a:rPr>
              <a:t>הצעת מחיר ללקוח</a:t>
            </a:r>
            <a:endParaRPr lang="en-US" sz="1500" dirty="0"/>
          </a:p>
        </p:txBody>
      </p:sp>
      <p:pic>
        <p:nvPicPr>
          <p:cNvPr id="7" name="Image 2" descr="pdfimg/p17_12_900x593.png">    </p:cNvPr>
          <p:cNvPicPr>
            <a:picLocks noChangeAspect="1"/>
          </p:cNvPicPr>
          <p:nvPr/>
        </p:nvPicPr>
        <p:blipFill>
          <a:blip r:embed="rId3"/>
          <a:stretch>
            <a:fillRect/>
          </a:stretch>
        </p:blipFill>
        <p:spPr>
          <a:xfrm>
            <a:off x="8375904" y="3913632"/>
            <a:ext cx="3310128" cy="2240280"/>
          </a:xfrm>
          <a:prstGeom prst="rect">
            <a:avLst/>
          </a:prstGeom>
          <a:effectLst>
            <a:outerShdw sx="100000" sy="100000" kx="0" ky="0" algn="bl" rotWithShape="0" blurRad="76200" dist="25400" dir="5400000">
              <a:srgbClr val="9AB5AF">
                <a:alpha val="50000"/>
              </a:srgbClr>
            </a:outerShdw>
          </a:effectLst>
        </p:spPr>
      </p:pic>
      <p:sp>
        <p:nvSpPr>
          <p:cNvPr id="8" name="Text 3"/>
          <p:cNvSpPr/>
          <p:nvPr/>
        </p:nvSpPr>
        <p:spPr>
          <a:xfrm>
            <a:off x="6135624" y="4759452"/>
            <a:ext cx="2103120" cy="548640"/>
          </a:xfrm>
          <a:prstGeom prst="rect">
            <a:avLst/>
          </a:prstGeom>
          <a:noFill/>
          <a:ln/>
        </p:spPr>
        <p:txBody>
          <a:bodyPr wrap="square" lIns="0" tIns="0" rIns="0" bIns="0" rtlCol="0" anchor="ctr"/>
          <a:lstStyle/>
          <a:p>
            <a:pPr rtl="1" algn="r" indent="0" marL="0">
              <a:buNone/>
            </a:pPr>
            <a:r>
              <a:rPr lang="en-US" sz="1500" b="1" dirty="0">
                <a:solidFill>
                  <a:srgbClr val="0F4C46"/>
                </a:solidFill>
                <a:latin typeface="Arial" pitchFamily="34" charset="0"/>
                <a:ea typeface="Arial" pitchFamily="34" charset="-122"/>
                <a:cs typeface="Arial" pitchFamily="34" charset="-120"/>
              </a:rPr>
              <a:t>שיוך עובד לשיבוץ</a:t>
            </a:r>
            <a:endParaRPr lang="en-US" sz="1500" dirty="0"/>
          </a:p>
        </p:txBody>
      </p:sp>
      <p:pic>
        <p:nvPicPr>
          <p:cNvPr id="9" name="Image 3" descr="pdfimg/p18_13_901x724.png">    </p:cNvPr>
          <p:cNvPicPr>
            <a:picLocks noChangeAspect="1"/>
          </p:cNvPicPr>
          <p:nvPr/>
        </p:nvPicPr>
        <p:blipFill>
          <a:blip r:embed="rId4"/>
          <a:stretch>
            <a:fillRect/>
          </a:stretch>
        </p:blipFill>
        <p:spPr>
          <a:xfrm>
            <a:off x="2688336" y="3913632"/>
            <a:ext cx="3310128" cy="2240280"/>
          </a:xfrm>
          <a:prstGeom prst="rect">
            <a:avLst/>
          </a:prstGeom>
          <a:effectLst>
            <a:outerShdw sx="100000" sy="100000" kx="0" ky="0" algn="bl" rotWithShape="0" blurRad="76200" dist="25400" dir="5400000">
              <a:srgbClr val="9AB5AF">
                <a:alpha val="50000"/>
              </a:srgbClr>
            </a:outerShdw>
          </a:effectLst>
        </p:spPr>
      </p:pic>
      <p:sp>
        <p:nvSpPr>
          <p:cNvPr id="10" name="Text 4"/>
          <p:cNvSpPr/>
          <p:nvPr/>
        </p:nvSpPr>
        <p:spPr>
          <a:xfrm>
            <a:off x="448056" y="4759452"/>
            <a:ext cx="2103120" cy="548640"/>
          </a:xfrm>
          <a:prstGeom prst="rect">
            <a:avLst/>
          </a:prstGeom>
          <a:noFill/>
          <a:ln/>
        </p:spPr>
        <p:txBody>
          <a:bodyPr wrap="square" lIns="0" tIns="0" rIns="0" bIns="0" rtlCol="0" anchor="ctr"/>
          <a:lstStyle/>
          <a:p>
            <a:pPr rtl="1" algn="r" indent="0" marL="0">
              <a:buNone/>
            </a:pPr>
            <a:r>
              <a:rPr lang="en-US" sz="1500" b="1" dirty="0">
                <a:solidFill>
                  <a:srgbClr val="0F4C46"/>
                </a:solidFill>
                <a:latin typeface="Arial" pitchFamily="34" charset="0"/>
                <a:ea typeface="Arial" pitchFamily="34" charset="-122"/>
                <a:cs typeface="Arial" pitchFamily="34" charset="-120"/>
              </a:rPr>
              <a:t>דוח שכר חודשי</a:t>
            </a:r>
            <a:endParaRPr lang="en-US" sz="1500" dirty="0"/>
          </a:p>
        </p:txBody>
      </p:sp>
      <p:sp>
        <p:nvSpPr>
          <p:cNvPr id="11" name="Text 5"/>
          <p:cNvSpPr/>
          <p:nvPr/>
        </p:nvSpPr>
        <p:spPr>
          <a:xfrm>
            <a:off x="502920" y="6446520"/>
            <a:ext cx="11183112" cy="347472"/>
          </a:xfrm>
          <a:prstGeom prst="rect">
            <a:avLst/>
          </a:prstGeom>
          <a:noFill/>
          <a:ln/>
        </p:spPr>
        <p:txBody>
          <a:bodyPr wrap="square" lIns="0" tIns="0" rIns="0" bIns="0" rtlCol="0" anchor="ctr"/>
          <a:lstStyle/>
          <a:p>
            <a:pPr rtl="1" algn="ctr" indent="0" marL="0">
              <a:buNone/>
            </a:pPr>
            <a:r>
              <a:rPr lang="en-US" sz="1200" i="1" dirty="0">
                <a:solidFill>
                  <a:srgbClr val="5B6B68"/>
                </a:solidFill>
                <a:latin typeface="Arial" pitchFamily="34" charset="0"/>
                <a:ea typeface="Arial" pitchFamily="34" charset="-122"/>
                <a:cs typeface="Arial" pitchFamily="34" charset="-120"/>
              </a:rPr>
              <a:t>שני מסכים נוספים: עיבוד בקשה וניהול חשבוניות; כל ששת המסכים עוצבו עיצוב מלא</a:t>
            </a:r>
            <a:endParaRPr lang="en-US" sz="1200" dirty="0"/>
          </a:p>
        </p:txBody>
      </p:sp>
      <p:sp>
        <p:nvSpPr>
          <p:cNvPr id="12" name="Text 6"/>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16</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rtl="1" algn="r" indent="0" marL="0">
              <a:buNone/>
            </a:pPr>
            <a:r>
              <a:rPr lang="en-US" sz="3000" b="1" dirty="0">
                <a:solidFill>
                  <a:srgbClr val="0F4C46"/>
                </a:solidFill>
                <a:latin typeface="Arial" pitchFamily="34" charset="0"/>
                <a:ea typeface="Arial" pitchFamily="34" charset="-122"/>
                <a:cs typeface="Arial" pitchFamily="34" charset="-120"/>
              </a:rPr>
              <a:t>רמת המורכבות, אתגרים ודרכי התמודדות</a:t>
            </a:r>
            <a:endParaRPr lang="en-US" sz="3000" dirty="0"/>
          </a:p>
        </p:txBody>
      </p:sp>
      <p:sp>
        <p:nvSpPr>
          <p:cNvPr id="3" name="Text 1"/>
          <p:cNvSpPr/>
          <p:nvPr/>
        </p:nvSpPr>
        <p:spPr>
          <a:xfrm>
            <a:off x="6153912" y="1188720"/>
            <a:ext cx="5532120" cy="457200"/>
          </a:xfrm>
          <a:prstGeom prst="rect">
            <a:avLst/>
          </a:prstGeom>
          <a:noFill/>
          <a:ln/>
        </p:spPr>
        <p:txBody>
          <a:bodyPr wrap="square" lIns="0" tIns="0" rIns="0" bIns="0" rtlCol="0" anchor="ctr"/>
          <a:lstStyle/>
          <a:p>
            <a:pPr rtl="1" algn="r" indent="0" marL="0">
              <a:buNone/>
            </a:pPr>
            <a:r>
              <a:rPr lang="en-US" sz="1900" b="1" dirty="0">
                <a:solidFill>
                  <a:srgbClr val="0F4C46"/>
                </a:solidFill>
                <a:latin typeface="Arial" pitchFamily="34" charset="0"/>
                <a:ea typeface="Arial" pitchFamily="34" charset="-122"/>
                <a:cs typeface="Arial" pitchFamily="34" charset="-120"/>
              </a:rPr>
              <a:t>מקורות המורכבות</a:t>
            </a:r>
            <a:endParaRPr lang="en-US" sz="1900" dirty="0"/>
          </a:p>
        </p:txBody>
      </p:sp>
      <p:sp>
        <p:nvSpPr>
          <p:cNvPr id="4" name="Text 2"/>
          <p:cNvSpPr/>
          <p:nvPr/>
        </p:nvSpPr>
        <p:spPr>
          <a:xfrm>
            <a:off x="6153912" y="1737360"/>
            <a:ext cx="5532120" cy="2194560"/>
          </a:xfrm>
          <a:prstGeom prst="rect">
            <a:avLst/>
          </a:prstGeom>
          <a:noFill/>
          <a:ln/>
        </p:spPr>
        <p:txBody>
          <a:bodyPr wrap="square" rtlCol="0" anchor="t"/>
          <a:lstStyle/>
          <a:p>
            <a:pPr algn="r" marL="342900" indent="-342900">
              <a:spcAft>
                <a:spcPts val="1000"/>
              </a:spcAft>
              <a:buSzPct val="100000"/>
              <a:buChar char="•"/>
            </a:pPr>
            <a:r>
              <a:rPr lang="en-US" sz="1450" dirty="0">
                <a:solidFill>
                  <a:srgbClr val="1F2937"/>
                </a:solidFill>
                <a:latin typeface="Arial" pitchFamily="34" charset="0"/>
                <a:ea typeface="Arial" pitchFamily="34" charset="-122"/>
                <a:cs typeface="Arial" pitchFamily="34" charset="-120"/>
              </a:rPr>
              <a:t>שבע טבלאות קשורות ותהליך שחוצה את כל הארגון</a:t>
            </a:r>
            <a:endParaRPr lang="en-US" sz="1450" dirty="0"/>
          </a:p>
          <a:p>
            <a:pPr algn="r" marL="342900" indent="-342900">
              <a:spcAft>
                <a:spcPts val="1000"/>
              </a:spcAft>
              <a:buSzPct val="100000"/>
              <a:buChar char="•"/>
            </a:pPr>
            <a:r>
              <a:rPr lang="en-US" sz="1450" dirty="0">
                <a:solidFill>
                  <a:srgbClr val="1F2937"/>
                </a:solidFill>
                <a:latin typeface="Arial" pitchFamily="34" charset="0"/>
                <a:ea typeface="Arial" pitchFamily="34" charset="-122"/>
                <a:cs typeface="Arial" pitchFamily="34" charset="-120"/>
              </a:rPr>
              <a:t>שישה גורמי חוץ: לקוחות, ביטוח, ספקים, קבלני משנה</a:t>
            </a:r>
            <a:endParaRPr lang="en-US" sz="1450" dirty="0"/>
          </a:p>
          <a:p>
            <a:pPr algn="r" marL="342900" indent="-342900">
              <a:spcAft>
                <a:spcPts val="1000"/>
              </a:spcAft>
              <a:buSzPct val="100000"/>
              <a:buChar char="•"/>
            </a:pPr>
            <a:r>
              <a:rPr lang="en-US" sz="1450" dirty="0">
                <a:solidFill>
                  <a:srgbClr val="1F2937"/>
                </a:solidFill>
                <a:latin typeface="Arial" pitchFamily="34" charset="0"/>
                <a:ea typeface="Arial" pitchFamily="34" charset="-122"/>
                <a:cs typeface="Arial" pitchFamily="34" charset="-120"/>
              </a:rPr>
              <a:t>עבודות רבות במקביל בסביבת חירום, בלוחות זמנים קצרים</a:t>
            </a:r>
            <a:endParaRPr lang="en-US" sz="1450" dirty="0"/>
          </a:p>
          <a:p>
            <a:pPr algn="r" marL="342900" indent="-342900">
              <a:spcAft>
                <a:spcPts val="1000"/>
              </a:spcAft>
              <a:buSzPct val="100000"/>
              <a:buChar char="•"/>
            </a:pPr>
            <a:r>
              <a:rPr lang="en-US" sz="1450" dirty="0">
                <a:solidFill>
                  <a:srgbClr val="1F2937"/>
                </a:solidFill>
                <a:latin typeface="Arial" pitchFamily="34" charset="0"/>
                <a:ea typeface="Arial" pitchFamily="34" charset="-122"/>
                <a:cs typeface="Arial" pitchFamily="34" charset="-120"/>
              </a:rPr>
              <a:t>ארגון אמיתי: ראיונות, תצפית ואימות בשטח</a:t>
            </a:r>
            <a:endParaRPr lang="en-US" sz="1450" dirty="0"/>
          </a:p>
        </p:txBody>
      </p:sp>
      <p:sp>
        <p:nvSpPr>
          <p:cNvPr id="5" name="Text 3"/>
          <p:cNvSpPr/>
          <p:nvPr/>
        </p:nvSpPr>
        <p:spPr>
          <a:xfrm>
            <a:off x="502920" y="1188720"/>
            <a:ext cx="5532120" cy="457200"/>
          </a:xfrm>
          <a:prstGeom prst="rect">
            <a:avLst/>
          </a:prstGeom>
          <a:noFill/>
          <a:ln/>
        </p:spPr>
        <p:txBody>
          <a:bodyPr wrap="square" lIns="0" tIns="0" rIns="0" bIns="0" rtlCol="0" anchor="ctr"/>
          <a:lstStyle/>
          <a:p>
            <a:pPr rtl="1" algn="r" indent="0" marL="0">
              <a:buNone/>
            </a:pPr>
            <a:r>
              <a:rPr lang="en-US" sz="1900" b="1" dirty="0">
                <a:solidFill>
                  <a:srgbClr val="0F4C46"/>
                </a:solidFill>
                <a:latin typeface="Arial" pitchFamily="34" charset="0"/>
                <a:ea typeface="Arial" pitchFamily="34" charset="-122"/>
                <a:cs typeface="Arial" pitchFamily="34" charset="-120"/>
              </a:rPr>
              <a:t>אתגרים ודרכי התמודדות</a:t>
            </a:r>
            <a:endParaRPr lang="en-US" sz="1900" dirty="0"/>
          </a:p>
        </p:txBody>
      </p:sp>
      <p:sp>
        <p:nvSpPr>
          <p:cNvPr id="6" name="Text 4"/>
          <p:cNvSpPr/>
          <p:nvPr/>
        </p:nvSpPr>
        <p:spPr>
          <a:xfrm>
            <a:off x="502920" y="1783080"/>
            <a:ext cx="5532120" cy="292608"/>
          </a:xfrm>
          <a:prstGeom prst="rect">
            <a:avLst/>
          </a:prstGeom>
          <a:noFill/>
          <a:ln/>
        </p:spPr>
        <p:txBody>
          <a:bodyPr wrap="square" lIns="0" tIns="0" rIns="0" bIns="0" rtlCol="0" anchor="ctr"/>
          <a:lstStyle/>
          <a:p>
            <a:pPr rtl="1" algn="r" indent="0" marL="0">
              <a:buNone/>
            </a:pPr>
            <a:r>
              <a:rPr lang="en-US" sz="1400" b="1" dirty="0">
                <a:solidFill>
                  <a:srgbClr val="1F2937"/>
                </a:solidFill>
                <a:latin typeface="Arial" pitchFamily="34" charset="0"/>
                <a:ea typeface="Arial" pitchFamily="34" charset="-122"/>
                <a:cs typeface="Arial" pitchFamily="34" charset="-120"/>
              </a:rPr>
              <a:t>זמינות נמוכה של בעל החברה</a:t>
            </a:r>
            <a:endParaRPr lang="en-US" sz="1400" dirty="0"/>
          </a:p>
        </p:txBody>
      </p:sp>
      <p:sp>
        <p:nvSpPr>
          <p:cNvPr id="7" name="Text 5"/>
          <p:cNvSpPr/>
          <p:nvPr/>
        </p:nvSpPr>
        <p:spPr>
          <a:xfrm>
            <a:off x="502920" y="2075688"/>
            <a:ext cx="5532120" cy="292608"/>
          </a:xfrm>
          <a:prstGeom prst="rect">
            <a:avLst/>
          </a:prstGeom>
          <a:noFill/>
          <a:ln/>
        </p:spPr>
        <p:txBody>
          <a:bodyPr wrap="square" lIns="0" tIns="0" rIns="0" bIns="0" rtlCol="0" anchor="ctr"/>
          <a:lstStyle/>
          <a:p>
            <a:pPr rtl="1" algn="r" indent="0" marL="0">
              <a:buNone/>
            </a:pPr>
            <a:r>
              <a:rPr lang="en-US" sz="1300" dirty="0">
                <a:solidFill>
                  <a:srgbClr val="5B6B68"/>
                </a:solidFill>
                <a:latin typeface="Arial" pitchFamily="34" charset="0"/>
                <a:ea typeface="Arial" pitchFamily="34" charset="-122"/>
                <a:cs typeface="Arial" pitchFamily="34" charset="-120"/>
              </a:rPr>
              <a:t>תיאום שבוע מראש וריאיונות קצרים וממוקדים</a:t>
            </a:r>
            <a:endParaRPr lang="en-US" sz="1300" dirty="0"/>
          </a:p>
        </p:txBody>
      </p:sp>
      <p:sp>
        <p:nvSpPr>
          <p:cNvPr id="8" name="Text 6"/>
          <p:cNvSpPr/>
          <p:nvPr/>
        </p:nvSpPr>
        <p:spPr>
          <a:xfrm>
            <a:off x="502920" y="2496312"/>
            <a:ext cx="5532120" cy="292608"/>
          </a:xfrm>
          <a:prstGeom prst="rect">
            <a:avLst/>
          </a:prstGeom>
          <a:noFill/>
          <a:ln/>
        </p:spPr>
        <p:txBody>
          <a:bodyPr wrap="square" lIns="0" tIns="0" rIns="0" bIns="0" rtlCol="0" anchor="ctr"/>
          <a:lstStyle/>
          <a:p>
            <a:pPr rtl="1" algn="r" indent="0" marL="0">
              <a:buNone/>
            </a:pPr>
            <a:r>
              <a:rPr lang="en-US" sz="1400" b="1" dirty="0">
                <a:solidFill>
                  <a:srgbClr val="1F2937"/>
                </a:solidFill>
                <a:latin typeface="Arial" pitchFamily="34" charset="0"/>
                <a:ea typeface="Arial" pitchFamily="34" charset="-122"/>
                <a:cs typeface="Arial" pitchFamily="34" charset="-120"/>
              </a:rPr>
              <a:t>שינויי דרישות תוך כדי</a:t>
            </a:r>
            <a:endParaRPr lang="en-US" sz="1400" dirty="0"/>
          </a:p>
        </p:txBody>
      </p:sp>
      <p:sp>
        <p:nvSpPr>
          <p:cNvPr id="9" name="Text 7"/>
          <p:cNvSpPr/>
          <p:nvPr/>
        </p:nvSpPr>
        <p:spPr>
          <a:xfrm>
            <a:off x="502920" y="2788920"/>
            <a:ext cx="5532120" cy="292608"/>
          </a:xfrm>
          <a:prstGeom prst="rect">
            <a:avLst/>
          </a:prstGeom>
          <a:noFill/>
          <a:ln/>
        </p:spPr>
        <p:txBody>
          <a:bodyPr wrap="square" lIns="0" tIns="0" rIns="0" bIns="0" rtlCol="0" anchor="ctr"/>
          <a:lstStyle/>
          <a:p>
            <a:pPr rtl="1" algn="r" indent="0" marL="0">
              <a:buNone/>
            </a:pPr>
            <a:r>
              <a:rPr lang="en-US" sz="1300" dirty="0">
                <a:solidFill>
                  <a:srgbClr val="5B6B68"/>
                </a:solidFill>
                <a:latin typeface="Arial" pitchFamily="34" charset="0"/>
                <a:ea typeface="Arial" pitchFamily="34" charset="-122"/>
                <a:cs typeface="Arial" pitchFamily="34" charset="-120"/>
              </a:rPr>
              <a:t>הקפאת התיחום לאחר אישור ההצעה</a:t>
            </a:r>
            <a:endParaRPr lang="en-US" sz="1300" dirty="0"/>
          </a:p>
        </p:txBody>
      </p:sp>
      <p:sp>
        <p:nvSpPr>
          <p:cNvPr id="10" name="Text 8"/>
          <p:cNvSpPr/>
          <p:nvPr/>
        </p:nvSpPr>
        <p:spPr>
          <a:xfrm>
            <a:off x="502920" y="3209544"/>
            <a:ext cx="5532120" cy="292608"/>
          </a:xfrm>
          <a:prstGeom prst="rect">
            <a:avLst/>
          </a:prstGeom>
          <a:noFill/>
          <a:ln/>
        </p:spPr>
        <p:txBody>
          <a:bodyPr wrap="square" lIns="0" tIns="0" rIns="0" bIns="0" rtlCol="0" anchor="ctr"/>
          <a:lstStyle/>
          <a:p>
            <a:pPr rtl="1" algn="r" indent="0" marL="0">
              <a:buNone/>
            </a:pPr>
            <a:r>
              <a:rPr lang="en-US" sz="1400" b="1" dirty="0">
                <a:solidFill>
                  <a:srgbClr val="1F2937"/>
                </a:solidFill>
                <a:latin typeface="Arial" pitchFamily="34" charset="0"/>
                <a:ea typeface="Arial" pitchFamily="34" charset="-122"/>
                <a:cs typeface="Arial" pitchFamily="34" charset="-120"/>
              </a:rPr>
              <a:t>עומס לימודים במקביל</a:t>
            </a:r>
            <a:endParaRPr lang="en-US" sz="1400" dirty="0"/>
          </a:p>
        </p:txBody>
      </p:sp>
      <p:sp>
        <p:nvSpPr>
          <p:cNvPr id="11" name="Text 9"/>
          <p:cNvSpPr/>
          <p:nvPr/>
        </p:nvSpPr>
        <p:spPr>
          <a:xfrm>
            <a:off x="502920" y="3502152"/>
            <a:ext cx="5532120" cy="292608"/>
          </a:xfrm>
          <a:prstGeom prst="rect">
            <a:avLst/>
          </a:prstGeom>
          <a:noFill/>
          <a:ln/>
        </p:spPr>
        <p:txBody>
          <a:bodyPr wrap="square" lIns="0" tIns="0" rIns="0" bIns="0" rtlCol="0" anchor="ctr"/>
          <a:lstStyle/>
          <a:p>
            <a:pPr rtl="1" algn="r" indent="0" marL="0">
              <a:buNone/>
            </a:pPr>
            <a:r>
              <a:rPr lang="en-US" sz="1300" dirty="0">
                <a:solidFill>
                  <a:srgbClr val="5B6B68"/>
                </a:solidFill>
                <a:latin typeface="Arial" pitchFamily="34" charset="0"/>
                <a:ea typeface="Arial" pitchFamily="34" charset="-122"/>
                <a:cs typeface="Arial" pitchFamily="34" charset="-120"/>
              </a:rPr>
              <a:t>מרווחי ביטחון בגאנט ומעקב שבועי</a:t>
            </a:r>
            <a:endParaRPr lang="en-US" sz="1300" dirty="0"/>
          </a:p>
        </p:txBody>
      </p:sp>
      <p:sp>
        <p:nvSpPr>
          <p:cNvPr id="12" name="Text 10"/>
          <p:cNvSpPr/>
          <p:nvPr/>
        </p:nvSpPr>
        <p:spPr>
          <a:xfrm>
            <a:off x="502920" y="3922776"/>
            <a:ext cx="5532120" cy="292608"/>
          </a:xfrm>
          <a:prstGeom prst="rect">
            <a:avLst/>
          </a:prstGeom>
          <a:noFill/>
          <a:ln/>
        </p:spPr>
        <p:txBody>
          <a:bodyPr wrap="square" lIns="0" tIns="0" rIns="0" bIns="0" rtlCol="0" anchor="ctr"/>
          <a:lstStyle/>
          <a:p>
            <a:pPr rtl="1" algn="r" indent="0" marL="0">
              <a:buNone/>
            </a:pPr>
            <a:r>
              <a:rPr lang="en-US" sz="1400" b="1" dirty="0">
                <a:solidFill>
                  <a:srgbClr val="1F2937"/>
                </a:solidFill>
                <a:latin typeface="Arial" pitchFamily="34" charset="0"/>
                <a:ea typeface="Arial" pitchFamily="34" charset="-122"/>
                <a:cs typeface="Arial" pitchFamily="34" charset="-120"/>
              </a:rPr>
              <a:t>למידת כלי העיצוב Figma</a:t>
            </a:r>
            <a:endParaRPr lang="en-US" sz="1400" dirty="0"/>
          </a:p>
        </p:txBody>
      </p:sp>
      <p:sp>
        <p:nvSpPr>
          <p:cNvPr id="13" name="Text 11"/>
          <p:cNvSpPr/>
          <p:nvPr/>
        </p:nvSpPr>
        <p:spPr>
          <a:xfrm>
            <a:off x="502920" y="4215384"/>
            <a:ext cx="5532120" cy="292608"/>
          </a:xfrm>
          <a:prstGeom prst="rect">
            <a:avLst/>
          </a:prstGeom>
          <a:noFill/>
          <a:ln/>
        </p:spPr>
        <p:txBody>
          <a:bodyPr wrap="square" lIns="0" tIns="0" rIns="0" bIns="0" rtlCol="0" anchor="ctr"/>
          <a:lstStyle/>
          <a:p>
            <a:pPr rtl="1" algn="r" indent="0" marL="0">
              <a:buNone/>
            </a:pPr>
            <a:r>
              <a:rPr lang="en-US" sz="1300" dirty="0">
                <a:solidFill>
                  <a:srgbClr val="5B6B68"/>
                </a:solidFill>
                <a:latin typeface="Arial" pitchFamily="34" charset="0"/>
                <a:ea typeface="Arial" pitchFamily="34" charset="-122"/>
                <a:cs typeface="Arial" pitchFamily="34" charset="-120"/>
              </a:rPr>
              <a:t>למידה עצמית מוקדמת כבר בשלב האיפיון</a:t>
            </a:r>
            <a:endParaRPr lang="en-US" sz="1300" dirty="0"/>
          </a:p>
        </p:txBody>
      </p:sp>
      <p:sp>
        <p:nvSpPr>
          <p:cNvPr id="14" name="Shape 12"/>
          <p:cNvSpPr/>
          <p:nvPr/>
        </p:nvSpPr>
        <p:spPr>
          <a:xfrm>
            <a:off x="502920" y="4892040"/>
            <a:ext cx="11183112" cy="1417320"/>
          </a:xfrm>
          <a:prstGeom prst="roundRect">
            <a:avLst>
              <a:gd name="adj" fmla="val 5161"/>
            </a:avLst>
          </a:prstGeom>
          <a:solidFill>
            <a:srgbClr val="EAF4F2"/>
          </a:solidFill>
          <a:ln/>
        </p:spPr>
      </p:sp>
      <p:sp>
        <p:nvSpPr>
          <p:cNvPr id="15" name="Text 13"/>
          <p:cNvSpPr/>
          <p:nvPr/>
        </p:nvSpPr>
        <p:spPr>
          <a:xfrm>
            <a:off x="822960" y="5120640"/>
            <a:ext cx="10543032" cy="960120"/>
          </a:xfrm>
          <a:prstGeom prst="rect">
            <a:avLst/>
          </a:prstGeom>
          <a:noFill/>
          <a:ln/>
        </p:spPr>
        <p:txBody>
          <a:bodyPr wrap="square" lIns="0" tIns="0" rIns="0" bIns="0" rtlCol="0" anchor="ctr"/>
          <a:lstStyle/>
          <a:p>
            <a:pPr rtl="1" algn="r" indent="0" marL="0">
              <a:buNone/>
            </a:pPr>
            <a:r>
              <a:rPr lang="en-US" sz="1500" dirty="0">
                <a:solidFill>
                  <a:srgbClr val="1F2937"/>
                </a:solidFill>
                <a:latin typeface="Arial" pitchFamily="34" charset="0"/>
                <a:ea typeface="Arial" pitchFamily="34" charset="-122"/>
                <a:cs typeface="Arial" pitchFamily="34" charset="-120"/>
              </a:rPr>
              <a:t>סטטוס: ההצעה, האיפיון והעיצוב הושלמו והוגשו במועדם. אב-הטיפוס אומת מול בעל החברה ביולי, ותיק הפרויקט המלא יוגש עד 31.8.2026.</a:t>
            </a:r>
            <a:endParaRPr lang="en-US" sz="1500" dirty="0"/>
          </a:p>
        </p:txBody>
      </p:sp>
      <p:sp>
        <p:nvSpPr>
          <p:cNvPr id="16" name="Text 14"/>
          <p:cNvSpPr/>
          <p:nvPr/>
        </p:nvSpPr>
        <p:spPr>
          <a:xfrm>
            <a:off x="11503152" y="6400800"/>
            <a:ext cx="365760" cy="274320"/>
          </a:xfrm>
          <a:prstGeom prst="rect">
            <a:avLst/>
          </a:prstGeom>
          <a:noFill/>
          <a:ln/>
        </p:spPr>
        <p:txBody>
          <a:bodyPr wrap="square" rtlCol="0" anchor="ctr"/>
          <a:lstStyle/>
          <a:p>
            <a:pPr algn="ctr" indent="0" marL="0">
              <a:buNone/>
            </a:pPr>
            <a:r>
              <a:rPr lang="en-US" sz="1000" dirty="0">
                <a:solidFill>
                  <a:srgbClr val="5B6B68"/>
                </a:solidFill>
                <a:latin typeface="Arial" pitchFamily="34" charset="0"/>
                <a:ea typeface="Arial" pitchFamily="34" charset="-122"/>
                <a:cs typeface="Arial" pitchFamily="34" charset="-120"/>
              </a:rPr>
              <a:t>17</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4C46"/>
        </a:solidFill>
      </p:bgPr>
    </p:bg>
    <p:spTree>
      <p:nvGrpSpPr>
        <p:cNvPr id="1" name=""/>
        <p:cNvGrpSpPr/>
        <p:nvPr/>
      </p:nvGrpSpPr>
      <p:grpSpPr>
        <a:xfrm>
          <a:off x="0" y="0"/>
          <a:ext cx="0" cy="0"/>
          <a:chOff x="0" y="0"/>
          <a:chExt cx="0" cy="0"/>
        </a:xfrm>
      </p:grpSpPr>
      <p:sp>
        <p:nvSpPr>
          <p:cNvPr id="2" name="Text 0"/>
          <p:cNvSpPr/>
          <p:nvPr/>
        </p:nvSpPr>
        <p:spPr>
          <a:xfrm>
            <a:off x="731520" y="502920"/>
            <a:ext cx="10725912" cy="731520"/>
          </a:xfrm>
          <a:prstGeom prst="rect">
            <a:avLst/>
          </a:prstGeom>
          <a:noFill/>
          <a:ln/>
        </p:spPr>
        <p:txBody>
          <a:bodyPr wrap="square" lIns="0" tIns="0" rIns="0" bIns="0" rtlCol="0" anchor="ctr"/>
          <a:lstStyle/>
          <a:p>
            <a:pPr rtl="1" algn="r" indent="0" marL="0">
              <a:buNone/>
            </a:pPr>
            <a:r>
              <a:rPr lang="en-US" sz="3000" b="1" dirty="0">
                <a:solidFill>
                  <a:srgbClr val="FFFFFF"/>
                </a:solidFill>
                <a:latin typeface="Arial" pitchFamily="34" charset="0"/>
                <a:ea typeface="Arial" pitchFamily="34" charset="-122"/>
                <a:cs typeface="Arial" pitchFamily="34" charset="-120"/>
              </a:rPr>
              <a:t>מסקנות והמלצות להמשך</a:t>
            </a:r>
            <a:endParaRPr lang="en-US" sz="3000" dirty="0"/>
          </a:p>
        </p:txBody>
      </p:sp>
      <p:sp>
        <p:nvSpPr>
          <p:cNvPr id="3" name="Text 1"/>
          <p:cNvSpPr/>
          <p:nvPr/>
        </p:nvSpPr>
        <p:spPr>
          <a:xfrm>
            <a:off x="5925312" y="1463040"/>
            <a:ext cx="5532120" cy="457200"/>
          </a:xfrm>
          <a:prstGeom prst="rect">
            <a:avLst/>
          </a:prstGeom>
          <a:noFill/>
          <a:ln/>
        </p:spPr>
        <p:txBody>
          <a:bodyPr wrap="square" lIns="0" tIns="0" rIns="0" bIns="0" rtlCol="0" anchor="ctr"/>
          <a:lstStyle/>
          <a:p>
            <a:pPr rtl="1" algn="r" indent="0" marL="0">
              <a:buNone/>
            </a:pPr>
            <a:r>
              <a:rPr lang="en-US" sz="1800" b="1" dirty="0">
                <a:solidFill>
                  <a:srgbClr val="F5B87A"/>
                </a:solidFill>
                <a:latin typeface="Arial" pitchFamily="34" charset="0"/>
                <a:ea typeface="Arial" pitchFamily="34" charset="-122"/>
                <a:cs typeface="Arial" pitchFamily="34" charset="-120"/>
              </a:rPr>
              <a:t>מסקנות עיקריות</a:t>
            </a:r>
            <a:endParaRPr lang="en-US" sz="1800" dirty="0"/>
          </a:p>
        </p:txBody>
      </p:sp>
      <p:sp>
        <p:nvSpPr>
          <p:cNvPr id="4" name="Text 2"/>
          <p:cNvSpPr/>
          <p:nvPr/>
        </p:nvSpPr>
        <p:spPr>
          <a:xfrm>
            <a:off x="5925312" y="2011680"/>
            <a:ext cx="5532120" cy="2926080"/>
          </a:xfrm>
          <a:prstGeom prst="rect">
            <a:avLst/>
          </a:prstGeom>
          <a:noFill/>
          <a:ln/>
        </p:spPr>
        <p:txBody>
          <a:bodyPr wrap="square" rtlCol="0" anchor="t"/>
          <a:lstStyle/>
          <a:p>
            <a:pPr algn="r" marL="342900" indent="-342900">
              <a:spcAft>
                <a:spcPts val="1200"/>
              </a:spcAft>
              <a:buSzPct val="100000"/>
              <a:buChar char="•"/>
            </a:pPr>
            <a:r>
              <a:rPr lang="en-US" sz="1500" dirty="0">
                <a:solidFill>
                  <a:srgbClr val="E8F2F0"/>
                </a:solidFill>
                <a:latin typeface="Arial" pitchFamily="34" charset="0"/>
                <a:ea typeface="Arial" pitchFamily="34" charset="-122"/>
                <a:cs typeface="Arial" pitchFamily="34" charset="-120"/>
              </a:rPr>
              <a:t>ראיונות ותצפית בשטח חשפו צרכים שלא עלו מהתיאור הראשוני, ושינו את מודל הנתונים</a:t>
            </a:r>
            <a:endParaRPr lang="en-US" sz="1500" dirty="0"/>
          </a:p>
          <a:p>
            <a:pPr algn="r" marL="342900" indent="-342900">
              <a:spcAft>
                <a:spcPts val="1200"/>
              </a:spcAft>
              <a:buSzPct val="100000"/>
              <a:buChar char="•"/>
            </a:pPr>
            <a:r>
              <a:rPr lang="en-US" sz="1500" dirty="0">
                <a:solidFill>
                  <a:srgbClr val="E8F2F0"/>
                </a:solidFill>
                <a:latin typeface="Arial" pitchFamily="34" charset="0"/>
                <a:ea typeface="Arial" pitchFamily="34" charset="-122"/>
                <a:cs typeface="Arial" pitchFamily="34" charset="-120"/>
              </a:rPr>
              <a:t>עיגון התוכנית באבני הדרך של הקורס אפשר עמידה בכל המועדים</a:t>
            </a:r>
            <a:endParaRPr lang="en-US" sz="1500" dirty="0"/>
          </a:p>
          <a:p>
            <a:pPr algn="r" marL="342900" indent="-342900">
              <a:spcAft>
                <a:spcPts val="1200"/>
              </a:spcAft>
              <a:buSzPct val="100000"/>
              <a:buChar char="•"/>
            </a:pPr>
            <a:r>
              <a:rPr lang="en-US" sz="1500" dirty="0">
                <a:solidFill>
                  <a:srgbClr val="E8F2F0"/>
                </a:solidFill>
                <a:latin typeface="Arial" pitchFamily="34" charset="0"/>
                <a:ea typeface="Arial" pitchFamily="34" charset="-122"/>
                <a:cs typeface="Arial" pitchFamily="34" charset="-120"/>
              </a:rPr>
              <a:t>אימות כל תוצר מול בעל החברה חסך תיקונים מאוחרים ויקרים</a:t>
            </a:r>
            <a:endParaRPr lang="en-US" sz="1500" dirty="0"/>
          </a:p>
        </p:txBody>
      </p:sp>
      <p:sp>
        <p:nvSpPr>
          <p:cNvPr id="5" name="Text 3"/>
          <p:cNvSpPr/>
          <p:nvPr/>
        </p:nvSpPr>
        <p:spPr>
          <a:xfrm>
            <a:off x="731520" y="1463040"/>
            <a:ext cx="5120640" cy="457200"/>
          </a:xfrm>
          <a:prstGeom prst="rect">
            <a:avLst/>
          </a:prstGeom>
          <a:noFill/>
          <a:ln/>
        </p:spPr>
        <p:txBody>
          <a:bodyPr wrap="square" lIns="0" tIns="0" rIns="0" bIns="0" rtlCol="0" anchor="ctr"/>
          <a:lstStyle/>
          <a:p>
            <a:pPr rtl="1" algn="r" indent="0" marL="0">
              <a:buNone/>
            </a:pPr>
            <a:r>
              <a:rPr lang="en-US" sz="1800" b="1" dirty="0">
                <a:solidFill>
                  <a:srgbClr val="F5B87A"/>
                </a:solidFill>
                <a:latin typeface="Arial" pitchFamily="34" charset="0"/>
                <a:ea typeface="Arial" pitchFamily="34" charset="-122"/>
                <a:cs typeface="Arial" pitchFamily="34" charset="-120"/>
              </a:rPr>
              <a:t>פיתוחים עתידיים מומלצים</a:t>
            </a:r>
            <a:endParaRPr lang="en-US" sz="1800" dirty="0"/>
          </a:p>
        </p:txBody>
      </p:sp>
      <p:sp>
        <p:nvSpPr>
          <p:cNvPr id="6" name="Text 4"/>
          <p:cNvSpPr/>
          <p:nvPr/>
        </p:nvSpPr>
        <p:spPr>
          <a:xfrm>
            <a:off x="731520" y="2011680"/>
            <a:ext cx="5120640" cy="2926080"/>
          </a:xfrm>
          <a:prstGeom prst="rect">
            <a:avLst/>
          </a:prstGeom>
          <a:noFill/>
          <a:ln/>
        </p:spPr>
        <p:txBody>
          <a:bodyPr wrap="square" rtlCol="0" anchor="t"/>
          <a:lstStyle/>
          <a:p>
            <a:pPr algn="r" marL="342900" indent="-342900">
              <a:spcAft>
                <a:spcPts val="1200"/>
              </a:spcAft>
              <a:buSzPct val="100000"/>
              <a:buChar char="•"/>
            </a:pPr>
            <a:r>
              <a:rPr lang="en-US" sz="1500" dirty="0">
                <a:solidFill>
                  <a:srgbClr val="E8F2F0"/>
                </a:solidFill>
                <a:latin typeface="Arial" pitchFamily="34" charset="0"/>
                <a:ea typeface="Arial" pitchFamily="34" charset="-122"/>
                <a:cs typeface="Arial" pitchFamily="34" charset="-120"/>
              </a:rPr>
              <a:t>פיתוח ותכנות המערכת על בסיס העיצוב המאושר</a:t>
            </a:r>
            <a:endParaRPr lang="en-US" sz="1500" dirty="0"/>
          </a:p>
          <a:p>
            <a:pPr algn="r" marL="342900" indent="-342900">
              <a:spcAft>
                <a:spcPts val="1200"/>
              </a:spcAft>
              <a:buSzPct val="100000"/>
              <a:buChar char="•"/>
            </a:pPr>
            <a:r>
              <a:rPr lang="en-US" sz="1500" dirty="0">
                <a:solidFill>
                  <a:srgbClr val="E8F2F0"/>
                </a:solidFill>
                <a:latin typeface="Arial" pitchFamily="34" charset="0"/>
                <a:ea typeface="Arial" pitchFamily="34" charset="-122"/>
                <a:cs typeface="Arial" pitchFamily="34" charset="-120"/>
              </a:rPr>
              <a:t>פורטל לקוח להגשת בקשה ומעקב סטטוס עצמאי</a:t>
            </a:r>
            <a:endParaRPr lang="en-US" sz="1500" dirty="0"/>
          </a:p>
          <a:p>
            <a:pPr algn="r" marL="342900" indent="-342900">
              <a:spcAft>
                <a:spcPts val="1200"/>
              </a:spcAft>
              <a:buSzPct val="100000"/>
              <a:buChar char="•"/>
            </a:pPr>
            <a:r>
              <a:rPr lang="en-US" sz="1500" dirty="0">
                <a:solidFill>
                  <a:srgbClr val="E8F2F0"/>
                </a:solidFill>
                <a:latin typeface="Arial" pitchFamily="34" charset="0"/>
                <a:ea typeface="Arial" pitchFamily="34" charset="-122"/>
                <a:cs typeface="Arial" pitchFamily="34" charset="-120"/>
              </a:rPr>
              <a:t>מסך ייעודי לציוד ולחברות העזרה</a:t>
            </a:r>
            <a:endParaRPr lang="en-US" sz="1500" dirty="0"/>
          </a:p>
          <a:p>
            <a:pPr algn="r" marL="342900" indent="-342900">
              <a:spcAft>
                <a:spcPts val="1200"/>
              </a:spcAft>
              <a:buSzPct val="100000"/>
              <a:buChar char="•"/>
            </a:pPr>
            <a:r>
              <a:rPr lang="en-US" sz="1500" dirty="0">
                <a:solidFill>
                  <a:srgbClr val="E8F2F0"/>
                </a:solidFill>
                <a:latin typeface="Arial" pitchFamily="34" charset="0"/>
                <a:ea typeface="Arial" pitchFamily="34" charset="-122"/>
                <a:cs typeface="Arial" pitchFamily="34" charset="-120"/>
              </a:rPr>
              <a:t>ממשק ישיר לחברות הביטוח ואפליקציה לעובדי השטח</a:t>
            </a:r>
            <a:endParaRPr lang="en-US" sz="1500" dirty="0"/>
          </a:p>
        </p:txBody>
      </p:sp>
      <p:sp>
        <p:nvSpPr>
          <p:cNvPr id="7" name="Shape 5"/>
          <p:cNvSpPr/>
          <p:nvPr/>
        </p:nvSpPr>
        <p:spPr>
          <a:xfrm>
            <a:off x="4956048" y="5394960"/>
            <a:ext cx="2286000" cy="0"/>
          </a:xfrm>
          <a:prstGeom prst="line">
            <a:avLst/>
          </a:prstGeom>
          <a:noFill/>
          <a:ln w="31750">
            <a:solidFill>
              <a:srgbClr val="E8862E"/>
            </a:solidFill>
            <a:prstDash val="solid"/>
          </a:ln>
        </p:spPr>
      </p:sp>
      <p:sp>
        <p:nvSpPr>
          <p:cNvPr id="8" name="Text 6"/>
          <p:cNvSpPr/>
          <p:nvPr/>
        </p:nvSpPr>
        <p:spPr>
          <a:xfrm>
            <a:off x="731520" y="5623560"/>
            <a:ext cx="10725912" cy="548640"/>
          </a:xfrm>
          <a:prstGeom prst="rect">
            <a:avLst/>
          </a:prstGeom>
          <a:noFill/>
          <a:ln/>
        </p:spPr>
        <p:txBody>
          <a:bodyPr wrap="square" rtlCol="0" anchor="ctr"/>
          <a:lstStyle/>
          <a:p>
            <a:pPr rtl="1" algn="ctr" indent="0" marL="0">
              <a:buNone/>
            </a:pPr>
            <a:r>
              <a:rPr lang="en-US" sz="2000" b="1" dirty="0">
                <a:solidFill>
                  <a:srgbClr val="FFFFFF"/>
                </a:solidFill>
                <a:latin typeface="Arial" pitchFamily="34" charset="0"/>
                <a:ea typeface="Arial" pitchFamily="34" charset="-122"/>
                <a:cs typeface="Arial" pitchFamily="34" charset="-120"/>
              </a:rPr>
              <a:t>תודה על ההקשבה | כאמל עואד</a:t>
            </a:r>
            <a:endParaRPr lang="en-US" sz="2000" dirty="0"/>
          </a:p>
        </p:txBody>
      </p:sp>
    </p:spTree>
  </p:cSld>
  <p:clrMapOvr>
    <a:masterClrMapping/>
  </p:clrMapOvr>
  <p:transition spd="slow">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2026-07-31T20:18:15Z</dcterms:created>
  <dcterms:modified xsi:type="dcterms:W3CDTF">2026-07-31T20:18:15Z</dcterms:modified>
</cp:coreProperties>
</file>